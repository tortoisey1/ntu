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8"/>
  </p:notesMasterIdLst>
  <p:sldIdLst>
    <p:sldId id="402" r:id="rId2"/>
    <p:sldId id="403" r:id="rId3"/>
    <p:sldId id="424" r:id="rId4"/>
    <p:sldId id="425" r:id="rId5"/>
    <p:sldId id="426" r:id="rId6"/>
    <p:sldId id="421" r:id="rId7"/>
    <p:sldId id="410" r:id="rId8"/>
    <p:sldId id="411" r:id="rId9"/>
    <p:sldId id="428" r:id="rId10"/>
    <p:sldId id="429" r:id="rId11"/>
    <p:sldId id="422" r:id="rId12"/>
    <p:sldId id="409" r:id="rId13"/>
    <p:sldId id="430" r:id="rId14"/>
    <p:sldId id="431" r:id="rId15"/>
    <p:sldId id="432" r:id="rId16"/>
    <p:sldId id="423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6756" autoAdjust="0"/>
  </p:normalViewPr>
  <p:slideViewPr>
    <p:cSldViewPr snapToGrid="0">
      <p:cViewPr varScale="1">
        <p:scale>
          <a:sx n="140" d="100"/>
          <a:sy n="140" d="100"/>
        </p:scale>
        <p:origin x="1060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eo Xiong Wei, Jonathan" userId="ac2b658e-7ce1-44bb-9f9f-bf4198ceaa29" providerId="ADAL" clId="{9DB50390-3DAA-42C3-98C2-670C9215893D}"/>
    <pc:docChg chg="modSld">
      <pc:chgData name="Yeo Xiong Wei, Jonathan" userId="ac2b658e-7ce1-44bb-9f9f-bf4198ceaa29" providerId="ADAL" clId="{9DB50390-3DAA-42C3-98C2-670C9215893D}" dt="2024-09-10T03:37:06.991" v="5" actId="6549"/>
      <pc:docMkLst>
        <pc:docMk/>
      </pc:docMkLst>
      <pc:sldChg chg="modSp mod">
        <pc:chgData name="Yeo Xiong Wei, Jonathan" userId="ac2b658e-7ce1-44bb-9f9f-bf4198ceaa29" providerId="ADAL" clId="{9DB50390-3DAA-42C3-98C2-670C9215893D}" dt="2024-09-10T03:36:59.072" v="2" actId="6549"/>
        <pc:sldMkLst>
          <pc:docMk/>
          <pc:sldMk cId="2274804884" sldId="430"/>
        </pc:sldMkLst>
        <pc:spChg chg="mod">
          <ac:chgData name="Yeo Xiong Wei, Jonathan" userId="ac2b658e-7ce1-44bb-9f9f-bf4198ceaa29" providerId="ADAL" clId="{9DB50390-3DAA-42C3-98C2-670C9215893D}" dt="2024-09-10T03:36:59.072" v="2" actId="6549"/>
          <ac:spMkLst>
            <pc:docMk/>
            <pc:sldMk cId="2274804884" sldId="430"/>
            <ac:spMk id="66562" creationId="{00000000-0000-0000-0000-000000000000}"/>
          </ac:spMkLst>
        </pc:spChg>
      </pc:sldChg>
      <pc:sldChg chg="modSp mod">
        <pc:chgData name="Yeo Xiong Wei, Jonathan" userId="ac2b658e-7ce1-44bb-9f9f-bf4198ceaa29" providerId="ADAL" clId="{9DB50390-3DAA-42C3-98C2-670C9215893D}" dt="2024-09-10T03:37:06.991" v="5" actId="6549"/>
        <pc:sldMkLst>
          <pc:docMk/>
          <pc:sldMk cId="2887430254" sldId="431"/>
        </pc:sldMkLst>
        <pc:spChg chg="mod">
          <ac:chgData name="Yeo Xiong Wei, Jonathan" userId="ac2b658e-7ce1-44bb-9f9f-bf4198ceaa29" providerId="ADAL" clId="{9DB50390-3DAA-42C3-98C2-670C9215893D}" dt="2024-09-10T03:37:06.991" v="5" actId="6549"/>
          <ac:spMkLst>
            <pc:docMk/>
            <pc:sldMk cId="2887430254" sldId="431"/>
            <ac:spMk id="6656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F61C49-5DF3-4244-84D6-75764CA40CBB}" type="datetimeFigureOut">
              <a:rPr lang="en-SG" smtClean="0"/>
              <a:t>10/9/2024</a:t>
            </a:fld>
            <a:endParaRPr lang="en-S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1A4A8D-1C40-412B-B97A-1DBAE3DFCED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7141849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They only observe cars in the market and whether they have certification or not.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A535321-6F75-4ED8-B3EB-6C412AC0F374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555122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A535321-6F75-4ED8-B3EB-6C412AC0F374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555122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GB" dirty="0"/>
                  <a:t>An example which works is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SG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SG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SG" b="0" i="1" smtClean="0">
                        <a:latin typeface="Cambria Math" panose="02040503050406030204" pitchFamily="18" charset="0"/>
                      </a:rPr>
                      <m:t>=100</m:t>
                    </m:r>
                  </m:oMath>
                </a14:m>
                <a:r>
                  <a:rPr lang="en-GB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SG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b="0" i="1" dirty="0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SG" b="0" i="1" dirty="0" smtClean="0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  <m:r>
                      <a:rPr lang="en-SG" b="0" i="1" dirty="0" smtClean="0">
                        <a:latin typeface="Cambria Math" panose="02040503050406030204" pitchFamily="18" charset="0"/>
                      </a:rPr>
                      <m:t>=900</m:t>
                    </m:r>
                  </m:oMath>
                </a14:m>
                <a:endParaRPr lang="en-GB" dirty="0"/>
              </a:p>
              <a:p>
                <a14:m>
                  <m:oMath xmlns:m="http://schemas.openxmlformats.org/officeDocument/2006/math">
                    <m:r>
                      <a:rPr lang="en-SG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SG" b="0" i="1" smtClean="0">
                        <a:latin typeface="Cambria Math" panose="02040503050406030204" pitchFamily="18" charset="0"/>
                      </a:rPr>
                      <m:t>=2200</m:t>
                    </m:r>
                  </m:oMath>
                </a14:m>
                <a:r>
                  <a:rPr lang="en-GB" dirty="0"/>
                  <a:t>, </a:t>
                </a:r>
                <a14:m>
                  <m:oMath xmlns:m="http://schemas.openxmlformats.org/officeDocument/2006/math">
                    <m:r>
                      <a:rPr lang="en-SG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SG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GB" dirty="0"/>
                  <a:t>1400</a:t>
                </a:r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GB" dirty="0"/>
                  <a:t>An example which works is if </a:t>
                </a:r>
                <a:r>
                  <a:rPr lang="en-SG" b="0" i="0">
                    <a:latin typeface="Cambria Math" panose="02040503050406030204" pitchFamily="18" charset="0"/>
                  </a:rPr>
                  <a:t>𝐶_𝑝=100</a:t>
                </a:r>
                <a:r>
                  <a:rPr lang="en-GB" dirty="0"/>
                  <a:t>, </a:t>
                </a:r>
                <a:r>
                  <a:rPr lang="en-SG" b="0" i="0" dirty="0">
                    <a:latin typeface="Cambria Math" panose="02040503050406030204" pitchFamily="18" charset="0"/>
                  </a:rPr>
                  <a:t>𝐶_𝑙=900</a:t>
                </a:r>
                <a:endParaRPr lang="en-GB" dirty="0"/>
              </a:p>
              <a:p>
                <a:r>
                  <a:rPr lang="en-SG" b="0" i="0">
                    <a:latin typeface="Cambria Math" panose="02040503050406030204" pitchFamily="18" charset="0"/>
                  </a:rPr>
                  <a:t>𝑥=2200</a:t>
                </a:r>
                <a:r>
                  <a:rPr lang="en-GB" dirty="0"/>
                  <a:t>, </a:t>
                </a:r>
                <a:r>
                  <a:rPr lang="en-SG" b="0" i="0">
                    <a:latin typeface="Cambria Math" panose="02040503050406030204" pitchFamily="18" charset="0"/>
                  </a:rPr>
                  <a:t>𝑦=</a:t>
                </a:r>
                <a:r>
                  <a:rPr lang="en-GB" dirty="0"/>
                  <a:t>1400</a:t>
                </a:r>
              </a:p>
              <a:p>
                <a:endParaRPr lang="en-GB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A535321-6F75-4ED8-B3EB-6C412AC0F374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234159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GB" dirty="0"/>
                  <a:t>An example which works is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SG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SG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SG" b="0" i="1" smtClean="0">
                        <a:latin typeface="Cambria Math" panose="02040503050406030204" pitchFamily="18" charset="0"/>
                      </a:rPr>
                      <m:t>=100</m:t>
                    </m:r>
                  </m:oMath>
                </a14:m>
                <a:r>
                  <a:rPr lang="en-GB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SG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b="0" i="1" dirty="0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SG" b="0" i="1" dirty="0" smtClean="0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  <m:r>
                      <a:rPr lang="en-SG" b="0" i="1" dirty="0" smtClean="0">
                        <a:latin typeface="Cambria Math" panose="02040503050406030204" pitchFamily="18" charset="0"/>
                      </a:rPr>
                      <m:t>=900</m:t>
                    </m:r>
                  </m:oMath>
                </a14:m>
                <a:endParaRPr lang="en-GB" dirty="0"/>
              </a:p>
              <a:p>
                <a14:m>
                  <m:oMath xmlns:m="http://schemas.openxmlformats.org/officeDocument/2006/math">
                    <m:r>
                      <a:rPr lang="en-SG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SG" b="0" i="1" smtClean="0">
                        <a:latin typeface="Cambria Math" panose="02040503050406030204" pitchFamily="18" charset="0"/>
                      </a:rPr>
                      <m:t>=2200</m:t>
                    </m:r>
                  </m:oMath>
                </a14:m>
                <a:r>
                  <a:rPr lang="en-GB" dirty="0"/>
                  <a:t>, </a:t>
                </a:r>
                <a14:m>
                  <m:oMath xmlns:m="http://schemas.openxmlformats.org/officeDocument/2006/math">
                    <m:r>
                      <a:rPr lang="en-SG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SG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GB" dirty="0"/>
                  <a:t>1400</a:t>
                </a:r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GB" dirty="0"/>
                  <a:t>An example which works is if </a:t>
                </a:r>
                <a:r>
                  <a:rPr lang="en-SG" b="0" i="0">
                    <a:latin typeface="Cambria Math" panose="02040503050406030204" pitchFamily="18" charset="0"/>
                  </a:rPr>
                  <a:t>𝐶_𝑝=100</a:t>
                </a:r>
                <a:r>
                  <a:rPr lang="en-GB" dirty="0"/>
                  <a:t>, </a:t>
                </a:r>
                <a:r>
                  <a:rPr lang="en-SG" b="0" i="0" dirty="0">
                    <a:latin typeface="Cambria Math" panose="02040503050406030204" pitchFamily="18" charset="0"/>
                  </a:rPr>
                  <a:t>𝐶_𝑙=900</a:t>
                </a:r>
                <a:endParaRPr lang="en-GB" dirty="0"/>
              </a:p>
              <a:p>
                <a:r>
                  <a:rPr lang="en-SG" b="0" i="0">
                    <a:latin typeface="Cambria Math" panose="02040503050406030204" pitchFamily="18" charset="0"/>
                  </a:rPr>
                  <a:t>𝑥=2200</a:t>
                </a:r>
                <a:r>
                  <a:rPr lang="en-GB" dirty="0"/>
                  <a:t>, </a:t>
                </a:r>
                <a:r>
                  <a:rPr lang="en-SG" b="0" i="0">
                    <a:latin typeface="Cambria Math" panose="02040503050406030204" pitchFamily="18" charset="0"/>
                  </a:rPr>
                  <a:t>𝑦=</a:t>
                </a:r>
                <a:r>
                  <a:rPr lang="en-GB" dirty="0"/>
                  <a:t>1400</a:t>
                </a:r>
              </a:p>
              <a:p>
                <a:endParaRPr lang="en-GB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A535321-6F75-4ED8-B3EB-6C412AC0F374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190519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GB" dirty="0"/>
                  <a:t>An example which works is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SG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SG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SG" b="0" i="1" smtClean="0">
                        <a:latin typeface="Cambria Math" panose="02040503050406030204" pitchFamily="18" charset="0"/>
                      </a:rPr>
                      <m:t>=100</m:t>
                    </m:r>
                  </m:oMath>
                </a14:m>
                <a:r>
                  <a:rPr lang="en-GB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SG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b="0" i="1" dirty="0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SG" b="0" i="1" dirty="0" smtClean="0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  <m:r>
                      <a:rPr lang="en-SG" b="0" i="1" dirty="0" smtClean="0">
                        <a:latin typeface="Cambria Math" panose="02040503050406030204" pitchFamily="18" charset="0"/>
                      </a:rPr>
                      <m:t>=900</m:t>
                    </m:r>
                  </m:oMath>
                </a14:m>
                <a:endParaRPr lang="en-GB" dirty="0"/>
              </a:p>
              <a:p>
                <a14:m>
                  <m:oMath xmlns:m="http://schemas.openxmlformats.org/officeDocument/2006/math">
                    <m:r>
                      <a:rPr lang="en-SG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SG" b="0" i="1" smtClean="0">
                        <a:latin typeface="Cambria Math" panose="02040503050406030204" pitchFamily="18" charset="0"/>
                      </a:rPr>
                      <m:t>=2200</m:t>
                    </m:r>
                  </m:oMath>
                </a14:m>
                <a:r>
                  <a:rPr lang="en-GB" dirty="0"/>
                  <a:t>, </a:t>
                </a:r>
                <a14:m>
                  <m:oMath xmlns:m="http://schemas.openxmlformats.org/officeDocument/2006/math">
                    <m:r>
                      <a:rPr lang="en-SG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SG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GB" dirty="0"/>
                  <a:t>1400</a:t>
                </a:r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GB" dirty="0"/>
                  <a:t>An example which works is if </a:t>
                </a:r>
                <a:r>
                  <a:rPr lang="en-SG" b="0" i="0">
                    <a:latin typeface="Cambria Math" panose="02040503050406030204" pitchFamily="18" charset="0"/>
                  </a:rPr>
                  <a:t>𝐶_𝑝=100</a:t>
                </a:r>
                <a:r>
                  <a:rPr lang="en-GB" dirty="0"/>
                  <a:t>, </a:t>
                </a:r>
                <a:r>
                  <a:rPr lang="en-SG" b="0" i="0" dirty="0">
                    <a:latin typeface="Cambria Math" panose="02040503050406030204" pitchFamily="18" charset="0"/>
                  </a:rPr>
                  <a:t>𝐶_𝑙=900</a:t>
                </a:r>
                <a:endParaRPr lang="en-GB" dirty="0"/>
              </a:p>
              <a:p>
                <a:r>
                  <a:rPr lang="en-SG" b="0" i="0">
                    <a:latin typeface="Cambria Math" panose="02040503050406030204" pitchFamily="18" charset="0"/>
                  </a:rPr>
                  <a:t>𝑥=2200</a:t>
                </a:r>
                <a:r>
                  <a:rPr lang="en-GB" dirty="0"/>
                  <a:t>, </a:t>
                </a:r>
                <a:r>
                  <a:rPr lang="en-SG" b="0" i="0">
                    <a:latin typeface="Cambria Math" panose="02040503050406030204" pitchFamily="18" charset="0"/>
                  </a:rPr>
                  <a:t>𝑦=</a:t>
                </a:r>
                <a:r>
                  <a:rPr lang="en-GB" dirty="0"/>
                  <a:t>1400</a:t>
                </a:r>
              </a:p>
              <a:p>
                <a:endParaRPr lang="en-GB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A535321-6F75-4ED8-B3EB-6C412AC0F374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94645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A535321-6F75-4ED8-B3EB-6C412AC0F374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735077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A535321-6F75-4ED8-B3EB-6C412AC0F374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0683123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A535321-6F75-4ED8-B3EB-6C412AC0F374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0230440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GB" dirty="0"/>
                  <a:t>An example which works is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SG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SG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SG" b="0" i="1" smtClean="0">
                        <a:latin typeface="Cambria Math" panose="02040503050406030204" pitchFamily="18" charset="0"/>
                      </a:rPr>
                      <m:t>=100</m:t>
                    </m:r>
                  </m:oMath>
                </a14:m>
                <a:r>
                  <a:rPr lang="en-GB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SG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b="0" i="1" dirty="0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SG" b="0" i="1" dirty="0" smtClean="0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  <m:r>
                      <a:rPr lang="en-SG" b="0" i="1" dirty="0" smtClean="0">
                        <a:latin typeface="Cambria Math" panose="02040503050406030204" pitchFamily="18" charset="0"/>
                      </a:rPr>
                      <m:t>=900</m:t>
                    </m:r>
                  </m:oMath>
                </a14:m>
                <a:endParaRPr lang="en-GB" dirty="0"/>
              </a:p>
              <a:p>
                <a14:m>
                  <m:oMath xmlns:m="http://schemas.openxmlformats.org/officeDocument/2006/math">
                    <m:r>
                      <a:rPr lang="en-SG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SG" b="0" i="1" smtClean="0">
                        <a:latin typeface="Cambria Math" panose="02040503050406030204" pitchFamily="18" charset="0"/>
                      </a:rPr>
                      <m:t>=2200</m:t>
                    </m:r>
                  </m:oMath>
                </a14:m>
                <a:r>
                  <a:rPr lang="en-GB" dirty="0"/>
                  <a:t>, </a:t>
                </a:r>
                <a14:m>
                  <m:oMath xmlns:m="http://schemas.openxmlformats.org/officeDocument/2006/math">
                    <m:r>
                      <a:rPr lang="en-SG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SG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GB" dirty="0"/>
                  <a:t>1400</a:t>
                </a:r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GB" dirty="0"/>
                  <a:t>An example which works is if </a:t>
                </a:r>
                <a:r>
                  <a:rPr lang="en-SG" b="0" i="0">
                    <a:latin typeface="Cambria Math" panose="02040503050406030204" pitchFamily="18" charset="0"/>
                  </a:rPr>
                  <a:t>𝐶_𝑝=100</a:t>
                </a:r>
                <a:r>
                  <a:rPr lang="en-GB" dirty="0"/>
                  <a:t>, </a:t>
                </a:r>
                <a:r>
                  <a:rPr lang="en-SG" b="0" i="0" dirty="0">
                    <a:latin typeface="Cambria Math" panose="02040503050406030204" pitchFamily="18" charset="0"/>
                  </a:rPr>
                  <a:t>𝐶_𝑙=900</a:t>
                </a:r>
                <a:endParaRPr lang="en-GB" dirty="0"/>
              </a:p>
              <a:p>
                <a:r>
                  <a:rPr lang="en-SG" b="0" i="0">
                    <a:latin typeface="Cambria Math" panose="02040503050406030204" pitchFamily="18" charset="0"/>
                  </a:rPr>
                  <a:t>𝑥=2200</a:t>
                </a:r>
                <a:r>
                  <a:rPr lang="en-GB" dirty="0"/>
                  <a:t>, </a:t>
                </a:r>
                <a:r>
                  <a:rPr lang="en-SG" b="0" i="0">
                    <a:latin typeface="Cambria Math" panose="02040503050406030204" pitchFamily="18" charset="0"/>
                  </a:rPr>
                  <a:t>𝑦=</a:t>
                </a:r>
                <a:r>
                  <a:rPr lang="en-GB" dirty="0"/>
                  <a:t>1400</a:t>
                </a:r>
              </a:p>
              <a:p>
                <a:endParaRPr lang="en-GB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A535321-6F75-4ED8-B3EB-6C412AC0F374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8718192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A535321-6F75-4ED8-B3EB-6C412AC0F374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6862977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A535321-6F75-4ED8-B3EB-6C412AC0F374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2057251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A535321-6F75-4ED8-B3EB-6C412AC0F374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3166335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endParaRPr lang="en-GB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GB" dirty="0"/>
                  <a:t>An example which works is if </a:t>
                </a:r>
                <a:r>
                  <a:rPr lang="en-SG" b="0" i="0">
                    <a:latin typeface="Cambria Math" panose="02040503050406030204" pitchFamily="18" charset="0"/>
                  </a:rPr>
                  <a:t>𝐶_𝑝=100</a:t>
                </a:r>
                <a:r>
                  <a:rPr lang="en-GB" dirty="0"/>
                  <a:t>, </a:t>
                </a:r>
                <a:r>
                  <a:rPr lang="en-SG" b="0" i="0" dirty="0">
                    <a:latin typeface="Cambria Math" panose="02040503050406030204" pitchFamily="18" charset="0"/>
                  </a:rPr>
                  <a:t>𝐶_𝑙=900</a:t>
                </a:r>
                <a:endParaRPr lang="en-GB" dirty="0"/>
              </a:p>
              <a:p>
                <a:r>
                  <a:rPr lang="en-SG" b="0" i="0">
                    <a:latin typeface="Cambria Math" panose="02040503050406030204" pitchFamily="18" charset="0"/>
                  </a:rPr>
                  <a:t>𝑥=2200</a:t>
                </a:r>
                <a:r>
                  <a:rPr lang="en-GB" dirty="0"/>
                  <a:t>, </a:t>
                </a:r>
                <a:r>
                  <a:rPr lang="en-SG" b="0" i="0">
                    <a:latin typeface="Cambria Math" panose="02040503050406030204" pitchFamily="18" charset="0"/>
                  </a:rPr>
                  <a:t>𝑦=</a:t>
                </a:r>
                <a:r>
                  <a:rPr lang="en-GB" dirty="0"/>
                  <a:t>1400</a:t>
                </a:r>
              </a:p>
              <a:p>
                <a:endParaRPr lang="en-GB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A535321-6F75-4ED8-B3EB-6C412AC0F374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23359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02C63-0258-4B52-AC09-FFA10CDE52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599C05-861C-4601-9773-49352C49CB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A3F728-EBFF-4A1C-866F-5B6DD1364E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6B2AFD-883C-450D-A622-FD17B2F3C829}" type="datetime1">
              <a:rPr lang="en-GB" smtClean="0"/>
              <a:t>10/09/2024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FC5EA9-FD40-47CF-B4A9-6123F7211D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2C2566-7916-4059-97B9-6A50A65446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6B015-14EA-419E-84A1-EA07DEB3B2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438601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CBB845-9D5F-4082-8AC9-06E7C2DAE6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007878-8B29-4764-8123-51C6CEE2F6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EA7DAE-CEA1-4FC4-9819-D0CFEBCE74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B7A92-D657-4B49-932F-080871F4C87C}" type="datetime1">
              <a:rPr lang="en-GB" smtClean="0"/>
              <a:t>10/09/2024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53C2DA-6271-42BE-B016-84D3A0962D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68F564-4AF5-46DE-9B6C-D309A7E0F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6B015-14EA-419E-84A1-EA07DEB3B2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128780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BD534F-65A3-463D-889D-4C6ABC5373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0C8739-13E2-4AC0-955B-290580CB98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680AC-94FE-4342-B17B-10F3210ED1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54DEE8-B99C-43A4-BF1C-ED4C006DB826}" type="datetime1">
              <a:rPr lang="en-GB" smtClean="0"/>
              <a:t>10/09/2024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53414F-8D47-4C9B-A07E-523E772687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A81B73-D422-470E-9E80-D85CAD0E00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6B015-14EA-419E-84A1-EA07DEB3B2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274349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88F0D9-223D-49CF-8B8A-2854A619E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B2550E-20D9-4D26-9FE6-20895C82CF5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7DB45D-CB5C-4A7A-97A5-3C2A227BBC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13D45E-702F-420F-8B34-D3B47B96B1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21F222-0E81-49BA-83E0-CBE5C967107E}" type="datetime1">
              <a:rPr lang="en-GB" smtClean="0"/>
              <a:t>10/09/2024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1D4E72-7E05-48D1-9D30-1DC6E5EB91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2123E8-CB5C-4BD1-A552-A118E49DEB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6B015-14EA-419E-84A1-EA07DEB3B2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394536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0E0FC9-C923-49D6-ACB4-4E64CFA6B6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462041-86C3-47D9-AA22-AC48077A7B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081E0D-76D3-455B-B6E4-C4BEB7EA07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A862D0E-E576-4F4D-B3D7-0A54C3F506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4E8F4DB-D686-4CD8-838B-A980EA6387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E93BDFA-BAD8-4743-AE2D-3A038A4E9D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2A7AF-2728-4945-8F53-E484C69D4E13}" type="datetime1">
              <a:rPr lang="en-GB" smtClean="0"/>
              <a:t>10/09/2024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2306BE-2E8F-4D64-8D34-69B6F3BEC9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DE9C327-AC97-4D4F-B2E0-AFE8BA9AE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6B015-14EA-419E-84A1-EA07DEB3B2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338808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353FEB-5873-4854-A876-ACE01E4764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1CDDAAB-A446-4079-BB36-0FD88DB95D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0B0DE-8FBB-4184-AC25-129A3C85EB2D}" type="datetime1">
              <a:rPr lang="en-GB" smtClean="0"/>
              <a:t>10/09/2024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DEE2AE-BD64-4A0E-B85B-E99D32F312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EF9225-6465-4DF3-8FCD-E9AB97D6C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6B015-14EA-419E-84A1-EA07DEB3B2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087453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BA227EC-0BD4-40C5-A063-303B16F9D8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CEC06-E04A-4860-A93D-9B88DCD56097}" type="datetime1">
              <a:rPr lang="en-GB" smtClean="0"/>
              <a:t>10/09/2024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386CCD5-1461-4ABC-909E-3833C5D783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688CF5-90EF-4089-B500-3AE4CD7F14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6B015-14EA-419E-84A1-EA07DEB3B2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131797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707E42-9D2B-4DC8-B44D-ACEB5EA255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645882-C878-4C68-A6DC-1C66BFDC49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AAAE6A-8326-400A-9A06-3DC6DB4850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5CD465-A333-4CE5-BC1A-CBC694827A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A4D5C7-2BFD-40B6-9252-1F744BEEFA83}" type="datetime1">
              <a:rPr lang="en-GB" smtClean="0"/>
              <a:t>10/09/2024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73B05B-27D9-438A-86D8-A05E99021F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ADA3DA-1E6D-4A6E-B2FE-FDB49906B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6B015-14EA-419E-84A1-EA07DEB3B2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797576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6C4734-ADAE-4F79-A58C-9FAD202E86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90C5B98-1BA6-4596-A840-89EDC9B3B6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46F529-0D9F-4D36-A157-C7E9F60F9D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8F24A3-5C2F-45C8-ACE5-0A0F916F90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7D0BC-5A05-4CFE-B98A-6DDD3A561080}" type="datetime1">
              <a:rPr lang="en-GB" smtClean="0"/>
              <a:t>10/09/2024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17540C-858F-4CC7-A6E7-E61AE83CD0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9AAB41-AAD3-42F8-A8D3-1CAB6B0C68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6B015-14EA-419E-84A1-EA07DEB3B2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577504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7B609-74FC-4C4B-AE9A-A2C2504DD1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CAB064-124E-4D73-A86A-B05F59A1B0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6A6E67-2ECF-43CE-9989-9E2D1EC656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925A3-654D-4F0A-BA1C-6D0DD8E63FA1}" type="datetime1">
              <a:rPr lang="en-GB" smtClean="0"/>
              <a:t>10/09/2024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934965-DDE2-41B7-A772-FB4EFAE425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7E9547-01AB-4A2F-9409-CDFE88A5C1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6B015-14EA-419E-84A1-EA07DEB3B2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10401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B65A095-7C60-4478-B115-E6B840DD5C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42B2DB-43C8-45AE-AA19-F64DC4EE2B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7FC03A-CE7E-4344-AF09-2283988C1C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77976-5A51-4C13-BB63-FC9BB92118DF}" type="datetime1">
              <a:rPr lang="en-GB" smtClean="0"/>
              <a:t>10/09/2024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4071FF-DF2B-43BF-A4C4-01E4C8889A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8BF9E0-971F-4AFA-BC90-078134EF93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6B015-14EA-419E-84A1-EA07DEB3B2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816266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D46949B-1B21-D54A-E5D8-44948D2ED656}"/>
              </a:ext>
            </a:extLst>
          </p:cNvPr>
          <p:cNvSpPr/>
          <p:nvPr userDrawn="1"/>
        </p:nvSpPr>
        <p:spPr>
          <a:xfrm>
            <a:off x="0" y="6455377"/>
            <a:ext cx="12192000" cy="18341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8" name="Diamond 7">
            <a:extLst>
              <a:ext uri="{FF2B5EF4-FFF2-40B4-BE49-F238E27FC236}">
                <a16:creationId xmlns:a16="http://schemas.microsoft.com/office/drawing/2014/main" id="{8A0675B8-D6CA-14C2-F408-290F574835B9}"/>
              </a:ext>
            </a:extLst>
          </p:cNvPr>
          <p:cNvSpPr/>
          <p:nvPr userDrawn="1"/>
        </p:nvSpPr>
        <p:spPr>
          <a:xfrm>
            <a:off x="10746288" y="6257076"/>
            <a:ext cx="939452" cy="563671"/>
          </a:xfrm>
          <a:prstGeom prst="diamond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54B025F-2452-4B27-AB82-5E0B1EB8DF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FB5955-47F8-48FB-8981-8C1FB1FB88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2D3698-2BD3-410C-BAAB-A727163855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65A308-E4AA-464D-A209-BAE8C6A958CD}" type="datetime1">
              <a:rPr lang="en-GB" smtClean="0"/>
              <a:t>10/09/2024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30AE06-6158-4D6A-B6F6-FBB66A52C3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2E5782-77A0-47D3-B7C6-38280C2004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bg1"/>
                </a:solidFill>
              </a:defRPr>
            </a:lvl1pPr>
          </a:lstStyle>
          <a:p>
            <a:fld id="{D3A6B015-14EA-419E-84A1-EA07DEB3B2A0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0865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2">
              <a:lumMod val="1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2">
              <a:lumMod val="1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2">
              <a:lumMod val="1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2">
              <a:lumMod val="1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2">
              <a:lumMod val="1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 dirty="0"/>
              <a:t>Lemons Market Signalling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6562" name="Rectangle 3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838200" y="1637779"/>
                <a:ext cx="10497458" cy="4771481"/>
              </a:xfrm>
            </p:spPr>
            <p:txBody>
              <a:bodyPr>
                <a:normAutofit/>
              </a:bodyPr>
              <a:lstStyle/>
              <a:p>
                <a:pPr eaLnBrk="1" hangingPunct="1"/>
                <a:r>
                  <a:rPr lang="en-US" altLang="en-US" sz="2000" dirty="0"/>
                  <a:t>Consider again the earlier lemons market example with two types. </a:t>
                </a:r>
                <a:r>
                  <a:rPr lang="en-US" altLang="en-US" sz="2000" b="1" dirty="0">
                    <a:solidFill>
                      <a:srgbClr val="00B0F0"/>
                    </a:solidFill>
                  </a:rPr>
                  <a:t>Suppose </a:t>
                </a:r>
                <a14:m>
                  <m:oMath xmlns:m="http://schemas.openxmlformats.org/officeDocument/2006/math">
                    <m:r>
                      <a:rPr lang="en-SG" altLang="en-US" sz="2000" b="1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𝜸</m:t>
                    </m:r>
                    <m:r>
                      <a:rPr lang="en-SG" altLang="en-US" sz="2000" b="1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SG" altLang="en-US" sz="2000" b="1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𝟐𝟎𝟎𝟎</m:t>
                    </m:r>
                  </m:oMath>
                </a14:m>
                <a:r>
                  <a:rPr lang="en-US" altLang="en-US" sz="2000" b="1" dirty="0">
                    <a:solidFill>
                      <a:srgbClr val="00B0F0"/>
                    </a:solidFill>
                  </a:rPr>
                  <a:t>. </a:t>
                </a:r>
                <a:br>
                  <a:rPr lang="en-US" altLang="en-US" sz="2000" b="1" dirty="0">
                    <a:solidFill>
                      <a:srgbClr val="00B0F0"/>
                    </a:solidFill>
                  </a:rPr>
                </a:br>
                <a:r>
                  <a:rPr lang="en-US" altLang="en-US" sz="1800" i="1" dirty="0"/>
                  <a:t>Recall: there is no equilibrium where both types are in the market which is inefficient.</a:t>
                </a:r>
              </a:p>
              <a:p>
                <a:pPr eaLnBrk="1" hangingPunct="1"/>
                <a:endParaRPr lang="en-US" altLang="en-US" sz="2000" dirty="0"/>
              </a:p>
              <a:p>
                <a:pPr eaLnBrk="1" hangingPunct="1"/>
                <a:r>
                  <a:rPr lang="en-US" altLang="en-US" sz="2000" dirty="0"/>
                  <a:t>Now we allow for certification if they are in the market</a:t>
                </a:r>
              </a:p>
              <a:p>
                <a:pPr lvl="1"/>
                <a:r>
                  <a:rPr lang="en-US" altLang="ja-JP" sz="1800" dirty="0"/>
                  <a:t>Peaches can get certified at a cost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SG" altLang="ja-JP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altLang="ja-JP" sz="18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SG" altLang="ja-JP" sz="18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altLang="ja-JP" sz="1800" dirty="0"/>
                  <a:t> </a:t>
                </a:r>
              </a:p>
              <a:p>
                <a:pPr lvl="1"/>
                <a:r>
                  <a:rPr lang="en-US" altLang="ja-JP" sz="1800" dirty="0"/>
                  <a:t>Lemons can get certified at a cost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SG" altLang="ja-JP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altLang="ja-JP" sz="18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SG" altLang="ja-JP" sz="1800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</m:oMath>
                </a14:m>
                <a:endParaRPr lang="en-US" altLang="ja-JP" sz="1600" dirty="0"/>
              </a:p>
              <a:p>
                <a:pPr eaLnBrk="1" hangingPunct="1"/>
                <a:endParaRPr lang="en-US" altLang="ja-JP" sz="2000" dirty="0"/>
              </a:p>
              <a:p>
                <a:pPr eaLnBrk="1" hangingPunct="1"/>
                <a:r>
                  <a:rPr lang="en-US" altLang="ja-JP" sz="2000" dirty="0"/>
                  <a:t>Buyers decide how much to pay for a car in the market after observing a seller’s</a:t>
                </a:r>
                <a:br>
                  <a:rPr lang="en-US" altLang="ja-JP" sz="2000" dirty="0"/>
                </a:br>
                <a:r>
                  <a:rPr lang="en-US" altLang="ja-JP" sz="2000" dirty="0"/>
                  <a:t>1) In/Out decision, 2) Certification Decision.</a:t>
                </a:r>
              </a:p>
              <a:p>
                <a:pPr lvl="1"/>
                <a:r>
                  <a:rPr lang="en-US" altLang="ja-JP" sz="1800" dirty="0"/>
                  <a:t>Price </a:t>
                </a:r>
                <a14:m>
                  <m:oMath xmlns:m="http://schemas.openxmlformats.org/officeDocument/2006/math">
                    <m:r>
                      <a:rPr lang="en-SG" altLang="ja-JP" sz="1800" b="1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altLang="ja-JP" sz="1800" dirty="0"/>
                  <a:t> for </a:t>
                </a:r>
                <a:r>
                  <a:rPr lang="en-US" altLang="en-US" sz="1800" b="1" dirty="0">
                    <a:solidFill>
                      <a:srgbClr val="00B050"/>
                    </a:solidFill>
                  </a:rPr>
                  <a:t>(In, Certificate)</a:t>
                </a:r>
                <a:r>
                  <a:rPr lang="en-US" altLang="en-US" sz="1800" dirty="0">
                    <a:solidFill>
                      <a:srgbClr val="00B050"/>
                    </a:solidFill>
                  </a:rPr>
                  <a:t>  </a:t>
                </a:r>
                <a:r>
                  <a:rPr lang="en-US" altLang="en-US" sz="1800" dirty="0"/>
                  <a:t>and Price </a:t>
                </a:r>
                <a14:m>
                  <m:oMath xmlns:m="http://schemas.openxmlformats.org/officeDocument/2006/math">
                    <m:r>
                      <a:rPr lang="en-SG" altLang="en-US" sz="18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𝒚</m:t>
                    </m:r>
                  </m:oMath>
                </a14:m>
                <a:r>
                  <a:rPr lang="en-US" altLang="en-US" sz="1800" dirty="0"/>
                  <a:t> for </a:t>
                </a:r>
                <a:r>
                  <a:rPr lang="en-US" altLang="en-US" sz="1800" b="1" dirty="0">
                    <a:solidFill>
                      <a:srgbClr val="FF0000"/>
                    </a:solidFill>
                  </a:rPr>
                  <a:t>(In, No Certificate)</a:t>
                </a:r>
                <a:r>
                  <a:rPr lang="en-US" altLang="en-US" sz="1800" dirty="0">
                    <a:solidFill>
                      <a:srgbClr val="FF0000"/>
                    </a:solidFill>
                  </a:rPr>
                  <a:t> </a:t>
                </a:r>
                <a:r>
                  <a:rPr lang="en-US" altLang="en-US" sz="1800" dirty="0"/>
                  <a:t> </a:t>
                </a:r>
              </a:p>
              <a:p>
                <a:pPr lvl="1"/>
                <a:endParaRPr lang="en-US" altLang="en-US" sz="1600" dirty="0"/>
              </a:p>
              <a:p>
                <a:pPr marL="0" indent="0" eaLnBrk="1" hangingPunct="1">
                  <a:buNone/>
                </a:pPr>
                <a:r>
                  <a:rPr lang="en-US" altLang="ja-JP" sz="2000" b="1" dirty="0"/>
                  <a:t>Is there now an equilibrium where peaches stay in the market?</a:t>
                </a:r>
                <a:br>
                  <a:rPr lang="en-US" altLang="ja-JP" sz="2000" b="1" dirty="0"/>
                </a:br>
                <a:r>
                  <a:rPr lang="en-US" altLang="ja-JP" sz="2000" i="1" dirty="0"/>
                  <a:t>(Depends on buyers’ beliefs and their responses!!)</a:t>
                </a:r>
              </a:p>
              <a:p>
                <a:pPr eaLnBrk="1" hangingPunct="1"/>
                <a:endParaRPr lang="en-US" altLang="ja-JP" sz="2000" dirty="0"/>
              </a:p>
              <a:p>
                <a:pPr eaLnBrk="1" hangingPunct="1"/>
                <a:endParaRPr lang="en-US" altLang="ja-JP" sz="1800" dirty="0"/>
              </a:p>
              <a:p>
                <a:endParaRPr lang="en-US" altLang="ja-JP" sz="2000" dirty="0"/>
              </a:p>
              <a:p>
                <a:pPr eaLnBrk="1" hangingPunct="1"/>
                <a:endParaRPr lang="en-US" altLang="ja-JP" sz="2000" dirty="0"/>
              </a:p>
              <a:p>
                <a:pPr eaLnBrk="1" hangingPunct="1"/>
                <a:endParaRPr lang="en-US" altLang="ja-JP" sz="2000" dirty="0"/>
              </a:p>
              <a:p>
                <a:pPr eaLnBrk="1" hangingPunct="1"/>
                <a:endParaRPr lang="en-US" altLang="en-US" sz="2000" dirty="0"/>
              </a:p>
              <a:p>
                <a:pPr eaLnBrk="1" hangingPunct="1"/>
                <a:endParaRPr lang="en-US" altLang="en-US" sz="2000" dirty="0"/>
              </a:p>
            </p:txBody>
          </p:sp>
        </mc:Choice>
        <mc:Fallback xmlns="">
          <p:sp>
            <p:nvSpPr>
              <p:cNvPr id="66562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37779"/>
                <a:ext cx="10497458" cy="4771481"/>
              </a:xfrm>
              <a:blipFill>
                <a:blip r:embed="rId3"/>
                <a:stretch>
                  <a:fillRect l="-639" t="-1407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8EF994C-A7F0-4ADB-B694-A0E4E1098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A6B015-14EA-419E-84A1-EA07DEB3B2A0}" type="slidenum">
              <a:rPr kumimoji="0" lang="en-GB" sz="12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GB" sz="12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715599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EC1BB0F-EF39-99B4-E01A-B5D28ED010AF}"/>
              </a:ext>
            </a:extLst>
          </p:cNvPr>
          <p:cNvCxnSpPr>
            <a:cxnSpLocks/>
          </p:cNvCxnSpPr>
          <p:nvPr/>
        </p:nvCxnSpPr>
        <p:spPr>
          <a:xfrm flipH="1">
            <a:off x="5297698" y="4181198"/>
            <a:ext cx="1191185" cy="537109"/>
          </a:xfrm>
          <a:prstGeom prst="straightConnector1">
            <a:avLst/>
          </a:prstGeom>
          <a:ln w="190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561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 dirty="0"/>
              <a:t>Separating Equilibrium (with </a:t>
            </a:r>
            <a:r>
              <a:rPr lang="en-US" altLang="en-US" dirty="0" err="1"/>
              <a:t>signalling</a:t>
            </a:r>
            <a:r>
              <a:rPr lang="en-US" altLang="en-US" dirty="0"/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6562" name="Rectangle 3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838199" y="1456791"/>
                <a:ext cx="10497458" cy="4771481"/>
              </a:xfrm>
            </p:spPr>
            <p:txBody>
              <a:bodyPr>
                <a:normAutofit/>
              </a:bodyPr>
              <a:lstStyle/>
              <a:p>
                <a:pPr eaLnBrk="1" hangingPunct="1"/>
                <a:r>
                  <a:rPr lang="en-US" altLang="en-US" sz="2000" b="1" dirty="0"/>
                  <a:t>Suppose that both peaches and lemons enter the market (In), </a:t>
                </a:r>
                <a:r>
                  <a:rPr lang="en-US" altLang="en-US" sz="2000" b="1" u="sng" dirty="0"/>
                  <a:t>but</a:t>
                </a:r>
                <a:r>
                  <a:rPr lang="en-US" altLang="en-US" sz="2000" b="1" dirty="0"/>
                  <a:t> only peaches purchase the certification in equilibrium.</a:t>
                </a:r>
              </a:p>
              <a:p>
                <a:pPr marL="0" indent="0" eaLnBrk="1" hangingPunct="1">
                  <a:buNone/>
                </a:pPr>
                <a:endParaRPr lang="en-US" altLang="en-US" sz="2000" dirty="0"/>
              </a:p>
              <a:p>
                <a:pPr marL="0" indent="0" eaLnBrk="1" hangingPunct="1">
                  <a:buNone/>
                </a:pPr>
                <a:r>
                  <a:rPr lang="en-US" altLang="en-US" sz="2000" dirty="0"/>
                  <a:t>Buyers Beliefs:</a:t>
                </a:r>
              </a:p>
              <a:p>
                <a:r>
                  <a:rPr lang="en-US" altLang="en-US" sz="2000" dirty="0"/>
                  <a:t>If see (In, Certificate):</a:t>
                </a:r>
                <a:br>
                  <a:rPr lang="en-US" altLang="en-US" sz="2000" dirty="0"/>
                </a:br>
                <a:r>
                  <a:rPr lang="en-US" altLang="en-US" sz="1800" dirty="0"/>
                  <a:t>Buyers correctly anticipate the above and believe these are peaches with probability 1.</a:t>
                </a:r>
                <a:br>
                  <a:rPr lang="en-US" altLang="en-US" sz="1800" dirty="0"/>
                </a:br>
                <a:r>
                  <a:rPr lang="en-US" altLang="en-US" sz="1800" dirty="0"/>
                  <a:t>A valid price given such beliefs is: </a:t>
                </a:r>
                <a14:m>
                  <m:oMath xmlns:m="http://schemas.openxmlformats.org/officeDocument/2006/math">
                    <m:r>
                      <a:rPr lang="en-SG" altLang="en-US" sz="18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SG" altLang="en-US" sz="1800" i="1">
                        <a:latin typeface="Cambria Math" panose="02040503050406030204" pitchFamily="18" charset="0"/>
                      </a:rPr>
                      <m:t>≤2400</m:t>
                    </m:r>
                  </m:oMath>
                </a14:m>
                <a:endParaRPr lang="en-US" altLang="en-US" sz="1800" dirty="0"/>
              </a:p>
              <a:p>
                <a:endParaRPr lang="en-US" altLang="en-US" sz="2000" dirty="0"/>
              </a:p>
              <a:p>
                <a:r>
                  <a:rPr lang="en-US" altLang="en-US" sz="2000" dirty="0"/>
                  <a:t>If see (In, No Certificate):</a:t>
                </a:r>
                <a:br>
                  <a:rPr lang="en-US" altLang="en-US" sz="2000" dirty="0"/>
                </a:br>
                <a:r>
                  <a:rPr lang="en-US" altLang="en-US" sz="1800" dirty="0"/>
                  <a:t>Buyers correctly anticipate the above and believe these are lemons with probability 1.</a:t>
                </a:r>
                <a:br>
                  <a:rPr lang="en-US" altLang="en-US" sz="1800" dirty="0"/>
                </a:br>
                <a:r>
                  <a:rPr lang="en-US" altLang="en-US" sz="1800" dirty="0"/>
                  <a:t>A valid price given such beliefs is: </a:t>
                </a:r>
                <a14:m>
                  <m:oMath xmlns:m="http://schemas.openxmlformats.org/officeDocument/2006/math">
                    <m:r>
                      <a:rPr lang="en-SG" altLang="en-US" sz="18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SG" altLang="en-US" sz="1800" i="1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SG" altLang="en-US" sz="1800" b="0" i="1" smtClean="0">
                        <a:latin typeface="Cambria Math" panose="02040503050406030204" pitchFamily="18" charset="0"/>
                      </a:rPr>
                      <m:t>12</m:t>
                    </m:r>
                    <m:r>
                      <a:rPr lang="en-SG" altLang="en-US" sz="1800" i="1">
                        <a:latin typeface="Cambria Math" panose="02040503050406030204" pitchFamily="18" charset="0"/>
                      </a:rPr>
                      <m:t>00</m:t>
                    </m:r>
                  </m:oMath>
                </a14:m>
                <a:endParaRPr lang="en-US" altLang="en-US" sz="1800" dirty="0"/>
              </a:p>
              <a:p>
                <a:pPr marL="0" indent="0" eaLnBrk="1" hangingPunct="1">
                  <a:buNone/>
                </a:pPr>
                <a:endParaRPr lang="en-US" altLang="en-US" sz="2000" dirty="0"/>
              </a:p>
              <a:p>
                <a:pPr marL="0" indent="0" eaLnBrk="1" hangingPunct="1">
                  <a:buNone/>
                </a:pPr>
                <a:r>
                  <a:rPr lang="en-US" altLang="en-US" sz="2000" b="1" dirty="0"/>
                  <a:t>This is only a valid equilibrium if the choices of peach and lemon sellers are indeed best responses to such prices!</a:t>
                </a:r>
              </a:p>
              <a:p>
                <a:pPr eaLnBrk="1" hangingPunct="1"/>
                <a:endParaRPr lang="en-US" altLang="en-US" sz="2000" dirty="0"/>
              </a:p>
              <a:p>
                <a:pPr eaLnBrk="1" hangingPunct="1"/>
                <a:endParaRPr lang="en-US" altLang="ja-JP" sz="1800" dirty="0"/>
              </a:p>
              <a:p>
                <a:endParaRPr lang="en-US" altLang="ja-JP" sz="2000" dirty="0"/>
              </a:p>
              <a:p>
                <a:pPr eaLnBrk="1" hangingPunct="1"/>
                <a:endParaRPr lang="en-US" altLang="ja-JP" sz="2000" dirty="0"/>
              </a:p>
              <a:p>
                <a:pPr eaLnBrk="1" hangingPunct="1"/>
                <a:endParaRPr lang="en-US" altLang="ja-JP" sz="2000" dirty="0"/>
              </a:p>
              <a:p>
                <a:pPr eaLnBrk="1" hangingPunct="1"/>
                <a:endParaRPr lang="en-US" altLang="en-US" sz="2000" dirty="0"/>
              </a:p>
              <a:p>
                <a:pPr eaLnBrk="1" hangingPunct="1"/>
                <a:endParaRPr lang="en-US" altLang="en-US" sz="2000" dirty="0"/>
              </a:p>
            </p:txBody>
          </p:sp>
        </mc:Choice>
        <mc:Fallback xmlns="">
          <p:sp>
            <p:nvSpPr>
              <p:cNvPr id="66562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456791"/>
                <a:ext cx="10497458" cy="4771481"/>
              </a:xfrm>
              <a:blipFill>
                <a:blip r:embed="rId3"/>
                <a:stretch>
                  <a:fillRect l="-580" t="-1405" r="-929" b="-1022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8EF994C-A7F0-4ADB-B694-A0E4E1098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A6B015-14EA-419E-84A1-EA07DEB3B2A0}" type="slidenum">
              <a:rPr kumimoji="0" lang="en-GB" sz="12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GB" sz="12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343C479-03A4-5C06-98D0-BF9FF4B6DBD2}"/>
              </a:ext>
            </a:extLst>
          </p:cNvPr>
          <p:cNvSpPr txBox="1"/>
          <p:nvPr/>
        </p:nvSpPr>
        <p:spPr>
          <a:xfrm>
            <a:off x="6476301" y="3957805"/>
            <a:ext cx="35346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18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Price lower than buyers’ valuations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99E30977-ECE4-BFD7-AFB5-C58868825372}"/>
              </a:ext>
            </a:extLst>
          </p:cNvPr>
          <p:cNvCxnSpPr>
            <a:cxnSpLocks/>
          </p:cNvCxnSpPr>
          <p:nvPr/>
        </p:nvCxnSpPr>
        <p:spPr>
          <a:xfrm flipH="1" flipV="1">
            <a:off x="5257825" y="3786544"/>
            <a:ext cx="1245766" cy="382072"/>
          </a:xfrm>
          <a:prstGeom prst="straightConnector1">
            <a:avLst/>
          </a:prstGeom>
          <a:ln w="190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570756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 dirty="0"/>
              <a:t>Separating Equilibrium (Peaches choices)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6562" name="Rectangle 3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838199" y="1456791"/>
                <a:ext cx="10497458" cy="4771481"/>
              </a:xfrm>
            </p:spPr>
            <p:txBody>
              <a:bodyPr>
                <a:normAutofit/>
              </a:bodyPr>
              <a:lstStyle/>
              <a:p>
                <a:pPr marL="457200" indent="-457200" eaLnBrk="1" hangingPunct="1">
                  <a:buFont typeface="+mj-lt"/>
                  <a:buAutoNum type="arabicPeriod"/>
                </a:pPr>
                <a:r>
                  <a:rPr lang="en-US" altLang="en-US" sz="2000" b="1" dirty="0"/>
                  <a:t>Is </a:t>
                </a:r>
                <a:r>
                  <a:rPr lang="en-US" altLang="en-US" sz="2000" b="1" dirty="0">
                    <a:solidFill>
                      <a:srgbClr val="00B050"/>
                    </a:solidFill>
                  </a:rPr>
                  <a:t>(In, Certificate) </a:t>
                </a:r>
                <a:r>
                  <a:rPr lang="en-US" altLang="en-US" sz="2000" b="1" dirty="0"/>
                  <a:t>the best choice for </a:t>
                </a:r>
                <a:r>
                  <a:rPr lang="en-US" altLang="en-US" sz="2000" b="1" u="sng" dirty="0"/>
                  <a:t>peach sellers</a:t>
                </a:r>
                <a:r>
                  <a:rPr lang="en-US" altLang="en-US" sz="2000" b="1" dirty="0"/>
                  <a:t>?</a:t>
                </a:r>
              </a:p>
              <a:p>
                <a:pPr marL="0" indent="0" eaLnBrk="1" hangingPunct="1">
                  <a:buNone/>
                </a:pPr>
                <a:endParaRPr lang="en-US" altLang="en-US" sz="2000" b="1" dirty="0"/>
              </a:p>
              <a:p>
                <a:pPr marL="0" indent="0">
                  <a:buNone/>
                </a:pPr>
                <a:r>
                  <a:rPr lang="en-US" altLang="en-US" sz="2000" b="1" dirty="0">
                    <a:solidFill>
                      <a:schemeClr val="tx1"/>
                    </a:solidFill>
                  </a:rPr>
                  <a:t>If they choose: </a:t>
                </a:r>
              </a:p>
              <a:p>
                <a:r>
                  <a:rPr lang="en-US" altLang="en-US" sz="1800" b="1" dirty="0">
                    <a:solidFill>
                      <a:schemeClr val="tx1"/>
                    </a:solidFill>
                  </a:rPr>
                  <a:t>(In, Certificate): </a:t>
                </a:r>
                <a:r>
                  <a:rPr lang="en-US" altLang="en-US" sz="1800" dirty="0">
                    <a:solidFill>
                      <a:schemeClr val="tx1"/>
                    </a:solidFill>
                  </a:rPr>
                  <a:t>They sell their car for </a:t>
                </a:r>
                <a14:m>
                  <m:oMath xmlns:m="http://schemas.openxmlformats.org/officeDocument/2006/math">
                    <m:r>
                      <a:rPr lang="en-SG" alt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altLang="en-US" sz="1800" dirty="0">
                    <a:solidFill>
                      <a:schemeClr val="tx1"/>
                    </a:solidFill>
                  </a:rPr>
                  <a:t> but pay a cost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SG" alt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alt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SG" alt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altLang="en-US" sz="1800" dirty="0">
                    <a:solidFill>
                      <a:schemeClr val="tx1"/>
                    </a:solidFill>
                  </a:rPr>
                  <a:t> for certification, and earn </a:t>
                </a:r>
                <a14:m>
                  <m:oMath xmlns:m="http://schemas.openxmlformats.org/officeDocument/2006/math">
                    <m:r>
                      <a:rPr lang="en-SG" alt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SG" alt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SG" alt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alt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SG" alt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endParaRPr lang="en-US" altLang="en-US" sz="1800" dirty="0"/>
              </a:p>
              <a:p>
                <a:r>
                  <a:rPr lang="en-US" altLang="en-US" sz="1800" b="1" dirty="0">
                    <a:solidFill>
                      <a:schemeClr val="tx1"/>
                    </a:solidFill>
                  </a:rPr>
                  <a:t>(In, No Certificate): </a:t>
                </a:r>
                <a:r>
                  <a:rPr lang="en-US" altLang="en-US" sz="1800" dirty="0">
                    <a:solidFill>
                      <a:schemeClr val="tx1"/>
                    </a:solidFill>
                  </a:rPr>
                  <a:t>They sell their car for </a:t>
                </a:r>
                <a14:m>
                  <m:oMath xmlns:m="http://schemas.openxmlformats.org/officeDocument/2006/math">
                    <m:r>
                      <a:rPr lang="en-SG" alt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altLang="en-US" sz="1800" dirty="0">
                    <a:solidFill>
                      <a:schemeClr val="tx1"/>
                    </a:solidFill>
                  </a:rPr>
                  <a:t> and do not pay for certification and earn </a:t>
                </a:r>
                <a14:m>
                  <m:oMath xmlns:m="http://schemas.openxmlformats.org/officeDocument/2006/math">
                    <m:r>
                      <a:rPr lang="en-SG" alt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US" altLang="en-US" sz="1800" dirty="0">
                  <a:solidFill>
                    <a:schemeClr val="tx1"/>
                  </a:solidFill>
                </a:endParaRPr>
              </a:p>
              <a:p>
                <a:r>
                  <a:rPr lang="en-US" altLang="en-US" sz="1800" b="1" dirty="0">
                    <a:solidFill>
                      <a:schemeClr val="tx1"/>
                    </a:solidFill>
                  </a:rPr>
                  <a:t>(Out, No Certificate): </a:t>
                </a:r>
                <a:r>
                  <a:rPr lang="en-US" altLang="en-US" sz="1800" dirty="0">
                    <a:solidFill>
                      <a:schemeClr val="tx1"/>
                    </a:solidFill>
                  </a:rPr>
                  <a:t>They get the value of their car: 2000 and do not pay for certification and earn </a:t>
                </a:r>
                <a14:m>
                  <m:oMath xmlns:m="http://schemas.openxmlformats.org/officeDocument/2006/math">
                    <m:r>
                      <a:rPr lang="en-SG" alt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2000</m:t>
                    </m:r>
                  </m:oMath>
                </a14:m>
                <a:endParaRPr lang="en-US" altLang="en-US" sz="1800" dirty="0">
                  <a:solidFill>
                    <a:schemeClr val="tx1"/>
                  </a:solidFill>
                </a:endParaRPr>
              </a:p>
              <a:p>
                <a:r>
                  <a:rPr lang="en-US" altLang="en-US" sz="1800" b="1" dirty="0">
                    <a:solidFill>
                      <a:schemeClr val="tx1"/>
                    </a:solidFill>
                  </a:rPr>
                  <a:t>(Out, Certificate): </a:t>
                </a:r>
                <a:r>
                  <a:rPr lang="en-US" altLang="en-US" sz="1800" dirty="0">
                    <a:solidFill>
                      <a:schemeClr val="tx1"/>
                    </a:solidFill>
                  </a:rPr>
                  <a:t>They get the value of their car: 2000 and pay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SG" alt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alt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SG" alt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altLang="en-US" sz="1800" dirty="0">
                    <a:solidFill>
                      <a:schemeClr val="tx1"/>
                    </a:solidFill>
                  </a:rPr>
                  <a:t> for certification and earn </a:t>
                </a:r>
                <a14:m>
                  <m:oMath xmlns:m="http://schemas.openxmlformats.org/officeDocument/2006/math">
                    <m:r>
                      <a:rPr lang="en-SG" alt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2000−</m:t>
                    </m:r>
                    <m:sSub>
                      <m:sSubPr>
                        <m:ctrlPr>
                          <a:rPr lang="en-SG" alt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alt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SG" alt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altLang="en-US" sz="1800" dirty="0">
                    <a:solidFill>
                      <a:schemeClr val="tx1"/>
                    </a:solidFill>
                  </a:rPr>
                  <a:t>.</a:t>
                </a:r>
              </a:p>
              <a:p>
                <a:pPr lvl="1"/>
                <a:endParaRPr lang="en-US" altLang="en-US" sz="1600" dirty="0"/>
              </a:p>
              <a:p>
                <a:pPr marL="0" indent="0">
                  <a:buNone/>
                </a:pPr>
                <a:r>
                  <a:rPr lang="en-US" altLang="en-US" sz="2000" dirty="0"/>
                  <a:t>For </a:t>
                </a:r>
                <a:r>
                  <a:rPr lang="en-US" altLang="en-US" sz="2000" b="1" dirty="0">
                    <a:solidFill>
                      <a:schemeClr val="tx1"/>
                    </a:solidFill>
                  </a:rPr>
                  <a:t>(In, Certificate) </a:t>
                </a:r>
                <a:r>
                  <a:rPr lang="en-US" altLang="en-US" sz="2000" dirty="0">
                    <a:solidFill>
                      <a:schemeClr val="tx1"/>
                    </a:solidFill>
                  </a:rPr>
                  <a:t>to be the best choice for peaches, we need:</a:t>
                </a:r>
              </a:p>
              <a:p>
                <a14:m>
                  <m:oMath xmlns:m="http://schemas.openxmlformats.org/officeDocument/2006/math">
                    <m:r>
                      <a:rPr lang="en-SG" alt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SG" alt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SG" alt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alt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SG" alt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SG" alt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SG" alt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SG" altLang="en-US" sz="18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SG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SG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SG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SG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SG" altLang="en-US" sz="18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&gt;2000   (&gt;2000−</m:t>
                    </m:r>
                    <m:sSub>
                      <m:sSubPr>
                        <m:ctrlPr>
                          <a:rPr lang="en-SG" alt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alt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SG" alt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SG" alt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en-US" sz="1800" i="1" dirty="0"/>
              </a:p>
              <a:p>
                <a:pPr marL="0" indent="0" eaLnBrk="1" hangingPunct="1">
                  <a:buNone/>
                </a:pPr>
                <a:endParaRPr lang="en-US" altLang="en-US" sz="2000" dirty="0"/>
              </a:p>
              <a:p>
                <a:pPr marL="0" indent="0" eaLnBrk="1" hangingPunct="1">
                  <a:buNone/>
                </a:pPr>
                <a:endParaRPr lang="en-US" altLang="ja-JP" sz="1800" dirty="0"/>
              </a:p>
              <a:p>
                <a:endParaRPr lang="en-US" altLang="ja-JP" sz="2000" dirty="0"/>
              </a:p>
              <a:p>
                <a:pPr eaLnBrk="1" hangingPunct="1"/>
                <a:endParaRPr lang="en-US" altLang="ja-JP" sz="2000" dirty="0"/>
              </a:p>
              <a:p>
                <a:pPr eaLnBrk="1" hangingPunct="1"/>
                <a:endParaRPr lang="en-US" altLang="ja-JP" sz="2000" dirty="0"/>
              </a:p>
              <a:p>
                <a:pPr eaLnBrk="1" hangingPunct="1"/>
                <a:endParaRPr lang="en-US" altLang="en-US" sz="2000" dirty="0"/>
              </a:p>
              <a:p>
                <a:pPr eaLnBrk="1" hangingPunct="1"/>
                <a:endParaRPr lang="en-US" altLang="en-US" sz="2000" dirty="0"/>
              </a:p>
            </p:txBody>
          </p:sp>
        </mc:Choice>
        <mc:Fallback xmlns="">
          <p:sp>
            <p:nvSpPr>
              <p:cNvPr id="66562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456791"/>
                <a:ext cx="10497458" cy="4771481"/>
              </a:xfrm>
              <a:blipFill>
                <a:blip r:embed="rId3"/>
                <a:stretch>
                  <a:fillRect l="-580" t="-1533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8EF994C-A7F0-4ADB-B694-A0E4E1098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A6B015-14EA-419E-84A1-EA07DEB3B2A0}" type="slidenum">
              <a:rPr kumimoji="0" lang="en-GB" sz="12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GB" sz="12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442280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 dirty="0"/>
              <a:t>Separating Equilibrium (Lemons’ choices)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6562" name="Rectangle 3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838199" y="1456791"/>
                <a:ext cx="10497458" cy="4771481"/>
              </a:xfrm>
            </p:spPr>
            <p:txBody>
              <a:bodyPr>
                <a:normAutofit/>
              </a:bodyPr>
              <a:lstStyle/>
              <a:p>
                <a:pPr marL="457200" indent="-457200" eaLnBrk="1" hangingPunct="1">
                  <a:buFont typeface="+mj-lt"/>
                  <a:buAutoNum type="arabicPeriod"/>
                </a:pPr>
                <a:r>
                  <a:rPr lang="en-US" altLang="en-US" sz="2000" b="1" dirty="0"/>
                  <a:t>Is </a:t>
                </a:r>
                <a:r>
                  <a:rPr lang="en-US" altLang="en-US" sz="2000" b="1" dirty="0">
                    <a:solidFill>
                      <a:srgbClr val="FF0000"/>
                    </a:solidFill>
                  </a:rPr>
                  <a:t>(In, No Certificate) </a:t>
                </a:r>
                <a:r>
                  <a:rPr lang="en-US" altLang="en-US" sz="2000" b="1" dirty="0"/>
                  <a:t>the best choice for </a:t>
                </a:r>
                <a:r>
                  <a:rPr lang="en-US" altLang="en-US" sz="2000" b="1" u="sng" dirty="0"/>
                  <a:t>lemon sellers</a:t>
                </a:r>
                <a:r>
                  <a:rPr lang="en-US" altLang="en-US" sz="2000" b="1" dirty="0"/>
                  <a:t>?</a:t>
                </a:r>
              </a:p>
              <a:p>
                <a:pPr marL="0" indent="0" eaLnBrk="1" hangingPunct="1">
                  <a:buNone/>
                </a:pPr>
                <a:endParaRPr lang="en-US" altLang="en-US" sz="2000" b="1" dirty="0"/>
              </a:p>
              <a:p>
                <a:pPr marL="0" indent="0">
                  <a:buNone/>
                </a:pPr>
                <a:r>
                  <a:rPr lang="en-US" altLang="en-US" sz="2000" b="1" dirty="0">
                    <a:solidFill>
                      <a:schemeClr val="tx1"/>
                    </a:solidFill>
                  </a:rPr>
                  <a:t>If they choose: </a:t>
                </a:r>
              </a:p>
              <a:p>
                <a:r>
                  <a:rPr lang="en-US" altLang="en-US" sz="1800" b="1" dirty="0">
                    <a:solidFill>
                      <a:schemeClr val="tx1"/>
                    </a:solidFill>
                  </a:rPr>
                  <a:t>(In, No Certificate): </a:t>
                </a:r>
                <a:r>
                  <a:rPr lang="en-US" altLang="en-US" sz="1800" dirty="0">
                    <a:solidFill>
                      <a:schemeClr val="tx1"/>
                    </a:solidFill>
                  </a:rPr>
                  <a:t>They sell their car for </a:t>
                </a:r>
                <a14:m>
                  <m:oMath xmlns:m="http://schemas.openxmlformats.org/officeDocument/2006/math">
                    <m:r>
                      <a:rPr lang="en-SG" alt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altLang="en-US" sz="1800" dirty="0">
                    <a:solidFill>
                      <a:schemeClr val="tx1"/>
                    </a:solidFill>
                  </a:rPr>
                  <a:t> and do not pay for certification and earn </a:t>
                </a:r>
                <a14:m>
                  <m:oMath xmlns:m="http://schemas.openxmlformats.org/officeDocument/2006/math">
                    <m:r>
                      <a:rPr lang="en-SG" alt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US" altLang="en-US" sz="1800" b="1" dirty="0">
                  <a:solidFill>
                    <a:schemeClr val="tx1"/>
                  </a:solidFill>
                </a:endParaRPr>
              </a:p>
              <a:p>
                <a:r>
                  <a:rPr lang="en-US" altLang="en-US" sz="1800" b="1" dirty="0">
                    <a:solidFill>
                      <a:schemeClr val="tx1"/>
                    </a:solidFill>
                  </a:rPr>
                  <a:t>(In, Certificate): </a:t>
                </a:r>
                <a:r>
                  <a:rPr lang="en-US" altLang="en-US" sz="1800" dirty="0">
                    <a:solidFill>
                      <a:schemeClr val="tx1"/>
                    </a:solidFill>
                  </a:rPr>
                  <a:t>They sell their car for </a:t>
                </a:r>
                <a14:m>
                  <m:oMath xmlns:m="http://schemas.openxmlformats.org/officeDocument/2006/math">
                    <m:r>
                      <a:rPr lang="en-SG" alt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altLang="en-US" sz="1800" dirty="0">
                    <a:solidFill>
                      <a:schemeClr val="tx1"/>
                    </a:solidFill>
                  </a:rPr>
                  <a:t> but pay a cost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SG" alt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alt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SG" alt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</m:oMath>
                </a14:m>
                <a:r>
                  <a:rPr lang="en-US" altLang="en-US" sz="1800" dirty="0">
                    <a:solidFill>
                      <a:schemeClr val="tx1"/>
                    </a:solidFill>
                  </a:rPr>
                  <a:t> for certification, and earn </a:t>
                </a:r>
                <a14:m>
                  <m:oMath xmlns:m="http://schemas.openxmlformats.org/officeDocument/2006/math">
                    <m:r>
                      <a:rPr lang="en-SG" alt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SG" alt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SG" alt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alt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SG" alt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</m:oMath>
                </a14:m>
                <a:endParaRPr lang="en-US" altLang="en-US" sz="1800" dirty="0"/>
              </a:p>
              <a:p>
                <a:r>
                  <a:rPr lang="en-US" altLang="en-US" sz="1800" b="1" dirty="0">
                    <a:solidFill>
                      <a:schemeClr val="tx1"/>
                    </a:solidFill>
                  </a:rPr>
                  <a:t>(Out, No Certificate): </a:t>
                </a:r>
                <a:r>
                  <a:rPr lang="en-US" altLang="en-US" sz="1800" dirty="0">
                    <a:solidFill>
                      <a:schemeClr val="tx1"/>
                    </a:solidFill>
                  </a:rPr>
                  <a:t>They get the value of their car: 1000 and do not pay for certification and earn </a:t>
                </a:r>
                <a14:m>
                  <m:oMath xmlns:m="http://schemas.openxmlformats.org/officeDocument/2006/math">
                    <m:r>
                      <a:rPr lang="en-SG" altLang="en-US" sz="18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SG" alt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000</m:t>
                    </m:r>
                  </m:oMath>
                </a14:m>
                <a:endParaRPr lang="en-US" altLang="en-US" sz="1800" dirty="0">
                  <a:solidFill>
                    <a:schemeClr val="tx1"/>
                  </a:solidFill>
                </a:endParaRPr>
              </a:p>
              <a:p>
                <a:r>
                  <a:rPr lang="en-US" altLang="en-US" sz="1800" b="1" dirty="0">
                    <a:solidFill>
                      <a:schemeClr val="tx1"/>
                    </a:solidFill>
                  </a:rPr>
                  <a:t>(Out, Certificate): </a:t>
                </a:r>
                <a:r>
                  <a:rPr lang="en-US" altLang="en-US" sz="1800" dirty="0">
                    <a:solidFill>
                      <a:schemeClr val="tx1"/>
                    </a:solidFill>
                  </a:rPr>
                  <a:t>They get the value of their car: 1000 and pay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SG" alt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alt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SG" alt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</m:oMath>
                </a14:m>
                <a:r>
                  <a:rPr lang="en-US" altLang="en-US" sz="1800" dirty="0">
                    <a:solidFill>
                      <a:schemeClr val="tx1"/>
                    </a:solidFill>
                  </a:rPr>
                  <a:t> for certification and earn </a:t>
                </a:r>
                <a14:m>
                  <m:oMath xmlns:m="http://schemas.openxmlformats.org/officeDocument/2006/math">
                    <m:r>
                      <a:rPr lang="en-SG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SG" alt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000−</m:t>
                    </m:r>
                    <m:sSub>
                      <m:sSubPr>
                        <m:ctrlPr>
                          <a:rPr lang="en-SG" alt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alt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SG" alt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</m:oMath>
                </a14:m>
                <a:r>
                  <a:rPr lang="en-US" altLang="en-US" sz="1800" dirty="0">
                    <a:solidFill>
                      <a:schemeClr val="tx1"/>
                    </a:solidFill>
                  </a:rPr>
                  <a:t>.</a:t>
                </a:r>
              </a:p>
              <a:p>
                <a:pPr lvl="1"/>
                <a:endParaRPr lang="en-US" altLang="en-US" sz="1600" dirty="0"/>
              </a:p>
              <a:p>
                <a:pPr marL="0" indent="0">
                  <a:buNone/>
                </a:pPr>
                <a:r>
                  <a:rPr lang="en-US" altLang="en-US" sz="2000" dirty="0"/>
                  <a:t>For </a:t>
                </a:r>
                <a:r>
                  <a:rPr lang="en-US" altLang="en-US" sz="2000" b="1" dirty="0">
                    <a:solidFill>
                      <a:schemeClr val="tx1"/>
                    </a:solidFill>
                  </a:rPr>
                  <a:t>(In, No Certificate) </a:t>
                </a:r>
                <a:r>
                  <a:rPr lang="en-US" altLang="en-US" sz="2000" dirty="0">
                    <a:solidFill>
                      <a:schemeClr val="tx1"/>
                    </a:solidFill>
                  </a:rPr>
                  <a:t>to be the best choice for lemons, we need:</a:t>
                </a:r>
              </a:p>
              <a:p>
                <a14:m>
                  <m:oMath xmlns:m="http://schemas.openxmlformats.org/officeDocument/2006/math">
                    <m:r>
                      <a:rPr lang="en-SG" alt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SG" alt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SG" alt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SG" alt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SG" alt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alt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SG" alt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</m:oMath>
                </a14:m>
                <a:endParaRPr lang="en-SG" altLang="en-US" sz="18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SG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SG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&gt;1000  (&gt;</m:t>
                    </m:r>
                    <m:r>
                      <a:rPr lang="en-SG" alt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1000−</m:t>
                    </m:r>
                    <m:sSub>
                      <m:sSubPr>
                        <m:ctrlPr>
                          <a:rPr lang="en-SG" alt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alt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SG" alt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  <m:r>
                      <a:rPr lang="en-SG" alt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en-US" sz="1800" dirty="0"/>
              </a:p>
              <a:p>
                <a:pPr eaLnBrk="1" hangingPunct="1"/>
                <a:endParaRPr lang="en-US" altLang="ja-JP" sz="1800" dirty="0"/>
              </a:p>
              <a:p>
                <a:endParaRPr lang="en-US" altLang="ja-JP" sz="2000" dirty="0"/>
              </a:p>
              <a:p>
                <a:pPr eaLnBrk="1" hangingPunct="1"/>
                <a:endParaRPr lang="en-US" altLang="ja-JP" sz="2000" dirty="0"/>
              </a:p>
              <a:p>
                <a:pPr eaLnBrk="1" hangingPunct="1"/>
                <a:endParaRPr lang="en-US" altLang="ja-JP" sz="2000" dirty="0"/>
              </a:p>
              <a:p>
                <a:pPr eaLnBrk="1" hangingPunct="1"/>
                <a:endParaRPr lang="en-US" altLang="en-US" sz="2000" dirty="0"/>
              </a:p>
              <a:p>
                <a:pPr eaLnBrk="1" hangingPunct="1"/>
                <a:endParaRPr lang="en-US" altLang="en-US" sz="2000" dirty="0"/>
              </a:p>
            </p:txBody>
          </p:sp>
        </mc:Choice>
        <mc:Fallback xmlns="">
          <p:sp>
            <p:nvSpPr>
              <p:cNvPr id="66562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456791"/>
                <a:ext cx="10497458" cy="4771481"/>
              </a:xfrm>
              <a:blipFill>
                <a:blip r:embed="rId3"/>
                <a:stretch>
                  <a:fillRect l="-580" t="-1533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8EF994C-A7F0-4ADB-B694-A0E4E1098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A6B015-14EA-419E-84A1-EA07DEB3B2A0}" type="slidenum">
              <a:rPr kumimoji="0" lang="en-GB" sz="12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GB" sz="12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272424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 dirty="0"/>
              <a:t>Separating Equilibrium (with </a:t>
            </a:r>
            <a:r>
              <a:rPr lang="en-US" altLang="en-US" dirty="0" err="1"/>
              <a:t>signalling</a:t>
            </a:r>
            <a:r>
              <a:rPr lang="en-US" altLang="en-US" dirty="0"/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6562" name="Rectangle 3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838199" y="1456791"/>
                <a:ext cx="10497458" cy="4771481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altLang="en-US" sz="2000" dirty="0"/>
                  <a:t>Combining all the conditions, we have:</a:t>
                </a:r>
              </a:p>
              <a:p>
                <a:pPr marL="457200" indent="-457200" eaLnBrk="1" hangingPunct="1">
                  <a:buFont typeface="+mj-lt"/>
                  <a:buAutoNum type="arabi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SG" alt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alt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SG" alt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SG" altLang="en-US" sz="20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SG" alt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SG" alt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SG" alt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SG" alt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SG" alt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alt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SG" alt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</m:oMath>
                </a14:m>
                <a:endParaRPr lang="en-SG" altLang="en-US" sz="2000" b="0" i="0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marL="457200" indent="-457200" eaLnBrk="1" hangingPunct="1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SG" alt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SG" alt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&gt;2000+</m:t>
                    </m:r>
                    <m:sSub>
                      <m:sSubPr>
                        <m:ctrlPr>
                          <a:rPr lang="en-SG" alt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alt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SG" alt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SG" altLang="en-US" sz="2000" b="0" i="1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 , </a:t>
                </a:r>
                <a14:m>
                  <m:oMath xmlns:m="http://schemas.openxmlformats.org/officeDocument/2006/math">
                    <m:r>
                      <a:rPr lang="en-SG" alt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SG" alt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&gt;1000</m:t>
                    </m:r>
                  </m:oMath>
                </a14:m>
                <a:endParaRPr lang="en-SG" altLang="en-US" sz="2000" dirty="0"/>
              </a:p>
              <a:p>
                <a:pPr marL="457200" indent="-457200" eaLnBrk="1" hangingPunct="1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SG" altLang="en-US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SG" altLang="en-US" sz="2000" b="0" i="1" smtClean="0">
                        <a:latin typeface="Cambria Math" panose="02040503050406030204" pitchFamily="18" charset="0"/>
                      </a:rPr>
                      <m:t>&lt;2400,</m:t>
                    </m:r>
                  </m:oMath>
                </a14:m>
                <a:r>
                  <a:rPr lang="en-SG" altLang="en-US" sz="2000" dirty="0"/>
                  <a:t> </a:t>
                </a:r>
                <a14:m>
                  <m:oMath xmlns:m="http://schemas.openxmlformats.org/officeDocument/2006/math">
                    <m:r>
                      <a:rPr lang="en-SG" altLang="en-US" sz="2000" b="0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SG" altLang="en-US" sz="2000" b="0" i="1" dirty="0" smtClean="0">
                        <a:latin typeface="Cambria Math" panose="02040503050406030204" pitchFamily="18" charset="0"/>
                      </a:rPr>
                      <m:t>&lt;1200</m:t>
                    </m:r>
                  </m:oMath>
                </a14:m>
                <a:br>
                  <a:rPr lang="en-SG" altLang="en-US" sz="2000" dirty="0"/>
                </a:br>
                <a:endParaRPr lang="en-SG" altLang="en-US" sz="2000" dirty="0"/>
              </a:p>
              <a:p>
                <a:pPr eaLnBrk="1" hangingPunct="1"/>
                <a:r>
                  <a:rPr lang="en-SG" altLang="en-US" sz="2000" dirty="0">
                    <a:solidFill>
                      <a:schemeClr val="tx1"/>
                    </a:solidFill>
                  </a:rPr>
                  <a:t>Condition 1 implies that peaches do not want to imitate lemons and lemons do not want to imitate peaches (in terms of their certification choice)</a:t>
                </a:r>
              </a:p>
              <a:p>
                <a:pPr eaLnBrk="1" hangingPunct="1"/>
                <a:r>
                  <a:rPr lang="en-SG" altLang="en-US" sz="2000" dirty="0">
                    <a:solidFill>
                      <a:schemeClr val="tx1"/>
                    </a:solidFill>
                  </a:rPr>
                  <a:t>Condition 2 implies that lemons and peaches do better than staying out.</a:t>
                </a:r>
              </a:p>
              <a:p>
                <a:pPr eaLnBrk="1" hangingPunct="1"/>
                <a:r>
                  <a:rPr lang="en-SG" altLang="en-US" sz="2000" dirty="0">
                    <a:solidFill>
                      <a:schemeClr val="tx1"/>
                    </a:solidFill>
                  </a:rPr>
                  <a:t>Condition 3 implies that buyers get a positive surplus.</a:t>
                </a:r>
              </a:p>
              <a:p>
                <a:pPr marL="0" indent="0" eaLnBrk="1" hangingPunct="1">
                  <a:buNone/>
                </a:pPr>
                <a:endParaRPr lang="en-US" altLang="en-US" sz="2000" dirty="0"/>
              </a:p>
              <a:p>
                <a:pPr marL="0" indent="0" eaLnBrk="1" hangingPunct="1">
                  <a:buNone/>
                </a:pPr>
                <a:r>
                  <a:rPr lang="en-US" altLang="en-US" sz="2000" b="1" dirty="0"/>
                  <a:t>If all these conditions are satisfied, then there is an equilibrium where </a:t>
                </a:r>
                <a:r>
                  <a:rPr lang="en-US" altLang="en-US" sz="2000" b="1" dirty="0" err="1"/>
                  <a:t>signalling</a:t>
                </a:r>
                <a:r>
                  <a:rPr lang="en-US" altLang="en-US" sz="2000" b="1" dirty="0"/>
                  <a:t> can help improve on efficiency by helping the market to exist!</a:t>
                </a:r>
              </a:p>
              <a:p>
                <a:pPr eaLnBrk="1" hangingPunct="1"/>
                <a:endParaRPr lang="en-US" altLang="ja-JP" sz="1800" dirty="0"/>
              </a:p>
              <a:p>
                <a:endParaRPr lang="en-US" altLang="ja-JP" sz="2000" dirty="0"/>
              </a:p>
              <a:p>
                <a:pPr eaLnBrk="1" hangingPunct="1"/>
                <a:endParaRPr lang="en-US" altLang="ja-JP" sz="2000" dirty="0"/>
              </a:p>
              <a:p>
                <a:pPr eaLnBrk="1" hangingPunct="1"/>
                <a:endParaRPr lang="en-US" altLang="ja-JP" sz="2000" dirty="0"/>
              </a:p>
              <a:p>
                <a:pPr eaLnBrk="1" hangingPunct="1"/>
                <a:endParaRPr lang="en-US" altLang="en-US" sz="2000" dirty="0"/>
              </a:p>
              <a:p>
                <a:pPr eaLnBrk="1" hangingPunct="1"/>
                <a:endParaRPr lang="en-US" altLang="en-US" sz="2000" dirty="0"/>
              </a:p>
            </p:txBody>
          </p:sp>
        </mc:Choice>
        <mc:Fallback xmlns="">
          <p:sp>
            <p:nvSpPr>
              <p:cNvPr id="66562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456791"/>
                <a:ext cx="10497458" cy="4771481"/>
              </a:xfrm>
              <a:blipFill>
                <a:blip r:embed="rId3"/>
                <a:stretch>
                  <a:fillRect l="-580" t="-1405" r="-929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8EF994C-A7F0-4ADB-B694-A0E4E1098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A6B015-14EA-419E-84A1-EA07DEB3B2A0}" type="slidenum">
              <a:rPr kumimoji="0" lang="en-GB" sz="12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GB" sz="12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565299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398AA0-8FA3-72F9-543F-BEEDBC1C2F13}"/>
              </a:ext>
            </a:extLst>
          </p:cNvPr>
          <p:cNvSpPr/>
          <p:nvPr/>
        </p:nvSpPr>
        <p:spPr>
          <a:xfrm>
            <a:off x="755129" y="3925908"/>
            <a:ext cx="10681741" cy="218715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A541D89-E7E1-4660-C6B1-48085A814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Aside: Beliefs on the equilibrium path.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8425C9-D5F9-6507-07E0-EF6063FDE9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187155"/>
          </a:xfrm>
        </p:spPr>
        <p:txBody>
          <a:bodyPr/>
          <a:lstStyle/>
          <a:p>
            <a:r>
              <a:rPr lang="en-SG" sz="2000" dirty="0"/>
              <a:t>Recall that buyers only observe 1) sellers who enter, 2) whether they have a certificate.</a:t>
            </a:r>
          </a:p>
          <a:p>
            <a:pPr lvl="1"/>
            <a:r>
              <a:rPr lang="en-SG" sz="1800" dirty="0"/>
              <a:t>They form beliefs about sellers depending on these observations which influences their expected value.</a:t>
            </a:r>
            <a:br>
              <a:rPr lang="en-SG" sz="1800" dirty="0"/>
            </a:br>
            <a:r>
              <a:rPr lang="en-SG" sz="1800" dirty="0"/>
              <a:t>Two potential observations: (In, Certificate) &amp; (In, No Certificate)</a:t>
            </a:r>
          </a:p>
          <a:p>
            <a:endParaRPr lang="en-SG" sz="2000" dirty="0"/>
          </a:p>
          <a:p>
            <a:r>
              <a:rPr lang="en-SG" sz="2000" dirty="0"/>
              <a:t>How do we determine their beliefs? </a:t>
            </a:r>
            <a:br>
              <a:rPr lang="en-SG" sz="2000" dirty="0"/>
            </a:br>
            <a:r>
              <a:rPr lang="en-SG" sz="2000" b="1" dirty="0"/>
              <a:t>We assume that in equilibrium, they anticipate seller’s strategies correctly!</a:t>
            </a:r>
          </a:p>
          <a:p>
            <a:endParaRPr lang="en-SG" sz="20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7A02CC-DCD8-18BF-8F5D-8184A9A3F3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A6B015-14EA-419E-84A1-EA07DEB3B2A0}" type="slidenum">
              <a:rPr kumimoji="0" lang="en-GB" sz="12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GB" sz="12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4216D5-1E78-ECBD-985C-C0D11ED93DD5}"/>
              </a:ext>
            </a:extLst>
          </p:cNvPr>
          <p:cNvSpPr txBox="1"/>
          <p:nvPr/>
        </p:nvSpPr>
        <p:spPr>
          <a:xfrm>
            <a:off x="4647033" y="4034258"/>
            <a:ext cx="23525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Separating Equilibrium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0FF8556-868D-A687-3113-04E906B0521B}"/>
              </a:ext>
            </a:extLst>
          </p:cNvPr>
          <p:cNvSpPr txBox="1"/>
          <p:nvPr/>
        </p:nvSpPr>
        <p:spPr>
          <a:xfrm>
            <a:off x="3388902" y="4328940"/>
            <a:ext cx="158235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Peaches</a:t>
            </a:r>
            <a:br>
              <a:rPr kumimoji="0" lang="en-SG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endParaRPr kumimoji="0" lang="en-SG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(In, Certificate)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B374541-95D1-BA66-7F18-8DDF7B258D55}"/>
              </a:ext>
            </a:extLst>
          </p:cNvPr>
          <p:cNvSpPr txBox="1"/>
          <p:nvPr/>
        </p:nvSpPr>
        <p:spPr>
          <a:xfrm>
            <a:off x="6841589" y="4351275"/>
            <a:ext cx="190616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Lemons:</a:t>
            </a:r>
            <a:br>
              <a:rPr kumimoji="0" lang="en-SG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br>
              <a:rPr kumimoji="0" lang="en-SG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SG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(In, No Certificate)</a:t>
            </a:r>
          </a:p>
        </p:txBody>
      </p:sp>
      <p:sp>
        <p:nvSpPr>
          <p:cNvPr id="8" name="Arrow: Curved Right 7">
            <a:extLst>
              <a:ext uri="{FF2B5EF4-FFF2-40B4-BE49-F238E27FC236}">
                <a16:creationId xmlns:a16="http://schemas.microsoft.com/office/drawing/2014/main" id="{26678197-AF03-C39A-3A53-2371671A5968}"/>
              </a:ext>
            </a:extLst>
          </p:cNvPr>
          <p:cNvSpPr/>
          <p:nvPr/>
        </p:nvSpPr>
        <p:spPr>
          <a:xfrm>
            <a:off x="3272525" y="4641635"/>
            <a:ext cx="135397" cy="377851"/>
          </a:xfrm>
          <a:prstGeom prst="curv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SG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C352571-601A-A6C4-7A36-767A5CBF65DC}"/>
              </a:ext>
            </a:extLst>
          </p:cNvPr>
          <p:cNvSpPr txBox="1"/>
          <p:nvPr/>
        </p:nvSpPr>
        <p:spPr>
          <a:xfrm>
            <a:off x="2485963" y="4628716"/>
            <a:ext cx="78656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Strategy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2CE6BAD-7D58-8D70-6CC3-1880EBF43A9E}"/>
              </a:ext>
            </a:extLst>
          </p:cNvPr>
          <p:cNvSpPr txBox="1"/>
          <p:nvPr/>
        </p:nvSpPr>
        <p:spPr>
          <a:xfrm>
            <a:off x="5175817" y="4636136"/>
            <a:ext cx="5982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Belief</a:t>
            </a:r>
          </a:p>
        </p:txBody>
      </p:sp>
      <p:sp>
        <p:nvSpPr>
          <p:cNvPr id="12" name="Arrow: Curved Right 11">
            <a:extLst>
              <a:ext uri="{FF2B5EF4-FFF2-40B4-BE49-F238E27FC236}">
                <a16:creationId xmlns:a16="http://schemas.microsoft.com/office/drawing/2014/main" id="{8B2F8DBD-FB1E-3808-BA1A-01CF52FDF114}"/>
              </a:ext>
            </a:extLst>
          </p:cNvPr>
          <p:cNvSpPr/>
          <p:nvPr/>
        </p:nvSpPr>
        <p:spPr>
          <a:xfrm rot="10800000">
            <a:off x="4942179" y="4641635"/>
            <a:ext cx="135397" cy="377851"/>
          </a:xfrm>
          <a:prstGeom prst="curv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SG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Arrow: Curved Right 12">
            <a:extLst>
              <a:ext uri="{FF2B5EF4-FFF2-40B4-BE49-F238E27FC236}">
                <a16:creationId xmlns:a16="http://schemas.microsoft.com/office/drawing/2014/main" id="{EB5E0748-F5A0-3DC4-3862-00F31362796B}"/>
              </a:ext>
            </a:extLst>
          </p:cNvPr>
          <p:cNvSpPr/>
          <p:nvPr/>
        </p:nvSpPr>
        <p:spPr>
          <a:xfrm>
            <a:off x="6768576" y="4641635"/>
            <a:ext cx="135397" cy="377851"/>
          </a:xfrm>
          <a:prstGeom prst="curv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SG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49418AB-46AD-4004-2EAE-E60FAA7FC19E}"/>
              </a:ext>
            </a:extLst>
          </p:cNvPr>
          <p:cNvSpPr txBox="1"/>
          <p:nvPr/>
        </p:nvSpPr>
        <p:spPr>
          <a:xfrm>
            <a:off x="5982014" y="4628716"/>
            <a:ext cx="78656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Strategy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2A2C288-B8E7-1352-3E80-5EFC17C38746}"/>
              </a:ext>
            </a:extLst>
          </p:cNvPr>
          <p:cNvSpPr txBox="1"/>
          <p:nvPr/>
        </p:nvSpPr>
        <p:spPr>
          <a:xfrm>
            <a:off x="8849154" y="4636136"/>
            <a:ext cx="5982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Belief</a:t>
            </a:r>
          </a:p>
        </p:txBody>
      </p:sp>
      <p:sp>
        <p:nvSpPr>
          <p:cNvPr id="16" name="Arrow: Curved Right 15">
            <a:extLst>
              <a:ext uri="{FF2B5EF4-FFF2-40B4-BE49-F238E27FC236}">
                <a16:creationId xmlns:a16="http://schemas.microsoft.com/office/drawing/2014/main" id="{ECEC6289-1CF8-106C-E81C-2CF1631C82D3}"/>
              </a:ext>
            </a:extLst>
          </p:cNvPr>
          <p:cNvSpPr/>
          <p:nvPr/>
        </p:nvSpPr>
        <p:spPr>
          <a:xfrm rot="10800000">
            <a:off x="8680054" y="4641635"/>
            <a:ext cx="135397" cy="377851"/>
          </a:xfrm>
          <a:prstGeom prst="curv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SG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4E614BB-00E2-1A83-42C6-588A4827FE5C}"/>
              </a:ext>
            </a:extLst>
          </p:cNvPr>
          <p:cNvSpPr txBox="1"/>
          <p:nvPr/>
        </p:nvSpPr>
        <p:spPr>
          <a:xfrm>
            <a:off x="1598179" y="5287966"/>
            <a:ext cx="399796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Because peaches are the only ones who choose </a:t>
            </a:r>
            <a:br>
              <a:rPr kumimoji="0" lang="en-SG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SG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(In, Certificate), in equilibrium, they believe that an observation of (In, Certificate) implies a Peach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0D39FC1-FF19-1EF9-63E2-720585E52792}"/>
              </a:ext>
            </a:extLst>
          </p:cNvPr>
          <p:cNvSpPr txBox="1"/>
          <p:nvPr/>
        </p:nvSpPr>
        <p:spPr>
          <a:xfrm>
            <a:off x="6829032" y="5261378"/>
            <a:ext cx="416325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Because lemons are the only ones who choose </a:t>
            </a:r>
            <a:br>
              <a:rPr kumimoji="0" lang="en-SG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SG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(In, No Certificate), in equilibrium, they believe that an observation of (In, No Certificate) implies a Lemon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03C1C36-B953-B442-3C04-2E9BB72329DA}"/>
              </a:ext>
            </a:extLst>
          </p:cNvPr>
          <p:cNvCxnSpPr/>
          <p:nvPr/>
        </p:nvCxnSpPr>
        <p:spPr>
          <a:xfrm flipV="1">
            <a:off x="5159378" y="4966893"/>
            <a:ext cx="105799" cy="290673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132B01A7-B541-A1BF-FC40-82F2FC320B5A}"/>
              </a:ext>
            </a:extLst>
          </p:cNvPr>
          <p:cNvCxnSpPr/>
          <p:nvPr/>
        </p:nvCxnSpPr>
        <p:spPr>
          <a:xfrm flipV="1">
            <a:off x="9042475" y="4983932"/>
            <a:ext cx="105799" cy="290673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4447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 dirty="0"/>
              <a:t>Pooling Equilibrium 1 (with </a:t>
            </a:r>
            <a:r>
              <a:rPr lang="en-US" altLang="en-US" dirty="0" err="1"/>
              <a:t>signalling</a:t>
            </a:r>
            <a:r>
              <a:rPr lang="en-US" altLang="en-US" dirty="0"/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6562" name="Rectangle 3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838199" y="1456791"/>
                <a:ext cx="10497458" cy="4771481"/>
              </a:xfrm>
            </p:spPr>
            <p:txBody>
              <a:bodyPr>
                <a:normAutofit/>
              </a:bodyPr>
              <a:lstStyle/>
              <a:p>
                <a:pPr marL="0" indent="0" eaLnBrk="1" hangingPunct="1">
                  <a:buNone/>
                </a:pPr>
                <a:r>
                  <a:rPr lang="en-US" altLang="en-US" sz="2000" b="1" dirty="0">
                    <a:solidFill>
                      <a:srgbClr val="00B0F0"/>
                    </a:solidFill>
                  </a:rPr>
                  <a:t>Suppose now that </a:t>
                </a:r>
                <a14:m>
                  <m:oMath xmlns:m="http://schemas.openxmlformats.org/officeDocument/2006/math">
                    <m:r>
                      <a:rPr lang="en-SG" altLang="en-US" sz="2000" b="1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𝜸</m:t>
                    </m:r>
                    <m:r>
                      <a:rPr lang="en-SG" altLang="en-US" sz="2000" b="1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SG" altLang="en-US" sz="2000" b="1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𝟐𝟎𝟎𝟎</m:t>
                    </m:r>
                  </m:oMath>
                </a14:m>
                <a:r>
                  <a:rPr lang="en-US" altLang="en-US" sz="2000" b="1" dirty="0">
                    <a:solidFill>
                      <a:srgbClr val="00B0F0"/>
                    </a:solidFill>
                  </a:rPr>
                  <a:t>. </a:t>
                </a:r>
              </a:p>
              <a:p>
                <a:pPr marL="0" indent="0" eaLnBrk="1" hangingPunct="1">
                  <a:buNone/>
                </a:pPr>
                <a:r>
                  <a:rPr lang="en-US" altLang="en-US" sz="2000" dirty="0">
                    <a:solidFill>
                      <a:schemeClr val="tx1"/>
                    </a:solidFill>
                  </a:rPr>
                  <a:t>Recall that previously, both peaches and lemons staying in the market was a valid pooling equilibrium. The following is a similar pooling equilibrium:</a:t>
                </a:r>
              </a:p>
              <a:p>
                <a:pPr marL="0" indent="0" eaLnBrk="1" hangingPunct="1">
                  <a:buNone/>
                </a:pPr>
                <a:br>
                  <a:rPr lang="en-US" altLang="en-US" sz="2000" dirty="0"/>
                </a:br>
                <a:r>
                  <a:rPr lang="en-US" altLang="en-US" sz="2000" b="1" dirty="0"/>
                  <a:t>Both peaches and lemons enter the market (In), and both do not purchase certification</a:t>
                </a:r>
              </a:p>
              <a:p>
                <a:pPr marL="0" indent="0">
                  <a:buNone/>
                </a:pPr>
                <a:r>
                  <a:rPr lang="en-US" altLang="en-US" sz="2000" dirty="0"/>
                  <a:t>Buyers Beliefs and Strategies:</a:t>
                </a:r>
              </a:p>
              <a:p>
                <a:r>
                  <a:rPr lang="en-US" altLang="en-US" sz="2000" dirty="0"/>
                  <a:t>If see (In, No Certificate):</a:t>
                </a:r>
                <a:br>
                  <a:rPr lang="en-US" altLang="en-US" sz="2000" dirty="0"/>
                </a:br>
                <a:r>
                  <a:rPr lang="en-US" altLang="en-US" sz="1800" dirty="0"/>
                  <a:t>Buyers correctly anticipate the above. They believe these are peach with probability </a:t>
                </a:r>
                <a14:m>
                  <m:oMath xmlns:m="http://schemas.openxmlformats.org/officeDocument/2006/math">
                    <m:r>
                      <a:rPr lang="en-SG" altLang="en-US" sz="1800" i="1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SG" altLang="en-US" sz="1800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br>
                  <a:rPr lang="en-SG" altLang="en-US" sz="1800" b="0" dirty="0"/>
                </a:br>
                <a:r>
                  <a:rPr lang="en-SG" altLang="en-US" sz="1800" b="0" dirty="0"/>
                  <a:t>A valid price is </a:t>
                </a:r>
                <a14:m>
                  <m:oMath xmlns:m="http://schemas.openxmlformats.org/officeDocument/2006/math">
                    <m:r>
                      <a:rPr lang="en-SG" altLang="en-US" sz="1800" i="1" dirty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SG" altLang="en-US" sz="1800" i="1" dirty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SG" altLang="en-US" sz="1800" i="1" dirty="0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en-US" altLang="en-US" sz="1800" dirty="0"/>
                  <a:t> </a:t>
                </a:r>
              </a:p>
              <a:p>
                <a:endParaRPr lang="en-US" altLang="en-US" sz="2000" dirty="0"/>
              </a:p>
              <a:p>
                <a:r>
                  <a:rPr lang="en-US" altLang="en-US" sz="2000" dirty="0"/>
                  <a:t>If see (In, Certificate):</a:t>
                </a:r>
                <a:br>
                  <a:rPr lang="en-US" altLang="en-US" sz="2000" dirty="0"/>
                </a:br>
                <a:r>
                  <a:rPr lang="en-US" altLang="en-US" sz="1800" dirty="0"/>
                  <a:t>This is </a:t>
                </a:r>
                <a:r>
                  <a:rPr lang="en-US" altLang="en-US" sz="1800" b="1" dirty="0">
                    <a:solidFill>
                      <a:srgbClr val="0000FF"/>
                    </a:solidFill>
                  </a:rPr>
                  <a:t>off the equilibrium path </a:t>
                </a:r>
                <a:r>
                  <a:rPr lang="en-US" altLang="en-US" sz="1800" dirty="0"/>
                  <a:t>(as it is not actually chosen by sellers)</a:t>
                </a:r>
                <a:r>
                  <a:rPr lang="en-US" altLang="en-US" sz="1800" dirty="0">
                    <a:solidFill>
                      <a:srgbClr val="0000FF"/>
                    </a:solidFill>
                  </a:rPr>
                  <a:t>.</a:t>
                </a:r>
                <a:r>
                  <a:rPr lang="en-US" altLang="en-US" sz="1800" i="1" dirty="0">
                    <a:solidFill>
                      <a:srgbClr val="0000FF"/>
                    </a:solidFill>
                  </a:rPr>
                  <a:t> </a:t>
                </a:r>
                <a:r>
                  <a:rPr lang="en-US" altLang="en-US" sz="1800" i="1" dirty="0"/>
                  <a:t>*Assume that buyers believe that these are also peaches with probability </a:t>
                </a:r>
                <a14:m>
                  <m:oMath xmlns:m="http://schemas.openxmlformats.org/officeDocument/2006/math">
                    <m:r>
                      <a:rPr lang="en-SG" altLang="en-US" sz="1800" i="1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altLang="en-US" sz="1800" dirty="0"/>
                  <a:t>. A valid price is the same price as before </a:t>
                </a:r>
                <a14:m>
                  <m:oMath xmlns:m="http://schemas.openxmlformats.org/officeDocument/2006/math">
                    <m:r>
                      <a:rPr lang="en-SG" altLang="en-US" sz="18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SG" altLang="en-US" sz="18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SG" altLang="en-US" sz="1800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altLang="en-US" sz="1800" dirty="0"/>
                  <a:t>.</a:t>
                </a:r>
              </a:p>
              <a:p>
                <a:pPr eaLnBrk="1" hangingPunct="1"/>
                <a:endParaRPr lang="en-US" altLang="en-US" sz="2000" dirty="0"/>
              </a:p>
              <a:p>
                <a:pPr eaLnBrk="1" hangingPunct="1"/>
                <a:endParaRPr lang="en-US" altLang="en-US" sz="2000" dirty="0"/>
              </a:p>
              <a:p>
                <a:pPr eaLnBrk="1" hangingPunct="1"/>
                <a:endParaRPr lang="en-US" altLang="en-US" sz="2000" dirty="0"/>
              </a:p>
              <a:p>
                <a:pPr eaLnBrk="1" hangingPunct="1"/>
                <a:endParaRPr lang="en-US" altLang="ja-JP" sz="1800" dirty="0"/>
              </a:p>
              <a:p>
                <a:endParaRPr lang="en-US" altLang="ja-JP" sz="2000" dirty="0"/>
              </a:p>
              <a:p>
                <a:pPr eaLnBrk="1" hangingPunct="1"/>
                <a:endParaRPr lang="en-US" altLang="ja-JP" sz="2000" dirty="0"/>
              </a:p>
              <a:p>
                <a:pPr eaLnBrk="1" hangingPunct="1"/>
                <a:endParaRPr lang="en-US" altLang="ja-JP" sz="2000" dirty="0"/>
              </a:p>
              <a:p>
                <a:pPr eaLnBrk="1" hangingPunct="1"/>
                <a:endParaRPr lang="en-US" altLang="en-US" sz="2000" dirty="0"/>
              </a:p>
              <a:p>
                <a:pPr eaLnBrk="1" hangingPunct="1"/>
                <a:endParaRPr lang="en-US" altLang="en-US" sz="2000" dirty="0"/>
              </a:p>
            </p:txBody>
          </p:sp>
        </mc:Choice>
        <mc:Fallback xmlns="">
          <p:sp>
            <p:nvSpPr>
              <p:cNvPr id="66562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456791"/>
                <a:ext cx="10497458" cy="4771481"/>
              </a:xfrm>
              <a:blipFill>
                <a:blip r:embed="rId3"/>
                <a:stretch>
                  <a:fillRect l="-580" t="-1405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8EF994C-A7F0-4ADB-B694-A0E4E1098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A6B015-14EA-419E-84A1-EA07DEB3B2A0}" type="slidenum">
              <a:rPr kumimoji="0" lang="en-GB" sz="12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GB" sz="12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77330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 dirty="0"/>
              <a:t>Pooling Equilibrium 1 (Peaches Choices)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6562" name="Rectangle 3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838199" y="1456791"/>
                <a:ext cx="10497458" cy="4771481"/>
              </a:xfrm>
            </p:spPr>
            <p:txBody>
              <a:bodyPr>
                <a:normAutofit/>
              </a:bodyPr>
              <a:lstStyle/>
              <a:p>
                <a:pPr marL="457200" indent="-457200" eaLnBrk="1" hangingPunct="1">
                  <a:buFont typeface="+mj-lt"/>
                  <a:buAutoNum type="arabicPeriod"/>
                </a:pPr>
                <a:r>
                  <a:rPr lang="en-US" altLang="en-US" sz="2000" b="1" dirty="0"/>
                  <a:t>Is </a:t>
                </a:r>
                <a:r>
                  <a:rPr lang="en-US" altLang="en-US" sz="2000" b="1" dirty="0">
                    <a:solidFill>
                      <a:srgbClr val="FF0000"/>
                    </a:solidFill>
                  </a:rPr>
                  <a:t>(In, No Certificate) </a:t>
                </a:r>
                <a:r>
                  <a:rPr lang="en-US" altLang="en-US" sz="2000" b="1" dirty="0"/>
                  <a:t>the best choice for </a:t>
                </a:r>
                <a:r>
                  <a:rPr lang="en-US" altLang="en-US" sz="2000" b="1" u="sng" dirty="0"/>
                  <a:t>peach sellers</a:t>
                </a:r>
                <a:r>
                  <a:rPr lang="en-US" altLang="en-US" sz="2000" b="1" dirty="0"/>
                  <a:t>?</a:t>
                </a:r>
              </a:p>
              <a:p>
                <a:pPr marL="0" indent="0" eaLnBrk="1" hangingPunct="1">
                  <a:buNone/>
                </a:pPr>
                <a:endParaRPr lang="en-US" altLang="en-US" sz="2000" b="1" dirty="0"/>
              </a:p>
              <a:p>
                <a:pPr marL="0" indent="0">
                  <a:buNone/>
                </a:pPr>
                <a:r>
                  <a:rPr lang="en-US" altLang="en-US" sz="2000" b="1" dirty="0">
                    <a:solidFill>
                      <a:schemeClr val="tx1"/>
                    </a:solidFill>
                  </a:rPr>
                  <a:t>If they choose: </a:t>
                </a:r>
              </a:p>
              <a:p>
                <a:r>
                  <a:rPr lang="en-US" altLang="en-US" sz="1800" b="1" dirty="0">
                    <a:solidFill>
                      <a:schemeClr val="tx1"/>
                    </a:solidFill>
                  </a:rPr>
                  <a:t>(In, No Certificate): </a:t>
                </a:r>
                <a:r>
                  <a:rPr lang="en-US" altLang="en-US" sz="1800" dirty="0">
                    <a:solidFill>
                      <a:schemeClr val="tx1"/>
                    </a:solidFill>
                  </a:rPr>
                  <a:t>They sell their car for </a:t>
                </a:r>
                <a14:m>
                  <m:oMath xmlns:m="http://schemas.openxmlformats.org/officeDocument/2006/math">
                    <m:r>
                      <a:rPr lang="en-SG" alt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altLang="en-US" sz="1800" dirty="0">
                    <a:solidFill>
                      <a:schemeClr val="tx1"/>
                    </a:solidFill>
                  </a:rPr>
                  <a:t> and do not pay for certification and earn </a:t>
                </a:r>
                <a14:m>
                  <m:oMath xmlns:m="http://schemas.openxmlformats.org/officeDocument/2006/math">
                    <m:r>
                      <a:rPr lang="en-SG" alt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US" altLang="en-US" sz="1800" dirty="0">
                  <a:solidFill>
                    <a:schemeClr val="tx1"/>
                  </a:solidFill>
                </a:endParaRPr>
              </a:p>
              <a:p>
                <a:r>
                  <a:rPr lang="en-US" altLang="en-US" sz="1800" b="1" dirty="0">
                    <a:solidFill>
                      <a:schemeClr val="tx1"/>
                    </a:solidFill>
                  </a:rPr>
                  <a:t>(In, Certificate): </a:t>
                </a:r>
                <a:r>
                  <a:rPr lang="en-US" altLang="en-US" sz="1800" dirty="0">
                    <a:solidFill>
                      <a:schemeClr val="tx1"/>
                    </a:solidFill>
                  </a:rPr>
                  <a:t>They sell their car for </a:t>
                </a:r>
                <a14:m>
                  <m:oMath xmlns:m="http://schemas.openxmlformats.org/officeDocument/2006/math">
                    <m:r>
                      <a:rPr lang="en-SG" alt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SG" altLang="en-US" sz="18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SG" alt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altLang="en-US" sz="1800" dirty="0">
                    <a:solidFill>
                      <a:schemeClr val="tx1"/>
                    </a:solidFill>
                  </a:rPr>
                  <a:t> but pay a cost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SG" alt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alt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SG" alt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altLang="en-US" sz="1800" dirty="0">
                    <a:solidFill>
                      <a:schemeClr val="tx1"/>
                    </a:solidFill>
                  </a:rPr>
                  <a:t> for certification, and earn </a:t>
                </a:r>
                <a14:m>
                  <m:oMath xmlns:m="http://schemas.openxmlformats.org/officeDocument/2006/math">
                    <m:r>
                      <a:rPr lang="en-SG" alt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SG" alt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SG" alt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alt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SG" alt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endParaRPr lang="en-US" altLang="en-US" sz="1800" dirty="0">
                  <a:solidFill>
                    <a:schemeClr val="tx1"/>
                  </a:solidFill>
                </a:endParaRPr>
              </a:p>
              <a:p>
                <a:r>
                  <a:rPr lang="en-US" altLang="en-US" sz="1800" b="1" dirty="0">
                    <a:solidFill>
                      <a:schemeClr val="tx1"/>
                    </a:solidFill>
                  </a:rPr>
                  <a:t>(Out, No Certificate): </a:t>
                </a:r>
                <a:r>
                  <a:rPr lang="en-US" altLang="en-US" sz="1800" dirty="0">
                    <a:solidFill>
                      <a:schemeClr val="tx1"/>
                    </a:solidFill>
                  </a:rPr>
                  <a:t>They get the value of their car: 2000 and do not pay for certification and earn </a:t>
                </a:r>
                <a14:m>
                  <m:oMath xmlns:m="http://schemas.openxmlformats.org/officeDocument/2006/math">
                    <m:r>
                      <a:rPr lang="en-SG" alt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2000</m:t>
                    </m:r>
                  </m:oMath>
                </a14:m>
                <a:endParaRPr lang="en-US" altLang="en-US" sz="1800" dirty="0">
                  <a:solidFill>
                    <a:schemeClr val="tx1"/>
                  </a:solidFill>
                </a:endParaRPr>
              </a:p>
              <a:p>
                <a:r>
                  <a:rPr lang="en-US" altLang="en-US" sz="1800" b="1" dirty="0">
                    <a:solidFill>
                      <a:schemeClr val="tx1"/>
                    </a:solidFill>
                  </a:rPr>
                  <a:t>(Out, Certificate): </a:t>
                </a:r>
                <a:r>
                  <a:rPr lang="en-US" altLang="en-US" sz="1800" dirty="0">
                    <a:solidFill>
                      <a:schemeClr val="tx1"/>
                    </a:solidFill>
                  </a:rPr>
                  <a:t>They get the value of their car: 2000 and pay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SG" alt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alt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SG" alt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altLang="en-US" sz="1800" dirty="0">
                    <a:solidFill>
                      <a:schemeClr val="tx1"/>
                    </a:solidFill>
                  </a:rPr>
                  <a:t> for certification and earn </a:t>
                </a:r>
                <a14:m>
                  <m:oMath xmlns:m="http://schemas.openxmlformats.org/officeDocument/2006/math">
                    <m:r>
                      <a:rPr lang="en-SG" alt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2000−</m:t>
                    </m:r>
                    <m:sSub>
                      <m:sSubPr>
                        <m:ctrlPr>
                          <a:rPr lang="en-SG" alt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alt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SG" alt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altLang="en-US" sz="1800" dirty="0">
                    <a:solidFill>
                      <a:schemeClr val="tx1"/>
                    </a:solidFill>
                  </a:rPr>
                  <a:t>.</a:t>
                </a:r>
              </a:p>
              <a:p>
                <a:pPr lvl="1"/>
                <a:endParaRPr lang="en-US" altLang="en-US" sz="1600" dirty="0"/>
              </a:p>
              <a:p>
                <a:pPr marL="0" indent="0">
                  <a:buNone/>
                </a:pPr>
                <a:r>
                  <a:rPr lang="en-US" altLang="en-US" sz="2000" dirty="0"/>
                  <a:t>For </a:t>
                </a:r>
                <a:r>
                  <a:rPr lang="en-US" altLang="en-US" sz="2000" b="1" dirty="0">
                    <a:solidFill>
                      <a:schemeClr val="tx1"/>
                    </a:solidFill>
                  </a:rPr>
                  <a:t>(In, No Certificate) </a:t>
                </a:r>
                <a:r>
                  <a:rPr lang="en-US" altLang="en-US" sz="2000" dirty="0">
                    <a:solidFill>
                      <a:schemeClr val="tx1"/>
                    </a:solidFill>
                  </a:rPr>
                  <a:t>to be the best choice for peaches, we need:</a:t>
                </a:r>
              </a:p>
              <a:p>
                <a14:m>
                  <m:oMath xmlns:m="http://schemas.openxmlformats.org/officeDocument/2006/math">
                    <m:r>
                      <a:rPr lang="en-SG" alt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SG" alt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SG" alt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SG" alt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SG" alt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alt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SG" alt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endParaRPr lang="en-SG" altLang="en-US" sz="18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SG" alt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SG" altLang="en-US" sz="18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&gt;2000   (&gt;2000−</m:t>
                    </m:r>
                    <m:sSub>
                      <m:sSubPr>
                        <m:ctrlPr>
                          <a:rPr lang="en-SG" alt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alt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SG" alt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SG" alt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en-US" sz="1800" i="1" dirty="0"/>
              </a:p>
              <a:p>
                <a:pPr eaLnBrk="1" hangingPunct="1"/>
                <a:endParaRPr lang="en-SG" altLang="en-US" sz="2200" dirty="0"/>
              </a:p>
              <a:p>
                <a:pPr eaLnBrk="1" hangingPunct="1"/>
                <a:endParaRPr lang="en-US" altLang="en-US" sz="2200" dirty="0"/>
              </a:p>
              <a:p>
                <a:pPr eaLnBrk="1" hangingPunct="1"/>
                <a:endParaRPr lang="en-US" altLang="en-US" sz="2200" dirty="0"/>
              </a:p>
              <a:p>
                <a:pPr eaLnBrk="1" hangingPunct="1"/>
                <a:endParaRPr lang="en-US" altLang="en-US" sz="2200" dirty="0"/>
              </a:p>
              <a:p>
                <a:pPr eaLnBrk="1" hangingPunct="1"/>
                <a:endParaRPr lang="en-US" altLang="en-US" sz="2200" dirty="0"/>
              </a:p>
              <a:p>
                <a:pPr eaLnBrk="1" hangingPunct="1"/>
                <a:endParaRPr lang="en-US" altLang="ja-JP" sz="2000" dirty="0"/>
              </a:p>
              <a:p>
                <a:endParaRPr lang="en-US" altLang="ja-JP" sz="2400" dirty="0"/>
              </a:p>
              <a:p>
                <a:pPr eaLnBrk="1" hangingPunct="1"/>
                <a:endParaRPr lang="en-US" altLang="ja-JP" sz="2400" dirty="0"/>
              </a:p>
              <a:p>
                <a:pPr eaLnBrk="1" hangingPunct="1"/>
                <a:endParaRPr lang="en-US" altLang="ja-JP" sz="2400" dirty="0"/>
              </a:p>
              <a:p>
                <a:pPr eaLnBrk="1" hangingPunct="1"/>
                <a:endParaRPr lang="en-US" altLang="en-US" sz="2400" dirty="0"/>
              </a:p>
              <a:p>
                <a:pPr eaLnBrk="1" hangingPunct="1"/>
                <a:endParaRPr lang="en-US" altLang="en-US" sz="2400" dirty="0"/>
              </a:p>
            </p:txBody>
          </p:sp>
        </mc:Choice>
        <mc:Fallback xmlns="">
          <p:sp>
            <p:nvSpPr>
              <p:cNvPr id="66562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456791"/>
                <a:ext cx="10497458" cy="4771481"/>
              </a:xfrm>
              <a:blipFill>
                <a:blip r:embed="rId3"/>
                <a:stretch>
                  <a:fillRect l="-580" t="-1533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8EF994C-A7F0-4ADB-B694-A0E4E1098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A6B015-14EA-419E-84A1-EA07DEB3B2A0}" type="slidenum">
              <a:rPr kumimoji="0" lang="en-GB" sz="12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GB" sz="12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" name="Graphic 1" descr="Checkmark with solid fill">
            <a:extLst>
              <a:ext uri="{FF2B5EF4-FFF2-40B4-BE49-F238E27FC236}">
                <a16:creationId xmlns:a16="http://schemas.microsoft.com/office/drawing/2014/main" id="{498E41D3-F63B-4F9F-1050-9D0AE18755F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438400" y="4754563"/>
            <a:ext cx="4572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33056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 dirty="0"/>
              <a:t>Pooling Equilibrium 1 (Lemons’ Choices)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6562" name="Rectangle 3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838199" y="1456791"/>
                <a:ext cx="10497458" cy="4771481"/>
              </a:xfrm>
            </p:spPr>
            <p:txBody>
              <a:bodyPr>
                <a:normAutofit/>
              </a:bodyPr>
              <a:lstStyle/>
              <a:p>
                <a:pPr marL="457200" indent="-457200" eaLnBrk="1" hangingPunct="1">
                  <a:buFont typeface="+mj-lt"/>
                  <a:buAutoNum type="arabicPeriod"/>
                </a:pPr>
                <a:r>
                  <a:rPr lang="en-US" altLang="en-US" sz="2000" b="1" dirty="0"/>
                  <a:t>Is </a:t>
                </a:r>
                <a:r>
                  <a:rPr lang="en-US" altLang="en-US" sz="2000" b="1" dirty="0">
                    <a:solidFill>
                      <a:srgbClr val="FF0000"/>
                    </a:solidFill>
                  </a:rPr>
                  <a:t>(In, No Certificate) </a:t>
                </a:r>
                <a:r>
                  <a:rPr lang="en-US" altLang="en-US" sz="2000" b="1" dirty="0">
                    <a:solidFill>
                      <a:schemeClr val="tx1"/>
                    </a:solidFill>
                  </a:rPr>
                  <a:t>also </a:t>
                </a:r>
                <a:r>
                  <a:rPr lang="en-US" altLang="en-US" sz="2000" b="1" dirty="0"/>
                  <a:t>the best choice for </a:t>
                </a:r>
                <a:r>
                  <a:rPr lang="en-US" altLang="en-US" sz="2000" b="1" u="sng" dirty="0"/>
                  <a:t>lemon sellers</a:t>
                </a:r>
                <a:r>
                  <a:rPr lang="en-US" altLang="en-US" sz="2000" b="1" dirty="0"/>
                  <a:t>?</a:t>
                </a:r>
              </a:p>
              <a:p>
                <a:pPr marL="0" indent="0" eaLnBrk="1" hangingPunct="1">
                  <a:buNone/>
                </a:pPr>
                <a:endParaRPr lang="en-US" altLang="en-US" sz="2000" b="1" dirty="0"/>
              </a:p>
              <a:p>
                <a:pPr marL="0" indent="0">
                  <a:buNone/>
                </a:pPr>
                <a:r>
                  <a:rPr lang="en-US" altLang="en-US" sz="2000" b="1" dirty="0">
                    <a:solidFill>
                      <a:schemeClr val="tx1"/>
                    </a:solidFill>
                  </a:rPr>
                  <a:t>If they choose: </a:t>
                </a:r>
              </a:p>
              <a:p>
                <a:r>
                  <a:rPr lang="en-US" altLang="en-US" sz="1800" b="1" dirty="0">
                    <a:solidFill>
                      <a:schemeClr val="tx1"/>
                    </a:solidFill>
                  </a:rPr>
                  <a:t>(In, No Certificate): </a:t>
                </a:r>
                <a:r>
                  <a:rPr lang="en-US" altLang="en-US" sz="1800" dirty="0">
                    <a:solidFill>
                      <a:schemeClr val="tx1"/>
                    </a:solidFill>
                  </a:rPr>
                  <a:t>They sell their car for </a:t>
                </a:r>
                <a14:m>
                  <m:oMath xmlns:m="http://schemas.openxmlformats.org/officeDocument/2006/math">
                    <m:r>
                      <a:rPr lang="en-SG" alt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altLang="en-US" sz="1800" dirty="0">
                    <a:solidFill>
                      <a:schemeClr val="tx1"/>
                    </a:solidFill>
                  </a:rPr>
                  <a:t> and do not pay for certification and earn </a:t>
                </a:r>
                <a14:m>
                  <m:oMath xmlns:m="http://schemas.openxmlformats.org/officeDocument/2006/math">
                    <m:r>
                      <a:rPr lang="en-SG" alt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US" altLang="en-US" sz="1800" dirty="0">
                  <a:solidFill>
                    <a:schemeClr val="tx1"/>
                  </a:solidFill>
                </a:endParaRPr>
              </a:p>
              <a:p>
                <a:r>
                  <a:rPr lang="en-US" altLang="en-US" sz="1800" b="1" dirty="0">
                    <a:solidFill>
                      <a:schemeClr val="tx1"/>
                    </a:solidFill>
                  </a:rPr>
                  <a:t>(In, Certificate): </a:t>
                </a:r>
                <a:r>
                  <a:rPr lang="en-US" altLang="en-US" sz="1800" dirty="0">
                    <a:solidFill>
                      <a:schemeClr val="tx1"/>
                    </a:solidFill>
                  </a:rPr>
                  <a:t>They sell their car for </a:t>
                </a:r>
                <a14:m>
                  <m:oMath xmlns:m="http://schemas.openxmlformats.org/officeDocument/2006/math">
                    <m:r>
                      <a:rPr lang="en-SG" alt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SG" alt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SG" alt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altLang="en-US" sz="1800" dirty="0">
                    <a:solidFill>
                      <a:schemeClr val="tx1"/>
                    </a:solidFill>
                  </a:rPr>
                  <a:t> but pay a cost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SG" alt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alt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SG" alt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</m:oMath>
                </a14:m>
                <a:r>
                  <a:rPr lang="en-US" altLang="en-US" sz="1800" dirty="0">
                    <a:solidFill>
                      <a:schemeClr val="tx1"/>
                    </a:solidFill>
                  </a:rPr>
                  <a:t> for certification, and earn </a:t>
                </a:r>
                <a14:m>
                  <m:oMath xmlns:m="http://schemas.openxmlformats.org/officeDocument/2006/math">
                    <m:r>
                      <a:rPr lang="en-SG" alt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SG" alt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SG" alt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alt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SG" alt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</m:oMath>
                </a14:m>
                <a:endParaRPr lang="en-US" altLang="en-US" sz="1800" dirty="0">
                  <a:solidFill>
                    <a:schemeClr val="tx1"/>
                  </a:solidFill>
                </a:endParaRPr>
              </a:p>
              <a:p>
                <a:r>
                  <a:rPr lang="en-US" altLang="en-US" sz="1800" b="1" dirty="0">
                    <a:solidFill>
                      <a:schemeClr val="tx1"/>
                    </a:solidFill>
                  </a:rPr>
                  <a:t>(Out, No Certificate): </a:t>
                </a:r>
                <a:r>
                  <a:rPr lang="en-US" altLang="en-US" sz="1800" dirty="0">
                    <a:solidFill>
                      <a:schemeClr val="tx1"/>
                    </a:solidFill>
                  </a:rPr>
                  <a:t>They get the value of their car: 1000 and do not pay for certification and earn </a:t>
                </a:r>
                <a14:m>
                  <m:oMath xmlns:m="http://schemas.openxmlformats.org/officeDocument/2006/math">
                    <m:r>
                      <a:rPr lang="en-SG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SG" alt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000</m:t>
                    </m:r>
                  </m:oMath>
                </a14:m>
                <a:endParaRPr lang="en-US" altLang="en-US" sz="1800" dirty="0">
                  <a:solidFill>
                    <a:schemeClr val="tx1"/>
                  </a:solidFill>
                </a:endParaRPr>
              </a:p>
              <a:p>
                <a:r>
                  <a:rPr lang="en-US" altLang="en-US" sz="1800" b="1" dirty="0">
                    <a:solidFill>
                      <a:schemeClr val="tx1"/>
                    </a:solidFill>
                  </a:rPr>
                  <a:t>(Out, Certificate): </a:t>
                </a:r>
                <a:r>
                  <a:rPr lang="en-US" altLang="en-US" sz="1800" dirty="0">
                    <a:solidFill>
                      <a:schemeClr val="tx1"/>
                    </a:solidFill>
                  </a:rPr>
                  <a:t>They get the value of their car: 1000 and pay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SG" alt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alt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SG" alt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</m:oMath>
                </a14:m>
                <a:r>
                  <a:rPr lang="en-US" altLang="en-US" sz="1800" dirty="0">
                    <a:solidFill>
                      <a:schemeClr val="tx1"/>
                    </a:solidFill>
                  </a:rPr>
                  <a:t> for certification and earn </a:t>
                </a:r>
                <a14:m>
                  <m:oMath xmlns:m="http://schemas.openxmlformats.org/officeDocument/2006/math">
                    <m:r>
                      <a:rPr lang="en-SG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SG" alt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000−</m:t>
                    </m:r>
                    <m:sSub>
                      <m:sSubPr>
                        <m:ctrlPr>
                          <a:rPr lang="en-SG" alt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alt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SG" alt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</m:oMath>
                </a14:m>
                <a:r>
                  <a:rPr lang="en-US" altLang="en-US" sz="1800" dirty="0">
                    <a:solidFill>
                      <a:schemeClr val="tx1"/>
                    </a:solidFill>
                  </a:rPr>
                  <a:t>.</a:t>
                </a:r>
              </a:p>
              <a:p>
                <a:pPr lvl="1"/>
                <a:endParaRPr lang="en-US" altLang="en-US" sz="1600" dirty="0"/>
              </a:p>
              <a:p>
                <a:pPr marL="0" indent="0">
                  <a:buNone/>
                </a:pPr>
                <a:r>
                  <a:rPr lang="en-US" altLang="en-US" sz="2000" dirty="0"/>
                  <a:t>For </a:t>
                </a:r>
                <a:r>
                  <a:rPr lang="en-US" altLang="en-US" sz="2000" b="1" dirty="0">
                    <a:solidFill>
                      <a:schemeClr val="tx1"/>
                    </a:solidFill>
                  </a:rPr>
                  <a:t>(In, No Certificate) </a:t>
                </a:r>
                <a:r>
                  <a:rPr lang="en-US" altLang="en-US" sz="2000" dirty="0">
                    <a:solidFill>
                      <a:schemeClr val="tx1"/>
                    </a:solidFill>
                  </a:rPr>
                  <a:t>to be the best choice for lemons, we need:</a:t>
                </a:r>
              </a:p>
              <a:p>
                <a14:m>
                  <m:oMath xmlns:m="http://schemas.openxmlformats.org/officeDocument/2006/math">
                    <m:r>
                      <a:rPr lang="en-SG" alt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SG" alt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SG" alt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SG" alt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SG" alt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alt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SG" alt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</m:oMath>
                </a14:m>
                <a:r>
                  <a:rPr lang="en-SG" altLang="en-US" sz="1800" i="1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 </a:t>
                </a:r>
              </a:p>
              <a:p>
                <a14:m>
                  <m:oMath xmlns:m="http://schemas.openxmlformats.org/officeDocument/2006/math">
                    <m:r>
                      <a:rPr lang="en-SG" alt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SG" altLang="en-US" sz="18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&gt;1000   (&gt;1000−</m:t>
                    </m:r>
                    <m:sSub>
                      <m:sSubPr>
                        <m:ctrlPr>
                          <a:rPr lang="en-SG" alt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alt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SG" alt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  <m:r>
                      <a:rPr lang="en-SG" alt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en-US" sz="1800" i="1" dirty="0"/>
              </a:p>
              <a:p>
                <a:pPr eaLnBrk="1" hangingPunct="1"/>
                <a:endParaRPr lang="en-SG" altLang="en-US" sz="2200" dirty="0"/>
              </a:p>
              <a:p>
                <a:pPr eaLnBrk="1" hangingPunct="1"/>
                <a:endParaRPr lang="en-US" altLang="en-US" sz="2200" dirty="0"/>
              </a:p>
              <a:p>
                <a:pPr eaLnBrk="1" hangingPunct="1"/>
                <a:endParaRPr lang="en-US" altLang="en-US" sz="2200" dirty="0"/>
              </a:p>
              <a:p>
                <a:pPr eaLnBrk="1" hangingPunct="1"/>
                <a:endParaRPr lang="en-US" altLang="en-US" sz="2200" dirty="0"/>
              </a:p>
              <a:p>
                <a:pPr eaLnBrk="1" hangingPunct="1"/>
                <a:endParaRPr lang="en-US" altLang="en-US" sz="2200" dirty="0"/>
              </a:p>
              <a:p>
                <a:pPr eaLnBrk="1" hangingPunct="1"/>
                <a:endParaRPr lang="en-US" altLang="ja-JP" sz="2000" dirty="0"/>
              </a:p>
              <a:p>
                <a:endParaRPr lang="en-US" altLang="ja-JP" sz="2400" dirty="0"/>
              </a:p>
              <a:p>
                <a:pPr eaLnBrk="1" hangingPunct="1"/>
                <a:endParaRPr lang="en-US" altLang="ja-JP" sz="2400" dirty="0"/>
              </a:p>
              <a:p>
                <a:pPr eaLnBrk="1" hangingPunct="1"/>
                <a:endParaRPr lang="en-US" altLang="ja-JP" sz="2400" dirty="0"/>
              </a:p>
              <a:p>
                <a:pPr eaLnBrk="1" hangingPunct="1"/>
                <a:endParaRPr lang="en-US" altLang="en-US" sz="2400" dirty="0"/>
              </a:p>
              <a:p>
                <a:pPr eaLnBrk="1" hangingPunct="1"/>
                <a:endParaRPr lang="en-US" altLang="en-US" sz="2400" dirty="0"/>
              </a:p>
            </p:txBody>
          </p:sp>
        </mc:Choice>
        <mc:Fallback xmlns="">
          <p:sp>
            <p:nvSpPr>
              <p:cNvPr id="66562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456791"/>
                <a:ext cx="10497458" cy="4771481"/>
              </a:xfrm>
              <a:blipFill>
                <a:blip r:embed="rId3"/>
                <a:stretch>
                  <a:fillRect l="-580" t="-1533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8EF994C-A7F0-4ADB-B694-A0E4E1098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A6B015-14EA-419E-84A1-EA07DEB3B2A0}" type="slidenum">
              <a:rPr kumimoji="0" lang="en-GB" sz="12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GB" sz="12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Graphic 3" descr="Checkmark with solid fill">
            <a:extLst>
              <a:ext uri="{FF2B5EF4-FFF2-40B4-BE49-F238E27FC236}">
                <a16:creationId xmlns:a16="http://schemas.microsoft.com/office/drawing/2014/main" id="{E535CAAA-57B0-EC22-A9E3-00EF752CE39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438400" y="4754563"/>
            <a:ext cx="4572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55220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 dirty="0"/>
              <a:t>Pooling Equilibrium 1 (with </a:t>
            </a:r>
            <a:r>
              <a:rPr lang="en-US" altLang="en-US" dirty="0" err="1"/>
              <a:t>signalling</a:t>
            </a:r>
            <a:r>
              <a:rPr lang="en-US" altLang="en-US" dirty="0"/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6562" name="Rectangle 3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838199" y="1456791"/>
                <a:ext cx="10497458" cy="4771481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endParaRPr lang="en-US" altLang="en-US" sz="2000" dirty="0"/>
              </a:p>
              <a:p>
                <a:pPr marL="0" indent="0">
                  <a:buNone/>
                </a:pPr>
                <a:r>
                  <a:rPr lang="en-US" altLang="en-US" sz="2000" dirty="0"/>
                  <a:t>Combining all the conditions, we have:</a:t>
                </a:r>
              </a:p>
              <a:p>
                <a:pPr marL="457200" indent="-457200" eaLnBrk="1" hangingPunct="1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SG" alt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SG" alt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&gt;2000 (&gt;1000)</m:t>
                    </m:r>
                  </m:oMath>
                </a14:m>
                <a:endParaRPr lang="en-SG" altLang="en-US" sz="2000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marL="457200" indent="-457200" eaLnBrk="1" hangingPunct="1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SG" alt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SG" alt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SG" alt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SG" altLang="en-US" sz="2000" dirty="0"/>
              </a:p>
              <a:p>
                <a:pPr marL="457200" indent="-457200" eaLnBrk="1" hangingPunct="1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SG" altLang="en-US" sz="20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SG" altLang="en-US" sz="2000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SG" altLang="en-US" sz="2000" b="0" i="1" smtClean="0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SG" altLang="en-US" sz="2000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SG" altLang="en-US" sz="2000" dirty="0"/>
                  <a:t> </a:t>
                </a:r>
                <a:r>
                  <a:rPr lang="en-SG" altLang="en-US" sz="2000" i="1" dirty="0"/>
                  <a:t>(Expected value when both lemons and peaches in the market)</a:t>
                </a:r>
                <a:br>
                  <a:rPr lang="en-SG" altLang="en-US" sz="2000" dirty="0"/>
                </a:br>
                <a:endParaRPr lang="en-SG" altLang="en-US" sz="2000" dirty="0"/>
              </a:p>
              <a:p>
                <a:pPr eaLnBrk="1" hangingPunct="1"/>
                <a:r>
                  <a:rPr lang="en-SG" altLang="en-US" sz="2000" dirty="0">
                    <a:solidFill>
                      <a:schemeClr val="tx1"/>
                    </a:solidFill>
                  </a:rPr>
                  <a:t>Condition 1 implies that both peaches and lemons do better than staying out.</a:t>
                </a:r>
              </a:p>
              <a:p>
                <a:pPr eaLnBrk="1" hangingPunct="1"/>
                <a:r>
                  <a:rPr lang="en-SG" altLang="en-US" sz="2000" dirty="0">
                    <a:solidFill>
                      <a:schemeClr val="tx1"/>
                    </a:solidFill>
                  </a:rPr>
                  <a:t>Condition 2 implies that certification has no advantages.</a:t>
                </a:r>
              </a:p>
              <a:p>
                <a:pPr eaLnBrk="1" hangingPunct="1"/>
                <a:r>
                  <a:rPr lang="en-SG" altLang="en-US" sz="2000" dirty="0">
                    <a:solidFill>
                      <a:schemeClr val="tx1"/>
                    </a:solidFill>
                  </a:rPr>
                  <a:t>Condition 3 implies that buyers have positive surplus. </a:t>
                </a:r>
              </a:p>
              <a:p>
                <a:pPr marL="0" indent="0" eaLnBrk="1" hangingPunct="1">
                  <a:buNone/>
                </a:pPr>
                <a:endParaRPr lang="en-US" altLang="en-US" sz="2000" dirty="0"/>
              </a:p>
              <a:p>
                <a:pPr marL="0" indent="0" eaLnBrk="1" hangingPunct="1">
                  <a:buNone/>
                </a:pPr>
                <a:r>
                  <a:rPr lang="en-US" altLang="en-US" sz="2000" b="1" dirty="0"/>
                  <a:t>If all these conditions are satisfied, then there is an equilibrium where nobody certifies and the equilibrium is the same as before!</a:t>
                </a:r>
              </a:p>
              <a:p>
                <a:pPr eaLnBrk="1" hangingPunct="1"/>
                <a:endParaRPr lang="en-US" altLang="ja-JP" sz="1800" dirty="0"/>
              </a:p>
              <a:p>
                <a:endParaRPr lang="en-US" altLang="ja-JP" sz="2000" dirty="0"/>
              </a:p>
              <a:p>
                <a:pPr eaLnBrk="1" hangingPunct="1"/>
                <a:endParaRPr lang="en-US" altLang="ja-JP" sz="2000" dirty="0"/>
              </a:p>
              <a:p>
                <a:pPr eaLnBrk="1" hangingPunct="1"/>
                <a:endParaRPr lang="en-US" altLang="ja-JP" sz="2000" dirty="0"/>
              </a:p>
              <a:p>
                <a:pPr eaLnBrk="1" hangingPunct="1"/>
                <a:endParaRPr lang="en-US" altLang="en-US" sz="2000" dirty="0"/>
              </a:p>
              <a:p>
                <a:pPr eaLnBrk="1" hangingPunct="1"/>
                <a:endParaRPr lang="en-US" altLang="en-US" sz="2000" dirty="0"/>
              </a:p>
            </p:txBody>
          </p:sp>
        </mc:Choice>
        <mc:Fallback xmlns="">
          <p:sp>
            <p:nvSpPr>
              <p:cNvPr id="66562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456791"/>
                <a:ext cx="10497458" cy="4771481"/>
              </a:xfrm>
              <a:blipFill>
                <a:blip r:embed="rId3"/>
                <a:stretch>
                  <a:fillRect l="-580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8EF994C-A7F0-4ADB-B694-A0E4E1098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A6B015-14EA-419E-84A1-EA07DEB3B2A0}" type="slidenum">
              <a:rPr kumimoji="0" lang="en-GB" sz="12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GB" sz="12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351283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F2942764-13F4-EB04-866B-D748E74C439E}"/>
              </a:ext>
            </a:extLst>
          </p:cNvPr>
          <p:cNvSpPr/>
          <p:nvPr/>
        </p:nvSpPr>
        <p:spPr>
          <a:xfrm>
            <a:off x="755129" y="4044810"/>
            <a:ext cx="10681741" cy="218715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A541D89-E7E1-4660-C6B1-48085A814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Aside: Beliefs on/off the equilibrium path.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8425C9-D5F9-6507-07E0-EF6063FDE9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187155"/>
          </a:xfrm>
        </p:spPr>
        <p:txBody>
          <a:bodyPr/>
          <a:lstStyle/>
          <a:p>
            <a:r>
              <a:rPr lang="en-SG" sz="2000" dirty="0"/>
              <a:t>Recall that buyers only observe 1) sellers who enter, 2) whether they have a certificate.</a:t>
            </a:r>
          </a:p>
          <a:p>
            <a:pPr lvl="1"/>
            <a:r>
              <a:rPr lang="en-SG" sz="1800" dirty="0"/>
              <a:t>They form beliefs about sellers depending on these observations which influences their expected value.</a:t>
            </a:r>
            <a:br>
              <a:rPr lang="en-SG" sz="1800" dirty="0"/>
            </a:br>
            <a:r>
              <a:rPr lang="en-SG" sz="1800" dirty="0"/>
              <a:t>Two potential observations: (In, Certificate) &amp; (In, No Certificate)</a:t>
            </a:r>
          </a:p>
          <a:p>
            <a:endParaRPr lang="en-SG" sz="2000" dirty="0"/>
          </a:p>
          <a:p>
            <a:r>
              <a:rPr lang="en-SG" sz="2000" dirty="0"/>
              <a:t>How do we determine their beliefs? </a:t>
            </a:r>
            <a:br>
              <a:rPr lang="en-SG" sz="2000" dirty="0"/>
            </a:br>
            <a:r>
              <a:rPr lang="en-SG" sz="2000" b="1" dirty="0"/>
              <a:t>We assume that in equilibrium, they anticipate seller’s strategies correctly!</a:t>
            </a:r>
          </a:p>
          <a:p>
            <a:endParaRPr lang="en-SG" sz="20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7A02CC-DCD8-18BF-8F5D-8184A9A3F3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A6B015-14EA-419E-84A1-EA07DEB3B2A0}" type="slidenum">
              <a:rPr kumimoji="0" lang="en-GB" sz="12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GB" sz="12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4216D5-1E78-ECBD-985C-C0D11ED93DD5}"/>
              </a:ext>
            </a:extLst>
          </p:cNvPr>
          <p:cNvSpPr txBox="1"/>
          <p:nvPr/>
        </p:nvSpPr>
        <p:spPr>
          <a:xfrm>
            <a:off x="4651375" y="4012780"/>
            <a:ext cx="22149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Pooling Equilibrium 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0FF8556-868D-A687-3113-04E906B0521B}"/>
              </a:ext>
            </a:extLst>
          </p:cNvPr>
          <p:cNvSpPr txBox="1"/>
          <p:nvPr/>
        </p:nvSpPr>
        <p:spPr>
          <a:xfrm>
            <a:off x="3140076" y="4299462"/>
            <a:ext cx="200587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Peaches &amp; Lemons:</a:t>
            </a:r>
            <a:br>
              <a:rPr kumimoji="0" lang="en-SG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endParaRPr kumimoji="0" lang="en-SG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(In, No Certificate)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B374541-95D1-BA66-7F18-8DDF7B258D55}"/>
              </a:ext>
            </a:extLst>
          </p:cNvPr>
          <p:cNvSpPr txBox="1"/>
          <p:nvPr/>
        </p:nvSpPr>
        <p:spPr>
          <a:xfrm>
            <a:off x="7028243" y="4408630"/>
            <a:ext cx="158235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SG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SG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(In, Certificate)</a:t>
            </a:r>
          </a:p>
        </p:txBody>
      </p:sp>
      <p:sp>
        <p:nvSpPr>
          <p:cNvPr id="8" name="Arrow: Curved Right 7">
            <a:extLst>
              <a:ext uri="{FF2B5EF4-FFF2-40B4-BE49-F238E27FC236}">
                <a16:creationId xmlns:a16="http://schemas.microsoft.com/office/drawing/2014/main" id="{26678197-AF03-C39A-3A53-2371671A5968}"/>
              </a:ext>
            </a:extLst>
          </p:cNvPr>
          <p:cNvSpPr/>
          <p:nvPr/>
        </p:nvSpPr>
        <p:spPr>
          <a:xfrm>
            <a:off x="2853674" y="4620158"/>
            <a:ext cx="135397" cy="377851"/>
          </a:xfrm>
          <a:prstGeom prst="curv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SG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C352571-601A-A6C4-7A36-767A5CBF65DC}"/>
              </a:ext>
            </a:extLst>
          </p:cNvPr>
          <p:cNvSpPr txBox="1"/>
          <p:nvPr/>
        </p:nvSpPr>
        <p:spPr>
          <a:xfrm>
            <a:off x="2067112" y="4607239"/>
            <a:ext cx="78656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Strategy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2CE6BAD-7D58-8D70-6CC3-1880EBF43A9E}"/>
              </a:ext>
            </a:extLst>
          </p:cNvPr>
          <p:cNvSpPr txBox="1"/>
          <p:nvPr/>
        </p:nvSpPr>
        <p:spPr>
          <a:xfrm>
            <a:off x="5438301" y="4629773"/>
            <a:ext cx="5982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Belief</a:t>
            </a:r>
          </a:p>
        </p:txBody>
      </p:sp>
      <p:sp>
        <p:nvSpPr>
          <p:cNvPr id="12" name="Arrow: Curved Right 11">
            <a:extLst>
              <a:ext uri="{FF2B5EF4-FFF2-40B4-BE49-F238E27FC236}">
                <a16:creationId xmlns:a16="http://schemas.microsoft.com/office/drawing/2014/main" id="{8B2F8DBD-FB1E-3808-BA1A-01CF52FDF114}"/>
              </a:ext>
            </a:extLst>
          </p:cNvPr>
          <p:cNvSpPr/>
          <p:nvPr/>
        </p:nvSpPr>
        <p:spPr>
          <a:xfrm rot="10800000">
            <a:off x="5250348" y="4620157"/>
            <a:ext cx="135397" cy="377851"/>
          </a:xfrm>
          <a:prstGeom prst="curv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SG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8E46521-12C4-FB40-E6BE-0472C49A3E08}"/>
              </a:ext>
            </a:extLst>
          </p:cNvPr>
          <p:cNvSpPr txBox="1"/>
          <p:nvPr/>
        </p:nvSpPr>
        <p:spPr>
          <a:xfrm>
            <a:off x="9024328" y="4555374"/>
            <a:ext cx="8483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Belief???</a:t>
            </a:r>
          </a:p>
        </p:txBody>
      </p:sp>
      <p:sp>
        <p:nvSpPr>
          <p:cNvPr id="17" name="Arrow: Curved Right 16">
            <a:extLst>
              <a:ext uri="{FF2B5EF4-FFF2-40B4-BE49-F238E27FC236}">
                <a16:creationId xmlns:a16="http://schemas.microsoft.com/office/drawing/2014/main" id="{437054D7-C99C-827F-35DB-FBF8A02727A2}"/>
              </a:ext>
            </a:extLst>
          </p:cNvPr>
          <p:cNvSpPr/>
          <p:nvPr/>
        </p:nvSpPr>
        <p:spPr>
          <a:xfrm rot="10800000">
            <a:off x="8836375" y="4545758"/>
            <a:ext cx="135397" cy="377851"/>
          </a:xfrm>
          <a:prstGeom prst="curv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SG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21AE1DE-1B51-19A6-4882-9A2CB32EAC8D}"/>
              </a:ext>
            </a:extLst>
          </p:cNvPr>
          <p:cNvSpPr txBox="1"/>
          <p:nvPr/>
        </p:nvSpPr>
        <p:spPr>
          <a:xfrm>
            <a:off x="6922483" y="5138388"/>
            <a:ext cx="399796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What should they think about a strategy</a:t>
            </a:r>
            <a:br>
              <a:rPr kumimoji="0" lang="en-SG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SG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that is not chosen in equilibrium?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1400" b="1" i="0" u="sng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No correct belief, so we assume that they can believe anything!*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5D8FD11-1245-CBD4-CA87-5F33EB61B06B}"/>
              </a:ext>
            </a:extLst>
          </p:cNvPr>
          <p:cNvCxnSpPr/>
          <p:nvPr/>
        </p:nvCxnSpPr>
        <p:spPr>
          <a:xfrm flipV="1">
            <a:off x="9216355" y="4892207"/>
            <a:ext cx="105799" cy="290673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3529797C-635B-E14E-1B04-414DC562AF79}"/>
                  </a:ext>
                </a:extLst>
              </p:cNvPr>
              <p:cNvSpPr txBox="1"/>
              <p:nvPr/>
            </p:nvSpPr>
            <p:spPr>
              <a:xfrm>
                <a:off x="1602521" y="5081783"/>
                <a:ext cx="3997964" cy="11695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SG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Because both peaches and lemons choose </a:t>
                </a:r>
                <a:br>
                  <a:rPr kumimoji="0" lang="en-SG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</a:br>
                <a:r>
                  <a:rPr kumimoji="0" lang="en-SG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(In, No Certificate), in equilibrium, they believe that an observation of (In, No Certificate) implies a Peach with probability </a:t>
                </a:r>
                <a14:m>
                  <m:oMath xmlns:m="http://schemas.openxmlformats.org/officeDocument/2006/math">
                    <m:r>
                      <a:rPr kumimoji="0" lang="en-SG" sz="14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𝒒</m:t>
                    </m:r>
                  </m:oMath>
                </a14:m>
                <a:r>
                  <a:rPr kumimoji="0" lang="en-SG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which is the true distribution.</a:t>
                </a: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3529797C-635B-E14E-1B04-414DC562AF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2521" y="5081783"/>
                <a:ext cx="3997964" cy="1169551"/>
              </a:xfrm>
              <a:prstGeom prst="rect">
                <a:avLst/>
              </a:prstGeom>
              <a:blipFill>
                <a:blip r:embed="rId2"/>
                <a:stretch>
                  <a:fillRect l="-457" t="-1047" r="-1220" b="-4712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CA73B676-F41E-67A2-BA93-276CADCD49D7}"/>
              </a:ext>
            </a:extLst>
          </p:cNvPr>
          <p:cNvCxnSpPr/>
          <p:nvPr/>
        </p:nvCxnSpPr>
        <p:spPr>
          <a:xfrm flipV="1">
            <a:off x="5163720" y="4945415"/>
            <a:ext cx="105799" cy="290673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34605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 dirty="0"/>
              <a:t>Pooling Equilibrium 2 (with </a:t>
            </a:r>
            <a:r>
              <a:rPr lang="en-US" altLang="en-US" dirty="0" err="1"/>
              <a:t>signalling</a:t>
            </a:r>
            <a:r>
              <a:rPr lang="en-US" altLang="en-US" dirty="0"/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6562" name="Rectangle 3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838199" y="1456791"/>
                <a:ext cx="10497458" cy="4771481"/>
              </a:xfrm>
            </p:spPr>
            <p:txBody>
              <a:bodyPr>
                <a:normAutofit/>
              </a:bodyPr>
              <a:lstStyle/>
              <a:p>
                <a:pPr marL="0" indent="0" eaLnBrk="1" hangingPunct="1">
                  <a:buNone/>
                </a:pPr>
                <a:r>
                  <a:rPr lang="en-SG" altLang="en-US" sz="2000" b="1" dirty="0">
                    <a:solidFill>
                      <a:srgbClr val="00B0F0"/>
                    </a:solidFill>
                  </a:rPr>
                  <a:t>For </a:t>
                </a:r>
                <a14:m>
                  <m:oMath xmlns:m="http://schemas.openxmlformats.org/officeDocument/2006/math">
                    <m:r>
                      <a:rPr lang="en-SG" altLang="en-US" sz="2000" b="1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𝜸</m:t>
                    </m:r>
                    <m:r>
                      <a:rPr lang="en-SG" altLang="en-US" sz="2000" b="1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SG" altLang="en-US" sz="2000" b="1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𝟐𝟎𝟎𝟎</m:t>
                    </m:r>
                  </m:oMath>
                </a14:m>
                <a:r>
                  <a:rPr lang="en-US" altLang="en-US" sz="2000" b="1" dirty="0">
                    <a:solidFill>
                      <a:srgbClr val="00B0F0"/>
                    </a:solidFill>
                  </a:rPr>
                  <a:t>. </a:t>
                </a:r>
              </a:p>
              <a:p>
                <a:pPr marL="0" indent="0" eaLnBrk="1" hangingPunct="1">
                  <a:buNone/>
                </a:pPr>
                <a:r>
                  <a:rPr lang="en-US" altLang="en-US" sz="2000" dirty="0"/>
                  <a:t>There is another potential pooling equilibrium:</a:t>
                </a:r>
                <a:br>
                  <a:rPr lang="en-US" altLang="en-US" sz="2000" dirty="0"/>
                </a:br>
                <a:endParaRPr lang="en-US" altLang="en-US" sz="2000" dirty="0"/>
              </a:p>
              <a:p>
                <a:pPr marL="0" indent="0" eaLnBrk="1" hangingPunct="1">
                  <a:buNone/>
                </a:pPr>
                <a:r>
                  <a:rPr lang="en-US" altLang="en-US" sz="2000" b="1" dirty="0"/>
                  <a:t>Both peaches and lemons enter the market (In), </a:t>
                </a:r>
                <a:r>
                  <a:rPr lang="en-US" altLang="en-US" sz="2000" b="1" u="sng" dirty="0"/>
                  <a:t>and both purchase certification</a:t>
                </a:r>
              </a:p>
              <a:p>
                <a:pPr marL="0" indent="0">
                  <a:buNone/>
                </a:pPr>
                <a:r>
                  <a:rPr lang="en-US" altLang="en-US" sz="2000" dirty="0"/>
                  <a:t>Buyers Beliefs and Strategies:</a:t>
                </a:r>
              </a:p>
              <a:p>
                <a:pPr eaLnBrk="1" hangingPunct="1"/>
                <a:r>
                  <a:rPr lang="en-US" altLang="en-US" sz="2000" dirty="0"/>
                  <a:t>If see (In, Certificate):</a:t>
                </a:r>
                <a:br>
                  <a:rPr lang="en-US" altLang="en-US" sz="2000" dirty="0"/>
                </a:br>
                <a:r>
                  <a:rPr lang="en-US" altLang="en-US" sz="1800" dirty="0"/>
                  <a:t>Buyers correctly anticipate the above and believe these are peach with probability </a:t>
                </a:r>
                <a14:m>
                  <m:oMath xmlns:m="http://schemas.openxmlformats.org/officeDocument/2006/math">
                    <m:r>
                      <a:rPr lang="en-SG" altLang="en-US" sz="1800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altLang="en-US" sz="1800" dirty="0"/>
                  <a:t>. A valid price is </a:t>
                </a:r>
                <a14:m>
                  <m:oMath xmlns:m="http://schemas.openxmlformats.org/officeDocument/2006/math">
                    <m:r>
                      <a:rPr lang="en-SG" altLang="en-US" sz="1800" b="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SG" altLang="en-US" sz="1800" b="0" i="1" dirty="0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SG" altLang="en-US" sz="1800" b="0" i="1" dirty="0" smtClean="0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SG" altLang="en-US" sz="1800" b="0" i="0" dirty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br>
                  <a:rPr lang="en-SG" altLang="en-US" sz="2000" dirty="0"/>
                </a:br>
                <a:endParaRPr lang="en-US" altLang="en-US" sz="2000" dirty="0"/>
              </a:p>
              <a:p>
                <a:pPr eaLnBrk="1" hangingPunct="1"/>
                <a:r>
                  <a:rPr lang="en-US" altLang="en-US" sz="2000" dirty="0"/>
                  <a:t>If see (In, No Certificate):</a:t>
                </a:r>
                <a:br>
                  <a:rPr lang="en-US" altLang="en-US" sz="2000" dirty="0"/>
                </a:br>
                <a:r>
                  <a:rPr lang="en-US" altLang="en-US" sz="1800" dirty="0"/>
                  <a:t>This is </a:t>
                </a:r>
                <a:r>
                  <a:rPr lang="en-US" altLang="en-US" sz="1800" dirty="0">
                    <a:solidFill>
                      <a:srgbClr val="0000FF"/>
                    </a:solidFill>
                  </a:rPr>
                  <a:t>off the equilibrium path. </a:t>
                </a:r>
                <a:r>
                  <a:rPr lang="en-US" altLang="en-US" sz="1800" i="1" dirty="0"/>
                  <a:t>*Assume that buyers believe that these are peaches with probability 0 (lemons with probability 1). </a:t>
                </a:r>
                <a:r>
                  <a:rPr lang="en-US" altLang="en-US" sz="1800" dirty="0"/>
                  <a:t>A valid price is </a:t>
                </a:r>
                <a14:m>
                  <m:oMath xmlns:m="http://schemas.openxmlformats.org/officeDocument/2006/math">
                    <m:r>
                      <a:rPr lang="en-SG" altLang="en-US" sz="18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SG" altLang="en-US" sz="1800" b="0" i="1" smtClean="0">
                        <a:latin typeface="Cambria Math" panose="02040503050406030204" pitchFamily="18" charset="0"/>
                      </a:rPr>
                      <m:t>≤1200</m:t>
                    </m:r>
                  </m:oMath>
                </a14:m>
                <a:endParaRPr lang="en-US" altLang="en-US" sz="1800" dirty="0">
                  <a:solidFill>
                    <a:srgbClr val="FF0000"/>
                  </a:solidFill>
                </a:endParaRPr>
              </a:p>
              <a:p>
                <a:pPr eaLnBrk="1" hangingPunct="1"/>
                <a:endParaRPr lang="en-US" altLang="en-US" sz="2000" dirty="0"/>
              </a:p>
              <a:p>
                <a:pPr eaLnBrk="1" hangingPunct="1"/>
                <a:endParaRPr lang="en-US" altLang="en-US" sz="2000" dirty="0"/>
              </a:p>
              <a:p>
                <a:pPr eaLnBrk="1" hangingPunct="1"/>
                <a:endParaRPr lang="en-US" altLang="en-US" sz="2000" dirty="0"/>
              </a:p>
              <a:p>
                <a:pPr eaLnBrk="1" hangingPunct="1"/>
                <a:endParaRPr lang="en-US" altLang="en-US" sz="2000" dirty="0"/>
              </a:p>
              <a:p>
                <a:pPr eaLnBrk="1" hangingPunct="1"/>
                <a:endParaRPr lang="en-US" altLang="ja-JP" sz="1800" dirty="0"/>
              </a:p>
              <a:p>
                <a:endParaRPr lang="en-US" altLang="ja-JP" sz="2000" dirty="0"/>
              </a:p>
              <a:p>
                <a:pPr eaLnBrk="1" hangingPunct="1"/>
                <a:endParaRPr lang="en-US" altLang="ja-JP" sz="2000" dirty="0"/>
              </a:p>
              <a:p>
                <a:pPr eaLnBrk="1" hangingPunct="1"/>
                <a:endParaRPr lang="en-US" altLang="ja-JP" sz="2000" dirty="0"/>
              </a:p>
              <a:p>
                <a:pPr eaLnBrk="1" hangingPunct="1"/>
                <a:endParaRPr lang="en-US" altLang="en-US" sz="2000" dirty="0"/>
              </a:p>
              <a:p>
                <a:pPr eaLnBrk="1" hangingPunct="1"/>
                <a:endParaRPr lang="en-US" altLang="en-US" sz="2000" dirty="0"/>
              </a:p>
            </p:txBody>
          </p:sp>
        </mc:Choice>
        <mc:Fallback xmlns="">
          <p:sp>
            <p:nvSpPr>
              <p:cNvPr id="66562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456791"/>
                <a:ext cx="10497458" cy="4771481"/>
              </a:xfrm>
              <a:blipFill>
                <a:blip r:embed="rId3"/>
                <a:stretch>
                  <a:fillRect l="-580" t="-1405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8EF994C-A7F0-4ADB-B694-A0E4E1098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A6B015-14EA-419E-84A1-EA07DEB3B2A0}" type="slidenum">
              <a:rPr kumimoji="0" lang="en-GB" sz="12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GB" sz="12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82943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 dirty="0"/>
              <a:t>Pooling Equilibrium 2 (with </a:t>
            </a:r>
            <a:r>
              <a:rPr lang="en-US" altLang="en-US" dirty="0" err="1"/>
              <a:t>signalling</a:t>
            </a:r>
            <a:r>
              <a:rPr lang="en-US" altLang="en-US" dirty="0"/>
              <a:t>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6562" name="Rectangle 3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838199" y="1456791"/>
                <a:ext cx="10497458" cy="4771481"/>
              </a:xfrm>
            </p:spPr>
            <p:txBody>
              <a:bodyPr>
                <a:normAutofit/>
              </a:bodyPr>
              <a:lstStyle/>
              <a:p>
                <a:pPr marL="457200" indent="-457200" eaLnBrk="1" hangingPunct="1">
                  <a:buFont typeface="+mj-lt"/>
                  <a:buAutoNum type="arabicPeriod"/>
                </a:pPr>
                <a:r>
                  <a:rPr lang="en-US" altLang="en-US" sz="2000" b="1" dirty="0"/>
                  <a:t>Is </a:t>
                </a:r>
                <a:r>
                  <a:rPr lang="en-US" altLang="en-US" sz="2000" b="1" dirty="0">
                    <a:solidFill>
                      <a:srgbClr val="00B050"/>
                    </a:solidFill>
                  </a:rPr>
                  <a:t>(In, Certificate) </a:t>
                </a:r>
                <a:r>
                  <a:rPr lang="en-US" altLang="en-US" sz="2000" b="1" dirty="0"/>
                  <a:t>the best choice for </a:t>
                </a:r>
                <a:r>
                  <a:rPr lang="en-US" altLang="en-US" sz="2000" b="1" u="sng" dirty="0"/>
                  <a:t>peach sellers</a:t>
                </a:r>
                <a:r>
                  <a:rPr lang="en-US" altLang="en-US" sz="2000" b="1" dirty="0"/>
                  <a:t>?</a:t>
                </a:r>
              </a:p>
              <a:p>
                <a:pPr marL="0" indent="0" eaLnBrk="1" hangingPunct="1">
                  <a:buNone/>
                </a:pPr>
                <a:endParaRPr lang="en-US" altLang="en-US" sz="2000" b="1" dirty="0"/>
              </a:p>
              <a:p>
                <a:pPr marL="0" indent="0">
                  <a:buNone/>
                </a:pPr>
                <a:r>
                  <a:rPr lang="en-US" altLang="en-US" sz="2000" b="1" dirty="0">
                    <a:solidFill>
                      <a:schemeClr val="tx1"/>
                    </a:solidFill>
                  </a:rPr>
                  <a:t>If they choose: </a:t>
                </a:r>
              </a:p>
              <a:p>
                <a:r>
                  <a:rPr lang="en-US" altLang="en-US" sz="1800" b="1" dirty="0">
                    <a:solidFill>
                      <a:schemeClr val="tx1"/>
                    </a:solidFill>
                  </a:rPr>
                  <a:t>(In, Certificate): </a:t>
                </a:r>
                <a:r>
                  <a:rPr lang="en-US" altLang="en-US" sz="1800" dirty="0">
                    <a:solidFill>
                      <a:schemeClr val="tx1"/>
                    </a:solidFill>
                  </a:rPr>
                  <a:t>They sell their car for </a:t>
                </a:r>
                <a14:m>
                  <m:oMath xmlns:m="http://schemas.openxmlformats.org/officeDocument/2006/math">
                    <m:r>
                      <a:rPr lang="en-SG" alt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altLang="en-US" sz="1800" dirty="0">
                    <a:solidFill>
                      <a:schemeClr val="tx1"/>
                    </a:solidFill>
                  </a:rPr>
                  <a:t> but pay a cost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SG" alt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alt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SG" alt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altLang="en-US" sz="1800" dirty="0">
                    <a:solidFill>
                      <a:schemeClr val="tx1"/>
                    </a:solidFill>
                  </a:rPr>
                  <a:t> for certification, and earn </a:t>
                </a:r>
                <a14:m>
                  <m:oMath xmlns:m="http://schemas.openxmlformats.org/officeDocument/2006/math">
                    <m:r>
                      <a:rPr lang="en-SG" alt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SG" alt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SG" alt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alt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SG" alt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endParaRPr lang="en-US" altLang="en-US" sz="1800" b="1" dirty="0">
                  <a:solidFill>
                    <a:schemeClr val="tx1"/>
                  </a:solidFill>
                </a:endParaRPr>
              </a:p>
              <a:p>
                <a:r>
                  <a:rPr lang="en-US" altLang="en-US" sz="1800" b="1" dirty="0">
                    <a:solidFill>
                      <a:schemeClr val="tx1"/>
                    </a:solidFill>
                  </a:rPr>
                  <a:t>(In, No Certificate): </a:t>
                </a:r>
                <a:r>
                  <a:rPr lang="en-US" altLang="en-US" sz="1800" dirty="0">
                    <a:solidFill>
                      <a:schemeClr val="tx1"/>
                    </a:solidFill>
                  </a:rPr>
                  <a:t>They sell their car for </a:t>
                </a:r>
                <a14:m>
                  <m:oMath xmlns:m="http://schemas.openxmlformats.org/officeDocument/2006/math">
                    <m:r>
                      <a:rPr lang="en-SG" alt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altLang="en-US" sz="1800" dirty="0">
                    <a:solidFill>
                      <a:schemeClr val="tx1"/>
                    </a:solidFill>
                  </a:rPr>
                  <a:t> and do not pay for certification and earn </a:t>
                </a:r>
                <a14:m>
                  <m:oMath xmlns:m="http://schemas.openxmlformats.org/officeDocument/2006/math">
                    <m:r>
                      <a:rPr lang="en-SG" alt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US" altLang="en-US" sz="1800" dirty="0">
                  <a:solidFill>
                    <a:schemeClr val="tx1"/>
                  </a:solidFill>
                </a:endParaRPr>
              </a:p>
              <a:p>
                <a:r>
                  <a:rPr lang="en-US" altLang="en-US" sz="1800" b="1" dirty="0">
                    <a:solidFill>
                      <a:schemeClr val="tx1"/>
                    </a:solidFill>
                  </a:rPr>
                  <a:t>(Out, No Certificate): </a:t>
                </a:r>
                <a:r>
                  <a:rPr lang="en-US" altLang="en-US" sz="1800" dirty="0">
                    <a:solidFill>
                      <a:schemeClr val="tx1"/>
                    </a:solidFill>
                  </a:rPr>
                  <a:t>They get the value of their car: 2000 and do not pay for certification and earn </a:t>
                </a:r>
                <a14:m>
                  <m:oMath xmlns:m="http://schemas.openxmlformats.org/officeDocument/2006/math">
                    <m:r>
                      <a:rPr lang="en-SG" alt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2000</m:t>
                    </m:r>
                  </m:oMath>
                </a14:m>
                <a:endParaRPr lang="en-US" altLang="en-US" sz="1800" dirty="0">
                  <a:solidFill>
                    <a:schemeClr val="tx1"/>
                  </a:solidFill>
                </a:endParaRPr>
              </a:p>
              <a:p>
                <a:r>
                  <a:rPr lang="en-US" altLang="en-US" sz="1800" b="1" dirty="0">
                    <a:solidFill>
                      <a:schemeClr val="tx1"/>
                    </a:solidFill>
                  </a:rPr>
                  <a:t>(Out, Certificate): </a:t>
                </a:r>
                <a:r>
                  <a:rPr lang="en-US" altLang="en-US" sz="1800" dirty="0">
                    <a:solidFill>
                      <a:schemeClr val="tx1"/>
                    </a:solidFill>
                  </a:rPr>
                  <a:t>They get the value of their car: 2000 and pay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SG" alt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alt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SG" alt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altLang="en-US" sz="1800" dirty="0">
                    <a:solidFill>
                      <a:schemeClr val="tx1"/>
                    </a:solidFill>
                  </a:rPr>
                  <a:t> for certification and earn </a:t>
                </a:r>
                <a14:m>
                  <m:oMath xmlns:m="http://schemas.openxmlformats.org/officeDocument/2006/math">
                    <m:r>
                      <a:rPr lang="en-SG" alt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2000−</m:t>
                    </m:r>
                    <m:sSub>
                      <m:sSubPr>
                        <m:ctrlPr>
                          <a:rPr lang="en-SG" alt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alt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SG" alt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altLang="en-US" sz="1800" dirty="0">
                    <a:solidFill>
                      <a:schemeClr val="tx1"/>
                    </a:solidFill>
                  </a:rPr>
                  <a:t>.</a:t>
                </a:r>
              </a:p>
              <a:p>
                <a:pPr lvl="1"/>
                <a:endParaRPr lang="en-US" altLang="en-US" sz="1600" dirty="0"/>
              </a:p>
              <a:p>
                <a:pPr marL="0" indent="0">
                  <a:buNone/>
                </a:pPr>
                <a:r>
                  <a:rPr lang="en-US" altLang="en-US" sz="2000" dirty="0"/>
                  <a:t>For </a:t>
                </a:r>
                <a:r>
                  <a:rPr lang="en-US" altLang="en-US" sz="2000" b="1" dirty="0">
                    <a:solidFill>
                      <a:schemeClr val="tx1"/>
                    </a:solidFill>
                  </a:rPr>
                  <a:t>(In, Certificate) </a:t>
                </a:r>
                <a:r>
                  <a:rPr lang="en-US" altLang="en-US" sz="2000" dirty="0">
                    <a:solidFill>
                      <a:schemeClr val="tx1"/>
                    </a:solidFill>
                  </a:rPr>
                  <a:t>to be the best choice for peaches, we need:</a:t>
                </a:r>
              </a:p>
              <a:p>
                <a14:m>
                  <m:oMath xmlns:m="http://schemas.openxmlformats.org/officeDocument/2006/math">
                    <m:r>
                      <a:rPr lang="en-SG" alt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SG" alt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SG" alt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alt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SG" alt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SG" alt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SG" alt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SG" altLang="en-US" sz="18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SG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SG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SG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SG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SG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SG" altLang="en-US" sz="18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&gt;2000   (&gt;2000−</m:t>
                    </m:r>
                    <m:sSub>
                      <m:sSubPr>
                        <m:ctrlPr>
                          <a:rPr lang="en-SG" alt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alt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SG" alt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SG" alt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en-US" sz="1800" i="1" dirty="0"/>
              </a:p>
              <a:p>
                <a:pPr eaLnBrk="1" hangingPunct="1"/>
                <a:endParaRPr lang="en-SG" altLang="en-US" sz="2200" dirty="0"/>
              </a:p>
              <a:p>
                <a:pPr eaLnBrk="1" hangingPunct="1"/>
                <a:endParaRPr lang="en-US" altLang="en-US" sz="2200" dirty="0"/>
              </a:p>
              <a:p>
                <a:pPr eaLnBrk="1" hangingPunct="1"/>
                <a:endParaRPr lang="en-US" altLang="en-US" sz="2200" dirty="0"/>
              </a:p>
              <a:p>
                <a:pPr eaLnBrk="1" hangingPunct="1"/>
                <a:endParaRPr lang="en-US" altLang="en-US" sz="2200" dirty="0"/>
              </a:p>
              <a:p>
                <a:pPr eaLnBrk="1" hangingPunct="1"/>
                <a:endParaRPr lang="en-US" altLang="en-US" sz="2200" dirty="0"/>
              </a:p>
              <a:p>
                <a:pPr eaLnBrk="1" hangingPunct="1"/>
                <a:endParaRPr lang="en-US" altLang="ja-JP" sz="2000" dirty="0"/>
              </a:p>
              <a:p>
                <a:endParaRPr lang="en-US" altLang="ja-JP" sz="2400" dirty="0"/>
              </a:p>
              <a:p>
                <a:pPr eaLnBrk="1" hangingPunct="1"/>
                <a:endParaRPr lang="en-US" altLang="ja-JP" sz="2400" dirty="0"/>
              </a:p>
              <a:p>
                <a:pPr eaLnBrk="1" hangingPunct="1"/>
                <a:endParaRPr lang="en-US" altLang="ja-JP" sz="2400" dirty="0"/>
              </a:p>
              <a:p>
                <a:pPr eaLnBrk="1" hangingPunct="1"/>
                <a:endParaRPr lang="en-US" altLang="en-US" sz="2400" dirty="0"/>
              </a:p>
              <a:p>
                <a:pPr eaLnBrk="1" hangingPunct="1"/>
                <a:endParaRPr lang="en-US" altLang="en-US" sz="2400" dirty="0"/>
              </a:p>
            </p:txBody>
          </p:sp>
        </mc:Choice>
        <mc:Fallback>
          <p:sp>
            <p:nvSpPr>
              <p:cNvPr id="66562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456791"/>
                <a:ext cx="10497458" cy="4771481"/>
              </a:xfrm>
              <a:blipFill>
                <a:blip r:embed="rId3"/>
                <a:stretch>
                  <a:fillRect l="-580" t="-1533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8EF994C-A7F0-4ADB-B694-A0E4E1098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A6B015-14EA-419E-84A1-EA07DEB3B2A0}" type="slidenum">
              <a:rPr kumimoji="0" lang="en-GB" sz="12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GB" sz="12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748048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 dirty="0"/>
              <a:t>Pooling Equilibrium 2 (with </a:t>
            </a:r>
            <a:r>
              <a:rPr lang="en-US" altLang="en-US" dirty="0" err="1"/>
              <a:t>signalling</a:t>
            </a:r>
            <a:r>
              <a:rPr lang="en-US" altLang="en-US" dirty="0"/>
              <a:t>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6562" name="Rectangle 3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838199" y="1456791"/>
                <a:ext cx="10497458" cy="4771481"/>
              </a:xfrm>
            </p:spPr>
            <p:txBody>
              <a:bodyPr>
                <a:normAutofit/>
              </a:bodyPr>
              <a:lstStyle/>
              <a:p>
                <a:pPr marL="457200" indent="-457200" eaLnBrk="1" hangingPunct="1">
                  <a:buFont typeface="+mj-lt"/>
                  <a:buAutoNum type="arabicPeriod"/>
                </a:pPr>
                <a:r>
                  <a:rPr lang="en-US" altLang="en-US" sz="2000" b="1" dirty="0"/>
                  <a:t>Is </a:t>
                </a:r>
                <a:r>
                  <a:rPr lang="en-US" altLang="en-US" sz="2000" b="1" dirty="0">
                    <a:solidFill>
                      <a:srgbClr val="00B050"/>
                    </a:solidFill>
                  </a:rPr>
                  <a:t>(In, Certificate) </a:t>
                </a:r>
                <a:r>
                  <a:rPr lang="en-US" altLang="en-US" sz="2000" b="1" dirty="0">
                    <a:solidFill>
                      <a:schemeClr val="tx1"/>
                    </a:solidFill>
                  </a:rPr>
                  <a:t>also </a:t>
                </a:r>
                <a:r>
                  <a:rPr lang="en-US" altLang="en-US" sz="2000" b="1" dirty="0"/>
                  <a:t>the best choice for </a:t>
                </a:r>
                <a:r>
                  <a:rPr lang="en-US" altLang="en-US" sz="2000" b="1" u="sng" dirty="0"/>
                  <a:t>lemon sellers</a:t>
                </a:r>
                <a:r>
                  <a:rPr lang="en-US" altLang="en-US" sz="2000" b="1" dirty="0"/>
                  <a:t>?</a:t>
                </a:r>
              </a:p>
              <a:p>
                <a:pPr marL="0" indent="0" eaLnBrk="1" hangingPunct="1">
                  <a:buNone/>
                </a:pPr>
                <a:endParaRPr lang="en-US" altLang="en-US" sz="2000" b="1" dirty="0"/>
              </a:p>
              <a:p>
                <a:pPr marL="0" indent="0">
                  <a:buNone/>
                </a:pPr>
                <a:r>
                  <a:rPr lang="en-US" altLang="en-US" sz="2000" b="1" dirty="0">
                    <a:solidFill>
                      <a:schemeClr val="tx1"/>
                    </a:solidFill>
                  </a:rPr>
                  <a:t>If they choose: </a:t>
                </a:r>
              </a:p>
              <a:p>
                <a:r>
                  <a:rPr lang="en-US" altLang="en-US" sz="1800" b="1" dirty="0">
                    <a:solidFill>
                      <a:schemeClr val="tx1"/>
                    </a:solidFill>
                  </a:rPr>
                  <a:t>(In, Certificate): </a:t>
                </a:r>
                <a:r>
                  <a:rPr lang="en-US" altLang="en-US" sz="1800" dirty="0">
                    <a:solidFill>
                      <a:schemeClr val="tx1"/>
                    </a:solidFill>
                  </a:rPr>
                  <a:t>They sell their car for </a:t>
                </a:r>
                <a14:m>
                  <m:oMath xmlns:m="http://schemas.openxmlformats.org/officeDocument/2006/math">
                    <m:r>
                      <a:rPr lang="en-SG" alt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altLang="en-US" sz="1800" dirty="0">
                    <a:solidFill>
                      <a:schemeClr val="tx1"/>
                    </a:solidFill>
                  </a:rPr>
                  <a:t> but pay a cost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SG" alt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alt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SG" alt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</m:oMath>
                </a14:m>
                <a:r>
                  <a:rPr lang="en-US" altLang="en-US" sz="1800" dirty="0">
                    <a:solidFill>
                      <a:schemeClr val="tx1"/>
                    </a:solidFill>
                  </a:rPr>
                  <a:t> for certification, and earn </a:t>
                </a:r>
                <a14:m>
                  <m:oMath xmlns:m="http://schemas.openxmlformats.org/officeDocument/2006/math">
                    <m:r>
                      <a:rPr lang="en-SG" alt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SG" alt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SG" alt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alt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SG" alt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</m:oMath>
                </a14:m>
                <a:endParaRPr lang="en-US" altLang="en-US" sz="1800" b="1" dirty="0">
                  <a:solidFill>
                    <a:schemeClr val="tx1"/>
                  </a:solidFill>
                </a:endParaRPr>
              </a:p>
              <a:p>
                <a:r>
                  <a:rPr lang="en-US" altLang="en-US" sz="1800" b="1" dirty="0">
                    <a:solidFill>
                      <a:schemeClr val="tx1"/>
                    </a:solidFill>
                  </a:rPr>
                  <a:t>(In, No Certificate): </a:t>
                </a:r>
                <a:r>
                  <a:rPr lang="en-US" altLang="en-US" sz="1800" dirty="0">
                    <a:solidFill>
                      <a:schemeClr val="tx1"/>
                    </a:solidFill>
                  </a:rPr>
                  <a:t>They sell their car for </a:t>
                </a:r>
                <a14:m>
                  <m:oMath xmlns:m="http://schemas.openxmlformats.org/officeDocument/2006/math">
                    <m:r>
                      <a:rPr lang="en-SG" alt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altLang="en-US" sz="1800" dirty="0">
                    <a:solidFill>
                      <a:schemeClr val="tx1"/>
                    </a:solidFill>
                  </a:rPr>
                  <a:t> and do not pay for certification and earn </a:t>
                </a:r>
                <a14:m>
                  <m:oMath xmlns:m="http://schemas.openxmlformats.org/officeDocument/2006/math">
                    <m:r>
                      <a:rPr lang="en-SG" alt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US" altLang="en-US" sz="1800" dirty="0">
                  <a:solidFill>
                    <a:schemeClr val="tx1"/>
                  </a:solidFill>
                </a:endParaRPr>
              </a:p>
              <a:p>
                <a:r>
                  <a:rPr lang="en-US" altLang="en-US" sz="1800" b="1" dirty="0">
                    <a:solidFill>
                      <a:schemeClr val="tx1"/>
                    </a:solidFill>
                  </a:rPr>
                  <a:t>(Out, No Certificate): </a:t>
                </a:r>
                <a:r>
                  <a:rPr lang="en-US" altLang="en-US" sz="1800" dirty="0">
                    <a:solidFill>
                      <a:schemeClr val="tx1"/>
                    </a:solidFill>
                  </a:rPr>
                  <a:t>They get the value of their car: 1000 and do not pay for certification and earn </a:t>
                </a:r>
                <a14:m>
                  <m:oMath xmlns:m="http://schemas.openxmlformats.org/officeDocument/2006/math">
                    <m:r>
                      <a:rPr lang="en-SG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SG" alt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000</m:t>
                    </m:r>
                  </m:oMath>
                </a14:m>
                <a:endParaRPr lang="en-US" altLang="en-US" sz="1800" dirty="0">
                  <a:solidFill>
                    <a:schemeClr val="tx1"/>
                  </a:solidFill>
                </a:endParaRPr>
              </a:p>
              <a:p>
                <a:r>
                  <a:rPr lang="en-US" altLang="en-US" sz="1800" b="1" dirty="0">
                    <a:solidFill>
                      <a:schemeClr val="tx1"/>
                    </a:solidFill>
                  </a:rPr>
                  <a:t>(Out, Certificate): </a:t>
                </a:r>
                <a:r>
                  <a:rPr lang="en-US" altLang="en-US" sz="1800" dirty="0">
                    <a:solidFill>
                      <a:schemeClr val="tx1"/>
                    </a:solidFill>
                  </a:rPr>
                  <a:t>They get the value of their car: 1000 and pay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SG" alt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alt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SG" alt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</m:oMath>
                </a14:m>
                <a:r>
                  <a:rPr lang="en-US" altLang="en-US" sz="1800" dirty="0">
                    <a:solidFill>
                      <a:schemeClr val="tx1"/>
                    </a:solidFill>
                  </a:rPr>
                  <a:t> for certification and earn </a:t>
                </a:r>
                <a14:m>
                  <m:oMath xmlns:m="http://schemas.openxmlformats.org/officeDocument/2006/math">
                    <m:r>
                      <a:rPr lang="en-SG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SG" alt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000−</m:t>
                    </m:r>
                    <m:sSub>
                      <m:sSubPr>
                        <m:ctrlPr>
                          <a:rPr lang="en-SG" alt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alt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SG" alt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</m:oMath>
                </a14:m>
                <a:r>
                  <a:rPr lang="en-US" altLang="en-US" sz="1800" dirty="0">
                    <a:solidFill>
                      <a:schemeClr val="tx1"/>
                    </a:solidFill>
                  </a:rPr>
                  <a:t>.</a:t>
                </a:r>
              </a:p>
              <a:p>
                <a:pPr lvl="1"/>
                <a:endParaRPr lang="en-US" altLang="en-US" sz="1600" dirty="0"/>
              </a:p>
              <a:p>
                <a:pPr marL="0" indent="0">
                  <a:buNone/>
                </a:pPr>
                <a:r>
                  <a:rPr lang="en-US" altLang="en-US" sz="2000" dirty="0"/>
                  <a:t>For </a:t>
                </a:r>
                <a:r>
                  <a:rPr lang="en-US" altLang="en-US" sz="2000" b="1" dirty="0">
                    <a:solidFill>
                      <a:schemeClr val="tx1"/>
                    </a:solidFill>
                  </a:rPr>
                  <a:t>(In</a:t>
                </a:r>
                <a:r>
                  <a:rPr lang="en-US" altLang="en-US" sz="2000" b="1">
                    <a:solidFill>
                      <a:schemeClr val="tx1"/>
                    </a:solidFill>
                  </a:rPr>
                  <a:t>, Certificate</a:t>
                </a:r>
                <a:r>
                  <a:rPr lang="en-US" altLang="en-US" sz="2000" b="1" dirty="0">
                    <a:solidFill>
                      <a:schemeClr val="tx1"/>
                    </a:solidFill>
                  </a:rPr>
                  <a:t>) </a:t>
                </a:r>
                <a:r>
                  <a:rPr lang="en-US" altLang="en-US" sz="2000" dirty="0">
                    <a:solidFill>
                      <a:schemeClr val="tx1"/>
                    </a:solidFill>
                  </a:rPr>
                  <a:t>to be the best choice for lemons, we need:</a:t>
                </a:r>
              </a:p>
              <a:p>
                <a14:m>
                  <m:oMath xmlns:m="http://schemas.openxmlformats.org/officeDocument/2006/math">
                    <m:r>
                      <a:rPr lang="en-SG" alt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SG" alt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SG" alt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alt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SG" alt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  <m:r>
                      <a:rPr lang="en-SG" alt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SG" alt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SG" altLang="en-US" sz="18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SG" alt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SG" altLang="en-US" sz="18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&gt;1000   (&gt;1000−</m:t>
                    </m:r>
                    <m:sSub>
                      <m:sSubPr>
                        <m:ctrlPr>
                          <a:rPr lang="en-SG" alt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alt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SG" alt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  <m:r>
                      <a:rPr lang="en-SG" alt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en-US" sz="1800" i="1" dirty="0"/>
              </a:p>
              <a:p>
                <a:pPr eaLnBrk="1" hangingPunct="1"/>
                <a:endParaRPr lang="en-SG" altLang="en-US" sz="2200" dirty="0"/>
              </a:p>
              <a:p>
                <a:pPr eaLnBrk="1" hangingPunct="1"/>
                <a:endParaRPr lang="en-US" altLang="en-US" sz="2200" dirty="0"/>
              </a:p>
              <a:p>
                <a:pPr eaLnBrk="1" hangingPunct="1"/>
                <a:endParaRPr lang="en-US" altLang="en-US" sz="2200" dirty="0"/>
              </a:p>
              <a:p>
                <a:pPr eaLnBrk="1" hangingPunct="1"/>
                <a:endParaRPr lang="en-US" altLang="en-US" sz="2200" dirty="0"/>
              </a:p>
              <a:p>
                <a:pPr eaLnBrk="1" hangingPunct="1"/>
                <a:endParaRPr lang="en-US" altLang="en-US" sz="2200" dirty="0"/>
              </a:p>
              <a:p>
                <a:pPr eaLnBrk="1" hangingPunct="1"/>
                <a:endParaRPr lang="en-US" altLang="ja-JP" sz="2000" dirty="0"/>
              </a:p>
              <a:p>
                <a:endParaRPr lang="en-US" altLang="ja-JP" sz="2400" dirty="0"/>
              </a:p>
              <a:p>
                <a:pPr eaLnBrk="1" hangingPunct="1"/>
                <a:endParaRPr lang="en-US" altLang="ja-JP" sz="2400" dirty="0"/>
              </a:p>
              <a:p>
                <a:pPr eaLnBrk="1" hangingPunct="1"/>
                <a:endParaRPr lang="en-US" altLang="ja-JP" sz="2400" dirty="0"/>
              </a:p>
              <a:p>
                <a:pPr eaLnBrk="1" hangingPunct="1"/>
                <a:endParaRPr lang="en-US" altLang="en-US" sz="2400" dirty="0"/>
              </a:p>
              <a:p>
                <a:pPr eaLnBrk="1" hangingPunct="1"/>
                <a:endParaRPr lang="en-US" altLang="en-US" sz="2400" dirty="0"/>
              </a:p>
            </p:txBody>
          </p:sp>
        </mc:Choice>
        <mc:Fallback>
          <p:sp>
            <p:nvSpPr>
              <p:cNvPr id="66562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456791"/>
                <a:ext cx="10497458" cy="4771481"/>
              </a:xfrm>
              <a:blipFill>
                <a:blip r:embed="rId3"/>
                <a:stretch>
                  <a:fillRect l="-580" t="-1533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8EF994C-A7F0-4ADB-B694-A0E4E1098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A6B015-14EA-419E-84A1-EA07DEB3B2A0}" type="slidenum">
              <a:rPr kumimoji="0" lang="en-GB" sz="12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GB" sz="12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874302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 dirty="0"/>
              <a:t>Pooling Equilibrium 2 (with </a:t>
            </a:r>
            <a:r>
              <a:rPr lang="en-US" altLang="en-US" dirty="0" err="1"/>
              <a:t>signalling</a:t>
            </a:r>
            <a:r>
              <a:rPr lang="en-US" altLang="en-US" dirty="0"/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6562" name="Rectangle 3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838199" y="1456791"/>
                <a:ext cx="10497458" cy="4771481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altLang="en-US" sz="2000" dirty="0"/>
                  <a:t>Combining all the conditions, we have:</a:t>
                </a:r>
              </a:p>
              <a:p>
                <a:pPr marL="457200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SG" alt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SG" alt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SG" alt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alt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SG" alt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SG" alt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SG" alt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SG" altLang="en-US" sz="2000" b="0" i="1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SG" alt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SG" alt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SG" alt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SG" alt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alt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SG" alt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  <m:r>
                      <a:rPr lang="en-SG" alt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SG" alt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SG" altLang="en-US" sz="2000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marL="457200" indent="-457200" eaLnBrk="1" hangingPunct="1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SG" alt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SG" alt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SG" alt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alt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SG" alt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SG" alt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&gt;2000</m:t>
                    </m:r>
                  </m:oMath>
                </a14:m>
                <a:r>
                  <a:rPr lang="en-SG" altLang="en-US" sz="2000" dirty="0"/>
                  <a:t>, </a:t>
                </a:r>
                <a14:m>
                  <m:oMath xmlns:m="http://schemas.openxmlformats.org/officeDocument/2006/math">
                    <m:r>
                      <a:rPr lang="en-SG" altLang="en-US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SG" altLang="en-US" sz="2000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SG" alt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altLang="en-US" sz="20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SG" altLang="en-US" sz="2000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  <m:r>
                      <a:rPr lang="en-SG" altLang="en-US" sz="2000" b="0" i="1" smtClean="0">
                        <a:latin typeface="Cambria Math" panose="02040503050406030204" pitchFamily="18" charset="0"/>
                      </a:rPr>
                      <m:t>&gt;1000</m:t>
                    </m:r>
                  </m:oMath>
                </a14:m>
                <a:endParaRPr lang="en-SG" altLang="en-US" sz="2000" dirty="0"/>
              </a:p>
              <a:p>
                <a:pPr marL="457200" indent="-457200" eaLnBrk="1" hangingPunct="1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SG" altLang="en-US" sz="20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SG" altLang="en-US" sz="2000" b="0" i="1" smtClean="0">
                        <a:latin typeface="Cambria Math" panose="02040503050406030204" pitchFamily="18" charset="0"/>
                      </a:rPr>
                      <m:t>≤1200</m:t>
                    </m:r>
                  </m:oMath>
                </a14:m>
                <a:r>
                  <a:rPr lang="en-SG" altLang="en-US" sz="2000" dirty="0"/>
                  <a:t>, </a:t>
                </a:r>
                <a14:m>
                  <m:oMath xmlns:m="http://schemas.openxmlformats.org/officeDocument/2006/math">
                    <m:r>
                      <a:rPr lang="en-SG" altLang="en-US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SG" altLang="en-US" sz="2000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SG" altLang="en-US" sz="2000" b="0" i="1" smtClean="0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en-SG" altLang="en-US" sz="2000" dirty="0"/>
                  <a:t> </a:t>
                </a:r>
                <a:br>
                  <a:rPr lang="en-SG" altLang="en-US" sz="2000" dirty="0"/>
                </a:br>
                <a:endParaRPr lang="en-SG" altLang="en-US" sz="2000" dirty="0"/>
              </a:p>
              <a:p>
                <a:pPr eaLnBrk="1" hangingPunct="1"/>
                <a:r>
                  <a:rPr lang="en-SG" altLang="en-US" sz="2000" dirty="0">
                    <a:solidFill>
                      <a:schemeClr val="tx1"/>
                    </a:solidFill>
                  </a:rPr>
                  <a:t>Condition 1 implies that both peaches and lemons do better to certify than not certifying.</a:t>
                </a:r>
              </a:p>
              <a:p>
                <a:pPr eaLnBrk="1" hangingPunct="1"/>
                <a:r>
                  <a:rPr lang="en-SG" altLang="en-US" sz="2000" dirty="0">
                    <a:solidFill>
                      <a:schemeClr val="tx1"/>
                    </a:solidFill>
                  </a:rPr>
                  <a:t>Condition 2 implies that both peaches and lemons have positive surplus.</a:t>
                </a:r>
              </a:p>
              <a:p>
                <a:pPr eaLnBrk="1" hangingPunct="1"/>
                <a:r>
                  <a:rPr lang="en-SG" altLang="en-US" sz="2000" dirty="0">
                    <a:solidFill>
                      <a:schemeClr val="tx1"/>
                    </a:solidFill>
                  </a:rPr>
                  <a:t>Condition 3 implies that buyers have positive surplus. </a:t>
                </a:r>
                <a:br>
                  <a:rPr lang="en-SG" altLang="en-US" sz="2000" dirty="0">
                    <a:solidFill>
                      <a:schemeClr val="tx1"/>
                    </a:solidFill>
                  </a:rPr>
                </a:br>
                <a:endParaRPr lang="en-SG" altLang="en-US" sz="2000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r>
                  <a:rPr lang="en-US" altLang="en-US" sz="2000" b="1" dirty="0"/>
                  <a:t>If all these conditions are satisfied, then there is an equilibrium where </a:t>
                </a:r>
                <a:r>
                  <a:rPr lang="en-US" altLang="en-US" sz="2000" b="1" u="sng" dirty="0"/>
                  <a:t>everybody</a:t>
                </a:r>
                <a:r>
                  <a:rPr lang="en-US" altLang="en-US" sz="2000" b="1" dirty="0"/>
                  <a:t> certifies and is in the market! </a:t>
                </a:r>
                <a:r>
                  <a:rPr lang="en-US" altLang="en-US" sz="2000" dirty="0">
                    <a:solidFill>
                      <a:srgbClr val="FF0000"/>
                    </a:solidFill>
                  </a:rPr>
                  <a:t>This pooling equilibrium is </a:t>
                </a:r>
                <a:r>
                  <a:rPr lang="en-US" altLang="en-US" sz="2000" u="sng" dirty="0">
                    <a:solidFill>
                      <a:srgbClr val="FF0000"/>
                    </a:solidFill>
                  </a:rPr>
                  <a:t>inefficient</a:t>
                </a:r>
                <a:r>
                  <a:rPr lang="en-US" altLang="en-US" sz="2000" dirty="0">
                    <a:solidFill>
                      <a:srgbClr val="FF0000"/>
                    </a:solidFill>
                  </a:rPr>
                  <a:t> compared to the previous one as money spent purely to signal without changing the market outcome.</a:t>
                </a:r>
              </a:p>
              <a:p>
                <a:pPr marL="0" indent="0" eaLnBrk="1" hangingPunct="1">
                  <a:buNone/>
                </a:pPr>
                <a:endParaRPr lang="en-US" altLang="en-US" sz="2000" b="1" dirty="0"/>
              </a:p>
              <a:p>
                <a:pPr marL="0" indent="0" eaLnBrk="1" hangingPunct="1">
                  <a:buNone/>
                </a:pPr>
                <a:endParaRPr lang="en-US" altLang="en-US" sz="2000" b="1" dirty="0"/>
              </a:p>
              <a:p>
                <a:pPr eaLnBrk="1" hangingPunct="1"/>
                <a:endParaRPr lang="en-US" altLang="ja-JP" sz="1800" dirty="0"/>
              </a:p>
              <a:p>
                <a:endParaRPr lang="en-US" altLang="ja-JP" sz="2000" dirty="0"/>
              </a:p>
              <a:p>
                <a:pPr eaLnBrk="1" hangingPunct="1"/>
                <a:endParaRPr lang="en-US" altLang="ja-JP" sz="2000" dirty="0"/>
              </a:p>
              <a:p>
                <a:pPr eaLnBrk="1" hangingPunct="1"/>
                <a:endParaRPr lang="en-US" altLang="ja-JP" sz="2000" dirty="0"/>
              </a:p>
              <a:p>
                <a:pPr eaLnBrk="1" hangingPunct="1"/>
                <a:endParaRPr lang="en-US" altLang="en-US" sz="2000" dirty="0"/>
              </a:p>
              <a:p>
                <a:pPr eaLnBrk="1" hangingPunct="1"/>
                <a:endParaRPr lang="en-US" altLang="en-US" sz="2000" dirty="0"/>
              </a:p>
            </p:txBody>
          </p:sp>
        </mc:Choice>
        <mc:Fallback xmlns="">
          <p:sp>
            <p:nvSpPr>
              <p:cNvPr id="66562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456791"/>
                <a:ext cx="10497458" cy="4771481"/>
              </a:xfrm>
              <a:blipFill>
                <a:blip r:embed="rId3"/>
                <a:stretch>
                  <a:fillRect l="-580" t="-1405" r="-116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8EF994C-A7F0-4ADB-B694-A0E4E1098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A6B015-14EA-419E-84A1-EA07DEB3B2A0}" type="slidenum">
              <a:rPr kumimoji="0" lang="en-GB" sz="12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GB" sz="12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C29254D-3871-D0F8-D202-E7A7EABFE19D}"/>
              </a:ext>
            </a:extLst>
          </p:cNvPr>
          <p:cNvSpPr txBox="1"/>
          <p:nvPr/>
        </p:nvSpPr>
        <p:spPr>
          <a:xfrm>
            <a:off x="5281360" y="2211168"/>
            <a:ext cx="58677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en-US" sz="1800" b="1" i="1" dirty="0">
                <a:solidFill>
                  <a:srgbClr val="00B0F0"/>
                </a:solidFill>
              </a:rPr>
              <a:t>(Can be satisfied when certification costs are not too high)</a:t>
            </a:r>
            <a:endParaRPr lang="en-SG" dirty="0">
              <a:solidFill>
                <a:srgbClr val="00B0F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3FB8CAB-15B1-AA31-F888-999DEF66784C}"/>
              </a:ext>
            </a:extLst>
          </p:cNvPr>
          <p:cNvSpPr txBox="1"/>
          <p:nvPr/>
        </p:nvSpPr>
        <p:spPr>
          <a:xfrm>
            <a:off x="4362736" y="5798145"/>
            <a:ext cx="66929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1800" b="1" dirty="0">
                <a:solidFill>
                  <a:srgbClr val="00B0F0"/>
                </a:solidFill>
              </a:rPr>
              <a:t>When information is not important for market efficiency, </a:t>
            </a:r>
            <a:r>
              <a:rPr lang="en-US" altLang="en-US" sz="1800" b="1" dirty="0" err="1">
                <a:solidFill>
                  <a:srgbClr val="00B0F0"/>
                </a:solidFill>
              </a:rPr>
              <a:t>signalling</a:t>
            </a:r>
            <a:r>
              <a:rPr lang="en-US" altLang="en-US" sz="1800" b="1" dirty="0">
                <a:solidFill>
                  <a:srgbClr val="00B0F0"/>
                </a:solidFill>
              </a:rPr>
              <a:t> might not always beneficial as it might lead to a rat race…</a:t>
            </a:r>
          </a:p>
          <a:p>
            <a:endParaRPr lang="en-SG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14B6A034-9F37-F7E7-91AD-F6E4D57E9F4A}"/>
              </a:ext>
            </a:extLst>
          </p:cNvPr>
          <p:cNvCxnSpPr>
            <a:cxnSpLocks/>
          </p:cNvCxnSpPr>
          <p:nvPr/>
        </p:nvCxnSpPr>
        <p:spPr>
          <a:xfrm flipH="1" flipV="1">
            <a:off x="7327735" y="5456120"/>
            <a:ext cx="1245766" cy="382072"/>
          </a:xfrm>
          <a:prstGeom prst="straightConnector1">
            <a:avLst/>
          </a:prstGeom>
          <a:ln w="190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828953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B8B1542-A55B-6AA3-A0F9-4A27B4E76824}"/>
              </a:ext>
            </a:extLst>
          </p:cNvPr>
          <p:cNvSpPr/>
          <p:nvPr/>
        </p:nvSpPr>
        <p:spPr>
          <a:xfrm>
            <a:off x="719960" y="3223846"/>
            <a:ext cx="10681741" cy="252046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8593A39-006B-274B-72A3-292965CEAB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 </a:t>
            </a:r>
            <a:r>
              <a:rPr lang="en-US"/>
              <a:t>steps for </a:t>
            </a:r>
            <a:r>
              <a:rPr lang="en-US" dirty="0" err="1"/>
              <a:t>Signalling</a:t>
            </a:r>
            <a:r>
              <a:rPr lang="en-US" dirty="0"/>
              <a:t> Equilibria</a:t>
            </a: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B06FDF-EDF1-FB72-C093-407E54B7E20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000" dirty="0"/>
                  <a:t>Suppose there are two types of first movers: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000" dirty="0"/>
                  <a:t> and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In a scenario where second mover has incomplete information about the first mover and we are checking whether there is an equilibrium where first movers do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sz="2000" dirty="0"/>
                  <a:t>Consider the strategies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2000" dirty="0"/>
                  <a:t>.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SG" sz="2000" dirty="0"/>
                  <a:t>Assume that the second mover has </a:t>
                </a:r>
                <a:r>
                  <a:rPr lang="en-SG" sz="2000" b="1" dirty="0"/>
                  <a:t>correct beliefs </a:t>
                </a:r>
                <a:r>
                  <a:rPr lang="en-SG" sz="2000" dirty="0"/>
                  <a:t>about what each type will do. </a:t>
                </a:r>
              </a:p>
              <a:p>
                <a:pPr lvl="1"/>
                <a:r>
                  <a:rPr lang="en-SG" sz="1800" dirty="0"/>
                  <a:t>If there is no “correct belief”, any belief can be specified.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SG" sz="2000" dirty="0"/>
                  <a:t>Get the second mover’s best responses.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SG" sz="2000" dirty="0"/>
                  <a:t>Given the second mover’s best response, check whether it is possible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SG" sz="20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SG" sz="2000" dirty="0"/>
                  <a:t> to be best responses for the first mover types.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B06FDF-EDF1-FB72-C093-407E54B7E20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38" t="-1401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53CA6F-676E-7077-5DE7-077748F04D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A6B015-14EA-419E-84A1-EA07DEB3B2A0}" type="slidenum">
              <a:rPr kumimoji="0" lang="en-GB" sz="12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GB" sz="12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02253194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</TotalTime>
  <Words>2377</Words>
  <Application>Microsoft Office PowerPoint</Application>
  <PresentationFormat>Widescreen</PresentationFormat>
  <Paragraphs>301</Paragraphs>
  <Slides>16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Aptos</vt:lpstr>
      <vt:lpstr>Arial</vt:lpstr>
      <vt:lpstr>Calibri</vt:lpstr>
      <vt:lpstr>Calibri Light</vt:lpstr>
      <vt:lpstr>Cambria Math</vt:lpstr>
      <vt:lpstr>1_Office Theme</vt:lpstr>
      <vt:lpstr>Lemons Market Signalling </vt:lpstr>
      <vt:lpstr>Separating Equilibrium (with signalling)</vt:lpstr>
      <vt:lpstr>Separating Equilibrium (Peaches choices)</vt:lpstr>
      <vt:lpstr>Separating Equilibrium (Lemons’ choices)</vt:lpstr>
      <vt:lpstr>Separating Equilibrium (with signalling)</vt:lpstr>
      <vt:lpstr>Aside: Beliefs on the equilibrium path.</vt:lpstr>
      <vt:lpstr>Pooling Equilibrium 1 (with signalling)</vt:lpstr>
      <vt:lpstr>Pooling Equilibrium 1 (Peaches Choices)</vt:lpstr>
      <vt:lpstr>Pooling Equilibrium 1 (Lemons’ Choices)</vt:lpstr>
      <vt:lpstr>Pooling Equilibrium 1 (with signalling)</vt:lpstr>
      <vt:lpstr>Aside: Beliefs on/off the equilibrium path.</vt:lpstr>
      <vt:lpstr>Pooling Equilibrium 2 (with signalling)</vt:lpstr>
      <vt:lpstr>Pooling Equilibrium 2 (with signalling)</vt:lpstr>
      <vt:lpstr>Pooling Equilibrium 2 (with signalling)</vt:lpstr>
      <vt:lpstr>Pooling Equilibrium 2 (with signalling)</vt:lpstr>
      <vt:lpstr>General steps for Signalling Equilibria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Jonathan Yeo</dc:creator>
  <cp:lastModifiedBy>Jonathan Yeo</cp:lastModifiedBy>
  <cp:revision>107</cp:revision>
  <dcterms:created xsi:type="dcterms:W3CDTF">2024-09-06T04:33:50Z</dcterms:created>
  <dcterms:modified xsi:type="dcterms:W3CDTF">2024-09-10T03:37:08Z</dcterms:modified>
</cp:coreProperties>
</file>