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4" r:id="rId5"/>
    <p:sldId id="260" r:id="rId6"/>
    <p:sldId id="257" r:id="rId7"/>
    <p:sldId id="262" r:id="rId8"/>
    <p:sldId id="266" r:id="rId9"/>
    <p:sldId id="263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293" y="62"/>
      </p:cViewPr>
      <p:guideLst>
        <p:guide orient="horz" pos="2160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1B1B-3BB8-C9F0-626E-92A8A50FE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91E89-4E49-7630-5346-A23C98C84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7EC6B-90D7-BA3B-DDEB-EBAFF4F5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33D56-AB04-A9BC-F70F-2DE66C99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1E1E1-1F83-2127-EDE0-669410F4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775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6B9E-2EB2-55F3-482D-B1BE7134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9D3B7-7468-9CFB-5FD9-D399B390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A411-31BA-CD60-7F15-F9AA2EAB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9458-45CC-EE7E-7771-CE1E76DF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391E-0990-C6C5-9502-6F0126D8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115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FCBC-FF21-C15C-0CDE-B377833C4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A958-19F2-3396-8D8C-E549FC66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9F4D-2951-9D62-B51C-1FF0672E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B57FD-70FA-CF1F-2848-DAF45D1F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AFE65-F85F-6870-5B17-85D81306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983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C7A5-34F4-FAD5-82F4-37762351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7DEB-8132-73AE-84AD-6DF374DFA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A5A3F-ACD4-F87E-8D3D-48D1B18F4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AFDBD-DFFB-6A66-0CAC-85A07242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A1254-19F9-8112-37FF-D6EB2D49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E5027-AFF6-CB5B-2AB9-2D9A5E7A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29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CF20-EF89-9BED-7F60-AC531557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3AA56-D9C4-814E-FE74-3D9349873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768D5-FEF8-D35D-A0B1-9790BFBC1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8B619-0DFA-A008-FC07-8394CDAAB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E88D3-2C97-2FFA-B212-44F568929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48B74-ACE3-25F3-AD8A-5BBA3B93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98B77-4A14-FA43-5F47-3A19FE10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F28B8-7AB3-6FD6-D054-0B59EE50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167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74F1-3FE2-1B26-630A-45020460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64673-006D-F40B-E051-E44F784F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C2CF4-C3C4-ADF1-9DF2-C90DCFB9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9F8B2-BBF7-25EE-04E0-3BA2201B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120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A7554-0FD8-7F0F-6BFE-B2C2B7CC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3F545-A4C5-57CE-D633-5D3BA1D5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B8254-74C4-CE19-209C-9DBEDFF8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291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B626-0C2D-18BA-F213-FE26951C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26FD-BECD-81D3-98E0-448055EB6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07ADF-4E0A-57D6-2ED3-AE9AA4116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CF8CC-39E9-A4E3-5D73-40F71DDB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F7164-4008-F764-A879-B5D06288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33D90-A5A6-5D25-D158-AA9731C7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1182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43EE-46A8-195B-57A9-B57838A3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FE4E0-E49F-3F28-22E8-918E24B7C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BF36B-E16F-3042-B0EB-741627D4B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B74D4-1A40-ADB7-068E-FA3960AA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68F7F-324D-D67C-86AF-03A0027F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7A92A-F85E-9CCE-A051-51D9A014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98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ADC5-3203-9B3F-5D8A-31E26A49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C3B50-DC2B-EBB5-6971-A0859C392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78712-EFA9-9B38-5DF8-2F41F7E6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F7270-8225-D469-3D4C-4FCB85E4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918CA-5905-CC2E-2A77-E481B471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38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FD9D6-EE03-E433-7AD7-5BD141E24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0B23F-2030-C602-CB72-7DBDDB93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F808-85B2-D7A7-E6ED-86E37F5FD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B504A-5372-8EDC-31CA-1EA5190C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44F74-7A2D-0D56-D873-4C1852A5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317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5200EF-04D3-F715-F0D2-5EBF0B24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E9832-1635-540E-A06A-9F690FB82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44F1C-5B3B-8485-FD30-6BA18E6DF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66B65-D93A-4A9E-8ADC-C784EA98D5AE}" type="datetimeFigureOut">
              <a:rPr lang="en-SG" smtClean="0"/>
              <a:t>11/9/2024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66C16-FC26-0CA4-BFBF-2F7AEE1EF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5D555-E6FE-EF6D-E519-B68AF6156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DBD09-D778-4467-88FF-C59844F1EE1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314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1C6C-C56F-9376-6203-F22D629B66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HE3002</a:t>
            </a:r>
            <a:br>
              <a:rPr lang="en-SG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SG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Macroeconomics 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42C35-BD8F-6F66-2320-59C3DE7A4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Sem 1 – AY 24/25</a:t>
            </a:r>
          </a:p>
          <a:p>
            <a:r>
              <a:rPr lang="en-SG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Quiz 1</a:t>
            </a:r>
          </a:p>
          <a:p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685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5732-7B24-450E-53F2-2A857336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Q6V1 – Q13V2 – Q6V3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31D6DF-6D0A-7503-4B4E-32B8C9638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 there is a real depreciation of the dollar. Which of the following may have occurred?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foreign currency has become more expensive in dollars.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foreign goods have become more expensive to Americans.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the foreign price level has increased relative to the U.S. price level.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all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none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Real exchange rate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measures the relative price of domestic goods relative to foreign goods. Real depreciation means domestic goods become cheaper compared to foreign goods. </a:t>
                </a:r>
              </a:p>
              <a:p>
                <a:pPr marL="0" indent="0" algn="just"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𝜀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𝐸𝑃</m:t>
                          </m:r>
                        </m:num>
                        <m:den>
                          <m:sSup>
                            <m:sSupPr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 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𝜀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𝑑𝑢𝑒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𝑡𝑜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d>
                        <m:dPr>
                          <m:begChr m:val="{"/>
                          <m:endChr m:val=""/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𝐸</m:t>
                              </m:r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↓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SG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SG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↑</m:t>
                              </m:r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𝑚𝑜𝑟𝑒</m:t>
                              </m:r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𝑡h𝑎𝑛</m:t>
                              </m:r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31D6DF-6D0A-7503-4B4E-32B8C9638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65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29C7-45E3-FF3A-E2E6-FE567B5A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Q10V1 – Q2V2 – Q9V3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8D2D-DF36-C78E-91C3-EE280BC63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that the interest rate in a foreign country is 7% and that the foreign currency is expected to depreciate by 3% during the year. For each dollar that a U.S. resident invests in foreign bonds, he/she can expect to get back an approximate total of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$.93.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$.96.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$1.04.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$1.07.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$1.10.</a:t>
                </a:r>
              </a:p>
              <a:p>
                <a:pPr marL="0" indent="0">
                  <a:buNone/>
                </a:pPr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Foreign currency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↓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implies domestic currency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$</m:t>
                        </m:r>
                      </m:e>
                    </m:d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Return from investing in foreign bonds: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≈</m:t>
                      </m:r>
                      <m:sSubSup>
                        <m:sSub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bSup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𝐸𝑥𝑝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𝐴𝑝𝑝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𝑜𝑓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$</m:t>
                          </m:r>
                        </m:e>
                      </m:d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=7%−3%=4%</m:t>
                      </m:r>
                    </m:oMath>
                  </m:oMathPara>
                </a14:m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8D2D-DF36-C78E-91C3-EE280BC63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4597611-7E5F-BABE-6E87-C0F037543779}"/>
              </a:ext>
            </a:extLst>
          </p:cNvPr>
          <p:cNvGrpSpPr/>
          <p:nvPr/>
        </p:nvGrpSpPr>
        <p:grpSpPr>
          <a:xfrm>
            <a:off x="7196168" y="3864871"/>
            <a:ext cx="3483046" cy="2312092"/>
            <a:chOff x="7061995" y="2863805"/>
            <a:chExt cx="3483046" cy="2312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3D11C4-1B74-62FA-FD50-2904EBF79C5B}"/>
                    </a:ext>
                  </a:extLst>
                </p:cNvPr>
                <p:cNvSpPr txBox="1"/>
                <p:nvPr/>
              </p:nvSpPr>
              <p:spPr>
                <a:xfrm>
                  <a:off x="7294111" y="342900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$1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3D11C4-1B74-62FA-FD50-2904EBF79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111" y="3429000"/>
                  <a:ext cx="47641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C69D0C9-FED5-FE12-1D04-3FB02F8B0B00}"/>
                    </a:ext>
                  </a:extLst>
                </p:cNvPr>
                <p:cNvSpPr txBox="1"/>
                <p:nvPr/>
              </p:nvSpPr>
              <p:spPr>
                <a:xfrm>
                  <a:off x="7238999" y="4806565"/>
                  <a:ext cx="5866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₤</m:t>
                        </m:r>
                        <m:sSub>
                          <m:sSubPr>
                            <m:ctrlPr>
                              <a:rPr lang="en-SG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SG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SG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SG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C69D0C9-FED5-FE12-1D04-3FB02F8B0B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8999" y="4806565"/>
                  <a:ext cx="58663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228D37F-0439-A618-461E-A0F5E471625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523" y="4991231"/>
              <a:ext cx="115000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39F9BB8-FF30-7C9B-0948-F800F8942E7D}"/>
                    </a:ext>
                  </a:extLst>
                </p:cNvPr>
                <p:cNvSpPr txBox="1"/>
                <p:nvPr/>
              </p:nvSpPr>
              <p:spPr>
                <a:xfrm>
                  <a:off x="8920527" y="4806565"/>
                  <a:ext cx="13383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₤</m:t>
                        </m:r>
                        <m:sSub>
                          <m:sSubPr>
                            <m:ctrlPr>
                              <a:rPr lang="en-SG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SG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SG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SG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SG" b="0" i="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1+</m:t>
                            </m:r>
                            <m:sSubSup>
                              <m:sSubSupPr>
                                <m:ctrlP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SG" b="0" i="0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SG" b="0" i="0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a:rPr lang="en-SG" b="0" i="0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SG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39F9BB8-FF30-7C9B-0948-F800F8942E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0527" y="4806565"/>
                  <a:ext cx="133838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D4FE883-AA4E-DCA8-BA41-B1F57A0203F8}"/>
                    </a:ext>
                  </a:extLst>
                </p:cNvPr>
                <p:cNvSpPr txBox="1"/>
                <p:nvPr/>
              </p:nvSpPr>
              <p:spPr>
                <a:xfrm>
                  <a:off x="8923251" y="3278606"/>
                  <a:ext cx="1621790" cy="6701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$</m:t>
                        </m:r>
                        <m:f>
                          <m:fPr>
                            <m:ctrlPr>
                              <a:rPr lang="en-SG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SG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SG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SG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𝑒</m:t>
                                </m:r>
                              </m:sup>
                            </m:sSubSup>
                          </m:den>
                        </m:f>
                        <m:d>
                          <m:dPr>
                            <m:ctrlPr>
                              <a:rPr lang="en-SG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SG" b="0" i="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1+</m:t>
                            </m:r>
                            <m:sSubSup>
                              <m:sSubSupPr>
                                <m:ctrlPr>
                                  <a:rPr lang="en-SG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SG" b="0" i="0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SG" b="0" i="0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a:rPr lang="en-SG" b="0" i="0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SG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D4FE883-AA4E-DCA8-BA41-B1F57A020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3251" y="3278606"/>
                  <a:ext cx="1621790" cy="6701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C90FA9E-739B-E23C-D830-3E7176F67D76}"/>
                </a:ext>
              </a:extLst>
            </p:cNvPr>
            <p:cNvCxnSpPr>
              <a:cxnSpLocks/>
            </p:cNvCxnSpPr>
            <p:nvPr/>
          </p:nvCxnSpPr>
          <p:spPr>
            <a:xfrm>
              <a:off x="7532317" y="3798332"/>
              <a:ext cx="0" cy="9942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F0D74FA-D948-260C-5177-7CFE99CA7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717" y="4015254"/>
              <a:ext cx="0" cy="7913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0BD46FD-E139-0115-5663-73FF60215AF4}"/>
                </a:ext>
              </a:extLst>
            </p:cNvPr>
            <p:cNvSpPr txBox="1"/>
            <p:nvPr/>
          </p:nvSpPr>
          <p:spPr>
            <a:xfrm>
              <a:off x="7061995" y="2863805"/>
              <a:ext cx="940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Period 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F44415-F9AF-7571-3A48-11ED6D0F6803}"/>
                </a:ext>
              </a:extLst>
            </p:cNvPr>
            <p:cNvSpPr txBox="1"/>
            <p:nvPr/>
          </p:nvSpPr>
          <p:spPr>
            <a:xfrm>
              <a:off x="9013180" y="2863805"/>
              <a:ext cx="1153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Period t+1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225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B9B8-45CF-0EE1-73C3-F683520F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Q12V1 – Q4V2 – Q12V3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6E5A24-7A87-5C0D-410C-582048B1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 the U.S. one-year interest rate is 3% per year, while a foreign country has a one-year interest rate of 5% per year. Ignoring risk and transaction costs, a U.S. investor should invest in foreign bonds as long as the expected yearly rate of depreciation of the foreign currency is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less than 5%.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greater than 5%.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greater than 2%.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less than 2%.</a:t>
                </a: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less than 1%.</a:t>
                </a: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Investor should invest in foreign bonds if foreign bonds offer higher return than domestic bonds: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bSup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𝐸𝑥𝑝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𝐴𝑝𝑝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&gt;</m:t>
                      </m:r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𝐸𝑥𝑝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𝐴𝑝𝑝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&lt;</m:t>
                      </m:r>
                      <m:sSubSup>
                        <m:sSub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bSup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=5%−3%=2%</m:t>
                      </m:r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Domestic currency appreciation, which is equivalent to foreign currency depreciation should be smaller than 2%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6E5A24-7A87-5C0D-410C-582048B1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90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78FC-1E15-6C50-6371-DFBAC066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Q13V1 – Q5V2 – Q13V3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C0931D-48F7-7043-9C69-2E32FF945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nominal exchange rate (E) as defined in the text represents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the number of units of foreign currency you can obtain with one unit of domestic currency.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the number of units of domestic goods you can obtain with one unit of foreign goods.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the price of domestic currency in terms of foreign currency.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none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the number of units of foreign currency you can obtain with one unit of domestic currency and the price of domestic currency in terms of foreign currency.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US is the domestic country, and UK is the foreign country, then </a:t>
                </a:r>
                <a14:m>
                  <m:oMath xmlns:m="http://schemas.openxmlformats.org/officeDocument/2006/math">
                    <m:r>
                      <a:rPr lang="en-SG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$1=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₤</m:t>
                    </m:r>
                    <m:r>
                      <m:rPr>
                        <m:sty m:val="p"/>
                      </m:rPr>
                      <a:rPr lang="en-SG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E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means E pounds can be exchanged for 1 dollar or the price of a dollar is E pound. 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C0931D-48F7-7043-9C69-2E32FF945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85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5732-7B24-450E-53F2-2A857336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Q25V1 – Q35V2 – Q24V3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31D6DF-6D0A-7503-4B4E-32B8C9638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of the following conditions will occur when two countries are engaged in a credible, fixed exchange rate regime?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E = 1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E &gt; 1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</a:t>
                </a:r>
                <a:r>
                  <a:rPr lang="en-US" sz="2000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n-US" sz="2000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*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E &lt; 1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Credible, fixed exchange rate doesn’t mean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It implies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  <m:sup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𝑒</m:t>
                        </m:r>
                      </m:sup>
                    </m:sSubSup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hence based on UIP: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SG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SG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bSup>
                      <m:r>
                        <a:rPr lang="en-SG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f>
                        <m:fPr>
                          <m:ctrlPr>
                            <a:rPr lang="en-SG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SG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SG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31D6DF-6D0A-7503-4B4E-32B8C9638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693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164A-AECF-0EED-DDF9-8D53AD5A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Q30V1 – Q40V2 – Q31V3 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58720-76A1-74A7-FD3D-6580AB02E7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the Marshall-Lerner condition holds. Which of the following will cause an increase in net exports? 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an increase in government spending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an increase in investment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a reduction in foreign output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a reduction in the real exchange rate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all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𝜀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↓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: domestic goods become cheaper relative to foreign goods, it affect trade in 3 different channels: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𝐼𝑀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↓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1/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𝜀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(The relative price of foreign goods in terms of domestic goods). Marshall-Lerner condition assumes that first 2 channels dominate the third channel, hence,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𝑁𝑋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0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𝑜𝑟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 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 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𝐼𝑀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𝑌</m:t>
                        </m:r>
                      </m:e>
                      <m:sup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↓ 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↓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58720-76A1-74A7-FD3D-6580AB02E7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57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817E-81B9-F438-7443-91F1ECDE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Q35V1 – Q27V2 – Q35V3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22FEDC-8352-096D-7D8F-08374368AF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 increase in government spending will have a greater impact on net exports when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the marginal propensity to save is smaller.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the economy is closed.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the sensitivity of investment to income is smaller.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all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none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10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Fiscal multiplier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1−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𝑀𝑃𝐶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𝑀𝑃𝐼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𝑀𝑃𝐼𝑀</m:t>
                        </m:r>
                      </m:den>
                    </m:f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Smaller MPS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higher MPC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higher fiscal multiplier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⇒ 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 increase in government spending causes a higher increase in output, which also leads to higher increase in import, and accordingly greater change in net export because export is assumed to be fixed.  </a:t>
                </a:r>
              </a:p>
              <a:p>
                <a:pPr marL="0" indent="0" algn="just">
                  <a:buNone/>
                </a:pPr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22FEDC-8352-096D-7D8F-08374368AF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04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B01E-9280-4794-D045-C7858E1A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Q37V1 – Q29V2 – Q36V3 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92E5E-0901-D66A-EB7B-E668111C92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 that the rest of the world experiences an economic boom causing an increase in foreign output (Y*). This increase in Y* will not cause which of the following to occur?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the domestic country's output to increase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the domestic country's consumption to increase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the domestic country's output to increase and its trade balance to worsen as imports increase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all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none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1000"/>
                  </a:spcAft>
                  <a:buNone/>
                </a:pPr>
                <a:r>
                  <a:rPr lang="en-SG" sz="20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simplicity assume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𝜀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=1⇒</m:t>
                    </m:r>
                    <m:f>
                      <m:f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𝐼𝑀</m:t>
                        </m:r>
                      </m:num>
                      <m:den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𝜀</m:t>
                        </m:r>
                      </m:den>
                    </m:f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𝐼𝑀</m:t>
                    </m:r>
                  </m:oMath>
                </a14:m>
                <a:r>
                  <a:rPr lang="en-SG" sz="2000" b="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 algn="just">
                  <a:spcBef>
                    <a:spcPts val="60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𝑌</m:t>
                          </m:r>
                        </m:e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𝑋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𝑌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 ⇒</m:t>
                      </m:r>
                      <m:r>
                        <m:rPr>
                          <m:sty m:val="p"/>
                        </m:rPr>
                        <a:rPr lang="en-SG" sz="20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both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𝐶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SG" sz="20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and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𝐼𝑀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SG" sz="20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also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</m:t>
                      </m:r>
                    </m:oMath>
                  </m:oMathPara>
                </a14:m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1000"/>
                  </a:spcAft>
                  <a:buNone/>
                </a:pPr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However,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𝐼𝑀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smaller than that of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hence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𝑁𝑋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- trade balance improves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92E5E-0901-D66A-EB7B-E668111C92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44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BFB6-4758-3450-E2B0-A864B0EE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Q38V1 – Q30V2 – Q39V3 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BAF64E-2337-BE3E-EDC4-3561B8A95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of the following will occur as a result of a tax increase?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private saving increases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investment increases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the trade balance improves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the trade balance worsens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the budget deficit increases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𝑇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 ⇒</m:t>
                      </m:r>
                      <m:d>
                        <m:d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𝑌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𝐶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𝑌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</m:t>
                      </m:r>
                      <m:d>
                        <m:d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𝑚𝑢𝑙𝑡𝑖𝑝𝑙𝑖𝑒𝑟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𝑒𝑓𝑓𝑒𝑐𝑡</m:t>
                          </m:r>
                        </m:e>
                      </m:d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𝐼𝑀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</m:t>
                      </m:r>
                    </m:oMath>
                  </m:oMathPara>
                </a14:m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𝑌</m:t>
                          </m:r>
                        </m:e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𝑢𝑛𝑐h𝑎𝑛𝑔𝑒𝑑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𝑋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𝑢𝑛𝑐h𝑎𝑛𝑔𝑒𝑑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𝑁𝑋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𝐼𝑀</m:t>
                              </m:r>
                            </m:num>
                            <m:den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𝜀</m:t>
                              </m:r>
                            </m:den>
                          </m:f>
                        </m:e>
                      </m:d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</m:t>
                      </m:r>
                    </m:oMath>
                  </m:oMathPara>
                </a14:m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SG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Thus, trade balance improves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BAF64E-2337-BE3E-EDC4-3561B8A95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32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0B9C-8F9C-D02C-5FE1-D5CECA2C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Q40V1 – </a:t>
            </a:r>
            <a:r>
              <a:rPr lang="en-SG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Q32V2 – Q38V3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8AD969-7FCD-AC2A-268F-C685F09D3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 increase in which of the following variables will cause a reduction in the demand for domestic goods?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A) foreign income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B) the real exchange rate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C) consumer confidence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D) domestic income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E) all of these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SG" sz="2000" b="0" dirty="0">
                    <a:ea typeface="Calibri" panose="020F0502020204030204" pitchFamily="34" charset="0"/>
                    <a:cs typeface="Calibri" panose="020F0502020204030204" pitchFamily="34" charset="0"/>
                  </a:rPr>
                  <a:t>Demand for domestic goods: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𝑍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𝐼𝑀</m:t>
                        </m:r>
                      </m:num>
                      <m:den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𝜀</m:t>
                        </m:r>
                      </m:den>
                    </m:f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𝑌</m:t>
                        </m:r>
                      </m:e>
                      <m:sup>
                        <m:r>
                          <a:rPr lang="en-SG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 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 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𝑍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  <m:r>
                      <m:rPr>
                        <m:sty m:val="p"/>
                      </m:rPr>
                      <a:rPr lang="en-SG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and</m:t>
                    </m:r>
                    <m:r>
                      <a:rPr lang="en-SG" sz="20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𝑜𝑟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𝑐𝑜𝑛𝑓𝑖𝑑𝑒𝑛𝑐𝑒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 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𝑍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↑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 algn="just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𝜀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↑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𝑁𝑋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𝐼𝑀</m:t>
                              </m:r>
                            </m:num>
                            <m:den>
                              <m:r>
                                <a:rPr lang="en-SG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𝜀</m:t>
                              </m:r>
                            </m:den>
                          </m:f>
                        </m:e>
                      </m:d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 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↓</m:t>
                      </m:r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endParaRPr lang="en-SG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8AD969-7FCD-AC2A-268F-C685F09D3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20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1162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Cambria Math</vt:lpstr>
      <vt:lpstr>Times New Roman</vt:lpstr>
      <vt:lpstr>Office Theme</vt:lpstr>
      <vt:lpstr>HE3002 Macroeconomics III</vt:lpstr>
      <vt:lpstr>Q6V1 – Q13V2 – Q6V3</vt:lpstr>
      <vt:lpstr>Q10V1 – Q2V2 – Q9V3</vt:lpstr>
      <vt:lpstr>Q12V1 – Q4V2 – Q12V3</vt:lpstr>
      <vt:lpstr>Q13V1 – Q5V2 – Q13V3</vt:lpstr>
      <vt:lpstr>Q25V1 – Q35V2 – Q24V3 </vt:lpstr>
      <vt:lpstr>Q30V1 – Q40V2 – Q31V3 </vt:lpstr>
      <vt:lpstr>Q35V1 – Q27V2 – Q35V3</vt:lpstr>
      <vt:lpstr>Q37V1 – Q29V2 – Q36V3 </vt:lpstr>
      <vt:lpstr>Q38V1 – Q30V2 – Q39V3 </vt:lpstr>
      <vt:lpstr>Q40V1 – Q32V2 – Q38V3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#HO SY HA#</dc:creator>
  <cp:lastModifiedBy>#HO SY HA#</cp:lastModifiedBy>
  <cp:revision>271</cp:revision>
  <dcterms:created xsi:type="dcterms:W3CDTF">2024-08-18T10:50:14Z</dcterms:created>
  <dcterms:modified xsi:type="dcterms:W3CDTF">2024-09-11T15:33:11Z</dcterms:modified>
</cp:coreProperties>
</file>