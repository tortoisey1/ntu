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7" r:id="rId11"/>
    <p:sldId id="268" r:id="rId12"/>
    <p:sldId id="269" r:id="rId13"/>
    <p:sldId id="270" r:id="rId14"/>
    <p:sldId id="271" r:id="rId15"/>
    <p:sldId id="272"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62"/>
      </p:cViewPr>
      <p:guideLst>
        <p:guide orient="horz" pos="2160"/>
        <p:guide pos="361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31B1B-3BB8-C9F0-626E-92A8A50FEA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F9491E89-4E49-7630-5346-A23C98C84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B487EC6B-90D7-BA3B-DDEB-EBAFF4F5D05C}"/>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5" name="Footer Placeholder 4">
            <a:extLst>
              <a:ext uri="{FF2B5EF4-FFF2-40B4-BE49-F238E27FC236}">
                <a16:creationId xmlns:a16="http://schemas.microsoft.com/office/drawing/2014/main" id="{BCD33D56-AB04-A9BC-F70F-2DE66C99074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0B1E1E1-1F83-2127-EDE0-669410F49F89}"/>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378775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36B9E-2EB2-55F3-482D-B1BE7134B65C}"/>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36D9D3B7-7468-9CFB-5FD9-D399B3901F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73DA411-31BA-CD60-7F15-F9AA2EABCE9F}"/>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5" name="Footer Placeholder 4">
            <a:extLst>
              <a:ext uri="{FF2B5EF4-FFF2-40B4-BE49-F238E27FC236}">
                <a16:creationId xmlns:a16="http://schemas.microsoft.com/office/drawing/2014/main" id="{463C9458-45CC-EE7E-7771-CE1E76DF1AF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A6C391E-0990-C6C5-9502-6F0126D8E57A}"/>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2341158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5FCBC-FF21-C15C-0CDE-B377833C4B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65A958-19F2-3396-8D8C-E549FC663F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439F4D-2951-9D62-B51C-1FF0672E0E7A}"/>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5" name="Footer Placeholder 4">
            <a:extLst>
              <a:ext uri="{FF2B5EF4-FFF2-40B4-BE49-F238E27FC236}">
                <a16:creationId xmlns:a16="http://schemas.microsoft.com/office/drawing/2014/main" id="{318B57FD-70FA-CF1F-2848-DAF45D1FA57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DAAFE65-F85F-6870-5B17-85D813066635}"/>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2769832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C7A5-34F4-FAD5-82F4-377623517116}"/>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75B7DEB-8132-73AE-84AD-6DF374DFA6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484A5A3F-ACD4-F87E-8D3D-48D1B18F46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A8EAFDBD-DFFB-6A66-0CAC-85A07242A91D}"/>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6" name="Footer Placeholder 5">
            <a:extLst>
              <a:ext uri="{FF2B5EF4-FFF2-40B4-BE49-F238E27FC236}">
                <a16:creationId xmlns:a16="http://schemas.microsoft.com/office/drawing/2014/main" id="{142A1254-19F9-8112-37FF-D6EB2D49B64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E7E5027-AFF6-CB5B-2AB9-2D9A5E7ACBA4}"/>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231299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4CF20-EF89-9BED-7F60-AC5315575D36}"/>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033AA56-D9C4-814E-FE74-3D9349873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B768D5-FEF8-D35D-A0B1-9790BFBC12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0E88B619-0DFA-A008-FC07-8394CDAABD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AE88D3-2C97-2FFA-B212-44F5689291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12E48B74-ACE3-25F3-AD8A-5BBA3B9341CB}"/>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8" name="Footer Placeholder 7">
            <a:extLst>
              <a:ext uri="{FF2B5EF4-FFF2-40B4-BE49-F238E27FC236}">
                <a16:creationId xmlns:a16="http://schemas.microsoft.com/office/drawing/2014/main" id="{B4A98B77-4A14-FA43-5F47-3A19FE10D01E}"/>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EBAF28B8-7AB3-6FD6-D054-0B59EE50E433}"/>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3951672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F74F1-3FE2-1B26-630A-45020460406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EF664673-006D-F40B-E051-E44F784F07FC}"/>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4" name="Footer Placeholder 3">
            <a:extLst>
              <a:ext uri="{FF2B5EF4-FFF2-40B4-BE49-F238E27FC236}">
                <a16:creationId xmlns:a16="http://schemas.microsoft.com/office/drawing/2014/main" id="{A05C2CF4-C3C4-ADF1-9DF2-C90DCFB9AB4D}"/>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61E9F8B2-BBF7-25EE-04E0-3BA2201BCEEA}"/>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771205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CA7554-0FD8-7F0F-6BFE-B2C2B7CC52B2}"/>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3" name="Footer Placeholder 2">
            <a:extLst>
              <a:ext uri="{FF2B5EF4-FFF2-40B4-BE49-F238E27FC236}">
                <a16:creationId xmlns:a16="http://schemas.microsoft.com/office/drawing/2014/main" id="{AD13F545-A4C5-57CE-D633-5D3BA1D5EC85}"/>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90AB8254-74C4-CE19-209C-9DBEDFF8DB56}"/>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3362911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3B626-0C2D-18BA-F213-FE26951CFF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0BCB26FD-BECD-81D3-98E0-448055EB6E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B207ADF-4E0A-57D6-2ED3-AE9AA4116A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FCF8CC-39E9-A4E3-5D73-40F71DDB456B}"/>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6" name="Footer Placeholder 5">
            <a:extLst>
              <a:ext uri="{FF2B5EF4-FFF2-40B4-BE49-F238E27FC236}">
                <a16:creationId xmlns:a16="http://schemas.microsoft.com/office/drawing/2014/main" id="{042F7164-4008-F764-A879-B5D06288284E}"/>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3233D90-A5A6-5D25-D158-AA9731C7AD1F}"/>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511824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243EE-46A8-195B-57A9-B57838A34C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CFFE4E0-E49F-3F28-22E8-918E24B7C9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581BF36B-E16F-3042-B0EB-741627D4B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1B74D4-1A40-ADB7-068E-FA3960AAC1AD}"/>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6" name="Footer Placeholder 5">
            <a:extLst>
              <a:ext uri="{FF2B5EF4-FFF2-40B4-BE49-F238E27FC236}">
                <a16:creationId xmlns:a16="http://schemas.microsoft.com/office/drawing/2014/main" id="{9CE68F7F-324D-D67C-86AF-03A0027F3DE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B47A92A-F85E-9CCE-A051-51D9A0149421}"/>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1708988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ADC5-3203-9B3F-5D8A-31E26A49A0C3}"/>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976C3B50-DC2B-EBB5-6971-A0859C3923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F378712-EFA9-9B38-5DF8-2F41F7E6382A}"/>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5" name="Footer Placeholder 4">
            <a:extLst>
              <a:ext uri="{FF2B5EF4-FFF2-40B4-BE49-F238E27FC236}">
                <a16:creationId xmlns:a16="http://schemas.microsoft.com/office/drawing/2014/main" id="{A1BF7270-8225-D469-3D4C-4FCB85E4049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F1918CA-5905-CC2E-2A77-E481B47123CE}"/>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44385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8FD9D6-EE03-E433-7AD7-5BD141E248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E600B23F-2030-C602-CB72-7DBDDB9333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752F808-85B2-D7A7-E6ED-86E37F5FDD59}"/>
              </a:ext>
            </a:extLst>
          </p:cNvPr>
          <p:cNvSpPr>
            <a:spLocks noGrp="1"/>
          </p:cNvSpPr>
          <p:nvPr>
            <p:ph type="dt" sz="half" idx="10"/>
          </p:nvPr>
        </p:nvSpPr>
        <p:spPr/>
        <p:txBody>
          <a:bodyPr/>
          <a:lstStyle/>
          <a:p>
            <a:fld id="{AFA66B65-D93A-4A9E-8ADC-C784EA98D5AE}" type="datetimeFigureOut">
              <a:rPr lang="en-SG" smtClean="0"/>
              <a:t>28/8/2024</a:t>
            </a:fld>
            <a:endParaRPr lang="en-SG"/>
          </a:p>
        </p:txBody>
      </p:sp>
      <p:sp>
        <p:nvSpPr>
          <p:cNvPr id="5" name="Footer Placeholder 4">
            <a:extLst>
              <a:ext uri="{FF2B5EF4-FFF2-40B4-BE49-F238E27FC236}">
                <a16:creationId xmlns:a16="http://schemas.microsoft.com/office/drawing/2014/main" id="{C02B504A-5372-8EDC-31CA-1EA5190C20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8544F74-7A2D-0D56-D873-4C1852A59A0B}"/>
              </a:ext>
            </a:extLst>
          </p:cNvPr>
          <p:cNvSpPr>
            <a:spLocks noGrp="1"/>
          </p:cNvSpPr>
          <p:nvPr>
            <p:ph type="sldNum" sz="quarter" idx="12"/>
          </p:nvPr>
        </p:nvSpPr>
        <p:spPr/>
        <p:txBody>
          <a:bodyPr/>
          <a:lstStyle/>
          <a:p>
            <a:fld id="{DDDDBD09-D778-4467-88FF-C59844F1EE17}" type="slidenum">
              <a:rPr lang="en-SG" smtClean="0"/>
              <a:t>‹#›</a:t>
            </a:fld>
            <a:endParaRPr lang="en-SG"/>
          </a:p>
        </p:txBody>
      </p:sp>
    </p:spTree>
    <p:extLst>
      <p:ext uri="{BB962C8B-B14F-4D97-AF65-F5344CB8AC3E}">
        <p14:creationId xmlns:p14="http://schemas.microsoft.com/office/powerpoint/2010/main" val="3713176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5200EF-04D3-F715-F0D2-5EBF0B24C3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66E9832-1635-540E-A06A-9F690FB824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FB44F1C-5B3B-8485-FD30-6BA18E6DFE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A66B65-D93A-4A9E-8ADC-C784EA98D5AE}" type="datetimeFigureOut">
              <a:rPr lang="en-SG" smtClean="0"/>
              <a:t>28/8/2024</a:t>
            </a:fld>
            <a:endParaRPr lang="en-SG"/>
          </a:p>
        </p:txBody>
      </p:sp>
      <p:sp>
        <p:nvSpPr>
          <p:cNvPr id="5" name="Footer Placeholder 4">
            <a:extLst>
              <a:ext uri="{FF2B5EF4-FFF2-40B4-BE49-F238E27FC236}">
                <a16:creationId xmlns:a16="http://schemas.microsoft.com/office/drawing/2014/main" id="{A7C66C16-FC26-0CA4-BFBF-2F7AEE1EF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4905D555-E6FE-EF6D-E519-B68AF6156E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DDBD09-D778-4467-88FF-C59844F1EE17}" type="slidenum">
              <a:rPr lang="en-SG" smtClean="0"/>
              <a:t>‹#›</a:t>
            </a:fld>
            <a:endParaRPr lang="en-SG"/>
          </a:p>
        </p:txBody>
      </p:sp>
    </p:spTree>
    <p:extLst>
      <p:ext uri="{BB962C8B-B14F-4D97-AF65-F5344CB8AC3E}">
        <p14:creationId xmlns:p14="http://schemas.microsoft.com/office/powerpoint/2010/main" val="3573144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1C6C-C56F-9376-6203-F22D629B6675}"/>
              </a:ext>
            </a:extLst>
          </p:cNvPr>
          <p:cNvSpPr>
            <a:spLocks noGrp="1"/>
          </p:cNvSpPr>
          <p:nvPr>
            <p:ph type="ctrTitle"/>
          </p:nvPr>
        </p:nvSpPr>
        <p:spPr/>
        <p:txBody>
          <a:bodyPr/>
          <a:lstStyle/>
          <a:p>
            <a:r>
              <a:rPr lang="en-SG" dirty="0">
                <a:solidFill>
                  <a:srgbClr val="0070C0"/>
                </a:solidFill>
                <a:latin typeface="Calibri Light" panose="020F0302020204030204" pitchFamily="34" charset="0"/>
                <a:ea typeface="Calibri Light" panose="020F0302020204030204" pitchFamily="34" charset="0"/>
                <a:cs typeface="Calibri Light" panose="020F0302020204030204" pitchFamily="34" charset="0"/>
              </a:rPr>
              <a:t>HE3002</a:t>
            </a:r>
            <a:br>
              <a:rPr lang="en-SG" dirty="0">
                <a:solidFill>
                  <a:srgbClr val="0070C0"/>
                </a:solidFill>
                <a:latin typeface="Calibri Light" panose="020F0302020204030204" pitchFamily="34" charset="0"/>
                <a:ea typeface="Calibri Light" panose="020F0302020204030204" pitchFamily="34" charset="0"/>
                <a:cs typeface="Calibri Light" panose="020F0302020204030204" pitchFamily="34" charset="0"/>
              </a:rPr>
            </a:br>
            <a:r>
              <a:rPr lang="en-SG" dirty="0">
                <a:solidFill>
                  <a:srgbClr val="0070C0"/>
                </a:solidFill>
                <a:latin typeface="Calibri Light" panose="020F0302020204030204" pitchFamily="34" charset="0"/>
                <a:ea typeface="Calibri Light" panose="020F0302020204030204" pitchFamily="34" charset="0"/>
                <a:cs typeface="Calibri Light" panose="020F0302020204030204" pitchFamily="34" charset="0"/>
              </a:rPr>
              <a:t>Macroeconomics III</a:t>
            </a:r>
          </a:p>
        </p:txBody>
      </p:sp>
      <p:sp>
        <p:nvSpPr>
          <p:cNvPr id="3" name="Subtitle 2">
            <a:extLst>
              <a:ext uri="{FF2B5EF4-FFF2-40B4-BE49-F238E27FC236}">
                <a16:creationId xmlns:a16="http://schemas.microsoft.com/office/drawing/2014/main" id="{11942C35-BD8F-6F66-2320-59C3DE7A42AA}"/>
              </a:ext>
            </a:extLst>
          </p:cNvPr>
          <p:cNvSpPr>
            <a:spLocks noGrp="1"/>
          </p:cNvSpPr>
          <p:nvPr>
            <p:ph type="subTitle" idx="1"/>
          </p:nvPr>
        </p:nvSpPr>
        <p:spPr/>
        <p:txBody>
          <a:bodyPr>
            <a:normAutofit lnSpcReduction="10000"/>
          </a:bodyPr>
          <a:lstStyle/>
          <a:p>
            <a:endParaRPr lang="en-SG" sz="3200" dirty="0">
              <a:latin typeface="Times New Roman" panose="02020603050405020304" pitchFamily="18" charset="0"/>
              <a:cs typeface="Times New Roman" panose="02020603050405020304" pitchFamily="18" charset="0"/>
            </a:endParaRPr>
          </a:p>
          <a:p>
            <a:r>
              <a:rPr lang="en-SG" sz="3200" b="1" dirty="0">
                <a:latin typeface="Calibri Light" panose="020F0302020204030204" pitchFamily="34" charset="0"/>
                <a:ea typeface="Calibri Light" panose="020F0302020204030204" pitchFamily="34" charset="0"/>
                <a:cs typeface="Calibri Light" panose="020F0302020204030204" pitchFamily="34" charset="0"/>
              </a:rPr>
              <a:t>Sem 1 – AY 24/25</a:t>
            </a:r>
          </a:p>
          <a:p>
            <a:r>
              <a:rPr lang="en-SG" sz="3200" b="1" dirty="0">
                <a:latin typeface="Calibri Light" panose="020F0302020204030204" pitchFamily="34" charset="0"/>
                <a:ea typeface="Calibri Light" panose="020F0302020204030204" pitchFamily="34" charset="0"/>
                <a:cs typeface="Calibri Light" panose="020F0302020204030204" pitchFamily="34" charset="0"/>
              </a:rPr>
              <a:t>Problem Set 1</a:t>
            </a:r>
          </a:p>
          <a:p>
            <a:endParaRPr lang="en-S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1685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1</a:t>
            </a:r>
          </a:p>
        </p:txBody>
      </p:sp>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Using the information in Lecture 1, label each of the following statements true, false or uncertain. Explain briefly.</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(a) Although the export ratio can be larger than one, as it is in Singapore, the same cannot be true of the ratio of imports to GDP.</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(b) Uncovered interest parity implies that interest rates must be the same across countries.</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(c) The nominal exchange rate and the real exchange rate always move in the same direction.</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(d) If the dollar is expected to appreciate against the yen, uncovered interest parity implies that the US nominal interest rate must be greater than the Japanese nominal interest rate.</a:t>
            </a:r>
          </a:p>
        </p:txBody>
      </p:sp>
    </p:spTree>
    <p:extLst>
      <p:ext uri="{BB962C8B-B14F-4D97-AF65-F5344CB8AC3E}">
        <p14:creationId xmlns:p14="http://schemas.microsoft.com/office/powerpoint/2010/main" val="3450693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(a) </a:t>
                </a:r>
                <a:r>
                  <a:rPr lang="en-US" sz="2000" i="1" dirty="0">
                    <a:latin typeface="Calibri" panose="020F0502020204030204" pitchFamily="34" charset="0"/>
                    <a:ea typeface="Calibri" panose="020F0502020204030204" pitchFamily="34" charset="0"/>
                    <a:cs typeface="Calibri" panose="020F0502020204030204" pitchFamily="34" charset="0"/>
                  </a:rPr>
                  <a:t>Although the export ratio can be larger than one, as it is in Singapore, the same cannot be true of the ratio of imports to GDP.</a:t>
                </a:r>
              </a:p>
              <a:p>
                <a:pPr marL="0" indent="0" algn="just">
                  <a:spcAft>
                    <a:spcPts val="1200"/>
                  </a:spcAft>
                  <a:buNone/>
                </a:pPr>
                <a:r>
                  <a:rPr lang="en-US" sz="2000" b="1" dirty="0">
                    <a:latin typeface="Calibri" panose="020F0502020204030204" pitchFamily="34" charset="0"/>
                    <a:ea typeface="Calibri" panose="020F0502020204030204" pitchFamily="34" charset="0"/>
                    <a:cs typeface="Calibri" panose="020F0502020204030204" pitchFamily="34" charset="0"/>
                  </a:rPr>
                  <a:t>False!</a:t>
                </a:r>
              </a:p>
              <a:p>
                <a:pPr marL="0" indent="0" algn="just">
                  <a:spcAft>
                    <a:spcPts val="1200"/>
                  </a:spcAft>
                  <a:buNone/>
                </a:pPr>
                <a14:m>
                  <m:oMath xmlns:m="http://schemas.openxmlformats.org/officeDocument/2006/math">
                    <m:r>
                      <a:rPr lang="en-US" sz="2000" i="1" dirty="0" smtClean="0">
                        <a:latin typeface="Cambria Math" panose="02040503050406030204" pitchFamily="18" charset="0"/>
                        <a:ea typeface="Calibri" panose="020F0502020204030204" pitchFamily="34" charset="0"/>
                        <a:cs typeface="Calibri" panose="020F0502020204030204" pitchFamily="34" charset="0"/>
                      </a:rPr>
                      <m:t>𝑌</m:t>
                    </m:r>
                    <m:r>
                      <a:rPr lang="en-US" sz="2000" i="1" dirty="0" smtClean="0">
                        <a:latin typeface="Cambria Math" panose="02040503050406030204" pitchFamily="18" charset="0"/>
                        <a:ea typeface="Calibri" panose="020F0502020204030204" pitchFamily="34" charset="0"/>
                        <a:cs typeface="Calibri" panose="020F0502020204030204" pitchFamily="34" charset="0"/>
                      </a:rPr>
                      <m:t> = </m:t>
                    </m:r>
                    <m:r>
                      <a:rPr lang="en-US" sz="2000" i="1" dirty="0" smtClean="0">
                        <a:latin typeface="Cambria Math" panose="02040503050406030204" pitchFamily="18" charset="0"/>
                        <a:ea typeface="Calibri" panose="020F0502020204030204" pitchFamily="34" charset="0"/>
                        <a:cs typeface="Calibri" panose="020F0502020204030204" pitchFamily="34" charset="0"/>
                      </a:rPr>
                      <m:t>𝐶</m:t>
                    </m:r>
                    <m:r>
                      <a:rPr lang="en-US" sz="2000" i="1" dirty="0" smtClean="0">
                        <a:latin typeface="Cambria Math" panose="02040503050406030204" pitchFamily="18" charset="0"/>
                        <a:ea typeface="Calibri" panose="020F0502020204030204" pitchFamily="34" charset="0"/>
                        <a:cs typeface="Calibri" panose="020F0502020204030204" pitchFamily="34" charset="0"/>
                      </a:rPr>
                      <m:t> + </m:t>
                    </m:r>
                    <m:r>
                      <a:rPr lang="en-US" sz="2000" i="1" dirty="0" smtClean="0">
                        <a:latin typeface="Cambria Math" panose="02040503050406030204" pitchFamily="18" charset="0"/>
                        <a:ea typeface="Calibri" panose="020F0502020204030204" pitchFamily="34" charset="0"/>
                        <a:cs typeface="Calibri" panose="020F0502020204030204" pitchFamily="34" charset="0"/>
                      </a:rPr>
                      <m:t>𝐼</m:t>
                    </m:r>
                    <m:r>
                      <a:rPr lang="en-US" sz="2000" i="1" dirty="0" smtClean="0">
                        <a:latin typeface="Cambria Math" panose="02040503050406030204" pitchFamily="18" charset="0"/>
                        <a:ea typeface="Calibri" panose="020F0502020204030204" pitchFamily="34" charset="0"/>
                        <a:cs typeface="Calibri" panose="020F0502020204030204" pitchFamily="34" charset="0"/>
                      </a:rPr>
                      <m:t> + </m:t>
                    </m:r>
                    <m:r>
                      <a:rPr lang="en-US" sz="2000" i="1" dirty="0" smtClean="0">
                        <a:latin typeface="Cambria Math" panose="02040503050406030204" pitchFamily="18" charset="0"/>
                        <a:ea typeface="Calibri" panose="020F0502020204030204" pitchFamily="34" charset="0"/>
                        <a:cs typeface="Calibri" panose="020F0502020204030204" pitchFamily="34" charset="0"/>
                      </a:rPr>
                      <m:t>𝐺</m:t>
                    </m:r>
                    <m:r>
                      <a:rPr lang="en-US" sz="2000" i="1" dirty="0" smtClean="0">
                        <a:latin typeface="Cambria Math" panose="02040503050406030204" pitchFamily="18" charset="0"/>
                        <a:ea typeface="Calibri" panose="020F0502020204030204" pitchFamily="34" charset="0"/>
                        <a:cs typeface="Calibri" panose="020F0502020204030204" pitchFamily="34" charset="0"/>
                      </a:rPr>
                      <m:t> + (</m:t>
                    </m:r>
                    <m:r>
                      <a:rPr lang="en-US" sz="2000" i="1" dirty="0" smtClean="0">
                        <a:latin typeface="Cambria Math" panose="02040503050406030204" pitchFamily="18" charset="0"/>
                        <a:ea typeface="Calibri" panose="020F0502020204030204" pitchFamily="34" charset="0"/>
                        <a:cs typeface="Calibri" panose="020F0502020204030204" pitchFamily="34" charset="0"/>
                      </a:rPr>
                      <m:t>𝑋</m:t>
                    </m:r>
                    <m:r>
                      <a:rPr lang="en-US" sz="2000" i="1" dirty="0" smtClean="0">
                        <a:latin typeface="Cambria Math" panose="02040503050406030204" pitchFamily="18" charset="0"/>
                        <a:ea typeface="Calibri" panose="020F0502020204030204" pitchFamily="34" charset="0"/>
                        <a:cs typeface="Calibri" panose="020F0502020204030204" pitchFamily="34" charset="0"/>
                      </a:rPr>
                      <m:t>−</m:t>
                    </m:r>
                    <m:r>
                      <a:rPr lang="en-US" sz="2000" i="1" dirty="0" smtClean="0">
                        <a:latin typeface="Cambria Math" panose="02040503050406030204" pitchFamily="18" charset="0"/>
                        <a:ea typeface="Calibri" panose="020F0502020204030204" pitchFamily="34" charset="0"/>
                        <a:cs typeface="Calibri" panose="020F0502020204030204" pitchFamily="34" charset="0"/>
                      </a:rPr>
                      <m:t>𝑀</m:t>
                    </m:r>
                    <m:r>
                      <a:rPr lang="en-US" sz="20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US" sz="2000" dirty="0">
                    <a:latin typeface="Calibri" panose="020F0502020204030204" pitchFamily="34" charset="0"/>
                    <a:ea typeface="Calibri" panose="020F0502020204030204" pitchFamily="34" charset="0"/>
                    <a:cs typeface="Calibri" panose="020F0502020204030204" pitchFamily="34" charset="0"/>
                  </a:rPr>
                  <a:t> so it is possible for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𝑀</m:t>
                    </m:r>
                    <m:r>
                      <a:rPr lang="en-SG" sz="2000" b="0" i="1" smtClean="0">
                        <a:latin typeface="Cambria Math" panose="02040503050406030204" pitchFamily="18" charset="0"/>
                        <a:ea typeface="Calibri" panose="020F0502020204030204" pitchFamily="34" charset="0"/>
                        <a:cs typeface="Calibri" panose="020F0502020204030204" pitchFamily="34" charset="0"/>
                      </a:rPr>
                      <m:t>&gt;</m:t>
                    </m:r>
                    <m:r>
                      <a:rPr lang="en-SG" sz="2000" b="0" i="1" smtClean="0">
                        <a:latin typeface="Cambria Math" panose="02040503050406030204" pitchFamily="18" charset="0"/>
                        <a:ea typeface="Calibri" panose="020F0502020204030204" pitchFamily="34" charset="0"/>
                        <a:cs typeface="Calibri" panose="020F0502020204030204" pitchFamily="34" charset="0"/>
                      </a:rPr>
                      <m:t>𝑌</m:t>
                    </m:r>
                  </m:oMath>
                </a14:m>
                <a:r>
                  <a:rPr lang="en-US" sz="2000" dirty="0">
                    <a:latin typeface="Calibri" panose="020F0502020204030204" pitchFamily="34" charset="0"/>
                    <a:ea typeface="Calibri" panose="020F0502020204030204" pitchFamily="34" charset="0"/>
                    <a:cs typeface="Calibri" panose="020F0502020204030204" pitchFamily="34" charset="0"/>
                  </a:rPr>
                  <a:t> , but not likely.</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Suppose that all exports and imports involve intermediate goods intended to be re-exported to a third country. This implies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𝑋</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𝑀</m:t>
                    </m:r>
                  </m:oMath>
                </a14:m>
                <a:r>
                  <a:rPr lang="en-US" sz="20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𝑌</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𝐶</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𝐼</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𝐺</m:t>
                    </m:r>
                  </m:oMath>
                </a14:m>
                <a:r>
                  <a:rPr lang="en-US" sz="2000" dirty="0">
                    <a:latin typeface="Calibri" panose="020F0502020204030204" pitchFamily="34" charset="0"/>
                    <a:ea typeface="Calibri" panose="020F0502020204030204" pitchFamily="34" charset="0"/>
                    <a:cs typeface="Calibri" panose="020F0502020204030204" pitchFamily="34" charset="0"/>
                  </a:rPr>
                  <a:t>. There is no limit on how large </a:t>
                </a:r>
                <a14:m>
                  <m:oMath xmlns:m="http://schemas.openxmlformats.org/officeDocument/2006/math">
                    <m:r>
                      <a:rPr lang="en-US" sz="2000" i="1" dirty="0" smtClean="0">
                        <a:latin typeface="Cambria Math" panose="02040503050406030204" pitchFamily="18" charset="0"/>
                        <a:ea typeface="Calibri" panose="020F0502020204030204" pitchFamily="34" charset="0"/>
                        <a:cs typeface="Calibri" panose="020F0502020204030204" pitchFamily="34" charset="0"/>
                      </a:rPr>
                      <m:t>𝑀</m:t>
                    </m:r>
                  </m:oMath>
                </a14:m>
                <a:r>
                  <a:rPr lang="en-US" sz="2000" dirty="0">
                    <a:latin typeface="Calibri" panose="020F0502020204030204" pitchFamily="34" charset="0"/>
                    <a:ea typeface="Calibri" panose="020F0502020204030204" pitchFamily="34" charset="0"/>
                    <a:cs typeface="Calibri" panose="020F0502020204030204" pitchFamily="34" charset="0"/>
                  </a:rPr>
                  <a:t> can be, including the case where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𝑀</m:t>
                    </m:r>
                    <m:r>
                      <a:rPr lang="en-SG" sz="2000" b="0" i="1" smtClean="0">
                        <a:latin typeface="Cambria Math" panose="02040503050406030204" pitchFamily="18" charset="0"/>
                        <a:ea typeface="Calibri" panose="020F0502020204030204" pitchFamily="34" charset="0"/>
                        <a:cs typeface="Calibri" panose="020F0502020204030204" pitchFamily="34" charset="0"/>
                      </a:rPr>
                      <m:t>&gt;</m:t>
                    </m:r>
                    <m:r>
                      <a:rPr lang="en-SG" sz="2000" b="0" i="1" smtClean="0">
                        <a:latin typeface="Cambria Math" panose="02040503050406030204" pitchFamily="18" charset="0"/>
                        <a:ea typeface="Calibri" panose="020F0502020204030204" pitchFamily="34" charset="0"/>
                        <a:cs typeface="Calibri" panose="020F0502020204030204" pitchFamily="34" charset="0"/>
                      </a:rPr>
                      <m:t>𝑌</m:t>
                    </m:r>
                  </m:oMath>
                </a14:m>
                <a:r>
                  <a:rPr lang="en-US" sz="2000" dirty="0">
                    <a:latin typeface="Calibri" panose="020F0502020204030204" pitchFamily="34" charset="0"/>
                    <a:ea typeface="Calibri" panose="020F0502020204030204" pitchFamily="34" charset="0"/>
                    <a:cs typeface="Calibri" panose="020F0502020204030204" pitchFamily="34" charset="0"/>
                  </a:rPr>
                  <a:t>. </a:t>
                </a: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r="-580"/>
                </a:stretch>
              </a:blipFill>
            </p:spPr>
            <p:txBody>
              <a:bodyPr/>
              <a:lstStyle/>
              <a:p>
                <a:r>
                  <a:rPr lang="en-SG">
                    <a:noFill/>
                  </a:rPr>
                  <a:t> </a:t>
                </a:r>
              </a:p>
            </p:txBody>
          </p:sp>
        </mc:Fallback>
      </mc:AlternateContent>
    </p:spTree>
    <p:extLst>
      <p:ext uri="{BB962C8B-B14F-4D97-AF65-F5344CB8AC3E}">
        <p14:creationId xmlns:p14="http://schemas.microsoft.com/office/powerpoint/2010/main" val="3501778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1</a:t>
            </a:r>
          </a:p>
        </p:txBody>
      </p:sp>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(b) </a:t>
            </a:r>
            <a:r>
              <a:rPr lang="en-US" sz="2000" i="1" dirty="0">
                <a:latin typeface="Calibri" panose="020F0502020204030204" pitchFamily="34" charset="0"/>
                <a:ea typeface="Calibri" panose="020F0502020204030204" pitchFamily="34" charset="0"/>
                <a:cs typeface="Calibri" panose="020F0502020204030204" pitchFamily="34" charset="0"/>
              </a:rPr>
              <a:t>Uncovered interest parity implies that interest rates must be the same across countries.</a:t>
            </a: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grpSp>
        <p:nvGrpSpPr>
          <p:cNvPr id="22" name="Group 21">
            <a:extLst>
              <a:ext uri="{FF2B5EF4-FFF2-40B4-BE49-F238E27FC236}">
                <a16:creationId xmlns:a16="http://schemas.microsoft.com/office/drawing/2014/main" id="{90895DFA-5060-9490-B1D8-4A84BCDC698B}"/>
              </a:ext>
            </a:extLst>
          </p:cNvPr>
          <p:cNvGrpSpPr/>
          <p:nvPr/>
        </p:nvGrpSpPr>
        <p:grpSpPr>
          <a:xfrm>
            <a:off x="838200" y="2481344"/>
            <a:ext cx="3627588" cy="3123658"/>
            <a:chOff x="838200" y="2442899"/>
            <a:chExt cx="3627588" cy="3123658"/>
          </a:xfrm>
        </p:grpSpPr>
        <p:cxnSp>
          <p:nvCxnSpPr>
            <p:cNvPr id="14" name="Straight Arrow Connector 13">
              <a:extLst>
                <a:ext uri="{FF2B5EF4-FFF2-40B4-BE49-F238E27FC236}">
                  <a16:creationId xmlns:a16="http://schemas.microsoft.com/office/drawing/2014/main" id="{7FF2CFC6-2C2C-00DD-7741-D097A95E27A6}"/>
                </a:ext>
              </a:extLst>
            </p:cNvPr>
            <p:cNvCxnSpPr>
              <a:stCxn id="7" idx="0"/>
              <a:endCxn id="8" idx="2"/>
            </p:cNvCxnSpPr>
            <p:nvPr/>
          </p:nvCxnSpPr>
          <p:spPr>
            <a:xfrm flipV="1">
              <a:off x="3496581" y="4076109"/>
              <a:ext cx="12824" cy="555291"/>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C8AC7875-C60C-AB71-8B9A-141EBC84A34A}"/>
                </a:ext>
              </a:extLst>
            </p:cNvPr>
            <p:cNvGrpSpPr/>
            <p:nvPr/>
          </p:nvGrpSpPr>
          <p:grpSpPr>
            <a:xfrm>
              <a:off x="838200" y="2442899"/>
              <a:ext cx="3627588" cy="3123658"/>
              <a:chOff x="567869" y="2200615"/>
              <a:chExt cx="3627588" cy="312365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1B3178F-93E0-7E17-BA6B-C7125940CE56}"/>
                      </a:ext>
                    </a:extLst>
                  </p:cNvPr>
                  <p:cNvSpPr txBox="1"/>
                  <p:nvPr/>
                </p:nvSpPr>
                <p:spPr>
                  <a:xfrm>
                    <a:off x="838200" y="2601269"/>
                    <a:ext cx="51488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sz="2000" i="1" dirty="0" smtClean="0">
                              <a:solidFill>
                                <a:srgbClr val="00B050"/>
                              </a:solidFill>
                              <a:latin typeface="Cambria Math" panose="02040503050406030204" pitchFamily="18" charset="0"/>
                              <a:ea typeface="Calibri" panose="020F0502020204030204" pitchFamily="34" charset="0"/>
                              <a:cs typeface="Calibri" panose="020F0502020204030204" pitchFamily="34" charset="0"/>
                            </a:rPr>
                            <m:t>$1</m:t>
                          </m:r>
                        </m:oMath>
                      </m:oMathPara>
                    </a14:m>
                    <a:endParaRPr lang="en-SG" sz="20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11B3178F-93E0-7E17-BA6B-C7125940CE56}"/>
                      </a:ext>
                    </a:extLst>
                  </p:cNvPr>
                  <p:cNvSpPr txBox="1">
                    <a:spLocks noRot="1" noChangeAspect="1" noMove="1" noResize="1" noEditPoints="1" noAdjustHandles="1" noChangeArrowheads="1" noChangeShapeType="1" noTextEdit="1"/>
                  </p:cNvSpPr>
                  <p:nvPr/>
                </p:nvSpPr>
                <p:spPr>
                  <a:xfrm>
                    <a:off x="838200" y="2601269"/>
                    <a:ext cx="514885" cy="400110"/>
                  </a:xfrm>
                  <a:prstGeom prst="rect">
                    <a:avLst/>
                  </a:prstGeom>
                  <a:blipFill>
                    <a:blip r:embed="rId2"/>
                    <a:stretch>
                      <a:fillRect b="-307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4539076-0BB5-784D-BF31-FB61B29EC9DC}"/>
                      </a:ext>
                    </a:extLst>
                  </p:cNvPr>
                  <p:cNvSpPr txBox="1"/>
                  <p:nvPr/>
                </p:nvSpPr>
                <p:spPr>
                  <a:xfrm>
                    <a:off x="567869" y="4389116"/>
                    <a:ext cx="105554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sz="200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$1</m:t>
                          </m:r>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ctrlPr>
                            </m:sSubPr>
                            <m:e>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𝐸</m:t>
                              </m:r>
                            </m:e>
                            <m:sub>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𝑡</m:t>
                              </m:r>
                            </m:sub>
                          </m:sSub>
                        </m:oMath>
                      </m:oMathPara>
                    </a14:m>
                    <a:endParaRPr lang="en-SG" sz="2000" dirty="0">
                      <a:solidFill>
                        <a:schemeClr val="accent2"/>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 name="TextBox 4">
                    <a:extLst>
                      <a:ext uri="{FF2B5EF4-FFF2-40B4-BE49-F238E27FC236}">
                        <a16:creationId xmlns:a16="http://schemas.microsoft.com/office/drawing/2014/main" id="{84539076-0BB5-784D-BF31-FB61B29EC9DC}"/>
                      </a:ext>
                    </a:extLst>
                  </p:cNvPr>
                  <p:cNvSpPr txBox="1">
                    <a:spLocks noRot="1" noChangeAspect="1" noMove="1" noResize="1" noEditPoints="1" noAdjustHandles="1" noChangeArrowheads="1" noChangeShapeType="1" noTextEdit="1"/>
                  </p:cNvSpPr>
                  <p:nvPr/>
                </p:nvSpPr>
                <p:spPr>
                  <a:xfrm>
                    <a:off x="567869" y="4389116"/>
                    <a:ext cx="1055545" cy="400110"/>
                  </a:xfrm>
                  <a:prstGeom prst="rect">
                    <a:avLst/>
                  </a:prstGeom>
                  <a:blipFill>
                    <a:blip r:embed="rId3"/>
                    <a:stretch>
                      <a:fillRect b="-303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C6E35D7-5E3A-1753-ADE2-329C128147AE}"/>
                      </a:ext>
                    </a:extLst>
                  </p:cNvPr>
                  <p:cNvSpPr txBox="1"/>
                  <p:nvPr/>
                </p:nvSpPr>
                <p:spPr>
                  <a:xfrm>
                    <a:off x="2517113" y="2601269"/>
                    <a:ext cx="16526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sz="2000" i="1" dirty="0" smtClean="0">
                              <a:solidFill>
                                <a:srgbClr val="00B050"/>
                              </a:solidFill>
                              <a:latin typeface="Cambria Math" panose="02040503050406030204" pitchFamily="18" charset="0"/>
                              <a:ea typeface="Calibri" panose="020F0502020204030204" pitchFamily="34" charset="0"/>
                              <a:cs typeface="Calibri" panose="020F0502020204030204" pitchFamily="34" charset="0"/>
                            </a:rPr>
                            <m:t>$1</m:t>
                          </m:r>
                          <m:r>
                            <a:rPr lang="en-SG" sz="2000" b="0" i="1" dirty="0" smtClean="0">
                              <a:solidFill>
                                <a:srgbClr val="00B050"/>
                              </a:solidFill>
                              <a:latin typeface="Cambria Math" panose="02040503050406030204" pitchFamily="18" charset="0"/>
                              <a:ea typeface="Calibri" panose="020F0502020204030204" pitchFamily="34" charset="0"/>
                              <a:cs typeface="Calibri" panose="020F0502020204030204" pitchFamily="34" charset="0"/>
                            </a:rPr>
                            <m:t>×</m:t>
                          </m:r>
                          <m:d>
                            <m:dPr>
                              <m:ctrlPr>
                                <a:rPr lang="en-SG" sz="2000" b="0" i="1" dirty="0" smtClean="0">
                                  <a:solidFill>
                                    <a:srgbClr val="00B050"/>
                                  </a:solidFill>
                                  <a:latin typeface="Cambria Math" panose="02040503050406030204" pitchFamily="18" charset="0"/>
                                  <a:ea typeface="Calibri" panose="020F0502020204030204" pitchFamily="34" charset="0"/>
                                  <a:cs typeface="Calibri" panose="020F0502020204030204" pitchFamily="34" charset="0"/>
                                </a:rPr>
                              </m:ctrlPr>
                            </m:dPr>
                            <m:e>
                              <m:r>
                                <a:rPr lang="en-SG" sz="2000" b="0" i="1" dirty="0" smtClean="0">
                                  <a:solidFill>
                                    <a:srgbClr val="00B050"/>
                                  </a:solidFill>
                                  <a:latin typeface="Cambria Math" panose="02040503050406030204" pitchFamily="18" charset="0"/>
                                  <a:ea typeface="Calibri" panose="020F0502020204030204" pitchFamily="34" charset="0"/>
                                  <a:cs typeface="Calibri" panose="020F0502020204030204" pitchFamily="34" charset="0"/>
                                </a:rPr>
                                <m:t>1+</m:t>
                              </m:r>
                              <m:sSub>
                                <m:sSubPr>
                                  <m:ctrlPr>
                                    <a:rPr lang="en-SG" sz="2000" b="0" i="1" dirty="0" smtClean="0">
                                      <a:solidFill>
                                        <a:srgbClr val="00B050"/>
                                      </a:solidFill>
                                      <a:latin typeface="Cambria Math" panose="02040503050406030204" pitchFamily="18" charset="0"/>
                                      <a:ea typeface="Calibri" panose="020F0502020204030204" pitchFamily="34" charset="0"/>
                                      <a:cs typeface="Calibri" panose="020F0502020204030204" pitchFamily="34" charset="0"/>
                                    </a:rPr>
                                  </m:ctrlPr>
                                </m:sSubPr>
                                <m:e>
                                  <m:r>
                                    <a:rPr lang="en-SG" sz="2000" b="0" i="1" dirty="0" smtClean="0">
                                      <a:solidFill>
                                        <a:srgbClr val="00B050"/>
                                      </a:solidFill>
                                      <a:latin typeface="Cambria Math" panose="02040503050406030204" pitchFamily="18" charset="0"/>
                                      <a:ea typeface="Calibri" panose="020F0502020204030204" pitchFamily="34" charset="0"/>
                                      <a:cs typeface="Calibri" panose="020F0502020204030204" pitchFamily="34" charset="0"/>
                                    </a:rPr>
                                    <m:t>𝑖</m:t>
                                  </m:r>
                                </m:e>
                                <m:sub>
                                  <m:r>
                                    <a:rPr lang="en-SG" sz="2000" b="0" i="1" dirty="0" smtClean="0">
                                      <a:solidFill>
                                        <a:srgbClr val="00B050"/>
                                      </a:solidFill>
                                      <a:latin typeface="Cambria Math" panose="02040503050406030204" pitchFamily="18" charset="0"/>
                                      <a:ea typeface="Calibri" panose="020F0502020204030204" pitchFamily="34" charset="0"/>
                                      <a:cs typeface="Calibri" panose="020F0502020204030204" pitchFamily="34" charset="0"/>
                                    </a:rPr>
                                    <m:t>𝑡</m:t>
                                  </m:r>
                                </m:sub>
                              </m:sSub>
                            </m:e>
                          </m:d>
                        </m:oMath>
                      </m:oMathPara>
                    </a14:m>
                    <a:endParaRPr lang="en-SG" sz="20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 name="TextBox 5">
                    <a:extLst>
                      <a:ext uri="{FF2B5EF4-FFF2-40B4-BE49-F238E27FC236}">
                        <a16:creationId xmlns:a16="http://schemas.microsoft.com/office/drawing/2014/main" id="{1C6E35D7-5E3A-1753-ADE2-329C128147AE}"/>
                      </a:ext>
                    </a:extLst>
                  </p:cNvPr>
                  <p:cNvSpPr txBox="1">
                    <a:spLocks noRot="1" noChangeAspect="1" noMove="1" noResize="1" noEditPoints="1" noAdjustHandles="1" noChangeArrowheads="1" noChangeShapeType="1" noTextEdit="1"/>
                  </p:cNvSpPr>
                  <p:nvPr/>
                </p:nvSpPr>
                <p:spPr>
                  <a:xfrm>
                    <a:off x="2517113" y="2601269"/>
                    <a:ext cx="1652696" cy="400110"/>
                  </a:xfrm>
                  <a:prstGeom prst="rect">
                    <a:avLst/>
                  </a:prstGeom>
                  <a:blipFill>
                    <a:blip r:embed="rId4"/>
                    <a:stretch>
                      <a:fillRect b="-307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FB481F9-A204-7573-7E32-A61A4CDC357B}"/>
                      </a:ext>
                    </a:extLst>
                  </p:cNvPr>
                  <p:cNvSpPr txBox="1"/>
                  <p:nvPr/>
                </p:nvSpPr>
                <p:spPr>
                  <a:xfrm>
                    <a:off x="2282690" y="4389116"/>
                    <a:ext cx="188711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sz="200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$1</m:t>
                          </m:r>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ctrlPr>
                            </m:sSubPr>
                            <m:e>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𝐸</m:t>
                              </m:r>
                            </m:e>
                            <m:sub>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𝑡</m:t>
                              </m:r>
                            </m:sub>
                          </m:sSub>
                          <m:d>
                            <m:dPr>
                              <m:ctrlP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ctrlPr>
                            </m:dPr>
                            <m:e>
                              <m:r>
                                <a:rPr lang="en-SG" sz="2000" b="0" i="0"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1+</m:t>
                              </m:r>
                              <m:sSubSup>
                                <m:sSubSupPr>
                                  <m:ctrlP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ctrlPr>
                                </m:sSubSupPr>
                                <m:e>
                                  <m:r>
                                    <m:rPr>
                                      <m:sty m:val="p"/>
                                    </m:rPr>
                                    <a:rPr lang="en-SG" sz="2000" b="0" i="0"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i</m:t>
                                  </m:r>
                                </m:e>
                                <m:sub>
                                  <m:r>
                                    <m:rPr>
                                      <m:sty m:val="p"/>
                                    </m:rPr>
                                    <a:rPr lang="en-SG" sz="2000" b="0" i="0"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t</m:t>
                                  </m:r>
                                </m:sub>
                                <m:sup>
                                  <m:r>
                                    <a:rPr lang="en-SG" sz="2000" b="0" i="0"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m:t>
                                  </m:r>
                                </m:sup>
                              </m:sSubSup>
                            </m:e>
                          </m:d>
                        </m:oMath>
                      </m:oMathPara>
                    </a14:m>
                    <a:endParaRPr lang="en-SG" sz="2000" dirty="0">
                      <a:solidFill>
                        <a:schemeClr val="accent2"/>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 name="TextBox 6">
                    <a:extLst>
                      <a:ext uri="{FF2B5EF4-FFF2-40B4-BE49-F238E27FC236}">
                        <a16:creationId xmlns:a16="http://schemas.microsoft.com/office/drawing/2014/main" id="{1FB481F9-A204-7573-7E32-A61A4CDC357B}"/>
                      </a:ext>
                    </a:extLst>
                  </p:cNvPr>
                  <p:cNvSpPr txBox="1">
                    <a:spLocks noRot="1" noChangeAspect="1" noMove="1" noResize="1" noEditPoints="1" noAdjustHandles="1" noChangeArrowheads="1" noChangeShapeType="1" noTextEdit="1"/>
                  </p:cNvSpPr>
                  <p:nvPr/>
                </p:nvSpPr>
                <p:spPr>
                  <a:xfrm>
                    <a:off x="2282690" y="4389116"/>
                    <a:ext cx="1887119" cy="400110"/>
                  </a:xfrm>
                  <a:prstGeom prst="rect">
                    <a:avLst/>
                  </a:prstGeom>
                  <a:blipFill>
                    <a:blip r:embed="rId5"/>
                    <a:stretch>
                      <a:fillRect b="-303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0AC13D-8BAD-87A1-6C3D-F5E673211B0D}"/>
                      </a:ext>
                    </a:extLst>
                  </p:cNvPr>
                  <p:cNvSpPr txBox="1"/>
                  <p:nvPr/>
                </p:nvSpPr>
                <p:spPr>
                  <a:xfrm>
                    <a:off x="2282690" y="3078425"/>
                    <a:ext cx="1912767" cy="7554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sz="200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$1</m:t>
                          </m:r>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m:t>
                          </m:r>
                          <m:f>
                            <m:fPr>
                              <m:ctrlP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ctrlPr>
                            </m:fPr>
                            <m:num>
                              <m:sSub>
                                <m:sSubPr>
                                  <m:ctrlP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ctrlPr>
                                </m:sSubPr>
                                <m:e>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𝐸</m:t>
                                  </m:r>
                                </m:e>
                                <m:sub>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𝑡</m:t>
                                  </m:r>
                                </m:sub>
                              </m:sSub>
                              <m:d>
                                <m:dPr>
                                  <m:ctrlP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ctrlPr>
                                </m:dPr>
                                <m:e>
                                  <m:r>
                                    <a:rPr lang="en-SG" sz="2000" b="0" i="0"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1+</m:t>
                                  </m:r>
                                  <m:sSubSup>
                                    <m:sSubSupPr>
                                      <m:ctrlP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ctrlPr>
                                    </m:sSubSupPr>
                                    <m:e>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𝑖</m:t>
                                      </m:r>
                                    </m:e>
                                    <m:sub>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𝑡</m:t>
                                      </m:r>
                                    </m:sub>
                                    <m:sup>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m:t>
                                      </m:r>
                                    </m:sup>
                                  </m:sSubSup>
                                </m:e>
                              </m:d>
                            </m:num>
                            <m:den>
                              <m:sSubSup>
                                <m:sSubSupPr>
                                  <m:ctrlP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ctrlPr>
                                </m:sSubSupPr>
                                <m:e>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𝐸</m:t>
                                  </m:r>
                                </m:e>
                                <m:sub>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𝑡</m:t>
                                  </m:r>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+1</m:t>
                                  </m:r>
                                </m:sub>
                                <m:sup>
                                  <m:r>
                                    <a:rPr lang="en-SG" sz="2000" b="0" i="1" dirty="0" smtClean="0">
                                      <a:solidFill>
                                        <a:schemeClr val="accent2"/>
                                      </a:solidFill>
                                      <a:latin typeface="Cambria Math" panose="02040503050406030204" pitchFamily="18" charset="0"/>
                                      <a:ea typeface="Calibri" panose="020F0502020204030204" pitchFamily="34" charset="0"/>
                                      <a:cs typeface="Calibri" panose="020F0502020204030204" pitchFamily="34" charset="0"/>
                                    </a:rPr>
                                    <m:t>𝑒</m:t>
                                  </m:r>
                                </m:sup>
                              </m:sSubSup>
                            </m:den>
                          </m:f>
                        </m:oMath>
                      </m:oMathPara>
                    </a14:m>
                    <a:endParaRPr lang="en-SG" sz="2000" dirty="0">
                      <a:solidFill>
                        <a:schemeClr val="accent2"/>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9D0AC13D-8BAD-87A1-6C3D-F5E673211B0D}"/>
                      </a:ext>
                    </a:extLst>
                  </p:cNvPr>
                  <p:cNvSpPr txBox="1">
                    <a:spLocks noRot="1" noChangeAspect="1" noMove="1" noResize="1" noEditPoints="1" noAdjustHandles="1" noChangeArrowheads="1" noChangeShapeType="1" noTextEdit="1"/>
                  </p:cNvSpPr>
                  <p:nvPr/>
                </p:nvSpPr>
                <p:spPr>
                  <a:xfrm>
                    <a:off x="2282690" y="3078425"/>
                    <a:ext cx="1912767" cy="755400"/>
                  </a:xfrm>
                  <a:prstGeom prst="rect">
                    <a:avLst/>
                  </a:prstGeom>
                  <a:blipFill>
                    <a:blip r:embed="rId6"/>
                    <a:stretch>
                      <a:fillRect/>
                    </a:stretch>
                  </a:blipFill>
                </p:spPr>
                <p:txBody>
                  <a:bodyPr/>
                  <a:lstStyle/>
                  <a:p>
                    <a:r>
                      <a:rPr lang="en-SG">
                        <a:noFill/>
                      </a:rPr>
                      <a:t> </a:t>
                    </a:r>
                  </a:p>
                </p:txBody>
              </p:sp>
            </mc:Fallback>
          </mc:AlternateContent>
          <p:cxnSp>
            <p:nvCxnSpPr>
              <p:cNvPr id="10" name="Straight Arrow Connector 9">
                <a:extLst>
                  <a:ext uri="{FF2B5EF4-FFF2-40B4-BE49-F238E27FC236}">
                    <a16:creationId xmlns:a16="http://schemas.microsoft.com/office/drawing/2014/main" id="{636FB3E8-5834-5CBD-D1F3-59C9F1607C5F}"/>
                  </a:ext>
                </a:extLst>
              </p:cNvPr>
              <p:cNvCxnSpPr>
                <a:stCxn id="4" idx="2"/>
                <a:endCxn id="5" idx="0"/>
              </p:cNvCxnSpPr>
              <p:nvPr/>
            </p:nvCxnSpPr>
            <p:spPr>
              <a:xfrm flipH="1">
                <a:off x="1095642" y="3001379"/>
                <a:ext cx="1" cy="1387737"/>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1CCA609C-1AB5-D80F-EA07-A22A213F5084}"/>
                  </a:ext>
                </a:extLst>
              </p:cNvPr>
              <p:cNvCxnSpPr>
                <a:stCxn id="5" idx="3"/>
                <a:endCxn id="7" idx="1"/>
              </p:cNvCxnSpPr>
              <p:nvPr/>
            </p:nvCxnSpPr>
            <p:spPr>
              <a:xfrm>
                <a:off x="1623414" y="4589171"/>
                <a:ext cx="659276"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7A656C3-DD5C-C2FB-6BED-3F3C0754CA47}"/>
                  </a:ext>
                </a:extLst>
              </p:cNvPr>
              <p:cNvCxnSpPr>
                <a:stCxn id="4" idx="3"/>
                <a:endCxn id="6" idx="1"/>
              </p:cNvCxnSpPr>
              <p:nvPr/>
            </p:nvCxnSpPr>
            <p:spPr>
              <a:xfrm>
                <a:off x="1353085" y="2801324"/>
                <a:ext cx="1164028" cy="0"/>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6435CE5-A8B1-5899-93B2-F7CF139A9662}"/>
                      </a:ext>
                    </a:extLst>
                  </p:cNvPr>
                  <p:cNvSpPr txBox="1"/>
                  <p:nvPr/>
                </p:nvSpPr>
                <p:spPr>
                  <a:xfrm>
                    <a:off x="957161" y="4924163"/>
                    <a:ext cx="2849113" cy="400110"/>
                  </a:xfrm>
                  <a:prstGeom prst="rect">
                    <a:avLst/>
                  </a:prstGeom>
                  <a:noFill/>
                </p:spPr>
                <p:txBody>
                  <a:bodyPr wrap="none" rtlCol="0">
                    <a:spAutoFit/>
                  </a:bodyPr>
                  <a:lstStyle/>
                  <a:p>
                    <a14:m>
                      <m:oMath xmlns:m="http://schemas.openxmlformats.org/officeDocument/2006/math">
                        <m:sSub>
                          <m:sSubPr>
                            <m:ctrlPr>
                              <a:rPr lang="en-SG" sz="20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𝑡</m:t>
                            </m:r>
                          </m:sub>
                        </m:sSub>
                      </m:oMath>
                    </a14:m>
                    <a:r>
                      <a:rPr lang="en-SG" sz="2000" dirty="0">
                        <a:solidFill>
                          <a:schemeClr val="tx1"/>
                        </a:solidFill>
                        <a:latin typeface="Calibri" panose="020F0502020204030204" pitchFamily="34" charset="0"/>
                        <a:ea typeface="Calibri" panose="020F0502020204030204" pitchFamily="34" charset="0"/>
                        <a:cs typeface="Calibri" panose="020F0502020204030204" pitchFamily="34" charset="0"/>
                      </a:rPr>
                      <a:t> is the price of </a:t>
                    </a:r>
                    <a14:m>
                      <m:oMath xmlns:m="http://schemas.openxmlformats.org/officeDocument/2006/math">
                        <m:r>
                          <a:rPr lang="en-SG" sz="20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𝑈𝑆</m:t>
                        </m:r>
                        <m:r>
                          <a:rPr lang="en-SG" sz="20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oMath>
                    </a14:m>
                    <a:r>
                      <a:rPr lang="en-SG" sz="2000" dirty="0">
                        <a:solidFill>
                          <a:schemeClr val="tx1"/>
                        </a:solidFill>
                        <a:latin typeface="Calibri" panose="020F0502020204030204" pitchFamily="34" charset="0"/>
                        <a:ea typeface="Calibri" panose="020F0502020204030204" pitchFamily="34" charset="0"/>
                        <a:cs typeface="Calibri" panose="020F0502020204030204" pitchFamily="34" charset="0"/>
                      </a:rPr>
                      <a:t> in </a:t>
                    </a:r>
                    <a14:m>
                      <m:oMath xmlns:m="http://schemas.openxmlformats.org/officeDocument/2006/math">
                        <m:r>
                          <a:rPr lang="en-SG" sz="20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oMath>
                    </a14:m>
                    <a:endParaRPr lang="en-SG"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7" name="TextBox 16">
                    <a:extLst>
                      <a:ext uri="{FF2B5EF4-FFF2-40B4-BE49-F238E27FC236}">
                        <a16:creationId xmlns:a16="http://schemas.microsoft.com/office/drawing/2014/main" id="{56435CE5-A8B1-5899-93B2-F7CF139A9662}"/>
                      </a:ext>
                    </a:extLst>
                  </p:cNvPr>
                  <p:cNvSpPr txBox="1">
                    <a:spLocks noRot="1" noChangeAspect="1" noMove="1" noResize="1" noEditPoints="1" noAdjustHandles="1" noChangeArrowheads="1" noChangeShapeType="1" noTextEdit="1"/>
                  </p:cNvSpPr>
                  <p:nvPr/>
                </p:nvSpPr>
                <p:spPr>
                  <a:xfrm>
                    <a:off x="957161" y="4924163"/>
                    <a:ext cx="2849113" cy="400110"/>
                  </a:xfrm>
                  <a:prstGeom prst="rect">
                    <a:avLst/>
                  </a:prstGeom>
                  <a:blipFill>
                    <a:blip r:embed="rId7"/>
                    <a:stretch>
                      <a:fillRect t="-9231" b="-2769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6D56042-82E2-C386-BE68-9693AD39D94C}"/>
                      </a:ext>
                    </a:extLst>
                  </p:cNvPr>
                  <p:cNvSpPr txBox="1"/>
                  <p:nvPr/>
                </p:nvSpPr>
                <p:spPr>
                  <a:xfrm>
                    <a:off x="712265" y="2201159"/>
                    <a:ext cx="815223" cy="400110"/>
                  </a:xfrm>
                  <a:prstGeom prst="rect">
                    <a:avLst/>
                  </a:prstGeom>
                  <a:noFill/>
                </p:spPr>
                <p:txBody>
                  <a:bodyPr wrap="none" rtlCol="0">
                    <a:spAutoFit/>
                  </a:bodyPr>
                  <a:lstStyle/>
                  <a:p>
                    <a:r>
                      <a:rPr lang="en-SG" sz="2000" dirty="0">
                        <a:solidFill>
                          <a:schemeClr val="tx1"/>
                        </a:solidFill>
                        <a:ea typeface="Calibri" panose="020F0502020204030204" pitchFamily="34" charset="0"/>
                        <a:cs typeface="Calibri" panose="020F0502020204030204" pitchFamily="34" charset="0"/>
                      </a:rPr>
                      <a:t>Year </a:t>
                    </a:r>
                    <a14:m>
                      <m:oMath xmlns:m="http://schemas.openxmlformats.org/officeDocument/2006/math">
                        <m:r>
                          <a:rPr lang="en-SG" sz="20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𝑡</m:t>
                        </m:r>
                      </m:oMath>
                    </a14:m>
                    <a:endParaRPr lang="en-SG"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8" name="TextBox 17">
                    <a:extLst>
                      <a:ext uri="{FF2B5EF4-FFF2-40B4-BE49-F238E27FC236}">
                        <a16:creationId xmlns:a16="http://schemas.microsoft.com/office/drawing/2014/main" id="{F6D56042-82E2-C386-BE68-9693AD39D94C}"/>
                      </a:ext>
                    </a:extLst>
                  </p:cNvPr>
                  <p:cNvSpPr txBox="1">
                    <a:spLocks noRot="1" noChangeAspect="1" noMove="1" noResize="1" noEditPoints="1" noAdjustHandles="1" noChangeArrowheads="1" noChangeShapeType="1" noTextEdit="1"/>
                  </p:cNvSpPr>
                  <p:nvPr/>
                </p:nvSpPr>
                <p:spPr>
                  <a:xfrm>
                    <a:off x="712265" y="2201159"/>
                    <a:ext cx="815223" cy="400110"/>
                  </a:xfrm>
                  <a:prstGeom prst="rect">
                    <a:avLst/>
                  </a:prstGeom>
                  <a:blipFill>
                    <a:blip r:embed="rId8"/>
                    <a:stretch>
                      <a:fillRect l="-7463" t="-6061" b="-2727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27E1930-08B6-2BFA-9704-BD8AE4C38171}"/>
                      </a:ext>
                    </a:extLst>
                  </p:cNvPr>
                  <p:cNvSpPr txBox="1"/>
                  <p:nvPr/>
                </p:nvSpPr>
                <p:spPr>
                  <a:xfrm>
                    <a:off x="2707806" y="2200615"/>
                    <a:ext cx="1271310" cy="400110"/>
                  </a:xfrm>
                  <a:prstGeom prst="rect">
                    <a:avLst/>
                  </a:prstGeom>
                  <a:noFill/>
                </p:spPr>
                <p:txBody>
                  <a:bodyPr wrap="none" rtlCol="0">
                    <a:spAutoFit/>
                  </a:bodyPr>
                  <a:lstStyle/>
                  <a:p>
                    <a:r>
                      <a:rPr lang="en-SG" sz="2000" dirty="0">
                        <a:solidFill>
                          <a:schemeClr val="tx1"/>
                        </a:solidFill>
                        <a:ea typeface="Calibri" panose="020F0502020204030204" pitchFamily="34" charset="0"/>
                        <a:cs typeface="Calibri" panose="020F0502020204030204" pitchFamily="34" charset="0"/>
                      </a:rPr>
                      <a:t>Year </a:t>
                    </a:r>
                    <a14:m>
                      <m:oMath xmlns:m="http://schemas.openxmlformats.org/officeDocument/2006/math">
                        <m:r>
                          <a:rPr lang="en-SG" sz="20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𝑡</m:t>
                        </m:r>
                        <m:r>
                          <a:rPr lang="en-SG" sz="2000" b="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+1</m:t>
                        </m:r>
                      </m:oMath>
                    </a14:m>
                    <a:endParaRPr lang="en-SG"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9" name="TextBox 18">
                    <a:extLst>
                      <a:ext uri="{FF2B5EF4-FFF2-40B4-BE49-F238E27FC236}">
                        <a16:creationId xmlns:a16="http://schemas.microsoft.com/office/drawing/2014/main" id="{927E1930-08B6-2BFA-9704-BD8AE4C38171}"/>
                      </a:ext>
                    </a:extLst>
                  </p:cNvPr>
                  <p:cNvSpPr txBox="1">
                    <a:spLocks noRot="1" noChangeAspect="1" noMove="1" noResize="1" noEditPoints="1" noAdjustHandles="1" noChangeArrowheads="1" noChangeShapeType="1" noTextEdit="1"/>
                  </p:cNvSpPr>
                  <p:nvPr/>
                </p:nvSpPr>
                <p:spPr>
                  <a:xfrm>
                    <a:off x="2707806" y="2200615"/>
                    <a:ext cx="1271310" cy="400110"/>
                  </a:xfrm>
                  <a:prstGeom prst="rect">
                    <a:avLst/>
                  </a:prstGeom>
                  <a:blipFill>
                    <a:blip r:embed="rId9"/>
                    <a:stretch>
                      <a:fillRect l="-5288" t="-6061" b="-27273"/>
                    </a:stretch>
                  </a:blipFill>
                </p:spPr>
                <p:txBody>
                  <a:bodyPr/>
                  <a:lstStyle/>
                  <a:p>
                    <a:r>
                      <a:rPr lang="en-SG">
                        <a:noFill/>
                      </a:rPr>
                      <a:t> </a:t>
                    </a:r>
                  </a:p>
                </p:txBody>
              </p:sp>
            </mc:Fallback>
          </mc:AlternateContent>
        </p:gr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B9C558C-F79B-6D98-E62F-65CABEFE4CA1}"/>
                  </a:ext>
                </a:extLst>
              </p:cNvPr>
              <p:cNvSpPr txBox="1"/>
              <p:nvPr/>
            </p:nvSpPr>
            <p:spPr>
              <a:xfrm>
                <a:off x="5112241" y="2481344"/>
                <a:ext cx="6058688" cy="2909836"/>
              </a:xfrm>
              <a:prstGeom prst="rect">
                <a:avLst/>
              </a:prstGeom>
              <a:noFill/>
            </p:spPr>
            <p:txBody>
              <a:bodyPr wrap="square" rtlCol="0">
                <a:spAutoFit/>
              </a:bodyPr>
              <a:lstStyle/>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False! </a:t>
                </a:r>
                <a:r>
                  <a:rPr lang="en-US" sz="2000" dirty="0">
                    <a:latin typeface="Calibri" panose="020F0502020204030204" pitchFamily="34" charset="0"/>
                    <a:ea typeface="Calibri" panose="020F0502020204030204" pitchFamily="34" charset="0"/>
                    <a:cs typeface="Calibri" panose="020F0502020204030204" pitchFamily="34" charset="0"/>
                  </a:rPr>
                  <a:t>UIP suggest that:</a:t>
                </a:r>
                <a:endParaRPr lang="en-SG" sz="2000" b="0" i="1" dirty="0">
                  <a:solidFill>
                    <a:schemeClr val="tx1"/>
                  </a:solidFill>
                  <a:latin typeface="Cambria Math" panose="02040503050406030204" pitchFamily="18" charset="0"/>
                  <a:ea typeface="Calibri" panose="020F0502020204030204" pitchFamily="34" charset="0"/>
                  <a:cs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SG" sz="2000" b="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1+</m:t>
                      </m:r>
                      <m:sSub>
                        <m:sSubPr>
                          <m:ctrlPr>
                            <a:rPr lang="en-SG" sz="2000" b="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SG" sz="2000" b="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𝑖</m:t>
                          </m:r>
                        </m:e>
                        <m:sub>
                          <m:r>
                            <a:rPr lang="en-SG" sz="2000" b="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𝑡</m:t>
                          </m:r>
                        </m:sub>
                      </m:sSub>
                      <m:r>
                        <a:rPr lang="en-SG" sz="2000" b="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f>
                        <m:fPr>
                          <m:ctrlP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fPr>
                        <m:num>
                          <m:d>
                            <m:dPr>
                              <m:ctrlP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dPr>
                            <m:e>
                              <m:r>
                                <a:rPr lang="en-SG" sz="2000" dirty="0">
                                  <a:solidFill>
                                    <a:schemeClr val="tx1"/>
                                  </a:solidFill>
                                  <a:latin typeface="Cambria Math" panose="02040503050406030204" pitchFamily="18" charset="0"/>
                                  <a:ea typeface="Calibri" panose="020F0502020204030204" pitchFamily="34" charset="0"/>
                                  <a:cs typeface="Calibri" panose="020F0502020204030204" pitchFamily="34" charset="0"/>
                                </a:rPr>
                                <m:t>1+</m:t>
                              </m:r>
                              <m:sSubSup>
                                <m:sSubSupPr>
                                  <m:ctrlP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sSubSupPr>
                                <m:e>
                                  <m: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t>𝑖</m:t>
                                  </m:r>
                                </m:e>
                                <m:sub>
                                  <m: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t>𝑡</m:t>
                                  </m:r>
                                </m:sub>
                                <m:sup>
                                  <m: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t>∗</m:t>
                                  </m:r>
                                </m:sup>
                              </m:sSubSup>
                            </m:e>
                          </m:d>
                          <m:sSub>
                            <m:sSubPr>
                              <m:ctrlPr>
                                <a:rPr lang="en-SG" sz="2000" i="1" dirty="0">
                                  <a:latin typeface="Cambria Math" panose="02040503050406030204" pitchFamily="18" charset="0"/>
                                  <a:ea typeface="Calibri" panose="020F0502020204030204" pitchFamily="34" charset="0"/>
                                  <a:cs typeface="Calibri" panose="020F0502020204030204" pitchFamily="34" charset="0"/>
                                </a:rPr>
                              </m:ctrlPr>
                            </m:sSubPr>
                            <m:e>
                              <m:r>
                                <a:rPr lang="en-SG" sz="2000" i="1" dirty="0">
                                  <a:latin typeface="Cambria Math" panose="02040503050406030204" pitchFamily="18" charset="0"/>
                                  <a:ea typeface="Calibri" panose="020F0502020204030204" pitchFamily="34" charset="0"/>
                                  <a:cs typeface="Calibri" panose="020F0502020204030204" pitchFamily="34" charset="0"/>
                                </a:rPr>
                                <m:t>𝐸</m:t>
                              </m:r>
                            </m:e>
                            <m:sub>
                              <m:r>
                                <a:rPr lang="en-SG" sz="2000" i="1" dirty="0">
                                  <a:latin typeface="Cambria Math" panose="02040503050406030204" pitchFamily="18" charset="0"/>
                                  <a:ea typeface="Calibri" panose="020F0502020204030204" pitchFamily="34" charset="0"/>
                                  <a:cs typeface="Calibri" panose="020F0502020204030204" pitchFamily="34" charset="0"/>
                                </a:rPr>
                                <m:t>𝑡</m:t>
                              </m:r>
                            </m:sub>
                          </m:sSub>
                        </m:num>
                        <m:den>
                          <m:sSubSup>
                            <m:sSubSupPr>
                              <m:ctrlP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sSubSupPr>
                            <m:e>
                              <m: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t>𝐸</m:t>
                              </m:r>
                            </m:e>
                            <m:sub>
                              <m: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t>𝑡</m:t>
                              </m:r>
                              <m: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t>+1</m:t>
                              </m:r>
                            </m:sub>
                            <m:sup>
                              <m:r>
                                <a:rPr lang="en-SG" sz="2000" i="1" dirty="0">
                                  <a:solidFill>
                                    <a:schemeClr val="tx1"/>
                                  </a:solidFill>
                                  <a:latin typeface="Cambria Math" panose="02040503050406030204" pitchFamily="18" charset="0"/>
                                  <a:ea typeface="Calibri" panose="020F0502020204030204" pitchFamily="34" charset="0"/>
                                  <a:cs typeface="Calibri" panose="020F0502020204030204" pitchFamily="34" charset="0"/>
                                </a:rPr>
                                <m:t>𝑒</m:t>
                              </m:r>
                            </m:sup>
                          </m:sSubSup>
                        </m:den>
                      </m:f>
                    </m:oMath>
                  </m:oMathPara>
                </a14:m>
                <a:endParaRPr lang="en-SG" sz="2000" dirty="0">
                  <a:latin typeface="Calibri" panose="020F0502020204030204" pitchFamily="34" charset="0"/>
                  <a:ea typeface="Calibri" panose="020F0502020204030204" pitchFamily="34" charset="0"/>
                  <a:cs typeface="Calibri" panose="020F0502020204030204" pitchFamily="34" charset="0"/>
                </a:endParaRPr>
              </a:p>
              <a:p>
                <a:r>
                  <a:rPr lang="en-SG" sz="2000" dirty="0">
                    <a:latin typeface="Calibri" panose="020F0502020204030204" pitchFamily="34" charset="0"/>
                    <a:ea typeface="Calibri" panose="020F0502020204030204" pitchFamily="34" charset="0"/>
                    <a:cs typeface="Calibri" panose="020F0502020204030204" pitchFamily="34" charset="0"/>
                  </a:rPr>
                  <a:t>So that financial investors are indifferent between domestic (US) bonds and foreign (UK) bonds. </a:t>
                </a:r>
              </a:p>
              <a:p>
                <a:endParaRPr lang="en-SG"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It implies that interest rates can be different between 2 countries, but FX will adjust to make returns equivalent. </a:t>
                </a:r>
                <a:endParaRPr lang="en-SG"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0" name="TextBox 19">
                <a:extLst>
                  <a:ext uri="{FF2B5EF4-FFF2-40B4-BE49-F238E27FC236}">
                    <a16:creationId xmlns:a16="http://schemas.microsoft.com/office/drawing/2014/main" id="{EB9C558C-F79B-6D98-E62F-65CABEFE4CA1}"/>
                  </a:ext>
                </a:extLst>
              </p:cNvPr>
              <p:cNvSpPr txBox="1">
                <a:spLocks noRot="1" noChangeAspect="1" noMove="1" noResize="1" noEditPoints="1" noAdjustHandles="1" noChangeArrowheads="1" noChangeShapeType="1" noTextEdit="1"/>
              </p:cNvSpPr>
              <p:nvPr/>
            </p:nvSpPr>
            <p:spPr>
              <a:xfrm>
                <a:off x="5112241" y="2481344"/>
                <a:ext cx="6058688" cy="2909836"/>
              </a:xfrm>
              <a:prstGeom prst="rect">
                <a:avLst/>
              </a:prstGeom>
              <a:blipFill>
                <a:blip r:embed="rId10"/>
                <a:stretch>
                  <a:fillRect l="-1107" t="-1048" b="-2935"/>
                </a:stretch>
              </a:blipFill>
            </p:spPr>
            <p:txBody>
              <a:bodyPr/>
              <a:lstStyle/>
              <a:p>
                <a:r>
                  <a:rPr lang="en-SG">
                    <a:noFill/>
                  </a:rPr>
                  <a:t> </a:t>
                </a:r>
              </a:p>
            </p:txBody>
          </p:sp>
        </mc:Fallback>
      </mc:AlternateContent>
    </p:spTree>
    <p:extLst>
      <p:ext uri="{BB962C8B-B14F-4D97-AF65-F5344CB8AC3E}">
        <p14:creationId xmlns:p14="http://schemas.microsoft.com/office/powerpoint/2010/main" val="319231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SG" sz="2000" dirty="0">
                    <a:latin typeface="Calibri" panose="020F0502020204030204" pitchFamily="34" charset="0"/>
                    <a:ea typeface="Calibri" panose="020F0502020204030204" pitchFamily="34" charset="0"/>
                    <a:cs typeface="Calibri" panose="020F0502020204030204" pitchFamily="34" charset="0"/>
                  </a:rPr>
                  <a:t>Note that:</a:t>
                </a:r>
              </a:p>
              <a:p>
                <a:pPr marL="0" indent="0">
                  <a:buNone/>
                </a:pPr>
                <a14:m>
                  <m:oMathPara xmlns:m="http://schemas.openxmlformats.org/officeDocument/2006/math">
                    <m:oMathParaPr>
                      <m:jc m:val="centerGroup"/>
                    </m:oMathParaPr>
                    <m:oMath xmlns:m="http://schemas.openxmlformats.org/officeDocument/2006/math">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num>
                        <m:den>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r>
                                <a:rPr lang="en-SG" sz="2000" b="0" i="1" smtClean="0">
                                  <a:latin typeface="Cambria Math" panose="02040503050406030204" pitchFamily="18" charset="0"/>
                                  <a:ea typeface="Calibri" panose="020F0502020204030204" pitchFamily="34" charset="0"/>
                                  <a:cs typeface="Calibri" panose="020F0502020204030204" pitchFamily="34" charset="0"/>
                                </a:rPr>
                                <m:t>+1</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𝑒</m:t>
                              </m:r>
                            </m:sup>
                          </m:sSubSup>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m:t>
                          </m:r>
                        </m:num>
                        <m:den>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r>
                                    <a:rPr lang="en-SG" sz="2000" b="0" i="1" smtClean="0">
                                      <a:latin typeface="Cambria Math" panose="02040503050406030204" pitchFamily="18" charset="0"/>
                                      <a:ea typeface="Calibri" panose="020F0502020204030204" pitchFamily="34" charset="0"/>
                                      <a:cs typeface="Calibri" panose="020F0502020204030204" pitchFamily="34" charset="0"/>
                                    </a:rPr>
                                    <m:t>+1</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𝑒</m:t>
                                  </m:r>
                                </m:sup>
                              </m:sSubSup>
                            </m:num>
                            <m:den>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den>
                          </m:f>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r>
                            <a:rPr lang="en-SG" sz="2000" i="1">
                              <a:latin typeface="Cambria Math" panose="02040503050406030204" pitchFamily="18" charset="0"/>
                              <a:ea typeface="Calibri" panose="020F0502020204030204" pitchFamily="34" charset="0"/>
                              <a:cs typeface="Calibri" panose="020F0502020204030204" pitchFamily="34" charset="0"/>
                            </a:rPr>
                            <m:t>1</m:t>
                          </m:r>
                        </m:num>
                        <m:den>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r>
                                    <a:rPr lang="en-SG" sz="2000" b="0" i="1" smtClean="0">
                                      <a:latin typeface="Cambria Math" panose="02040503050406030204" pitchFamily="18" charset="0"/>
                                      <a:ea typeface="Calibri" panose="020F0502020204030204" pitchFamily="34" charset="0"/>
                                      <a:cs typeface="Calibri" panose="020F0502020204030204" pitchFamily="34" charset="0"/>
                                    </a:rPr>
                                    <m:t>+1</m:t>
                                  </m:r>
                                </m:sub>
                                <m:sup>
                                  <m:r>
                                    <a:rPr lang="en-SG" sz="2000" i="1">
                                      <a:latin typeface="Cambria Math" panose="02040503050406030204" pitchFamily="18" charset="0"/>
                                      <a:ea typeface="Calibri" panose="020F0502020204030204" pitchFamily="34" charset="0"/>
                                      <a:cs typeface="Calibri" panose="020F0502020204030204" pitchFamily="34" charset="0"/>
                                    </a:rPr>
                                    <m:t>𝑒</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den>
                          </m:f>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1+</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r>
                                    <a:rPr lang="en-SG" sz="2000" b="0" i="1" smtClean="0">
                                      <a:latin typeface="Cambria Math" panose="02040503050406030204" pitchFamily="18" charset="0"/>
                                      <a:ea typeface="Calibri" panose="020F0502020204030204" pitchFamily="34" charset="0"/>
                                      <a:cs typeface="Calibri" panose="020F0502020204030204" pitchFamily="34" charset="0"/>
                                    </a:rPr>
                                    <m:t>+1</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𝑒</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den>
                          </m:f>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den>
                      </m:f>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oMath>
                </a14:m>
                <a:r>
                  <a:rPr lang="en-US" sz="2000" dirty="0">
                    <a:latin typeface="Calibri" panose="020F0502020204030204" pitchFamily="34" charset="0"/>
                    <a:ea typeface="Calibri" panose="020F0502020204030204" pitchFamily="34" charset="0"/>
                    <a:cs typeface="Calibri" panose="020F0502020204030204" pitchFamily="34" charset="0"/>
                  </a:rPr>
                  <a:t> is the expected appreciation of domestic currency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𝑈𝑆</m:t>
                    </m:r>
                    <m:r>
                      <a:rPr lang="en-SG" sz="2000" b="0" i="1" smtClean="0">
                        <a:latin typeface="Cambria Math" panose="02040503050406030204" pitchFamily="18" charset="0"/>
                        <a:ea typeface="Calibri" panose="020F0502020204030204" pitchFamily="34" charset="0"/>
                        <a:cs typeface="Calibri" panose="020F0502020204030204" pitchFamily="34" charset="0"/>
                      </a:rPr>
                      <m:t>$</m:t>
                    </m:r>
                  </m:oMath>
                </a14:m>
                <a:r>
                  <a:rPr lang="en-US" sz="2000" dirty="0">
                    <a:latin typeface="Calibri" panose="020F0502020204030204" pitchFamily="34" charset="0"/>
                    <a:ea typeface="Calibri" panose="020F0502020204030204" pitchFamily="34" charset="0"/>
                    <a:cs typeface="Calibri" panose="020F0502020204030204" pitchFamily="34" charset="0"/>
                  </a:rPr>
                  <a:t>). Therefore:</a:t>
                </a:r>
              </a:p>
              <a:p>
                <a:pPr marL="0" indent="0">
                  <a:buNone/>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1+</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num>
                        <m:den>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den>
                      </m:f>
                      <m:r>
                        <a:rPr lang="en-SG" sz="2000" b="0" i="1" smtClean="0">
                          <a:latin typeface="Cambria Math" panose="02040503050406030204" pitchFamily="18" charset="0"/>
                          <a:ea typeface="Calibri" panose="020F0502020204030204" pitchFamily="34" charset="0"/>
                          <a:cs typeface="Calibri" panose="020F0502020204030204" pitchFamily="34" charset="0"/>
                        </a:rPr>
                        <m:t>≈1+</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This means: </a:t>
                </a:r>
              </a:p>
              <a:p>
                <a:pPr marL="0" indent="0">
                  <a:spcAft>
                    <a:spcPts val="600"/>
                  </a:spcAft>
                  <a:buNone/>
                </a:pPr>
                <a14:m>
                  <m:oMathPara xmlns:m="http://schemas.openxmlformats.org/officeDocument/2006/math">
                    <m:oMathParaPr>
                      <m:jc m:val="centerGroup"/>
                    </m:oMathParaPr>
                    <m:oMath xmlns:m="http://schemas.openxmlformats.org/officeDocument/2006/math">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r>
                                <a:rPr lang="en-SG" sz="2000" i="1">
                                  <a:latin typeface="Cambria Math" panose="02040503050406030204" pitchFamily="18" charset="0"/>
                                  <a:ea typeface="Calibri" panose="020F0502020204030204" pitchFamily="34" charset="0"/>
                                  <a:cs typeface="Calibri" panose="020F0502020204030204" pitchFamily="34" charset="0"/>
                                </a:rPr>
                                <m:t>+1</m:t>
                              </m:r>
                            </m:sub>
                            <m:sup>
                              <m:r>
                                <a:rPr lang="en-SG" sz="2000" i="1">
                                  <a:latin typeface="Cambria Math" panose="02040503050406030204" pitchFamily="18" charset="0"/>
                                  <a:ea typeface="Calibri" panose="020F0502020204030204" pitchFamily="34" charset="0"/>
                                  <a:cs typeface="Calibri" panose="020F0502020204030204" pitchFamily="34" charset="0"/>
                                </a:rPr>
                                <m:t>𝑒</m:t>
                              </m:r>
                            </m:sup>
                          </m:sSubSup>
                          <m:r>
                            <a:rPr lang="en-SG" sz="2000" i="1">
                              <a:latin typeface="Cambria Math" panose="02040503050406030204" pitchFamily="18" charset="0"/>
                              <a:ea typeface="Calibri" panose="020F0502020204030204" pitchFamily="34" charset="0"/>
                              <a:cs typeface="Calibri" panose="020F0502020204030204" pitchFamily="34" charset="0"/>
                            </a:rPr>
                            <m:t>−</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den>
                      </m:f>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r>
                                <a:rPr lang="en-SG" sz="2000" i="1">
                                  <a:latin typeface="Cambria Math" panose="02040503050406030204" pitchFamily="18" charset="0"/>
                                  <a:ea typeface="Calibri" panose="020F0502020204030204" pitchFamily="34" charset="0"/>
                                  <a:cs typeface="Calibri" panose="020F0502020204030204" pitchFamily="34" charset="0"/>
                                </a:rPr>
                                <m:t>+1</m:t>
                              </m:r>
                            </m:sub>
                            <m:sup>
                              <m:r>
                                <a:rPr lang="en-SG" sz="2000" i="1">
                                  <a:latin typeface="Cambria Math" panose="02040503050406030204" pitchFamily="18" charset="0"/>
                                  <a:ea typeface="Calibri" panose="020F0502020204030204" pitchFamily="34" charset="0"/>
                                  <a:cs typeface="Calibri" panose="020F0502020204030204" pitchFamily="34" charset="0"/>
                                </a:rPr>
                                <m:t>𝑒</m:t>
                              </m:r>
                            </m:sup>
                          </m:sSubSup>
                          <m:r>
                            <a:rPr lang="en-SG" sz="2000" i="1">
                              <a:latin typeface="Cambria Math" panose="02040503050406030204" pitchFamily="18" charset="0"/>
                              <a:ea typeface="Calibri" panose="020F0502020204030204" pitchFamily="34" charset="0"/>
                              <a:cs typeface="Calibri" panose="020F0502020204030204" pitchFamily="34" charset="0"/>
                            </a:rPr>
                            <m:t>−</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den>
                      </m:f>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en-SG">
                    <a:noFill/>
                  </a:rPr>
                  <a:t> </a:t>
                </a:r>
              </a:p>
            </p:txBody>
          </p:sp>
        </mc:Fallback>
      </mc:AlternateContent>
    </p:spTree>
    <p:extLst>
      <p:ext uri="{BB962C8B-B14F-4D97-AF65-F5344CB8AC3E}">
        <p14:creationId xmlns:p14="http://schemas.microsoft.com/office/powerpoint/2010/main" val="1826080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(c) </a:t>
                </a:r>
                <a:r>
                  <a:rPr lang="en-US" sz="2000" i="1" dirty="0">
                    <a:latin typeface="Calibri" panose="020F0502020204030204" pitchFamily="34" charset="0"/>
                    <a:ea typeface="Calibri" panose="020F0502020204030204" pitchFamily="34" charset="0"/>
                    <a:cs typeface="Calibri" panose="020F0502020204030204" pitchFamily="34" charset="0"/>
                  </a:rPr>
                  <a:t>The nominal exchange rate and the real exchange rate always move in the same direction.</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Real exchange rate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𝜀</m:t>
                    </m:r>
                  </m:oMath>
                </a14:m>
                <a:r>
                  <a:rPr lang="en-US" sz="2000" dirty="0">
                    <a:latin typeface="Calibri" panose="020F0502020204030204" pitchFamily="34" charset="0"/>
                    <a:ea typeface="Calibri" panose="020F0502020204030204" pitchFamily="34" charset="0"/>
                    <a:cs typeface="Calibri" panose="020F0502020204030204" pitchFamily="34" charset="0"/>
                  </a:rPr>
                  <a:t> is defined as the relative price of domestic goods relative to foreign goods:</a:t>
                </a:r>
              </a:p>
              <a:p>
                <a:pPr marL="0" indent="0" algn="just">
                  <a:spcAft>
                    <a:spcPts val="1200"/>
                  </a:spcAft>
                  <a:buNone/>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𝜀</m:t>
                      </m:r>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𝐸𝑃</m:t>
                          </m:r>
                        </m:num>
                        <m:den>
                          <m:sSup>
                            <m:s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SG" sz="2000" b="0" i="1" smtClean="0">
                                  <a:latin typeface="Cambria Math" panose="02040503050406030204" pitchFamily="18" charset="0"/>
                                  <a:ea typeface="Calibri" panose="020F0502020204030204" pitchFamily="34" charset="0"/>
                                  <a:cs typeface="Calibri" panose="020F0502020204030204" pitchFamily="34" charset="0"/>
                                </a:rPr>
                                <m:t>𝑃</m:t>
                              </m:r>
                            </m:e>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p>
                        </m:den>
                      </m:f>
                      <m:r>
                        <a:rPr lang="en-SG" sz="2000" b="0" i="1" smtClean="0">
                          <a:latin typeface="Cambria Math" panose="02040503050406030204" pitchFamily="18" charset="0"/>
                          <a:ea typeface="Calibri" panose="020F0502020204030204" pitchFamily="34" charset="0"/>
                          <a:cs typeface="Calibri" panose="020F0502020204030204" pitchFamily="34" charset="0"/>
                        </a:rPr>
                        <m:t>   </m:t>
                      </m:r>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1</m:t>
                          </m:r>
                        </m:e>
                      </m:d>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m:t>
                    </m:r>
                  </m:oMath>
                </a14:m>
                <a:r>
                  <a:rPr lang="en-US" sz="2000" dirty="0">
                    <a:latin typeface="Calibri" panose="020F0502020204030204" pitchFamily="34" charset="0"/>
                    <a:ea typeface="Calibri" panose="020F0502020204030204" pitchFamily="34" charset="0"/>
                    <a:cs typeface="Calibri" panose="020F0502020204030204" pitchFamily="34" charset="0"/>
                  </a:rPr>
                  <a:t> is price of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𝑈𝑆</m:t>
                    </m:r>
                    <m:r>
                      <a:rPr lang="en-SG" sz="2000" b="0" i="1" smtClean="0">
                        <a:latin typeface="Cambria Math" panose="02040503050406030204" pitchFamily="18" charset="0"/>
                        <a:ea typeface="Calibri" panose="020F0502020204030204" pitchFamily="34" charset="0"/>
                        <a:cs typeface="Calibri" panose="020F0502020204030204" pitchFamily="34" charset="0"/>
                      </a:rPr>
                      <m:t>$</m:t>
                    </m:r>
                  </m:oMath>
                </a14:m>
                <a:r>
                  <a:rPr lang="en-US" sz="2000" dirty="0">
                    <a:latin typeface="Calibri" panose="020F0502020204030204" pitchFamily="34" charset="0"/>
                    <a:ea typeface="Calibri" panose="020F0502020204030204" pitchFamily="34" charset="0"/>
                    <a:cs typeface="Calibri" panose="020F0502020204030204" pitchFamily="34" charset="0"/>
                  </a:rPr>
                  <a:t> in term of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m:t>
                    </m:r>
                  </m:oMath>
                </a14:m>
                <a:r>
                  <a:rPr lang="en-US" sz="20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m:t>
                    </m:r>
                  </m:oMath>
                </a14:m>
                <a:r>
                  <a:rPr lang="en-US" sz="2000" dirty="0">
                    <a:latin typeface="Calibri" panose="020F0502020204030204" pitchFamily="34" charset="0"/>
                    <a:ea typeface="Calibri" panose="020F0502020204030204" pitchFamily="34" charset="0"/>
                    <a:cs typeface="Calibri" panose="020F0502020204030204" pitchFamily="34" charset="0"/>
                  </a:rPr>
                  <a:t> increases (decreases)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m:t>
                    </m:r>
                  </m:oMath>
                </a14:m>
                <a:r>
                  <a:rPr lang="en-US" sz="2000" dirty="0">
                    <a:latin typeface="Calibri" panose="020F0502020204030204" pitchFamily="34" charset="0"/>
                    <a:ea typeface="Calibri" panose="020F0502020204030204" pitchFamily="34" charset="0"/>
                    <a:cs typeface="Calibri" panose="020F0502020204030204" pitchFamily="34" charset="0"/>
                  </a:rPr>
                  <a:t> appreciation (depreciation) of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𝑈𝑆</m:t>
                    </m:r>
                    <m:r>
                      <a:rPr lang="en-SG" sz="2000" b="0" i="1" smtClean="0">
                        <a:latin typeface="Cambria Math" panose="02040503050406030204" pitchFamily="18" charset="0"/>
                        <a:ea typeface="Calibri" panose="020F0502020204030204" pitchFamily="34" charset="0"/>
                        <a:cs typeface="Calibri" panose="020F0502020204030204" pitchFamily="34" charset="0"/>
                      </a:rPr>
                      <m:t>$</m:t>
                    </m:r>
                  </m:oMath>
                </a14:m>
                <a:r>
                  <a:rPr lang="en-US" sz="2000" dirty="0">
                    <a:latin typeface="Calibri" panose="020F0502020204030204" pitchFamily="34" charset="0"/>
                    <a:ea typeface="Calibri" panose="020F0502020204030204" pitchFamily="34" charset="0"/>
                    <a:cs typeface="Calibri" panose="020F0502020204030204" pitchFamily="34" charset="0"/>
                  </a:rPr>
                  <a:t>. Take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𝑙𝑛</m:t>
                    </m:r>
                  </m:oMath>
                </a14:m>
                <a:r>
                  <a:rPr lang="en-US" sz="2000" dirty="0">
                    <a:latin typeface="Calibri" panose="020F0502020204030204" pitchFamily="34" charset="0"/>
                    <a:ea typeface="Calibri" panose="020F0502020204030204" pitchFamily="34" charset="0"/>
                    <a:cs typeface="Calibri" panose="020F0502020204030204" pitchFamily="34" charset="0"/>
                  </a:rPr>
                  <a:t> both sides in </a:t>
                </a:r>
                <a14:m>
                  <m:oMath xmlns:m="http://schemas.openxmlformats.org/officeDocument/2006/math">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1</m:t>
                        </m:r>
                      </m:e>
                    </m:d>
                  </m:oMath>
                </a14:m>
                <a:r>
                  <a:rPr lang="en-US" sz="2000" dirty="0">
                    <a:latin typeface="Calibri" panose="020F0502020204030204" pitchFamily="34" charset="0"/>
                    <a:ea typeface="Calibri" panose="020F0502020204030204" pitchFamily="34" charset="0"/>
                    <a:cs typeface="Calibri" panose="020F0502020204030204" pitchFamily="34" charset="0"/>
                  </a:rPr>
                  <a:t>: </a:t>
                </a:r>
              </a:p>
              <a:p>
                <a:pPr marL="0" indent="0" algn="just">
                  <a:spcAft>
                    <a:spcPts val="1200"/>
                  </a:spcAft>
                  <a:buNone/>
                </a:pPr>
                <a14:m>
                  <m:oMathPara xmlns:m="http://schemas.openxmlformats.org/officeDocument/2006/math">
                    <m:oMathParaPr>
                      <m:jc m:val="centerGroup"/>
                    </m:oMathParaPr>
                    <m:oMath xmlns:m="http://schemas.openxmlformats.org/officeDocument/2006/math">
                      <m:func>
                        <m:func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SG" sz="2000" b="0" i="0" smtClean="0">
                              <a:latin typeface="Cambria Math" panose="02040503050406030204" pitchFamily="18" charset="0"/>
                              <a:ea typeface="Calibri" panose="020F0502020204030204" pitchFamily="34" charset="0"/>
                              <a:cs typeface="Calibri" panose="020F0502020204030204" pitchFamily="34" charset="0"/>
                            </a:rPr>
                            <m:t>ln</m:t>
                          </m:r>
                        </m:fName>
                        <m:e>
                          <m:r>
                            <a:rPr lang="en-SG" sz="2000" b="0" i="1" smtClean="0">
                              <a:latin typeface="Cambria Math" panose="02040503050406030204" pitchFamily="18" charset="0"/>
                              <a:ea typeface="Calibri" panose="020F0502020204030204" pitchFamily="34" charset="0"/>
                              <a:cs typeface="Calibri" panose="020F0502020204030204" pitchFamily="34" charset="0"/>
                            </a:rPr>
                            <m:t>𝜀</m:t>
                          </m:r>
                          <m:r>
                            <a:rPr lang="en-SG" sz="2000" b="0" i="1" smtClean="0">
                              <a:latin typeface="Cambria Math" panose="02040503050406030204" pitchFamily="18" charset="0"/>
                              <a:ea typeface="Calibri" panose="020F0502020204030204" pitchFamily="34" charset="0"/>
                              <a:cs typeface="Calibri" panose="020F0502020204030204" pitchFamily="34" charset="0"/>
                            </a:rPr>
                            <m:t>=</m:t>
                          </m:r>
                          <m:func>
                            <m:func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SG" sz="2000" b="0" i="0" smtClean="0">
                                  <a:latin typeface="Cambria Math" panose="02040503050406030204" pitchFamily="18" charset="0"/>
                                  <a:ea typeface="Calibri" panose="020F0502020204030204" pitchFamily="34" charset="0"/>
                                  <a:cs typeface="Calibri" panose="020F0502020204030204" pitchFamily="34" charset="0"/>
                                </a:rPr>
                                <m:t>ln</m:t>
                              </m:r>
                            </m:fName>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func>
                          <m:r>
                            <a:rPr lang="en-SG" sz="2000" b="0" i="1" smtClean="0">
                              <a:latin typeface="Cambria Math" panose="02040503050406030204" pitchFamily="18" charset="0"/>
                              <a:ea typeface="Calibri" panose="020F0502020204030204" pitchFamily="34" charset="0"/>
                              <a:cs typeface="Calibri" panose="020F0502020204030204" pitchFamily="34" charset="0"/>
                            </a:rPr>
                            <m:t>+</m:t>
                          </m:r>
                          <m:func>
                            <m:func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SG" sz="2000" b="0" i="0" smtClean="0">
                                  <a:latin typeface="Cambria Math" panose="02040503050406030204" pitchFamily="18" charset="0"/>
                                  <a:ea typeface="Calibri" panose="020F0502020204030204" pitchFamily="34" charset="0"/>
                                  <a:cs typeface="Calibri" panose="020F0502020204030204" pitchFamily="34" charset="0"/>
                                </a:rPr>
                                <m:t>ln</m:t>
                              </m:r>
                            </m:fName>
                            <m:e>
                              <m:r>
                                <a:rPr lang="en-SG" sz="2000" b="0" i="1" smtClean="0">
                                  <a:latin typeface="Cambria Math" panose="02040503050406030204" pitchFamily="18" charset="0"/>
                                  <a:ea typeface="Calibri" panose="020F0502020204030204" pitchFamily="34" charset="0"/>
                                  <a:cs typeface="Calibri" panose="020F0502020204030204" pitchFamily="34" charset="0"/>
                                </a:rPr>
                                <m:t>𝑃</m:t>
                              </m:r>
                            </m:e>
                          </m:func>
                          <m:r>
                            <a:rPr lang="en-SG" sz="2000" b="0" i="1" smtClean="0">
                              <a:latin typeface="Cambria Math" panose="02040503050406030204" pitchFamily="18" charset="0"/>
                              <a:ea typeface="Calibri" panose="020F0502020204030204" pitchFamily="34" charset="0"/>
                              <a:cs typeface="Calibri" panose="020F0502020204030204" pitchFamily="34" charset="0"/>
                            </a:rPr>
                            <m:t>−</m:t>
                          </m:r>
                          <m:func>
                            <m:func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SG" sz="2000" b="0" i="0" smtClean="0">
                                  <a:latin typeface="Cambria Math" panose="02040503050406030204" pitchFamily="18" charset="0"/>
                                  <a:ea typeface="Calibri" panose="020F0502020204030204" pitchFamily="34" charset="0"/>
                                  <a:cs typeface="Calibri" panose="020F0502020204030204" pitchFamily="34" charset="0"/>
                                </a:rPr>
                                <m:t>ln</m:t>
                              </m:r>
                            </m:fName>
                            <m:e>
                              <m:sSup>
                                <m:s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SG" sz="2000" b="0" i="1" smtClean="0">
                                      <a:latin typeface="Cambria Math" panose="02040503050406030204" pitchFamily="18" charset="0"/>
                                      <a:ea typeface="Calibri" panose="020F0502020204030204" pitchFamily="34" charset="0"/>
                                      <a:cs typeface="Calibri" panose="020F0502020204030204" pitchFamily="34" charset="0"/>
                                    </a:rPr>
                                    <m:t>𝑃</m:t>
                                  </m:r>
                                </m:e>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p>
                            </m:e>
                          </m:func>
                        </m:e>
                      </m:func>
                      <m:r>
                        <a:rPr lang="en-SG" sz="2000" b="0" i="1" smtClean="0">
                          <a:latin typeface="Cambria Math" panose="02040503050406030204" pitchFamily="18" charset="0"/>
                          <a:ea typeface="Calibri" panose="020F0502020204030204" pitchFamily="34" charset="0"/>
                          <a:cs typeface="Calibri" panose="020F0502020204030204" pitchFamily="34" charset="0"/>
                        </a:rPr>
                        <m:t>⇒</m:t>
                      </m:r>
                      <m:func>
                        <m:funcPr>
                          <m:ctrlPr>
                            <a:rPr lang="en-SG" sz="2000" i="1">
                              <a:latin typeface="Cambria Math" panose="02040503050406030204" pitchFamily="18" charset="0"/>
                              <a:ea typeface="Calibri" panose="020F0502020204030204" pitchFamily="34" charset="0"/>
                              <a:cs typeface="Calibri" panose="020F0502020204030204" pitchFamily="34" charset="0"/>
                            </a:rPr>
                          </m:ctrlPr>
                        </m:funcPr>
                        <m:fName>
                          <m:r>
                            <a:rPr lang="en-SG" sz="2000" i="1">
                              <a:latin typeface="Cambria Math" panose="02040503050406030204" pitchFamily="18" charset="0"/>
                              <a:ea typeface="Calibri" panose="020F0502020204030204" pitchFamily="34" charset="0"/>
                              <a:cs typeface="Calibri" panose="020F0502020204030204" pitchFamily="34" charset="0"/>
                            </a:rPr>
                            <m:t>𝑑</m:t>
                          </m:r>
                          <m:func>
                            <m:funcPr>
                              <m:ctrlPr>
                                <a:rPr lang="en-SG" sz="2000" i="1">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SG" sz="2000">
                                  <a:latin typeface="Cambria Math" panose="02040503050406030204" pitchFamily="18" charset="0"/>
                                  <a:ea typeface="Calibri" panose="020F0502020204030204" pitchFamily="34" charset="0"/>
                                  <a:cs typeface="Calibri" panose="020F0502020204030204" pitchFamily="34" charset="0"/>
                                </a:rPr>
                                <m:t>ln</m:t>
                              </m:r>
                            </m:fName>
                            <m:e>
                              <m:r>
                                <a:rPr lang="en-SG" sz="2000" b="0" i="1" smtClean="0">
                                  <a:latin typeface="Cambria Math" panose="02040503050406030204" pitchFamily="18" charset="0"/>
                                  <a:ea typeface="Calibri" panose="020F0502020204030204" pitchFamily="34" charset="0"/>
                                  <a:cs typeface="Calibri" panose="020F0502020204030204" pitchFamily="34" charset="0"/>
                                </a:rPr>
                                <m:t>𝜀</m:t>
                              </m:r>
                            </m:e>
                          </m:func>
                        </m:fName>
                        <m:e>
                          <m:r>
                            <a:rPr lang="en-SG" sz="2000" i="1">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𝑑</m:t>
                          </m:r>
                          <m:func>
                            <m:funcPr>
                              <m:ctrlPr>
                                <a:rPr lang="en-SG" sz="2000" i="1">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SG" sz="2000">
                                  <a:latin typeface="Cambria Math" panose="02040503050406030204" pitchFamily="18" charset="0"/>
                                  <a:ea typeface="Calibri" panose="020F0502020204030204" pitchFamily="34" charset="0"/>
                                  <a:cs typeface="Calibri" panose="020F0502020204030204" pitchFamily="34" charset="0"/>
                                </a:rPr>
                                <m:t>ln</m:t>
                              </m:r>
                            </m:fName>
                            <m:e>
                              <m:r>
                                <a:rPr lang="en-SG" sz="2000" i="1">
                                  <a:latin typeface="Cambria Math" panose="02040503050406030204" pitchFamily="18" charset="0"/>
                                  <a:ea typeface="Calibri" panose="020F0502020204030204" pitchFamily="34" charset="0"/>
                                  <a:cs typeface="Calibri" panose="020F0502020204030204" pitchFamily="34" charset="0"/>
                                </a:rPr>
                                <m:t>𝐸</m:t>
                              </m:r>
                            </m:e>
                          </m:func>
                          <m:r>
                            <a:rPr lang="en-SG" sz="2000" i="1">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𝑑</m:t>
                          </m:r>
                          <m:func>
                            <m:funcPr>
                              <m:ctrlPr>
                                <a:rPr lang="en-SG" sz="2000" i="1">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SG" sz="2000">
                                  <a:latin typeface="Cambria Math" panose="02040503050406030204" pitchFamily="18" charset="0"/>
                                  <a:ea typeface="Calibri" panose="020F0502020204030204" pitchFamily="34" charset="0"/>
                                  <a:cs typeface="Calibri" panose="020F0502020204030204" pitchFamily="34" charset="0"/>
                                </a:rPr>
                                <m:t>ln</m:t>
                              </m:r>
                            </m:fName>
                            <m:e>
                              <m:r>
                                <a:rPr lang="en-SG" sz="2000" i="1">
                                  <a:latin typeface="Cambria Math" panose="02040503050406030204" pitchFamily="18" charset="0"/>
                                  <a:ea typeface="Calibri" panose="020F0502020204030204" pitchFamily="34" charset="0"/>
                                  <a:cs typeface="Calibri" panose="020F0502020204030204" pitchFamily="34" charset="0"/>
                                </a:rPr>
                                <m:t>𝑃</m:t>
                              </m:r>
                            </m:e>
                          </m:func>
                          <m:r>
                            <a:rPr lang="en-SG" sz="2000" i="1">
                              <a:latin typeface="Cambria Math" panose="02040503050406030204" pitchFamily="18" charset="0"/>
                              <a:ea typeface="Calibri" panose="020F0502020204030204" pitchFamily="34" charset="0"/>
                              <a:cs typeface="Calibri" panose="020F0502020204030204" pitchFamily="34" charset="0"/>
                            </a:rPr>
                            <m:t>−</m:t>
                          </m:r>
                          <m:r>
                            <a:rPr lang="en-SG" sz="2000" i="1">
                              <a:latin typeface="Cambria Math" panose="02040503050406030204" pitchFamily="18" charset="0"/>
                              <a:ea typeface="Calibri" panose="020F0502020204030204" pitchFamily="34" charset="0"/>
                              <a:cs typeface="Calibri" panose="020F0502020204030204" pitchFamily="34" charset="0"/>
                            </a:rPr>
                            <m:t>𝑑</m:t>
                          </m:r>
                          <m:func>
                            <m:funcPr>
                              <m:ctrlPr>
                                <a:rPr lang="en-SG" sz="2000" i="1">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SG" sz="2000">
                                  <a:latin typeface="Cambria Math" panose="02040503050406030204" pitchFamily="18" charset="0"/>
                                  <a:ea typeface="Calibri" panose="020F0502020204030204" pitchFamily="34" charset="0"/>
                                  <a:cs typeface="Calibri" panose="020F0502020204030204" pitchFamily="34" charset="0"/>
                                </a:rPr>
                                <m:t>ln</m:t>
                              </m:r>
                            </m:fName>
                            <m:e>
                              <m:sSup>
                                <m:s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SG" sz="2000" i="1">
                                      <a:latin typeface="Cambria Math" panose="02040503050406030204" pitchFamily="18" charset="0"/>
                                      <a:ea typeface="Calibri" panose="020F0502020204030204" pitchFamily="34" charset="0"/>
                                      <a:cs typeface="Calibri" panose="020F0502020204030204" pitchFamily="34" charset="0"/>
                                    </a:rPr>
                                    <m:t>𝑃</m:t>
                                  </m:r>
                                </m:e>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p>
                            </m:e>
                          </m:func>
                        </m:e>
                      </m:func>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𝑑</m:t>
                          </m:r>
                          <m:r>
                            <a:rPr lang="en-SG" sz="2000" b="0" i="1" smtClean="0">
                              <a:latin typeface="Cambria Math" panose="02040503050406030204" pitchFamily="18" charset="0"/>
                              <a:ea typeface="Calibri" panose="020F0502020204030204" pitchFamily="34" charset="0"/>
                              <a:cs typeface="Calibri" panose="020F0502020204030204" pitchFamily="34" charset="0"/>
                            </a:rPr>
                            <m:t>𝜀</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𝜀</m:t>
                          </m:r>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𝑑𝐸</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𝐸</m:t>
                          </m:r>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𝑑𝑃</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𝑃</m:t>
                          </m:r>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𝑑</m:t>
                          </m:r>
                          <m:sSup>
                            <m:s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SG" sz="2000" b="0" i="1" smtClean="0">
                                  <a:latin typeface="Cambria Math" panose="02040503050406030204" pitchFamily="18" charset="0"/>
                                  <a:ea typeface="Calibri" panose="020F0502020204030204" pitchFamily="34" charset="0"/>
                                  <a:cs typeface="Calibri" panose="020F0502020204030204" pitchFamily="34" charset="0"/>
                                </a:rPr>
                                <m:t>𝑃</m:t>
                              </m:r>
                            </m:e>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p>
                        </m:num>
                        <m:den>
                          <m:sSup>
                            <m:s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SG" sz="2000" b="0" i="1" smtClean="0">
                                  <a:latin typeface="Cambria Math" panose="02040503050406030204" pitchFamily="18" charset="0"/>
                                  <a:ea typeface="Calibri" panose="020F0502020204030204" pitchFamily="34" charset="0"/>
                                  <a:cs typeface="Calibri" panose="020F0502020204030204" pitchFamily="34" charset="0"/>
                                </a:rPr>
                                <m:t>𝑃</m:t>
                              </m:r>
                            </m:e>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p>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r>
                            <a:rPr lang="en-SG" sz="2000" i="1">
                              <a:latin typeface="Cambria Math" panose="02040503050406030204" pitchFamily="18" charset="0"/>
                              <a:ea typeface="Calibri" panose="020F0502020204030204" pitchFamily="34" charset="0"/>
                              <a:cs typeface="Calibri" panose="020F0502020204030204" pitchFamily="34" charset="0"/>
                            </a:rPr>
                            <m:t>𝑑</m:t>
                          </m:r>
                          <m:r>
                            <a:rPr lang="en-SG" sz="2000" i="1">
                              <a:latin typeface="Cambria Math" panose="02040503050406030204" pitchFamily="18" charset="0"/>
                              <a:ea typeface="Calibri" panose="020F0502020204030204" pitchFamily="34" charset="0"/>
                              <a:cs typeface="Calibri" panose="020F0502020204030204" pitchFamily="34" charset="0"/>
                            </a:rPr>
                            <m:t>𝜀</m:t>
                          </m:r>
                        </m:num>
                        <m:den>
                          <m:r>
                            <a:rPr lang="en-SG" sz="2000" i="1">
                              <a:latin typeface="Cambria Math" panose="02040503050406030204" pitchFamily="18" charset="0"/>
                              <a:ea typeface="Calibri" panose="020F0502020204030204" pitchFamily="34" charset="0"/>
                              <a:cs typeface="Calibri" panose="020F0502020204030204" pitchFamily="34" charset="0"/>
                            </a:rPr>
                            <m:t>𝜀</m:t>
                          </m:r>
                        </m:den>
                      </m:f>
                      <m:r>
                        <a:rPr lang="en-SG" sz="2000" i="1">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r>
                            <a:rPr lang="en-SG" sz="2000" i="1">
                              <a:latin typeface="Cambria Math" panose="02040503050406030204" pitchFamily="18" charset="0"/>
                              <a:ea typeface="Calibri" panose="020F0502020204030204" pitchFamily="34" charset="0"/>
                              <a:cs typeface="Calibri" panose="020F0502020204030204" pitchFamily="34" charset="0"/>
                            </a:rPr>
                            <m:t>𝑑𝐸</m:t>
                          </m:r>
                        </m:num>
                        <m:den>
                          <m:r>
                            <a:rPr lang="en-SG" sz="2000" i="1">
                              <a:latin typeface="Cambria Math" panose="02040503050406030204" pitchFamily="18" charset="0"/>
                              <a:ea typeface="Calibri" panose="020F0502020204030204" pitchFamily="34" charset="0"/>
                              <a:cs typeface="Calibri" panose="020F0502020204030204" pitchFamily="34" charset="0"/>
                            </a:rPr>
                            <m:t>𝐸</m:t>
                          </m:r>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𝜋</m:t>
                      </m:r>
                      <m:r>
                        <a:rPr lang="en-SG" sz="2000" b="0" i="1" smtClean="0">
                          <a:latin typeface="Cambria Math" panose="02040503050406030204" pitchFamily="18" charset="0"/>
                          <a:ea typeface="Calibri" panose="020F0502020204030204" pitchFamily="34" charset="0"/>
                          <a:cs typeface="Calibri" panose="020F0502020204030204" pitchFamily="34" charset="0"/>
                        </a:rPr>
                        <m:t>−</m:t>
                      </m:r>
                      <m:sSup>
                        <m:s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SG" sz="2000" b="0" i="1" smtClean="0">
                              <a:latin typeface="Cambria Math" panose="02040503050406030204" pitchFamily="18" charset="0"/>
                              <a:ea typeface="Calibri" panose="020F0502020204030204" pitchFamily="34" charset="0"/>
                              <a:cs typeface="Calibri" panose="020F0502020204030204" pitchFamily="34" charset="0"/>
                            </a:rPr>
                            <m:t>𝜋</m:t>
                          </m:r>
                        </m:e>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p>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𝜋</m:t>
                    </m:r>
                  </m:oMath>
                </a14:m>
                <a:r>
                  <a:rPr lang="en-US" sz="20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sSup>
                      <m:s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SG" sz="2000" b="0" i="1" smtClean="0">
                            <a:latin typeface="Cambria Math" panose="02040503050406030204" pitchFamily="18" charset="0"/>
                            <a:ea typeface="Calibri" panose="020F0502020204030204" pitchFamily="34" charset="0"/>
                            <a:cs typeface="Calibri" panose="020F0502020204030204" pitchFamily="34" charset="0"/>
                          </a:rPr>
                          <m:t>𝜋</m:t>
                        </m:r>
                      </m:e>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p>
                  </m:oMath>
                </a14:m>
                <a:r>
                  <a:rPr lang="en-US" sz="2000" dirty="0">
                    <a:latin typeface="Calibri" panose="020F0502020204030204" pitchFamily="34" charset="0"/>
                    <a:ea typeface="Calibri" panose="020F0502020204030204" pitchFamily="34" charset="0"/>
                    <a:cs typeface="Calibri" panose="020F0502020204030204" pitchFamily="34" charset="0"/>
                  </a:rPr>
                  <a:t> are domestic and foreign inflation. </a:t>
                </a: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r="-580"/>
                </a:stretch>
              </a:blipFill>
            </p:spPr>
            <p:txBody>
              <a:bodyPr/>
              <a:lstStyle/>
              <a:p>
                <a:r>
                  <a:rPr lang="en-SG">
                    <a:noFill/>
                  </a:rPr>
                  <a:t> </a:t>
                </a:r>
              </a:p>
            </p:txBody>
          </p:sp>
        </mc:Fallback>
      </mc:AlternateContent>
    </p:spTree>
    <p:extLst>
      <p:ext uri="{BB962C8B-B14F-4D97-AF65-F5344CB8AC3E}">
        <p14:creationId xmlns:p14="http://schemas.microsoft.com/office/powerpoint/2010/main" val="313882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(c) </a:t>
                </a:r>
                <a:r>
                  <a:rPr lang="en-US" sz="2000" i="1" dirty="0">
                    <a:latin typeface="Calibri" panose="020F0502020204030204" pitchFamily="34" charset="0"/>
                    <a:ea typeface="Calibri" panose="020F0502020204030204" pitchFamily="34" charset="0"/>
                    <a:cs typeface="Calibri" panose="020F0502020204030204" pitchFamily="34" charset="0"/>
                  </a:rPr>
                  <a:t>The nominal exchange rate and the real exchange rate always move in the same direction.</a:t>
                </a:r>
              </a:p>
              <a:p>
                <a:pPr marL="0" indent="0" algn="just">
                  <a:spcAft>
                    <a:spcPts val="1200"/>
                  </a:spcAft>
                  <a:buNone/>
                </a:pPr>
                <a:r>
                  <a:rPr lang="en-US" sz="2000" b="1" dirty="0">
                    <a:latin typeface="Calibri" panose="020F0502020204030204" pitchFamily="34" charset="0"/>
                    <a:ea typeface="Calibri" panose="020F0502020204030204" pitchFamily="34" charset="0"/>
                    <a:cs typeface="Calibri" panose="020F0502020204030204" pitchFamily="34" charset="0"/>
                  </a:rPr>
                  <a:t>False!</a:t>
                </a:r>
              </a:p>
              <a:p>
                <a:pPr marL="0" indent="0" algn="just">
                  <a:spcAft>
                    <a:spcPts val="1200"/>
                  </a:spcAft>
                  <a:buNone/>
                </a:pPr>
                <a14:m>
                  <m:oMathPara xmlns:m="http://schemas.openxmlformats.org/officeDocument/2006/math">
                    <m:oMathParaPr>
                      <m:jc m:val="centerGroup"/>
                    </m:oMathParaPr>
                    <m:oMath xmlns:m="http://schemas.openxmlformats.org/officeDocument/2006/math">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r>
                            <a:rPr lang="en-SG" sz="2000" i="1">
                              <a:latin typeface="Cambria Math" panose="02040503050406030204" pitchFamily="18" charset="0"/>
                              <a:ea typeface="Calibri" panose="020F0502020204030204" pitchFamily="34" charset="0"/>
                              <a:cs typeface="Calibri" panose="020F0502020204030204" pitchFamily="34" charset="0"/>
                            </a:rPr>
                            <m:t>𝑑</m:t>
                          </m:r>
                          <m:r>
                            <a:rPr lang="en-SG" sz="2000" i="1">
                              <a:latin typeface="Cambria Math" panose="02040503050406030204" pitchFamily="18" charset="0"/>
                              <a:ea typeface="Calibri" panose="020F0502020204030204" pitchFamily="34" charset="0"/>
                              <a:cs typeface="Calibri" panose="020F0502020204030204" pitchFamily="34" charset="0"/>
                            </a:rPr>
                            <m:t>𝜀</m:t>
                          </m:r>
                        </m:num>
                        <m:den>
                          <m:r>
                            <a:rPr lang="en-SG" sz="2000" i="1">
                              <a:latin typeface="Cambria Math" panose="02040503050406030204" pitchFamily="18" charset="0"/>
                              <a:ea typeface="Calibri" panose="020F0502020204030204" pitchFamily="34" charset="0"/>
                              <a:cs typeface="Calibri" panose="020F0502020204030204" pitchFamily="34" charset="0"/>
                            </a:rPr>
                            <m:t>𝜀</m:t>
                          </m:r>
                        </m:den>
                      </m:f>
                      <m:r>
                        <a:rPr lang="en-SG" sz="2000" i="1">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r>
                            <a:rPr lang="en-SG" sz="2000" i="1">
                              <a:latin typeface="Cambria Math" panose="02040503050406030204" pitchFamily="18" charset="0"/>
                              <a:ea typeface="Calibri" panose="020F0502020204030204" pitchFamily="34" charset="0"/>
                              <a:cs typeface="Calibri" panose="020F0502020204030204" pitchFamily="34" charset="0"/>
                            </a:rPr>
                            <m:t>𝑑𝐸</m:t>
                          </m:r>
                        </m:num>
                        <m:den>
                          <m:r>
                            <a:rPr lang="en-SG" sz="2000" i="1">
                              <a:latin typeface="Cambria Math" panose="02040503050406030204" pitchFamily="18" charset="0"/>
                              <a:ea typeface="Calibri" panose="020F0502020204030204" pitchFamily="34" charset="0"/>
                              <a:cs typeface="Calibri" panose="020F0502020204030204" pitchFamily="34" charset="0"/>
                            </a:rPr>
                            <m:t>𝐸</m:t>
                          </m:r>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𝜋</m:t>
                      </m:r>
                      <m:r>
                        <a:rPr lang="en-SG" sz="2000" b="0" i="1" smtClean="0">
                          <a:latin typeface="Cambria Math" panose="02040503050406030204" pitchFamily="18" charset="0"/>
                          <a:ea typeface="Calibri" panose="020F0502020204030204" pitchFamily="34" charset="0"/>
                          <a:cs typeface="Calibri" panose="020F0502020204030204" pitchFamily="34" charset="0"/>
                        </a:rPr>
                        <m:t>−</m:t>
                      </m:r>
                      <m:sSup>
                        <m:s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SG" sz="2000" b="0" i="1" smtClean="0">
                              <a:latin typeface="Cambria Math" panose="02040503050406030204" pitchFamily="18" charset="0"/>
                              <a:ea typeface="Calibri" panose="020F0502020204030204" pitchFamily="34" charset="0"/>
                              <a:cs typeface="Calibri" panose="020F0502020204030204" pitchFamily="34" charset="0"/>
                            </a:rPr>
                            <m:t>𝜋</m:t>
                          </m:r>
                        </m:e>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p>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Based on the formula above, differences in inflation rates can cause movements in opposite directions. </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Suppose that nominal exchange rate appreciates by 2%, domestic inflation is 0% and foreign inflation is 3%. This implies </a:t>
                </a:r>
                <a14:m>
                  <m:oMath xmlns:m="http://schemas.openxmlformats.org/officeDocument/2006/math">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𝑑</m:t>
                        </m:r>
                        <m:r>
                          <a:rPr lang="en-SG" sz="2000" b="0" i="1" smtClean="0">
                            <a:latin typeface="Cambria Math" panose="02040503050406030204" pitchFamily="18" charset="0"/>
                            <a:ea typeface="Calibri" panose="020F0502020204030204" pitchFamily="34" charset="0"/>
                            <a:cs typeface="Calibri" panose="020F0502020204030204" pitchFamily="34" charset="0"/>
                          </a:rPr>
                          <m:t>𝜀</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𝜀</m:t>
                        </m:r>
                      </m:den>
                    </m:f>
                    <m:r>
                      <a:rPr lang="en-SG" sz="2000" b="0" i="1" smtClean="0">
                        <a:latin typeface="Cambria Math" panose="02040503050406030204" pitchFamily="18" charset="0"/>
                        <a:ea typeface="Calibri" panose="020F0502020204030204" pitchFamily="34" charset="0"/>
                        <a:cs typeface="Calibri" panose="020F0502020204030204" pitchFamily="34" charset="0"/>
                      </a:rPr>
                      <m:t>=−1%</m:t>
                    </m:r>
                  </m:oMath>
                </a14:m>
                <a:r>
                  <a:rPr lang="en-US" sz="2000" dirty="0">
                    <a:latin typeface="Calibri" panose="020F0502020204030204" pitchFamily="34" charset="0"/>
                    <a:ea typeface="Calibri" panose="020F0502020204030204" pitchFamily="34" charset="0"/>
                    <a:cs typeface="Calibri" panose="020F0502020204030204" pitchFamily="34" charset="0"/>
                  </a:rPr>
                  <a:t>, which means real exchange rate depreciates by 1%. </a:t>
                </a:r>
              </a:p>
            </p:txBody>
          </p:sp>
        </mc:Choice>
        <mc:Fallback>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r="-580"/>
                </a:stretch>
              </a:blipFill>
            </p:spPr>
            <p:txBody>
              <a:bodyPr/>
              <a:lstStyle/>
              <a:p>
                <a:r>
                  <a:rPr lang="en-SG">
                    <a:noFill/>
                  </a:rPr>
                  <a:t> </a:t>
                </a:r>
              </a:p>
            </p:txBody>
          </p:sp>
        </mc:Fallback>
      </mc:AlternateContent>
    </p:spTree>
    <p:extLst>
      <p:ext uri="{BB962C8B-B14F-4D97-AF65-F5344CB8AC3E}">
        <p14:creationId xmlns:p14="http://schemas.microsoft.com/office/powerpoint/2010/main" val="376819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(d) </a:t>
                </a:r>
                <a:r>
                  <a:rPr lang="en-US" sz="2000" i="1" dirty="0">
                    <a:latin typeface="Calibri" panose="020F0502020204030204" pitchFamily="34" charset="0"/>
                    <a:ea typeface="Calibri" panose="020F0502020204030204" pitchFamily="34" charset="0"/>
                    <a:cs typeface="Calibri" panose="020F0502020204030204" pitchFamily="34" charset="0"/>
                  </a:rPr>
                  <a:t>If the dollar is expected to appreciate against the yen, uncovered interest parity implies that the US nominal interest rate must be greater than the Japanese nominal interest rate.</a:t>
                </a:r>
              </a:p>
              <a:p>
                <a:pPr marL="0" indent="0" algn="just">
                  <a:spcAft>
                    <a:spcPts val="1200"/>
                  </a:spcAft>
                  <a:buNone/>
                </a:pPr>
                <a:r>
                  <a:rPr lang="en-US" sz="2000" b="1" dirty="0">
                    <a:latin typeface="Calibri" panose="020F0502020204030204" pitchFamily="34" charset="0"/>
                    <a:ea typeface="Calibri" panose="020F0502020204030204" pitchFamily="34" charset="0"/>
                    <a:cs typeface="Calibri" panose="020F0502020204030204" pitchFamily="34" charset="0"/>
                  </a:rPr>
                  <a:t>False!</a:t>
                </a:r>
                <a:r>
                  <a:rPr lang="en-US" sz="2000" dirty="0">
                    <a:latin typeface="Calibri" panose="020F0502020204030204" pitchFamily="34" charset="0"/>
                    <a:ea typeface="Calibri" panose="020F0502020204030204" pitchFamily="34" charset="0"/>
                    <a:cs typeface="Calibri" panose="020F0502020204030204" pitchFamily="34" charset="0"/>
                  </a:rPr>
                  <a:t> The UIP suggests that:</a:t>
                </a:r>
              </a:p>
              <a:p>
                <a:pPr marL="0" indent="0" algn="just">
                  <a:spcAft>
                    <a:spcPts val="1200"/>
                  </a:spcAft>
                  <a:buNone/>
                </a:pPr>
                <a14:m>
                  <m:oMathPara xmlns:m="http://schemas.openxmlformats.org/officeDocument/2006/math">
                    <m:oMathParaPr>
                      <m:jc m:val="centerGroup"/>
                    </m:oMathParaPr>
                    <m:oMath xmlns:m="http://schemas.openxmlformats.org/officeDocument/2006/math">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r>
                                <a:rPr lang="en-SG" sz="2000" i="1">
                                  <a:latin typeface="Cambria Math" panose="02040503050406030204" pitchFamily="18" charset="0"/>
                                  <a:ea typeface="Calibri" panose="020F0502020204030204" pitchFamily="34" charset="0"/>
                                  <a:cs typeface="Calibri" panose="020F0502020204030204" pitchFamily="34" charset="0"/>
                                </a:rPr>
                                <m:t>+1</m:t>
                              </m:r>
                            </m:sub>
                            <m:sup>
                              <m:r>
                                <a:rPr lang="en-SG" sz="2000" i="1">
                                  <a:latin typeface="Cambria Math" panose="02040503050406030204" pitchFamily="18" charset="0"/>
                                  <a:ea typeface="Calibri" panose="020F0502020204030204" pitchFamily="34" charset="0"/>
                                  <a:cs typeface="Calibri" panose="020F0502020204030204" pitchFamily="34" charset="0"/>
                                </a:rPr>
                                <m:t>𝑒</m:t>
                              </m:r>
                            </m:sup>
                          </m:sSubSup>
                          <m:r>
                            <a:rPr lang="en-SG" sz="2000" i="1">
                              <a:latin typeface="Cambria Math" panose="02040503050406030204" pitchFamily="18" charset="0"/>
                              <a:ea typeface="Calibri" panose="020F0502020204030204" pitchFamily="34" charset="0"/>
                              <a:cs typeface="Calibri" panose="020F0502020204030204" pitchFamily="34" charset="0"/>
                            </a:rPr>
                            <m:t>−</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oMath>
                </a14:m>
                <a:r>
                  <a:rPr lang="en-US" sz="2000" dirty="0">
                    <a:latin typeface="Calibri" panose="020F0502020204030204" pitchFamily="34" charset="0"/>
                    <a:ea typeface="Calibri" panose="020F0502020204030204" pitchFamily="34" charset="0"/>
                    <a:cs typeface="Calibri" panose="020F0502020204030204" pitchFamily="34" charset="0"/>
                  </a:rPr>
                  <a:t> is the price of US$ in terms of JPY. Hence:</a:t>
                </a:r>
              </a:p>
              <a:p>
                <a:pPr marL="0" indent="0" algn="just">
                  <a:spcAft>
                    <a:spcPts val="1200"/>
                  </a:spcAft>
                  <a:buNone/>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𝑖</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If the dollar is expected to appreciate against the yen,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&gt;0⇒</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&gt;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oMath>
                </a14:m>
                <a:r>
                  <a:rPr lang="en-US" sz="2000" dirty="0">
                    <a:latin typeface="Calibri" panose="020F0502020204030204" pitchFamily="34" charset="0"/>
                    <a:ea typeface="Calibri" panose="020F0502020204030204" pitchFamily="34" charset="0"/>
                    <a:cs typeface="Calibri" panose="020F0502020204030204" pitchFamily="34" charset="0"/>
                  </a:rPr>
                  <a:t>, which means the US nominal interest rate is smaller than the Japanese nominal interest rate. </a:t>
                </a: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r="-580"/>
                </a:stretch>
              </a:blipFill>
            </p:spPr>
            <p:txBody>
              <a:bodyPr/>
              <a:lstStyle/>
              <a:p>
                <a:r>
                  <a:rPr lang="en-SG">
                    <a:noFill/>
                  </a:rPr>
                  <a:t> </a:t>
                </a:r>
              </a:p>
            </p:txBody>
          </p:sp>
        </mc:Fallback>
      </mc:AlternateContent>
    </p:spTree>
    <p:extLst>
      <p:ext uri="{BB962C8B-B14F-4D97-AF65-F5344CB8AC3E}">
        <p14:creationId xmlns:p14="http://schemas.microsoft.com/office/powerpoint/2010/main" val="2935237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Show that by approximation,</a:t>
                </a:r>
              </a:p>
              <a:p>
                <a:pPr marL="0" indent="0" algn="just">
                  <a:spcAft>
                    <a:spcPts val="1200"/>
                  </a:spcAft>
                  <a:buNone/>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ea typeface="Calibri" panose="020F0502020204030204" pitchFamily="34" charset="0"/>
                          <a:cs typeface="Calibri" panose="020F0502020204030204" pitchFamily="34" charset="0"/>
                        </a:rPr>
                        <m:t>1+</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𝑖</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r>
                        <a:rPr lang="en-SG" sz="2000" i="1">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r>
                            <a:rPr lang="en-SG" sz="2000" i="1">
                              <a:latin typeface="Cambria Math" panose="02040503050406030204" pitchFamily="18" charset="0"/>
                              <a:ea typeface="Calibri" panose="020F0502020204030204" pitchFamily="34" charset="0"/>
                              <a:cs typeface="Calibri" panose="020F0502020204030204" pitchFamily="34" charset="0"/>
                            </a:rPr>
                            <m:t>1+</m:t>
                          </m:r>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𝑖</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up>
                              <m:r>
                                <a:rPr lang="en-SG" sz="2000" i="1">
                                  <a:latin typeface="Cambria Math" panose="02040503050406030204" pitchFamily="18" charset="0"/>
                                  <a:ea typeface="Calibri" panose="020F0502020204030204" pitchFamily="34" charset="0"/>
                                  <a:cs typeface="Calibri" panose="020F0502020204030204" pitchFamily="34" charset="0"/>
                                </a:rPr>
                                <m:t>∗</m:t>
                              </m:r>
                            </m:sup>
                          </m:sSubSup>
                        </m:num>
                        <m:den>
                          <m:r>
                            <a:rPr lang="en-SG" sz="2000" i="1">
                              <a:latin typeface="Cambria Math" panose="02040503050406030204" pitchFamily="18" charset="0"/>
                              <a:ea typeface="Calibri" panose="020F0502020204030204" pitchFamily="34" charset="0"/>
                              <a:cs typeface="Calibri" panose="020F0502020204030204" pitchFamily="34" charset="0"/>
                            </a:rPr>
                            <m:t>1+</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r>
                                    <a:rPr lang="en-SG" sz="2000" i="1">
                                      <a:latin typeface="Cambria Math" panose="02040503050406030204" pitchFamily="18" charset="0"/>
                                      <a:ea typeface="Calibri" panose="020F0502020204030204" pitchFamily="34" charset="0"/>
                                      <a:cs typeface="Calibri" panose="020F0502020204030204" pitchFamily="34" charset="0"/>
                                    </a:rPr>
                                    <m:t>+1</m:t>
                                  </m:r>
                                </m:sub>
                                <m:sup>
                                  <m:r>
                                    <a:rPr lang="en-SG" sz="2000" i="1">
                                      <a:latin typeface="Cambria Math" panose="02040503050406030204" pitchFamily="18" charset="0"/>
                                      <a:ea typeface="Calibri" panose="020F0502020204030204" pitchFamily="34" charset="0"/>
                                      <a:cs typeface="Calibri" panose="020F0502020204030204" pitchFamily="34" charset="0"/>
                                    </a:rPr>
                                    <m:t>𝑒</m:t>
                                  </m:r>
                                </m:sup>
                              </m:sSubSup>
                              <m:r>
                                <a:rPr lang="en-SG" sz="2000" i="1">
                                  <a:latin typeface="Cambria Math" panose="02040503050406030204" pitchFamily="18" charset="0"/>
                                  <a:ea typeface="Calibri" panose="020F0502020204030204" pitchFamily="34" charset="0"/>
                                  <a:cs typeface="Calibri" panose="020F0502020204030204" pitchFamily="34" charset="0"/>
                                </a:rPr>
                                <m:t>−</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den>
                          </m:f>
                        </m:den>
                      </m:f>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can be expressed as:</a:t>
                </a:r>
              </a:p>
              <a:p>
                <a:pPr marL="0" indent="0" algn="just">
                  <a:spcAft>
                    <a:spcPts val="1200"/>
                  </a:spcAft>
                  <a:buNone/>
                </a:pPr>
                <a14:m>
                  <m:oMathPara xmlns:m="http://schemas.openxmlformats.org/officeDocument/2006/math">
                    <m:oMathParaPr>
                      <m:jc m:val="centerGroup"/>
                    </m:oMathParaPr>
                    <m:oMath xmlns:m="http://schemas.openxmlformats.org/officeDocument/2006/math">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r>
                                <a:rPr lang="en-SG" sz="2000" i="1">
                                  <a:latin typeface="Cambria Math" panose="02040503050406030204" pitchFamily="18" charset="0"/>
                                  <a:ea typeface="Calibri" panose="020F0502020204030204" pitchFamily="34" charset="0"/>
                                  <a:cs typeface="Calibri" panose="020F0502020204030204" pitchFamily="34" charset="0"/>
                                </a:rPr>
                                <m:t>+1</m:t>
                              </m:r>
                            </m:sub>
                            <m:sup>
                              <m:r>
                                <a:rPr lang="en-SG" sz="2000" i="1">
                                  <a:latin typeface="Cambria Math" panose="02040503050406030204" pitchFamily="18" charset="0"/>
                                  <a:ea typeface="Calibri" panose="020F0502020204030204" pitchFamily="34" charset="0"/>
                                  <a:cs typeface="Calibri" panose="020F0502020204030204" pitchFamily="34" charset="0"/>
                                </a:rPr>
                                <m:t>𝑒</m:t>
                              </m:r>
                            </m:sup>
                          </m:sSubSup>
                          <m:r>
                            <a:rPr lang="en-SG" sz="2000" i="1">
                              <a:latin typeface="Cambria Math" panose="02040503050406030204" pitchFamily="18" charset="0"/>
                              <a:ea typeface="Calibri" panose="020F0502020204030204" pitchFamily="34" charset="0"/>
                              <a:cs typeface="Calibri" panose="020F0502020204030204" pitchFamily="34" charset="0"/>
                            </a:rPr>
                            <m:t>−</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den>
                      </m:f>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Note: </a:t>
                </a:r>
              </a:p>
              <a:p>
                <a:pPr marL="0" indent="0" algn="just">
                  <a:spcAft>
                    <a:spcPts val="1200"/>
                  </a:spcAft>
                  <a:buNone/>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i="1" smtClean="0">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r>
                                <a:rPr lang="en-SG" sz="2000" i="1">
                                  <a:latin typeface="Cambria Math" panose="02040503050406030204" pitchFamily="18" charset="0"/>
                                  <a:ea typeface="Calibri" panose="020F0502020204030204" pitchFamily="34" charset="0"/>
                                  <a:cs typeface="Calibri" panose="020F0502020204030204" pitchFamily="34" charset="0"/>
                                </a:rPr>
                                <m:t>+1</m:t>
                              </m:r>
                            </m:sub>
                            <m:sup>
                              <m:r>
                                <a:rPr lang="en-SG" sz="2000" i="1">
                                  <a:latin typeface="Cambria Math" panose="02040503050406030204" pitchFamily="18" charset="0"/>
                                  <a:ea typeface="Calibri" panose="020F0502020204030204" pitchFamily="34" charset="0"/>
                                  <a:cs typeface="Calibri" panose="020F0502020204030204" pitchFamily="34" charset="0"/>
                                </a:rPr>
                                <m:t>𝑒</m:t>
                              </m:r>
                            </m:sup>
                          </m:sSubSup>
                          <m:r>
                            <a:rPr lang="en-SG" sz="2000" i="1">
                              <a:latin typeface="Cambria Math" panose="02040503050406030204" pitchFamily="18" charset="0"/>
                              <a:ea typeface="Calibri" panose="020F0502020204030204" pitchFamily="34" charset="0"/>
                              <a:cs typeface="Calibri" panose="020F0502020204030204" pitchFamily="34" charset="0"/>
                            </a:rPr>
                            <m:t>−</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den>
                      </m:f>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en-SG">
                    <a:noFill/>
                  </a:rPr>
                  <a:t> </a:t>
                </a:r>
              </a:p>
            </p:txBody>
          </p:sp>
        </mc:Fallback>
      </mc:AlternateContent>
    </p:spTree>
    <p:extLst>
      <p:ext uri="{BB962C8B-B14F-4D97-AF65-F5344CB8AC3E}">
        <p14:creationId xmlns:p14="http://schemas.microsoft.com/office/powerpoint/2010/main" val="253824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600"/>
                  </a:spcAft>
                  <a:buNone/>
                </a:pPr>
                <a:r>
                  <a:rPr lang="en-US" sz="2000" dirty="0">
                    <a:latin typeface="Calibri" panose="020F0502020204030204" pitchFamily="34" charset="0"/>
                    <a:ea typeface="Calibri" panose="020F0502020204030204" pitchFamily="34" charset="0"/>
                    <a:cs typeface="Calibri" panose="020F0502020204030204" pitchFamily="34" charset="0"/>
                  </a:rPr>
                  <a:t>We have </a:t>
                </a:r>
                <a14:m>
                  <m:oMath xmlns:m="http://schemas.openxmlformats.org/officeDocument/2006/math">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𝑥</m:t>
                        </m:r>
                      </m:e>
                    </m:d>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e>
                    </m:d>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𝑥</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𝑥𝑦</m:t>
                    </m:r>
                  </m:oMath>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600"/>
                  </a:spcAft>
                  <a:buNone/>
                </a:pPr>
                <a:r>
                  <a:rPr lang="en-US" sz="2000" dirty="0">
                    <a:latin typeface="Calibri" panose="020F0502020204030204" pitchFamily="34" charset="0"/>
                    <a:ea typeface="Calibri" panose="020F0502020204030204" pitchFamily="34" charset="0"/>
                    <a:cs typeface="Calibri" panose="020F0502020204030204" pitchFamily="34" charset="0"/>
                  </a:rPr>
                  <a:t>If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𝑥</m:t>
                    </m:r>
                  </m:oMath>
                </a14:m>
                <a:r>
                  <a:rPr lang="en-US" sz="20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𝑦</m:t>
                    </m:r>
                  </m:oMath>
                </a14:m>
                <a:r>
                  <a:rPr lang="en-US" sz="2000" dirty="0">
                    <a:latin typeface="Calibri" panose="020F0502020204030204" pitchFamily="34" charset="0"/>
                    <a:ea typeface="Calibri" panose="020F0502020204030204" pitchFamily="34" charset="0"/>
                    <a:cs typeface="Calibri" panose="020F0502020204030204" pitchFamily="34" charset="0"/>
                  </a:rPr>
                  <a:t> are sufficiently small, then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𝑥𝑦</m:t>
                    </m:r>
                    <m:r>
                      <a:rPr lang="en-SG" sz="2000" b="0" i="1" smtClean="0">
                        <a:latin typeface="Cambria Math" panose="02040503050406030204" pitchFamily="18" charset="0"/>
                        <a:ea typeface="Calibri" panose="020F0502020204030204" pitchFamily="34" charset="0"/>
                        <a:cs typeface="Calibri" panose="020F0502020204030204" pitchFamily="34" charset="0"/>
                      </a:rPr>
                      <m:t>≈0</m:t>
                    </m:r>
                  </m:oMath>
                </a14:m>
                <a:r>
                  <a:rPr lang="en-US" sz="2000" dirty="0">
                    <a:latin typeface="Calibri" panose="020F0502020204030204" pitchFamily="34" charset="0"/>
                    <a:ea typeface="Calibri" panose="020F0502020204030204" pitchFamily="34" charset="0"/>
                    <a:cs typeface="Calibri" panose="020F0502020204030204" pitchFamily="34" charset="0"/>
                  </a:rPr>
                  <a:t>. Hence, by approximation:</a:t>
                </a:r>
              </a:p>
              <a:p>
                <a:pPr marL="0" indent="0" algn="just">
                  <a:spcAft>
                    <a:spcPts val="600"/>
                  </a:spcAft>
                  <a:buNone/>
                </a:pPr>
                <a14:m>
                  <m:oMathPara xmlns:m="http://schemas.openxmlformats.org/officeDocument/2006/math">
                    <m:oMathParaPr>
                      <m:jc m:val="centerGroup"/>
                    </m:oMathParaPr>
                    <m:oMath xmlns:m="http://schemas.openxmlformats.org/officeDocument/2006/math">
                      <m:d>
                        <m:dPr>
                          <m:ctrlPr>
                            <a:rPr lang="en-SG" sz="2000" i="1">
                              <a:latin typeface="Cambria Math" panose="02040503050406030204" pitchFamily="18" charset="0"/>
                              <a:ea typeface="Calibri" panose="020F0502020204030204" pitchFamily="34" charset="0"/>
                              <a:cs typeface="Calibri" panose="020F0502020204030204" pitchFamily="34" charset="0"/>
                            </a:rPr>
                          </m:ctrlPr>
                        </m:dPr>
                        <m:e>
                          <m:r>
                            <a:rPr lang="en-SG" sz="2000" i="1">
                              <a:latin typeface="Cambria Math" panose="02040503050406030204" pitchFamily="18" charset="0"/>
                              <a:ea typeface="Calibri" panose="020F0502020204030204" pitchFamily="34" charset="0"/>
                              <a:cs typeface="Calibri" panose="020F0502020204030204" pitchFamily="34" charset="0"/>
                            </a:rPr>
                            <m:t>1+</m:t>
                          </m:r>
                          <m:r>
                            <a:rPr lang="en-SG" sz="2000" i="1">
                              <a:latin typeface="Cambria Math" panose="02040503050406030204" pitchFamily="18" charset="0"/>
                              <a:ea typeface="Calibri" panose="020F0502020204030204" pitchFamily="34" charset="0"/>
                              <a:cs typeface="Calibri" panose="020F0502020204030204" pitchFamily="34" charset="0"/>
                            </a:rPr>
                            <m:t>𝑥</m:t>
                          </m:r>
                        </m:e>
                      </m:d>
                      <m:d>
                        <m:dPr>
                          <m:ctrlPr>
                            <a:rPr lang="en-SG" sz="2000" i="1">
                              <a:latin typeface="Cambria Math" panose="02040503050406030204" pitchFamily="18" charset="0"/>
                              <a:ea typeface="Calibri" panose="020F0502020204030204" pitchFamily="34" charset="0"/>
                              <a:cs typeface="Calibri" panose="020F0502020204030204" pitchFamily="34" charset="0"/>
                            </a:rPr>
                          </m:ctrlPr>
                        </m:dPr>
                        <m:e>
                          <m:r>
                            <a:rPr lang="en-SG" sz="2000" i="1">
                              <a:latin typeface="Cambria Math" panose="02040503050406030204" pitchFamily="18" charset="0"/>
                              <a:ea typeface="Calibri" panose="020F0502020204030204" pitchFamily="34" charset="0"/>
                              <a:cs typeface="Calibri" panose="020F0502020204030204" pitchFamily="34" charset="0"/>
                            </a:rPr>
                            <m:t>1+</m:t>
                          </m:r>
                          <m:r>
                            <a:rPr lang="en-SG" sz="2000" i="1">
                              <a:latin typeface="Cambria Math" panose="02040503050406030204" pitchFamily="18" charset="0"/>
                              <a:ea typeface="Calibri" panose="020F0502020204030204" pitchFamily="34" charset="0"/>
                              <a:cs typeface="Calibri" panose="020F0502020204030204" pitchFamily="34" charset="0"/>
                            </a:rPr>
                            <m:t>𝑦</m:t>
                          </m:r>
                        </m:e>
                      </m:d>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𝑥</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Similarly, if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𝑦</m:t>
                    </m:r>
                  </m:oMath>
                </a14:m>
                <a:r>
                  <a:rPr lang="en-US" sz="2000" dirty="0">
                    <a:latin typeface="Calibri" panose="020F0502020204030204" pitchFamily="34" charset="0"/>
                    <a:ea typeface="Calibri" panose="020F0502020204030204" pitchFamily="34" charset="0"/>
                    <a:cs typeface="Calibri" panose="020F0502020204030204" pitchFamily="34" charset="0"/>
                  </a:rPr>
                  <a:t> is sufficiently small: </a:t>
                </a:r>
                <a:endParaRPr lang="en-SG" sz="2000" b="0" i="1" dirty="0">
                  <a:latin typeface="Cambria Math" panose="02040503050406030204" pitchFamily="18" charset="0"/>
                  <a:ea typeface="Calibri" panose="020F0502020204030204" pitchFamily="34" charset="0"/>
                  <a:cs typeface="Calibri" panose="020F0502020204030204" pitchFamily="34" charset="0"/>
                </a:endParaRPr>
              </a:p>
              <a:p>
                <a:pPr marL="0" indent="0" algn="just">
                  <a:spcAft>
                    <a:spcPts val="600"/>
                  </a:spcAft>
                  <a:buNone/>
                </a:pPr>
                <a14:m>
                  <m:oMathPara xmlns:m="http://schemas.openxmlformats.org/officeDocument/2006/math">
                    <m:oMathParaPr>
                      <m:jc m:val="centerGroup"/>
                    </m:oMathParaPr>
                    <m:oMath xmlns:m="http://schemas.openxmlformats.org/officeDocument/2006/math">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𝑥</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𝑥</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den>
                      </m:f>
                      <m:r>
                        <a:rPr lang="en-SG" sz="2000" b="0" i="1" smtClean="0">
                          <a:latin typeface="Cambria Math" panose="02040503050406030204" pitchFamily="18" charset="0"/>
                          <a:ea typeface="Calibri" panose="020F0502020204030204" pitchFamily="34" charset="0"/>
                          <a:cs typeface="Calibri" panose="020F0502020204030204" pitchFamily="34" charset="0"/>
                        </a:rPr>
                        <m:t>=1+</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𝑥</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den>
                      </m:f>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𝑥</m:t>
                      </m:r>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𝑦</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600"/>
                  </a:spcAft>
                  <a:buNone/>
                </a:pPr>
                <a:r>
                  <a:rPr lang="en-US" sz="2000" dirty="0">
                    <a:latin typeface="Calibri" panose="020F0502020204030204" pitchFamily="34" charset="0"/>
                    <a:ea typeface="Calibri" panose="020F0502020204030204" pitchFamily="34" charset="0"/>
                    <a:cs typeface="Calibri" panose="020F0502020204030204" pitchFamily="34" charset="0"/>
                  </a:rPr>
                  <a:t>Based on this, if </a:t>
                </a:r>
                <a14:m>
                  <m:oMath xmlns:m="http://schemas.openxmlformats.org/officeDocument/2006/math">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 </m:t>
                    </m:r>
                  </m:oMath>
                </a14:m>
                <a:r>
                  <a:rPr lang="en-US" sz="2000" dirty="0">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oMath>
                </a14:m>
                <a:r>
                  <a:rPr lang="en-US" sz="2000" dirty="0">
                    <a:latin typeface="Calibri" panose="020F0502020204030204" pitchFamily="34" charset="0"/>
                    <a:ea typeface="Calibri" panose="020F0502020204030204" pitchFamily="34" charset="0"/>
                    <a:cs typeface="Calibri" panose="020F0502020204030204" pitchFamily="34" charset="0"/>
                  </a:rPr>
                  <a:t> are sufficiently small:</a:t>
                </a:r>
              </a:p>
              <a:p>
                <a:pPr marL="0" indent="0" algn="just">
                  <a:spcAft>
                    <a:spcPts val="600"/>
                  </a:spcAft>
                  <a:buNone/>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1+</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num>
                        <m:den>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den>
                      </m:f>
                      <m:r>
                        <a:rPr lang="en-SG" sz="2000" b="0" i="1" smtClean="0">
                          <a:latin typeface="Cambria Math" panose="02040503050406030204" pitchFamily="18" charset="0"/>
                          <a:ea typeface="Calibri" panose="020F0502020204030204" pitchFamily="34" charset="0"/>
                          <a:cs typeface="Calibri" panose="020F0502020204030204" pitchFamily="34" charset="0"/>
                        </a:rPr>
                        <m:t>≈1+</m:t>
                      </m:r>
                      <m:sSup>
                        <m:s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p>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600"/>
                  </a:spcAft>
                  <a:buNone/>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r>
                                <a:rPr lang="en-SG" sz="2000" i="1">
                                  <a:latin typeface="Cambria Math" panose="02040503050406030204" pitchFamily="18" charset="0"/>
                                  <a:ea typeface="Calibri" panose="020F0502020204030204" pitchFamily="34" charset="0"/>
                                  <a:cs typeface="Calibri" panose="020F0502020204030204" pitchFamily="34" charset="0"/>
                                </a:rPr>
                                <m:t>+1</m:t>
                              </m:r>
                            </m:sub>
                            <m:sup>
                              <m:r>
                                <a:rPr lang="en-SG" sz="2000" i="1">
                                  <a:latin typeface="Cambria Math" panose="02040503050406030204" pitchFamily="18" charset="0"/>
                                  <a:ea typeface="Calibri" panose="020F0502020204030204" pitchFamily="34" charset="0"/>
                                  <a:cs typeface="Calibri" panose="020F0502020204030204" pitchFamily="34" charset="0"/>
                                </a:rPr>
                                <m:t>𝑒</m:t>
                              </m:r>
                            </m:sup>
                          </m:sSubSup>
                          <m:r>
                            <a:rPr lang="en-SG" sz="2000" i="1">
                              <a:latin typeface="Cambria Math" panose="02040503050406030204" pitchFamily="18" charset="0"/>
                              <a:ea typeface="Calibri" panose="020F0502020204030204" pitchFamily="34" charset="0"/>
                              <a:cs typeface="Calibri" panose="020F0502020204030204" pitchFamily="34" charset="0"/>
                            </a:rPr>
                            <m:t>−</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den>
                      </m:f>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en-SG">
                    <a:noFill/>
                  </a:rPr>
                  <a:t> </a:t>
                </a:r>
              </a:p>
            </p:txBody>
          </p:sp>
        </mc:Fallback>
      </mc:AlternateContent>
    </p:spTree>
    <p:extLst>
      <p:ext uri="{BB962C8B-B14F-4D97-AF65-F5344CB8AC3E}">
        <p14:creationId xmlns:p14="http://schemas.microsoft.com/office/powerpoint/2010/main" val="3154902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SG" sz="2000" dirty="0">
                    <a:latin typeface="Calibri" panose="020F0502020204030204" pitchFamily="34" charset="0"/>
                    <a:ea typeface="Calibri" panose="020F0502020204030204" pitchFamily="34" charset="0"/>
                    <a:cs typeface="Calibri" panose="020F0502020204030204" pitchFamily="34" charset="0"/>
                  </a:rPr>
                  <a:t>For example, let </a:t>
                </a:r>
                <a14:m>
                  <m:oMath xmlns:m="http://schemas.openxmlformats.org/officeDocument/2006/math">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=5%</m:t>
                    </m:r>
                  </m:oMath>
                </a14:m>
                <a:r>
                  <a:rPr lang="en-US" sz="20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=2%</m:t>
                    </m:r>
                  </m:oMath>
                </a14:m>
                <a:r>
                  <a:rPr lang="en-US" sz="2000" dirty="0">
                    <a:latin typeface="Calibri" panose="020F0502020204030204" pitchFamily="34" charset="0"/>
                    <a:ea typeface="Calibri" panose="020F0502020204030204" pitchFamily="34" charset="0"/>
                    <a:cs typeface="Calibri" panose="020F0502020204030204" pitchFamily="34" charset="0"/>
                  </a:rPr>
                  <a:t>. </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Original formula:</a:t>
                </a:r>
              </a:p>
              <a:p>
                <a:pPr marL="0" indent="0" algn="just">
                  <a:spcAft>
                    <a:spcPts val="2400"/>
                  </a:spcAft>
                  <a:buNone/>
                </a:pPr>
                <a14:m>
                  <m:oMathPara xmlns:m="http://schemas.openxmlformats.org/officeDocument/2006/math">
                    <m:oMathParaPr>
                      <m:jc m:val="centerGroup"/>
                    </m:oMathParaPr>
                    <m:oMath xmlns:m="http://schemas.openxmlformats.org/officeDocument/2006/math">
                      <m:r>
                        <a:rPr lang="en-SG" sz="2000" i="1" smtClean="0">
                          <a:latin typeface="Cambria Math" panose="02040503050406030204" pitchFamily="18" charset="0"/>
                          <a:ea typeface="Calibri" panose="020F0502020204030204" pitchFamily="34" charset="0"/>
                          <a:cs typeface="Calibri" panose="020F0502020204030204" pitchFamily="34" charset="0"/>
                        </a:rPr>
                        <m:t>1+</m:t>
                      </m:r>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𝑖</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r>
                        <a:rPr lang="en-SG" sz="2000" i="1">
                          <a:latin typeface="Cambria Math" panose="02040503050406030204" pitchFamily="18" charset="0"/>
                          <a:ea typeface="Calibri" panose="020F0502020204030204" pitchFamily="34" charset="0"/>
                          <a:cs typeface="Calibri" panose="020F0502020204030204" pitchFamily="34" charset="0"/>
                        </a:rPr>
                        <m:t>=</m:t>
                      </m:r>
                      <m:f>
                        <m:fPr>
                          <m:ctrlPr>
                            <a:rPr lang="en-SG" sz="2000" i="1">
                              <a:latin typeface="Cambria Math" panose="02040503050406030204" pitchFamily="18" charset="0"/>
                              <a:ea typeface="Calibri" panose="020F0502020204030204" pitchFamily="34" charset="0"/>
                              <a:cs typeface="Calibri" panose="020F0502020204030204" pitchFamily="34" charset="0"/>
                            </a:rPr>
                          </m:ctrlPr>
                        </m:fPr>
                        <m:num>
                          <m:r>
                            <a:rPr lang="en-SG" sz="2000" i="1">
                              <a:latin typeface="Cambria Math" panose="02040503050406030204" pitchFamily="18" charset="0"/>
                              <a:ea typeface="Calibri" panose="020F0502020204030204" pitchFamily="34" charset="0"/>
                              <a:cs typeface="Calibri" panose="020F0502020204030204" pitchFamily="34" charset="0"/>
                            </a:rPr>
                            <m:t>1+</m:t>
                          </m:r>
                          <m:sSubSup>
                            <m:sSubSupPr>
                              <m:ctrlPr>
                                <a:rPr lang="en-SG" sz="2000" i="1">
                                  <a:latin typeface="Cambria Math" panose="02040503050406030204" pitchFamily="18" charset="0"/>
                                  <a:ea typeface="Calibri" panose="020F0502020204030204" pitchFamily="34" charset="0"/>
                                  <a:cs typeface="Calibri" panose="020F0502020204030204" pitchFamily="34" charset="0"/>
                                </a:rPr>
                              </m:ctrlPr>
                            </m:sSubSupPr>
                            <m:e>
                              <m:r>
                                <a:rPr lang="en-SG" sz="2000" i="1">
                                  <a:latin typeface="Cambria Math" panose="02040503050406030204" pitchFamily="18" charset="0"/>
                                  <a:ea typeface="Calibri" panose="020F0502020204030204" pitchFamily="34" charset="0"/>
                                  <a:cs typeface="Calibri" panose="020F0502020204030204" pitchFamily="34" charset="0"/>
                                </a:rPr>
                                <m:t>𝑖</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up>
                              <m:r>
                                <a:rPr lang="en-SG" sz="2000" i="1">
                                  <a:latin typeface="Cambria Math" panose="02040503050406030204" pitchFamily="18" charset="0"/>
                                  <a:ea typeface="Calibri" panose="020F0502020204030204" pitchFamily="34" charset="0"/>
                                  <a:cs typeface="Calibri" panose="020F0502020204030204" pitchFamily="34" charset="0"/>
                                </a:rPr>
                                <m:t>∗</m:t>
                              </m:r>
                            </m:sup>
                          </m:sSubSup>
                        </m:num>
                        <m:den>
                          <m:r>
                            <a:rPr lang="en-SG" sz="2000" i="1">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1+0.05</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1+0.02</m:t>
                          </m:r>
                        </m:den>
                      </m:f>
                      <m:r>
                        <a:rPr lang="en-SG" sz="2000" i="1">
                          <a:latin typeface="Cambria Math" panose="02040503050406030204" pitchFamily="18" charset="0"/>
                          <a:ea typeface="Calibri" panose="020F0502020204030204" pitchFamily="34" charset="0"/>
                          <a:cs typeface="Calibri" panose="020F0502020204030204" pitchFamily="34" charset="0"/>
                        </a:rPr>
                        <m:t>=1.0</m:t>
                      </m:r>
                      <m:r>
                        <a:rPr lang="en-SG" sz="2000" b="0" i="1" smtClean="0">
                          <a:latin typeface="Cambria Math" panose="02040503050406030204" pitchFamily="18" charset="0"/>
                          <a:ea typeface="Calibri" panose="020F0502020204030204" pitchFamily="34" charset="0"/>
                          <a:cs typeface="Calibri" panose="020F0502020204030204" pitchFamily="34" charset="0"/>
                        </a:rPr>
                        <m:t>2</m:t>
                      </m:r>
                      <m:r>
                        <a:rPr lang="en-SG" sz="2000" i="1">
                          <a:latin typeface="Cambria Math" panose="02040503050406030204" pitchFamily="18" charset="0"/>
                          <a:ea typeface="Calibri" panose="020F0502020204030204" pitchFamily="34" charset="0"/>
                          <a:cs typeface="Calibri" panose="020F0502020204030204" pitchFamily="34" charset="0"/>
                        </a:rPr>
                        <m:t>9</m:t>
                      </m:r>
                      <m:r>
                        <a:rPr lang="en-SG" sz="2000" i="1" smtClean="0">
                          <a:latin typeface="Cambria Math" panose="02040503050406030204" pitchFamily="18" charset="0"/>
                          <a:ea typeface="Calibri" panose="020F0502020204030204" pitchFamily="34" charset="0"/>
                          <a:cs typeface="Calibri" panose="020F0502020204030204" pitchFamily="34" charset="0"/>
                        </a:rPr>
                        <m:t>4</m:t>
                      </m:r>
                    </m:oMath>
                  </m:oMathPara>
                </a14:m>
                <a:endParaRPr lang="en-SG" sz="2000" i="1" dirty="0">
                  <a:latin typeface="Cambria Math" panose="02040503050406030204" pitchFamily="18" charset="0"/>
                  <a:ea typeface="Calibri" panose="020F0502020204030204" pitchFamily="34" charset="0"/>
                  <a:cs typeface="Calibri" panose="020F0502020204030204" pitchFamily="34" charset="0"/>
                </a:endParaRPr>
              </a:p>
              <a:p>
                <a:pPr marL="0" indent="0" algn="just">
                  <a:spcAft>
                    <a:spcPts val="1800"/>
                  </a:spcAft>
                  <a:buNone/>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=0.0294  </m:t>
                      </m:r>
                      <m:r>
                        <m:rPr>
                          <m:sty m:val="p"/>
                        </m:rPr>
                        <a:rPr lang="en-SG" sz="2000" b="0" i="0" smtClean="0">
                          <a:latin typeface="Cambria Math" panose="02040503050406030204" pitchFamily="18" charset="0"/>
                          <a:ea typeface="Calibri" panose="020F0502020204030204" pitchFamily="34" charset="0"/>
                          <a:cs typeface="Calibri" panose="020F0502020204030204" pitchFamily="34" charset="0"/>
                        </a:rPr>
                        <m:t>or</m:t>
                      </m:r>
                      <m:r>
                        <a:rPr lang="en-SG" sz="2000" b="0" i="1" smtClean="0">
                          <a:latin typeface="Cambria Math" panose="02040503050406030204" pitchFamily="18" charset="0"/>
                          <a:ea typeface="Calibri" panose="020F0502020204030204" pitchFamily="34" charset="0"/>
                          <a:cs typeface="Calibri" panose="020F0502020204030204" pitchFamily="34" charset="0"/>
                        </a:rPr>
                        <m:t>  2.94%</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Approximation formula:</a:t>
                </a:r>
              </a:p>
              <a:p>
                <a:pPr marL="0" indent="0" algn="just">
                  <a:spcAft>
                    <a:spcPts val="1200"/>
                  </a:spcAft>
                  <a:buNone/>
                </a:pPr>
                <a14:m>
                  <m:oMathPara xmlns:m="http://schemas.openxmlformats.org/officeDocument/2006/math">
                    <m:oMathParaPr>
                      <m:jc m:val="centerGroup"/>
                    </m:oMathParaPr>
                    <m:oMath xmlns:m="http://schemas.openxmlformats.org/officeDocument/2006/math">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=5%−2%=3%</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en-SG">
                    <a:noFill/>
                  </a:rPr>
                  <a:t> </a:t>
                </a:r>
              </a:p>
            </p:txBody>
          </p:sp>
        </mc:Fallback>
      </mc:AlternateContent>
    </p:spTree>
    <p:extLst>
      <p:ext uri="{BB962C8B-B14F-4D97-AF65-F5344CB8AC3E}">
        <p14:creationId xmlns:p14="http://schemas.microsoft.com/office/powerpoint/2010/main" val="2595170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Each of the government of Brazil and Turkey has issued bonds in </a:t>
                </a:r>
                <a:r>
                  <a:rPr lang="en-US" sz="2000" dirty="0" err="1">
                    <a:latin typeface="Calibri" panose="020F0502020204030204" pitchFamily="34" charset="0"/>
                    <a:ea typeface="Calibri" panose="020F0502020204030204" pitchFamily="34" charset="0"/>
                    <a:cs typeface="Calibri" panose="020F0502020204030204" pitchFamily="34" charset="0"/>
                  </a:rPr>
                  <a:t>Brazillian</a:t>
                </a:r>
                <a:r>
                  <a:rPr lang="en-US" sz="2000" dirty="0">
                    <a:latin typeface="Calibri" panose="020F0502020204030204" pitchFamily="34" charset="0"/>
                    <a:ea typeface="Calibri" panose="020F0502020204030204" pitchFamily="34" charset="0"/>
                    <a:cs typeface="Calibri" panose="020F0502020204030204" pitchFamily="34" charset="0"/>
                  </a:rPr>
                  <a:t> real (BRL) and Turkish lira (TRY), respectively. Assume that both government securities are one-year bonds, i.e. paying the face value of the bond one year from now. Suppose that the exchange rate, E, stands at 1 </a:t>
                </a:r>
                <a:r>
                  <a:rPr lang="en-US" sz="2000" dirty="0" err="1">
                    <a:latin typeface="Calibri" panose="020F0502020204030204" pitchFamily="34" charset="0"/>
                    <a:ea typeface="Calibri" panose="020F0502020204030204" pitchFamily="34" charset="0"/>
                    <a:cs typeface="Calibri" panose="020F0502020204030204" pitchFamily="34" charset="0"/>
                  </a:rPr>
                  <a:t>Brazillian</a:t>
                </a:r>
                <a:r>
                  <a:rPr lang="en-US" sz="2000" dirty="0">
                    <a:latin typeface="Calibri" panose="020F0502020204030204" pitchFamily="34" charset="0"/>
                    <a:ea typeface="Calibri" panose="020F0502020204030204" pitchFamily="34" charset="0"/>
                    <a:cs typeface="Calibri" panose="020F0502020204030204" pitchFamily="34" charset="0"/>
                  </a:rPr>
                  <a:t> real per 0.79 Turkish lira. The following table gives face values and prices of both bonds:</a:t>
                </a: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m:t>
                    </m:r>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0.79 </m:t>
                        </m:r>
                        <m:r>
                          <a:rPr lang="en-SG" sz="2000" b="0" i="1" smtClean="0">
                            <a:latin typeface="Cambria Math" panose="02040503050406030204" pitchFamily="18" charset="0"/>
                            <a:ea typeface="Calibri" panose="020F0502020204030204" pitchFamily="34" charset="0"/>
                            <a:cs typeface="Calibri" panose="020F0502020204030204" pitchFamily="34" charset="0"/>
                          </a:rPr>
                          <m:t>𝑇𝑅𝑌</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1 </m:t>
                        </m:r>
                        <m:r>
                          <a:rPr lang="en-SG" sz="2000" b="0" i="1" smtClean="0">
                            <a:latin typeface="Cambria Math" panose="02040503050406030204" pitchFamily="18" charset="0"/>
                            <a:ea typeface="Calibri" panose="020F0502020204030204" pitchFamily="34" charset="0"/>
                            <a:cs typeface="Calibri" panose="020F0502020204030204" pitchFamily="34" charset="0"/>
                          </a:rPr>
                          <m:t>𝐵𝑅𝐿</m:t>
                        </m:r>
                      </m:den>
                    </m:f>
                  </m:oMath>
                </a14:m>
                <a:r>
                  <a:rPr lang="en-US" sz="2000" dirty="0">
                    <a:latin typeface="Calibri" panose="020F0502020204030204" pitchFamily="34" charset="0"/>
                    <a:ea typeface="Calibri" panose="020F0502020204030204" pitchFamily="34" charset="0"/>
                    <a:cs typeface="Calibri" panose="020F0502020204030204" pitchFamily="34" charset="0"/>
                  </a:rPr>
                  <a:t> is the price of BRL in terms of TRY.</a:t>
                </a: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r="-580"/>
                </a:stretch>
              </a:blipFill>
            </p:spPr>
            <p:txBody>
              <a:bodyPr/>
              <a:lstStyle/>
              <a:p>
                <a:r>
                  <a:rPr lang="en-SG">
                    <a:noFill/>
                  </a:rPr>
                  <a:t> </a:t>
                </a:r>
              </a:p>
            </p:txBody>
          </p:sp>
        </mc:Fallback>
      </mc:AlternateContent>
      <p:graphicFrame>
        <p:nvGraphicFramePr>
          <p:cNvPr id="4" name="Table 3">
            <a:extLst>
              <a:ext uri="{FF2B5EF4-FFF2-40B4-BE49-F238E27FC236}">
                <a16:creationId xmlns:a16="http://schemas.microsoft.com/office/drawing/2014/main" id="{9E368F17-D15E-3903-4D39-3BBBDA6E8FED}"/>
              </a:ext>
            </a:extLst>
          </p:cNvPr>
          <p:cNvGraphicFramePr>
            <a:graphicFrameLocks noGrp="1"/>
          </p:cNvGraphicFramePr>
          <p:nvPr>
            <p:extLst>
              <p:ext uri="{D42A27DB-BD31-4B8C-83A1-F6EECF244321}">
                <p14:modId xmlns:p14="http://schemas.microsoft.com/office/powerpoint/2010/main" val="4128417915"/>
              </p:ext>
            </p:extLst>
          </p:nvPr>
        </p:nvGraphicFramePr>
        <p:xfrm>
          <a:off x="3210232" y="3315109"/>
          <a:ext cx="5771535" cy="1188720"/>
        </p:xfrm>
        <a:graphic>
          <a:graphicData uri="http://schemas.openxmlformats.org/drawingml/2006/table">
            <a:tbl>
              <a:tblPr firstRow="1" bandRow="1">
                <a:tableStyleId>{D7AC3CCA-C797-4891-BE02-D94E43425B78}</a:tableStyleId>
              </a:tblPr>
              <a:tblGrid>
                <a:gridCol w="1923845">
                  <a:extLst>
                    <a:ext uri="{9D8B030D-6E8A-4147-A177-3AD203B41FA5}">
                      <a16:colId xmlns:a16="http://schemas.microsoft.com/office/drawing/2014/main" val="3693411163"/>
                    </a:ext>
                  </a:extLst>
                </a:gridCol>
                <a:gridCol w="1923845">
                  <a:extLst>
                    <a:ext uri="{9D8B030D-6E8A-4147-A177-3AD203B41FA5}">
                      <a16:colId xmlns:a16="http://schemas.microsoft.com/office/drawing/2014/main" val="1008408648"/>
                    </a:ext>
                  </a:extLst>
                </a:gridCol>
                <a:gridCol w="1923845">
                  <a:extLst>
                    <a:ext uri="{9D8B030D-6E8A-4147-A177-3AD203B41FA5}">
                      <a16:colId xmlns:a16="http://schemas.microsoft.com/office/drawing/2014/main" val="895477956"/>
                    </a:ext>
                  </a:extLst>
                </a:gridCol>
              </a:tblGrid>
              <a:tr h="370840">
                <a:tc>
                  <a:txBody>
                    <a:bodyPr/>
                    <a:lstStyle/>
                    <a:p>
                      <a:endParaRPr lang="en-SG" sz="2000" b="0">
                        <a:latin typeface="Calibri" panose="020F0502020204030204" pitchFamily="34" charset="0"/>
                        <a:ea typeface="Calibri" panose="020F0502020204030204" pitchFamily="34" charset="0"/>
                        <a:cs typeface="Calibri" panose="020F0502020204030204" pitchFamily="34" charset="0"/>
                      </a:endParaRPr>
                    </a:p>
                  </a:txBody>
                  <a:tcPr>
                    <a:noFill/>
                  </a:tcPr>
                </a:tc>
                <a:tc>
                  <a:txBody>
                    <a:bodyPr/>
                    <a:lstStyle/>
                    <a:p>
                      <a:r>
                        <a:rPr lang="en-SG" sz="2000" b="0" dirty="0">
                          <a:latin typeface="Calibri" panose="020F0502020204030204" pitchFamily="34" charset="0"/>
                          <a:ea typeface="Calibri" panose="020F0502020204030204" pitchFamily="34" charset="0"/>
                          <a:cs typeface="Calibri" panose="020F0502020204030204" pitchFamily="34" charset="0"/>
                        </a:rPr>
                        <a:t>Face Value</a:t>
                      </a:r>
                    </a:p>
                  </a:txBody>
                  <a:tcPr>
                    <a:noFill/>
                  </a:tcPr>
                </a:tc>
                <a:tc>
                  <a:txBody>
                    <a:bodyPr/>
                    <a:lstStyle/>
                    <a:p>
                      <a:r>
                        <a:rPr lang="en-SG" sz="2000" b="0" dirty="0">
                          <a:latin typeface="Calibri" panose="020F0502020204030204" pitchFamily="34" charset="0"/>
                          <a:ea typeface="Calibri" panose="020F0502020204030204" pitchFamily="34" charset="0"/>
                          <a:cs typeface="Calibri" panose="020F0502020204030204" pitchFamily="34" charset="0"/>
                        </a:rPr>
                        <a:t>Price</a:t>
                      </a:r>
                    </a:p>
                  </a:txBody>
                  <a:tcPr>
                    <a:noFill/>
                  </a:tcPr>
                </a:tc>
                <a:extLst>
                  <a:ext uri="{0D108BD9-81ED-4DB2-BD59-A6C34878D82A}">
                    <a16:rowId xmlns:a16="http://schemas.microsoft.com/office/drawing/2014/main" val="2026340462"/>
                  </a:ext>
                </a:extLst>
              </a:tr>
              <a:tr h="370840">
                <a:tc>
                  <a:txBody>
                    <a:bodyPr/>
                    <a:lstStyle/>
                    <a:p>
                      <a:r>
                        <a:rPr lang="en-SG" sz="2000" b="0" dirty="0">
                          <a:latin typeface="Calibri" panose="020F0502020204030204" pitchFamily="34" charset="0"/>
                          <a:ea typeface="Calibri" panose="020F0502020204030204" pitchFamily="34" charset="0"/>
                          <a:cs typeface="Calibri" panose="020F0502020204030204" pitchFamily="34" charset="0"/>
                        </a:rPr>
                        <a:t>Brazil</a:t>
                      </a:r>
                    </a:p>
                  </a:txBody>
                  <a:tcPr>
                    <a:noFill/>
                  </a:tcPr>
                </a:tc>
                <a:tc>
                  <a:txBody>
                    <a:bodyPr/>
                    <a:lstStyle/>
                    <a:p>
                      <a:r>
                        <a:rPr lang="en-SG" sz="2000" b="0" dirty="0">
                          <a:latin typeface="Calibri" panose="020F0502020204030204" pitchFamily="34" charset="0"/>
                          <a:ea typeface="Calibri" panose="020F0502020204030204" pitchFamily="34" charset="0"/>
                          <a:cs typeface="Calibri" panose="020F0502020204030204" pitchFamily="34" charset="0"/>
                        </a:rPr>
                        <a:t>BRL10,000</a:t>
                      </a:r>
                    </a:p>
                  </a:txBody>
                  <a:tcPr>
                    <a:noFill/>
                  </a:tcPr>
                </a:tc>
                <a:tc>
                  <a:txBody>
                    <a:bodyPr/>
                    <a:lstStyle/>
                    <a:p>
                      <a:r>
                        <a:rPr lang="en-SG" sz="2000" b="0" dirty="0">
                          <a:latin typeface="Calibri" panose="020F0502020204030204" pitchFamily="34" charset="0"/>
                          <a:ea typeface="Calibri" panose="020F0502020204030204" pitchFamily="34" charset="0"/>
                          <a:cs typeface="Calibri" panose="020F0502020204030204" pitchFamily="34" charset="0"/>
                        </a:rPr>
                        <a:t>BRL9,630</a:t>
                      </a:r>
                    </a:p>
                  </a:txBody>
                  <a:tcPr>
                    <a:noFill/>
                  </a:tcPr>
                </a:tc>
                <a:extLst>
                  <a:ext uri="{0D108BD9-81ED-4DB2-BD59-A6C34878D82A}">
                    <a16:rowId xmlns:a16="http://schemas.microsoft.com/office/drawing/2014/main" val="2253652454"/>
                  </a:ext>
                </a:extLst>
              </a:tr>
              <a:tr h="370840">
                <a:tc>
                  <a:txBody>
                    <a:bodyPr/>
                    <a:lstStyle/>
                    <a:p>
                      <a:r>
                        <a:rPr lang="en-SG" sz="2000" b="0" dirty="0">
                          <a:latin typeface="Calibri" panose="020F0502020204030204" pitchFamily="34" charset="0"/>
                          <a:ea typeface="Calibri" panose="020F0502020204030204" pitchFamily="34" charset="0"/>
                          <a:cs typeface="Calibri" panose="020F0502020204030204" pitchFamily="34" charset="0"/>
                        </a:rPr>
                        <a:t>Turkey</a:t>
                      </a:r>
                    </a:p>
                  </a:txBody>
                  <a:tcPr>
                    <a:noFill/>
                  </a:tcPr>
                </a:tc>
                <a:tc>
                  <a:txBody>
                    <a:bodyPr/>
                    <a:lstStyle/>
                    <a:p>
                      <a:r>
                        <a:rPr lang="en-SG" sz="2000" b="0" dirty="0">
                          <a:latin typeface="Calibri" panose="020F0502020204030204" pitchFamily="34" charset="0"/>
                          <a:ea typeface="Calibri" panose="020F0502020204030204" pitchFamily="34" charset="0"/>
                          <a:cs typeface="Calibri" panose="020F0502020204030204" pitchFamily="34" charset="0"/>
                        </a:rPr>
                        <a:t>TRY10,000</a:t>
                      </a:r>
                    </a:p>
                  </a:txBody>
                  <a:tcPr>
                    <a:noFill/>
                  </a:tcPr>
                </a:tc>
                <a:tc>
                  <a:txBody>
                    <a:bodyPr/>
                    <a:lstStyle/>
                    <a:p>
                      <a:r>
                        <a:rPr lang="en-SG" sz="2000" b="0" dirty="0">
                          <a:latin typeface="Calibri" panose="020F0502020204030204" pitchFamily="34" charset="0"/>
                          <a:ea typeface="Calibri" panose="020F0502020204030204" pitchFamily="34" charset="0"/>
                          <a:cs typeface="Calibri" panose="020F0502020204030204" pitchFamily="34" charset="0"/>
                        </a:rPr>
                        <a:t>TRY9,450</a:t>
                      </a:r>
                    </a:p>
                  </a:txBody>
                  <a:tcPr>
                    <a:noFill/>
                  </a:tcPr>
                </a:tc>
                <a:extLst>
                  <a:ext uri="{0D108BD9-81ED-4DB2-BD59-A6C34878D82A}">
                    <a16:rowId xmlns:a16="http://schemas.microsoft.com/office/drawing/2014/main" val="286119424"/>
                  </a:ext>
                </a:extLst>
              </a:tr>
            </a:tbl>
          </a:graphicData>
        </a:graphic>
      </p:graphicFrame>
    </p:spTree>
    <p:extLst>
      <p:ext uri="{BB962C8B-B14F-4D97-AF65-F5344CB8AC3E}">
        <p14:creationId xmlns:p14="http://schemas.microsoft.com/office/powerpoint/2010/main" val="3251744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(a) </a:t>
                </a:r>
                <a:r>
                  <a:rPr lang="en-US" sz="2000" i="1" dirty="0">
                    <a:latin typeface="Calibri" panose="020F0502020204030204" pitchFamily="34" charset="0"/>
                    <a:ea typeface="Calibri" panose="020F0502020204030204" pitchFamily="34" charset="0"/>
                    <a:cs typeface="Calibri" panose="020F0502020204030204" pitchFamily="34" charset="0"/>
                  </a:rPr>
                  <a:t>Compute the nominal interest rate on each of the bonds</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We treat Brazil as domestic and Turkey as foreign.</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Brazil (domestic) interest rate:</a:t>
                </a:r>
              </a:p>
              <a:p>
                <a:pPr marL="0" indent="0" algn="just">
                  <a:spcAft>
                    <a:spcPts val="1200"/>
                  </a:spcAft>
                  <a:buNone/>
                </a:pPr>
                <a14:m>
                  <m:oMathPara xmlns:m="http://schemas.openxmlformats.org/officeDocument/2006/math">
                    <m:oMathParaPr>
                      <m:jc m:val="centerGroup"/>
                    </m:oMathParaPr>
                    <m:oMath xmlns:m="http://schemas.openxmlformats.org/officeDocument/2006/math">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𝐹𝑎𝑐𝑒</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𝑉𝑎𝑙𝑢𝑒</m:t>
                          </m:r>
                          <m:r>
                            <a:rPr lang="en-SG" sz="2000" b="0" i="1" smtClean="0">
                              <a:latin typeface="Cambria Math" panose="02040503050406030204" pitchFamily="18" charset="0"/>
                              <a:ea typeface="Calibri" panose="020F0502020204030204" pitchFamily="34" charset="0"/>
                              <a:cs typeface="Calibri" panose="020F0502020204030204" pitchFamily="34" charset="0"/>
                            </a:rPr>
                            <m:t> </m:t>
                          </m:r>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𝐵𝑅𝐿</m:t>
                              </m:r>
                            </m:e>
                          </m:d>
                        </m:num>
                        <m:den>
                          <m:r>
                            <a:rPr lang="en-SG" sz="2000" b="0" i="1" smtClean="0">
                              <a:latin typeface="Cambria Math" panose="02040503050406030204" pitchFamily="18" charset="0"/>
                              <a:ea typeface="Calibri" panose="020F0502020204030204" pitchFamily="34" charset="0"/>
                              <a:cs typeface="Calibri" panose="020F0502020204030204" pitchFamily="34" charset="0"/>
                            </a:rPr>
                            <m:t>𝐵𝑜𝑛𝑑</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𝑃𝑟𝑖𝑐𝑒</m:t>
                          </m:r>
                          <m:r>
                            <a:rPr lang="en-SG" sz="2000" b="0" i="1" smtClean="0">
                              <a:latin typeface="Cambria Math" panose="02040503050406030204" pitchFamily="18" charset="0"/>
                              <a:ea typeface="Calibri" panose="020F0502020204030204" pitchFamily="34" charset="0"/>
                              <a:cs typeface="Calibri" panose="020F0502020204030204" pitchFamily="34" charset="0"/>
                            </a:rPr>
                            <m:t> </m:t>
                          </m:r>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𝐵𝑅𝐿</m:t>
                              </m:r>
                            </m:e>
                          </m:d>
                        </m:den>
                      </m:f>
                      <m:r>
                        <a:rPr lang="en-SG" sz="2000" b="0" i="1" smtClean="0">
                          <a:latin typeface="Cambria Math" panose="02040503050406030204" pitchFamily="18" charset="0"/>
                          <a:ea typeface="Calibri" panose="020F0502020204030204" pitchFamily="34" charset="0"/>
                          <a:cs typeface="Calibri" panose="020F0502020204030204" pitchFamily="34" charset="0"/>
                        </a:rPr>
                        <m:t>−1=</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10,000</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9,630</m:t>
                          </m:r>
                        </m:den>
                      </m:f>
                      <m:r>
                        <a:rPr lang="en-SG" sz="2000" b="0" i="1" smtClean="0">
                          <a:latin typeface="Cambria Math" panose="02040503050406030204" pitchFamily="18" charset="0"/>
                          <a:ea typeface="Calibri" panose="020F0502020204030204" pitchFamily="34" charset="0"/>
                          <a:cs typeface="Calibri" panose="020F0502020204030204" pitchFamily="34" charset="0"/>
                        </a:rPr>
                        <m:t>−1=3.84%</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Turkey (foreign) interest rate:</a:t>
                </a:r>
              </a:p>
              <a:p>
                <a:pPr marL="0" indent="0" algn="just">
                  <a:spcAft>
                    <a:spcPts val="1200"/>
                  </a:spcAft>
                  <a:buNone/>
                </a:pPr>
                <a14:m>
                  <m:oMathPara xmlns:m="http://schemas.openxmlformats.org/officeDocument/2006/math">
                    <m:oMathParaPr>
                      <m:jc m:val="centerGroup"/>
                    </m:oMathParaPr>
                    <m:oMath xmlns:m="http://schemas.openxmlformats.org/officeDocument/2006/math">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𝐹𝑎𝑐𝑒</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𝑉𝑎𝑙𝑢𝑒</m:t>
                          </m:r>
                          <m:r>
                            <a:rPr lang="en-SG" sz="2000" b="0" i="1" smtClean="0">
                              <a:latin typeface="Cambria Math" panose="02040503050406030204" pitchFamily="18" charset="0"/>
                              <a:ea typeface="Calibri" panose="020F0502020204030204" pitchFamily="34" charset="0"/>
                              <a:cs typeface="Calibri" panose="020F0502020204030204" pitchFamily="34" charset="0"/>
                            </a:rPr>
                            <m:t> </m:t>
                          </m:r>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𝑇𝑅𝑌</m:t>
                              </m:r>
                            </m:e>
                          </m:d>
                        </m:num>
                        <m:den>
                          <m:r>
                            <a:rPr lang="en-SG" sz="2000" b="0" i="1" smtClean="0">
                              <a:latin typeface="Cambria Math" panose="02040503050406030204" pitchFamily="18" charset="0"/>
                              <a:ea typeface="Calibri" panose="020F0502020204030204" pitchFamily="34" charset="0"/>
                              <a:cs typeface="Calibri" panose="020F0502020204030204" pitchFamily="34" charset="0"/>
                            </a:rPr>
                            <m:t>𝐵𝑜𝑛𝑑</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𝑃𝑟𝑖𝑐𝑒</m:t>
                          </m:r>
                          <m:r>
                            <a:rPr lang="en-SG" sz="2000" b="0" i="1" smtClean="0">
                              <a:latin typeface="Cambria Math" panose="02040503050406030204" pitchFamily="18" charset="0"/>
                              <a:ea typeface="Calibri" panose="020F0502020204030204" pitchFamily="34" charset="0"/>
                              <a:cs typeface="Calibri" panose="020F0502020204030204" pitchFamily="34" charset="0"/>
                            </a:rPr>
                            <m:t> </m:t>
                          </m:r>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𝑇𝑅𝑌</m:t>
                              </m:r>
                            </m:e>
                          </m:d>
                        </m:den>
                      </m:f>
                      <m:r>
                        <a:rPr lang="en-SG" sz="2000" b="0" i="1" smtClean="0">
                          <a:latin typeface="Cambria Math" panose="02040503050406030204" pitchFamily="18" charset="0"/>
                          <a:ea typeface="Calibri" panose="020F0502020204030204" pitchFamily="34" charset="0"/>
                          <a:cs typeface="Calibri" panose="020F0502020204030204" pitchFamily="34" charset="0"/>
                        </a:rPr>
                        <m:t>−1=</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10,000</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9,450</m:t>
                          </m:r>
                        </m:den>
                      </m:f>
                      <m:r>
                        <a:rPr lang="en-SG" sz="2000" b="0" i="1" smtClean="0">
                          <a:latin typeface="Cambria Math" panose="02040503050406030204" pitchFamily="18" charset="0"/>
                          <a:ea typeface="Calibri" panose="020F0502020204030204" pitchFamily="34" charset="0"/>
                          <a:cs typeface="Calibri" panose="020F0502020204030204" pitchFamily="34" charset="0"/>
                        </a:rPr>
                        <m:t>−1=5.82%</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en-SG">
                    <a:noFill/>
                  </a:rPr>
                  <a:t> </a:t>
                </a:r>
              </a:p>
            </p:txBody>
          </p:sp>
        </mc:Fallback>
      </mc:AlternateContent>
    </p:spTree>
    <p:extLst>
      <p:ext uri="{BB962C8B-B14F-4D97-AF65-F5344CB8AC3E}">
        <p14:creationId xmlns:p14="http://schemas.microsoft.com/office/powerpoint/2010/main" val="2469662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(b) </a:t>
                </a:r>
                <a:r>
                  <a:rPr lang="en-US" sz="2000" i="1" dirty="0">
                    <a:latin typeface="Calibri" panose="020F0502020204030204" pitchFamily="34" charset="0"/>
                    <a:ea typeface="Calibri" panose="020F0502020204030204" pitchFamily="34" charset="0"/>
                    <a:cs typeface="Calibri" panose="020F0502020204030204" pitchFamily="34" charset="0"/>
                  </a:rPr>
                  <a:t>Compute the expected exchange rate next year consistent with uncovered interest parity. If you expect the real to depreciate relative to lira, which bond should you buy. </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According to UIP: </a:t>
                </a:r>
                <a14:m>
                  <m:oMath xmlns:m="http://schemas.openxmlformats.org/officeDocument/2006/math">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oMath>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𝑖</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=5.82%−3.84%=1.98%</m:t>
                    </m:r>
                  </m:oMath>
                </a14:m>
                <a:r>
                  <a:rPr lang="en-US" sz="2000" dirty="0">
                    <a:latin typeface="Calibri" panose="020F0502020204030204" pitchFamily="34" charset="0"/>
                    <a:ea typeface="Calibri" panose="020F0502020204030204" pitchFamily="34" charset="0"/>
                    <a:cs typeface="Calibri" panose="020F0502020204030204" pitchFamily="34" charset="0"/>
                  </a:rPr>
                  <a:t> </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This means that for UIP to hold, we expect domestic currency (BRL) to appreciate by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1.98%</m:t>
                    </m:r>
                  </m:oMath>
                </a14:m>
                <a:r>
                  <a:rPr lang="en-US" sz="2000" dirty="0">
                    <a:latin typeface="Calibri" panose="020F0502020204030204" pitchFamily="34" charset="0"/>
                    <a:ea typeface="Calibri" panose="020F0502020204030204" pitchFamily="34" charset="0"/>
                    <a:cs typeface="Calibri" panose="020F0502020204030204" pitchFamily="34" charset="0"/>
                  </a:rPr>
                  <a:t> against foreign currency (TRY). The expected exchange rate next year: </a:t>
                </a:r>
              </a:p>
              <a:p>
                <a:pPr marL="0" indent="0" algn="just">
                  <a:spcAft>
                    <a:spcPts val="1200"/>
                  </a:spcAft>
                  <a:buNone/>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r>
                                <a:rPr lang="en-SG" sz="2000" b="0" i="1" smtClean="0">
                                  <a:latin typeface="Cambria Math" panose="02040503050406030204" pitchFamily="18" charset="0"/>
                                  <a:ea typeface="Calibri" panose="020F0502020204030204" pitchFamily="34" charset="0"/>
                                  <a:cs typeface="Calibri" panose="020F0502020204030204" pitchFamily="34" charset="0"/>
                                </a:rPr>
                                <m:t>+1</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𝑒</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Sup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r>
                            <a:rPr lang="en-SG" sz="2000" b="0" i="1" smtClean="0">
                              <a:latin typeface="Cambria Math" panose="02040503050406030204" pitchFamily="18" charset="0"/>
                              <a:ea typeface="Calibri" panose="020F0502020204030204" pitchFamily="34" charset="0"/>
                              <a:cs typeface="Calibri" panose="020F0502020204030204" pitchFamily="34" charset="0"/>
                            </a:rPr>
                            <m:t>+1</m:t>
                          </m:r>
                        </m:sub>
                        <m:sup>
                          <m:r>
                            <a:rPr lang="en-SG" sz="2000" b="0" i="1" smtClean="0">
                              <a:latin typeface="Cambria Math" panose="02040503050406030204" pitchFamily="18" charset="0"/>
                              <a:ea typeface="Calibri" panose="020F0502020204030204" pitchFamily="34" charset="0"/>
                              <a:cs typeface="Calibri" panose="020F0502020204030204" pitchFamily="34" charset="0"/>
                            </a:rPr>
                            <m:t>𝑒</m:t>
                          </m:r>
                        </m:sup>
                      </m:sSubSup>
                      <m:r>
                        <a:rPr lang="en-SG" sz="2000" b="0" i="1" smtClean="0">
                          <a:latin typeface="Cambria Math" panose="02040503050406030204" pitchFamily="18" charset="0"/>
                          <a:ea typeface="Calibri" panose="020F0502020204030204" pitchFamily="34" charset="0"/>
                          <a:cs typeface="Calibri" panose="020F0502020204030204" pitchFamily="34" charset="0"/>
                        </a:rPr>
                        <m:t>=</m:t>
                      </m:r>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1+</m:t>
                          </m:r>
                          <m:r>
                            <a:rPr lang="en-SG" sz="2000" b="0" i="1" smtClean="0">
                              <a:latin typeface="Cambria Math" panose="02040503050406030204" pitchFamily="18" charset="0"/>
                              <a:ea typeface="Calibri" panose="020F0502020204030204" pitchFamily="34" charset="0"/>
                              <a:cs typeface="Calibri" panose="020F0502020204030204" pitchFamily="34" charset="0"/>
                            </a:rPr>
                            <m:t>𝐸𝑥𝑝</m:t>
                          </m:r>
                          <m:r>
                            <a:rPr lang="en-SG" sz="2000" b="0" i="1" smtClean="0">
                              <a:latin typeface="Cambria Math" panose="02040503050406030204" pitchFamily="18" charset="0"/>
                              <a:ea typeface="Calibri" panose="020F0502020204030204" pitchFamily="34" charset="0"/>
                              <a:cs typeface="Calibri" panose="020F0502020204030204" pitchFamily="34" charset="0"/>
                            </a:rPr>
                            <m:t> </m:t>
                          </m:r>
                          <m:r>
                            <a:rPr lang="en-SG" sz="2000" b="0" i="1" smtClean="0">
                              <a:latin typeface="Cambria Math" panose="02040503050406030204" pitchFamily="18" charset="0"/>
                              <a:ea typeface="Calibri" panose="020F0502020204030204" pitchFamily="34" charset="0"/>
                              <a:cs typeface="Calibri" panose="020F0502020204030204" pitchFamily="34" charset="0"/>
                            </a:rPr>
                            <m:t>𝐴𝑝𝑝</m:t>
                          </m:r>
                        </m:e>
                      </m:d>
                      <m:sSub>
                        <m:sSubPr>
                          <m:ctrlPr>
                            <a:rPr lang="en-SG" sz="2000" i="1">
                              <a:latin typeface="Cambria Math" panose="02040503050406030204" pitchFamily="18" charset="0"/>
                              <a:ea typeface="Calibri" panose="020F0502020204030204" pitchFamily="34" charset="0"/>
                              <a:cs typeface="Calibri" panose="020F0502020204030204" pitchFamily="34" charset="0"/>
                            </a:rPr>
                          </m:ctrlPr>
                        </m:sSubPr>
                        <m:e>
                          <m:r>
                            <a:rPr lang="en-SG" sz="2000" i="1">
                              <a:latin typeface="Cambria Math" panose="02040503050406030204" pitchFamily="18" charset="0"/>
                              <a:ea typeface="Calibri" panose="020F0502020204030204" pitchFamily="34" charset="0"/>
                              <a:cs typeface="Calibri" panose="020F0502020204030204" pitchFamily="34" charset="0"/>
                            </a:rPr>
                            <m:t>𝐸</m:t>
                          </m:r>
                        </m:e>
                        <m:sub>
                          <m:r>
                            <a:rPr lang="en-SG" sz="2000" i="1">
                              <a:latin typeface="Cambria Math" panose="02040503050406030204" pitchFamily="18" charset="0"/>
                              <a:ea typeface="Calibri" panose="020F0502020204030204" pitchFamily="34" charset="0"/>
                              <a:cs typeface="Calibri" panose="020F0502020204030204" pitchFamily="34" charset="0"/>
                            </a:rPr>
                            <m:t>𝑡</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d>
                        <m:d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dPr>
                        <m:e>
                          <m:r>
                            <a:rPr lang="en-SG" sz="2000" b="0" i="1" smtClean="0">
                              <a:latin typeface="Cambria Math" panose="02040503050406030204" pitchFamily="18" charset="0"/>
                              <a:ea typeface="Calibri" panose="020F0502020204030204" pitchFamily="34" charset="0"/>
                              <a:cs typeface="Calibri" panose="020F0502020204030204" pitchFamily="34" charset="0"/>
                            </a:rPr>
                            <m:t>1+0.0198</m:t>
                          </m:r>
                        </m:e>
                      </m:d>
                      <m:r>
                        <a:rPr lang="en-SG" sz="2000" i="1">
                          <a:latin typeface="Cambria Math" panose="02040503050406030204" pitchFamily="18" charset="0"/>
                          <a:ea typeface="Calibri" panose="020F0502020204030204" pitchFamily="34" charset="0"/>
                          <a:cs typeface="Calibri" panose="020F0502020204030204" pitchFamily="34" charset="0"/>
                        </a:rPr>
                        <m:t>×0.79=0.8056</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If we expect the BRL to depreciate, we should purchase the Turkish bond since it pays a higher interest rate and it also offers an expected capital gain on the currency.</a:t>
                </a: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r="-580"/>
                </a:stretch>
              </a:blipFill>
            </p:spPr>
            <p:txBody>
              <a:bodyPr/>
              <a:lstStyle/>
              <a:p>
                <a:r>
                  <a:rPr lang="en-SG">
                    <a:noFill/>
                  </a:rPr>
                  <a:t> </a:t>
                </a:r>
              </a:p>
            </p:txBody>
          </p:sp>
        </mc:Fallback>
      </mc:AlternateContent>
    </p:spTree>
    <p:extLst>
      <p:ext uri="{BB962C8B-B14F-4D97-AF65-F5344CB8AC3E}">
        <p14:creationId xmlns:p14="http://schemas.microsoft.com/office/powerpoint/2010/main" val="410310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(c) </a:t>
                </a:r>
                <a:r>
                  <a:rPr lang="en-US" sz="2000" i="1" dirty="0">
                    <a:latin typeface="Calibri" panose="020F0502020204030204" pitchFamily="34" charset="0"/>
                    <a:ea typeface="Calibri" panose="020F0502020204030204" pitchFamily="34" charset="0"/>
                    <a:cs typeface="Calibri" panose="020F0502020204030204" pitchFamily="34" charset="0"/>
                  </a:rPr>
                  <a:t>Assume that you are a Brazilian investor. You exchange the reals for liras and purchase the Turkish bond. One year from now, it turns out that the exchange rate, E, is 0.75 i.e. 0.75 liras buy one real. What is your realized rate of return in reals compared to the realized rate of return you would have made had you held the Brazilian bond?</a:t>
                </a:r>
              </a:p>
              <a:p>
                <a:pPr marL="0" indent="0" algn="just">
                  <a:spcAft>
                    <a:spcPts val="1200"/>
                  </a:spcAft>
                  <a:buNone/>
                </a:pPr>
                <a14:m>
                  <m:oMathPara xmlns:m="http://schemas.openxmlformats.org/officeDocument/2006/math">
                    <m:oMathParaPr>
                      <m:jc m:val="centerGroup"/>
                    </m:oMathParaPr>
                    <m:oMath xmlns:m="http://schemas.openxmlformats.org/officeDocument/2006/math">
                      <m:r>
                        <m:rPr>
                          <m:sty m:val="p"/>
                        </m:rPr>
                        <a:rPr lang="en-SG" sz="2000" b="0" i="0" smtClean="0">
                          <a:latin typeface="Cambria Math" panose="02040503050406030204" pitchFamily="18" charset="0"/>
                          <a:ea typeface="Calibri" panose="020F0502020204030204" pitchFamily="34" charset="0"/>
                          <a:cs typeface="Calibri" panose="020F0502020204030204" pitchFamily="34" charset="0"/>
                        </a:rPr>
                        <m:t>Change</m:t>
                      </m:r>
                      <m:r>
                        <a:rPr lang="en-SG" sz="2000" b="0" i="0" smtClean="0">
                          <a:latin typeface="Cambria Math" panose="02040503050406030204" pitchFamily="18" charset="0"/>
                          <a:ea typeface="Calibri" panose="020F0502020204030204" pitchFamily="34" charset="0"/>
                          <a:cs typeface="Calibri" panose="020F0502020204030204" pitchFamily="34" charset="0"/>
                        </a:rPr>
                        <m:t> </m:t>
                      </m:r>
                      <m:r>
                        <m:rPr>
                          <m:sty m:val="p"/>
                        </m:rPr>
                        <a:rPr lang="en-SG" sz="2000" b="0" i="0" smtClean="0">
                          <a:latin typeface="Cambria Math" panose="02040503050406030204" pitchFamily="18" charset="0"/>
                          <a:ea typeface="Calibri" panose="020F0502020204030204" pitchFamily="34" charset="0"/>
                          <a:cs typeface="Calibri" panose="020F0502020204030204" pitchFamily="34" charset="0"/>
                        </a:rPr>
                        <m:t>in</m:t>
                      </m:r>
                      <m:r>
                        <a:rPr lang="en-SG" sz="2000" b="0" i="0" smtClean="0">
                          <a:latin typeface="Cambria Math" panose="02040503050406030204" pitchFamily="18" charset="0"/>
                          <a:ea typeface="Calibri" panose="020F0502020204030204" pitchFamily="34" charset="0"/>
                          <a:cs typeface="Calibri" panose="020F0502020204030204" pitchFamily="34" charset="0"/>
                        </a:rPr>
                        <m:t> </m:t>
                      </m:r>
                      <m:r>
                        <m:rPr>
                          <m:sty m:val="p"/>
                        </m:rPr>
                        <a:rPr lang="en-SG" sz="2000" b="0" i="0" smtClean="0">
                          <a:latin typeface="Cambria Math" panose="02040503050406030204" pitchFamily="18" charset="0"/>
                          <a:ea typeface="Calibri" panose="020F0502020204030204" pitchFamily="34" charset="0"/>
                          <a:cs typeface="Calibri" panose="020F0502020204030204" pitchFamily="34" charset="0"/>
                        </a:rPr>
                        <m:t>FX</m:t>
                      </m:r>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r>
                                <a:rPr lang="en-SG" sz="2000" b="0" i="1" smtClean="0">
                                  <a:latin typeface="Cambria Math" panose="02040503050406030204" pitchFamily="18" charset="0"/>
                                  <a:ea typeface="Calibri" panose="020F0502020204030204" pitchFamily="34" charset="0"/>
                                  <a:cs typeface="Calibri" panose="020F0502020204030204" pitchFamily="34" charset="0"/>
                                </a:rPr>
                                <m:t>+1</m:t>
                              </m:r>
                            </m:sub>
                          </m:sSub>
                          <m:r>
                            <a:rPr lang="en-SG"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num>
                        <m:den>
                          <m:sSub>
                            <m:sSub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SG" sz="2000" b="0" i="1" smtClean="0">
                                  <a:latin typeface="Cambria Math" panose="02040503050406030204" pitchFamily="18" charset="0"/>
                                  <a:ea typeface="Calibri" panose="020F0502020204030204" pitchFamily="34" charset="0"/>
                                  <a:cs typeface="Calibri" panose="020F0502020204030204" pitchFamily="34" charset="0"/>
                                </a:rPr>
                                <m:t>𝐸</m:t>
                              </m:r>
                            </m:e>
                            <m:sub>
                              <m:r>
                                <a:rPr lang="en-SG" sz="2000" b="0" i="1" smtClean="0">
                                  <a:latin typeface="Cambria Math" panose="02040503050406030204" pitchFamily="18" charset="0"/>
                                  <a:ea typeface="Calibri" panose="020F0502020204030204" pitchFamily="34" charset="0"/>
                                  <a:cs typeface="Calibri" panose="020F0502020204030204" pitchFamily="34" charset="0"/>
                                </a:rPr>
                                <m:t>𝑡</m:t>
                              </m:r>
                            </m:sub>
                          </m:sSub>
                        </m:den>
                      </m:f>
                      <m:r>
                        <a:rPr lang="en-SG"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SG" sz="2000" b="0" i="1" smtClean="0">
                              <a:latin typeface="Cambria Math" panose="02040503050406030204" pitchFamily="18" charset="0"/>
                              <a:ea typeface="Calibri" panose="020F0502020204030204" pitchFamily="34" charset="0"/>
                              <a:cs typeface="Calibri" panose="020F0502020204030204" pitchFamily="34" charset="0"/>
                            </a:rPr>
                          </m:ctrlPr>
                        </m:fPr>
                        <m:num>
                          <m:r>
                            <a:rPr lang="en-SG" sz="2000" b="0" i="1" smtClean="0">
                              <a:latin typeface="Cambria Math" panose="02040503050406030204" pitchFamily="18" charset="0"/>
                              <a:ea typeface="Calibri" panose="020F0502020204030204" pitchFamily="34" charset="0"/>
                              <a:cs typeface="Calibri" panose="020F0502020204030204" pitchFamily="34" charset="0"/>
                            </a:rPr>
                            <m:t>0.75−0.79</m:t>
                          </m:r>
                        </m:num>
                        <m:den>
                          <m:r>
                            <a:rPr lang="en-SG" sz="2000" b="0" i="1" smtClean="0">
                              <a:latin typeface="Cambria Math" panose="02040503050406030204" pitchFamily="18" charset="0"/>
                              <a:ea typeface="Calibri" panose="020F0502020204030204" pitchFamily="34" charset="0"/>
                              <a:cs typeface="Calibri" panose="020F0502020204030204" pitchFamily="34" charset="0"/>
                            </a:rPr>
                            <m:t>0.79</m:t>
                          </m:r>
                        </m:den>
                      </m:f>
                      <m:r>
                        <a:rPr lang="en-SG" sz="2000" i="1">
                          <a:latin typeface="Cambria Math" panose="02040503050406030204" pitchFamily="18" charset="0"/>
                          <a:ea typeface="Calibri" panose="020F0502020204030204" pitchFamily="34" charset="0"/>
                          <a:cs typeface="Calibri" panose="020F0502020204030204" pitchFamily="34" charset="0"/>
                        </a:rPr>
                        <m:t>=</m:t>
                      </m:r>
                      <m:r>
                        <a:rPr lang="en-SG" sz="2000" b="0" i="1" smtClean="0">
                          <a:latin typeface="Cambria Math" panose="02040503050406030204" pitchFamily="18" charset="0"/>
                          <a:ea typeface="Calibri" panose="020F0502020204030204" pitchFamily="34" charset="0"/>
                          <a:cs typeface="Calibri" panose="020F0502020204030204" pitchFamily="34" charset="0"/>
                        </a:rPr>
                        <m:t>−0.0</m:t>
                      </m:r>
                      <m:r>
                        <a:rPr lang="en-SG" sz="2000" i="1">
                          <a:latin typeface="Cambria Math" panose="02040503050406030204" pitchFamily="18" charset="0"/>
                          <a:ea typeface="Calibri" panose="020F0502020204030204" pitchFamily="34" charset="0"/>
                          <a:cs typeface="Calibri" panose="020F0502020204030204" pitchFamily="34" charset="0"/>
                        </a:rPr>
                        <m:t>506</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This means that BRL depreciates by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5.06%</m:t>
                    </m:r>
                  </m:oMath>
                </a14:m>
                <a:r>
                  <a:rPr lang="en-US" sz="2000" dirty="0">
                    <a:latin typeface="Calibri" panose="020F0502020204030204" pitchFamily="34" charset="0"/>
                    <a:ea typeface="Calibri" panose="020F0502020204030204" pitchFamily="34" charset="0"/>
                    <a:cs typeface="Calibri" panose="020F0502020204030204" pitchFamily="34" charset="0"/>
                  </a:rPr>
                  <a:t> against TRY. </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Total realized return from investing in Turkish bond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=5.82%+5.06%=10.88%</m:t>
                    </m:r>
                  </m:oMath>
                </a14:m>
                <a:r>
                  <a:rPr lang="en-US" sz="2000" dirty="0">
                    <a:latin typeface="Calibri" panose="020F0502020204030204" pitchFamily="34" charset="0"/>
                    <a:ea typeface="Calibri" panose="020F0502020204030204" pitchFamily="34" charset="0"/>
                    <a:cs typeface="Calibri" panose="020F0502020204030204" pitchFamily="34" charset="0"/>
                  </a:rPr>
                  <a:t>.</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This is higher than investing in Brazilian bond with a return of </a:t>
                </a:r>
                <a14:m>
                  <m:oMath xmlns:m="http://schemas.openxmlformats.org/officeDocument/2006/math">
                    <m:r>
                      <a:rPr lang="en-SG" sz="2000" b="0" i="1" smtClean="0">
                        <a:latin typeface="Cambria Math" panose="02040503050406030204" pitchFamily="18" charset="0"/>
                        <a:ea typeface="Calibri" panose="020F0502020204030204" pitchFamily="34" charset="0"/>
                        <a:cs typeface="Calibri" panose="020F0502020204030204" pitchFamily="34" charset="0"/>
                      </a:rPr>
                      <m:t>3.84%</m:t>
                    </m:r>
                  </m:oMath>
                </a14:m>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F31D6DF-6D0A-7503-4B4E-32B8C9638DAF}"/>
                  </a:ext>
                </a:extLst>
              </p:cNvPr>
              <p:cNvSpPr>
                <a:spLocks noGrp="1" noRot="1" noChangeAspect="1" noMove="1" noResize="1" noEditPoints="1" noAdjustHandles="1" noChangeArrowheads="1" noChangeShapeType="1" noTextEdit="1"/>
              </p:cNvSpPr>
              <p:nvPr>
                <p:ph idx="1"/>
              </p:nvPr>
            </p:nvSpPr>
            <p:spPr>
              <a:blipFill>
                <a:blip r:embed="rId2"/>
                <a:stretch>
                  <a:fillRect l="-638" t="-1401" r="-580"/>
                </a:stretch>
              </a:blipFill>
            </p:spPr>
            <p:txBody>
              <a:bodyPr/>
              <a:lstStyle/>
              <a:p>
                <a:r>
                  <a:rPr lang="en-SG">
                    <a:noFill/>
                  </a:rPr>
                  <a:t> </a:t>
                </a:r>
              </a:p>
            </p:txBody>
          </p:sp>
        </mc:Fallback>
      </mc:AlternateContent>
    </p:spTree>
    <p:extLst>
      <p:ext uri="{BB962C8B-B14F-4D97-AF65-F5344CB8AC3E}">
        <p14:creationId xmlns:p14="http://schemas.microsoft.com/office/powerpoint/2010/main" val="135230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5732-7B24-450E-53F2-2A8573367EEE}"/>
              </a:ext>
            </a:extLst>
          </p:cNvPr>
          <p:cNvSpPr>
            <a:spLocks noGrp="1"/>
          </p:cNvSpPr>
          <p:nvPr>
            <p:ph type="title"/>
          </p:nvPr>
        </p:nvSpPr>
        <p:spPr/>
        <p:txBody>
          <a:bodyPr/>
          <a:lstStyle/>
          <a:p>
            <a:r>
              <a:rPr lang="en-SG" dirty="0">
                <a:latin typeface="Calibri Light" panose="020F0302020204030204" pitchFamily="34" charset="0"/>
                <a:ea typeface="Calibri Light" panose="020F0302020204030204" pitchFamily="34" charset="0"/>
                <a:cs typeface="Calibri Light" panose="020F0302020204030204" pitchFamily="34" charset="0"/>
              </a:rPr>
              <a:t>Question 3</a:t>
            </a:r>
          </a:p>
        </p:txBody>
      </p:sp>
      <p:sp>
        <p:nvSpPr>
          <p:cNvPr id="3" name="Content Placeholder 2">
            <a:extLst>
              <a:ext uri="{FF2B5EF4-FFF2-40B4-BE49-F238E27FC236}">
                <a16:creationId xmlns:a16="http://schemas.microsoft.com/office/drawing/2014/main" id="{7F31D6DF-6D0A-7503-4B4E-32B8C9638DAF}"/>
              </a:ext>
            </a:extLst>
          </p:cNvPr>
          <p:cNvSpPr>
            <a:spLocks noGrp="1"/>
          </p:cNvSpPr>
          <p:nvPr>
            <p:ph idx="1"/>
          </p:nvPr>
        </p:nvSpPr>
        <p:spPr/>
        <p:txBody>
          <a:bodyPr>
            <a:normAutofit/>
          </a:bodyPr>
          <a:lstStyle/>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(d) </a:t>
            </a:r>
            <a:r>
              <a:rPr lang="en-US" sz="2000" i="1" dirty="0">
                <a:latin typeface="Calibri" panose="020F0502020204030204" pitchFamily="34" charset="0"/>
                <a:ea typeface="Calibri" panose="020F0502020204030204" pitchFamily="34" charset="0"/>
                <a:cs typeface="Calibri" panose="020F0502020204030204" pitchFamily="34" charset="0"/>
              </a:rPr>
              <a:t>Are the differences in rates of return in part (c) consistent with the uncovered interest parity condition? Explain your answer.</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Yes, the differences in rates of return here are still consistent with the UIP condition.</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The UIP condition is about equality of expected returns, not equality of actual (realized) returns. </a:t>
            </a:r>
          </a:p>
          <a:p>
            <a:pPr marL="0" indent="0" algn="just">
              <a:spcAft>
                <a:spcPts val="1200"/>
              </a:spcAft>
              <a:buNone/>
            </a:pPr>
            <a:r>
              <a:rPr lang="en-US" sz="2000" dirty="0">
                <a:latin typeface="Calibri" panose="020F0502020204030204" pitchFamily="34" charset="0"/>
                <a:ea typeface="Calibri" panose="020F0502020204030204" pitchFamily="34" charset="0"/>
                <a:cs typeface="Calibri" panose="020F0502020204030204" pitchFamily="34" charset="0"/>
              </a:rPr>
              <a:t>In this case, the investor in Turkish bond experiences a higher realized return due to unexpected gain from BRL depreciation, rather than getting the expected appreciation implied by UIP.</a:t>
            </a:r>
          </a:p>
        </p:txBody>
      </p:sp>
    </p:spTree>
    <p:extLst>
      <p:ext uri="{BB962C8B-B14F-4D97-AF65-F5344CB8AC3E}">
        <p14:creationId xmlns:p14="http://schemas.microsoft.com/office/powerpoint/2010/main" val="276551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684</TotalTime>
  <Words>1426</Words>
  <Application>Microsoft Office PowerPoint</Application>
  <PresentationFormat>Widescreen</PresentationFormat>
  <Paragraphs>131</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Display</vt:lpstr>
      <vt:lpstr>Arial</vt:lpstr>
      <vt:lpstr>Calibri</vt:lpstr>
      <vt:lpstr>Calibri Light</vt:lpstr>
      <vt:lpstr>Cambria Math</vt:lpstr>
      <vt:lpstr>Times New Roman</vt:lpstr>
      <vt:lpstr>Office Theme</vt:lpstr>
      <vt:lpstr>HE3002 Macroeconomics III</vt:lpstr>
      <vt:lpstr>Question 1</vt:lpstr>
      <vt:lpstr>Question 1</vt:lpstr>
      <vt:lpstr>Question 1</vt:lpstr>
      <vt:lpstr>Question 1</vt:lpstr>
      <vt:lpstr>Question 1</vt:lpstr>
      <vt:lpstr>Question 1</vt:lpstr>
      <vt:lpstr>Question 1</vt:lpstr>
      <vt:lpstr>Question 2</vt:lpstr>
      <vt:lpstr>Question 2</vt:lpstr>
      <vt:lpstr>Question 2</vt:lpstr>
      <vt:lpstr>Question 3</vt:lpstr>
      <vt:lpstr>Question 3</vt:lpstr>
      <vt:lpstr>Question 3</vt:lpstr>
      <vt:lpstr>Question 3</vt:lpstr>
      <vt:lpstr>Question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 SY HA#</dc:creator>
  <cp:lastModifiedBy>#HO SY HA#</cp:lastModifiedBy>
  <cp:revision>196</cp:revision>
  <dcterms:created xsi:type="dcterms:W3CDTF">2024-08-18T10:50:14Z</dcterms:created>
  <dcterms:modified xsi:type="dcterms:W3CDTF">2024-08-28T13:02:40Z</dcterms:modified>
</cp:coreProperties>
</file>