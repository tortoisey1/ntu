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webextensions/webextension1.xml" ContentType="application/vnd.ms-office.webextension+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2.xml" ContentType="application/vnd.ms-office.webextension+xml"/>
  <Override PartName="/ppt/webextensions/webextension3.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webextensions/webextension4.xml" ContentType="application/vnd.ms-office.webextension+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webextensions/webextension5.xml" ContentType="application/vnd.ms-office.webextension+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webextensions/webextension6.xml" ContentType="application/vnd.ms-office.webextension+xml"/>
  <Override PartName="/ppt/webextensions/webextension7.xml" ContentType="application/vnd.ms-office.webextension+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9"/>
  </p:notesMasterIdLst>
  <p:handoutMasterIdLst>
    <p:handoutMasterId r:id="rId50"/>
  </p:handoutMasterIdLst>
  <p:sldIdLst>
    <p:sldId id="302" r:id="rId2"/>
    <p:sldId id="303" r:id="rId3"/>
    <p:sldId id="304" r:id="rId4"/>
    <p:sldId id="416" r:id="rId5"/>
    <p:sldId id="305" r:id="rId6"/>
    <p:sldId id="306" r:id="rId7"/>
    <p:sldId id="414" r:id="rId8"/>
    <p:sldId id="426" r:id="rId9"/>
    <p:sldId id="307" r:id="rId10"/>
    <p:sldId id="308" r:id="rId11"/>
    <p:sldId id="352" r:id="rId12"/>
    <p:sldId id="362" r:id="rId13"/>
    <p:sldId id="309" r:id="rId14"/>
    <p:sldId id="310" r:id="rId15"/>
    <p:sldId id="311" r:id="rId16"/>
    <p:sldId id="312" r:id="rId17"/>
    <p:sldId id="427" r:id="rId18"/>
    <p:sldId id="314" r:id="rId19"/>
    <p:sldId id="316" r:id="rId20"/>
    <p:sldId id="363" r:id="rId21"/>
    <p:sldId id="318" r:id="rId22"/>
    <p:sldId id="351" r:id="rId23"/>
    <p:sldId id="321" r:id="rId24"/>
    <p:sldId id="364" r:id="rId25"/>
    <p:sldId id="322" r:id="rId26"/>
    <p:sldId id="323" r:id="rId27"/>
    <p:sldId id="324" r:id="rId28"/>
    <p:sldId id="358" r:id="rId29"/>
    <p:sldId id="359" r:id="rId30"/>
    <p:sldId id="334" r:id="rId31"/>
    <p:sldId id="365" r:id="rId32"/>
    <p:sldId id="361" r:id="rId33"/>
    <p:sldId id="360" r:id="rId34"/>
    <p:sldId id="367" r:id="rId35"/>
    <p:sldId id="340" r:id="rId36"/>
    <p:sldId id="339" r:id="rId37"/>
    <p:sldId id="341" r:id="rId38"/>
    <p:sldId id="342" r:id="rId39"/>
    <p:sldId id="343" r:id="rId40"/>
    <p:sldId id="344" r:id="rId41"/>
    <p:sldId id="346" r:id="rId42"/>
    <p:sldId id="366" r:id="rId43"/>
    <p:sldId id="348" r:id="rId44"/>
    <p:sldId id="428" r:id="rId45"/>
    <p:sldId id="336" r:id="rId46"/>
    <p:sldId id="423" r:id="rId47"/>
    <p:sldId id="424" r:id="rId4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19"/>
    <p:restoredTop sz="94558"/>
  </p:normalViewPr>
  <p:slideViewPr>
    <p:cSldViewPr snapToGrid="0">
      <p:cViewPr varScale="1">
        <p:scale>
          <a:sx n="121" d="100"/>
          <a:sy n="121" d="100"/>
        </p:scale>
        <p:origin x="1240" y="1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Easwaran" userId="6059df8d-17bf-4148-9f7c-190b13d86f35" providerId="ADAL" clId="{6984A8FB-E9E9-D346-AA2F-F9E40519F521}"/>
    <pc:docChg chg="custSel delSld modSld">
      <pc:chgData name="Arvind Easwaran" userId="6059df8d-17bf-4148-9f7c-190b13d86f35" providerId="ADAL" clId="{6984A8FB-E9E9-D346-AA2F-F9E40519F521}" dt="2025-01-09T07:59:56.482" v="2" actId="478"/>
      <pc:docMkLst>
        <pc:docMk/>
      </pc:docMkLst>
      <pc:sldChg chg="delSp mod">
        <pc:chgData name="Arvind Easwaran" userId="6059df8d-17bf-4148-9f7c-190b13d86f35" providerId="ADAL" clId="{6984A8FB-E9E9-D346-AA2F-F9E40519F521}" dt="2025-01-09T07:59:56.482" v="2" actId="478"/>
        <pc:sldMkLst>
          <pc:docMk/>
          <pc:sldMk cId="718181411" sldId="414"/>
        </pc:sldMkLst>
        <pc:spChg chg="del">
          <ac:chgData name="Arvind Easwaran" userId="6059df8d-17bf-4148-9f7c-190b13d86f35" providerId="ADAL" clId="{6984A8FB-E9E9-D346-AA2F-F9E40519F521}" dt="2025-01-09T07:59:56.482" v="2" actId="478"/>
          <ac:spMkLst>
            <pc:docMk/>
            <pc:sldMk cId="718181411" sldId="414"/>
            <ac:spMk id="3" creationId="{43F50D15-9A48-1148-80EA-3F17CEB4B293}"/>
          </ac:spMkLst>
        </pc:spChg>
      </pc:sldChg>
      <pc:sldChg chg="mod modShow">
        <pc:chgData name="Arvind Easwaran" userId="6059df8d-17bf-4148-9f7c-190b13d86f35" providerId="ADAL" clId="{6984A8FB-E9E9-D346-AA2F-F9E40519F521}" dt="2025-01-09T07:56:23.214" v="1" actId="729"/>
        <pc:sldMkLst>
          <pc:docMk/>
          <pc:sldMk cId="1594576249" sldId="424"/>
        </pc:sldMkLst>
      </pc:sldChg>
      <pc:sldChg chg="del">
        <pc:chgData name="Arvind Easwaran" userId="6059df8d-17bf-4148-9f7c-190b13d86f35" providerId="ADAL" clId="{6984A8FB-E9E9-D346-AA2F-F9E40519F521}" dt="2025-01-09T07:53:39.333" v="0" actId="2696"/>
        <pc:sldMkLst>
          <pc:docMk/>
          <pc:sldMk cId="2005781420" sldId="425"/>
        </pc:sldMkLst>
      </pc:sldChg>
    </pc:docChg>
  </pc:docChgLst>
  <pc:docChgLst>
    <pc:chgData name="Dmitrii Ustiugov" userId="fee3c4a0-c40b-4de8-8e1d-1d3cf97580eb" providerId="ADAL" clId="{2E9023EB-127B-EA45-A937-450F6FD2C54C}"/>
    <pc:docChg chg="undo addSld delSld modSld">
      <pc:chgData name="Dmitrii Ustiugov" userId="fee3c4a0-c40b-4de8-8e1d-1d3cf97580eb" providerId="ADAL" clId="{2E9023EB-127B-EA45-A937-450F6FD2C54C}" dt="2023-08-22T07:13:15.720" v="27" actId="14100"/>
      <pc:docMkLst>
        <pc:docMk/>
      </pc:docMkLst>
      <pc:sldChg chg="modSp add del mod">
        <pc:chgData name="Dmitrii Ustiugov" userId="fee3c4a0-c40b-4de8-8e1d-1d3cf97580eb" providerId="ADAL" clId="{2E9023EB-127B-EA45-A937-450F6FD2C54C}" dt="2023-08-22T07:12:59.311" v="9" actId="21"/>
        <pc:sldMkLst>
          <pc:docMk/>
          <pc:sldMk cId="0" sldId="346"/>
        </pc:sldMkLst>
        <pc:spChg chg="mod">
          <ac:chgData name="Dmitrii Ustiugov" userId="fee3c4a0-c40b-4de8-8e1d-1d3cf97580eb" providerId="ADAL" clId="{2E9023EB-127B-EA45-A937-450F6FD2C54C}" dt="2023-08-22T07:12:59.311" v="9" actId="21"/>
          <ac:spMkLst>
            <pc:docMk/>
            <pc:sldMk cId="0" sldId="346"/>
            <ac:spMk id="88067" creationId="{7B62C01C-D866-46F3-9852-D2484D3B31D1}"/>
          </ac:spMkLst>
        </pc:spChg>
      </pc:sldChg>
      <pc:sldChg chg="modSp add del mod">
        <pc:chgData name="Dmitrii Ustiugov" userId="fee3c4a0-c40b-4de8-8e1d-1d3cf97580eb" providerId="ADAL" clId="{2E9023EB-127B-EA45-A937-450F6FD2C54C}" dt="2023-08-22T07:13:15.720" v="27" actId="14100"/>
        <pc:sldMkLst>
          <pc:docMk/>
          <pc:sldMk cId="0" sldId="348"/>
        </pc:sldMkLst>
        <pc:spChg chg="mod">
          <ac:chgData name="Dmitrii Ustiugov" userId="fee3c4a0-c40b-4de8-8e1d-1d3cf97580eb" providerId="ADAL" clId="{2E9023EB-127B-EA45-A937-450F6FD2C54C}" dt="2023-08-22T07:13:15.720" v="27" actId="14100"/>
          <ac:spMkLst>
            <pc:docMk/>
            <pc:sldMk cId="0" sldId="348"/>
            <ac:spMk id="90115" creationId="{7C19767C-6FFD-46DF-A84F-94790A53C595}"/>
          </ac:spMkLst>
        </pc:spChg>
      </pc:sldChg>
    </pc:docChg>
  </pc:docChgLst>
  <pc:docChgLst>
    <pc:chgData name="Dmitrii Ustiugov" userId="fee3c4a0-c40b-4de8-8e1d-1d3cf97580eb" providerId="ADAL" clId="{8A20E96C-1A66-E448-AAD7-9F6CEF89B5B7}"/>
    <pc:docChg chg="undo redo custSel addSld delSld modSld sldOrd">
      <pc:chgData name="Dmitrii Ustiugov" userId="fee3c4a0-c40b-4de8-8e1d-1d3cf97580eb" providerId="ADAL" clId="{8A20E96C-1A66-E448-AAD7-9F6CEF89B5B7}" dt="2024-08-21T08:31:41.006" v="186" actId="404"/>
      <pc:docMkLst>
        <pc:docMk/>
      </pc:docMkLst>
      <pc:sldChg chg="addSp delSp modSp add mod ord">
        <pc:chgData name="Dmitrii Ustiugov" userId="fee3c4a0-c40b-4de8-8e1d-1d3cf97580eb" providerId="ADAL" clId="{8A20E96C-1A66-E448-AAD7-9F6CEF89B5B7}" dt="2024-08-19T08:31:23.510" v="70" actId="20577"/>
        <pc:sldMkLst>
          <pc:docMk/>
          <pc:sldMk cId="718181411" sldId="414"/>
        </pc:sldMkLst>
        <pc:spChg chg="mod">
          <ac:chgData name="Dmitrii Ustiugov" userId="fee3c4a0-c40b-4de8-8e1d-1d3cf97580eb" providerId="ADAL" clId="{8A20E96C-1A66-E448-AAD7-9F6CEF89B5B7}" dt="2024-08-19T08:31:23.510" v="70" actId="20577"/>
          <ac:spMkLst>
            <pc:docMk/>
            <pc:sldMk cId="718181411" sldId="414"/>
            <ac:spMk id="2" creationId="{6D7DDF10-9BA9-93BB-78CB-803AA83EB96A}"/>
          </ac:spMkLst>
        </pc:spChg>
        <pc:spChg chg="add del mod">
          <ac:chgData name="Dmitrii Ustiugov" userId="fee3c4a0-c40b-4de8-8e1d-1d3cf97580eb" providerId="ADAL" clId="{8A20E96C-1A66-E448-AAD7-9F6CEF89B5B7}" dt="2024-08-19T07:25:29.710" v="3" actId="478"/>
          <ac:spMkLst>
            <pc:docMk/>
            <pc:sldMk cId="718181411" sldId="414"/>
            <ac:spMk id="7" creationId="{54D7A1CD-8CA6-0E6F-E393-4E17FA960636}"/>
          </ac:spMkLst>
        </pc:spChg>
        <pc:graphicFrameChg chg="del">
          <ac:chgData name="Dmitrii Ustiugov" userId="fee3c4a0-c40b-4de8-8e1d-1d3cf97580eb" providerId="ADAL" clId="{8A20E96C-1A66-E448-AAD7-9F6CEF89B5B7}" dt="2024-08-19T07:25:28.223" v="2" actId="478"/>
          <ac:graphicFrameMkLst>
            <pc:docMk/>
            <pc:sldMk cId="718181411" sldId="414"/>
            <ac:graphicFrameMk id="5" creationId="{741680C7-F622-35DF-6133-CC5CA43BBD67}"/>
          </ac:graphicFrameMkLst>
        </pc:graphicFrameChg>
        <pc:graphicFrameChg chg="add del mod">
          <ac:chgData name="Dmitrii Ustiugov" userId="fee3c4a0-c40b-4de8-8e1d-1d3cf97580eb" providerId="ADAL" clId="{8A20E96C-1A66-E448-AAD7-9F6CEF89B5B7}" dt="2024-08-19T08:12:35.453" v="15" actId="478"/>
          <ac:graphicFrameMkLst>
            <pc:docMk/>
            <pc:sldMk cId="718181411" sldId="414"/>
            <ac:graphicFrameMk id="8" creationId="{BF0BE05A-5CC5-52C4-E7AD-994265BD0567}"/>
          </ac:graphicFrameMkLst>
        </pc:graphicFrameChg>
        <pc:graphicFrameChg chg="add del mod">
          <ac:chgData name="Dmitrii Ustiugov" userId="fee3c4a0-c40b-4de8-8e1d-1d3cf97580eb" providerId="ADAL" clId="{8A20E96C-1A66-E448-AAD7-9F6CEF89B5B7}" dt="2024-08-19T08:22:03.890" v="23" actId="478"/>
          <ac:graphicFrameMkLst>
            <pc:docMk/>
            <pc:sldMk cId="718181411" sldId="414"/>
            <ac:graphicFrameMk id="9" creationId="{AEACB602-A032-92E3-6936-711793E7B9E1}"/>
          </ac:graphicFrameMkLst>
        </pc:graphicFrameChg>
        <pc:graphicFrameChg chg="add mod">
          <ac:chgData name="Dmitrii Ustiugov" userId="fee3c4a0-c40b-4de8-8e1d-1d3cf97580eb" providerId="ADAL" clId="{8A20E96C-1A66-E448-AAD7-9F6CEF89B5B7}" dt="2024-08-19T08:31:15.129" v="56" actId="1076"/>
          <ac:graphicFrameMkLst>
            <pc:docMk/>
            <pc:sldMk cId="718181411" sldId="414"/>
            <ac:graphicFrameMk id="10" creationId="{BD125F4A-1390-B64D-36AB-D3A2FBFDC446}"/>
          </ac:graphicFrameMkLst>
        </pc:graphicFrameChg>
      </pc:sldChg>
      <pc:sldChg chg="add del">
        <pc:chgData name="Dmitrii Ustiugov" userId="fee3c4a0-c40b-4de8-8e1d-1d3cf97580eb" providerId="ADAL" clId="{8A20E96C-1A66-E448-AAD7-9F6CEF89B5B7}" dt="2024-08-19T08:22:57.302" v="32" actId="2696"/>
        <pc:sldMkLst>
          <pc:docMk/>
          <pc:sldMk cId="3348038236" sldId="415"/>
        </pc:sldMkLst>
      </pc:sldChg>
      <pc:sldChg chg="modSp add del mod">
        <pc:chgData name="Dmitrii Ustiugov" userId="fee3c4a0-c40b-4de8-8e1d-1d3cf97580eb" providerId="ADAL" clId="{8A20E96C-1A66-E448-AAD7-9F6CEF89B5B7}" dt="2024-08-19T08:32:13.118" v="79" actId="2696"/>
        <pc:sldMkLst>
          <pc:docMk/>
          <pc:sldMk cId="2298655374" sldId="416"/>
        </pc:sldMkLst>
        <pc:spChg chg="mod">
          <ac:chgData name="Dmitrii Ustiugov" userId="fee3c4a0-c40b-4de8-8e1d-1d3cf97580eb" providerId="ADAL" clId="{8A20E96C-1A66-E448-AAD7-9F6CEF89B5B7}" dt="2024-08-19T08:30:49.654" v="52" actId="20577"/>
          <ac:spMkLst>
            <pc:docMk/>
            <pc:sldMk cId="2298655374" sldId="416"/>
            <ac:spMk id="2" creationId="{6D7DDF10-9BA9-93BB-78CB-803AA83EB96A}"/>
          </ac:spMkLst>
        </pc:spChg>
        <pc:graphicFrameChg chg="mod">
          <ac:chgData name="Dmitrii Ustiugov" userId="fee3c4a0-c40b-4de8-8e1d-1d3cf97580eb" providerId="ADAL" clId="{8A20E96C-1A66-E448-AAD7-9F6CEF89B5B7}" dt="2024-08-19T08:30:59.699" v="54" actId="1076"/>
          <ac:graphicFrameMkLst>
            <pc:docMk/>
            <pc:sldMk cId="2298655374" sldId="416"/>
            <ac:graphicFrameMk id="9" creationId="{AEACB602-A032-92E3-6936-711793E7B9E1}"/>
          </ac:graphicFrameMkLst>
        </pc:graphicFrameChg>
      </pc:sldChg>
      <pc:sldChg chg="add del">
        <pc:chgData name="Dmitrii Ustiugov" userId="fee3c4a0-c40b-4de8-8e1d-1d3cf97580eb" providerId="ADAL" clId="{8A20E96C-1A66-E448-AAD7-9F6CEF89B5B7}" dt="2024-08-19T12:37:33.411" v="92" actId="2696"/>
        <pc:sldMkLst>
          <pc:docMk/>
          <pc:sldMk cId="71332365" sldId="417"/>
        </pc:sldMkLst>
      </pc:sldChg>
      <pc:sldChg chg="add del">
        <pc:chgData name="Dmitrii Ustiugov" userId="fee3c4a0-c40b-4de8-8e1d-1d3cf97580eb" providerId="ADAL" clId="{8A20E96C-1A66-E448-AAD7-9F6CEF89B5B7}" dt="2024-08-19T08:36:23.899" v="85" actId="2696"/>
        <pc:sldMkLst>
          <pc:docMk/>
          <pc:sldMk cId="3737919076" sldId="418"/>
        </pc:sldMkLst>
      </pc:sldChg>
      <pc:sldChg chg="addSp delSp modSp add mod">
        <pc:chgData name="Dmitrii Ustiugov" userId="fee3c4a0-c40b-4de8-8e1d-1d3cf97580eb" providerId="ADAL" clId="{8A20E96C-1A66-E448-AAD7-9F6CEF89B5B7}" dt="2024-08-19T08:32:22.313" v="82" actId="1076"/>
        <pc:sldMkLst>
          <pc:docMk/>
          <pc:sldMk cId="1696502551" sldId="419"/>
        </pc:sldMkLst>
        <pc:spChg chg="mod">
          <ac:chgData name="Dmitrii Ustiugov" userId="fee3c4a0-c40b-4de8-8e1d-1d3cf97580eb" providerId="ADAL" clId="{8A20E96C-1A66-E448-AAD7-9F6CEF89B5B7}" dt="2024-08-19T08:30:17.952" v="43" actId="20577"/>
          <ac:spMkLst>
            <pc:docMk/>
            <pc:sldMk cId="1696502551" sldId="419"/>
            <ac:spMk id="2" creationId="{6D7DDF10-9BA9-93BB-78CB-803AA83EB96A}"/>
          </ac:spMkLst>
        </pc:spChg>
        <pc:spChg chg="add mod">
          <ac:chgData name="Dmitrii Ustiugov" userId="fee3c4a0-c40b-4de8-8e1d-1d3cf97580eb" providerId="ADAL" clId="{8A20E96C-1A66-E448-AAD7-9F6CEF89B5B7}" dt="2024-08-19T08:32:03.880" v="77"/>
          <ac:spMkLst>
            <pc:docMk/>
            <pc:sldMk cId="1696502551" sldId="419"/>
            <ac:spMk id="6" creationId="{B5EA5168-21F6-3EA2-BF8D-86E093F604D5}"/>
          </ac:spMkLst>
        </pc:spChg>
        <pc:graphicFrameChg chg="del mod">
          <ac:chgData name="Dmitrii Ustiugov" userId="fee3c4a0-c40b-4de8-8e1d-1d3cf97580eb" providerId="ADAL" clId="{8A20E96C-1A66-E448-AAD7-9F6CEF89B5B7}" dt="2024-08-19T08:31:49.239" v="71" actId="478"/>
          <ac:graphicFrameMkLst>
            <pc:docMk/>
            <pc:sldMk cId="1696502551" sldId="419"/>
            <ac:graphicFrameMk id="10" creationId="{BD125F4A-1390-B64D-36AB-D3A2FBFDC446}"/>
          </ac:graphicFrameMkLst>
        </pc:graphicFrameChg>
        <pc:picChg chg="add mod">
          <ac:chgData name="Dmitrii Ustiugov" userId="fee3c4a0-c40b-4de8-8e1d-1d3cf97580eb" providerId="ADAL" clId="{8A20E96C-1A66-E448-AAD7-9F6CEF89B5B7}" dt="2024-08-19T08:32:22.313" v="82" actId="1076"/>
          <ac:picMkLst>
            <pc:docMk/>
            <pc:sldMk cId="1696502551" sldId="419"/>
            <ac:picMk id="5" creationId="{00B6EA5F-2724-4DFC-9CBF-894B6304CE71}"/>
          </ac:picMkLst>
        </pc:picChg>
      </pc:sldChg>
      <pc:sldChg chg="add del">
        <pc:chgData name="Dmitrii Ustiugov" userId="fee3c4a0-c40b-4de8-8e1d-1d3cf97580eb" providerId="ADAL" clId="{8A20E96C-1A66-E448-AAD7-9F6CEF89B5B7}" dt="2024-08-19T08:29:59.977" v="34" actId="2696"/>
        <pc:sldMkLst>
          <pc:docMk/>
          <pc:sldMk cId="4194523857" sldId="419"/>
        </pc:sldMkLst>
      </pc:sldChg>
      <pc:sldChg chg="modSp add mod">
        <pc:chgData name="Dmitrii Ustiugov" userId="fee3c4a0-c40b-4de8-8e1d-1d3cf97580eb" providerId="ADAL" clId="{8A20E96C-1A66-E448-AAD7-9F6CEF89B5B7}" dt="2024-08-19T08:32:33.481" v="84" actId="20577"/>
        <pc:sldMkLst>
          <pc:docMk/>
          <pc:sldMk cId="866122435" sldId="420"/>
        </pc:sldMkLst>
        <pc:spChg chg="mod">
          <ac:chgData name="Dmitrii Ustiugov" userId="fee3c4a0-c40b-4de8-8e1d-1d3cf97580eb" providerId="ADAL" clId="{8A20E96C-1A66-E448-AAD7-9F6CEF89B5B7}" dt="2024-08-19T08:32:33.481" v="84" actId="20577"/>
          <ac:spMkLst>
            <pc:docMk/>
            <pc:sldMk cId="866122435" sldId="420"/>
            <ac:spMk id="2" creationId="{6D7DDF10-9BA9-93BB-78CB-803AA83EB96A}"/>
          </ac:spMkLst>
        </pc:spChg>
        <pc:picChg chg="mod">
          <ac:chgData name="Dmitrii Ustiugov" userId="fee3c4a0-c40b-4de8-8e1d-1d3cf97580eb" providerId="ADAL" clId="{8A20E96C-1A66-E448-AAD7-9F6CEF89B5B7}" dt="2024-08-19T08:32:19.380" v="81" actId="1076"/>
          <ac:picMkLst>
            <pc:docMk/>
            <pc:sldMk cId="866122435" sldId="420"/>
            <ac:picMk id="5" creationId="{00B6EA5F-2724-4DFC-9CBF-894B6304CE71}"/>
          </ac:picMkLst>
        </pc:picChg>
      </pc:sldChg>
      <pc:sldChg chg="modSp add mod">
        <pc:chgData name="Dmitrii Ustiugov" userId="fee3c4a0-c40b-4de8-8e1d-1d3cf97580eb" providerId="ADAL" clId="{8A20E96C-1A66-E448-AAD7-9F6CEF89B5B7}" dt="2024-08-19T08:40:08.724" v="88" actId="20577"/>
        <pc:sldMkLst>
          <pc:docMk/>
          <pc:sldMk cId="750812935" sldId="421"/>
        </pc:sldMkLst>
        <pc:spChg chg="mod">
          <ac:chgData name="Dmitrii Ustiugov" userId="fee3c4a0-c40b-4de8-8e1d-1d3cf97580eb" providerId="ADAL" clId="{8A20E96C-1A66-E448-AAD7-9F6CEF89B5B7}" dt="2024-08-19T08:40:08.724" v="88" actId="20577"/>
          <ac:spMkLst>
            <pc:docMk/>
            <pc:sldMk cId="750812935" sldId="421"/>
            <ac:spMk id="2" creationId="{6D7DDF10-9BA9-93BB-78CB-803AA83EB96A}"/>
          </ac:spMkLst>
        </pc:spChg>
      </pc:sldChg>
      <pc:sldChg chg="modSp add mod">
        <pc:chgData name="Dmitrii Ustiugov" userId="fee3c4a0-c40b-4de8-8e1d-1d3cf97580eb" providerId="ADAL" clId="{8A20E96C-1A66-E448-AAD7-9F6CEF89B5B7}" dt="2024-08-19T12:27:41.813" v="91" actId="20577"/>
        <pc:sldMkLst>
          <pc:docMk/>
          <pc:sldMk cId="1759672730" sldId="422"/>
        </pc:sldMkLst>
        <pc:spChg chg="mod">
          <ac:chgData name="Dmitrii Ustiugov" userId="fee3c4a0-c40b-4de8-8e1d-1d3cf97580eb" providerId="ADAL" clId="{8A20E96C-1A66-E448-AAD7-9F6CEF89B5B7}" dt="2024-08-19T12:27:41.813" v="91" actId="20577"/>
          <ac:spMkLst>
            <pc:docMk/>
            <pc:sldMk cId="1759672730" sldId="422"/>
            <ac:spMk id="2" creationId="{6D7DDF10-9BA9-93BB-78CB-803AA83EB96A}"/>
          </ac:spMkLst>
        </pc:spChg>
      </pc:sldChg>
      <pc:sldChg chg="addSp delSp modSp new mod">
        <pc:chgData name="Dmitrii Ustiugov" userId="fee3c4a0-c40b-4de8-8e1d-1d3cf97580eb" providerId="ADAL" clId="{8A20E96C-1A66-E448-AAD7-9F6CEF89B5B7}" dt="2024-08-21T05:36:47.518" v="137" actId="1076"/>
        <pc:sldMkLst>
          <pc:docMk/>
          <pc:sldMk cId="4191262693" sldId="423"/>
        </pc:sldMkLst>
        <pc:spChg chg="mod">
          <ac:chgData name="Dmitrii Ustiugov" userId="fee3c4a0-c40b-4de8-8e1d-1d3cf97580eb" providerId="ADAL" clId="{8A20E96C-1A66-E448-AAD7-9F6CEF89B5B7}" dt="2024-08-21T05:35:46.714" v="105" actId="20577"/>
          <ac:spMkLst>
            <pc:docMk/>
            <pc:sldMk cId="4191262693" sldId="423"/>
            <ac:spMk id="2" creationId="{33DC1DA0-F3D0-895C-817B-60D2B398E801}"/>
          </ac:spMkLst>
        </pc:spChg>
        <pc:spChg chg="del">
          <ac:chgData name="Dmitrii Ustiugov" userId="fee3c4a0-c40b-4de8-8e1d-1d3cf97580eb" providerId="ADAL" clId="{8A20E96C-1A66-E448-AAD7-9F6CEF89B5B7}" dt="2024-08-21T05:36:10.088" v="133" actId="478"/>
          <ac:spMkLst>
            <pc:docMk/>
            <pc:sldMk cId="4191262693" sldId="423"/>
            <ac:spMk id="3" creationId="{33FD4576-676B-2555-4738-2C9BCAFC17F5}"/>
          </ac:spMkLst>
        </pc:spChg>
        <pc:graphicFrameChg chg="add mod">
          <ac:chgData name="Dmitrii Ustiugov" userId="fee3c4a0-c40b-4de8-8e1d-1d3cf97580eb" providerId="ADAL" clId="{8A20E96C-1A66-E448-AAD7-9F6CEF89B5B7}" dt="2024-08-21T05:36:47.518" v="137" actId="1076"/>
          <ac:graphicFrameMkLst>
            <pc:docMk/>
            <pc:sldMk cId="4191262693" sldId="423"/>
            <ac:graphicFrameMk id="5" creationId="{A42848FA-BE2D-1E3D-07A2-08FBE2109A0E}"/>
          </ac:graphicFrameMkLst>
        </pc:graphicFrameChg>
      </pc:sldChg>
      <pc:sldChg chg="addSp delSp modSp new mod">
        <pc:chgData name="Dmitrii Ustiugov" userId="fee3c4a0-c40b-4de8-8e1d-1d3cf97580eb" providerId="ADAL" clId="{8A20E96C-1A66-E448-AAD7-9F6CEF89B5B7}" dt="2024-08-21T05:41:58.833" v="144" actId="14100"/>
        <pc:sldMkLst>
          <pc:docMk/>
          <pc:sldMk cId="1594576249" sldId="424"/>
        </pc:sldMkLst>
        <pc:spChg chg="mod">
          <ac:chgData name="Dmitrii Ustiugov" userId="fee3c4a0-c40b-4de8-8e1d-1d3cf97580eb" providerId="ADAL" clId="{8A20E96C-1A66-E448-AAD7-9F6CEF89B5B7}" dt="2024-08-21T05:36:01.713" v="131" actId="20577"/>
          <ac:spMkLst>
            <pc:docMk/>
            <pc:sldMk cId="1594576249" sldId="424"/>
            <ac:spMk id="2" creationId="{ED619267-7A02-A86E-86C4-0AA772B4F2C6}"/>
          </ac:spMkLst>
        </pc:spChg>
        <pc:spChg chg="del">
          <ac:chgData name="Dmitrii Ustiugov" userId="fee3c4a0-c40b-4de8-8e1d-1d3cf97580eb" providerId="ADAL" clId="{8A20E96C-1A66-E448-AAD7-9F6CEF89B5B7}" dt="2024-08-21T05:36:07.046" v="132" actId="478"/>
          <ac:spMkLst>
            <pc:docMk/>
            <pc:sldMk cId="1594576249" sldId="424"/>
            <ac:spMk id="3" creationId="{00DD5E45-3D0F-986C-22F1-B6334884CAA4}"/>
          </ac:spMkLst>
        </pc:spChg>
        <pc:spChg chg="add del">
          <ac:chgData name="Dmitrii Ustiugov" userId="fee3c4a0-c40b-4de8-8e1d-1d3cf97580eb" providerId="ADAL" clId="{8A20E96C-1A66-E448-AAD7-9F6CEF89B5B7}" dt="2024-08-21T05:41:33.595" v="141" actId="22"/>
          <ac:spMkLst>
            <pc:docMk/>
            <pc:sldMk cId="1594576249" sldId="424"/>
            <ac:spMk id="7" creationId="{26BF3C6E-A8A4-8438-6BC6-80E78E279772}"/>
          </ac:spMkLst>
        </pc:spChg>
        <pc:graphicFrameChg chg="add del mod">
          <ac:chgData name="Dmitrii Ustiugov" userId="fee3c4a0-c40b-4de8-8e1d-1d3cf97580eb" providerId="ADAL" clId="{8A20E96C-1A66-E448-AAD7-9F6CEF89B5B7}" dt="2024-08-21T05:41:32.165" v="139" actId="478"/>
          <ac:graphicFrameMkLst>
            <pc:docMk/>
            <pc:sldMk cId="1594576249" sldId="424"/>
            <ac:graphicFrameMk id="5" creationId="{C9299716-3ADC-729F-7B48-1AF111840E27}"/>
          </ac:graphicFrameMkLst>
        </pc:graphicFrameChg>
        <pc:graphicFrameChg chg="add mod">
          <ac:chgData name="Dmitrii Ustiugov" userId="fee3c4a0-c40b-4de8-8e1d-1d3cf97580eb" providerId="ADAL" clId="{8A20E96C-1A66-E448-AAD7-9F6CEF89B5B7}" dt="2024-08-21T05:41:58.833" v="144" actId="14100"/>
          <ac:graphicFrameMkLst>
            <pc:docMk/>
            <pc:sldMk cId="1594576249" sldId="424"/>
            <ac:graphicFrameMk id="8" creationId="{68134748-8B06-5593-9B4F-9841278C814B}"/>
          </ac:graphicFrameMkLst>
        </pc:graphicFrameChg>
      </pc:sldChg>
      <pc:sldChg chg="addSp delSp modSp add del mod">
        <pc:chgData name="Dmitrii Ustiugov" userId="fee3c4a0-c40b-4de8-8e1d-1d3cf97580eb" providerId="ADAL" clId="{8A20E96C-1A66-E448-AAD7-9F6CEF89B5B7}" dt="2024-08-19T08:03:06.944" v="12" actId="2696"/>
        <pc:sldMkLst>
          <pc:docMk/>
          <pc:sldMk cId="651611476" sldId="425"/>
        </pc:sldMkLst>
        <pc:spChg chg="add mod">
          <ac:chgData name="Dmitrii Ustiugov" userId="fee3c4a0-c40b-4de8-8e1d-1d3cf97580eb" providerId="ADAL" clId="{8A20E96C-1A66-E448-AAD7-9F6CEF89B5B7}" dt="2024-08-19T07:26:37.611" v="10" actId="478"/>
          <ac:spMkLst>
            <pc:docMk/>
            <pc:sldMk cId="651611476" sldId="425"/>
            <ac:spMk id="6" creationId="{00D75F36-8D16-204C-1612-2CD767E71469}"/>
          </ac:spMkLst>
        </pc:spChg>
        <pc:graphicFrameChg chg="del">
          <ac:chgData name="Dmitrii Ustiugov" userId="fee3c4a0-c40b-4de8-8e1d-1d3cf97580eb" providerId="ADAL" clId="{8A20E96C-1A66-E448-AAD7-9F6CEF89B5B7}" dt="2024-08-19T07:26:37.611" v="10" actId="478"/>
          <ac:graphicFrameMkLst>
            <pc:docMk/>
            <pc:sldMk cId="651611476" sldId="425"/>
            <ac:graphicFrameMk id="5" creationId="{741680C7-F622-35DF-6133-CC5CA43BBD67}"/>
          </ac:graphicFrameMkLst>
        </pc:graphicFrameChg>
        <pc:graphicFrameChg chg="add mod">
          <ac:chgData name="Dmitrii Ustiugov" userId="fee3c4a0-c40b-4de8-8e1d-1d3cf97580eb" providerId="ADAL" clId="{8A20E96C-1A66-E448-AAD7-9F6CEF89B5B7}" dt="2024-08-19T07:26:38.590" v="11"/>
          <ac:graphicFrameMkLst>
            <pc:docMk/>
            <pc:sldMk cId="651611476" sldId="425"/>
            <ac:graphicFrameMk id="7" creationId="{54163AF3-4A38-C6AF-5B9C-1342C353454D}"/>
          </ac:graphicFrameMkLst>
        </pc:graphicFrameChg>
      </pc:sldChg>
      <pc:sldChg chg="addSp modSp new mod">
        <pc:chgData name="Dmitrii Ustiugov" userId="fee3c4a0-c40b-4de8-8e1d-1d3cf97580eb" providerId="ADAL" clId="{8A20E96C-1A66-E448-AAD7-9F6CEF89B5B7}" dt="2024-08-21T08:31:41.006" v="186" actId="404"/>
        <pc:sldMkLst>
          <pc:docMk/>
          <pc:sldMk cId="2005781420" sldId="425"/>
        </pc:sldMkLst>
        <pc:spChg chg="mod">
          <ac:chgData name="Dmitrii Ustiugov" userId="fee3c4a0-c40b-4de8-8e1d-1d3cf97580eb" providerId="ADAL" clId="{8A20E96C-1A66-E448-AAD7-9F6CEF89B5B7}" dt="2024-08-21T08:31:41.006" v="186" actId="404"/>
          <ac:spMkLst>
            <pc:docMk/>
            <pc:sldMk cId="2005781420" sldId="425"/>
            <ac:spMk id="3" creationId="{B04675CC-20B5-E471-BF70-0BD4F6AFF541}"/>
          </ac:spMkLst>
        </pc:spChg>
        <pc:picChg chg="add mod">
          <ac:chgData name="Dmitrii Ustiugov" userId="fee3c4a0-c40b-4de8-8e1d-1d3cf97580eb" providerId="ADAL" clId="{8A20E96C-1A66-E448-AAD7-9F6CEF89B5B7}" dt="2024-08-21T08:30:56.705" v="146"/>
          <ac:picMkLst>
            <pc:docMk/>
            <pc:sldMk cId="2005781420" sldId="425"/>
            <ac:picMk id="5" creationId="{E7C3A6CF-239D-AE79-F7F0-B83CAC26A555}"/>
          </ac:picMkLst>
        </pc:picChg>
      </pc:sldChg>
    </pc:docChg>
  </pc:docChgLst>
  <pc:docChgLst>
    <pc:chgData name="Arvind Easwaran" userId="S::arvinde@staff.main.ntu.edu.sg::6059df8d-17bf-4148-9f7c-190b13d86f35" providerId="AD" clId="Web-{56F7C6A2-F85E-89BD-31B0-3DB27DE269F0}"/>
    <pc:docChg chg="modSld sldOrd">
      <pc:chgData name="Arvind Easwaran" userId="S::arvinde@staff.main.ntu.edu.sg::6059df8d-17bf-4148-9f7c-190b13d86f35" providerId="AD" clId="Web-{56F7C6A2-F85E-89BD-31B0-3DB27DE269F0}" dt="2024-01-22T02:45:29.774" v="3"/>
      <pc:docMkLst>
        <pc:docMk/>
      </pc:docMkLst>
      <pc:sldChg chg="ord">
        <pc:chgData name="Arvind Easwaran" userId="S::arvinde@staff.main.ntu.edu.sg::6059df8d-17bf-4148-9f7c-190b13d86f35" providerId="AD" clId="Web-{56F7C6A2-F85E-89BD-31B0-3DB27DE269F0}" dt="2024-01-22T02:45:29.774" v="3"/>
        <pc:sldMkLst>
          <pc:docMk/>
          <pc:sldMk cId="0" sldId="302"/>
        </pc:sldMkLst>
      </pc:sldChg>
      <pc:sldChg chg="modSp">
        <pc:chgData name="Arvind Easwaran" userId="S::arvinde@staff.main.ntu.edu.sg::6059df8d-17bf-4148-9f7c-190b13d86f35" providerId="AD" clId="Web-{56F7C6A2-F85E-89BD-31B0-3DB27DE269F0}" dt="2024-01-22T02:44:57.117" v="2" actId="20577"/>
        <pc:sldMkLst>
          <pc:docMk/>
          <pc:sldMk cId="0" sldId="361"/>
        </pc:sldMkLst>
        <pc:spChg chg="mod">
          <ac:chgData name="Arvind Easwaran" userId="S::arvinde@staff.main.ntu.edu.sg::6059df8d-17bf-4148-9f7c-190b13d86f35" providerId="AD" clId="Web-{56F7C6A2-F85E-89BD-31B0-3DB27DE269F0}" dt="2024-01-22T02:44:57.117" v="2" actId="20577"/>
          <ac:spMkLst>
            <pc:docMk/>
            <pc:sldMk cId="0" sldId="361"/>
            <ac:spMk id="70659" creationId="{6EE4FC0B-8674-4E30-82AE-C951FB4C3A81}"/>
          </ac:spMkLst>
        </pc:spChg>
      </pc:sldChg>
    </pc:docChg>
  </pc:docChgLst>
  <pc:docChgLst>
    <pc:chgData name="Dmitrii Ustiugov" userId="fee3c4a0-c40b-4de8-8e1d-1d3cf97580eb" providerId="ADAL" clId="{14EC1536-8B93-ED48-8A7E-20B4E8DBA5CA}"/>
    <pc:docChg chg="undo custSel modSld sldOrd">
      <pc:chgData name="Dmitrii Ustiugov" userId="fee3c4a0-c40b-4de8-8e1d-1d3cf97580eb" providerId="ADAL" clId="{14EC1536-8B93-ED48-8A7E-20B4E8DBA5CA}" dt="2023-08-24T00:57:42.939" v="2" actId="1076"/>
      <pc:docMkLst>
        <pc:docMk/>
      </pc:docMkLst>
      <pc:sldChg chg="modSp">
        <pc:chgData name="Dmitrii Ustiugov" userId="fee3c4a0-c40b-4de8-8e1d-1d3cf97580eb" providerId="ADAL" clId="{14EC1536-8B93-ED48-8A7E-20B4E8DBA5CA}" dt="2023-08-24T00:57:18.963" v="1" actId="1076"/>
        <pc:sldMkLst>
          <pc:docMk/>
          <pc:sldMk cId="0" sldId="348"/>
        </pc:sldMkLst>
        <pc:spChg chg="mod">
          <ac:chgData name="Dmitrii Ustiugov" userId="fee3c4a0-c40b-4de8-8e1d-1d3cf97580eb" providerId="ADAL" clId="{14EC1536-8B93-ED48-8A7E-20B4E8DBA5CA}" dt="2023-08-24T00:57:18.963" v="1" actId="1076"/>
          <ac:spMkLst>
            <pc:docMk/>
            <pc:sldMk cId="0" sldId="348"/>
            <ac:spMk id="90115" creationId="{7C19767C-6FFD-46DF-A84F-94790A53C595}"/>
          </ac:spMkLst>
        </pc:spChg>
      </pc:sldChg>
      <pc:sldChg chg="ord">
        <pc:chgData name="Dmitrii Ustiugov" userId="fee3c4a0-c40b-4de8-8e1d-1d3cf97580eb" providerId="ADAL" clId="{14EC1536-8B93-ED48-8A7E-20B4E8DBA5CA}" dt="2023-08-24T00:57:42.939" v="2" actId="1076"/>
        <pc:sldMkLst>
          <pc:docMk/>
          <pc:sldMk cId="0" sldId="36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1026">
            <a:extLst>
              <a:ext uri="{FF2B5EF4-FFF2-40B4-BE49-F238E27FC236}">
                <a16:creationId xmlns:a16="http://schemas.microsoft.com/office/drawing/2014/main" id="{88A7EF8E-146C-47E6-8A16-EF8A797377E9}"/>
              </a:ext>
            </a:extLst>
          </p:cNvPr>
          <p:cNvSpPr>
            <a:spLocks noGrp="1" noChangeArrowheads="1"/>
          </p:cNvSpPr>
          <p:nvPr>
            <p:ph type="hdr" sz="quarter"/>
          </p:nvPr>
        </p:nvSpPr>
        <p:spPr bwMode="auto">
          <a:xfrm>
            <a:off x="0" y="0"/>
            <a:ext cx="3189288" cy="471488"/>
          </a:xfrm>
          <a:prstGeom prst="rect">
            <a:avLst/>
          </a:prstGeom>
          <a:noFill/>
          <a:ln w="9525">
            <a:noFill/>
            <a:miter lim="800000"/>
            <a:headEnd/>
            <a:tailEnd/>
          </a:ln>
          <a:effectLst/>
        </p:spPr>
        <p:txBody>
          <a:bodyPr vert="horz" wrap="none" lIns="95166" tIns="47583" rIns="95166" bIns="47583" numCol="1" anchor="ctr" anchorCtr="0" compatLnSpc="1">
            <a:prstTxWarp prst="textNoShape">
              <a:avLst/>
            </a:prstTxWarp>
          </a:bodyPr>
          <a:lstStyle>
            <a:lvl1pPr algn="l" defTabSz="952500">
              <a:defRPr sz="1200">
                <a:latin typeface="Helvetica" pitchFamily="34" charset="0"/>
              </a:defRPr>
            </a:lvl1pPr>
          </a:lstStyle>
          <a:p>
            <a:pPr>
              <a:defRPr/>
            </a:pPr>
            <a:endParaRPr lang="en-US"/>
          </a:p>
        </p:txBody>
      </p:sp>
      <p:sp>
        <p:nvSpPr>
          <p:cNvPr id="65539" name="Rectangle 1027">
            <a:extLst>
              <a:ext uri="{FF2B5EF4-FFF2-40B4-BE49-F238E27FC236}">
                <a16:creationId xmlns:a16="http://schemas.microsoft.com/office/drawing/2014/main" id="{5A0E82EF-9487-44C9-84C7-6929D2760387}"/>
              </a:ext>
            </a:extLst>
          </p:cNvPr>
          <p:cNvSpPr>
            <a:spLocks noGrp="1" noChangeArrowheads="1"/>
          </p:cNvSpPr>
          <p:nvPr>
            <p:ph type="dt" sz="quarter" idx="1"/>
          </p:nvPr>
        </p:nvSpPr>
        <p:spPr bwMode="auto">
          <a:xfrm>
            <a:off x="4146550" y="0"/>
            <a:ext cx="3189288" cy="471488"/>
          </a:xfrm>
          <a:prstGeom prst="rect">
            <a:avLst/>
          </a:prstGeom>
          <a:noFill/>
          <a:ln w="9525">
            <a:noFill/>
            <a:miter lim="800000"/>
            <a:headEnd/>
            <a:tailEnd/>
          </a:ln>
          <a:effectLst/>
        </p:spPr>
        <p:txBody>
          <a:bodyPr vert="horz" wrap="none" lIns="95166" tIns="47583" rIns="95166" bIns="47583" numCol="1" anchor="ctr" anchorCtr="0" compatLnSpc="1">
            <a:prstTxWarp prst="textNoShape">
              <a:avLst/>
            </a:prstTxWarp>
          </a:bodyPr>
          <a:lstStyle>
            <a:lvl1pPr algn="r" defTabSz="952500">
              <a:defRPr sz="1200">
                <a:latin typeface="Helvetica" pitchFamily="34" charset="0"/>
              </a:defRPr>
            </a:lvl1pPr>
          </a:lstStyle>
          <a:p>
            <a:pPr>
              <a:defRPr/>
            </a:pPr>
            <a:endParaRPr lang="en-US"/>
          </a:p>
        </p:txBody>
      </p:sp>
      <p:sp>
        <p:nvSpPr>
          <p:cNvPr id="65540" name="Rectangle 1028">
            <a:extLst>
              <a:ext uri="{FF2B5EF4-FFF2-40B4-BE49-F238E27FC236}">
                <a16:creationId xmlns:a16="http://schemas.microsoft.com/office/drawing/2014/main" id="{7FE5E1E3-FA40-4E1A-B4F1-27CBB8735270}"/>
              </a:ext>
            </a:extLst>
          </p:cNvPr>
          <p:cNvSpPr>
            <a:spLocks noGrp="1" noChangeArrowheads="1"/>
          </p:cNvSpPr>
          <p:nvPr>
            <p:ph type="ftr" sz="quarter" idx="2"/>
          </p:nvPr>
        </p:nvSpPr>
        <p:spPr bwMode="auto">
          <a:xfrm>
            <a:off x="0" y="9142413"/>
            <a:ext cx="3189288" cy="473075"/>
          </a:xfrm>
          <a:prstGeom prst="rect">
            <a:avLst/>
          </a:prstGeom>
          <a:noFill/>
          <a:ln w="9525">
            <a:noFill/>
            <a:miter lim="800000"/>
            <a:headEnd/>
            <a:tailEnd/>
          </a:ln>
          <a:effectLst/>
        </p:spPr>
        <p:txBody>
          <a:bodyPr vert="horz" wrap="none" lIns="95166" tIns="47583" rIns="95166" bIns="47583" numCol="1" anchor="b" anchorCtr="0" compatLnSpc="1">
            <a:prstTxWarp prst="textNoShape">
              <a:avLst/>
            </a:prstTxWarp>
          </a:bodyPr>
          <a:lstStyle>
            <a:lvl1pPr algn="l" defTabSz="952500">
              <a:defRPr sz="1200">
                <a:latin typeface="Helvetica" pitchFamily="34" charset="0"/>
              </a:defRPr>
            </a:lvl1pPr>
          </a:lstStyle>
          <a:p>
            <a:pPr>
              <a:defRPr/>
            </a:pPr>
            <a:endParaRPr lang="en-US"/>
          </a:p>
        </p:txBody>
      </p:sp>
      <p:sp>
        <p:nvSpPr>
          <p:cNvPr id="65541" name="Rectangle 1029">
            <a:extLst>
              <a:ext uri="{FF2B5EF4-FFF2-40B4-BE49-F238E27FC236}">
                <a16:creationId xmlns:a16="http://schemas.microsoft.com/office/drawing/2014/main" id="{AFFFEFFA-45D0-4424-B82E-E1D9364F45AE}"/>
              </a:ext>
            </a:extLst>
          </p:cNvPr>
          <p:cNvSpPr>
            <a:spLocks noGrp="1" noChangeArrowheads="1"/>
          </p:cNvSpPr>
          <p:nvPr>
            <p:ph type="sldNum" sz="quarter" idx="3"/>
          </p:nvPr>
        </p:nvSpPr>
        <p:spPr bwMode="auto">
          <a:xfrm>
            <a:off x="4146550" y="9142413"/>
            <a:ext cx="3189288" cy="473075"/>
          </a:xfrm>
          <a:prstGeom prst="rect">
            <a:avLst/>
          </a:prstGeom>
          <a:noFill/>
          <a:ln w="9525">
            <a:noFill/>
            <a:miter lim="800000"/>
            <a:headEnd/>
            <a:tailEnd/>
          </a:ln>
          <a:effectLst/>
        </p:spPr>
        <p:txBody>
          <a:bodyPr vert="horz" wrap="none" lIns="95166" tIns="47583" rIns="95166" bIns="47583" numCol="1" anchor="b" anchorCtr="0" compatLnSpc="1">
            <a:prstTxWarp prst="textNoShape">
              <a:avLst/>
            </a:prstTxWarp>
          </a:bodyPr>
          <a:lstStyle>
            <a:lvl1pPr algn="r" defTabSz="952500">
              <a:defRPr sz="1200"/>
            </a:lvl1pPr>
          </a:lstStyle>
          <a:p>
            <a:fld id="{97DE8BE2-C452-467B-9460-7C50CEFF19E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5693FCE-3579-470B-872C-314356FFD1C5}"/>
              </a:ext>
            </a:extLst>
          </p:cNvPr>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none" lIns="96774" tIns="48388" rIns="96774" bIns="48388" numCol="1" anchor="ctr" anchorCtr="0" compatLnSpc="1">
            <a:prstTxWarp prst="textNoShape">
              <a:avLst/>
            </a:prstTxWarp>
          </a:bodyPr>
          <a:lstStyle>
            <a:lvl1pPr algn="l" defTabSz="968375">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E4F89C6E-D56A-4907-9AFC-9841BF3304B0}"/>
              </a:ext>
            </a:extLst>
          </p:cNvPr>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none" lIns="96774" tIns="48388" rIns="96774" bIns="48388" numCol="1" anchor="ctr" anchorCtr="0" compatLnSpc="1">
            <a:prstTxWarp prst="textNoShape">
              <a:avLst/>
            </a:prstTxWarp>
          </a:bodyPr>
          <a:lstStyle>
            <a:lvl1pPr algn="r" defTabSz="968375">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CEB3077D-C4BB-4A90-BD67-BEF46629A50A}"/>
              </a:ext>
            </a:extLst>
          </p:cNvPr>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CD44FE4E-325A-47F0-B109-78A7F1D12D92}"/>
              </a:ext>
            </a:extLst>
          </p:cNvPr>
          <p:cNvSpPr>
            <a:spLocks noGrp="1" noChangeArrowheads="1"/>
          </p:cNvSpPr>
          <p:nvPr>
            <p:ph type="body" sz="quarter" idx="3"/>
          </p:nvPr>
        </p:nvSpPr>
        <p:spPr bwMode="auto">
          <a:xfrm>
            <a:off x="976313" y="4559300"/>
            <a:ext cx="5362575" cy="4321175"/>
          </a:xfrm>
          <a:prstGeom prst="rect">
            <a:avLst/>
          </a:prstGeom>
          <a:noFill/>
          <a:ln w="9525">
            <a:noFill/>
            <a:miter lim="800000"/>
            <a:headEnd/>
            <a:tailEnd/>
          </a:ln>
          <a:effectLst/>
        </p:spPr>
        <p:txBody>
          <a:bodyPr vert="horz" wrap="none" lIns="96774" tIns="48388" rIns="96774" bIns="48388"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42CE58E7-131E-4655-BC51-E151BB919B0B}"/>
              </a:ext>
            </a:extLst>
          </p:cNvPr>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none" lIns="96774" tIns="48388" rIns="96774" bIns="48388" numCol="1" anchor="b" anchorCtr="0" compatLnSpc="1">
            <a:prstTxWarp prst="textNoShape">
              <a:avLst/>
            </a:prstTxWarp>
          </a:bodyPr>
          <a:lstStyle>
            <a:lvl1pPr algn="l" defTabSz="968375">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BAF75E16-899E-4679-A696-55C21AA11AB4}"/>
              </a:ext>
            </a:extLst>
          </p:cNvPr>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none" lIns="96774" tIns="48388" rIns="96774" bIns="48388" numCol="1" anchor="b" anchorCtr="0" compatLnSpc="1">
            <a:prstTxWarp prst="textNoShape">
              <a:avLst/>
            </a:prstTxWarp>
          </a:bodyPr>
          <a:lstStyle>
            <a:lvl1pPr algn="r" defTabSz="968375">
              <a:defRPr sz="1200">
                <a:latin typeface="Times New Roman" panose="02020603050405020304" pitchFamily="18" charset="0"/>
              </a:defRPr>
            </a:lvl1pPr>
          </a:lstStyle>
          <a:p>
            <a:fld id="{21A46A73-0248-4B58-ADAE-54023E34BCC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D343D5BB-5F22-49C8-A1EB-5B197FBEBFA3}"/>
              </a:ext>
            </a:extLst>
          </p:cNvPr>
          <p:cNvSpPr>
            <a:spLocks noGrp="1" noRot="1" noChangeAspect="1" noChangeArrowheads="1" noTextEdit="1"/>
          </p:cNvSpPr>
          <p:nvPr>
            <p:ph type="sldImg"/>
          </p:nvPr>
        </p:nvSpPr>
        <p:spPr>
          <a:ln/>
        </p:spPr>
      </p:sp>
      <p:sp>
        <p:nvSpPr>
          <p:cNvPr id="16386" name="Notes Placeholder 2">
            <a:extLst>
              <a:ext uri="{FF2B5EF4-FFF2-40B4-BE49-F238E27FC236}">
                <a16:creationId xmlns:a16="http://schemas.microsoft.com/office/drawing/2014/main" id="{22AF9A4C-66A4-41A9-9B42-713D8E2D34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From this lecture on, we will start to introduce the system services and components one by one. We start with processes and threads. </a:t>
            </a:r>
          </a:p>
          <a:p>
            <a:endParaRPr lang="en-US" altLang="en-US"/>
          </a:p>
          <a:p>
            <a:r>
              <a:rPr lang="en-US" altLang="en-US"/>
              <a:t>In our last lecture, we stopped here. Before starting today’s lecture, let’s review what we have learnt. We start with DMA and then hardware protection. You should be able to tell the difference between interrupt driven I/O and DMA. We next spoke about how we use privileged instructions to implement hardware protections. You should be able to tell how privileged instructions are used to implement I/O and memory protections. Then, we spoke about operating system services. You should know the steps and mode switches in executing a system call. It requires mode switch from the user to the kernel mode.</a:t>
            </a:r>
          </a:p>
          <a:p>
            <a:endParaRPr lang="en-US" altLang="en-US"/>
          </a:p>
          <a:p>
            <a:endParaRPr lang="en-US" altLang="en-US"/>
          </a:p>
          <a:p>
            <a:endParaRPr lang="en-US" altLang="en-US"/>
          </a:p>
          <a:p>
            <a:endParaRPr lang="en-US" altLang="en-US"/>
          </a:p>
          <a:p>
            <a:endParaRPr lang="en-US" altLang="en-US"/>
          </a:p>
        </p:txBody>
      </p:sp>
      <p:sp>
        <p:nvSpPr>
          <p:cNvPr id="16387" name="Slide Number Placeholder 3">
            <a:extLst>
              <a:ext uri="{FF2B5EF4-FFF2-40B4-BE49-F238E27FC236}">
                <a16:creationId xmlns:a16="http://schemas.microsoft.com/office/drawing/2014/main" id="{FA4BED43-2D9D-45D4-A4AF-08F5F4DDD9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D0615876-6A44-4E7E-B805-E9ECCE611E55}"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C6E9F151-FD41-4037-8696-A7FDD8169CE5}"/>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C506FC46-B1EA-4A40-85F9-C97B396B71E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what is a process? There are many similar terms in operating system. An operating system executes many kinds of programs: a batch system executes jobs. A time sharing system executes user programs and commands. </a:t>
            </a:r>
          </a:p>
          <a:p>
            <a:endParaRPr lang="en-US" altLang="en-US"/>
          </a:p>
          <a:p>
            <a:r>
              <a:rPr lang="en-US" altLang="en-US"/>
              <a:t>The textbook uses job and process interchangeably. Here, Job=process. Formally speaking, process is a formal term for operating system; and a job is a larger concept.</a:t>
            </a:r>
          </a:p>
          <a:p>
            <a:endParaRPr lang="en-US" altLang="en-US"/>
          </a:p>
          <a:p>
            <a:r>
              <a:rPr lang="en-US" altLang="en-US"/>
              <a:t>A process is defined to be a program in execution. It is a dynamic concept. Process is different from program. The program is an executable file (static concept). If you click the executable (that is the program) multiple times, you will create multiple processes. Those processes have their own main memory and other resources. The program is like a template for creating multiple processes. In the reminder of this chapter, one important part is to learn how the process changes during its lifetime.</a:t>
            </a:r>
          </a:p>
          <a:p>
            <a:r>
              <a:rPr lang="en-US" altLang="en-US"/>
              <a:t>The process execution must be in a sequential order, one by one instruction. Note, on modern CPUs, out of order execution is supported; but still the instructions are committed in a sequential order. </a:t>
            </a:r>
          </a:p>
          <a:p>
            <a:endParaRPr lang="en-US" altLang="en-US"/>
          </a:p>
        </p:txBody>
      </p:sp>
      <p:sp>
        <p:nvSpPr>
          <p:cNvPr id="18435" name="Slide Number Placeholder 3">
            <a:extLst>
              <a:ext uri="{FF2B5EF4-FFF2-40B4-BE49-F238E27FC236}">
                <a16:creationId xmlns:a16="http://schemas.microsoft.com/office/drawing/2014/main" id="{C059FC0A-7FFE-4093-AE90-021CE231B10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E67D3C63-6E71-4B35-8759-9DF8FDE3C34A}"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7FA32887-1544-47A2-8E7F-3759ED564BF3}"/>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1750BD3A-0564-4D24-8C96-2000EA0AC44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figure shows the memory layout of a process. It has four sections: text, data, heap and stack. The memory region is defined from Base to Base+limit. Remember those two registers from memory protection slides? </a:t>
            </a:r>
          </a:p>
          <a:p>
            <a:endParaRPr lang="en-US" altLang="en-US"/>
          </a:p>
          <a:p>
            <a:r>
              <a:rPr lang="en-US" altLang="en-US"/>
              <a:t>The text and data sections are usually at the bottom, because they are fixed during runtime. Text is for the code and data is for global variables. In C/C++ and java, you can declare global variables. They are allocated in the data section.</a:t>
            </a:r>
          </a:p>
          <a:p>
            <a:r>
              <a:rPr lang="en-US" altLang="en-US"/>
              <a:t>Stack and heap are two dynamically growing sections. Stack grows from top down, for parameters and local variables in a function call. Consider a normal function call or even recursive calls. The resources are allocated from stack.</a:t>
            </a:r>
          </a:p>
          <a:p>
            <a:r>
              <a:rPr lang="en-US" altLang="en-US"/>
              <a:t>Heap grows from bottom up, for dynamically allocated variables. For example, objects created from new in java.</a:t>
            </a:r>
          </a:p>
          <a:p>
            <a:endParaRPr lang="en-US" altLang="en-US"/>
          </a:p>
        </p:txBody>
      </p:sp>
      <p:sp>
        <p:nvSpPr>
          <p:cNvPr id="20483" name="Slide Number Placeholder 3">
            <a:extLst>
              <a:ext uri="{FF2B5EF4-FFF2-40B4-BE49-F238E27FC236}">
                <a16:creationId xmlns:a16="http://schemas.microsoft.com/office/drawing/2014/main" id="{A2B3180C-5DFC-4B88-AA14-732155223B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00FD4718-89E5-4D50-8090-F1DC47F0A960}"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6958040C-BFE5-4265-B69D-263FAB6F3C15}"/>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43473F52-C3EA-4B67-B346-7C0728962F7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 a process executes, it changes state. A process can have five states: new, running, waiting, ready and terminated. Let’s use a figure to illustrate the process state transitions. Note, in both ready and waiting, the process is waiting, although for different reasons. It is waiting in the ready state to be allocated to the CPU by the OS scheduler, whereas it is waiting in the waiting state for some operation to complete.</a:t>
            </a:r>
          </a:p>
          <a:p>
            <a:endParaRPr lang="en-US" altLang="en-US"/>
          </a:p>
        </p:txBody>
      </p:sp>
      <p:sp>
        <p:nvSpPr>
          <p:cNvPr id="22531" name="Slide Number Placeholder 3">
            <a:extLst>
              <a:ext uri="{FF2B5EF4-FFF2-40B4-BE49-F238E27FC236}">
                <a16:creationId xmlns:a16="http://schemas.microsoft.com/office/drawing/2014/main" id="{73E71BEA-73DD-4241-A5A5-C1213AB937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9D399660-9A3C-4FEA-B1E9-4DB6A890048D}"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BDA0FB7B-1F15-4F3F-9813-B2E751F670DA}"/>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DB25E1EA-5A46-4C3C-82AF-C57D5B2BDE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r>
              <a:rPr lang="en-US" altLang="en-US"/>
              <a:t>This figure is very important. When a process is being created, its state is new. Then, it is admitted into the system, when the initialization is done (for example, the memory region and other resources are allocated). And it becomes ready for scheduling. The state is ready. In practice, there can be multiple processes that are ready to execute on the CPU. Then, OS chooses a ready process to execute, that is scheduler dispatch. The selected process changes its state from ready to running. We will talk about the details on process scheduling, that is, which process to select next week. </a:t>
            </a:r>
          </a:p>
          <a:p>
            <a:endParaRPr lang="en-US" altLang="en-US"/>
          </a:p>
          <a:p>
            <a:r>
              <a:rPr lang="en-US" altLang="en-US"/>
              <a:t>The transitions from running to other states are complex. If it finishes, then the process becomes terminated. The main memory and other resources can be deallocated, and reused by other processes.</a:t>
            </a:r>
          </a:p>
          <a:p>
            <a:endParaRPr lang="en-US" altLang="en-US"/>
          </a:p>
          <a:p>
            <a:r>
              <a:rPr lang="en-US" altLang="en-US"/>
              <a:t>There is a timer inside the CPU. If it receives a timer interrupt, the process needs to give up CPU and is switched from running to ready state. The timer interrupt is generated from the CPU every time slice (say, 100 ms) in multiprogramming system (remember in part 1, when we say, the CPU is multiplexed among processes). Recall that in a multiprogramming system, the CPU is multiplexed among processes. When we say multiplexing, we mean: every 100ms, a timer interrupt is generated and then the current process transits from running to ready, and OS picks another ready process to execute on the CPU. </a:t>
            </a:r>
          </a:p>
          <a:p>
            <a:endParaRPr lang="en-US" altLang="en-US"/>
          </a:p>
          <a:p>
            <a:r>
              <a:rPr lang="en-US" altLang="en-US"/>
              <a:t>If the process issues an I/O request or will wait for other events, its state will be changed to waiting.  We will see the example of event wait in the later slides. When the I/O or the event finishes, it is switched to ready.</a:t>
            </a:r>
          </a:p>
          <a:p>
            <a:endParaRPr lang="en-US" altLang="en-US"/>
          </a:p>
          <a:p>
            <a:r>
              <a:rPr lang="en-US" altLang="en-US"/>
              <a:t>You should be able to understand all the transitions and whether this transition is legal or not. For example, can we directly switch from waiting to running state? No. because at this moment, the other process is running on the CPU, and it must be put into the ready state for further scheduling. </a:t>
            </a:r>
          </a:p>
        </p:txBody>
      </p:sp>
      <p:sp>
        <p:nvSpPr>
          <p:cNvPr id="24579" name="Slide Number Placeholder 3">
            <a:extLst>
              <a:ext uri="{FF2B5EF4-FFF2-40B4-BE49-F238E27FC236}">
                <a16:creationId xmlns:a16="http://schemas.microsoft.com/office/drawing/2014/main" id="{917B2711-C33A-4162-94C1-9DFCBFEA38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80B04C6F-A51B-4280-9169-A181F1128E2D}"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7</a:t>
            </a:fld>
            <a:endParaRPr lang="en-US" altLang="en-US"/>
          </a:p>
        </p:txBody>
      </p:sp>
    </p:spTree>
    <p:extLst>
      <p:ext uri="{BB962C8B-B14F-4D97-AF65-F5344CB8AC3E}">
        <p14:creationId xmlns:p14="http://schemas.microsoft.com/office/powerpoint/2010/main" val="1560657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3FEFC9B2-31A4-4F31-9291-20766B1D5E06}"/>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B6C74ABE-0A6F-46B4-8E63-29CCBBDA79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processes take turn to use the CPU, according to the timer interrupt or I/O/event wait. How does OS support this switch?</a:t>
            </a:r>
          </a:p>
          <a:p>
            <a:endParaRPr lang="en-US" altLang="en-US"/>
          </a:p>
          <a:p>
            <a:r>
              <a:rPr lang="en-US" altLang="en-US"/>
              <a:t>We need to use some data structure to maintain the state of the process. The data structure is called PCB, process control block. PCB includes</a:t>
            </a:r>
          </a:p>
          <a:p>
            <a:r>
              <a:rPr lang="en-US" altLang="en-US"/>
              <a:t>Pointer to other PCB, because in OS, PCBs of all processes are maintained in a queue structure.</a:t>
            </a:r>
          </a:p>
          <a:p>
            <a:r>
              <a:rPr lang="en-US" altLang="en-US"/>
              <a:t>Process state</a:t>
            </a:r>
          </a:p>
          <a:p>
            <a:r>
              <a:rPr lang="en-US" altLang="en-US"/>
              <a:t>Process id,</a:t>
            </a:r>
          </a:p>
          <a:p>
            <a:r>
              <a:rPr lang="en-US" altLang="en-US"/>
              <a:t>Programmer counter: the address of the next instruction to be executed.</a:t>
            </a:r>
          </a:p>
          <a:p>
            <a:r>
              <a:rPr lang="en-US" altLang="en-US"/>
              <a:t>A series of CPU registers.</a:t>
            </a:r>
          </a:p>
          <a:p>
            <a:r>
              <a:rPr lang="en-US" altLang="en-US"/>
              <a:t>CPU scheduling information like priority.</a:t>
            </a:r>
          </a:p>
          <a:p>
            <a:endParaRPr lang="en-US" altLang="en-US"/>
          </a:p>
          <a:p>
            <a:r>
              <a:rPr lang="en-US" altLang="en-US"/>
              <a:t>Where is PCB stored? Each process has its PCB stored in the main memory, and hardware protection is enabled for PCBs. </a:t>
            </a:r>
          </a:p>
          <a:p>
            <a:endParaRPr lang="en-US" altLang="en-US"/>
          </a:p>
          <a:p>
            <a:endParaRPr lang="en-US" altLang="en-US"/>
          </a:p>
        </p:txBody>
      </p:sp>
      <p:sp>
        <p:nvSpPr>
          <p:cNvPr id="26627" name="Slide Number Placeholder 3">
            <a:extLst>
              <a:ext uri="{FF2B5EF4-FFF2-40B4-BE49-F238E27FC236}">
                <a16:creationId xmlns:a16="http://schemas.microsoft.com/office/drawing/2014/main" id="{C68EFE6C-F1D5-4B4B-82EF-AE87137B6C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411CAA24-ABCD-4C28-A482-61AFB2D7B5D2}"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2AAE711A-2CF4-4DA7-BD6C-EAEE11C16D6A}"/>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7B35461B-8DCA-4502-AB4A-ACA3877F8E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the main memory, PCB is laid out in this manner. If we need to change the process state, we need to change the corresponding field. </a:t>
            </a:r>
          </a:p>
          <a:p>
            <a:endParaRPr lang="en-US" altLang="en-US"/>
          </a:p>
        </p:txBody>
      </p:sp>
      <p:sp>
        <p:nvSpPr>
          <p:cNvPr id="28675" name="Slide Number Placeholder 3">
            <a:extLst>
              <a:ext uri="{FF2B5EF4-FFF2-40B4-BE49-F238E27FC236}">
                <a16:creationId xmlns:a16="http://schemas.microsoft.com/office/drawing/2014/main" id="{2F2C567E-9442-4C09-8637-1AF5C4A634B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F3A5FCAD-739A-49FF-A7DB-49C63109480B}"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D81EAF21-4464-4D3B-A0B6-EF1F0F3B3260}"/>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289341FF-0904-448F-AB53-1275EAB085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put the concepts together. Let’s first look at PCB and memory layout. The entire main memory is divided into two parts: memory area for OS (kernel space) and memory regions for user processes (user space). PCBs are stored in kernel space for protection. The base and limit defines the memory region for a process. The process memory is stored in user space. </a:t>
            </a:r>
          </a:p>
          <a:p>
            <a:endParaRPr lang="en-US" altLang="en-US"/>
          </a:p>
          <a:p>
            <a:r>
              <a:rPr lang="en-US" altLang="en-US"/>
              <a:t>Changes to PCB must happen in kernel mode.</a:t>
            </a:r>
          </a:p>
          <a:p>
            <a:endParaRPr lang="en-US" altLang="en-US"/>
          </a:p>
          <a:p>
            <a:r>
              <a:rPr lang="en-US" altLang="en-US"/>
              <a:t>Here let me give you one question: suppose PCB1 belongs to Process 1. What happens if Process 1 executes the code “a=new int[10]”, that is to allocate one new array? The heap of Process 1 grows.</a:t>
            </a:r>
          </a:p>
          <a:p>
            <a:endParaRPr lang="en-US" altLang="en-US"/>
          </a:p>
        </p:txBody>
      </p:sp>
      <p:sp>
        <p:nvSpPr>
          <p:cNvPr id="30723" name="Slide Number Placeholder 3">
            <a:extLst>
              <a:ext uri="{FF2B5EF4-FFF2-40B4-BE49-F238E27FC236}">
                <a16:creationId xmlns:a16="http://schemas.microsoft.com/office/drawing/2014/main" id="{2EA4B5DF-930D-494C-B73C-7BB99373E3A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84D58464-5307-4E9E-AB03-0ADAEB8B8ACA}"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2735BCA5-6E94-44D4-83B3-8A9D94087525}"/>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6063B9CC-C8BD-47D1-8C2F-8110C41E22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a:p>
            <a:endParaRPr lang="en-US" altLang="en-US"/>
          </a:p>
          <a:p>
            <a:endParaRPr lang="en-US" altLang="en-US"/>
          </a:p>
          <a:p>
            <a:endParaRPr lang="en-US" altLang="en-US"/>
          </a:p>
        </p:txBody>
      </p:sp>
      <p:sp>
        <p:nvSpPr>
          <p:cNvPr id="32771" name="Slide Number Placeholder 3">
            <a:extLst>
              <a:ext uri="{FF2B5EF4-FFF2-40B4-BE49-F238E27FC236}">
                <a16:creationId xmlns:a16="http://schemas.microsoft.com/office/drawing/2014/main" id="{413534E8-5AF8-45FB-AF72-333CB55602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C994266F-C77B-43CE-AA10-0032851FD330}"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4A00D48D-CB54-47AA-B9C1-421ADFD91F9F}"/>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8C654056-D71C-491B-8D21-A69C8D809E3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First, let’s talk about CPU switch, also called context switch. In a time sharing system, every 100ms, there is a timer interrupt generated, and the running process gives up the CPU. Then, another process is picked to run on the CPU. </a:t>
            </a:r>
          </a:p>
          <a:p>
            <a:endParaRPr lang="en-US" altLang="en-US"/>
          </a:p>
          <a:p>
            <a:r>
              <a:rPr lang="en-US" altLang="en-US"/>
              <a:t>This is one example of context switch.  We have two processes P0 and P1. The operations of OS is shown in the middle. At the beginning, P0 is executing. Then, an interrupt occurs (for example, the timer interrupt occurs). P0 will transit from running to ready, and OS should schedule another process for execution. The operating system takes control at this point. It saves the PCB of P0, and loads the state from PCB1. After loading PCB1, we get the program counter etc., and resume the execution accordingly. </a:t>
            </a:r>
          </a:p>
          <a:p>
            <a:endParaRPr lang="en-US" altLang="en-US"/>
          </a:p>
          <a:p>
            <a:r>
              <a:rPr lang="en-US" altLang="en-US"/>
              <a:t>What is the mode for those PCB modifications? User mode or kernel mode? Kernel mode.</a:t>
            </a:r>
          </a:p>
          <a:p>
            <a:endParaRPr lang="en-US" altLang="en-US"/>
          </a:p>
          <a:p>
            <a:r>
              <a:rPr lang="en-US" altLang="en-US"/>
              <a:t>After some time, the timer interrupt occurs, and PCB1 is saved, and PCB0 is reloaded. Then, P0 resumes the execution. </a:t>
            </a:r>
          </a:p>
          <a:p>
            <a:endParaRPr lang="en-US" altLang="en-US"/>
          </a:p>
          <a:p>
            <a:r>
              <a:rPr lang="en-US" altLang="en-US"/>
              <a:t>We can see, when the CPU is switched from one process to another, the operating system must save the context of the old process and then load the saved context of the new process. However, context switch does not do any useful work. It is considered as overhead to the system. In OS research, hardware and software approaches have been developed to reduce the context switch overhead. </a:t>
            </a:r>
          </a:p>
        </p:txBody>
      </p:sp>
      <p:sp>
        <p:nvSpPr>
          <p:cNvPr id="34819" name="Slide Number Placeholder 3">
            <a:extLst>
              <a:ext uri="{FF2B5EF4-FFF2-40B4-BE49-F238E27FC236}">
                <a16:creationId xmlns:a16="http://schemas.microsoft.com/office/drawing/2014/main" id="{4165F140-B79C-489E-8210-4080481A01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5FA90819-9C4D-4705-B6BF-1A387DE36E61}"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7EE8FA2E-539E-4CF0-8451-CCA8FC323025}"/>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C0A9B4B4-1E23-42AC-8857-9DC67CA36B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7" name="Slide Number Placeholder 3">
            <a:extLst>
              <a:ext uri="{FF2B5EF4-FFF2-40B4-BE49-F238E27FC236}">
                <a16:creationId xmlns:a16="http://schemas.microsoft.com/office/drawing/2014/main" id="{70BEBDA6-C990-491B-9F76-7CF06107286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A24B0DE2-647C-4D7C-9C43-D5202B2EB021}"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49300CBD-141F-403E-A327-607DC3199C9E}"/>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198F1575-99D9-43EB-972D-64455E0CD4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let’s talk about process scheduling. But before that, let’s see how OS organizes processes. </a:t>
            </a:r>
          </a:p>
          <a:p>
            <a:endParaRPr lang="en-US" altLang="en-US"/>
          </a:p>
          <a:p>
            <a:r>
              <a:rPr lang="en-US" altLang="en-US"/>
              <a:t>The operating system uses the queue structure to maintain all the processes with the same state in the operating system. These queues are called job queues. Therefore, a single job queue contains all the processes with the same state in the system. </a:t>
            </a:r>
          </a:p>
          <a:p>
            <a:r>
              <a:rPr lang="en-US" altLang="en-US"/>
              <a:t>The ready queue is a set of all processes in the ready state. That is, the processes in the memory, ready and waiting for CPU execution. Note: it is not waiting state. It is just waiting for CPU, not I/O or other events.</a:t>
            </a:r>
          </a:p>
          <a:p>
            <a:r>
              <a:rPr lang="en-US" altLang="en-US"/>
              <a:t>There is a device queue for each device. A device queue includes a set of processes waiting for the I/O on that device. This means, the process has issued an I/O to that device.</a:t>
            </a:r>
          </a:p>
          <a:p>
            <a:endParaRPr lang="en-US" altLang="en-US"/>
          </a:p>
          <a:p>
            <a:r>
              <a:rPr lang="en-US" altLang="en-US"/>
              <a:t>As the process state changes, process is migrated among different queues. Let’s see one example in the next slide.</a:t>
            </a:r>
          </a:p>
          <a:p>
            <a:endParaRPr lang="en-US" altLang="en-US"/>
          </a:p>
        </p:txBody>
      </p:sp>
      <p:sp>
        <p:nvSpPr>
          <p:cNvPr id="38915" name="Slide Number Placeholder 3">
            <a:extLst>
              <a:ext uri="{FF2B5EF4-FFF2-40B4-BE49-F238E27FC236}">
                <a16:creationId xmlns:a16="http://schemas.microsoft.com/office/drawing/2014/main" id="{2CA08665-CC37-4E6D-948A-7AE6EBAF3B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470C0B15-B7B0-409C-9380-78716B3890D9}"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7115BFBA-6F98-40BB-9F98-EAC176E9F6D5}"/>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D2398A08-10FF-4656-91BC-8C57EC0AFD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an illustration about the ready queue and device queues.</a:t>
            </a:r>
          </a:p>
          <a:p>
            <a:endParaRPr lang="en-US" altLang="en-US"/>
          </a:p>
          <a:p>
            <a:r>
              <a:rPr lang="en-US" altLang="en-US"/>
              <a:t>Each queue structure is located at the queue header. In the queue header, there is a head pointer to the first PCB in the queue, and a tail pointer to the last PCB in the queue.</a:t>
            </a:r>
          </a:p>
          <a:p>
            <a:endParaRPr lang="en-US" altLang="en-US"/>
          </a:p>
          <a:p>
            <a:r>
              <a:rPr lang="en-US" altLang="en-US"/>
              <a:t>You can also see that there is a device queue for each device. We can judge whether a device is busy or not from the length of the device queue. For example, mag unit 0 is idle, and disk unit 0 is relatively busy, with three processes waiting for I/O. </a:t>
            </a:r>
          </a:p>
          <a:p>
            <a:endParaRPr lang="en-US" altLang="en-US"/>
          </a:p>
          <a:p>
            <a:r>
              <a:rPr lang="en-US" altLang="en-US"/>
              <a:t>PCB7 is running. We usually store the PCB of the running process as the first element of the ready queue. Say, PCB7 issues an I/O to the disk. Its PCB is put in the queue of the hard disk. Then after the I/O finishes, it is moved from the device queue of the hard disk to the ready queue.</a:t>
            </a:r>
          </a:p>
          <a:p>
            <a:endParaRPr lang="en-US" altLang="en-US"/>
          </a:p>
          <a:p>
            <a:endParaRPr lang="en-US" altLang="en-US"/>
          </a:p>
        </p:txBody>
      </p:sp>
      <p:sp>
        <p:nvSpPr>
          <p:cNvPr id="40963" name="Slide Number Placeholder 3">
            <a:extLst>
              <a:ext uri="{FF2B5EF4-FFF2-40B4-BE49-F238E27FC236}">
                <a16:creationId xmlns:a16="http://schemas.microsoft.com/office/drawing/2014/main" id="{469B7BA6-9936-4A2E-919C-6ACA2BDC7E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054AD112-3C91-429C-AE71-8370C244E7C0}"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C966B073-9D42-4C56-8056-788CFEB78D2E}"/>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9DF2BFC6-5CD1-444D-AFCE-66710AB2086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Summary of last lecture: A process is a program in execution. You should be able to tell the difference between program and process. Then, we spoke about process state transition. You should be able to understand each state transition in the transition diagram. Then, we have spoke about process control block or PCB. Then, we studied how PCB and process state changes during a context switch. </a:t>
            </a:r>
          </a:p>
          <a:p>
            <a:endParaRPr lang="en-US" altLang="en-US"/>
          </a:p>
          <a:p>
            <a:r>
              <a:rPr lang="en-US" altLang="en-US"/>
              <a:t>Consider a user clicking an executable many times. Ideally, one click will create one process. However, each process needs some main memory and other resources. Thus, a machine can only support a limited number of processes in the main memory. Once the processes have been created in the main memory, we need to choose from among the ready processes to execute on the CPU. The operating system needs to carefully schedule which process to use the CPU, and to choose the set of processes to remain in the main memory. These decisions are somehow independent of each other. Therefore, we can have multiple levels of schedulers.</a:t>
            </a:r>
          </a:p>
          <a:p>
            <a:endParaRPr lang="en-US" altLang="en-US"/>
          </a:p>
          <a:p>
            <a:r>
              <a:rPr lang="en-US" altLang="en-US"/>
              <a:t>The first one is job scheduler. The job scheduler selects the processes from the disk and loads them into memory for execution. This is also called the long-term scheduler. Even if you run many executables, OS will not create them immediately. Instead, the long-term scheduler decides how many and which processes to create, or to be admitted into the system.</a:t>
            </a:r>
          </a:p>
          <a:p>
            <a:endParaRPr lang="en-US" altLang="en-US"/>
          </a:p>
          <a:p>
            <a:r>
              <a:rPr lang="en-US" altLang="en-US"/>
              <a:t>The second one is the CPU scheduler, which selects a process from the ready queue for CPU execution. The CPU scheduler is also called the short-term scheduler. The consideration of the short-term scheduler is the processes that are in the main memory and are ready to execute. They have been previously created and scheduled by the long-term scheduler. </a:t>
            </a:r>
          </a:p>
          <a:p>
            <a:endParaRPr lang="en-US" altLang="en-US"/>
          </a:p>
          <a:p>
            <a:r>
              <a:rPr lang="en-US" altLang="en-US"/>
              <a:t>The third one is called the mid-term scheduler, a scheduler in between long-term and short-tem scheduler. It is responsible for adjusting the degree of multiprogramming. When the system load is heavy, we need to swap out a partially executed process from memory to disk. When the system load becomes light, we swap in some processes from disk to memory for execution. The OS service that enables this swapping is called virtual memory (2</a:t>
            </a:r>
            <a:r>
              <a:rPr lang="en-US" altLang="en-US" baseline="30000"/>
              <a:t>nd</a:t>
            </a:r>
            <a:r>
              <a:rPr lang="en-US" altLang="en-US"/>
              <a:t> half of the course).</a:t>
            </a:r>
          </a:p>
        </p:txBody>
      </p:sp>
      <p:sp>
        <p:nvSpPr>
          <p:cNvPr id="43011" name="Slide Number Placeholder 3">
            <a:extLst>
              <a:ext uri="{FF2B5EF4-FFF2-40B4-BE49-F238E27FC236}">
                <a16:creationId xmlns:a16="http://schemas.microsoft.com/office/drawing/2014/main" id="{5E04B977-F2C1-4E8B-9EDC-FAE86AE487E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D0CFE6B5-F11A-4D14-8B7A-07EAB81C9C50}"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8A755543-C15D-4BA6-A6BC-CC64E277060C}"/>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CA850D5D-4349-4493-A914-C622F2C68D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As the name suggests, short-term scheduler is invoked very frequently. It must be fast in making decision.</a:t>
            </a:r>
          </a:p>
          <a:p>
            <a:endParaRPr lang="en-US" altLang="en-US"/>
          </a:p>
          <a:p>
            <a:r>
              <a:rPr lang="en-US" altLang="en-US"/>
              <a:t>In contrast, the long-term scheduler is very infrequent. We can do very advanced prediction on the memory usage. See the second half of the course.</a:t>
            </a:r>
          </a:p>
          <a:p>
            <a:endParaRPr lang="en-US" altLang="en-US"/>
          </a:p>
          <a:p>
            <a:r>
              <a:rPr lang="en-US" altLang="en-US">
                <a:sym typeface="Symbol" panose="05050102010706020507" pitchFamily="18" charset="2"/>
              </a:rPr>
              <a:t>The long-term scheduler controls the </a:t>
            </a:r>
            <a:r>
              <a:rPr lang="en-US" altLang="en-US" i="1">
                <a:sym typeface="Symbol" panose="05050102010706020507" pitchFamily="18" charset="2"/>
              </a:rPr>
              <a:t>degree of multiprogramming </a:t>
            </a:r>
            <a:r>
              <a:rPr lang="en-US" altLang="en-US">
                <a:sym typeface="Symbol" panose="05050102010706020507" pitchFamily="18" charset="2"/>
              </a:rPr>
              <a:t>initially</a:t>
            </a:r>
            <a:r>
              <a:rPr lang="en-US" altLang="en-US" i="1">
                <a:sym typeface="Symbol" panose="05050102010706020507" pitchFamily="18" charset="2"/>
              </a:rPr>
              <a:t>. </a:t>
            </a:r>
            <a:r>
              <a:rPr lang="en-US" altLang="en-US">
                <a:sym typeface="Symbol" panose="05050102010706020507" pitchFamily="18" charset="2"/>
              </a:rPr>
              <a:t>Then medium-term scheduler does a similar job after that, by swapping in/out processes. </a:t>
            </a:r>
          </a:p>
          <a:p>
            <a:endParaRPr lang="en-US" altLang="en-US" i="1">
              <a:sym typeface="Symbol" panose="05050102010706020507" pitchFamily="18" charset="2"/>
            </a:endParaRPr>
          </a:p>
          <a:p>
            <a:r>
              <a:rPr lang="en-US" altLang="en-US" i="1">
                <a:sym typeface="Symbol" panose="05050102010706020507" pitchFamily="18" charset="2"/>
              </a:rPr>
              <a:t>Degree of multiprogramming is the number of processes in the main memory that can be supported by a multiprogrammed system. </a:t>
            </a:r>
            <a:endParaRPr lang="en-US" altLang="en-US"/>
          </a:p>
        </p:txBody>
      </p:sp>
      <p:sp>
        <p:nvSpPr>
          <p:cNvPr id="45059" name="Slide Number Placeholder 3">
            <a:extLst>
              <a:ext uri="{FF2B5EF4-FFF2-40B4-BE49-F238E27FC236}">
                <a16:creationId xmlns:a16="http://schemas.microsoft.com/office/drawing/2014/main" id="{FE853A9C-B8B2-450B-8186-9D271AF077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FC3FFF09-BE0E-46E6-94E0-F90B02325141}"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FCF49C1D-1CA9-46C9-811F-AAC8ADB086BF}"/>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861521E2-67D0-479A-8F5B-4AE47241E7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a:p>
            <a:endParaRPr lang="en-US" altLang="en-US"/>
          </a:p>
          <a:p>
            <a:endParaRPr lang="en-US" altLang="en-US"/>
          </a:p>
          <a:p>
            <a:endParaRPr lang="en-US" altLang="en-US"/>
          </a:p>
        </p:txBody>
      </p:sp>
      <p:sp>
        <p:nvSpPr>
          <p:cNvPr id="47107" name="Slide Number Placeholder 3">
            <a:extLst>
              <a:ext uri="{FF2B5EF4-FFF2-40B4-BE49-F238E27FC236}">
                <a16:creationId xmlns:a16="http://schemas.microsoft.com/office/drawing/2014/main" id="{4A3D54DB-A12E-4891-BC14-45F2AB0A0C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DA99EB97-EF27-4413-9725-41C361FAA2A4}"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188D9C9C-DFED-4D33-B941-BB0C32F6D869}"/>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D98AC549-9311-495E-B398-78667C8E27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we talk about process creation and process termination. </a:t>
            </a:r>
          </a:p>
          <a:p>
            <a:endParaRPr lang="en-US" altLang="en-US"/>
          </a:p>
          <a:p>
            <a:r>
              <a:rPr lang="en-US" altLang="en-US"/>
              <a:t>Operating system provides system calls to create a child process. So, the parent process can create a child process, and the child process can create its own child process. The relationship forms a tree. Thus, all the processes are the children of a root process. Then, users may open different consoles and create more processes for their command. There may also be some background processes that are automatically created by the root when the system starts, such as swap (used in the mid-term scheduler) and flush (for writing dirty pages to I/O devices).</a:t>
            </a:r>
          </a:p>
          <a:p>
            <a:endParaRPr lang="en-US" altLang="en-US"/>
          </a:p>
          <a:p>
            <a:endParaRPr lang="en-US" altLang="en-US"/>
          </a:p>
          <a:p>
            <a:endParaRPr lang="en-US" altLang="en-US"/>
          </a:p>
        </p:txBody>
      </p:sp>
      <p:sp>
        <p:nvSpPr>
          <p:cNvPr id="49155" name="Slide Number Placeholder 3">
            <a:extLst>
              <a:ext uri="{FF2B5EF4-FFF2-40B4-BE49-F238E27FC236}">
                <a16:creationId xmlns:a16="http://schemas.microsoft.com/office/drawing/2014/main" id="{4B36A35D-52A8-4839-804F-BB1D3E0736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DB81336A-436A-440E-9947-630EEBB85BA4}"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44F9E184-22E2-4957-9C4B-3A8509DCC781}"/>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C0CF7811-767F-4DEF-8F87-BDA55B6E28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two execution orders for parent and child processes. One is to execute concurrently (independently). The other is that parent waits until children terminate. Remember in the process state transition, we have one event wait, causing a process transiting from running to waiting. The parent calls a system call wait, and its process state becomes waiting. Its state will change to ready when the child process finishes execution. In Nachos, the API is join </a:t>
            </a:r>
            <a:r>
              <a:rPr lang="en-US" altLang="en-US">
                <a:sym typeface="Wingdings" panose="05000000000000000000" pitchFamily="2" charset="2"/>
              </a:rPr>
              <a:t>. You can check out the lab briefing slides and video.</a:t>
            </a:r>
          </a:p>
        </p:txBody>
      </p:sp>
      <p:sp>
        <p:nvSpPr>
          <p:cNvPr id="51203" name="Slide Number Placeholder 3">
            <a:extLst>
              <a:ext uri="{FF2B5EF4-FFF2-40B4-BE49-F238E27FC236}">
                <a16:creationId xmlns:a16="http://schemas.microsoft.com/office/drawing/2014/main" id="{FC5BE1A3-9711-44F9-91BC-83693FD4FD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A98276C4-4E65-46D3-A05A-C8F460BA4338}"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34965E49-837B-4C93-B80D-C0D41D274C2C}"/>
              </a:ext>
            </a:extLst>
          </p:cNvPr>
          <p:cNvSpPr>
            <a:spLocks noGrp="1" noRot="1" noChangeAspect="1" noChangeArrowheads="1" noTextEdit="1"/>
          </p:cNvSpPr>
          <p:nvPr>
            <p:ph type="sldImg"/>
          </p:nvPr>
        </p:nvSpPr>
        <p:spPr>
          <a:ln/>
        </p:spPr>
      </p:sp>
      <p:sp>
        <p:nvSpPr>
          <p:cNvPr id="53250" name="Notes Placeholder 2">
            <a:extLst>
              <a:ext uri="{FF2B5EF4-FFF2-40B4-BE49-F238E27FC236}">
                <a16:creationId xmlns:a16="http://schemas.microsoft.com/office/drawing/2014/main" id="{73E2BD85-B886-4DB3-93E7-CEDC6DD745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Usually, a child process is not allowed to kill the parent process. OS typically kills a child process if its parent process terminates. This is called cascaded termination. </a:t>
            </a:r>
          </a:p>
        </p:txBody>
      </p:sp>
      <p:sp>
        <p:nvSpPr>
          <p:cNvPr id="53251" name="Slide Number Placeholder 3">
            <a:extLst>
              <a:ext uri="{FF2B5EF4-FFF2-40B4-BE49-F238E27FC236}">
                <a16:creationId xmlns:a16="http://schemas.microsoft.com/office/drawing/2014/main" id="{BA272968-E733-46D3-91EC-9F1A56B4E6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32B660EE-349A-4EC8-900C-B6BCBAD1587A}"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7AF7C531-7A80-4D93-BE91-080A673A2360}"/>
              </a:ext>
            </a:extLst>
          </p:cNvPr>
          <p:cNvSpPr>
            <a:spLocks noGrp="1" noRot="1" noChangeAspect="1" noChangeArrowheads="1" noTextEdit="1"/>
          </p:cNvSpPr>
          <p:nvPr>
            <p:ph type="sldImg"/>
          </p:nvPr>
        </p:nvSpPr>
        <p:spPr>
          <a:ln/>
        </p:spPr>
      </p:sp>
      <p:sp>
        <p:nvSpPr>
          <p:cNvPr id="55298" name="Notes Placeholder 2">
            <a:extLst>
              <a:ext uri="{FF2B5EF4-FFF2-40B4-BE49-F238E27FC236}">
                <a16:creationId xmlns:a16="http://schemas.microsoft.com/office/drawing/2014/main" id="{A63CCDE7-724B-4398-87CC-27E3BB60C1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a:p>
            <a:endParaRPr lang="en-US" altLang="en-US"/>
          </a:p>
          <a:p>
            <a:endParaRPr lang="en-US" altLang="en-US"/>
          </a:p>
          <a:p>
            <a:endParaRPr lang="en-US" altLang="en-US"/>
          </a:p>
        </p:txBody>
      </p:sp>
      <p:sp>
        <p:nvSpPr>
          <p:cNvPr id="55299" name="Slide Number Placeholder 3">
            <a:extLst>
              <a:ext uri="{FF2B5EF4-FFF2-40B4-BE49-F238E27FC236}">
                <a16:creationId xmlns:a16="http://schemas.microsoft.com/office/drawing/2014/main" id="{74A39818-9B70-4E00-B8BD-6E939DF2855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09EAB850-EEC2-4CF4-B2CB-736E9C6C8420}"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37451C45-AD84-4926-8D6A-096DA74109B7}"/>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E367A3A9-6853-49A1-ADA1-553AAF0E41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far, we have talked about the operations for a single processes. Now, we talk about two or more processes working together. Two processes can be independent or cooperating. Two cooperating processes usually have shared data, and they communicate with each other.</a:t>
            </a:r>
          </a:p>
        </p:txBody>
      </p:sp>
      <p:sp>
        <p:nvSpPr>
          <p:cNvPr id="57347" name="Slide Number Placeholder 3">
            <a:extLst>
              <a:ext uri="{FF2B5EF4-FFF2-40B4-BE49-F238E27FC236}">
                <a16:creationId xmlns:a16="http://schemas.microsoft.com/office/drawing/2014/main" id="{810ABA38-6AA5-4746-B33F-0436A6F991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3740DA8C-FC11-4513-BD44-9069B00FBFCE}"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4D25170C-FAE9-4450-B443-9AD8A5003ADF}"/>
              </a:ext>
            </a:extLst>
          </p:cNvPr>
          <p:cNvSpPr>
            <a:spLocks noGrp="1" noRot="1" noChangeAspect="1" noChangeArrowheads="1" noTextEdit="1"/>
          </p:cNvSpPr>
          <p:nvPr>
            <p:ph type="sldImg"/>
          </p:nvPr>
        </p:nvSpPr>
        <p:spPr>
          <a:ln/>
        </p:spPr>
      </p:sp>
      <p:sp>
        <p:nvSpPr>
          <p:cNvPr id="59394" name="Notes Placeholder 2">
            <a:extLst>
              <a:ext uri="{FF2B5EF4-FFF2-40B4-BE49-F238E27FC236}">
                <a16:creationId xmlns:a16="http://schemas.microsoft.com/office/drawing/2014/main" id="{0F1315AA-E79F-437A-A0FF-D12CFE3385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use one figure to illustrate the communication models. Figure (a) is message passing and (b) is shared memory. </a:t>
            </a:r>
          </a:p>
          <a:p>
            <a:endParaRPr lang="en-US" altLang="en-US"/>
          </a:p>
          <a:p>
            <a:r>
              <a:rPr lang="en-US" altLang="en-US"/>
              <a:t>In figure (b), Process A updates the data in the memory buffer, and process B reads the data from this shared buffer (shared variables). The communication is done by using memory read/write operations. The address of the shared memory should be known to both the processes. So, it is in user space.</a:t>
            </a:r>
          </a:p>
          <a:p>
            <a:endParaRPr lang="en-US" altLang="en-US"/>
          </a:p>
          <a:p>
            <a:r>
              <a:rPr lang="en-US" altLang="en-US"/>
              <a:t>In figure (a), Process A puts a message in a storage named “mailbox” in the kernel space (that is, copy a message from A to kernel space). Process B can take the message from the kernel space (copying the message from kernel space to B). </a:t>
            </a:r>
          </a:p>
          <a:p>
            <a:endParaRPr lang="en-US" altLang="en-US"/>
          </a:p>
          <a:p>
            <a:r>
              <a:rPr lang="en-US" altLang="en-US"/>
              <a:t>You can see that shared memory is simple; just memory read/write operations. Message passing is complicated, because we need to have some mailbox as a proxy. However, message passing is more flexible and thus more widely applicable.</a:t>
            </a:r>
          </a:p>
          <a:p>
            <a:endParaRPr lang="en-US" altLang="en-US"/>
          </a:p>
          <a:p>
            <a:endParaRPr lang="en-US" altLang="en-US"/>
          </a:p>
        </p:txBody>
      </p:sp>
      <p:sp>
        <p:nvSpPr>
          <p:cNvPr id="59395" name="Slide Number Placeholder 3">
            <a:extLst>
              <a:ext uri="{FF2B5EF4-FFF2-40B4-BE49-F238E27FC236}">
                <a16:creationId xmlns:a16="http://schemas.microsoft.com/office/drawing/2014/main" id="{EE860BBD-EE25-449F-9BA9-ACC95092B5C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EB4BDCDD-2F20-4362-9FF8-74987BB242B4}"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5501A0A4-FF0D-4CAA-9867-28B003B162B2}"/>
              </a:ext>
            </a:extLst>
          </p:cNvPr>
          <p:cNvSpPr>
            <a:spLocks noGrp="1" noRot="1" noChangeAspect="1" noChangeArrowheads="1" noTextEdit="1"/>
          </p:cNvSpPr>
          <p:nvPr>
            <p:ph type="sldImg"/>
          </p:nvPr>
        </p:nvSpPr>
        <p:spPr>
          <a:ln/>
        </p:spPr>
      </p:sp>
      <p:sp>
        <p:nvSpPr>
          <p:cNvPr id="61442" name="Notes Placeholder 2">
            <a:extLst>
              <a:ext uri="{FF2B5EF4-FFF2-40B4-BE49-F238E27FC236}">
                <a16:creationId xmlns:a16="http://schemas.microsoft.com/office/drawing/2014/main" id="{EB025BEC-9961-4154-99C0-38358E90014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Message passing is a mechanism for processes to communicate and to synchronize their actions without shared variables. Message passing is more flexible. Shared variables are usually for a single machine. Message passing is more general, and can be used for distributed systems.</a:t>
            </a:r>
          </a:p>
          <a:p>
            <a:r>
              <a:rPr lang="en-US" altLang="en-US"/>
              <a:t> </a:t>
            </a:r>
          </a:p>
          <a:p>
            <a:r>
              <a:rPr lang="en-US" altLang="en-US"/>
              <a:t>If two processes P and Q wish to communicate, they need to (a) establish a communication link between them, and (b) send and receive messages with the send/receive APIs.</a:t>
            </a:r>
          </a:p>
          <a:p>
            <a:endParaRPr lang="en-US" altLang="en-US"/>
          </a:p>
          <a:p>
            <a:endParaRPr lang="en-US" altLang="en-US"/>
          </a:p>
        </p:txBody>
      </p:sp>
      <p:sp>
        <p:nvSpPr>
          <p:cNvPr id="61443" name="Slide Number Placeholder 3">
            <a:extLst>
              <a:ext uri="{FF2B5EF4-FFF2-40B4-BE49-F238E27FC236}">
                <a16:creationId xmlns:a16="http://schemas.microsoft.com/office/drawing/2014/main" id="{27FDE913-9C90-4647-B3BC-EA7AD97DD1F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27BD990D-2809-4412-940F-8D7C2222BDCB}"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449F13F4-053C-4412-A475-4D3235B8A07F}"/>
              </a:ext>
            </a:extLst>
          </p:cNvPr>
          <p:cNvSpPr>
            <a:spLocks noGrp="1" noRot="1" noChangeAspect="1" noChangeArrowheads="1" noTextEdit="1"/>
          </p:cNvSpPr>
          <p:nvPr>
            <p:ph type="sldImg"/>
          </p:nvPr>
        </p:nvSpPr>
        <p:spPr>
          <a:ln/>
        </p:spPr>
      </p:sp>
      <p:sp>
        <p:nvSpPr>
          <p:cNvPr id="63490" name="Notes Placeholder 2">
            <a:extLst>
              <a:ext uri="{FF2B5EF4-FFF2-40B4-BE49-F238E27FC236}">
                <a16:creationId xmlns:a16="http://schemas.microsoft.com/office/drawing/2014/main" id="{F6D79CE7-005B-4CBE-905A-61594D5E2C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many implementation details for message passing. I have condensed those details and focus on two key important methods: direct and indirect communication for message passing. </a:t>
            </a:r>
          </a:p>
          <a:p>
            <a:endParaRPr lang="en-US" altLang="en-US"/>
          </a:p>
          <a:p>
            <a:r>
              <a:rPr lang="en-US" altLang="en-US"/>
              <a:t>Direct communication means to send and receive with the explicit name of processes, and indirect communication does not have this requirement. In indirect communication, a mailbox is used. The mailbox is an object where messages are placed and removed. The mailbox can be implemented as a queue structure. Each mailbox has a unique id so that senders and receivers can identify the mailbox. Processes can communicate only if they share a mailbox.</a:t>
            </a:r>
          </a:p>
        </p:txBody>
      </p:sp>
      <p:sp>
        <p:nvSpPr>
          <p:cNvPr id="63491" name="Slide Number Placeholder 3">
            <a:extLst>
              <a:ext uri="{FF2B5EF4-FFF2-40B4-BE49-F238E27FC236}">
                <a16:creationId xmlns:a16="http://schemas.microsoft.com/office/drawing/2014/main" id="{43489B26-4974-402E-BE3E-90CEFB6F97C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A1D785D6-E894-4E2D-8825-0ED21E69F50D}"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03C96293-141B-42B2-985C-25556CF552F3}"/>
              </a:ext>
            </a:extLst>
          </p:cNvPr>
          <p:cNvSpPr>
            <a:spLocks noGrp="1" noRot="1" noChangeAspect="1" noChangeArrowheads="1" noTextEdit="1"/>
          </p:cNvSpPr>
          <p:nvPr>
            <p:ph type="sldImg"/>
          </p:nvPr>
        </p:nvSpPr>
        <p:spPr>
          <a:ln/>
        </p:spPr>
      </p:sp>
      <p:sp>
        <p:nvSpPr>
          <p:cNvPr id="65538" name="Notes Placeholder 2">
            <a:extLst>
              <a:ext uri="{FF2B5EF4-FFF2-40B4-BE49-F238E27FC236}">
                <a16:creationId xmlns:a16="http://schemas.microsoft.com/office/drawing/2014/main" id="{318F5756-9697-4E5F-B446-59009A8F87C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see one example of the classical producer-consumer problem. It is a basic paradigm for cooperating processes. There are many producer-consumer examples in our daily life. For example, the manufacturers produce products and consumers buy the products. Thus, the manufacturers and consumers are one kind of producers and consumers. Also, usually, there can be a warehouse for manufacturers to temporarily store the products, it is like a buffer in this case.</a:t>
            </a:r>
          </a:p>
          <a:p>
            <a:endParaRPr lang="en-US" altLang="en-US"/>
          </a:p>
          <a:p>
            <a:r>
              <a:rPr lang="en-US" altLang="en-US"/>
              <a:t>Producer generates messages that is consumed by the consumer. There is a buffer shared by the producer and the consumer. The buffer can be unbounded or bounded.  An unbounded buffer places no practical limit on the size of the buffer, basically infinite capacity. But a bounded buffer assumes there is a fixed buffer size. </a:t>
            </a:r>
          </a:p>
          <a:p>
            <a:endParaRPr lang="en-US" altLang="en-US"/>
          </a:p>
        </p:txBody>
      </p:sp>
      <p:sp>
        <p:nvSpPr>
          <p:cNvPr id="65539" name="Slide Number Placeholder 3">
            <a:extLst>
              <a:ext uri="{FF2B5EF4-FFF2-40B4-BE49-F238E27FC236}">
                <a16:creationId xmlns:a16="http://schemas.microsoft.com/office/drawing/2014/main" id="{D6E39807-9480-4CA2-AEB3-6018362F5F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F2EA0285-D531-4B7A-9DD8-6EE1FE47866D}"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096F7B26-C77B-4CDC-B07F-302DF5DCFC8E}"/>
              </a:ext>
            </a:extLst>
          </p:cNvPr>
          <p:cNvSpPr>
            <a:spLocks noGrp="1" noRot="1" noChangeAspect="1" noChangeArrowheads="1" noTextEdit="1"/>
          </p:cNvSpPr>
          <p:nvPr>
            <p:ph type="sldImg"/>
          </p:nvPr>
        </p:nvSpPr>
        <p:spPr>
          <a:ln/>
        </p:spPr>
      </p:sp>
      <p:sp>
        <p:nvSpPr>
          <p:cNvPr id="67586" name="Notes Placeholder 2">
            <a:extLst>
              <a:ext uri="{FF2B5EF4-FFF2-40B4-BE49-F238E27FC236}">
                <a16:creationId xmlns:a16="http://schemas.microsoft.com/office/drawing/2014/main" id="{1C7B4331-6709-45BF-8B76-78323BC6AB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ltLang="en-US"/>
              <a:t>We first declare a mailbox with capacity of B messages. This is a bounded buffer.</a:t>
            </a:r>
          </a:p>
          <a:p>
            <a:endParaRPr lang="en-SG" altLang="en-US"/>
          </a:p>
          <a:p>
            <a:r>
              <a:rPr lang="en-SG" altLang="en-US"/>
              <a:t>Let’s first look at the producer process. It is a while loop. That means, it keeps doing the same thing. It first performs some pre-processing, and then checks whether the mailbox is full or not. if it is full, the producer has to wait. Then, it sends a message to the consumer. </a:t>
            </a:r>
          </a:p>
          <a:p>
            <a:r>
              <a:rPr lang="en-SG" altLang="en-US"/>
              <a:t>In consumer, it first checks whether the mailbox is empty or not. if so, it has to wait. Then the consumer receives a message from the mailbox and performs some post-processing on the message. </a:t>
            </a:r>
          </a:p>
          <a:p>
            <a:endParaRPr lang="en-SG" altLang="en-US"/>
          </a:p>
          <a:p>
            <a:r>
              <a:rPr lang="en-SG" altLang="en-US"/>
              <a:t>Does this example use direct or indirect communication? Indirect communication. </a:t>
            </a:r>
            <a:endParaRPr lang="en-US" altLang="en-US">
              <a:latin typeface="Comic Sans MS" panose="030F0702030302020204" pitchFamily="66" charset="0"/>
            </a:endParaRPr>
          </a:p>
          <a:p>
            <a:endParaRPr lang="en-US" altLang="en-US">
              <a:latin typeface="Comic Sans MS" panose="030F0702030302020204" pitchFamily="66" charset="0"/>
            </a:endParaRPr>
          </a:p>
          <a:p>
            <a:endParaRPr lang="en-US" altLang="en-US"/>
          </a:p>
        </p:txBody>
      </p:sp>
      <p:sp>
        <p:nvSpPr>
          <p:cNvPr id="67587" name="Slide Number Placeholder 3">
            <a:extLst>
              <a:ext uri="{FF2B5EF4-FFF2-40B4-BE49-F238E27FC236}">
                <a16:creationId xmlns:a16="http://schemas.microsoft.com/office/drawing/2014/main" id="{34482AB5-08DA-45D8-9468-25913BFAED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A4FFF48C-657F-4F5F-89DD-F5B48730EE40}"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73C03385-8464-456F-A382-01C27BE590A8}"/>
              </a:ext>
            </a:extLst>
          </p:cNvPr>
          <p:cNvSpPr>
            <a:spLocks noGrp="1" noRot="1" noChangeAspect="1" noChangeArrowheads="1" noTextEdit="1"/>
          </p:cNvSpPr>
          <p:nvPr>
            <p:ph type="sldImg"/>
          </p:nvPr>
        </p:nvSpPr>
        <p:spPr>
          <a:ln/>
        </p:spPr>
      </p:sp>
      <p:sp>
        <p:nvSpPr>
          <p:cNvPr id="69634" name="Notes Placeholder 2">
            <a:extLst>
              <a:ext uri="{FF2B5EF4-FFF2-40B4-BE49-F238E27FC236}">
                <a16:creationId xmlns:a16="http://schemas.microsoft.com/office/drawing/2014/main" id="{54C9872D-8BDB-465C-A0DA-019E74091C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a:p>
            <a:endParaRPr lang="en-US" altLang="en-US"/>
          </a:p>
          <a:p>
            <a:endParaRPr lang="en-US" altLang="en-US"/>
          </a:p>
          <a:p>
            <a:endParaRPr lang="en-US" altLang="en-US"/>
          </a:p>
        </p:txBody>
      </p:sp>
      <p:sp>
        <p:nvSpPr>
          <p:cNvPr id="69635" name="Slide Number Placeholder 3">
            <a:extLst>
              <a:ext uri="{FF2B5EF4-FFF2-40B4-BE49-F238E27FC236}">
                <a16:creationId xmlns:a16="http://schemas.microsoft.com/office/drawing/2014/main" id="{DBE8FC3C-7A64-428B-988E-215143FBB23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92505CF0-3749-44F9-BE3E-6A629E136825}"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BDA36318-1AC9-47F7-A201-FDE4F442EA65}"/>
              </a:ext>
            </a:extLst>
          </p:cNvPr>
          <p:cNvSpPr>
            <a:spLocks noGrp="1" noRot="1" noChangeAspect="1" noChangeArrowheads="1" noTextEdit="1"/>
          </p:cNvSpPr>
          <p:nvPr>
            <p:ph type="sldImg"/>
          </p:nvPr>
        </p:nvSpPr>
        <p:spPr>
          <a:ln/>
        </p:spPr>
      </p:sp>
      <p:sp>
        <p:nvSpPr>
          <p:cNvPr id="71682" name="Notes Placeholder 2">
            <a:extLst>
              <a:ext uri="{FF2B5EF4-FFF2-40B4-BE49-F238E27FC236}">
                <a16:creationId xmlns:a16="http://schemas.microsoft.com/office/drawing/2014/main" id="{871CD1AF-6D5E-4793-8AFE-1779FF75523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Note: In our labs, Nachos uses the term “thread”. However, all concepts and mechanisms that we learnt about processes can be applicable to Nachos threads. </a:t>
            </a:r>
          </a:p>
          <a:p>
            <a:r>
              <a:rPr lang="en-US" altLang="en-US"/>
              <a:t>For example, in threads, there is a data structure called thread control block, which is equivalent to PCB for processes.</a:t>
            </a:r>
          </a:p>
          <a:p>
            <a:r>
              <a:rPr lang="en-US" altLang="en-US"/>
              <a:t>Thread state is equivalent to process state, although some terms can be different. For example, in Nachos “Just created”, is the same as “New” in our lecture.</a:t>
            </a:r>
          </a:p>
          <a:p>
            <a:r>
              <a:rPr lang="en-US" altLang="en-US"/>
              <a:t>Moreover, they have similar system call definitions: fork to create a process/thread, exit means termination.</a:t>
            </a:r>
          </a:p>
        </p:txBody>
      </p:sp>
      <p:sp>
        <p:nvSpPr>
          <p:cNvPr id="71683" name="Slide Number Placeholder 3">
            <a:extLst>
              <a:ext uri="{FF2B5EF4-FFF2-40B4-BE49-F238E27FC236}">
                <a16:creationId xmlns:a16="http://schemas.microsoft.com/office/drawing/2014/main" id="{91F884EE-867D-41DE-87C8-7D87463F9E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2DB3BFEA-DCE5-4D7E-AF19-C963036A4B6C}" type="slidenum">
              <a:rPr lang="en-US" altLang="en-US"/>
              <a:pPr/>
              <a:t>32</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A8AD36B8-BC67-48CB-86D2-04450D94BB0B}"/>
              </a:ext>
            </a:extLst>
          </p:cNvPr>
          <p:cNvSpPr>
            <a:spLocks noGrp="1" noRot="1" noChangeAspect="1" noChangeArrowheads="1" noTextEdit="1"/>
          </p:cNvSpPr>
          <p:nvPr>
            <p:ph type="sldImg"/>
          </p:nvPr>
        </p:nvSpPr>
        <p:spPr>
          <a:ln/>
        </p:spPr>
      </p:sp>
      <p:sp>
        <p:nvSpPr>
          <p:cNvPr id="73730" name="Notes Placeholder 2">
            <a:extLst>
              <a:ext uri="{FF2B5EF4-FFF2-40B4-BE49-F238E27FC236}">
                <a16:creationId xmlns:a16="http://schemas.microsoft.com/office/drawing/2014/main" id="{90604BCF-25E7-444D-9C45-CFAFB95BE7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this course, we mainly talk about processes. Therefore, we will quickly go through the basic concepts of threads in the remainder of this chapter.</a:t>
            </a:r>
          </a:p>
          <a:p>
            <a:endParaRPr lang="en-US" altLang="en-US"/>
          </a:p>
          <a:p>
            <a:r>
              <a:rPr lang="en-US" altLang="en-US"/>
              <a:t>Note: Only in this part, we refer to the concepts of threads. All other parts in this course, we refer to process (single-threaded process). </a:t>
            </a:r>
          </a:p>
        </p:txBody>
      </p:sp>
      <p:sp>
        <p:nvSpPr>
          <p:cNvPr id="73731" name="Slide Number Placeholder 3">
            <a:extLst>
              <a:ext uri="{FF2B5EF4-FFF2-40B4-BE49-F238E27FC236}">
                <a16:creationId xmlns:a16="http://schemas.microsoft.com/office/drawing/2014/main" id="{622B741B-4649-4229-BCCA-3A6E1328506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177C00AC-301B-4C2B-B4F2-30D82C98BA65}" type="slidenum">
              <a:rPr lang="en-US" altLang="en-US"/>
              <a:pPr/>
              <a:t>33</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a:extLst>
              <a:ext uri="{FF2B5EF4-FFF2-40B4-BE49-F238E27FC236}">
                <a16:creationId xmlns:a16="http://schemas.microsoft.com/office/drawing/2014/main" id="{57544375-D770-42CC-AB7F-FDBDF65C3E4A}"/>
              </a:ext>
            </a:extLst>
          </p:cNvPr>
          <p:cNvSpPr>
            <a:spLocks noGrp="1" noRot="1" noChangeAspect="1" noChangeArrowheads="1" noTextEdit="1"/>
          </p:cNvSpPr>
          <p:nvPr>
            <p:ph type="sldImg"/>
          </p:nvPr>
        </p:nvSpPr>
        <p:spPr>
          <a:ln/>
        </p:spPr>
      </p:sp>
      <p:sp>
        <p:nvSpPr>
          <p:cNvPr id="76802" name="Notes Placeholder 2">
            <a:extLst>
              <a:ext uri="{FF2B5EF4-FFF2-40B4-BE49-F238E27FC236}">
                <a16:creationId xmlns:a16="http://schemas.microsoft.com/office/drawing/2014/main" id="{551E2944-FD27-4898-98E5-43BB98F61D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figure illustrates the difference between a single-threaded process and a multi-threaded process. </a:t>
            </a:r>
          </a:p>
          <a:p>
            <a:endParaRPr lang="en-US" altLang="en-US"/>
          </a:p>
          <a:p>
            <a:r>
              <a:rPr lang="en-US" altLang="en-US"/>
              <a:t>On the left we have the single-threaded process, and on the right we have the multi-threaded process. The single-threaded process is just the same as a conventional process that we introduced earlier. Also, a thread has its state (new, ready, running, waiting). A data structure called thread control block (TCB) is also used to record the information of a thread. Thus, a thread has very similar state transitions as a process. </a:t>
            </a:r>
          </a:p>
          <a:p>
            <a:endParaRPr lang="en-US" altLang="en-US"/>
          </a:p>
          <a:p>
            <a:r>
              <a:rPr lang="en-US" altLang="en-US"/>
              <a:t>In the multi-threaded process, we can see that all the threads share the code, the data, heap and files. The data section includes all the global variables. Each thread has its own registers and stack. </a:t>
            </a:r>
          </a:p>
          <a:p>
            <a:endParaRPr lang="en-US" altLang="en-US"/>
          </a:p>
          <a:p>
            <a:r>
              <a:rPr lang="en-US" altLang="en-US"/>
              <a:t>Why are threads also called lightweight processes? Because the resources for code, data and files are shared among multiple threads. When we create one more thread, those resources are not required to be allocated again. Thus, it is lightweight.</a:t>
            </a:r>
          </a:p>
        </p:txBody>
      </p:sp>
      <p:sp>
        <p:nvSpPr>
          <p:cNvPr id="76803" name="Slide Number Placeholder 3">
            <a:extLst>
              <a:ext uri="{FF2B5EF4-FFF2-40B4-BE49-F238E27FC236}">
                <a16:creationId xmlns:a16="http://schemas.microsoft.com/office/drawing/2014/main" id="{10EE95E8-1CEA-4B64-A4F2-621382A473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7A81256D-2E44-4BC2-8949-6CC38185E4A5}" type="slidenum">
              <a:rPr lang="en-US" altLang="en-US"/>
              <a:pPr/>
              <a:t>35</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a:extLst>
              <a:ext uri="{FF2B5EF4-FFF2-40B4-BE49-F238E27FC236}">
                <a16:creationId xmlns:a16="http://schemas.microsoft.com/office/drawing/2014/main" id="{3FCF4628-93BE-4AF5-A434-25349972A31A}"/>
              </a:ext>
            </a:extLst>
          </p:cNvPr>
          <p:cNvSpPr>
            <a:spLocks noGrp="1" noRot="1" noChangeAspect="1" noChangeArrowheads="1" noTextEdit="1"/>
          </p:cNvSpPr>
          <p:nvPr>
            <p:ph type="sldImg"/>
          </p:nvPr>
        </p:nvSpPr>
        <p:spPr>
          <a:ln/>
        </p:spPr>
      </p:sp>
      <p:sp>
        <p:nvSpPr>
          <p:cNvPr id="78850" name="Notes Placeholder 2">
            <a:extLst>
              <a:ext uri="{FF2B5EF4-FFF2-40B4-BE49-F238E27FC236}">
                <a16:creationId xmlns:a16="http://schemas.microsoft.com/office/drawing/2014/main" id="{DBF178BD-A9E6-4A56-AB8A-3FF3A322D15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Most operating systems support multithreaded processes. In a multithread process, when one thread is blocked or waiting for an event, the other thread can run. Therefore, cooperation of multiple threads in the same process can deliver better performance. </a:t>
            </a:r>
          </a:p>
          <a:p>
            <a:r>
              <a:rPr lang="en-US" altLang="en-US"/>
              <a:t> For example, a word processor is only one process in the windows system. It has multiple threads: one thread for displaying the inputs, the other thread for accepting the keystrokes from users, one thread for auto-saving the document into the hard disk. Even if a thread (say the one accepting the keyboard input) is blocked, other threads can still run for other functionalities of WORD.</a:t>
            </a:r>
          </a:p>
          <a:p>
            <a:endParaRPr lang="en-US" altLang="en-US"/>
          </a:p>
        </p:txBody>
      </p:sp>
      <p:sp>
        <p:nvSpPr>
          <p:cNvPr id="78851" name="Slide Number Placeholder 3">
            <a:extLst>
              <a:ext uri="{FF2B5EF4-FFF2-40B4-BE49-F238E27FC236}">
                <a16:creationId xmlns:a16="http://schemas.microsoft.com/office/drawing/2014/main" id="{81DD5B1B-ACB3-4DC2-8DCD-1C466BF944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E16C799E-1442-44F1-86C0-AE0078C4D104}" type="slidenum">
              <a:rPr lang="en-US" altLang="en-US"/>
              <a:pPr/>
              <a:t>36</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a:extLst>
              <a:ext uri="{FF2B5EF4-FFF2-40B4-BE49-F238E27FC236}">
                <a16:creationId xmlns:a16="http://schemas.microsoft.com/office/drawing/2014/main" id="{D985E66E-7B9B-456A-A764-181BB8A4136E}"/>
              </a:ext>
            </a:extLst>
          </p:cNvPr>
          <p:cNvSpPr>
            <a:spLocks noGrp="1" noRot="1" noChangeAspect="1" noChangeArrowheads="1" noTextEdit="1"/>
          </p:cNvSpPr>
          <p:nvPr>
            <p:ph type="sldImg"/>
          </p:nvPr>
        </p:nvSpPr>
        <p:spPr>
          <a:ln/>
        </p:spPr>
      </p:sp>
      <p:sp>
        <p:nvSpPr>
          <p:cNvPr id="80898" name="Notes Placeholder 2">
            <a:extLst>
              <a:ext uri="{FF2B5EF4-FFF2-40B4-BE49-F238E27FC236}">
                <a16:creationId xmlns:a16="http://schemas.microsoft.com/office/drawing/2014/main" id="{68B0FEEF-FA3B-4EB7-B8A2-19F149CF337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example is a multithreaded server. This architecture is very common in web servers, FTP servers, etc. There can be multiple clients sharing the same server. A client is a process in the client machine, and the server is a process in the server machine. Let’s see how the server handles a request from the client. First, a client submits a request to the server. Next, the server create a new thread to serve the request. And then, the server resume listening for additional client requests. The thread will serve the request independently. When finished, the thread is deallocated. Since creating a new thread requires a small amount of resource, this architecture is more efficient compared with creating a process for each request. There is a more advanced programming paradigm called thread pool. You can google it. here I will not go into details.</a:t>
            </a:r>
          </a:p>
          <a:p>
            <a:endParaRPr lang="en-US" altLang="en-US"/>
          </a:p>
          <a:p>
            <a:r>
              <a:rPr lang="en-US" altLang="en-US"/>
              <a:t>%%more information:</a:t>
            </a:r>
          </a:p>
          <a:p>
            <a:r>
              <a:rPr lang="en-US" altLang="en-US"/>
              <a:t>if the server is implemented by a singlethreaded process, the response time is bad when there are many clients. If the server forks a process to serve the I/O request, the overhead of creating a process significantly increases the response time. Even worse, resources such as code, global data, and files cannot be shared among the processes. Therefore, the server is implemented as a multithreaded process.</a:t>
            </a:r>
          </a:p>
        </p:txBody>
      </p:sp>
      <p:sp>
        <p:nvSpPr>
          <p:cNvPr id="80899" name="Slide Number Placeholder 3">
            <a:extLst>
              <a:ext uri="{FF2B5EF4-FFF2-40B4-BE49-F238E27FC236}">
                <a16:creationId xmlns:a16="http://schemas.microsoft.com/office/drawing/2014/main" id="{685DFF72-F954-46DD-B3D9-A17C9803F0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598875C3-C84E-46A3-844B-E538C2D3EBD3}" type="slidenum">
              <a:rPr lang="en-US" altLang="en-US"/>
              <a:pPr/>
              <a:t>37</a:t>
            </a:fld>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a:extLst>
              <a:ext uri="{FF2B5EF4-FFF2-40B4-BE49-F238E27FC236}">
                <a16:creationId xmlns:a16="http://schemas.microsoft.com/office/drawing/2014/main" id="{2306E93A-CC7E-45D0-87B6-28ABF9FF8904}"/>
              </a:ext>
            </a:extLst>
          </p:cNvPr>
          <p:cNvSpPr>
            <a:spLocks noGrp="1" noRot="1" noChangeAspect="1" noChangeArrowheads="1" noTextEdit="1"/>
          </p:cNvSpPr>
          <p:nvPr>
            <p:ph type="sldImg"/>
          </p:nvPr>
        </p:nvSpPr>
        <p:spPr>
          <a:ln/>
        </p:spPr>
      </p:sp>
      <p:sp>
        <p:nvSpPr>
          <p:cNvPr id="82946" name="Notes Placeholder 2">
            <a:extLst>
              <a:ext uri="{FF2B5EF4-FFF2-40B4-BE49-F238E27FC236}">
                <a16:creationId xmlns:a16="http://schemas.microsoft.com/office/drawing/2014/main" id="{B7D664E5-D82F-4E8F-999B-AD216B5E8C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On one hand, we want to allow users to implement an arbitrary number of threads. This is for the convenience and simplicity of multithreading programming. On the other hand, the OS kernel can only support a limited number of threads due to resource constraints. </a:t>
            </a:r>
          </a:p>
          <a:p>
            <a:r>
              <a:rPr lang="en-US" altLang="en-US"/>
              <a:t>The solution is to have two layers of abstraction. There are two types of threads, user threads and kernel threads. User threads are created and managed by users/developers, and kernel threads are created and managed by OS. Then, OS maintains the mapping from user threads to kernel threads.</a:t>
            </a:r>
          </a:p>
          <a:p>
            <a:r>
              <a:rPr lang="en-US" altLang="en-US"/>
              <a:t> </a:t>
            </a:r>
          </a:p>
          <a:p>
            <a:r>
              <a:rPr lang="en-US" altLang="en-US"/>
              <a:t>Let’s look at more details about user threads and kernel threads. User threads are supported at the user space, without the kernel support. This is to allow users to create as many threads as they want. The kernel threads are supported at the kernel level. They are slower to create and manage than user thread. Resources are allocated in kernel threads.  The kernel can schedule threads on different processors. </a:t>
            </a:r>
          </a:p>
          <a:p>
            <a:endParaRPr lang="en-US" altLang="en-US"/>
          </a:p>
        </p:txBody>
      </p:sp>
      <p:sp>
        <p:nvSpPr>
          <p:cNvPr id="82947" name="Slide Number Placeholder 3">
            <a:extLst>
              <a:ext uri="{FF2B5EF4-FFF2-40B4-BE49-F238E27FC236}">
                <a16:creationId xmlns:a16="http://schemas.microsoft.com/office/drawing/2014/main" id="{24F8B517-12BE-4A1C-B196-5FB9A36E36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DD8C0BA9-EBCD-439A-BA33-2D58C60F4159}" type="slidenum">
              <a:rPr lang="en-US" altLang="en-US"/>
              <a:pPr/>
              <a:t>38</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91F88F03-FAA7-44BC-85B0-0EF632DA1188}"/>
              </a:ext>
            </a:extLst>
          </p:cNvPr>
          <p:cNvSpPr>
            <a:spLocks noGrp="1" noRot="1" noChangeAspect="1" noChangeArrowheads="1" noTextEdit="1"/>
          </p:cNvSpPr>
          <p:nvPr>
            <p:ph type="sldImg"/>
          </p:nvPr>
        </p:nvSpPr>
        <p:spPr>
          <a:ln/>
        </p:spPr>
      </p:sp>
      <p:sp>
        <p:nvSpPr>
          <p:cNvPr id="84994" name="Notes Placeholder 2">
            <a:extLst>
              <a:ext uri="{FF2B5EF4-FFF2-40B4-BE49-F238E27FC236}">
                <a16:creationId xmlns:a16="http://schemas.microsoft.com/office/drawing/2014/main" id="{D326D064-FB73-4E86-9082-AC3EF3F031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From the user space to the kernel space, there is a mapping from the user threads to the kernel threads. We have three multithreading models: many-to-one, one-to-one, and many-to-many. </a:t>
            </a:r>
          </a:p>
          <a:p>
            <a:endParaRPr lang="en-US" altLang="en-US"/>
          </a:p>
          <a:p>
            <a:r>
              <a:rPr lang="en-US" altLang="en-US"/>
              <a:t>Note that we do not have one to many. Why? Because it does not make sense to have one user thread mapping to multiple kernel threads. It is a waste of OS resources. </a:t>
            </a:r>
          </a:p>
          <a:p>
            <a:endParaRPr lang="en-US" altLang="en-US"/>
          </a:p>
          <a:p>
            <a:endParaRPr lang="en-US" altLang="en-US"/>
          </a:p>
        </p:txBody>
      </p:sp>
      <p:sp>
        <p:nvSpPr>
          <p:cNvPr id="84995" name="Slide Number Placeholder 3">
            <a:extLst>
              <a:ext uri="{FF2B5EF4-FFF2-40B4-BE49-F238E27FC236}">
                <a16:creationId xmlns:a16="http://schemas.microsoft.com/office/drawing/2014/main" id="{7AFDCDF7-58DE-4A24-A709-6F6347B84A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1195C66F-FB5F-4CE1-AC70-FF49A25BFEAB}" type="slidenum">
              <a:rPr lang="en-US" altLang="en-US"/>
              <a:pPr/>
              <a:t>39</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a:extLst>
              <a:ext uri="{FF2B5EF4-FFF2-40B4-BE49-F238E27FC236}">
                <a16:creationId xmlns:a16="http://schemas.microsoft.com/office/drawing/2014/main" id="{9D32CF42-003E-47DC-96A5-F085CDA344CF}"/>
              </a:ext>
            </a:extLst>
          </p:cNvPr>
          <p:cNvSpPr>
            <a:spLocks noGrp="1" noRot="1" noChangeAspect="1" noChangeArrowheads="1" noTextEdit="1"/>
          </p:cNvSpPr>
          <p:nvPr>
            <p:ph type="sldImg"/>
          </p:nvPr>
        </p:nvSpPr>
        <p:spPr>
          <a:ln/>
        </p:spPr>
      </p:sp>
      <p:sp>
        <p:nvSpPr>
          <p:cNvPr id="87042" name="Notes Placeholder 2">
            <a:extLst>
              <a:ext uri="{FF2B5EF4-FFF2-40B4-BE49-F238E27FC236}">
                <a16:creationId xmlns:a16="http://schemas.microsoft.com/office/drawing/2014/main" id="{ECFD8864-4D48-46A6-9CE6-DD5075D9FB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the many-to-one model, many user-levels threads are mapped to a single kernel thread. *For those threads mapped to the same kernel thread*, they are unable to run in parallel due to the single kernel thread. That is, if a thread is stuck by a system call or I/O, the other user threads mapped to the same kernel thread are also blocked. </a:t>
            </a:r>
          </a:p>
          <a:p>
            <a:endParaRPr lang="en-US" altLang="en-US"/>
          </a:p>
        </p:txBody>
      </p:sp>
      <p:sp>
        <p:nvSpPr>
          <p:cNvPr id="87043" name="Slide Number Placeholder 3">
            <a:extLst>
              <a:ext uri="{FF2B5EF4-FFF2-40B4-BE49-F238E27FC236}">
                <a16:creationId xmlns:a16="http://schemas.microsoft.com/office/drawing/2014/main" id="{F11A43E2-3103-437F-95A3-384A88BEB1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31944BFD-AA0D-4C51-AA1D-1B56100A6E32}" type="slidenum">
              <a:rPr lang="en-US" altLang="en-US"/>
              <a:pPr/>
              <a:t>40</a:t>
            </a:fld>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a:extLst>
              <a:ext uri="{FF2B5EF4-FFF2-40B4-BE49-F238E27FC236}">
                <a16:creationId xmlns:a16="http://schemas.microsoft.com/office/drawing/2014/main" id="{9CD06B05-E38C-4D80-8182-2B3E8E8FA914}"/>
              </a:ext>
            </a:extLst>
          </p:cNvPr>
          <p:cNvSpPr>
            <a:spLocks noGrp="1" noRot="1" noChangeAspect="1" noChangeArrowheads="1" noTextEdit="1"/>
          </p:cNvSpPr>
          <p:nvPr>
            <p:ph type="sldImg"/>
          </p:nvPr>
        </p:nvSpPr>
        <p:spPr>
          <a:ln/>
        </p:spPr>
      </p:sp>
      <p:sp>
        <p:nvSpPr>
          <p:cNvPr id="78851" name="Notes Placeholder 2">
            <a:extLst>
              <a:ext uri="{FF2B5EF4-FFF2-40B4-BE49-F238E27FC236}">
                <a16:creationId xmlns:a16="http://schemas.microsoft.com/office/drawing/2014/main" id="{59A1195C-F757-4878-BFB1-A7E60906EF34}"/>
              </a:ext>
            </a:extLst>
          </p:cNvPr>
          <p:cNvSpPr>
            <a:spLocks noGrp="1"/>
          </p:cNvSpPr>
          <p:nvPr>
            <p:ph type="body" idx="1"/>
          </p:nvPr>
        </p:nvSpPr>
        <p:spPr>
          <a:ln/>
        </p:spPr>
        <p:txBody>
          <a:bodyPr/>
          <a:lstStyle/>
          <a:p>
            <a:pPr>
              <a:defRPr/>
            </a:pPr>
            <a:r>
              <a:rPr lang="en-US"/>
              <a:t>The second model is one-to-one: each user level thread maps to a kernel thread. Both Windows and Linux support one-to-one model.</a:t>
            </a:r>
          </a:p>
          <a:p>
            <a:pPr>
              <a:defRPr/>
            </a:pPr>
            <a:r>
              <a:rPr lang="en-US"/>
              <a:t>This model has the advantage of providing more concurrency than the many-to-one model. If a thread is blocked by a system call, the other threads can run.</a:t>
            </a:r>
          </a:p>
          <a:p>
            <a:pPr>
              <a:defRPr/>
            </a:pPr>
            <a:r>
              <a:rPr lang="en-US"/>
              <a:t>The disadvantage is mainly on the thread creation overhead.  </a:t>
            </a:r>
          </a:p>
          <a:p>
            <a:pPr marL="228600" indent="-228600">
              <a:buFontTx/>
              <a:buAutoNum type="arabicParenR"/>
              <a:defRPr/>
            </a:pPr>
            <a:r>
              <a:rPr lang="en-US"/>
              <a:t>Creating a user thread requires the creation of a kernel thread.</a:t>
            </a:r>
          </a:p>
          <a:p>
            <a:pPr marL="228600" indent="-228600">
              <a:buFontTx/>
              <a:buAutoNum type="arabicParenR"/>
              <a:defRPr/>
            </a:pPr>
            <a:r>
              <a:rPr lang="en-US"/>
              <a:t>If too many kernel threads are created, the system can be overloaded.</a:t>
            </a:r>
          </a:p>
          <a:p>
            <a:pPr>
              <a:defRPr/>
            </a:pPr>
            <a:endParaRPr lang="en-US"/>
          </a:p>
          <a:p>
            <a:pPr>
              <a:defRPr/>
            </a:pPr>
            <a:endParaRPr lang="en-US"/>
          </a:p>
        </p:txBody>
      </p:sp>
      <p:sp>
        <p:nvSpPr>
          <p:cNvPr id="89091" name="Slide Number Placeholder 3">
            <a:extLst>
              <a:ext uri="{FF2B5EF4-FFF2-40B4-BE49-F238E27FC236}">
                <a16:creationId xmlns:a16="http://schemas.microsoft.com/office/drawing/2014/main" id="{67FBC0E0-EB90-44E6-A4EC-52D1F1FD5F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BE3814AB-582C-4B2E-9B30-428C91E36C69}" type="slidenum">
              <a:rPr lang="en-US" altLang="en-US"/>
              <a:pPr/>
              <a:t>41</a:t>
            </a:fld>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a:extLst>
              <a:ext uri="{FF2B5EF4-FFF2-40B4-BE49-F238E27FC236}">
                <a16:creationId xmlns:a16="http://schemas.microsoft.com/office/drawing/2014/main" id="{FB4987CF-3CED-47D5-8DF4-604781E25FD4}"/>
              </a:ext>
            </a:extLst>
          </p:cNvPr>
          <p:cNvSpPr>
            <a:spLocks noGrp="1" noRot="1" noChangeAspect="1" noChangeArrowheads="1" noTextEdit="1"/>
          </p:cNvSpPr>
          <p:nvPr>
            <p:ph type="sldImg"/>
          </p:nvPr>
        </p:nvSpPr>
        <p:spPr>
          <a:ln/>
        </p:spPr>
      </p:sp>
      <p:sp>
        <p:nvSpPr>
          <p:cNvPr id="93186" name="Notes Placeholder 2">
            <a:extLst>
              <a:ext uri="{FF2B5EF4-FFF2-40B4-BE49-F238E27FC236}">
                <a16:creationId xmlns:a16="http://schemas.microsoft.com/office/drawing/2014/main" id="{F7B767F0-FFA4-4197-A2A2-2AE3F9B715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3187" name="Slide Number Placeholder 3">
            <a:extLst>
              <a:ext uri="{FF2B5EF4-FFF2-40B4-BE49-F238E27FC236}">
                <a16:creationId xmlns:a16="http://schemas.microsoft.com/office/drawing/2014/main" id="{FD2F6CB8-2932-4CF7-A17C-95976FBF93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BA8BEC80-3B35-465A-B1D9-6EEB3D263A99}"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a:extLst>
              <a:ext uri="{FF2B5EF4-FFF2-40B4-BE49-F238E27FC236}">
                <a16:creationId xmlns:a16="http://schemas.microsoft.com/office/drawing/2014/main" id="{8B780F01-3A17-4001-8DF5-36E419AFE074}"/>
              </a:ext>
            </a:extLst>
          </p:cNvPr>
          <p:cNvSpPr>
            <a:spLocks noGrp="1" noRot="1" noChangeAspect="1" noChangeArrowheads="1" noTextEdit="1"/>
          </p:cNvSpPr>
          <p:nvPr>
            <p:ph type="sldImg"/>
          </p:nvPr>
        </p:nvSpPr>
        <p:spPr>
          <a:ln/>
        </p:spPr>
      </p:sp>
      <p:sp>
        <p:nvSpPr>
          <p:cNvPr id="91138" name="Notes Placeholder 2">
            <a:extLst>
              <a:ext uri="{FF2B5EF4-FFF2-40B4-BE49-F238E27FC236}">
                <a16:creationId xmlns:a16="http://schemas.microsoft.com/office/drawing/2014/main" id="{4BF391FF-00F6-4592-BC18-79B683F923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last model is many-to-many. This model allows a more </a:t>
            </a:r>
            <a:r>
              <a:rPr lang="en-US" altLang="en-US" err="1"/>
              <a:t>flexibile</a:t>
            </a:r>
            <a:r>
              <a:rPr lang="en-US" altLang="en-US"/>
              <a:t> mapping: multiple user level threads can be mapped to multiple kernel threads.</a:t>
            </a:r>
          </a:p>
          <a:p>
            <a:r>
              <a:rPr lang="en-US" altLang="en-US"/>
              <a:t>It allows the operating system to create a sufficient number of kernel threads to utilize the processor resources. For example, the operating system can create more kernel threads on a multi-core machine. </a:t>
            </a:r>
          </a:p>
          <a:p>
            <a:r>
              <a:rPr lang="en-US" altLang="en-US"/>
              <a:t>Finally, due to the flexible mapping, the many-to-many model does not have the disadvantages of one-to-one and many-to-one models. The developer can create as many user threads as they wish, and the corresponding kernel threads are run in parallel. </a:t>
            </a:r>
          </a:p>
          <a:p>
            <a:endParaRPr lang="en-US" altLang="en-US"/>
          </a:p>
          <a:p>
            <a:r>
              <a:rPr lang="en-US" altLang="en-US"/>
              <a:t>Is there any disadvantage? Mapping complexity.</a:t>
            </a:r>
          </a:p>
          <a:p>
            <a:endParaRPr lang="en-US" altLang="en-US"/>
          </a:p>
          <a:p>
            <a:endParaRPr lang="en-US" altLang="en-US"/>
          </a:p>
        </p:txBody>
      </p:sp>
      <p:sp>
        <p:nvSpPr>
          <p:cNvPr id="91139" name="Slide Number Placeholder 3">
            <a:extLst>
              <a:ext uri="{FF2B5EF4-FFF2-40B4-BE49-F238E27FC236}">
                <a16:creationId xmlns:a16="http://schemas.microsoft.com/office/drawing/2014/main" id="{F20AC587-175F-4410-8B8E-1A6EF11102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5838">
              <a:defRPr>
                <a:solidFill>
                  <a:schemeClr val="tx1"/>
                </a:solidFill>
                <a:latin typeface="Helvetica" panose="020B0604020202020204" pitchFamily="34" charset="0"/>
              </a:defRPr>
            </a:lvl1pPr>
            <a:lvl2pPr marL="742950" indent="-285750" defTabSz="985838">
              <a:defRPr>
                <a:solidFill>
                  <a:schemeClr val="tx1"/>
                </a:solidFill>
                <a:latin typeface="Helvetica" panose="020B0604020202020204" pitchFamily="34" charset="0"/>
              </a:defRPr>
            </a:lvl2pPr>
            <a:lvl3pPr marL="1143000" indent="-228600" defTabSz="985838">
              <a:defRPr>
                <a:solidFill>
                  <a:schemeClr val="tx1"/>
                </a:solidFill>
                <a:latin typeface="Helvetica" panose="020B0604020202020204" pitchFamily="34" charset="0"/>
              </a:defRPr>
            </a:lvl3pPr>
            <a:lvl4pPr marL="1600200" indent="-228600" defTabSz="985838">
              <a:defRPr>
                <a:solidFill>
                  <a:schemeClr val="tx1"/>
                </a:solidFill>
                <a:latin typeface="Helvetica" panose="020B0604020202020204" pitchFamily="34" charset="0"/>
              </a:defRPr>
            </a:lvl4pPr>
            <a:lvl5pPr marL="2057400" indent="-228600" defTabSz="985838">
              <a:defRPr>
                <a:solidFill>
                  <a:schemeClr val="tx1"/>
                </a:solidFill>
                <a:latin typeface="Helvetica" panose="020B0604020202020204" pitchFamily="34" charset="0"/>
              </a:defRPr>
            </a:lvl5pPr>
            <a:lvl6pPr marL="2514600" indent="-228600" defTabSz="985838" eaLnBrk="0" fontAlgn="base" hangingPunct="0">
              <a:spcBef>
                <a:spcPct val="0"/>
              </a:spcBef>
              <a:spcAft>
                <a:spcPct val="0"/>
              </a:spcAft>
              <a:defRPr>
                <a:solidFill>
                  <a:schemeClr val="tx1"/>
                </a:solidFill>
                <a:latin typeface="Helvetica" panose="020B0604020202020204" pitchFamily="34" charset="0"/>
              </a:defRPr>
            </a:lvl6pPr>
            <a:lvl7pPr marL="2971800" indent="-228600" defTabSz="985838" eaLnBrk="0" fontAlgn="base" hangingPunct="0">
              <a:spcBef>
                <a:spcPct val="0"/>
              </a:spcBef>
              <a:spcAft>
                <a:spcPct val="0"/>
              </a:spcAft>
              <a:defRPr>
                <a:solidFill>
                  <a:schemeClr val="tx1"/>
                </a:solidFill>
                <a:latin typeface="Helvetica" panose="020B0604020202020204" pitchFamily="34" charset="0"/>
              </a:defRPr>
            </a:lvl7pPr>
            <a:lvl8pPr marL="3429000" indent="-228600" defTabSz="985838" eaLnBrk="0" fontAlgn="base" hangingPunct="0">
              <a:spcBef>
                <a:spcPct val="0"/>
              </a:spcBef>
              <a:spcAft>
                <a:spcPct val="0"/>
              </a:spcAft>
              <a:defRPr>
                <a:solidFill>
                  <a:schemeClr val="tx1"/>
                </a:solidFill>
                <a:latin typeface="Helvetica" panose="020B0604020202020204" pitchFamily="34" charset="0"/>
              </a:defRPr>
            </a:lvl8pPr>
            <a:lvl9pPr marL="3886200" indent="-228600" defTabSz="985838" eaLnBrk="0" fontAlgn="base" hangingPunct="0">
              <a:spcBef>
                <a:spcPct val="0"/>
              </a:spcBef>
              <a:spcAft>
                <a:spcPct val="0"/>
              </a:spcAft>
              <a:defRPr>
                <a:solidFill>
                  <a:schemeClr val="tx1"/>
                </a:solidFill>
                <a:latin typeface="Helvetica" panose="020B0604020202020204" pitchFamily="34" charset="0"/>
              </a:defRPr>
            </a:lvl9pPr>
          </a:lstStyle>
          <a:p>
            <a:fld id="{F7790151-3C82-4820-A900-C9166A96534F}" type="slidenum">
              <a:rPr lang="en-US" altLang="en-US"/>
              <a:pPr/>
              <a:t>43</a:t>
            </a:fld>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a:extLst>
              <a:ext uri="{FF2B5EF4-FFF2-40B4-BE49-F238E27FC236}">
                <a16:creationId xmlns:a16="http://schemas.microsoft.com/office/drawing/2014/main" id="{EAB9E98E-0DEA-4362-A592-5FC5A98FFDDB}"/>
              </a:ext>
            </a:extLst>
          </p:cNvPr>
          <p:cNvSpPr>
            <a:spLocks noGrp="1" noRot="1" noChangeAspect="1" noChangeArrowheads="1" noTextEdit="1"/>
          </p:cNvSpPr>
          <p:nvPr>
            <p:ph type="sldImg"/>
          </p:nvPr>
        </p:nvSpPr>
        <p:spPr>
          <a:ln/>
        </p:spPr>
      </p:sp>
      <p:sp>
        <p:nvSpPr>
          <p:cNvPr id="95234" name="Notes Placeholder 2">
            <a:extLst>
              <a:ext uri="{FF2B5EF4-FFF2-40B4-BE49-F238E27FC236}">
                <a16:creationId xmlns:a16="http://schemas.microsoft.com/office/drawing/2014/main" id="{B457E059-AC5E-4643-9BC8-E95F2CCC4B4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Those are advanced readings, if you want to know more beyond the text book.</a:t>
            </a:r>
          </a:p>
          <a:p>
            <a:endParaRPr lang="en-US" altLang="en-US"/>
          </a:p>
        </p:txBody>
      </p:sp>
      <p:sp>
        <p:nvSpPr>
          <p:cNvPr id="95235" name="Slide Number Placeholder 3">
            <a:extLst>
              <a:ext uri="{FF2B5EF4-FFF2-40B4-BE49-F238E27FC236}">
                <a16:creationId xmlns:a16="http://schemas.microsoft.com/office/drawing/2014/main" id="{1DA4FDC3-02F0-4761-B820-402F197FB9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8375">
              <a:defRPr>
                <a:solidFill>
                  <a:schemeClr val="tx1"/>
                </a:solidFill>
                <a:latin typeface="Helvetica" panose="020B0604020202020204" pitchFamily="34" charset="0"/>
              </a:defRPr>
            </a:lvl1pPr>
            <a:lvl2pPr marL="742950" indent="-285750" defTabSz="968375">
              <a:defRPr>
                <a:solidFill>
                  <a:schemeClr val="tx1"/>
                </a:solidFill>
                <a:latin typeface="Helvetica" panose="020B0604020202020204" pitchFamily="34" charset="0"/>
              </a:defRPr>
            </a:lvl2pPr>
            <a:lvl3pPr marL="1143000" indent="-228600" defTabSz="968375">
              <a:defRPr>
                <a:solidFill>
                  <a:schemeClr val="tx1"/>
                </a:solidFill>
                <a:latin typeface="Helvetica" panose="020B0604020202020204" pitchFamily="34" charset="0"/>
              </a:defRPr>
            </a:lvl3pPr>
            <a:lvl4pPr marL="1600200" indent="-228600" defTabSz="968375">
              <a:defRPr>
                <a:solidFill>
                  <a:schemeClr val="tx1"/>
                </a:solidFill>
                <a:latin typeface="Helvetica" panose="020B0604020202020204" pitchFamily="34" charset="0"/>
              </a:defRPr>
            </a:lvl4pPr>
            <a:lvl5pPr marL="2057400" indent="-228600" defTabSz="968375">
              <a:defRPr>
                <a:solidFill>
                  <a:schemeClr val="tx1"/>
                </a:solidFill>
                <a:latin typeface="Helvetica" panose="020B0604020202020204" pitchFamily="34" charset="0"/>
              </a:defRPr>
            </a:lvl5pPr>
            <a:lvl6pPr marL="2514600" indent="-228600" defTabSz="9683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683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683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68375" eaLnBrk="0" fontAlgn="base" hangingPunct="0">
              <a:spcBef>
                <a:spcPct val="0"/>
              </a:spcBef>
              <a:spcAft>
                <a:spcPct val="0"/>
              </a:spcAft>
              <a:defRPr>
                <a:solidFill>
                  <a:schemeClr val="tx1"/>
                </a:solidFill>
                <a:latin typeface="Helvetica" panose="020B0604020202020204" pitchFamily="34" charset="0"/>
              </a:defRPr>
            </a:lvl9pPr>
          </a:lstStyle>
          <a:p>
            <a:fld id="{05323552-8F9F-4C23-8CDB-B86F52B5BE9E}"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46A73-0248-4B58-ADAE-54023E34BCCB}" type="slidenum">
              <a:rPr lang="en-US" altLang="en-US" smtClean="0"/>
              <a:pPr/>
              <a:t>46</a:t>
            </a:fld>
            <a:endParaRPr lang="en-US" altLang="en-US"/>
          </a:p>
        </p:txBody>
      </p:sp>
    </p:spTree>
    <p:extLst>
      <p:ext uri="{BB962C8B-B14F-4D97-AF65-F5344CB8AC3E}">
        <p14:creationId xmlns:p14="http://schemas.microsoft.com/office/powerpoint/2010/main" val="1779265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2B4DBF3A-2759-441A-B372-386DDDBAC03A}"/>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88452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7638832-932A-48E1-84B4-B5C04508252B}"/>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429155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33902EBD-CA23-43FF-B39C-88E2A421ACEC}"/>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77134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C77F2AD0-A926-4063-A2A0-E4C496D6B68A}"/>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730718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BCCDF6D5-0C4A-476A-BCBF-82C27D2F44EA}"/>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587805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355C13A3-6DE3-46E8-B956-E50BA4096C07}"/>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979093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AE831BC-BC2D-48A0-8653-89AA44B13FB9}"/>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4335887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D1B77971-98B7-4BCA-A389-D9ED0BC42A1C}"/>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208959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437A0DC4-7085-4C3A-A2F6-7CC57DF515B8}"/>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1409127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51AB8CE-1A52-4687-9893-799D4FEA478B}"/>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3132426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34E2DDD-429D-4E37-9AAB-3A135C9A76F1}"/>
              </a:ext>
            </a:extLst>
          </p:cNvPr>
          <p:cNvSpPr>
            <a:spLocks noGrp="1" noChangeArrowheads="1"/>
          </p:cNvSpPr>
          <p:nvPr>
            <p:ph type="ftr" sz="quarter" idx="10"/>
          </p:nvPr>
        </p:nvSpPr>
        <p:spPr>
          <a:ln/>
        </p:spPr>
        <p:txBody>
          <a:bodyPr/>
          <a:lstStyle>
            <a:lvl1pPr>
              <a:defRPr/>
            </a:lvl1pPr>
          </a:lstStyle>
          <a:p>
            <a:pPr>
              <a:defRPr/>
            </a:pPr>
            <a:r>
              <a:rPr lang="en-US"/>
              <a:t>Operating Systems</a:t>
            </a:r>
          </a:p>
          <a:p>
            <a:pPr>
              <a:defRPr/>
            </a:pPr>
            <a:endParaRPr lang="en-US"/>
          </a:p>
        </p:txBody>
      </p:sp>
    </p:spTree>
    <p:extLst>
      <p:ext uri="{BB962C8B-B14F-4D97-AF65-F5344CB8AC3E}">
        <p14:creationId xmlns:p14="http://schemas.microsoft.com/office/powerpoint/2010/main" val="46057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0902DA1C-8933-4D79-97F7-F323E6CA6AD1}"/>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a:solidFill>
                  <a:schemeClr val="tx1"/>
                </a:solidFill>
                <a:latin typeface="Helvetica" pitchFamily="2" charset="0"/>
              </a:defRPr>
            </a:lvl1pPr>
            <a:lvl2pPr marL="742950" indent="-285750">
              <a:defRPr>
                <a:solidFill>
                  <a:schemeClr val="tx1"/>
                </a:solidFill>
                <a:latin typeface="Helvetica" pitchFamily="2" charset="0"/>
              </a:defRPr>
            </a:lvl2pPr>
            <a:lvl3pPr marL="1143000" indent="-228600">
              <a:defRPr>
                <a:solidFill>
                  <a:schemeClr val="tx1"/>
                </a:solidFill>
                <a:latin typeface="Helvetica" pitchFamily="2" charset="0"/>
              </a:defRPr>
            </a:lvl3pPr>
            <a:lvl4pPr marL="1600200" indent="-228600">
              <a:defRPr>
                <a:solidFill>
                  <a:schemeClr val="tx1"/>
                </a:solidFill>
                <a:latin typeface="Helvetica" pitchFamily="2" charset="0"/>
              </a:defRPr>
            </a:lvl4pPr>
            <a:lvl5pPr marL="2057400" indent="-228600">
              <a:defRPr>
                <a:solidFill>
                  <a:schemeClr val="tx1"/>
                </a:solidFill>
                <a:latin typeface="Helvetica" pitchFamily="2" charset="0"/>
              </a:defRPr>
            </a:lvl5pPr>
            <a:lvl6pPr marL="2514600" indent="-228600" eaLnBrk="0" fontAlgn="base" hangingPunct="0">
              <a:spcBef>
                <a:spcPct val="0"/>
              </a:spcBef>
              <a:spcAft>
                <a:spcPct val="0"/>
              </a:spcAft>
              <a:defRPr>
                <a:solidFill>
                  <a:schemeClr val="tx1"/>
                </a:solidFill>
                <a:latin typeface="Helvetica" pitchFamily="2" charset="0"/>
              </a:defRPr>
            </a:lvl6pPr>
            <a:lvl7pPr marL="2971800" indent="-228600" eaLnBrk="0" fontAlgn="base" hangingPunct="0">
              <a:spcBef>
                <a:spcPct val="0"/>
              </a:spcBef>
              <a:spcAft>
                <a:spcPct val="0"/>
              </a:spcAft>
              <a:defRPr>
                <a:solidFill>
                  <a:schemeClr val="tx1"/>
                </a:solidFill>
                <a:latin typeface="Helvetica" pitchFamily="2" charset="0"/>
              </a:defRPr>
            </a:lvl7pPr>
            <a:lvl8pPr marL="3429000" indent="-228600" eaLnBrk="0" fontAlgn="base" hangingPunct="0">
              <a:spcBef>
                <a:spcPct val="0"/>
              </a:spcBef>
              <a:spcAft>
                <a:spcPct val="0"/>
              </a:spcAft>
              <a:defRPr>
                <a:solidFill>
                  <a:schemeClr val="tx1"/>
                </a:solidFill>
                <a:latin typeface="Helvetica" pitchFamily="2" charset="0"/>
              </a:defRPr>
            </a:lvl8pPr>
            <a:lvl9pPr marL="3886200" indent="-228600" eaLnBrk="0" fontAlgn="base" hangingPunct="0">
              <a:spcBef>
                <a:spcPct val="0"/>
              </a:spcBef>
              <a:spcAft>
                <a:spcPct val="0"/>
              </a:spcAft>
              <a:defRPr>
                <a:solidFill>
                  <a:schemeClr val="tx1"/>
                </a:solidFill>
                <a:latin typeface="Helvetica" pitchFamily="2" charset="0"/>
              </a:defRPr>
            </a:lvl9pPr>
          </a:lstStyle>
          <a:p>
            <a:pPr algn="ctr">
              <a:defRPr/>
            </a:pPr>
            <a:endParaRPr lang="en-US" altLang="en-US"/>
          </a:p>
        </p:txBody>
      </p:sp>
      <p:sp>
        <p:nvSpPr>
          <p:cNvPr id="1027" name="Rectangle 2">
            <a:extLst>
              <a:ext uri="{FF2B5EF4-FFF2-40B4-BE49-F238E27FC236}">
                <a16:creationId xmlns:a16="http://schemas.microsoft.com/office/drawing/2014/main" id="{A2D7621E-1E95-4093-AEA7-83EDFD2789EA}"/>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BACE96C9-DF24-4E06-ABE3-C8D87C98A66E}"/>
              </a:ext>
            </a:extLst>
          </p:cNvPr>
          <p:cNvSpPr>
            <a:spLocks noGrp="1" noChangeArrowheads="1"/>
          </p:cNvSpPr>
          <p:nvPr>
            <p:ph type="body" idx="1"/>
          </p:nvPr>
        </p:nvSpPr>
        <p:spPr bwMode="auto">
          <a:xfrm>
            <a:off x="1047750" y="1724025"/>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1253C365-E106-4ADF-BF77-300A0003F1FA}"/>
              </a:ext>
            </a:extLst>
          </p:cNvPr>
          <p:cNvSpPr>
            <a:spLocks noGrp="1" noChangeArrowheads="1"/>
          </p:cNvSpPr>
          <p:nvPr>
            <p:ph type="ftr" sz="quarter" idx="3"/>
          </p:nvPr>
        </p:nvSpPr>
        <p:spPr bwMode="auto">
          <a:xfrm>
            <a:off x="0" y="6537325"/>
            <a:ext cx="3657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Operating Systems</a:t>
            </a:r>
          </a:p>
          <a:p>
            <a:pPr>
              <a:defRPr/>
            </a:pPr>
            <a:endParaRPr lang="en-US"/>
          </a:p>
        </p:txBody>
      </p:sp>
      <p:sp>
        <p:nvSpPr>
          <p:cNvPr id="1030" name="Rectangle 8">
            <a:extLst>
              <a:ext uri="{FF2B5EF4-FFF2-40B4-BE49-F238E27FC236}">
                <a16:creationId xmlns:a16="http://schemas.microsoft.com/office/drawing/2014/main" id="{690047C0-A097-403A-BFB4-C4FB01B55D75}"/>
              </a:ext>
            </a:extLst>
          </p:cNvPr>
          <p:cNvSpPr>
            <a:spLocks noChangeArrowheads="1"/>
          </p:cNvSpPr>
          <p:nvPr/>
        </p:nvSpPr>
        <p:spPr bwMode="auto">
          <a:xfrm>
            <a:off x="6248400" y="6537325"/>
            <a:ext cx="2895600" cy="320675"/>
          </a:xfrm>
          <a:prstGeom prst="rect">
            <a:avLst/>
          </a:prstGeom>
          <a:noFill/>
          <a:ln>
            <a:noFill/>
          </a:ln>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r>
              <a:rPr lang="en-US" altLang="en-US" sz="1000"/>
              <a:t>Part 2 Processes and Threads</a:t>
            </a:r>
            <a:endParaRPr lang="en-US" altLang="en-US" sz="1400">
              <a:latin typeface="Times New Roman" pitchFamily="18" charset="0"/>
            </a:endParaRPr>
          </a:p>
        </p:txBody>
      </p:sp>
      <p:sp>
        <p:nvSpPr>
          <p:cNvPr id="1031" name="AutoShape 9">
            <a:extLst>
              <a:ext uri="{FF2B5EF4-FFF2-40B4-BE49-F238E27FC236}">
                <a16:creationId xmlns:a16="http://schemas.microsoft.com/office/drawing/2014/main" id="{E186388F-036F-4398-9051-A18A6D139CF8}"/>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endParaRPr lang="en-US" altLang="en-US"/>
          </a:p>
        </p:txBody>
      </p:sp>
      <p:sp>
        <p:nvSpPr>
          <p:cNvPr id="1032" name="Text Box 11">
            <a:extLst>
              <a:ext uri="{FF2B5EF4-FFF2-40B4-BE49-F238E27FC236}">
                <a16:creationId xmlns:a16="http://schemas.microsoft.com/office/drawing/2014/main" id="{402689FD-6B89-4945-A071-02800CA51DE7}"/>
              </a:ext>
            </a:extLst>
          </p:cNvPr>
          <p:cNvSpPr txBox="1">
            <a:spLocks noChangeArrowheads="1"/>
          </p:cNvSpPr>
          <p:nvPr/>
        </p:nvSpPr>
        <p:spPr bwMode="auto">
          <a:xfrm>
            <a:off x="3852863" y="6445250"/>
            <a:ext cx="817562" cy="460375"/>
          </a:xfrm>
          <a:prstGeom prst="rect">
            <a:avLst/>
          </a:prstGeom>
          <a:noFill/>
          <a:ln>
            <a:noFill/>
          </a:ln>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2400"/>
              <a:t>2.</a:t>
            </a:r>
            <a:fld id="{B44ADBF1-A10E-4495-BF26-1EC12DC094DA}" type="slidenum">
              <a:rPr lang="en-US" altLang="en-US" sz="2400"/>
              <a:pPr algn="ctr">
                <a:spcBef>
                  <a:spcPct val="50000"/>
                </a:spcBef>
              </a:pPr>
              <a:t>‹#›</a:t>
            </a:fld>
            <a:endParaRPr lang="en-US"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1/relationships/webextension" Target="../webextensions/webextension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1/relationships/webextension" Target="../webextensions/webextension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beej.us/guide/bgipc/"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granulate.io/blog/deep-dive-into-golang-performance/" TargetMode="External"/><Relationship Id="rId5" Type="http://schemas.openxmlformats.org/officeDocument/2006/relationships/hyperlink" Target="http://msdn.microsoft.com/en-us/library/windows/desktop/ms684847(v=vs.85).aspx" TargetMode="External"/><Relationship Id="rId4" Type="http://schemas.openxmlformats.org/officeDocument/2006/relationships/hyperlink" Target="http://randu.org/tutorials/threads/" TargetMode="External"/></Relationships>
</file>

<file path=ppt/slides/_rels/slide46.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1/relationships/webextension" Target="../webextensions/webextension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319B6595-77A0-42B1-8ABA-C0686506C9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5362" name="Rectangle 2">
            <a:extLst>
              <a:ext uri="{FF2B5EF4-FFF2-40B4-BE49-F238E27FC236}">
                <a16:creationId xmlns:a16="http://schemas.microsoft.com/office/drawing/2014/main" id="{A59BC198-1456-4F4E-B859-5E97A124FC09}"/>
              </a:ext>
            </a:extLst>
          </p:cNvPr>
          <p:cNvSpPr>
            <a:spLocks noGrp="1" noChangeArrowheads="1"/>
          </p:cNvSpPr>
          <p:nvPr>
            <p:ph type="title"/>
          </p:nvPr>
        </p:nvSpPr>
        <p:spPr/>
        <p:txBody>
          <a:bodyPr/>
          <a:lstStyle/>
          <a:p>
            <a:r>
              <a:rPr lang="en-US" altLang="en-US"/>
              <a:t>Part 2:  Processes and Threads</a:t>
            </a:r>
          </a:p>
        </p:txBody>
      </p:sp>
      <p:sp>
        <p:nvSpPr>
          <p:cNvPr id="15363" name="Rectangle 3">
            <a:extLst>
              <a:ext uri="{FF2B5EF4-FFF2-40B4-BE49-F238E27FC236}">
                <a16:creationId xmlns:a16="http://schemas.microsoft.com/office/drawing/2014/main" id="{42C5FF11-3F78-47EB-86EB-28E9227D207B}"/>
              </a:ext>
            </a:extLst>
          </p:cNvPr>
          <p:cNvSpPr>
            <a:spLocks noGrp="1" noChangeArrowheads="1"/>
          </p:cNvSpPr>
          <p:nvPr>
            <p:ph type="body" idx="1"/>
          </p:nvPr>
        </p:nvSpPr>
        <p:spPr/>
        <p:txBody>
          <a:bodyPr/>
          <a:lstStyle/>
          <a:p>
            <a:r>
              <a:rPr lang="en-US" altLang="en-US" sz="2800" b="1"/>
              <a:t>Process Concept</a:t>
            </a:r>
          </a:p>
          <a:p>
            <a:r>
              <a:rPr lang="en-US" altLang="en-US" sz="2800"/>
              <a:t>Process Scheduling</a:t>
            </a:r>
          </a:p>
          <a:p>
            <a:r>
              <a:rPr lang="en-US" altLang="en-US" sz="2800"/>
              <a:t>Operation on Processes</a:t>
            </a:r>
          </a:p>
          <a:p>
            <a:r>
              <a:rPr lang="en-US" altLang="en-US" sz="2800"/>
              <a:t>Interprocess Communication</a:t>
            </a:r>
          </a:p>
          <a:p>
            <a:r>
              <a:rPr lang="en-US" altLang="en-US" sz="2800"/>
              <a:t>Threads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62B042B4-049F-4E01-8A19-FB613158D13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36B5C5D5-17A2-4F38-9075-08C69F259A21}"/>
              </a:ext>
            </a:extLst>
          </p:cNvPr>
          <p:cNvSpPr>
            <a:spLocks noGrp="1" noChangeArrowheads="1"/>
          </p:cNvSpPr>
          <p:nvPr>
            <p:ph type="title"/>
          </p:nvPr>
        </p:nvSpPr>
        <p:spPr/>
        <p:txBody>
          <a:bodyPr/>
          <a:lstStyle/>
          <a:p>
            <a:r>
              <a:rPr lang="en-US" altLang="en-US"/>
              <a:t>Process Concept</a:t>
            </a:r>
          </a:p>
        </p:txBody>
      </p:sp>
      <p:sp>
        <p:nvSpPr>
          <p:cNvPr id="3076" name="Rectangle 3">
            <a:extLst>
              <a:ext uri="{FF2B5EF4-FFF2-40B4-BE49-F238E27FC236}">
                <a16:creationId xmlns:a16="http://schemas.microsoft.com/office/drawing/2014/main" id="{61F10496-8D39-49F1-B1A3-C19EB4899C99}"/>
              </a:ext>
            </a:extLst>
          </p:cNvPr>
          <p:cNvSpPr>
            <a:spLocks noGrp="1" noChangeArrowheads="1"/>
          </p:cNvSpPr>
          <p:nvPr>
            <p:ph type="body" idx="1"/>
          </p:nvPr>
        </p:nvSpPr>
        <p:spPr>
          <a:xfrm>
            <a:off x="492125" y="1336675"/>
            <a:ext cx="8075613" cy="5030788"/>
          </a:xfrm>
        </p:spPr>
        <p:txBody>
          <a:bodyPr/>
          <a:lstStyle/>
          <a:p>
            <a:r>
              <a:rPr lang="en-US" altLang="en-US" sz="2600">
                <a:solidFill>
                  <a:srgbClr val="FF0000"/>
                </a:solidFill>
              </a:rPr>
              <a:t>Process:</a:t>
            </a:r>
            <a:r>
              <a:rPr lang="en-US" altLang="en-US" sz="2600"/>
              <a:t> </a:t>
            </a:r>
            <a:r>
              <a:rPr lang="en-US" altLang="en-US" sz="2600" b="1"/>
              <a:t>A program in execution</a:t>
            </a:r>
            <a:r>
              <a:rPr lang="en-US" altLang="en-US" sz="2600"/>
              <a:t>; process execution must progress in a sequential fashion</a:t>
            </a:r>
          </a:p>
          <a:p>
            <a:pPr lvl="4"/>
            <a:endParaRPr lang="en-US" altLang="en-US" sz="2000"/>
          </a:p>
          <a:p>
            <a:r>
              <a:rPr lang="en-US" altLang="en-US" sz="2600"/>
              <a:t>An operating system executes a variety of processes</a:t>
            </a:r>
          </a:p>
          <a:p>
            <a:pPr lvl="1"/>
            <a:r>
              <a:rPr lang="en-US" altLang="en-US" sz="2400"/>
              <a:t>Batch system – jobs</a:t>
            </a:r>
          </a:p>
          <a:p>
            <a:pPr lvl="1"/>
            <a:r>
              <a:rPr lang="en-US" altLang="en-US" sz="2400"/>
              <a:t>Time-sharing system – user programs &amp; commands</a:t>
            </a:r>
          </a:p>
          <a:p>
            <a:pPr lvl="4"/>
            <a:endParaRPr lang="en-US" altLang="en-US"/>
          </a:p>
          <a:p>
            <a:r>
              <a:rPr lang="en-US" altLang="en-US" sz="2600"/>
              <a:t>Textbook uses the terms </a:t>
            </a:r>
            <a:r>
              <a:rPr lang="en-US" altLang="en-US" sz="2600" i="1"/>
              <a:t>job</a:t>
            </a:r>
            <a:r>
              <a:rPr lang="en-US" altLang="en-US" sz="2600"/>
              <a:t> and </a:t>
            </a:r>
            <a:r>
              <a:rPr lang="en-US" altLang="en-US" sz="2600" i="1"/>
              <a:t>process</a:t>
            </a:r>
            <a:r>
              <a:rPr lang="en-US" altLang="en-US" sz="2600"/>
              <a:t> almost interchangeably (</a:t>
            </a:r>
            <a:r>
              <a:rPr lang="en-US" altLang="en-US" sz="2600">
                <a:solidFill>
                  <a:schemeClr val="accent2"/>
                </a:solidFill>
              </a:rPr>
              <a:t>Job = Process</a:t>
            </a:r>
            <a:r>
              <a:rPr lang="en-US" altLang="en-US" sz="2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3">
            <a:extLst>
              <a:ext uri="{FF2B5EF4-FFF2-40B4-BE49-F238E27FC236}">
                <a16:creationId xmlns:a16="http://schemas.microsoft.com/office/drawing/2014/main" id="{0455C285-4295-4973-B89D-8FD495DECD9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9458" name="Rectangle 2">
            <a:extLst>
              <a:ext uri="{FF2B5EF4-FFF2-40B4-BE49-F238E27FC236}">
                <a16:creationId xmlns:a16="http://schemas.microsoft.com/office/drawing/2014/main" id="{F705B0E1-8D4D-417F-92EF-9DD92CC270F1}"/>
              </a:ext>
            </a:extLst>
          </p:cNvPr>
          <p:cNvSpPr>
            <a:spLocks noGrp="1" noChangeArrowheads="1"/>
          </p:cNvSpPr>
          <p:nvPr>
            <p:ph type="title"/>
          </p:nvPr>
        </p:nvSpPr>
        <p:spPr/>
        <p:txBody>
          <a:bodyPr/>
          <a:lstStyle/>
          <a:p>
            <a:r>
              <a:rPr lang="en-GB" altLang="en-US"/>
              <a:t>Process in Memory</a:t>
            </a:r>
          </a:p>
        </p:txBody>
      </p:sp>
      <p:sp>
        <p:nvSpPr>
          <p:cNvPr id="19459" name="TextBox 12">
            <a:extLst>
              <a:ext uri="{FF2B5EF4-FFF2-40B4-BE49-F238E27FC236}">
                <a16:creationId xmlns:a16="http://schemas.microsoft.com/office/drawing/2014/main" id="{F4580896-5287-4A2B-8DCE-840435B8A9B1}"/>
              </a:ext>
            </a:extLst>
          </p:cNvPr>
          <p:cNvSpPr txBox="1">
            <a:spLocks noChangeArrowheads="1"/>
          </p:cNvSpPr>
          <p:nvPr/>
        </p:nvSpPr>
        <p:spPr bwMode="auto">
          <a:xfrm>
            <a:off x="2171700" y="5711825"/>
            <a:ext cx="711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Base</a:t>
            </a:r>
          </a:p>
        </p:txBody>
      </p:sp>
      <p:pic>
        <p:nvPicPr>
          <p:cNvPr id="4101" name="Picture 5">
            <a:extLst>
              <a:ext uri="{FF2B5EF4-FFF2-40B4-BE49-F238E27FC236}">
                <a16:creationId xmlns:a16="http://schemas.microsoft.com/office/drawing/2014/main" id="{A330E217-81B1-451D-A12D-2F10E87BEF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4175" y="1457325"/>
            <a:ext cx="2228850" cy="4438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19461" name="TextBox 25">
            <a:extLst>
              <a:ext uri="{FF2B5EF4-FFF2-40B4-BE49-F238E27FC236}">
                <a16:creationId xmlns:a16="http://schemas.microsoft.com/office/drawing/2014/main" id="{36C83CDD-7D12-414C-8905-AA50B15E538F}"/>
              </a:ext>
            </a:extLst>
          </p:cNvPr>
          <p:cNvSpPr txBox="1">
            <a:spLocks noChangeArrowheads="1"/>
          </p:cNvSpPr>
          <p:nvPr/>
        </p:nvSpPr>
        <p:spPr bwMode="auto">
          <a:xfrm>
            <a:off x="1066800" y="1466850"/>
            <a:ext cx="2190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Base + Limit</a:t>
            </a:r>
          </a:p>
        </p:txBody>
      </p:sp>
      <p:sp>
        <p:nvSpPr>
          <p:cNvPr id="4103" name="TextBox 22">
            <a:extLst>
              <a:ext uri="{FF2B5EF4-FFF2-40B4-BE49-F238E27FC236}">
                <a16:creationId xmlns:a16="http://schemas.microsoft.com/office/drawing/2014/main" id="{F5611030-40BC-4348-9929-AE1E1FCB0903}"/>
              </a:ext>
            </a:extLst>
          </p:cNvPr>
          <p:cNvSpPr txBox="1">
            <a:spLocks noChangeArrowheads="1"/>
          </p:cNvSpPr>
          <p:nvPr/>
        </p:nvSpPr>
        <p:spPr bwMode="auto">
          <a:xfrm>
            <a:off x="5043488" y="5354638"/>
            <a:ext cx="2620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(code section, program)</a:t>
            </a:r>
          </a:p>
        </p:txBody>
      </p:sp>
      <p:sp>
        <p:nvSpPr>
          <p:cNvPr id="4104" name="TextBox 28">
            <a:extLst>
              <a:ext uri="{FF2B5EF4-FFF2-40B4-BE49-F238E27FC236}">
                <a16:creationId xmlns:a16="http://schemas.microsoft.com/office/drawing/2014/main" id="{2E550D8D-B975-42AF-B4F0-6AF209C524A2}"/>
              </a:ext>
            </a:extLst>
          </p:cNvPr>
          <p:cNvSpPr txBox="1">
            <a:spLocks noChangeArrowheads="1"/>
          </p:cNvSpPr>
          <p:nvPr/>
        </p:nvSpPr>
        <p:spPr bwMode="auto">
          <a:xfrm>
            <a:off x="5053013" y="4710113"/>
            <a:ext cx="21859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(global parameters)</a:t>
            </a:r>
          </a:p>
        </p:txBody>
      </p:sp>
      <p:sp>
        <p:nvSpPr>
          <p:cNvPr id="4105" name="TextBox 29">
            <a:extLst>
              <a:ext uri="{FF2B5EF4-FFF2-40B4-BE49-F238E27FC236}">
                <a16:creationId xmlns:a16="http://schemas.microsoft.com/office/drawing/2014/main" id="{AD8D8DCF-F7C4-472E-BF6A-7C2A070074E0}"/>
              </a:ext>
            </a:extLst>
          </p:cNvPr>
          <p:cNvSpPr txBox="1">
            <a:spLocks noChangeArrowheads="1"/>
          </p:cNvSpPr>
          <p:nvPr/>
        </p:nvSpPr>
        <p:spPr bwMode="auto">
          <a:xfrm>
            <a:off x="5049838" y="3886200"/>
            <a:ext cx="3865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(all dynamically allocated variables, </a:t>
            </a:r>
          </a:p>
          <a:p>
            <a:pPr algn="ctr">
              <a:spcBef>
                <a:spcPct val="0"/>
              </a:spcBef>
              <a:buSzTx/>
              <a:buFontTx/>
              <a:buNone/>
            </a:pPr>
            <a:r>
              <a:rPr lang="en-US" altLang="en-US"/>
              <a:t>e.g., a=new int[10])</a:t>
            </a:r>
          </a:p>
        </p:txBody>
      </p:sp>
      <p:sp>
        <p:nvSpPr>
          <p:cNvPr id="4106" name="TextBox 30">
            <a:extLst>
              <a:ext uri="{FF2B5EF4-FFF2-40B4-BE49-F238E27FC236}">
                <a16:creationId xmlns:a16="http://schemas.microsoft.com/office/drawing/2014/main" id="{0F08DD90-04B7-4420-A368-08CE61A3F138}"/>
              </a:ext>
            </a:extLst>
          </p:cNvPr>
          <p:cNvSpPr txBox="1">
            <a:spLocks noChangeArrowheads="1"/>
          </p:cNvSpPr>
          <p:nvPr/>
        </p:nvSpPr>
        <p:spPr bwMode="auto">
          <a:xfrm>
            <a:off x="4708525" y="1563688"/>
            <a:ext cx="41957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(parameters and local variables </a:t>
            </a:r>
          </a:p>
          <a:p>
            <a:pPr algn="ctr">
              <a:spcBef>
                <a:spcPct val="0"/>
              </a:spcBef>
              <a:buSzTx/>
              <a:buFontTx/>
              <a:buNone/>
            </a:pPr>
            <a:r>
              <a:rPr lang="en-US" altLang="en-US"/>
              <a:t>in a function)</a:t>
            </a:r>
          </a:p>
        </p:txBody>
      </p:sp>
      <p:sp>
        <p:nvSpPr>
          <p:cNvPr id="19466" name="TextBox 1">
            <a:extLst>
              <a:ext uri="{FF2B5EF4-FFF2-40B4-BE49-F238E27FC236}">
                <a16:creationId xmlns:a16="http://schemas.microsoft.com/office/drawing/2014/main" id="{89A3F2A9-71F5-4D0B-831E-4098053D4F54}"/>
              </a:ext>
            </a:extLst>
          </p:cNvPr>
          <p:cNvSpPr txBox="1">
            <a:spLocks noChangeArrowheads="1"/>
          </p:cNvSpPr>
          <p:nvPr/>
        </p:nvSpPr>
        <p:spPr bwMode="auto">
          <a:xfrm>
            <a:off x="412750" y="2938463"/>
            <a:ext cx="20256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rPr>
              <a:t>Recall base and limit registers from memory protection?</a:t>
            </a:r>
          </a:p>
        </p:txBody>
      </p:sp>
      <p:cxnSp>
        <p:nvCxnSpPr>
          <p:cNvPr id="19467" name="Straight Arrow Connector 3">
            <a:extLst>
              <a:ext uri="{FF2B5EF4-FFF2-40B4-BE49-F238E27FC236}">
                <a16:creationId xmlns:a16="http://schemas.microsoft.com/office/drawing/2014/main" id="{3BF6380A-860E-4B2B-BD8B-E25D6ADFA8AE}"/>
              </a:ext>
            </a:extLst>
          </p:cNvPr>
          <p:cNvCxnSpPr>
            <a:cxnSpLocks noChangeShapeType="1"/>
            <a:stCxn id="19466" idx="0"/>
            <a:endCxn id="19461" idx="2"/>
          </p:cNvCxnSpPr>
          <p:nvPr/>
        </p:nvCxnSpPr>
        <p:spPr bwMode="auto">
          <a:xfrm flipV="1">
            <a:off x="1425575" y="1836738"/>
            <a:ext cx="736600" cy="11017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468" name="Straight Arrow Connector 14">
            <a:extLst>
              <a:ext uri="{FF2B5EF4-FFF2-40B4-BE49-F238E27FC236}">
                <a16:creationId xmlns:a16="http://schemas.microsoft.com/office/drawing/2014/main" id="{3D3A624C-1036-4CDB-BB6D-F0BC7B2A0138}"/>
              </a:ext>
            </a:extLst>
          </p:cNvPr>
          <p:cNvCxnSpPr>
            <a:cxnSpLocks noChangeShapeType="1"/>
            <a:stCxn id="19466" idx="2"/>
            <a:endCxn id="19459" idx="0"/>
          </p:cNvCxnSpPr>
          <p:nvPr/>
        </p:nvCxnSpPr>
        <p:spPr bwMode="auto">
          <a:xfrm>
            <a:off x="1425575" y="4876800"/>
            <a:ext cx="1101725" cy="83502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p:bldP spid="4104" grpId="0"/>
      <p:bldP spid="4105" grpId="0"/>
      <p:bldP spid="410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F8C1B-E4BD-655A-ECDA-BFABF3266F5C}"/>
              </a:ext>
            </a:extLst>
          </p:cNvPr>
          <p:cNvSpPr>
            <a:spLocks noGrp="1"/>
          </p:cNvSpPr>
          <p:nvPr>
            <p:ph type="title"/>
          </p:nvPr>
        </p:nvSpPr>
        <p:spPr/>
        <p:txBody>
          <a:bodyPr/>
          <a:lstStyle/>
          <a:p>
            <a:r>
              <a:rPr lang="en-US" dirty="0"/>
              <a:t>ExtraQ1 </a:t>
            </a:r>
            <a:r>
              <a:rPr lang="en-US" dirty="0" err="1"/>
              <a:t>Wooclap</a:t>
            </a:r>
            <a:r>
              <a:rPr lang="en-US" dirty="0"/>
              <a:t> Exercise</a:t>
            </a:r>
          </a:p>
        </p:txBody>
      </p:sp>
      <p:sp>
        <p:nvSpPr>
          <p:cNvPr id="4" name="Footer Placeholder 3">
            <a:extLst>
              <a:ext uri="{FF2B5EF4-FFF2-40B4-BE49-F238E27FC236}">
                <a16:creationId xmlns:a16="http://schemas.microsoft.com/office/drawing/2014/main" id="{7CA8EA31-EEAB-53FB-1F99-789807B59111}"/>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Content Placeholder 9">
                <a:extLst>
                  <a:ext uri="{FF2B5EF4-FFF2-40B4-BE49-F238E27FC236}">
                    <a16:creationId xmlns:a16="http://schemas.microsoft.com/office/drawing/2014/main" id="{7B147AF8-0F5E-C8B3-87FC-1B52739EA4FA}"/>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Content Placeholder 9">
                <a:extLst>
                  <a:ext uri="{FF2B5EF4-FFF2-40B4-BE49-F238E27FC236}">
                    <a16:creationId xmlns:a16="http://schemas.microsoft.com/office/drawing/2014/main" id="{7B147AF8-0F5E-C8B3-87FC-1B52739EA4FA}"/>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3119156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3">
            <a:extLst>
              <a:ext uri="{FF2B5EF4-FFF2-40B4-BE49-F238E27FC236}">
                <a16:creationId xmlns:a16="http://schemas.microsoft.com/office/drawing/2014/main" id="{DA11C25E-0BBA-4988-8986-3D33D7E4D0C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1506" name="Rectangle 2">
            <a:extLst>
              <a:ext uri="{FF2B5EF4-FFF2-40B4-BE49-F238E27FC236}">
                <a16:creationId xmlns:a16="http://schemas.microsoft.com/office/drawing/2014/main" id="{958DC6CE-AF11-4C3F-AC08-93A506EB0066}"/>
              </a:ext>
            </a:extLst>
          </p:cNvPr>
          <p:cNvSpPr>
            <a:spLocks noGrp="1" noChangeArrowheads="1"/>
          </p:cNvSpPr>
          <p:nvPr>
            <p:ph type="title"/>
          </p:nvPr>
        </p:nvSpPr>
        <p:spPr/>
        <p:txBody>
          <a:bodyPr/>
          <a:lstStyle/>
          <a:p>
            <a:r>
              <a:rPr lang="en-US" altLang="en-US"/>
              <a:t>Process State</a:t>
            </a:r>
          </a:p>
        </p:txBody>
      </p:sp>
      <p:sp>
        <p:nvSpPr>
          <p:cNvPr id="21507" name="Rectangle 3">
            <a:extLst>
              <a:ext uri="{FF2B5EF4-FFF2-40B4-BE49-F238E27FC236}">
                <a16:creationId xmlns:a16="http://schemas.microsoft.com/office/drawing/2014/main" id="{D61E6C38-E40A-424B-805D-E904F0AE9861}"/>
              </a:ext>
            </a:extLst>
          </p:cNvPr>
          <p:cNvSpPr>
            <a:spLocks noGrp="1" noChangeArrowheads="1"/>
          </p:cNvSpPr>
          <p:nvPr>
            <p:ph type="body" idx="1"/>
          </p:nvPr>
        </p:nvSpPr>
        <p:spPr>
          <a:xfrm>
            <a:off x="304800" y="1066800"/>
            <a:ext cx="8839200" cy="4852988"/>
          </a:xfrm>
        </p:spPr>
        <p:txBody>
          <a:bodyPr/>
          <a:lstStyle/>
          <a:p>
            <a:pPr marL="0" indent="0">
              <a:buFontTx/>
              <a:buNone/>
              <a:defRPr/>
            </a:pPr>
            <a:r>
              <a:rPr lang="en-US" altLang="en-US" sz="2800"/>
              <a:t>As a process executes, it changes </a:t>
            </a:r>
            <a:r>
              <a:rPr lang="en-US" altLang="en-US" sz="2800" i="1"/>
              <a:t>state</a:t>
            </a:r>
          </a:p>
          <a:p>
            <a:pPr marL="1828800" lvl="4" indent="0">
              <a:buFontTx/>
              <a:buNone/>
              <a:defRPr/>
            </a:pPr>
            <a:endParaRPr lang="en-US" altLang="en-US" sz="1600"/>
          </a:p>
          <a:p>
            <a:pPr marL="971550" lvl="1" indent="-514350">
              <a:buFont typeface="Helvetica" charset="0"/>
              <a:buAutoNum type="arabicPeriod"/>
              <a:defRPr/>
            </a:pPr>
            <a:r>
              <a:rPr lang="en-US" altLang="en-US" sz="2800">
                <a:solidFill>
                  <a:srgbClr val="FF0000"/>
                </a:solidFill>
              </a:rPr>
              <a:t>New: </a:t>
            </a:r>
            <a:r>
              <a:rPr lang="en-US" altLang="en-US" sz="2800"/>
              <a:t>The process is being created</a:t>
            </a:r>
          </a:p>
          <a:p>
            <a:pPr marL="2286000" lvl="4" indent="-514350">
              <a:buFont typeface="Helvetica" charset="0"/>
              <a:buAutoNum type="arabicPeriod"/>
              <a:defRPr/>
            </a:pPr>
            <a:endParaRPr lang="en-US" altLang="en-US" sz="2200"/>
          </a:p>
          <a:p>
            <a:pPr marL="971550" lvl="1" indent="-514350">
              <a:buFont typeface="Helvetica" charset="0"/>
              <a:buAutoNum type="arabicPeriod"/>
              <a:defRPr/>
            </a:pPr>
            <a:r>
              <a:rPr lang="en-US" altLang="en-US" sz="2800">
                <a:solidFill>
                  <a:srgbClr val="FF0000"/>
                </a:solidFill>
              </a:rPr>
              <a:t>Running:</a:t>
            </a:r>
            <a:r>
              <a:rPr lang="en-US" altLang="en-US" sz="2800"/>
              <a:t> Instructions are being executed</a:t>
            </a:r>
          </a:p>
          <a:p>
            <a:pPr marL="2286000" lvl="4" indent="-514350">
              <a:buFont typeface="Helvetica" charset="0"/>
              <a:buAutoNum type="arabicPeriod"/>
              <a:defRPr/>
            </a:pPr>
            <a:endParaRPr lang="en-US" altLang="en-US" sz="2200"/>
          </a:p>
          <a:p>
            <a:pPr marL="971550" lvl="1" indent="-514350">
              <a:buFont typeface="Helvetica" charset="0"/>
              <a:buAutoNum type="arabicPeriod"/>
              <a:defRPr/>
            </a:pPr>
            <a:r>
              <a:rPr lang="en-US" altLang="en-US" sz="2800">
                <a:solidFill>
                  <a:srgbClr val="FF0000"/>
                </a:solidFill>
              </a:rPr>
              <a:t>Waiting:</a:t>
            </a:r>
            <a:r>
              <a:rPr lang="en-US" altLang="en-US" sz="2800"/>
              <a:t> The process is waiting for I/O or event</a:t>
            </a:r>
          </a:p>
          <a:p>
            <a:pPr marL="2286000" lvl="4" indent="-514350">
              <a:buFont typeface="Helvetica" charset="0"/>
              <a:buAutoNum type="arabicPeriod"/>
              <a:defRPr/>
            </a:pPr>
            <a:endParaRPr lang="en-US" altLang="en-US" sz="2200"/>
          </a:p>
          <a:p>
            <a:pPr marL="971550" lvl="1" indent="-514350">
              <a:buFont typeface="Helvetica" charset="0"/>
              <a:buAutoNum type="arabicPeriod"/>
              <a:defRPr/>
            </a:pPr>
            <a:r>
              <a:rPr lang="en-US" altLang="en-US" sz="2800">
                <a:solidFill>
                  <a:srgbClr val="FF0000"/>
                </a:solidFill>
              </a:rPr>
              <a:t>Ready:</a:t>
            </a:r>
            <a:r>
              <a:rPr lang="en-US" altLang="en-US" sz="2800"/>
              <a:t> The process is ready to run, but is waiting to be assigned to the CPU</a:t>
            </a:r>
          </a:p>
          <a:p>
            <a:pPr marL="2286000" lvl="4" indent="-514350">
              <a:buFont typeface="Helvetica" charset="0"/>
              <a:buAutoNum type="arabicPeriod"/>
              <a:defRPr/>
            </a:pPr>
            <a:endParaRPr lang="en-US" altLang="en-US" sz="2200"/>
          </a:p>
          <a:p>
            <a:pPr marL="971550" lvl="1" indent="-514350">
              <a:buFont typeface="Helvetica" charset="0"/>
              <a:buAutoNum type="arabicPeriod"/>
              <a:defRPr/>
            </a:pPr>
            <a:r>
              <a:rPr lang="en-US" altLang="en-US" sz="2800">
                <a:solidFill>
                  <a:srgbClr val="FF0000"/>
                </a:solidFill>
              </a:rPr>
              <a:t>Terminated:</a:t>
            </a:r>
            <a:r>
              <a:rPr lang="en-US" altLang="en-US" sz="2800"/>
              <a:t> The process has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3">
            <a:extLst>
              <a:ext uri="{FF2B5EF4-FFF2-40B4-BE49-F238E27FC236}">
                <a16:creationId xmlns:a16="http://schemas.microsoft.com/office/drawing/2014/main" id="{636C5AD8-C645-46FA-8C4D-9F72A6ACDC2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3554" name="Rectangle 2">
            <a:extLst>
              <a:ext uri="{FF2B5EF4-FFF2-40B4-BE49-F238E27FC236}">
                <a16:creationId xmlns:a16="http://schemas.microsoft.com/office/drawing/2014/main" id="{71039AAB-B80E-4C11-9554-16273B872359}"/>
              </a:ext>
            </a:extLst>
          </p:cNvPr>
          <p:cNvSpPr>
            <a:spLocks noGrp="1" noChangeArrowheads="1"/>
          </p:cNvSpPr>
          <p:nvPr>
            <p:ph type="title"/>
          </p:nvPr>
        </p:nvSpPr>
        <p:spPr>
          <a:xfrm>
            <a:off x="762000" y="495300"/>
            <a:ext cx="7696200" cy="457200"/>
          </a:xfrm>
        </p:spPr>
        <p:txBody>
          <a:bodyPr/>
          <a:lstStyle/>
          <a:p>
            <a:r>
              <a:rPr lang="en-US" altLang="en-US"/>
              <a:t>Diagram of Process State Transitions</a:t>
            </a:r>
          </a:p>
        </p:txBody>
      </p:sp>
      <p:grpSp>
        <p:nvGrpSpPr>
          <p:cNvPr id="23555" name="Group 2">
            <a:extLst>
              <a:ext uri="{FF2B5EF4-FFF2-40B4-BE49-F238E27FC236}">
                <a16:creationId xmlns:a16="http://schemas.microsoft.com/office/drawing/2014/main" id="{5F98DE2A-F973-4178-9852-1F37C959AFA1}"/>
              </a:ext>
            </a:extLst>
          </p:cNvPr>
          <p:cNvGrpSpPr>
            <a:grpSpLocks/>
          </p:cNvGrpSpPr>
          <p:nvPr/>
        </p:nvGrpSpPr>
        <p:grpSpPr bwMode="auto">
          <a:xfrm>
            <a:off x="449263" y="1270000"/>
            <a:ext cx="8162925" cy="3987800"/>
            <a:chOff x="449263" y="1812925"/>
            <a:chExt cx="8162925" cy="3987800"/>
          </a:xfrm>
        </p:grpSpPr>
        <p:pic>
          <p:nvPicPr>
            <p:cNvPr id="23557" name="Picture 7">
              <a:extLst>
                <a:ext uri="{FF2B5EF4-FFF2-40B4-BE49-F238E27FC236}">
                  <a16:creationId xmlns:a16="http://schemas.microsoft.com/office/drawing/2014/main" id="{BCE61CE3-6B35-4213-80D9-D658F8CC3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66" t="25691" r="592" b="25531"/>
            <a:stretch>
              <a:fillRect/>
            </a:stretch>
          </p:blipFill>
          <p:spPr bwMode="auto">
            <a:xfrm>
              <a:off x="449263" y="1812925"/>
              <a:ext cx="8162925"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extBox 1">
              <a:extLst>
                <a:ext uri="{FF2B5EF4-FFF2-40B4-BE49-F238E27FC236}">
                  <a16:creationId xmlns:a16="http://schemas.microsoft.com/office/drawing/2014/main" id="{DAA544BC-ACBB-4705-9125-EA02706C0FA8}"/>
                </a:ext>
              </a:extLst>
            </p:cNvPr>
            <p:cNvSpPr txBox="1">
              <a:spLocks noChangeArrowheads="1"/>
            </p:cNvSpPr>
            <p:nvPr/>
          </p:nvSpPr>
          <p:spPr bwMode="auto">
            <a:xfrm>
              <a:off x="3647823" y="2183992"/>
              <a:ext cx="1765804" cy="3847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1900">
                  <a:latin typeface="Arial" panose="020B0604020202020204" pitchFamily="34" charset="0"/>
                  <a:cs typeface="Arial" panose="020B0604020202020204" pitchFamily="34" charset="0"/>
                </a:rPr>
                <a:t>Timer interrupt</a:t>
              </a:r>
              <a:endParaRPr lang="en-SG" altLang="en-US" sz="1900">
                <a:latin typeface="Arial" panose="020B0604020202020204" pitchFamily="34" charset="0"/>
                <a:cs typeface="Arial" panose="020B0604020202020204" pitchFamily="34" charset="0"/>
              </a:endParaRPr>
            </a:p>
          </p:txBody>
        </p:sp>
      </p:grpSp>
      <p:sp>
        <p:nvSpPr>
          <p:cNvPr id="7" name="Rectangle 3">
            <a:extLst>
              <a:ext uri="{FF2B5EF4-FFF2-40B4-BE49-F238E27FC236}">
                <a16:creationId xmlns:a16="http://schemas.microsoft.com/office/drawing/2014/main" id="{0A410F04-C683-42DC-9936-874436C74E25}"/>
              </a:ext>
            </a:extLst>
          </p:cNvPr>
          <p:cNvSpPr txBox="1">
            <a:spLocks noChangeArrowheads="1"/>
          </p:cNvSpPr>
          <p:nvPr/>
        </p:nvSpPr>
        <p:spPr bwMode="auto">
          <a:xfrm>
            <a:off x="609600" y="5410200"/>
            <a:ext cx="8035925" cy="682625"/>
          </a:xfrm>
          <a:prstGeom prst="rect">
            <a:avLst/>
          </a:prstGeom>
          <a:noFill/>
          <a:ln>
            <a:noFill/>
          </a:ln>
        </p:spPr>
        <p:txBody>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marL="0" indent="0" algn="ctr">
              <a:buFontTx/>
              <a:buNone/>
              <a:defRPr/>
            </a:pPr>
            <a:r>
              <a:rPr lang="en-US" altLang="en-US" sz="2800" i="1" kern="0">
                <a:solidFill>
                  <a:srgbClr val="FF0000"/>
                </a:solidFill>
              </a:rPr>
              <a:t>Timer interrupt is used in multiprogramming systems to switch between ready processes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dirty="0"/>
              <a:t>Exercise</a:t>
            </a:r>
          </a:p>
        </p:txBody>
      </p:sp>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Add-in 9">
                <a:extLst>
                  <a:ext uri="{FF2B5EF4-FFF2-40B4-BE49-F238E27FC236}">
                    <a16:creationId xmlns:a16="http://schemas.microsoft.com/office/drawing/2014/main" id="{BD125F4A-1390-B64D-36AB-D3A2FBFDC446}"/>
                  </a:ext>
                </a:extLst>
              </p:cNvPr>
              <p:cNvGraphicFramePr>
                <a:graphicFrameLocks noGrp="1"/>
              </p:cNvGraphicFramePr>
              <p:nvPr>
                <p:extLst>
                  <p:ext uri="{D42A27DB-BD31-4B8C-83A1-F6EECF244321}">
                    <p14:modId xmlns:p14="http://schemas.microsoft.com/office/powerpoint/2010/main" val="2200851998"/>
                  </p:ext>
                </p:extLst>
              </p:nvPr>
            </p:nvGraphicFramePr>
            <p:xfrm>
              <a:off x="99465" y="941962"/>
              <a:ext cx="8945070" cy="477391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10" name="Add-in 9">
                <a:extLst>
                  <a:ext uri="{FF2B5EF4-FFF2-40B4-BE49-F238E27FC236}">
                    <a16:creationId xmlns:a16="http://schemas.microsoft.com/office/drawing/2014/main" id="{BD125F4A-1390-B64D-36AB-D3A2FBFDC446}"/>
                  </a:ext>
                </a:extLst>
              </p:cNvPr>
              <p:cNvPicPr>
                <a:picLocks noGrp="1" noRot="1" noChangeAspect="1" noMove="1" noResize="1" noEditPoints="1" noAdjustHandles="1" noChangeArrowheads="1" noChangeShapeType="1"/>
              </p:cNvPicPr>
              <p:nvPr/>
            </p:nvPicPr>
            <p:blipFill>
              <a:blip r:embed="rId4"/>
              <a:stretch>
                <a:fillRect/>
              </a:stretch>
            </p:blipFill>
            <p:spPr>
              <a:xfrm>
                <a:off x="99465" y="941962"/>
                <a:ext cx="8945070" cy="4773910"/>
              </a:xfrm>
              <a:prstGeom prst="rect">
                <a:avLst/>
              </a:prstGeom>
            </p:spPr>
          </p:pic>
        </mc:Fallback>
      </mc:AlternateContent>
    </p:spTree>
    <p:extLst>
      <p:ext uri="{BB962C8B-B14F-4D97-AF65-F5344CB8AC3E}">
        <p14:creationId xmlns:p14="http://schemas.microsoft.com/office/powerpoint/2010/main" val="71818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3CCD9-3DC2-9691-8725-680BB6226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6424A-886D-66B8-6BF9-2B4A9B6C110B}"/>
              </a:ext>
            </a:extLst>
          </p:cNvPr>
          <p:cNvSpPr>
            <a:spLocks noGrp="1"/>
          </p:cNvSpPr>
          <p:nvPr>
            <p:ph type="title"/>
          </p:nvPr>
        </p:nvSpPr>
        <p:spPr/>
        <p:txBody>
          <a:bodyPr/>
          <a:lstStyle/>
          <a:p>
            <a:r>
              <a:rPr lang="en-US" dirty="0"/>
              <a:t>ExtraQ2 </a:t>
            </a:r>
            <a:r>
              <a:rPr lang="en-US" dirty="0" err="1"/>
              <a:t>Wooclap</a:t>
            </a:r>
            <a:r>
              <a:rPr lang="en-US" dirty="0"/>
              <a:t> Exercise</a:t>
            </a:r>
          </a:p>
        </p:txBody>
      </p:sp>
      <p:sp>
        <p:nvSpPr>
          <p:cNvPr id="4" name="Footer Placeholder 3">
            <a:extLst>
              <a:ext uri="{FF2B5EF4-FFF2-40B4-BE49-F238E27FC236}">
                <a16:creationId xmlns:a16="http://schemas.microsoft.com/office/drawing/2014/main" id="{8F7CDD4B-918B-112B-EF3A-6081CCD049DD}"/>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3226C3E2-AC45-3303-A0E3-B95DF76F1A23}"/>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3226C3E2-AC45-3303-A0E3-B95DF76F1A23}"/>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29975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3">
            <a:extLst>
              <a:ext uri="{FF2B5EF4-FFF2-40B4-BE49-F238E27FC236}">
                <a16:creationId xmlns:a16="http://schemas.microsoft.com/office/drawing/2014/main" id="{34CC4644-A3A4-483B-AB6A-7CEE5270BE9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5602" name="Rectangle 2">
            <a:extLst>
              <a:ext uri="{FF2B5EF4-FFF2-40B4-BE49-F238E27FC236}">
                <a16:creationId xmlns:a16="http://schemas.microsoft.com/office/drawing/2014/main" id="{699FA72A-06DC-47F8-9CFA-3CA544FE9474}"/>
              </a:ext>
            </a:extLst>
          </p:cNvPr>
          <p:cNvSpPr>
            <a:spLocks noGrp="1" noChangeArrowheads="1"/>
          </p:cNvSpPr>
          <p:nvPr>
            <p:ph type="title"/>
          </p:nvPr>
        </p:nvSpPr>
        <p:spPr/>
        <p:txBody>
          <a:bodyPr/>
          <a:lstStyle/>
          <a:p>
            <a:r>
              <a:rPr lang="en-US" altLang="en-US"/>
              <a:t>Process Control Block (PCB)</a:t>
            </a:r>
          </a:p>
        </p:txBody>
      </p:sp>
      <p:sp>
        <p:nvSpPr>
          <p:cNvPr id="25603" name="Rectangle 3">
            <a:extLst>
              <a:ext uri="{FF2B5EF4-FFF2-40B4-BE49-F238E27FC236}">
                <a16:creationId xmlns:a16="http://schemas.microsoft.com/office/drawing/2014/main" id="{0AE51A86-AA38-4C5D-A930-8CCC4E91EF92}"/>
              </a:ext>
            </a:extLst>
          </p:cNvPr>
          <p:cNvSpPr>
            <a:spLocks noGrp="1" noChangeArrowheads="1"/>
          </p:cNvSpPr>
          <p:nvPr>
            <p:ph type="body" idx="1"/>
          </p:nvPr>
        </p:nvSpPr>
        <p:spPr>
          <a:xfrm>
            <a:off x="622300" y="1524000"/>
            <a:ext cx="8086725" cy="4876800"/>
          </a:xfrm>
        </p:spPr>
        <p:txBody>
          <a:bodyPr/>
          <a:lstStyle/>
          <a:p>
            <a:pPr marL="0" indent="0">
              <a:spcBef>
                <a:spcPct val="0"/>
              </a:spcBef>
              <a:buFontTx/>
              <a:buNone/>
              <a:defRPr/>
            </a:pPr>
            <a:r>
              <a:rPr lang="en-US" altLang="en-US" sz="2600">
                <a:solidFill>
                  <a:srgbClr val="FF0000"/>
                </a:solidFill>
              </a:rPr>
              <a:t>Keeps information associated with each process</a:t>
            </a:r>
          </a:p>
          <a:p>
            <a:pPr>
              <a:spcBef>
                <a:spcPct val="0"/>
              </a:spcBef>
              <a:defRPr/>
            </a:pPr>
            <a:endParaRPr lang="en-US" altLang="en-US" sz="2600">
              <a:solidFill>
                <a:srgbClr val="FF0000"/>
              </a:solidFill>
            </a:endParaRPr>
          </a:p>
          <a:p>
            <a:pPr marL="914400" lvl="1" indent="-457200">
              <a:spcBef>
                <a:spcPct val="0"/>
              </a:spcBef>
              <a:buFont typeface="Helvetica" charset="0"/>
              <a:buAutoNum type="arabicPeriod"/>
              <a:defRPr/>
            </a:pPr>
            <a:r>
              <a:rPr lang="en-US" altLang="en-US" sz="2400">
                <a:solidFill>
                  <a:schemeClr val="accent2"/>
                </a:solidFill>
              </a:rPr>
              <a:t>Pointer to other PCBs </a:t>
            </a:r>
            <a:r>
              <a:rPr lang="en-US" altLang="en-US" sz="2400"/>
              <a:t>(PCBs are maintained in a queue/list structure)</a:t>
            </a:r>
          </a:p>
          <a:p>
            <a:pPr marL="914400" lvl="1" indent="-457200">
              <a:spcBef>
                <a:spcPct val="0"/>
              </a:spcBef>
              <a:buFont typeface="Helvetica" charset="0"/>
              <a:buAutoNum type="arabicPeriod"/>
              <a:defRPr/>
            </a:pPr>
            <a:r>
              <a:rPr lang="en-US" altLang="en-US" sz="2400">
                <a:solidFill>
                  <a:schemeClr val="accent2"/>
                </a:solidFill>
              </a:rPr>
              <a:t>Process state</a:t>
            </a:r>
          </a:p>
          <a:p>
            <a:pPr marL="914400" lvl="1" indent="-457200">
              <a:spcBef>
                <a:spcPct val="0"/>
              </a:spcBef>
              <a:buFont typeface="Helvetica" charset="0"/>
              <a:buAutoNum type="arabicPeriod"/>
              <a:defRPr/>
            </a:pPr>
            <a:r>
              <a:rPr lang="en-US" altLang="en-US" sz="2400">
                <a:solidFill>
                  <a:schemeClr val="accent2"/>
                </a:solidFill>
              </a:rPr>
              <a:t>Process number </a:t>
            </a:r>
            <a:r>
              <a:rPr lang="en-US" altLang="en-US" sz="2400"/>
              <a:t>(process id)</a:t>
            </a:r>
          </a:p>
          <a:p>
            <a:pPr marL="914400" lvl="1" indent="-457200">
              <a:spcBef>
                <a:spcPct val="0"/>
              </a:spcBef>
              <a:buFont typeface="Helvetica" charset="0"/>
              <a:buAutoNum type="arabicPeriod"/>
              <a:defRPr/>
            </a:pPr>
            <a:r>
              <a:rPr lang="en-US" altLang="en-US" sz="2400">
                <a:solidFill>
                  <a:schemeClr val="accent2"/>
                </a:solidFill>
              </a:rPr>
              <a:t>Program counter </a:t>
            </a:r>
            <a:r>
              <a:rPr lang="en-US" altLang="en-US" sz="2400"/>
              <a:t>(pointer to the next instruction)</a:t>
            </a:r>
          </a:p>
          <a:p>
            <a:pPr marL="914400" lvl="1" indent="-457200">
              <a:spcBef>
                <a:spcPct val="0"/>
              </a:spcBef>
              <a:buFont typeface="Helvetica" charset="0"/>
              <a:buAutoNum type="arabicPeriod"/>
              <a:defRPr/>
            </a:pPr>
            <a:r>
              <a:rPr lang="en-US" altLang="en-US" sz="2400">
                <a:solidFill>
                  <a:schemeClr val="accent2"/>
                </a:solidFill>
              </a:rPr>
              <a:t>CPU registers</a:t>
            </a:r>
          </a:p>
          <a:p>
            <a:pPr marL="914400" lvl="1" indent="-457200">
              <a:spcBef>
                <a:spcPct val="0"/>
              </a:spcBef>
              <a:buFont typeface="Helvetica" charset="0"/>
              <a:buAutoNum type="arabicPeriod"/>
              <a:defRPr/>
            </a:pPr>
            <a:r>
              <a:rPr lang="en-US" altLang="en-US" sz="2400">
                <a:solidFill>
                  <a:schemeClr val="accent2"/>
                </a:solidFill>
              </a:rPr>
              <a:t>Process priority </a:t>
            </a:r>
            <a:r>
              <a:rPr lang="en-US" altLang="en-US" sz="2400"/>
              <a:t>(used in process scheduling)</a:t>
            </a:r>
          </a:p>
          <a:p>
            <a:pPr marL="914400" lvl="1" indent="-457200">
              <a:spcBef>
                <a:spcPct val="0"/>
              </a:spcBef>
              <a:buFont typeface="Helvetica" charset="0"/>
              <a:buAutoNum type="arabicPeriod"/>
              <a:defRPr/>
            </a:pPr>
            <a:r>
              <a:rPr lang="en-US" altLang="en-US" sz="2400">
                <a:solidFill>
                  <a:schemeClr val="accent2"/>
                </a:solidFill>
              </a:rPr>
              <a:t>Memory management information </a:t>
            </a:r>
            <a:r>
              <a:rPr lang="en-US" altLang="en-US" sz="2400"/>
              <a:t>(e.g., base and limit register values)</a:t>
            </a:r>
          </a:p>
          <a:p>
            <a:pPr marL="914400" lvl="1" indent="-457200">
              <a:spcBef>
                <a:spcPct val="0"/>
              </a:spcBef>
              <a:buFont typeface="Helvetica" charset="0"/>
              <a:buAutoNum type="arabicPeriod"/>
              <a:defRPr/>
            </a:pPr>
            <a:r>
              <a:rPr lang="en-US" altLang="en-US" sz="2400">
                <a:solidFill>
                  <a:schemeClr val="accent2"/>
                </a:solidFill>
              </a:rPr>
              <a:t>Information regarding files </a:t>
            </a:r>
            <a:r>
              <a:rPr lang="en-US" altLang="en-US" sz="2400"/>
              <a:t>(e.g., list of open files)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2">
            <a:extLst>
              <a:ext uri="{FF2B5EF4-FFF2-40B4-BE49-F238E27FC236}">
                <a16:creationId xmlns:a16="http://schemas.microsoft.com/office/drawing/2014/main" id="{919C40C3-E78E-4166-9BCC-B0C317EF240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7650" name="Rectangle 2">
            <a:extLst>
              <a:ext uri="{FF2B5EF4-FFF2-40B4-BE49-F238E27FC236}">
                <a16:creationId xmlns:a16="http://schemas.microsoft.com/office/drawing/2014/main" id="{6B55AA23-EA9B-4E83-9F02-39A11FA2CB4B}"/>
              </a:ext>
            </a:extLst>
          </p:cNvPr>
          <p:cNvSpPr>
            <a:spLocks noGrp="1" noChangeArrowheads="1"/>
          </p:cNvSpPr>
          <p:nvPr>
            <p:ph type="title"/>
          </p:nvPr>
        </p:nvSpPr>
        <p:spPr/>
        <p:txBody>
          <a:bodyPr/>
          <a:lstStyle/>
          <a:p>
            <a:r>
              <a:rPr lang="en-US" altLang="en-US"/>
              <a:t>Process Control Block (PCB)</a:t>
            </a:r>
          </a:p>
        </p:txBody>
      </p:sp>
      <p:pic>
        <p:nvPicPr>
          <p:cNvPr id="27651" name="Picture 5">
            <a:extLst>
              <a:ext uri="{FF2B5EF4-FFF2-40B4-BE49-F238E27FC236}">
                <a16:creationId xmlns:a16="http://schemas.microsoft.com/office/drawing/2014/main" id="{A90E26B2-95A4-4A35-9503-99A30A46E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017" t="731" r="28017" b="540"/>
          <a:stretch>
            <a:fillRect/>
          </a:stretch>
        </p:blipFill>
        <p:spPr bwMode="auto">
          <a:xfrm>
            <a:off x="3100388" y="1263650"/>
            <a:ext cx="2747962" cy="493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8E69CC4-9686-4917-99A8-281F1756FAB6}"/>
              </a:ext>
            </a:extLst>
          </p:cNvPr>
          <p:cNvSpPr/>
          <p:nvPr/>
        </p:nvSpPr>
        <p:spPr bwMode="auto">
          <a:xfrm>
            <a:off x="1066800" y="1393825"/>
            <a:ext cx="7010400" cy="228600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endParaRPr lang="en-US"/>
          </a:p>
        </p:txBody>
      </p:sp>
      <p:sp>
        <p:nvSpPr>
          <p:cNvPr id="29698" name="Footer Placeholder 2">
            <a:extLst>
              <a:ext uri="{FF2B5EF4-FFF2-40B4-BE49-F238E27FC236}">
                <a16:creationId xmlns:a16="http://schemas.microsoft.com/office/drawing/2014/main" id="{8F9B9388-4E34-4282-845C-FC26DD9DD42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9699" name="Rectangle 2">
            <a:extLst>
              <a:ext uri="{FF2B5EF4-FFF2-40B4-BE49-F238E27FC236}">
                <a16:creationId xmlns:a16="http://schemas.microsoft.com/office/drawing/2014/main" id="{9DAB8D85-6324-48D3-9B5A-7AE63FAE8564}"/>
              </a:ext>
            </a:extLst>
          </p:cNvPr>
          <p:cNvSpPr>
            <a:spLocks noGrp="1" noChangeArrowheads="1"/>
          </p:cNvSpPr>
          <p:nvPr>
            <p:ph type="title"/>
          </p:nvPr>
        </p:nvSpPr>
        <p:spPr/>
        <p:txBody>
          <a:bodyPr/>
          <a:lstStyle/>
          <a:p>
            <a:r>
              <a:rPr lang="en-US" altLang="en-US"/>
              <a:t>PCB and Processes in Main Memory</a:t>
            </a:r>
          </a:p>
        </p:txBody>
      </p:sp>
      <p:pic>
        <p:nvPicPr>
          <p:cNvPr id="29700" name="Picture 5">
            <a:extLst>
              <a:ext uri="{FF2B5EF4-FFF2-40B4-BE49-F238E27FC236}">
                <a16:creationId xmlns:a16="http://schemas.microsoft.com/office/drawing/2014/main" id="{1FEC4D55-8A61-4ABA-B9AA-28242F5ED3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017" t="731" r="28017" b="540"/>
          <a:stretch>
            <a:fillRect/>
          </a:stretch>
        </p:blipFill>
        <p:spPr bwMode="auto">
          <a:xfrm>
            <a:off x="1538288" y="1698625"/>
            <a:ext cx="97631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5">
            <a:extLst>
              <a:ext uri="{FF2B5EF4-FFF2-40B4-BE49-F238E27FC236}">
                <a16:creationId xmlns:a16="http://schemas.microsoft.com/office/drawing/2014/main" id="{A31DA43C-8C39-43D5-A38C-2BE130C620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8017" t="731" r="28017" b="540"/>
          <a:stretch>
            <a:fillRect/>
          </a:stretch>
        </p:blipFill>
        <p:spPr bwMode="auto">
          <a:xfrm>
            <a:off x="3124200" y="1698625"/>
            <a:ext cx="554038"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9702" name="Straight Arrow Connector 2">
            <a:extLst>
              <a:ext uri="{FF2B5EF4-FFF2-40B4-BE49-F238E27FC236}">
                <a16:creationId xmlns:a16="http://schemas.microsoft.com/office/drawing/2014/main" id="{06A02F07-49B3-4E43-A441-859B2D551D6E}"/>
              </a:ext>
            </a:extLst>
          </p:cNvPr>
          <p:cNvCxnSpPr>
            <a:cxnSpLocks noChangeShapeType="1"/>
          </p:cNvCxnSpPr>
          <p:nvPr/>
        </p:nvCxnSpPr>
        <p:spPr bwMode="auto">
          <a:xfrm>
            <a:off x="1828800" y="1905000"/>
            <a:ext cx="1295400"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pic>
        <p:nvPicPr>
          <p:cNvPr id="29703" name="Picture 5">
            <a:extLst>
              <a:ext uri="{FF2B5EF4-FFF2-40B4-BE49-F238E27FC236}">
                <a16:creationId xmlns:a16="http://schemas.microsoft.com/office/drawing/2014/main" id="{4789DB37-B832-4601-A09A-8BE9E7798A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8017" t="731" r="28017" b="540"/>
          <a:stretch>
            <a:fillRect/>
          </a:stretch>
        </p:blipFill>
        <p:spPr bwMode="auto">
          <a:xfrm>
            <a:off x="5486400" y="1692275"/>
            <a:ext cx="554038"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5">
            <a:extLst>
              <a:ext uri="{FF2B5EF4-FFF2-40B4-BE49-F238E27FC236}">
                <a16:creationId xmlns:a16="http://schemas.microsoft.com/office/drawing/2014/main" id="{67FF8067-2899-4A47-B9EC-535ADC4595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8017" t="731" r="28017" b="540"/>
          <a:stretch>
            <a:fillRect/>
          </a:stretch>
        </p:blipFill>
        <p:spPr bwMode="auto">
          <a:xfrm>
            <a:off x="6629400" y="1692275"/>
            <a:ext cx="554038"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9705" name="Straight Arrow Connector 9">
            <a:extLst>
              <a:ext uri="{FF2B5EF4-FFF2-40B4-BE49-F238E27FC236}">
                <a16:creationId xmlns:a16="http://schemas.microsoft.com/office/drawing/2014/main" id="{E1B6BB99-28AE-420B-BD1E-9BECD24EB83A}"/>
              </a:ext>
            </a:extLst>
          </p:cNvPr>
          <p:cNvCxnSpPr>
            <a:cxnSpLocks noChangeShapeType="1"/>
          </p:cNvCxnSpPr>
          <p:nvPr/>
        </p:nvCxnSpPr>
        <p:spPr bwMode="auto">
          <a:xfrm>
            <a:off x="5643563" y="1771650"/>
            <a:ext cx="985837" cy="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 name="Oval 3">
            <a:extLst>
              <a:ext uri="{FF2B5EF4-FFF2-40B4-BE49-F238E27FC236}">
                <a16:creationId xmlns:a16="http://schemas.microsoft.com/office/drawing/2014/main" id="{53F8ABAD-5859-4EA8-972E-59D661DB9F8C}"/>
              </a:ext>
            </a:extLst>
          </p:cNvPr>
          <p:cNvSpPr/>
          <p:nvPr/>
        </p:nvSpPr>
        <p:spPr bwMode="auto">
          <a:xfrm>
            <a:off x="4343400" y="2003425"/>
            <a:ext cx="46038" cy="46038"/>
          </a:xfrm>
          <a:prstGeom prst="ellipse">
            <a:avLst/>
          </a:prstGeom>
          <a:solidFill>
            <a:schemeClr val="tx1">
              <a:lumMod val="95000"/>
              <a:lumOff val="5000"/>
            </a:schemeClr>
          </a:solidFill>
          <a:ln w="9525" cap="flat" cmpd="sng" algn="ctr">
            <a:solidFill>
              <a:schemeClr val="tx1">
                <a:lumMod val="95000"/>
                <a:lumOff val="5000"/>
              </a:schemeClr>
            </a:solidFill>
            <a:prstDash val="solid"/>
            <a:round/>
            <a:headEnd type="none" w="med" len="med"/>
            <a:tailEnd type="none" w="med" len="med"/>
          </a:ln>
          <a:effectLst/>
        </p:spPr>
        <p:txBody>
          <a:bodyPr wrap="none" anchor="ctr"/>
          <a:lstStyle/>
          <a:p>
            <a:pPr algn="ctr">
              <a:defRPr/>
            </a:pPr>
            <a:endParaRPr lang="en-US"/>
          </a:p>
        </p:txBody>
      </p:sp>
      <p:sp>
        <p:nvSpPr>
          <p:cNvPr id="12" name="Oval 11">
            <a:extLst>
              <a:ext uri="{FF2B5EF4-FFF2-40B4-BE49-F238E27FC236}">
                <a16:creationId xmlns:a16="http://schemas.microsoft.com/office/drawing/2014/main" id="{E5C1EE13-CAF3-4B8E-A1AF-2A1C6F0531E5}"/>
              </a:ext>
            </a:extLst>
          </p:cNvPr>
          <p:cNvSpPr/>
          <p:nvPr/>
        </p:nvSpPr>
        <p:spPr bwMode="auto">
          <a:xfrm>
            <a:off x="4525963" y="2009775"/>
            <a:ext cx="46037" cy="46038"/>
          </a:xfrm>
          <a:prstGeom prst="ellipse">
            <a:avLst/>
          </a:prstGeom>
          <a:solidFill>
            <a:schemeClr val="tx1">
              <a:lumMod val="95000"/>
              <a:lumOff val="5000"/>
            </a:schemeClr>
          </a:solidFill>
          <a:ln w="9525" cap="flat" cmpd="sng" algn="ctr">
            <a:solidFill>
              <a:schemeClr val="tx1">
                <a:lumMod val="95000"/>
                <a:lumOff val="5000"/>
              </a:schemeClr>
            </a:solidFill>
            <a:prstDash val="solid"/>
            <a:round/>
            <a:headEnd type="none" w="med" len="med"/>
            <a:tailEnd type="none" w="med" len="med"/>
          </a:ln>
          <a:effectLst/>
        </p:spPr>
        <p:txBody>
          <a:bodyPr wrap="none" anchor="ctr"/>
          <a:lstStyle/>
          <a:p>
            <a:pPr algn="ctr">
              <a:defRPr/>
            </a:pPr>
            <a:endParaRPr lang="en-US"/>
          </a:p>
        </p:txBody>
      </p:sp>
      <p:sp>
        <p:nvSpPr>
          <p:cNvPr id="13" name="Oval 12">
            <a:extLst>
              <a:ext uri="{FF2B5EF4-FFF2-40B4-BE49-F238E27FC236}">
                <a16:creationId xmlns:a16="http://schemas.microsoft.com/office/drawing/2014/main" id="{E3CCC4DA-EAE8-4FB4-9570-EEC2133EC556}"/>
              </a:ext>
            </a:extLst>
          </p:cNvPr>
          <p:cNvSpPr/>
          <p:nvPr/>
        </p:nvSpPr>
        <p:spPr bwMode="auto">
          <a:xfrm>
            <a:off x="4678363" y="2009775"/>
            <a:ext cx="46037" cy="46038"/>
          </a:xfrm>
          <a:prstGeom prst="ellipse">
            <a:avLst/>
          </a:prstGeom>
          <a:solidFill>
            <a:schemeClr val="tx1">
              <a:lumMod val="95000"/>
              <a:lumOff val="5000"/>
            </a:schemeClr>
          </a:solidFill>
          <a:ln w="9525" cap="flat" cmpd="sng" algn="ctr">
            <a:solidFill>
              <a:schemeClr val="tx1">
                <a:lumMod val="95000"/>
                <a:lumOff val="5000"/>
              </a:schemeClr>
            </a:solidFill>
            <a:prstDash val="solid"/>
            <a:round/>
            <a:headEnd type="none" w="med" len="med"/>
            <a:tailEnd type="none" w="med" len="med"/>
          </a:ln>
          <a:effectLst/>
        </p:spPr>
        <p:txBody>
          <a:bodyPr wrap="none" anchor="ctr"/>
          <a:lstStyle/>
          <a:p>
            <a:pPr algn="ctr">
              <a:defRPr/>
            </a:pPr>
            <a:endParaRPr lang="en-US"/>
          </a:p>
        </p:txBody>
      </p:sp>
      <p:pic>
        <p:nvPicPr>
          <p:cNvPr id="9230" name="Picture 5">
            <a:extLst>
              <a:ext uri="{FF2B5EF4-FFF2-40B4-BE49-F238E27FC236}">
                <a16:creationId xmlns:a16="http://schemas.microsoft.com/office/drawing/2014/main" id="{B40D1C09-16FE-4BB2-9C8A-E33134B2AB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9600" y="4151313"/>
            <a:ext cx="1244600" cy="24780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29710" name="Freeform 6">
            <a:extLst>
              <a:ext uri="{FF2B5EF4-FFF2-40B4-BE49-F238E27FC236}">
                <a16:creationId xmlns:a16="http://schemas.microsoft.com/office/drawing/2014/main" id="{FC23E9E7-C108-4C80-AD69-2682760F8C37}"/>
              </a:ext>
            </a:extLst>
          </p:cNvPr>
          <p:cNvSpPr>
            <a:spLocks/>
          </p:cNvSpPr>
          <p:nvPr/>
        </p:nvSpPr>
        <p:spPr bwMode="auto">
          <a:xfrm>
            <a:off x="1295400" y="2847975"/>
            <a:ext cx="601663" cy="1328738"/>
          </a:xfrm>
          <a:custGeom>
            <a:avLst/>
            <a:gdLst>
              <a:gd name="T0" fmla="*/ 18 w 923867"/>
              <a:gd name="T1" fmla="*/ 0 h 1328468"/>
              <a:gd name="T2" fmla="*/ 1 w 923867"/>
              <a:gd name="T3" fmla="*/ 970685 h 1328468"/>
              <a:gd name="T4" fmla="*/ 31 w 923867"/>
              <a:gd name="T5" fmla="*/ 1334691 h 1328468"/>
              <a:gd name="T6" fmla="*/ 0 60000 65536"/>
              <a:gd name="T7" fmla="*/ 0 60000 65536"/>
              <a:gd name="T8" fmla="*/ 0 60000 65536"/>
            </a:gdLst>
            <a:ahLst/>
            <a:cxnLst>
              <a:cxn ang="T6">
                <a:pos x="T0" y="T1"/>
              </a:cxn>
              <a:cxn ang="T7">
                <a:pos x="T2" y="T3"/>
              </a:cxn>
              <a:cxn ang="T8">
                <a:pos x="T4" y="T5"/>
              </a:cxn>
            </a:cxnLst>
            <a:rect l="0" t="0" r="r" b="b"/>
            <a:pathLst>
              <a:path w="923867" h="1328468">
                <a:moveTo>
                  <a:pt x="527052" y="0"/>
                </a:moveTo>
                <a:cubicBezTo>
                  <a:pt x="235191" y="372373"/>
                  <a:pt x="-56669" y="744747"/>
                  <a:pt x="9467" y="966158"/>
                </a:cubicBezTo>
                <a:cubicBezTo>
                  <a:pt x="75603" y="1187569"/>
                  <a:pt x="499735" y="1258018"/>
                  <a:pt x="923867" y="1328468"/>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9711" name="Freeform 10">
            <a:extLst>
              <a:ext uri="{FF2B5EF4-FFF2-40B4-BE49-F238E27FC236}">
                <a16:creationId xmlns:a16="http://schemas.microsoft.com/office/drawing/2014/main" id="{F614CBDF-E31C-4750-BBFB-40195D839F39}"/>
              </a:ext>
            </a:extLst>
          </p:cNvPr>
          <p:cNvSpPr>
            <a:spLocks/>
          </p:cNvSpPr>
          <p:nvPr/>
        </p:nvSpPr>
        <p:spPr bwMode="auto">
          <a:xfrm>
            <a:off x="773113" y="2847975"/>
            <a:ext cx="1055687" cy="3727450"/>
          </a:xfrm>
          <a:custGeom>
            <a:avLst/>
            <a:gdLst>
              <a:gd name="T0" fmla="*/ 824526 w 1055071"/>
              <a:gd name="T1" fmla="*/ 0 h 3726611"/>
              <a:gd name="T2" fmla="*/ 2694 w 1055071"/>
              <a:gd name="T3" fmla="*/ 1439419 h 3726611"/>
              <a:gd name="T4" fmla="*/ 1069331 w 1055071"/>
              <a:gd name="T5" fmla="*/ 3745956 h 3726611"/>
              <a:gd name="T6" fmla="*/ 0 60000 65536"/>
              <a:gd name="T7" fmla="*/ 0 60000 65536"/>
              <a:gd name="T8" fmla="*/ 0 60000 65536"/>
            </a:gdLst>
            <a:ahLst/>
            <a:cxnLst>
              <a:cxn ang="T6">
                <a:pos x="T0" y="T1"/>
              </a:cxn>
              <a:cxn ang="T7">
                <a:pos x="T2" y="T3"/>
              </a:cxn>
              <a:cxn ang="T8">
                <a:pos x="T4" y="T5"/>
              </a:cxn>
            </a:cxnLst>
            <a:rect l="0" t="0" r="r" b="b"/>
            <a:pathLst>
              <a:path w="1055071" h="3726611">
                <a:moveTo>
                  <a:pt x="813531" y="0"/>
                </a:moveTo>
                <a:cubicBezTo>
                  <a:pt x="387961" y="405441"/>
                  <a:pt x="-37609" y="810883"/>
                  <a:pt x="2648" y="1431985"/>
                </a:cubicBezTo>
                <a:cubicBezTo>
                  <a:pt x="42905" y="2053087"/>
                  <a:pt x="548988" y="2889849"/>
                  <a:pt x="1055071" y="3726611"/>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9712" name="TextBox 14">
            <a:extLst>
              <a:ext uri="{FF2B5EF4-FFF2-40B4-BE49-F238E27FC236}">
                <a16:creationId xmlns:a16="http://schemas.microsoft.com/office/drawing/2014/main" id="{2A9DE5DC-6200-4848-AA0F-81DB67A27854}"/>
              </a:ext>
            </a:extLst>
          </p:cNvPr>
          <p:cNvSpPr txBox="1">
            <a:spLocks noChangeArrowheads="1"/>
          </p:cNvSpPr>
          <p:nvPr/>
        </p:nvSpPr>
        <p:spPr bwMode="auto">
          <a:xfrm>
            <a:off x="603250" y="4903788"/>
            <a:ext cx="711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Base</a:t>
            </a:r>
          </a:p>
        </p:txBody>
      </p:sp>
      <p:sp>
        <p:nvSpPr>
          <p:cNvPr id="29713" name="TextBox 18">
            <a:extLst>
              <a:ext uri="{FF2B5EF4-FFF2-40B4-BE49-F238E27FC236}">
                <a16:creationId xmlns:a16="http://schemas.microsoft.com/office/drawing/2014/main" id="{597E0BF8-60F3-466B-B118-6716C8EE4EDF}"/>
              </a:ext>
            </a:extLst>
          </p:cNvPr>
          <p:cNvSpPr txBox="1">
            <a:spLocks noChangeArrowheads="1"/>
          </p:cNvSpPr>
          <p:nvPr/>
        </p:nvSpPr>
        <p:spPr bwMode="auto">
          <a:xfrm>
            <a:off x="954088" y="3765550"/>
            <a:ext cx="13954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Base+ Limit</a:t>
            </a:r>
          </a:p>
        </p:txBody>
      </p:sp>
      <p:pic>
        <p:nvPicPr>
          <p:cNvPr id="9235" name="Picture 5">
            <a:extLst>
              <a:ext uri="{FF2B5EF4-FFF2-40B4-BE49-F238E27FC236}">
                <a16:creationId xmlns:a16="http://schemas.microsoft.com/office/drawing/2014/main" id="{2BF43526-8832-47A7-8BA7-3B5C3F14DD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0138" y="4176713"/>
            <a:ext cx="885825" cy="176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29715" name="Freeform 15">
            <a:extLst>
              <a:ext uri="{FF2B5EF4-FFF2-40B4-BE49-F238E27FC236}">
                <a16:creationId xmlns:a16="http://schemas.microsoft.com/office/drawing/2014/main" id="{D39E8EDF-74BC-4A2F-B932-F3A5AECC06B5}"/>
              </a:ext>
            </a:extLst>
          </p:cNvPr>
          <p:cNvSpPr>
            <a:spLocks/>
          </p:cNvSpPr>
          <p:nvPr/>
        </p:nvSpPr>
        <p:spPr bwMode="auto">
          <a:xfrm>
            <a:off x="3346450" y="2312988"/>
            <a:ext cx="293688" cy="1881187"/>
          </a:xfrm>
          <a:custGeom>
            <a:avLst/>
            <a:gdLst>
              <a:gd name="T0" fmla="*/ 52997 w 293415"/>
              <a:gd name="T1" fmla="*/ 0 h 1880558"/>
              <a:gd name="T2" fmla="*/ 17738 w 293415"/>
              <a:gd name="T3" fmla="*/ 1390884 h 1880558"/>
              <a:gd name="T4" fmla="*/ 299760 w 293415"/>
              <a:gd name="T5" fmla="*/ 1895078 h 1880558"/>
              <a:gd name="T6" fmla="*/ 0 60000 65536"/>
              <a:gd name="T7" fmla="*/ 0 60000 65536"/>
              <a:gd name="T8" fmla="*/ 0 60000 65536"/>
            </a:gdLst>
            <a:ahLst/>
            <a:cxnLst>
              <a:cxn ang="T6">
                <a:pos x="T0" y="T1"/>
              </a:cxn>
              <a:cxn ang="T7">
                <a:pos x="T2" y="T3"/>
              </a:cxn>
              <a:cxn ang="T8">
                <a:pos x="T4" y="T5"/>
              </a:cxn>
            </a:cxnLst>
            <a:rect l="0" t="0" r="r" b="b"/>
            <a:pathLst>
              <a:path w="293415" h="1880558">
                <a:moveTo>
                  <a:pt x="51876" y="0"/>
                </a:moveTo>
                <a:cubicBezTo>
                  <a:pt x="14495" y="533400"/>
                  <a:pt x="-22886" y="1066800"/>
                  <a:pt x="17370" y="1380226"/>
                </a:cubicBezTo>
                <a:cubicBezTo>
                  <a:pt x="57626" y="1693652"/>
                  <a:pt x="175520" y="1787105"/>
                  <a:pt x="293415" y="1880558"/>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9716" name="Freeform 16">
            <a:extLst>
              <a:ext uri="{FF2B5EF4-FFF2-40B4-BE49-F238E27FC236}">
                <a16:creationId xmlns:a16="http://schemas.microsoft.com/office/drawing/2014/main" id="{8480FD44-68F1-4ACD-AD4A-A31529D774BF}"/>
              </a:ext>
            </a:extLst>
          </p:cNvPr>
          <p:cNvSpPr>
            <a:spLocks/>
          </p:cNvSpPr>
          <p:nvPr/>
        </p:nvSpPr>
        <p:spPr bwMode="auto">
          <a:xfrm>
            <a:off x="3232150" y="2279650"/>
            <a:ext cx="373063" cy="3622675"/>
          </a:xfrm>
          <a:custGeom>
            <a:avLst/>
            <a:gdLst>
              <a:gd name="T0" fmla="*/ 45215 w 373088"/>
              <a:gd name="T1" fmla="*/ 0 h 3623095"/>
              <a:gd name="T2" fmla="*/ 27985 w 373088"/>
              <a:gd name="T3" fmla="*/ 2391757 h 3623095"/>
              <a:gd name="T4" fmla="*/ 372513 w 373088"/>
              <a:gd name="T5" fmla="*/ 3613447 h 3623095"/>
              <a:gd name="T6" fmla="*/ 0 60000 65536"/>
              <a:gd name="T7" fmla="*/ 0 60000 65536"/>
              <a:gd name="T8" fmla="*/ 0 60000 65536"/>
            </a:gdLst>
            <a:ahLst/>
            <a:cxnLst>
              <a:cxn ang="T6">
                <a:pos x="T0" y="T1"/>
              </a:cxn>
              <a:cxn ang="T7">
                <a:pos x="T2" y="T3"/>
              </a:cxn>
              <a:cxn ang="T8">
                <a:pos x="T4" y="T5"/>
              </a:cxn>
            </a:cxnLst>
            <a:rect l="0" t="0" r="r" b="b"/>
            <a:pathLst>
              <a:path w="373088" h="3623095">
                <a:moveTo>
                  <a:pt x="45284" y="0"/>
                </a:moveTo>
                <a:cubicBezTo>
                  <a:pt x="9340" y="897147"/>
                  <a:pt x="-26603" y="1794295"/>
                  <a:pt x="28031" y="2398144"/>
                </a:cubicBezTo>
                <a:cubicBezTo>
                  <a:pt x="82665" y="3001993"/>
                  <a:pt x="227876" y="3312544"/>
                  <a:pt x="373088" y="3623095"/>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pic>
        <p:nvPicPr>
          <p:cNvPr id="9238" name="Picture 5">
            <a:extLst>
              <a:ext uri="{FF2B5EF4-FFF2-40B4-BE49-F238E27FC236}">
                <a16:creationId xmlns:a16="http://schemas.microsoft.com/office/drawing/2014/main" id="{CF055747-078F-4BF5-AEBB-EBBD2DBB5F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5813" y="4205288"/>
            <a:ext cx="885825" cy="176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29718" name="Freeform 28">
            <a:extLst>
              <a:ext uri="{FF2B5EF4-FFF2-40B4-BE49-F238E27FC236}">
                <a16:creationId xmlns:a16="http://schemas.microsoft.com/office/drawing/2014/main" id="{F8A14651-6848-44DA-840D-48A4C872A6AF}"/>
              </a:ext>
            </a:extLst>
          </p:cNvPr>
          <p:cNvSpPr>
            <a:spLocks/>
          </p:cNvSpPr>
          <p:nvPr/>
        </p:nvSpPr>
        <p:spPr bwMode="auto">
          <a:xfrm>
            <a:off x="5572125" y="2343150"/>
            <a:ext cx="293688" cy="1879600"/>
          </a:xfrm>
          <a:custGeom>
            <a:avLst/>
            <a:gdLst>
              <a:gd name="T0" fmla="*/ 52997 w 293415"/>
              <a:gd name="T1" fmla="*/ 0 h 1880558"/>
              <a:gd name="T2" fmla="*/ 17738 w 293415"/>
              <a:gd name="T3" fmla="*/ 1364145 h 1880558"/>
              <a:gd name="T4" fmla="*/ 299760 w 293415"/>
              <a:gd name="T5" fmla="*/ 1858645 h 1880558"/>
              <a:gd name="T6" fmla="*/ 0 60000 65536"/>
              <a:gd name="T7" fmla="*/ 0 60000 65536"/>
              <a:gd name="T8" fmla="*/ 0 60000 65536"/>
            </a:gdLst>
            <a:ahLst/>
            <a:cxnLst>
              <a:cxn ang="T6">
                <a:pos x="T0" y="T1"/>
              </a:cxn>
              <a:cxn ang="T7">
                <a:pos x="T2" y="T3"/>
              </a:cxn>
              <a:cxn ang="T8">
                <a:pos x="T4" y="T5"/>
              </a:cxn>
            </a:cxnLst>
            <a:rect l="0" t="0" r="r" b="b"/>
            <a:pathLst>
              <a:path w="293415" h="1880558">
                <a:moveTo>
                  <a:pt x="51876" y="0"/>
                </a:moveTo>
                <a:cubicBezTo>
                  <a:pt x="14495" y="533400"/>
                  <a:pt x="-22886" y="1066800"/>
                  <a:pt x="17370" y="1380226"/>
                </a:cubicBezTo>
                <a:cubicBezTo>
                  <a:pt x="57626" y="1693652"/>
                  <a:pt x="175520" y="1787105"/>
                  <a:pt x="293415" y="1880558"/>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9719" name="Freeform 29">
            <a:extLst>
              <a:ext uri="{FF2B5EF4-FFF2-40B4-BE49-F238E27FC236}">
                <a16:creationId xmlns:a16="http://schemas.microsoft.com/office/drawing/2014/main" id="{A37EE1D9-DBF8-4A1D-A3C8-6EC523A8643D}"/>
              </a:ext>
            </a:extLst>
          </p:cNvPr>
          <p:cNvSpPr>
            <a:spLocks/>
          </p:cNvSpPr>
          <p:nvPr/>
        </p:nvSpPr>
        <p:spPr bwMode="auto">
          <a:xfrm>
            <a:off x="5457825" y="2308225"/>
            <a:ext cx="373063" cy="3622675"/>
          </a:xfrm>
          <a:custGeom>
            <a:avLst/>
            <a:gdLst>
              <a:gd name="T0" fmla="*/ 45215 w 373088"/>
              <a:gd name="T1" fmla="*/ 0 h 3623095"/>
              <a:gd name="T2" fmla="*/ 27985 w 373088"/>
              <a:gd name="T3" fmla="*/ 2391757 h 3623095"/>
              <a:gd name="T4" fmla="*/ 372513 w 373088"/>
              <a:gd name="T5" fmla="*/ 3613447 h 3623095"/>
              <a:gd name="T6" fmla="*/ 0 60000 65536"/>
              <a:gd name="T7" fmla="*/ 0 60000 65536"/>
              <a:gd name="T8" fmla="*/ 0 60000 65536"/>
            </a:gdLst>
            <a:ahLst/>
            <a:cxnLst>
              <a:cxn ang="T6">
                <a:pos x="T0" y="T1"/>
              </a:cxn>
              <a:cxn ang="T7">
                <a:pos x="T2" y="T3"/>
              </a:cxn>
              <a:cxn ang="T8">
                <a:pos x="T4" y="T5"/>
              </a:cxn>
            </a:cxnLst>
            <a:rect l="0" t="0" r="r" b="b"/>
            <a:pathLst>
              <a:path w="373088" h="3623095">
                <a:moveTo>
                  <a:pt x="45284" y="0"/>
                </a:moveTo>
                <a:cubicBezTo>
                  <a:pt x="9340" y="897147"/>
                  <a:pt x="-26603" y="1794295"/>
                  <a:pt x="28031" y="2398144"/>
                </a:cubicBezTo>
                <a:cubicBezTo>
                  <a:pt x="82665" y="3001993"/>
                  <a:pt x="227876" y="3312544"/>
                  <a:pt x="373088" y="3623095"/>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pic>
        <p:nvPicPr>
          <p:cNvPr id="9241" name="Picture 5">
            <a:extLst>
              <a:ext uri="{FF2B5EF4-FFF2-40B4-BE49-F238E27FC236}">
                <a16:creationId xmlns:a16="http://schemas.microsoft.com/office/drawing/2014/main" id="{9F070294-19D3-4691-8A12-7934696918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42188" y="4281488"/>
            <a:ext cx="885825" cy="1765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
        <p:nvSpPr>
          <p:cNvPr id="29721" name="Freeform 31">
            <a:extLst>
              <a:ext uri="{FF2B5EF4-FFF2-40B4-BE49-F238E27FC236}">
                <a16:creationId xmlns:a16="http://schemas.microsoft.com/office/drawing/2014/main" id="{5E128CC3-1484-42A5-AB2B-D347EFE7EB3B}"/>
              </a:ext>
            </a:extLst>
          </p:cNvPr>
          <p:cNvSpPr>
            <a:spLocks/>
          </p:cNvSpPr>
          <p:nvPr/>
        </p:nvSpPr>
        <p:spPr bwMode="auto">
          <a:xfrm>
            <a:off x="7048500" y="2419350"/>
            <a:ext cx="293688" cy="1879600"/>
          </a:xfrm>
          <a:custGeom>
            <a:avLst/>
            <a:gdLst>
              <a:gd name="T0" fmla="*/ 52997 w 293415"/>
              <a:gd name="T1" fmla="*/ 0 h 1880558"/>
              <a:gd name="T2" fmla="*/ 17738 w 293415"/>
              <a:gd name="T3" fmla="*/ 1364145 h 1880558"/>
              <a:gd name="T4" fmla="*/ 299760 w 293415"/>
              <a:gd name="T5" fmla="*/ 1858645 h 1880558"/>
              <a:gd name="T6" fmla="*/ 0 60000 65536"/>
              <a:gd name="T7" fmla="*/ 0 60000 65536"/>
              <a:gd name="T8" fmla="*/ 0 60000 65536"/>
            </a:gdLst>
            <a:ahLst/>
            <a:cxnLst>
              <a:cxn ang="T6">
                <a:pos x="T0" y="T1"/>
              </a:cxn>
              <a:cxn ang="T7">
                <a:pos x="T2" y="T3"/>
              </a:cxn>
              <a:cxn ang="T8">
                <a:pos x="T4" y="T5"/>
              </a:cxn>
            </a:cxnLst>
            <a:rect l="0" t="0" r="r" b="b"/>
            <a:pathLst>
              <a:path w="293415" h="1880558">
                <a:moveTo>
                  <a:pt x="51876" y="0"/>
                </a:moveTo>
                <a:cubicBezTo>
                  <a:pt x="14495" y="533400"/>
                  <a:pt x="-22886" y="1066800"/>
                  <a:pt x="17370" y="1380226"/>
                </a:cubicBezTo>
                <a:cubicBezTo>
                  <a:pt x="57626" y="1693652"/>
                  <a:pt x="175520" y="1787105"/>
                  <a:pt x="293415" y="1880558"/>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9722" name="Freeform 32">
            <a:extLst>
              <a:ext uri="{FF2B5EF4-FFF2-40B4-BE49-F238E27FC236}">
                <a16:creationId xmlns:a16="http://schemas.microsoft.com/office/drawing/2014/main" id="{71AB7254-0D5F-4752-955A-D3D3F4A3A46B}"/>
              </a:ext>
            </a:extLst>
          </p:cNvPr>
          <p:cNvSpPr>
            <a:spLocks/>
          </p:cNvSpPr>
          <p:nvPr/>
        </p:nvSpPr>
        <p:spPr bwMode="auto">
          <a:xfrm>
            <a:off x="6934200" y="2384425"/>
            <a:ext cx="373063" cy="3622675"/>
          </a:xfrm>
          <a:custGeom>
            <a:avLst/>
            <a:gdLst>
              <a:gd name="T0" fmla="*/ 45215 w 373088"/>
              <a:gd name="T1" fmla="*/ 0 h 3623095"/>
              <a:gd name="T2" fmla="*/ 27985 w 373088"/>
              <a:gd name="T3" fmla="*/ 2391757 h 3623095"/>
              <a:gd name="T4" fmla="*/ 372513 w 373088"/>
              <a:gd name="T5" fmla="*/ 3613447 h 3623095"/>
              <a:gd name="T6" fmla="*/ 0 60000 65536"/>
              <a:gd name="T7" fmla="*/ 0 60000 65536"/>
              <a:gd name="T8" fmla="*/ 0 60000 65536"/>
            </a:gdLst>
            <a:ahLst/>
            <a:cxnLst>
              <a:cxn ang="T6">
                <a:pos x="T0" y="T1"/>
              </a:cxn>
              <a:cxn ang="T7">
                <a:pos x="T2" y="T3"/>
              </a:cxn>
              <a:cxn ang="T8">
                <a:pos x="T4" y="T5"/>
              </a:cxn>
            </a:cxnLst>
            <a:rect l="0" t="0" r="r" b="b"/>
            <a:pathLst>
              <a:path w="373088" h="3623095">
                <a:moveTo>
                  <a:pt x="45284" y="0"/>
                </a:moveTo>
                <a:cubicBezTo>
                  <a:pt x="9340" y="897147"/>
                  <a:pt x="-26603" y="1794295"/>
                  <a:pt x="28031" y="2398144"/>
                </a:cubicBezTo>
                <a:cubicBezTo>
                  <a:pt x="82665" y="3001993"/>
                  <a:pt x="227876" y="3312544"/>
                  <a:pt x="373088" y="3623095"/>
                </a:cubicBez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34" name="Oval 33">
            <a:extLst>
              <a:ext uri="{FF2B5EF4-FFF2-40B4-BE49-F238E27FC236}">
                <a16:creationId xmlns:a16="http://schemas.microsoft.com/office/drawing/2014/main" id="{5DF3A543-DD72-42E6-8587-2B302F092EC1}"/>
              </a:ext>
            </a:extLst>
          </p:cNvPr>
          <p:cNvSpPr/>
          <p:nvPr/>
        </p:nvSpPr>
        <p:spPr bwMode="auto">
          <a:xfrm>
            <a:off x="4800600" y="4999038"/>
            <a:ext cx="46038" cy="46037"/>
          </a:xfrm>
          <a:prstGeom prst="ellipse">
            <a:avLst/>
          </a:prstGeom>
          <a:solidFill>
            <a:schemeClr val="tx1">
              <a:lumMod val="95000"/>
              <a:lumOff val="5000"/>
            </a:schemeClr>
          </a:solidFill>
          <a:ln w="9525" cap="flat" cmpd="sng" algn="ctr">
            <a:solidFill>
              <a:schemeClr val="tx1">
                <a:lumMod val="95000"/>
                <a:lumOff val="5000"/>
              </a:schemeClr>
            </a:solidFill>
            <a:prstDash val="solid"/>
            <a:round/>
            <a:headEnd type="none" w="med" len="med"/>
            <a:tailEnd type="none" w="med" len="med"/>
          </a:ln>
          <a:effectLst/>
        </p:spPr>
        <p:txBody>
          <a:bodyPr wrap="none" anchor="ctr"/>
          <a:lstStyle/>
          <a:p>
            <a:pPr algn="ctr">
              <a:defRPr/>
            </a:pPr>
            <a:endParaRPr lang="en-US"/>
          </a:p>
        </p:txBody>
      </p:sp>
      <p:sp>
        <p:nvSpPr>
          <p:cNvPr id="35" name="Oval 34">
            <a:extLst>
              <a:ext uri="{FF2B5EF4-FFF2-40B4-BE49-F238E27FC236}">
                <a16:creationId xmlns:a16="http://schemas.microsoft.com/office/drawing/2014/main" id="{E04C3AEB-813C-4AF2-A621-FA80B5025179}"/>
              </a:ext>
            </a:extLst>
          </p:cNvPr>
          <p:cNvSpPr/>
          <p:nvPr/>
        </p:nvSpPr>
        <p:spPr bwMode="auto">
          <a:xfrm>
            <a:off x="4983163" y="5005388"/>
            <a:ext cx="46037" cy="46037"/>
          </a:xfrm>
          <a:prstGeom prst="ellipse">
            <a:avLst/>
          </a:prstGeom>
          <a:solidFill>
            <a:schemeClr val="tx1">
              <a:lumMod val="95000"/>
              <a:lumOff val="5000"/>
            </a:schemeClr>
          </a:solidFill>
          <a:ln w="9525" cap="flat" cmpd="sng" algn="ctr">
            <a:solidFill>
              <a:schemeClr val="tx1">
                <a:lumMod val="95000"/>
                <a:lumOff val="5000"/>
              </a:schemeClr>
            </a:solidFill>
            <a:prstDash val="solid"/>
            <a:round/>
            <a:headEnd type="none" w="med" len="med"/>
            <a:tailEnd type="none" w="med" len="med"/>
          </a:ln>
          <a:effectLst/>
        </p:spPr>
        <p:txBody>
          <a:bodyPr wrap="none" anchor="ctr"/>
          <a:lstStyle/>
          <a:p>
            <a:pPr algn="ctr">
              <a:defRPr/>
            </a:pPr>
            <a:endParaRPr lang="en-US"/>
          </a:p>
        </p:txBody>
      </p:sp>
      <p:sp>
        <p:nvSpPr>
          <p:cNvPr id="36" name="Oval 35">
            <a:extLst>
              <a:ext uri="{FF2B5EF4-FFF2-40B4-BE49-F238E27FC236}">
                <a16:creationId xmlns:a16="http://schemas.microsoft.com/office/drawing/2014/main" id="{CF91FCF0-28CD-4A2A-8F77-E9CA879127E0}"/>
              </a:ext>
            </a:extLst>
          </p:cNvPr>
          <p:cNvSpPr/>
          <p:nvPr/>
        </p:nvSpPr>
        <p:spPr bwMode="auto">
          <a:xfrm>
            <a:off x="5135563" y="5005388"/>
            <a:ext cx="46037" cy="46037"/>
          </a:xfrm>
          <a:prstGeom prst="ellipse">
            <a:avLst/>
          </a:prstGeom>
          <a:solidFill>
            <a:schemeClr val="tx1">
              <a:lumMod val="95000"/>
              <a:lumOff val="5000"/>
            </a:schemeClr>
          </a:solidFill>
          <a:ln w="9525" cap="flat" cmpd="sng" algn="ctr">
            <a:solidFill>
              <a:schemeClr val="tx1">
                <a:lumMod val="95000"/>
                <a:lumOff val="5000"/>
              </a:schemeClr>
            </a:solidFill>
            <a:prstDash val="solid"/>
            <a:round/>
            <a:headEnd type="none" w="med" len="med"/>
            <a:tailEnd type="none" w="med" len="med"/>
          </a:ln>
          <a:effectLst/>
        </p:spPr>
        <p:txBody>
          <a:bodyPr wrap="none" anchor="ctr"/>
          <a:lstStyle/>
          <a:p>
            <a:pPr algn="ctr">
              <a:defRPr/>
            </a:pPr>
            <a:endParaRPr lang="en-US"/>
          </a:p>
        </p:txBody>
      </p:sp>
      <p:sp>
        <p:nvSpPr>
          <p:cNvPr id="29726" name="TextBox 22">
            <a:extLst>
              <a:ext uri="{FF2B5EF4-FFF2-40B4-BE49-F238E27FC236}">
                <a16:creationId xmlns:a16="http://schemas.microsoft.com/office/drawing/2014/main" id="{69EF7D96-BB65-473F-BA07-991C7E506693}"/>
              </a:ext>
            </a:extLst>
          </p:cNvPr>
          <p:cNvSpPr txBox="1">
            <a:spLocks noChangeArrowheads="1"/>
          </p:cNvSpPr>
          <p:nvPr/>
        </p:nvSpPr>
        <p:spPr bwMode="auto">
          <a:xfrm>
            <a:off x="1538288" y="1393825"/>
            <a:ext cx="78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PCB1</a:t>
            </a:r>
          </a:p>
        </p:txBody>
      </p:sp>
      <p:sp>
        <p:nvSpPr>
          <p:cNvPr id="29727" name="TextBox 38">
            <a:extLst>
              <a:ext uri="{FF2B5EF4-FFF2-40B4-BE49-F238E27FC236}">
                <a16:creationId xmlns:a16="http://schemas.microsoft.com/office/drawing/2014/main" id="{C30C195B-D6BE-4452-9D4E-D514421B578E}"/>
              </a:ext>
            </a:extLst>
          </p:cNvPr>
          <p:cNvSpPr txBox="1">
            <a:spLocks noChangeArrowheads="1"/>
          </p:cNvSpPr>
          <p:nvPr/>
        </p:nvSpPr>
        <p:spPr bwMode="auto">
          <a:xfrm>
            <a:off x="3025775" y="1384300"/>
            <a:ext cx="78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PCB2</a:t>
            </a:r>
          </a:p>
        </p:txBody>
      </p:sp>
      <p:sp>
        <p:nvSpPr>
          <p:cNvPr id="29728" name="TextBox 39">
            <a:extLst>
              <a:ext uri="{FF2B5EF4-FFF2-40B4-BE49-F238E27FC236}">
                <a16:creationId xmlns:a16="http://schemas.microsoft.com/office/drawing/2014/main" id="{5647C662-3950-408A-B0D8-3E43CA40ECF9}"/>
              </a:ext>
            </a:extLst>
          </p:cNvPr>
          <p:cNvSpPr txBox="1">
            <a:spLocks noChangeArrowheads="1"/>
          </p:cNvSpPr>
          <p:nvPr/>
        </p:nvSpPr>
        <p:spPr bwMode="auto">
          <a:xfrm>
            <a:off x="5419725" y="1401763"/>
            <a:ext cx="787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PCB3</a:t>
            </a:r>
          </a:p>
        </p:txBody>
      </p:sp>
      <p:sp>
        <p:nvSpPr>
          <p:cNvPr id="29729" name="TextBox 40">
            <a:extLst>
              <a:ext uri="{FF2B5EF4-FFF2-40B4-BE49-F238E27FC236}">
                <a16:creationId xmlns:a16="http://schemas.microsoft.com/office/drawing/2014/main" id="{9C4EA5B9-56AC-4728-B61F-EDA6416A3A48}"/>
              </a:ext>
            </a:extLst>
          </p:cNvPr>
          <p:cNvSpPr txBox="1">
            <a:spLocks noChangeArrowheads="1"/>
          </p:cNvSpPr>
          <p:nvPr/>
        </p:nvSpPr>
        <p:spPr bwMode="auto">
          <a:xfrm>
            <a:off x="6527800" y="1393825"/>
            <a:ext cx="787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PCB4</a:t>
            </a:r>
          </a:p>
        </p:txBody>
      </p:sp>
      <p:sp>
        <p:nvSpPr>
          <p:cNvPr id="29730" name="TextBox 23">
            <a:extLst>
              <a:ext uri="{FF2B5EF4-FFF2-40B4-BE49-F238E27FC236}">
                <a16:creationId xmlns:a16="http://schemas.microsoft.com/office/drawing/2014/main" id="{B0D0E664-D2E6-4AE1-88D6-B36C04C82187}"/>
              </a:ext>
            </a:extLst>
          </p:cNvPr>
          <p:cNvSpPr txBox="1">
            <a:spLocks noChangeArrowheads="1"/>
          </p:cNvSpPr>
          <p:nvPr/>
        </p:nvSpPr>
        <p:spPr bwMode="auto">
          <a:xfrm>
            <a:off x="914400" y="1066800"/>
            <a:ext cx="4206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latin typeface="Comic Sans MS" panose="030F0702030302020204" pitchFamily="66" charset="0"/>
              </a:rPr>
              <a:t>Memory area for OS (kernel space)</a:t>
            </a:r>
          </a:p>
        </p:txBody>
      </p:sp>
      <p:sp>
        <p:nvSpPr>
          <p:cNvPr id="29731" name="TextBox 42">
            <a:extLst>
              <a:ext uri="{FF2B5EF4-FFF2-40B4-BE49-F238E27FC236}">
                <a16:creationId xmlns:a16="http://schemas.microsoft.com/office/drawing/2014/main" id="{B81DC20A-CAA3-47EA-AF86-7441A56B02BF}"/>
              </a:ext>
            </a:extLst>
          </p:cNvPr>
          <p:cNvSpPr txBox="1">
            <a:spLocks noChangeArrowheads="1"/>
          </p:cNvSpPr>
          <p:nvPr/>
        </p:nvSpPr>
        <p:spPr bwMode="auto">
          <a:xfrm>
            <a:off x="3403600" y="5943600"/>
            <a:ext cx="4229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latin typeface="Comic Sans MS" panose="030F0702030302020204" pitchFamily="66" charset="0"/>
              </a:rPr>
              <a:t>Memory regions for user processes </a:t>
            </a:r>
          </a:p>
          <a:p>
            <a:pPr algn="ctr">
              <a:spcBef>
                <a:spcPct val="0"/>
              </a:spcBef>
              <a:buSzTx/>
              <a:buFontTx/>
              <a:buNone/>
            </a:pPr>
            <a:r>
              <a:rPr lang="en-US" altLang="en-US" b="1">
                <a:latin typeface="Comic Sans MS" panose="030F0702030302020204" pitchFamily="66" charset="0"/>
              </a:rPr>
              <a:t>(user space)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079F70F4-737F-4ED6-805C-9D71256E6B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1746" name="Rectangle 2">
            <a:extLst>
              <a:ext uri="{FF2B5EF4-FFF2-40B4-BE49-F238E27FC236}">
                <a16:creationId xmlns:a16="http://schemas.microsoft.com/office/drawing/2014/main" id="{DD056118-CCEB-4DB6-8667-E02D7F47E4EB}"/>
              </a:ext>
            </a:extLst>
          </p:cNvPr>
          <p:cNvSpPr>
            <a:spLocks noGrp="1" noChangeArrowheads="1"/>
          </p:cNvSpPr>
          <p:nvPr>
            <p:ph type="title"/>
          </p:nvPr>
        </p:nvSpPr>
        <p:spPr/>
        <p:txBody>
          <a:bodyPr/>
          <a:lstStyle/>
          <a:p>
            <a:r>
              <a:rPr lang="en-US" altLang="en-US"/>
              <a:t>Part 2:  Processes and Threads</a:t>
            </a:r>
          </a:p>
        </p:txBody>
      </p:sp>
      <p:sp>
        <p:nvSpPr>
          <p:cNvPr id="31747" name="Rectangle 3">
            <a:extLst>
              <a:ext uri="{FF2B5EF4-FFF2-40B4-BE49-F238E27FC236}">
                <a16:creationId xmlns:a16="http://schemas.microsoft.com/office/drawing/2014/main" id="{87328F68-8D62-48EE-BA96-BE93D8F1D628}"/>
              </a:ext>
            </a:extLst>
          </p:cNvPr>
          <p:cNvSpPr>
            <a:spLocks noGrp="1" noChangeArrowheads="1"/>
          </p:cNvSpPr>
          <p:nvPr>
            <p:ph type="body" idx="1"/>
          </p:nvPr>
        </p:nvSpPr>
        <p:spPr/>
        <p:txBody>
          <a:bodyPr/>
          <a:lstStyle/>
          <a:p>
            <a:r>
              <a:rPr lang="en-US" altLang="en-US" sz="2800"/>
              <a:t>Process Concept</a:t>
            </a:r>
          </a:p>
          <a:p>
            <a:r>
              <a:rPr lang="en-US" altLang="en-US" sz="2800" b="1"/>
              <a:t>Process Scheduling</a:t>
            </a:r>
          </a:p>
          <a:p>
            <a:r>
              <a:rPr lang="en-US" altLang="en-US" sz="2800"/>
              <a:t>Operation on Processes</a:t>
            </a:r>
          </a:p>
          <a:p>
            <a:r>
              <a:rPr lang="en-US" altLang="en-US" sz="2800"/>
              <a:t>Interprocess Communication</a:t>
            </a:r>
          </a:p>
          <a:p>
            <a:r>
              <a:rPr lang="en-US" altLang="en-US" sz="2800"/>
              <a:t>Threads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a:extLst>
              <a:ext uri="{FF2B5EF4-FFF2-40B4-BE49-F238E27FC236}">
                <a16:creationId xmlns:a16="http://schemas.microsoft.com/office/drawing/2014/main" id="{DE59C0D8-5FD5-4B62-A69A-047CFCCB589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3794" name="Rectangle 2">
            <a:extLst>
              <a:ext uri="{FF2B5EF4-FFF2-40B4-BE49-F238E27FC236}">
                <a16:creationId xmlns:a16="http://schemas.microsoft.com/office/drawing/2014/main" id="{A8F34AC1-BDAF-48A1-9008-D84E380859B5}"/>
              </a:ext>
            </a:extLst>
          </p:cNvPr>
          <p:cNvSpPr>
            <a:spLocks noGrp="1" noChangeArrowheads="1"/>
          </p:cNvSpPr>
          <p:nvPr>
            <p:ph type="title"/>
          </p:nvPr>
        </p:nvSpPr>
        <p:spPr>
          <a:xfrm>
            <a:off x="685800" y="495300"/>
            <a:ext cx="7512050" cy="457200"/>
          </a:xfrm>
        </p:spPr>
        <p:txBody>
          <a:bodyPr/>
          <a:lstStyle/>
          <a:p>
            <a:r>
              <a:rPr lang="en-US" altLang="en-US"/>
              <a:t>Context Switch Between Processes</a:t>
            </a:r>
          </a:p>
        </p:txBody>
      </p:sp>
      <p:pic>
        <p:nvPicPr>
          <p:cNvPr id="33795" name="Picture 5">
            <a:extLst>
              <a:ext uri="{FF2B5EF4-FFF2-40B4-BE49-F238E27FC236}">
                <a16:creationId xmlns:a16="http://schemas.microsoft.com/office/drawing/2014/main" id="{9A6ED48A-43CD-4149-99DB-B9B3F5ABF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27" t="832" r="2957" b="1047"/>
          <a:stretch>
            <a:fillRect/>
          </a:stretch>
        </p:blipFill>
        <p:spPr bwMode="auto">
          <a:xfrm>
            <a:off x="1570038" y="1289050"/>
            <a:ext cx="6045200"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extBox 7">
            <a:extLst>
              <a:ext uri="{FF2B5EF4-FFF2-40B4-BE49-F238E27FC236}">
                <a16:creationId xmlns:a16="http://schemas.microsoft.com/office/drawing/2014/main" id="{15D3DED9-FF0B-4AFE-B011-92EE8E8E446B}"/>
              </a:ext>
            </a:extLst>
          </p:cNvPr>
          <p:cNvSpPr txBox="1">
            <a:spLocks noChangeArrowheads="1"/>
          </p:cNvSpPr>
          <p:nvPr/>
        </p:nvSpPr>
        <p:spPr bwMode="auto">
          <a:xfrm>
            <a:off x="3411538" y="1676400"/>
            <a:ext cx="581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1400"/>
              <a:t>timer</a:t>
            </a:r>
          </a:p>
        </p:txBody>
      </p:sp>
      <p:sp>
        <p:nvSpPr>
          <p:cNvPr id="33797" name="TextBox 5">
            <a:extLst>
              <a:ext uri="{FF2B5EF4-FFF2-40B4-BE49-F238E27FC236}">
                <a16:creationId xmlns:a16="http://schemas.microsoft.com/office/drawing/2014/main" id="{A8AB2E14-E76D-4F1B-8A1E-9BEDD99E64B9}"/>
              </a:ext>
            </a:extLst>
          </p:cNvPr>
          <p:cNvSpPr txBox="1">
            <a:spLocks noChangeArrowheads="1"/>
          </p:cNvSpPr>
          <p:nvPr/>
        </p:nvSpPr>
        <p:spPr bwMode="auto">
          <a:xfrm>
            <a:off x="3408363" y="3990975"/>
            <a:ext cx="581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1400"/>
              <a:t>timer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3">
            <a:extLst>
              <a:ext uri="{FF2B5EF4-FFF2-40B4-BE49-F238E27FC236}">
                <a16:creationId xmlns:a16="http://schemas.microsoft.com/office/drawing/2014/main" id="{E1BEB1E9-A3F9-4F97-BA3C-D5222191DA4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5842" name="Rectangle 2">
            <a:extLst>
              <a:ext uri="{FF2B5EF4-FFF2-40B4-BE49-F238E27FC236}">
                <a16:creationId xmlns:a16="http://schemas.microsoft.com/office/drawing/2014/main" id="{36775CAC-D6D7-4627-9566-2A1A33809616}"/>
              </a:ext>
            </a:extLst>
          </p:cNvPr>
          <p:cNvSpPr>
            <a:spLocks noGrp="1" noChangeArrowheads="1"/>
          </p:cNvSpPr>
          <p:nvPr>
            <p:ph type="title"/>
          </p:nvPr>
        </p:nvSpPr>
        <p:spPr/>
        <p:txBody>
          <a:bodyPr/>
          <a:lstStyle/>
          <a:p>
            <a:r>
              <a:rPr lang="en-US" altLang="en-US"/>
              <a:t>Context Switch</a:t>
            </a:r>
          </a:p>
        </p:txBody>
      </p:sp>
      <p:sp>
        <p:nvSpPr>
          <p:cNvPr id="35843" name="Rectangle 3">
            <a:extLst>
              <a:ext uri="{FF2B5EF4-FFF2-40B4-BE49-F238E27FC236}">
                <a16:creationId xmlns:a16="http://schemas.microsoft.com/office/drawing/2014/main" id="{C1426301-C768-424D-8619-F68EB7C6C9C1}"/>
              </a:ext>
            </a:extLst>
          </p:cNvPr>
          <p:cNvSpPr>
            <a:spLocks noGrp="1" noChangeArrowheads="1"/>
          </p:cNvSpPr>
          <p:nvPr>
            <p:ph type="body" idx="1"/>
          </p:nvPr>
        </p:nvSpPr>
        <p:spPr>
          <a:xfrm>
            <a:off x="606425" y="1687513"/>
            <a:ext cx="7912100" cy="3649662"/>
          </a:xfrm>
        </p:spPr>
        <p:txBody>
          <a:bodyPr/>
          <a:lstStyle/>
          <a:p>
            <a:r>
              <a:rPr lang="en-US" altLang="en-US" sz="2800"/>
              <a:t>When CPU switches to another process, the system must save the context (i.e., information) of the old process and load the saved context for the new process</a:t>
            </a:r>
          </a:p>
          <a:p>
            <a:pPr lvl="4"/>
            <a:endParaRPr lang="en-US" altLang="en-US" sz="2200"/>
          </a:p>
          <a:p>
            <a:r>
              <a:rPr lang="en-US" altLang="en-US" sz="2800">
                <a:solidFill>
                  <a:srgbClr val="FF0000"/>
                </a:solidFill>
              </a:rPr>
              <a:t>Context switch time is overhead:</a:t>
            </a:r>
            <a:r>
              <a:rPr lang="en-US" altLang="en-US" sz="2800"/>
              <a:t> The system does </a:t>
            </a:r>
            <a:r>
              <a:rPr lang="en-US" altLang="en-US" sz="2800">
                <a:solidFill>
                  <a:schemeClr val="accent2"/>
                </a:solidFill>
              </a:rPr>
              <a:t>NO</a:t>
            </a:r>
            <a:r>
              <a:rPr lang="en-US" altLang="en-US" sz="2800"/>
              <a:t> useful work while switching between processes</a:t>
            </a:r>
          </a:p>
          <a:p>
            <a:endParaRPr lang="en-US" altLang="en-US"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AE3A2770-0E5E-4A96-A6D2-F603F322352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7890" name="Rectangle 2">
            <a:extLst>
              <a:ext uri="{FF2B5EF4-FFF2-40B4-BE49-F238E27FC236}">
                <a16:creationId xmlns:a16="http://schemas.microsoft.com/office/drawing/2014/main" id="{7D6B00AB-0A44-42B0-A645-67BBDEFC672A}"/>
              </a:ext>
            </a:extLst>
          </p:cNvPr>
          <p:cNvSpPr>
            <a:spLocks noGrp="1" noChangeArrowheads="1"/>
          </p:cNvSpPr>
          <p:nvPr>
            <p:ph type="title"/>
          </p:nvPr>
        </p:nvSpPr>
        <p:spPr/>
        <p:txBody>
          <a:bodyPr/>
          <a:lstStyle/>
          <a:p>
            <a:r>
              <a:rPr lang="en-US" altLang="en-US"/>
              <a:t>Process Scheduling Queues</a:t>
            </a:r>
          </a:p>
        </p:txBody>
      </p:sp>
      <p:sp>
        <p:nvSpPr>
          <p:cNvPr id="11268" name="Rectangle 3">
            <a:extLst>
              <a:ext uri="{FF2B5EF4-FFF2-40B4-BE49-F238E27FC236}">
                <a16:creationId xmlns:a16="http://schemas.microsoft.com/office/drawing/2014/main" id="{EDA21E7F-31AC-43BD-BC5E-C19B12D0A114}"/>
              </a:ext>
            </a:extLst>
          </p:cNvPr>
          <p:cNvSpPr>
            <a:spLocks noGrp="1" noChangeArrowheads="1"/>
          </p:cNvSpPr>
          <p:nvPr>
            <p:ph type="body" idx="1"/>
          </p:nvPr>
        </p:nvSpPr>
        <p:spPr>
          <a:xfrm>
            <a:off x="838200" y="1295400"/>
            <a:ext cx="7543800" cy="4668838"/>
          </a:xfrm>
        </p:spPr>
        <p:txBody>
          <a:bodyPr/>
          <a:lstStyle/>
          <a:p>
            <a:pPr>
              <a:spcBef>
                <a:spcPts val="1000"/>
              </a:spcBef>
            </a:pPr>
            <a:r>
              <a:rPr lang="en-US" altLang="en-US" sz="2800">
                <a:solidFill>
                  <a:srgbClr val="FF0000"/>
                </a:solidFill>
              </a:rPr>
              <a:t>Job queue</a:t>
            </a:r>
            <a:r>
              <a:rPr lang="en-US" altLang="en-US" sz="2800"/>
              <a:t>: Set of all processes </a:t>
            </a:r>
            <a:r>
              <a:rPr lang="en-US" altLang="en-US" sz="2800" i="1"/>
              <a:t>with the same state </a:t>
            </a:r>
            <a:r>
              <a:rPr lang="en-US" altLang="en-US" sz="2800"/>
              <a:t>in the system</a:t>
            </a:r>
          </a:p>
          <a:p>
            <a:pPr lvl="1">
              <a:spcBef>
                <a:spcPts val="1000"/>
              </a:spcBef>
            </a:pPr>
            <a:r>
              <a:rPr lang="en-US" altLang="en-US" sz="2800">
                <a:solidFill>
                  <a:schemeClr val="accent2"/>
                </a:solidFill>
              </a:rPr>
              <a:t>Ready queue </a:t>
            </a:r>
            <a:r>
              <a:rPr lang="en-US" altLang="en-US" sz="2800"/>
              <a:t>(processes in ready state), </a:t>
            </a:r>
            <a:r>
              <a:rPr lang="en-US" altLang="en-US" sz="2800">
                <a:solidFill>
                  <a:schemeClr val="accent2"/>
                </a:solidFill>
              </a:rPr>
              <a:t>device queue </a:t>
            </a:r>
            <a:r>
              <a:rPr lang="en-US" altLang="en-US" sz="2800"/>
              <a:t>(processes in waiting state and waiting for a specific I/O device), etc.</a:t>
            </a:r>
          </a:p>
          <a:p>
            <a:pPr lvl="4">
              <a:spcBef>
                <a:spcPts val="1000"/>
              </a:spcBef>
            </a:pPr>
            <a:endParaRPr lang="en-US" altLang="en-US" sz="2200"/>
          </a:p>
          <a:p>
            <a:pPr>
              <a:spcBef>
                <a:spcPts val="1000"/>
              </a:spcBef>
            </a:pPr>
            <a:r>
              <a:rPr lang="en-US" altLang="en-US" sz="2800"/>
              <a:t>All the queues are stored in main memory (</a:t>
            </a:r>
            <a:r>
              <a:rPr lang="en-US" altLang="en-US" sz="2800">
                <a:solidFill>
                  <a:schemeClr val="accent2"/>
                </a:solidFill>
              </a:rPr>
              <a:t>kernel memory space</a:t>
            </a:r>
            <a:r>
              <a:rPr lang="en-US" altLang="en-US" sz="2800"/>
              <a:t>)</a:t>
            </a:r>
          </a:p>
          <a:p>
            <a:pPr lvl="4">
              <a:spcBef>
                <a:spcPts val="1000"/>
              </a:spcBef>
            </a:pPr>
            <a:endParaRPr lang="en-US" altLang="en-US" sz="2200"/>
          </a:p>
          <a:p>
            <a:pPr>
              <a:spcBef>
                <a:spcPts val="1000"/>
              </a:spcBef>
            </a:pPr>
            <a:r>
              <a:rPr lang="en-US" altLang="en-US" sz="2800"/>
              <a:t>Process migrates between queues when its state changes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2">
            <a:extLst>
              <a:ext uri="{FF2B5EF4-FFF2-40B4-BE49-F238E27FC236}">
                <a16:creationId xmlns:a16="http://schemas.microsoft.com/office/drawing/2014/main" id="{D4CF2DB4-553C-44C3-838D-85DEB4A9443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9938" name="Rectangle 2">
            <a:extLst>
              <a:ext uri="{FF2B5EF4-FFF2-40B4-BE49-F238E27FC236}">
                <a16:creationId xmlns:a16="http://schemas.microsoft.com/office/drawing/2014/main" id="{F0ED35B4-F7F2-4A6C-A02B-04F38F8F9A33}"/>
              </a:ext>
            </a:extLst>
          </p:cNvPr>
          <p:cNvSpPr>
            <a:spLocks noGrp="1" noChangeArrowheads="1"/>
          </p:cNvSpPr>
          <p:nvPr>
            <p:ph type="title"/>
          </p:nvPr>
        </p:nvSpPr>
        <p:spPr>
          <a:xfrm>
            <a:off x="373063" y="403225"/>
            <a:ext cx="8391525" cy="457200"/>
          </a:xfrm>
        </p:spPr>
        <p:txBody>
          <a:bodyPr/>
          <a:lstStyle/>
          <a:p>
            <a:r>
              <a:rPr lang="en-US" altLang="en-US" sz="2800"/>
              <a:t>Ready Queue And Various I/O Device Queues</a:t>
            </a:r>
            <a:endParaRPr lang="en-US" altLang="en-US"/>
          </a:p>
        </p:txBody>
      </p:sp>
      <p:pic>
        <p:nvPicPr>
          <p:cNvPr id="39939" name="Picture 5">
            <a:extLst>
              <a:ext uri="{FF2B5EF4-FFF2-40B4-BE49-F238E27FC236}">
                <a16:creationId xmlns:a16="http://schemas.microsoft.com/office/drawing/2014/main" id="{2C7A179C-C242-4B4F-8710-E1C6BA886B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50" t="540" r="4106" b="690"/>
          <a:stretch>
            <a:fillRect/>
          </a:stretch>
        </p:blipFill>
        <p:spPr bwMode="auto">
          <a:xfrm>
            <a:off x="1531938" y="1158875"/>
            <a:ext cx="6059487"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3761-42E1-840B-3712-7AD4FE12A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D03B77-BE64-5B98-AA8A-3D1B3CA0EC5E}"/>
              </a:ext>
            </a:extLst>
          </p:cNvPr>
          <p:cNvSpPr>
            <a:spLocks noGrp="1"/>
          </p:cNvSpPr>
          <p:nvPr>
            <p:ph type="title"/>
          </p:nvPr>
        </p:nvSpPr>
        <p:spPr/>
        <p:txBody>
          <a:bodyPr/>
          <a:lstStyle/>
          <a:p>
            <a:r>
              <a:rPr lang="en-US" dirty="0"/>
              <a:t>ExtraQ3 </a:t>
            </a:r>
            <a:r>
              <a:rPr lang="en-US" dirty="0" err="1"/>
              <a:t>Wooclap</a:t>
            </a:r>
            <a:r>
              <a:rPr lang="en-US" dirty="0"/>
              <a:t> Exercise</a:t>
            </a:r>
          </a:p>
        </p:txBody>
      </p:sp>
      <p:sp>
        <p:nvSpPr>
          <p:cNvPr id="4" name="Footer Placeholder 3">
            <a:extLst>
              <a:ext uri="{FF2B5EF4-FFF2-40B4-BE49-F238E27FC236}">
                <a16:creationId xmlns:a16="http://schemas.microsoft.com/office/drawing/2014/main" id="{0DB14E0E-D085-48FA-1FF9-78727391A2B0}"/>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02C7496F-2F8C-BE9A-DD0C-2E3BA7504AB1}"/>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02C7496F-2F8C-BE9A-DD0C-2E3BA7504AB1}"/>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210430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8E9BF35A-56B4-4E46-A408-06211289B2E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1986" name="Rectangle 2">
            <a:extLst>
              <a:ext uri="{FF2B5EF4-FFF2-40B4-BE49-F238E27FC236}">
                <a16:creationId xmlns:a16="http://schemas.microsoft.com/office/drawing/2014/main" id="{F85F39A6-BE9D-40A7-8BAD-11BC313C4956}"/>
              </a:ext>
            </a:extLst>
          </p:cNvPr>
          <p:cNvSpPr>
            <a:spLocks noGrp="1" noChangeArrowheads="1"/>
          </p:cNvSpPr>
          <p:nvPr>
            <p:ph type="title"/>
          </p:nvPr>
        </p:nvSpPr>
        <p:spPr/>
        <p:txBody>
          <a:bodyPr/>
          <a:lstStyle/>
          <a:p>
            <a:r>
              <a:rPr lang="en-US" altLang="en-US" sz="3400"/>
              <a:t>Process Schedulers</a:t>
            </a:r>
            <a:endParaRPr lang="en-US" altLang="en-US"/>
          </a:p>
        </p:txBody>
      </p:sp>
      <p:sp>
        <p:nvSpPr>
          <p:cNvPr id="13316" name="Rectangle 3">
            <a:extLst>
              <a:ext uri="{FF2B5EF4-FFF2-40B4-BE49-F238E27FC236}">
                <a16:creationId xmlns:a16="http://schemas.microsoft.com/office/drawing/2014/main" id="{D6B99E29-76EE-4648-A3F2-9251EBF8E4B5}"/>
              </a:ext>
            </a:extLst>
          </p:cNvPr>
          <p:cNvSpPr>
            <a:spLocks noGrp="1" noChangeArrowheads="1"/>
          </p:cNvSpPr>
          <p:nvPr>
            <p:ph type="body" idx="1"/>
          </p:nvPr>
        </p:nvSpPr>
        <p:spPr>
          <a:xfrm>
            <a:off x="533400" y="1295400"/>
            <a:ext cx="8153400" cy="3787775"/>
          </a:xfrm>
        </p:spPr>
        <p:txBody>
          <a:bodyPr/>
          <a:lstStyle/>
          <a:p>
            <a:pPr>
              <a:spcBef>
                <a:spcPts val="1000"/>
              </a:spcBef>
            </a:pPr>
            <a:r>
              <a:rPr lang="en-US" altLang="en-US" sz="2500"/>
              <a:t>We need multiple schedulers for different purposes </a:t>
            </a:r>
          </a:p>
          <a:p>
            <a:pPr marL="914400" lvl="1" indent="-457200">
              <a:spcBef>
                <a:spcPts val="1000"/>
              </a:spcBef>
              <a:buFont typeface="Helvetica" panose="020B0604020202020204" pitchFamily="34" charset="0"/>
              <a:buAutoNum type="arabicPeriod"/>
            </a:pPr>
            <a:r>
              <a:rPr lang="en-US" altLang="en-US" sz="2500">
                <a:solidFill>
                  <a:srgbClr val="FF0000"/>
                </a:solidFill>
              </a:rPr>
              <a:t>Long-term scheduler (or job scheduler):</a:t>
            </a:r>
            <a:r>
              <a:rPr lang="en-US" altLang="en-US" sz="2500"/>
              <a:t> Selects processes from disk and loads them into main memory for execution</a:t>
            </a:r>
          </a:p>
          <a:p>
            <a:pPr marL="914400" lvl="1" indent="-457200">
              <a:spcBef>
                <a:spcPts val="1000"/>
              </a:spcBef>
              <a:buFont typeface="Helvetica" panose="020B0604020202020204" pitchFamily="34" charset="0"/>
              <a:buAutoNum type="arabicPeriod"/>
            </a:pPr>
            <a:r>
              <a:rPr lang="en-US" altLang="en-US" sz="2500">
                <a:solidFill>
                  <a:srgbClr val="FF0000"/>
                </a:solidFill>
              </a:rPr>
              <a:t>Short-term scheduler (or CPU scheduler):</a:t>
            </a:r>
            <a:r>
              <a:rPr lang="en-US" altLang="en-US" sz="2500"/>
              <a:t> Selects from among the processes that are ready to execute, and allocates the CPU to one of them</a:t>
            </a:r>
          </a:p>
          <a:p>
            <a:pPr marL="914400" lvl="1" indent="-457200">
              <a:spcBef>
                <a:spcPts val="1000"/>
              </a:spcBef>
              <a:buFont typeface="Helvetica" panose="020B0604020202020204" pitchFamily="34" charset="0"/>
              <a:buAutoNum type="arabicPeriod"/>
            </a:pPr>
            <a:r>
              <a:rPr lang="en-US" altLang="en-US" sz="2500">
                <a:solidFill>
                  <a:srgbClr val="FF0000"/>
                </a:solidFill>
              </a:rPr>
              <a:t>Medium-term scheduler:</a:t>
            </a:r>
          </a:p>
          <a:p>
            <a:pPr lvl="2"/>
            <a:r>
              <a:rPr lang="en-US" altLang="en-US" sz="2300"/>
              <a:t>When the system load is heavy, swaps out a partially executed process from memory to hard disk </a:t>
            </a:r>
          </a:p>
          <a:p>
            <a:pPr lvl="2"/>
            <a:r>
              <a:rPr lang="en-US" altLang="en-US" sz="2300"/>
              <a:t>When the system load is light, such processes can be swapped back into main memory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331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31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3">
            <a:extLst>
              <a:ext uri="{FF2B5EF4-FFF2-40B4-BE49-F238E27FC236}">
                <a16:creationId xmlns:a16="http://schemas.microsoft.com/office/drawing/2014/main" id="{51469B6D-F5B2-4F72-98AB-ADCF5E69244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4034" name="Rectangle 2">
            <a:extLst>
              <a:ext uri="{FF2B5EF4-FFF2-40B4-BE49-F238E27FC236}">
                <a16:creationId xmlns:a16="http://schemas.microsoft.com/office/drawing/2014/main" id="{F501D04F-2F41-4351-9821-C0D858818291}"/>
              </a:ext>
            </a:extLst>
          </p:cNvPr>
          <p:cNvSpPr>
            <a:spLocks noGrp="1" noChangeArrowheads="1"/>
          </p:cNvSpPr>
          <p:nvPr>
            <p:ph type="title"/>
          </p:nvPr>
        </p:nvSpPr>
        <p:spPr/>
        <p:txBody>
          <a:bodyPr/>
          <a:lstStyle/>
          <a:p>
            <a:r>
              <a:rPr lang="en-US" altLang="en-US"/>
              <a:t>Process Schedulers (Cont.)</a:t>
            </a:r>
          </a:p>
        </p:txBody>
      </p:sp>
      <p:sp>
        <p:nvSpPr>
          <p:cNvPr id="14340" name="Rectangle 3">
            <a:extLst>
              <a:ext uri="{FF2B5EF4-FFF2-40B4-BE49-F238E27FC236}">
                <a16:creationId xmlns:a16="http://schemas.microsoft.com/office/drawing/2014/main" id="{692DF9F3-D893-497F-9B98-33AB7252103A}"/>
              </a:ext>
            </a:extLst>
          </p:cNvPr>
          <p:cNvSpPr>
            <a:spLocks noGrp="1" noChangeArrowheads="1"/>
          </p:cNvSpPr>
          <p:nvPr>
            <p:ph type="body" idx="1"/>
          </p:nvPr>
        </p:nvSpPr>
        <p:spPr>
          <a:xfrm>
            <a:off x="623888" y="1335088"/>
            <a:ext cx="8034337" cy="4854575"/>
          </a:xfrm>
        </p:spPr>
        <p:txBody>
          <a:bodyPr/>
          <a:lstStyle/>
          <a:p>
            <a:r>
              <a:rPr lang="en-US" altLang="en-US" sz="2800"/>
              <a:t>Short-term scheduler is invoked frequently (e.g., 100 milliseconds) in a multiprogrammed system for responsiveness and efficiency purposes</a:t>
            </a:r>
          </a:p>
          <a:p>
            <a:pPr lvl="4"/>
            <a:endParaRPr lang="en-US" altLang="en-US" sz="2200">
              <a:sym typeface="Symbol" panose="05050102010706020507" pitchFamily="18" charset="2"/>
            </a:endParaRPr>
          </a:p>
          <a:p>
            <a:r>
              <a:rPr lang="en-US" altLang="en-US" sz="2800">
                <a:sym typeface="Symbol" panose="05050102010706020507" pitchFamily="18" charset="2"/>
              </a:rPr>
              <a:t>Long-term scheduler is invoked infrequently (e.g., seconds or minutes)</a:t>
            </a:r>
          </a:p>
          <a:p>
            <a:pPr lvl="4"/>
            <a:endParaRPr lang="en-US" altLang="en-US" sz="2200">
              <a:sym typeface="Symbol" panose="05050102010706020507" pitchFamily="18" charset="2"/>
            </a:endParaRPr>
          </a:p>
          <a:p>
            <a:r>
              <a:rPr lang="en-US" altLang="en-US" sz="2800">
                <a:sym typeface="Symbol" panose="05050102010706020507" pitchFamily="18" charset="2"/>
              </a:rPr>
              <a:t>The degree of multiprogramming is initially controlled by the long-term scheduler, </a:t>
            </a:r>
            <a:r>
              <a:rPr lang="en-US" altLang="en-US" sz="2800" i="1">
                <a:sym typeface="Symbol" panose="05050102010706020507" pitchFamily="18" charset="2"/>
              </a:rPr>
              <a:t>and </a:t>
            </a:r>
            <a:r>
              <a:rPr lang="en-US" altLang="en-US" sz="2800">
                <a:sym typeface="Symbol" panose="05050102010706020507" pitchFamily="18" charset="2"/>
              </a:rPr>
              <a:t>thereafter by the medium-term scheduler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3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3">
            <a:extLst>
              <a:ext uri="{FF2B5EF4-FFF2-40B4-BE49-F238E27FC236}">
                <a16:creationId xmlns:a16="http://schemas.microsoft.com/office/drawing/2014/main" id="{4C0B444B-BC14-4858-86C0-3A5E7BC705D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6082" name="Rectangle 2">
            <a:extLst>
              <a:ext uri="{FF2B5EF4-FFF2-40B4-BE49-F238E27FC236}">
                <a16:creationId xmlns:a16="http://schemas.microsoft.com/office/drawing/2014/main" id="{3C10C10E-83F0-4DD4-BAC4-138AD62DA1D8}"/>
              </a:ext>
            </a:extLst>
          </p:cNvPr>
          <p:cNvSpPr>
            <a:spLocks noGrp="1" noChangeArrowheads="1"/>
          </p:cNvSpPr>
          <p:nvPr>
            <p:ph type="title"/>
          </p:nvPr>
        </p:nvSpPr>
        <p:spPr/>
        <p:txBody>
          <a:bodyPr/>
          <a:lstStyle/>
          <a:p>
            <a:r>
              <a:rPr lang="en-US" altLang="en-US"/>
              <a:t>Part 2:  Processes and Threads</a:t>
            </a:r>
          </a:p>
        </p:txBody>
      </p:sp>
      <p:sp>
        <p:nvSpPr>
          <p:cNvPr id="46083" name="Rectangle 3">
            <a:extLst>
              <a:ext uri="{FF2B5EF4-FFF2-40B4-BE49-F238E27FC236}">
                <a16:creationId xmlns:a16="http://schemas.microsoft.com/office/drawing/2014/main" id="{8F14F6CD-3726-4D76-80F2-CDEDDADB4E30}"/>
              </a:ext>
            </a:extLst>
          </p:cNvPr>
          <p:cNvSpPr>
            <a:spLocks noGrp="1" noChangeArrowheads="1"/>
          </p:cNvSpPr>
          <p:nvPr>
            <p:ph type="body" idx="1"/>
          </p:nvPr>
        </p:nvSpPr>
        <p:spPr/>
        <p:txBody>
          <a:bodyPr/>
          <a:lstStyle/>
          <a:p>
            <a:r>
              <a:rPr lang="en-US" altLang="en-US" sz="2800"/>
              <a:t>Process Concept</a:t>
            </a:r>
          </a:p>
          <a:p>
            <a:r>
              <a:rPr lang="en-US" altLang="en-US" sz="2800"/>
              <a:t>Process Scheduling</a:t>
            </a:r>
          </a:p>
          <a:p>
            <a:r>
              <a:rPr lang="en-US" altLang="en-US" sz="2800" b="1"/>
              <a:t>Operation on Processes</a:t>
            </a:r>
          </a:p>
          <a:p>
            <a:r>
              <a:rPr lang="en-US" altLang="en-US" sz="2800"/>
              <a:t>Interprocess Communication</a:t>
            </a:r>
          </a:p>
          <a:p>
            <a:r>
              <a:rPr lang="en-US" altLang="en-US" sz="2800"/>
              <a:t>Threads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5E3E1A43-21B2-472D-AF58-F3434E55E7F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8130" name="Rectangle 2">
            <a:extLst>
              <a:ext uri="{FF2B5EF4-FFF2-40B4-BE49-F238E27FC236}">
                <a16:creationId xmlns:a16="http://schemas.microsoft.com/office/drawing/2014/main" id="{A9BFCD81-94A6-49B6-A18C-906AC10B97D9}"/>
              </a:ext>
            </a:extLst>
          </p:cNvPr>
          <p:cNvSpPr>
            <a:spLocks noGrp="1" noChangeArrowheads="1"/>
          </p:cNvSpPr>
          <p:nvPr>
            <p:ph type="title"/>
          </p:nvPr>
        </p:nvSpPr>
        <p:spPr/>
        <p:txBody>
          <a:bodyPr/>
          <a:lstStyle/>
          <a:p>
            <a:r>
              <a:rPr lang="en-US" altLang="en-US"/>
              <a:t>Process Creation</a:t>
            </a:r>
          </a:p>
        </p:txBody>
      </p:sp>
      <p:sp>
        <p:nvSpPr>
          <p:cNvPr id="15364" name="Rectangle 3">
            <a:extLst>
              <a:ext uri="{FF2B5EF4-FFF2-40B4-BE49-F238E27FC236}">
                <a16:creationId xmlns:a16="http://schemas.microsoft.com/office/drawing/2014/main" id="{3941E3C6-5C76-4B48-9AF4-6A3251E4369D}"/>
              </a:ext>
            </a:extLst>
          </p:cNvPr>
          <p:cNvSpPr>
            <a:spLocks noGrp="1" noChangeArrowheads="1"/>
          </p:cNvSpPr>
          <p:nvPr>
            <p:ph type="body" idx="1"/>
          </p:nvPr>
        </p:nvSpPr>
        <p:spPr>
          <a:xfrm>
            <a:off x="552450" y="1300163"/>
            <a:ext cx="8035925" cy="5243512"/>
          </a:xfrm>
        </p:spPr>
        <p:txBody>
          <a:bodyPr/>
          <a:lstStyle/>
          <a:p>
            <a:pPr>
              <a:defRPr/>
            </a:pPr>
            <a:r>
              <a:rPr lang="en-US" sz="2600"/>
              <a:t>Parent process creates children processes, which, in turn create other processes, forming a tree of processes (</a:t>
            </a:r>
            <a:r>
              <a:rPr lang="en-US" sz="2600" b="1">
                <a:solidFill>
                  <a:srgbClr val="FF0000"/>
                </a:solidFill>
              </a:rPr>
              <a:t>fork</a:t>
            </a:r>
            <a:r>
              <a:rPr lang="en-US" sz="2600"/>
              <a:t>)</a:t>
            </a:r>
          </a:p>
          <a:p>
            <a:pPr marL="0" indent="0">
              <a:buFontTx/>
              <a:buNone/>
              <a:defRPr/>
            </a:pPr>
            <a:endParaRPr lang="en-US" sz="2800"/>
          </a:p>
        </p:txBody>
      </p:sp>
      <p:sp>
        <p:nvSpPr>
          <p:cNvPr id="2" name="Oval 1">
            <a:extLst>
              <a:ext uri="{FF2B5EF4-FFF2-40B4-BE49-F238E27FC236}">
                <a16:creationId xmlns:a16="http://schemas.microsoft.com/office/drawing/2014/main" id="{597398C9-C8DD-4FF8-B320-D3559074622E}"/>
              </a:ext>
            </a:extLst>
          </p:cNvPr>
          <p:cNvSpPr/>
          <p:nvPr/>
        </p:nvSpPr>
        <p:spPr bwMode="auto">
          <a:xfrm>
            <a:off x="3733800" y="274320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Root process</a:t>
            </a:r>
          </a:p>
        </p:txBody>
      </p:sp>
      <p:sp>
        <p:nvSpPr>
          <p:cNvPr id="7" name="Oval 6">
            <a:extLst>
              <a:ext uri="{FF2B5EF4-FFF2-40B4-BE49-F238E27FC236}">
                <a16:creationId xmlns:a16="http://schemas.microsoft.com/office/drawing/2014/main" id="{3D12A26C-F07B-4ABF-8D52-6218A28AF868}"/>
              </a:ext>
            </a:extLst>
          </p:cNvPr>
          <p:cNvSpPr/>
          <p:nvPr/>
        </p:nvSpPr>
        <p:spPr bwMode="auto">
          <a:xfrm>
            <a:off x="647700" y="373380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Console 1</a:t>
            </a:r>
          </a:p>
        </p:txBody>
      </p:sp>
      <p:sp>
        <p:nvSpPr>
          <p:cNvPr id="8" name="Oval 7">
            <a:extLst>
              <a:ext uri="{FF2B5EF4-FFF2-40B4-BE49-F238E27FC236}">
                <a16:creationId xmlns:a16="http://schemas.microsoft.com/office/drawing/2014/main" id="{20E32BBD-F828-4E09-902B-156BF15B0D83}"/>
              </a:ext>
            </a:extLst>
          </p:cNvPr>
          <p:cNvSpPr/>
          <p:nvPr/>
        </p:nvSpPr>
        <p:spPr bwMode="auto">
          <a:xfrm>
            <a:off x="2705100" y="373380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Console 2</a:t>
            </a:r>
          </a:p>
        </p:txBody>
      </p:sp>
      <p:sp>
        <p:nvSpPr>
          <p:cNvPr id="9" name="Oval 8">
            <a:extLst>
              <a:ext uri="{FF2B5EF4-FFF2-40B4-BE49-F238E27FC236}">
                <a16:creationId xmlns:a16="http://schemas.microsoft.com/office/drawing/2014/main" id="{EFE09249-5514-442A-9C1B-BC5F8C042F61}"/>
              </a:ext>
            </a:extLst>
          </p:cNvPr>
          <p:cNvSpPr/>
          <p:nvPr/>
        </p:nvSpPr>
        <p:spPr bwMode="auto">
          <a:xfrm>
            <a:off x="4762500" y="373380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swap</a:t>
            </a:r>
          </a:p>
        </p:txBody>
      </p:sp>
      <p:sp>
        <p:nvSpPr>
          <p:cNvPr id="10" name="Oval 9">
            <a:extLst>
              <a:ext uri="{FF2B5EF4-FFF2-40B4-BE49-F238E27FC236}">
                <a16:creationId xmlns:a16="http://schemas.microsoft.com/office/drawing/2014/main" id="{7F726146-7E51-4B17-A700-246E30C7C16C}"/>
              </a:ext>
            </a:extLst>
          </p:cNvPr>
          <p:cNvSpPr/>
          <p:nvPr/>
        </p:nvSpPr>
        <p:spPr bwMode="auto">
          <a:xfrm>
            <a:off x="6819900" y="373380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flush</a:t>
            </a:r>
          </a:p>
        </p:txBody>
      </p:sp>
      <p:grpSp>
        <p:nvGrpSpPr>
          <p:cNvPr id="48137" name="Group 3">
            <a:extLst>
              <a:ext uri="{FF2B5EF4-FFF2-40B4-BE49-F238E27FC236}">
                <a16:creationId xmlns:a16="http://schemas.microsoft.com/office/drawing/2014/main" id="{3851AF4D-FDE9-4DCE-932A-B0EBD0D431D7}"/>
              </a:ext>
            </a:extLst>
          </p:cNvPr>
          <p:cNvGrpSpPr>
            <a:grpSpLocks/>
          </p:cNvGrpSpPr>
          <p:nvPr/>
        </p:nvGrpSpPr>
        <p:grpSpPr bwMode="auto">
          <a:xfrm>
            <a:off x="4705350" y="3638550"/>
            <a:ext cx="3981450" cy="1152525"/>
            <a:chOff x="4495800" y="1905000"/>
            <a:chExt cx="3980802" cy="1152448"/>
          </a:xfrm>
        </p:grpSpPr>
        <p:sp>
          <p:nvSpPr>
            <p:cNvPr id="48150" name="Rectangle 1">
              <a:extLst>
                <a:ext uri="{FF2B5EF4-FFF2-40B4-BE49-F238E27FC236}">
                  <a16:creationId xmlns:a16="http://schemas.microsoft.com/office/drawing/2014/main" id="{1DF1EDDE-2050-4B89-B831-34FEB09B5BE5}"/>
                </a:ext>
              </a:extLst>
            </p:cNvPr>
            <p:cNvSpPr>
              <a:spLocks noChangeArrowheads="1"/>
            </p:cNvSpPr>
            <p:nvPr/>
          </p:nvSpPr>
          <p:spPr bwMode="auto">
            <a:xfrm>
              <a:off x="4495800" y="1905000"/>
              <a:ext cx="3980802" cy="762000"/>
            </a:xfrm>
            <a:prstGeom prst="rect">
              <a:avLst/>
            </a:prstGeom>
            <a:noFill/>
            <a:ln w="9525">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solidFill>
                  <a:srgbClr val="FF0000"/>
                </a:solidFill>
              </a:endParaRPr>
            </a:p>
          </p:txBody>
        </p:sp>
        <p:sp>
          <p:nvSpPr>
            <p:cNvPr id="48151" name="TextBox 2">
              <a:extLst>
                <a:ext uri="{FF2B5EF4-FFF2-40B4-BE49-F238E27FC236}">
                  <a16:creationId xmlns:a16="http://schemas.microsoft.com/office/drawing/2014/main" id="{681D2FE2-9BEE-43EA-BC55-FC7D740C3B1E}"/>
                </a:ext>
              </a:extLst>
            </p:cNvPr>
            <p:cNvSpPr txBox="1">
              <a:spLocks noChangeArrowheads="1"/>
            </p:cNvSpPr>
            <p:nvPr/>
          </p:nvSpPr>
          <p:spPr bwMode="auto">
            <a:xfrm>
              <a:off x="5638800" y="2688116"/>
              <a:ext cx="25314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rPr>
                <a:t>Background processes</a:t>
              </a:r>
            </a:p>
          </p:txBody>
        </p:sp>
      </p:grpSp>
      <p:cxnSp>
        <p:nvCxnSpPr>
          <p:cNvPr id="48138" name="Straight Arrow Connector 3">
            <a:extLst>
              <a:ext uri="{FF2B5EF4-FFF2-40B4-BE49-F238E27FC236}">
                <a16:creationId xmlns:a16="http://schemas.microsoft.com/office/drawing/2014/main" id="{3A88A3A6-BC06-48B7-A8BF-ABE56F804AF3}"/>
              </a:ext>
            </a:extLst>
          </p:cNvPr>
          <p:cNvCxnSpPr>
            <a:cxnSpLocks noChangeShapeType="1"/>
            <a:stCxn id="2" idx="5"/>
            <a:endCxn id="10" idx="0"/>
          </p:cNvCxnSpPr>
          <p:nvPr/>
        </p:nvCxnSpPr>
        <p:spPr bwMode="auto">
          <a:xfrm>
            <a:off x="5229225" y="3263900"/>
            <a:ext cx="2466975" cy="469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39" name="Straight Arrow Connector 14">
            <a:extLst>
              <a:ext uri="{FF2B5EF4-FFF2-40B4-BE49-F238E27FC236}">
                <a16:creationId xmlns:a16="http://schemas.microsoft.com/office/drawing/2014/main" id="{90F3E852-C5A4-4750-839F-549166A8854B}"/>
              </a:ext>
            </a:extLst>
          </p:cNvPr>
          <p:cNvCxnSpPr>
            <a:cxnSpLocks noChangeShapeType="1"/>
            <a:stCxn id="2" idx="5"/>
          </p:cNvCxnSpPr>
          <p:nvPr/>
        </p:nvCxnSpPr>
        <p:spPr bwMode="auto">
          <a:xfrm>
            <a:off x="5229225" y="3263900"/>
            <a:ext cx="257175" cy="469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40" name="Straight Arrow Connector 17">
            <a:extLst>
              <a:ext uri="{FF2B5EF4-FFF2-40B4-BE49-F238E27FC236}">
                <a16:creationId xmlns:a16="http://schemas.microsoft.com/office/drawing/2014/main" id="{9DD9BFFA-D82E-4EC0-BD4D-4E2AB241CD00}"/>
              </a:ext>
            </a:extLst>
          </p:cNvPr>
          <p:cNvCxnSpPr>
            <a:cxnSpLocks noChangeShapeType="1"/>
            <a:stCxn id="2" idx="3"/>
            <a:endCxn id="7" idx="0"/>
          </p:cNvCxnSpPr>
          <p:nvPr/>
        </p:nvCxnSpPr>
        <p:spPr bwMode="auto">
          <a:xfrm flipH="1">
            <a:off x="1524000" y="3263900"/>
            <a:ext cx="2466975" cy="469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41" name="Straight Arrow Connector 20">
            <a:extLst>
              <a:ext uri="{FF2B5EF4-FFF2-40B4-BE49-F238E27FC236}">
                <a16:creationId xmlns:a16="http://schemas.microsoft.com/office/drawing/2014/main" id="{52E373A0-E1B4-4B99-9DFB-B7AB41E3F32C}"/>
              </a:ext>
            </a:extLst>
          </p:cNvPr>
          <p:cNvCxnSpPr>
            <a:cxnSpLocks noChangeShapeType="1"/>
            <a:stCxn id="2" idx="3"/>
            <a:endCxn id="8" idx="0"/>
          </p:cNvCxnSpPr>
          <p:nvPr/>
        </p:nvCxnSpPr>
        <p:spPr bwMode="auto">
          <a:xfrm flipH="1">
            <a:off x="3581400" y="3263900"/>
            <a:ext cx="409575" cy="469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8142" name="Straight Arrow Connector 22">
            <a:extLst>
              <a:ext uri="{FF2B5EF4-FFF2-40B4-BE49-F238E27FC236}">
                <a16:creationId xmlns:a16="http://schemas.microsoft.com/office/drawing/2014/main" id="{98DB4AD6-1244-45C1-ACFD-DD3F9A7BEAF2}"/>
              </a:ext>
            </a:extLst>
          </p:cNvPr>
          <p:cNvCxnSpPr>
            <a:cxnSpLocks noChangeShapeType="1"/>
          </p:cNvCxnSpPr>
          <p:nvPr/>
        </p:nvCxnSpPr>
        <p:spPr bwMode="auto">
          <a:xfrm flipH="1">
            <a:off x="1371600" y="4343400"/>
            <a:ext cx="152400" cy="6286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7" name="Oval 26">
            <a:extLst>
              <a:ext uri="{FF2B5EF4-FFF2-40B4-BE49-F238E27FC236}">
                <a16:creationId xmlns:a16="http://schemas.microsoft.com/office/drawing/2014/main" id="{3A391E6E-AF77-4E80-846B-E5E2554D04FB}"/>
              </a:ext>
            </a:extLst>
          </p:cNvPr>
          <p:cNvSpPr/>
          <p:nvPr/>
        </p:nvSpPr>
        <p:spPr bwMode="auto">
          <a:xfrm>
            <a:off x="495300" y="497205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Unzip</a:t>
            </a:r>
          </a:p>
        </p:txBody>
      </p:sp>
      <p:sp>
        <p:nvSpPr>
          <p:cNvPr id="30" name="Oval 29">
            <a:extLst>
              <a:ext uri="{FF2B5EF4-FFF2-40B4-BE49-F238E27FC236}">
                <a16:creationId xmlns:a16="http://schemas.microsoft.com/office/drawing/2014/main" id="{2B00C197-F7B9-4AD3-B8CC-24F3E1C763BB}"/>
              </a:ext>
            </a:extLst>
          </p:cNvPr>
          <p:cNvSpPr/>
          <p:nvPr/>
        </p:nvSpPr>
        <p:spPr bwMode="auto">
          <a:xfrm>
            <a:off x="2805113" y="4972050"/>
            <a:ext cx="1752600" cy="609600"/>
          </a:xfrm>
          <a:prstGeom prst="ellipse">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a:t>Search</a:t>
            </a:r>
          </a:p>
        </p:txBody>
      </p:sp>
      <p:cxnSp>
        <p:nvCxnSpPr>
          <p:cNvPr id="48145" name="Straight Arrow Connector 30">
            <a:extLst>
              <a:ext uri="{FF2B5EF4-FFF2-40B4-BE49-F238E27FC236}">
                <a16:creationId xmlns:a16="http://schemas.microsoft.com/office/drawing/2014/main" id="{C536833D-DEB2-4E01-AEFE-D46417E4CAD4}"/>
              </a:ext>
            </a:extLst>
          </p:cNvPr>
          <p:cNvCxnSpPr>
            <a:cxnSpLocks noChangeShapeType="1"/>
            <a:stCxn id="8" idx="4"/>
            <a:endCxn id="30" idx="0"/>
          </p:cNvCxnSpPr>
          <p:nvPr/>
        </p:nvCxnSpPr>
        <p:spPr bwMode="auto">
          <a:xfrm>
            <a:off x="3581400" y="4343400"/>
            <a:ext cx="100013" cy="62865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48146" name="Group 9">
            <a:extLst>
              <a:ext uri="{FF2B5EF4-FFF2-40B4-BE49-F238E27FC236}">
                <a16:creationId xmlns:a16="http://schemas.microsoft.com/office/drawing/2014/main" id="{85822784-6441-4417-9ED3-5A3212A9BC12}"/>
              </a:ext>
            </a:extLst>
          </p:cNvPr>
          <p:cNvGrpSpPr>
            <a:grpSpLocks/>
          </p:cNvGrpSpPr>
          <p:nvPr/>
        </p:nvGrpSpPr>
        <p:grpSpPr bwMode="auto">
          <a:xfrm>
            <a:off x="2133600" y="4343400"/>
            <a:ext cx="5170488" cy="1503363"/>
            <a:chOff x="2999581" y="3943193"/>
            <a:chExt cx="5170682" cy="1503738"/>
          </a:xfrm>
        </p:grpSpPr>
        <p:cxnSp>
          <p:nvCxnSpPr>
            <p:cNvPr id="48147" name="Straight Arrow Connector 5">
              <a:extLst>
                <a:ext uri="{FF2B5EF4-FFF2-40B4-BE49-F238E27FC236}">
                  <a16:creationId xmlns:a16="http://schemas.microsoft.com/office/drawing/2014/main" id="{E8D0A6D5-9A53-45E7-9164-D3E7C09C905E}"/>
                </a:ext>
              </a:extLst>
            </p:cNvPr>
            <p:cNvCxnSpPr>
              <a:cxnSpLocks noChangeShapeType="1"/>
            </p:cNvCxnSpPr>
            <p:nvPr/>
          </p:nvCxnSpPr>
          <p:spPr bwMode="auto">
            <a:xfrm>
              <a:off x="4599596" y="3943193"/>
              <a:ext cx="1420204" cy="1086007"/>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8148" name="Straight Arrow Connector 7">
              <a:extLst>
                <a:ext uri="{FF2B5EF4-FFF2-40B4-BE49-F238E27FC236}">
                  <a16:creationId xmlns:a16="http://schemas.microsoft.com/office/drawing/2014/main" id="{0F9DD431-2D99-4A27-99FA-C3BAE40D0F34}"/>
                </a:ext>
              </a:extLst>
            </p:cNvPr>
            <p:cNvCxnSpPr>
              <a:cxnSpLocks noChangeShapeType="1"/>
            </p:cNvCxnSpPr>
            <p:nvPr/>
          </p:nvCxnSpPr>
          <p:spPr bwMode="auto">
            <a:xfrm>
              <a:off x="2999581" y="3943193"/>
              <a:ext cx="3020220" cy="1200308"/>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48149" name="TextBox 12">
              <a:extLst>
                <a:ext uri="{FF2B5EF4-FFF2-40B4-BE49-F238E27FC236}">
                  <a16:creationId xmlns:a16="http://schemas.microsoft.com/office/drawing/2014/main" id="{5EC40455-39FB-4AF8-9916-C3E0E97059F1}"/>
                </a:ext>
              </a:extLst>
            </p:cNvPr>
            <p:cNvSpPr txBox="1">
              <a:spLocks noChangeArrowheads="1"/>
            </p:cNvSpPr>
            <p:nvPr/>
          </p:nvSpPr>
          <p:spPr bwMode="auto">
            <a:xfrm>
              <a:off x="5997873" y="4800600"/>
              <a:ext cx="217239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rPr>
                <a:t>Two user </a:t>
              </a:r>
            </a:p>
            <a:p>
              <a:pPr algn="ctr">
                <a:spcBef>
                  <a:spcPct val="0"/>
                </a:spcBef>
                <a:buSzTx/>
                <a:buFontTx/>
                <a:buNone/>
              </a:pPr>
              <a:r>
                <a:rPr lang="en-US" altLang="en-US">
                  <a:solidFill>
                    <a:srgbClr val="FF0000"/>
                  </a:solidFill>
                </a:rPr>
                <a:t>command consoles</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E54CC0E1-4F74-4203-B8BD-CAB777C20EF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0178" name="Rectangle 2">
            <a:extLst>
              <a:ext uri="{FF2B5EF4-FFF2-40B4-BE49-F238E27FC236}">
                <a16:creationId xmlns:a16="http://schemas.microsoft.com/office/drawing/2014/main" id="{260A01F6-91C1-42FF-BF87-2D34FCF2FB96}"/>
              </a:ext>
            </a:extLst>
          </p:cNvPr>
          <p:cNvSpPr>
            <a:spLocks noGrp="1" noChangeArrowheads="1"/>
          </p:cNvSpPr>
          <p:nvPr>
            <p:ph type="title"/>
          </p:nvPr>
        </p:nvSpPr>
        <p:spPr/>
        <p:txBody>
          <a:bodyPr/>
          <a:lstStyle/>
          <a:p>
            <a:r>
              <a:rPr lang="en-US" altLang="en-US"/>
              <a:t>Process Creation (Cont.)</a:t>
            </a:r>
          </a:p>
        </p:txBody>
      </p:sp>
      <p:sp>
        <p:nvSpPr>
          <p:cNvPr id="16388" name="Rectangle 3">
            <a:extLst>
              <a:ext uri="{FF2B5EF4-FFF2-40B4-BE49-F238E27FC236}">
                <a16:creationId xmlns:a16="http://schemas.microsoft.com/office/drawing/2014/main" id="{BB552CD6-DD2B-4EED-A78A-613B72F47DC1}"/>
              </a:ext>
            </a:extLst>
          </p:cNvPr>
          <p:cNvSpPr>
            <a:spLocks noGrp="1" noChangeArrowheads="1"/>
          </p:cNvSpPr>
          <p:nvPr>
            <p:ph type="body" idx="1"/>
          </p:nvPr>
        </p:nvSpPr>
        <p:spPr>
          <a:xfrm>
            <a:off x="552450" y="1300163"/>
            <a:ext cx="8035925" cy="5243512"/>
          </a:xfrm>
        </p:spPr>
        <p:txBody>
          <a:bodyPr/>
          <a:lstStyle/>
          <a:p>
            <a:pPr>
              <a:defRPr/>
            </a:pPr>
            <a:r>
              <a:rPr lang="en-US" altLang="en-US" sz="2600">
                <a:solidFill>
                  <a:srgbClr val="FF0000"/>
                </a:solidFill>
              </a:rPr>
              <a:t>Two possible execution orders</a:t>
            </a:r>
          </a:p>
          <a:p>
            <a:pPr marL="971550" lvl="1" indent="-514350">
              <a:buFont typeface="+mj-lt"/>
              <a:buAutoNum type="arabicPeriod"/>
              <a:defRPr/>
            </a:pPr>
            <a:r>
              <a:rPr lang="en-US" altLang="en-US" sz="2600"/>
              <a:t>Parent and children execute concurrently     (and independently)</a:t>
            </a:r>
          </a:p>
          <a:p>
            <a:pPr marL="971550" lvl="1" indent="-514350">
              <a:buFont typeface="+mj-lt"/>
              <a:buAutoNum type="arabicPeriod"/>
              <a:defRPr/>
            </a:pPr>
            <a:r>
              <a:rPr lang="en-US" altLang="en-US" sz="2600"/>
              <a:t>Parent waits until all children terminate (</a:t>
            </a:r>
            <a:r>
              <a:rPr lang="en-US" altLang="en-US" sz="2600" b="1">
                <a:solidFill>
                  <a:schemeClr val="accent2"/>
                </a:solidFill>
              </a:rPr>
              <a:t>wait(),join()</a:t>
            </a:r>
            <a:r>
              <a:rPr lang="en-US" altLang="en-US" sz="2600"/>
              <a:t>)</a:t>
            </a:r>
          </a:p>
          <a:p>
            <a:pPr lvl="4">
              <a:defRPr/>
            </a:pPr>
            <a:endParaRPr lang="en-US" altLang="en-US" sz="2000"/>
          </a:p>
          <a:p>
            <a:pPr>
              <a:defRPr/>
            </a:pPr>
            <a:r>
              <a:rPr lang="en-US" altLang="en-US" sz="2600">
                <a:solidFill>
                  <a:srgbClr val="FF0000"/>
                </a:solidFill>
              </a:rPr>
              <a:t>Examples</a:t>
            </a:r>
          </a:p>
          <a:p>
            <a:pPr lvl="1">
              <a:defRPr/>
            </a:pPr>
            <a:r>
              <a:rPr lang="en-US" altLang="en-US" sz="2600"/>
              <a:t>Many web browsers nowadays fork a new process when we access a new page in a “tab”</a:t>
            </a:r>
          </a:p>
          <a:p>
            <a:pPr lvl="1">
              <a:defRPr/>
            </a:pPr>
            <a:r>
              <a:rPr lang="en-US" altLang="en-US" sz="2600"/>
              <a:t>OS may create background processes for monitoring and maintenance tasks </a:t>
            </a:r>
          </a:p>
          <a:p>
            <a:pPr>
              <a:defRPr/>
            </a:pP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3">
            <a:extLst>
              <a:ext uri="{FF2B5EF4-FFF2-40B4-BE49-F238E27FC236}">
                <a16:creationId xmlns:a16="http://schemas.microsoft.com/office/drawing/2014/main" id="{24E871E5-BD80-4F70-AE4A-B533B094C32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2226" name="Rectangle 2">
            <a:extLst>
              <a:ext uri="{FF2B5EF4-FFF2-40B4-BE49-F238E27FC236}">
                <a16:creationId xmlns:a16="http://schemas.microsoft.com/office/drawing/2014/main" id="{D857F458-992E-4F1B-89BE-6BFD2B4CE103}"/>
              </a:ext>
            </a:extLst>
          </p:cNvPr>
          <p:cNvSpPr>
            <a:spLocks noGrp="1" noChangeArrowheads="1"/>
          </p:cNvSpPr>
          <p:nvPr>
            <p:ph type="title"/>
          </p:nvPr>
        </p:nvSpPr>
        <p:spPr/>
        <p:txBody>
          <a:bodyPr/>
          <a:lstStyle/>
          <a:p>
            <a:r>
              <a:rPr lang="en-US" altLang="en-US"/>
              <a:t>Process Termination</a:t>
            </a:r>
          </a:p>
        </p:txBody>
      </p:sp>
      <p:sp>
        <p:nvSpPr>
          <p:cNvPr id="17412" name="Rectangle 3">
            <a:extLst>
              <a:ext uri="{FF2B5EF4-FFF2-40B4-BE49-F238E27FC236}">
                <a16:creationId xmlns:a16="http://schemas.microsoft.com/office/drawing/2014/main" id="{260F26CB-BB21-4FAA-A8C7-ACF6DE93AF3A}"/>
              </a:ext>
            </a:extLst>
          </p:cNvPr>
          <p:cNvSpPr>
            <a:spLocks noGrp="1" noChangeArrowheads="1"/>
          </p:cNvSpPr>
          <p:nvPr>
            <p:ph type="body" idx="1"/>
          </p:nvPr>
        </p:nvSpPr>
        <p:spPr>
          <a:xfrm>
            <a:off x="412750" y="1260475"/>
            <a:ext cx="8355013" cy="5195888"/>
          </a:xfrm>
        </p:spPr>
        <p:txBody>
          <a:bodyPr/>
          <a:lstStyle/>
          <a:p>
            <a:pPr>
              <a:lnSpc>
                <a:spcPct val="90000"/>
              </a:lnSpc>
            </a:pPr>
            <a:r>
              <a:rPr lang="en-US" altLang="en-US" sz="2400"/>
              <a:t>Two possible ways to terminate a process</a:t>
            </a:r>
          </a:p>
          <a:p>
            <a:pPr lvl="4">
              <a:lnSpc>
                <a:spcPct val="90000"/>
              </a:lnSpc>
            </a:pPr>
            <a:endParaRPr lang="en-US" altLang="en-US"/>
          </a:p>
          <a:p>
            <a:pPr lvl="1">
              <a:lnSpc>
                <a:spcPct val="90000"/>
              </a:lnSpc>
            </a:pPr>
            <a:r>
              <a:rPr lang="en-US" altLang="en-US" sz="2400">
                <a:solidFill>
                  <a:srgbClr val="FF0000"/>
                </a:solidFill>
              </a:rPr>
              <a:t>Exit:</a:t>
            </a:r>
            <a:r>
              <a:rPr lang="en-US" altLang="en-US" sz="2400"/>
              <a:t> Process executes last statement and asks the OS to delete it</a:t>
            </a:r>
          </a:p>
          <a:p>
            <a:pPr lvl="2">
              <a:lnSpc>
                <a:spcPct val="90000"/>
              </a:lnSpc>
            </a:pPr>
            <a:r>
              <a:rPr lang="en-US" altLang="en-US" sz="2400"/>
              <a:t>A child may output return data to its parent</a:t>
            </a:r>
          </a:p>
          <a:p>
            <a:pPr lvl="2">
              <a:lnSpc>
                <a:spcPct val="90000"/>
              </a:lnSpc>
            </a:pPr>
            <a:r>
              <a:rPr lang="en-US" altLang="en-US" sz="2400"/>
              <a:t>Process resources are de-allocated by the OS</a:t>
            </a:r>
          </a:p>
          <a:p>
            <a:pPr lvl="4">
              <a:lnSpc>
                <a:spcPct val="90000"/>
              </a:lnSpc>
            </a:pPr>
            <a:endParaRPr lang="en-US" altLang="en-US"/>
          </a:p>
          <a:p>
            <a:pPr lvl="1">
              <a:lnSpc>
                <a:spcPct val="90000"/>
              </a:lnSpc>
            </a:pPr>
            <a:r>
              <a:rPr lang="en-US" altLang="en-US" sz="2400">
                <a:solidFill>
                  <a:srgbClr val="FF0000"/>
                </a:solidFill>
              </a:rPr>
              <a:t>Abort:</a:t>
            </a:r>
            <a:r>
              <a:rPr lang="en-US" altLang="en-US" sz="2400"/>
              <a:t> Parent may terminate execution of children processes at any time</a:t>
            </a:r>
          </a:p>
          <a:p>
            <a:pPr lvl="2">
              <a:lnSpc>
                <a:spcPct val="90000"/>
              </a:lnSpc>
            </a:pPr>
            <a:r>
              <a:rPr lang="en-US" altLang="en-US" sz="2400"/>
              <a:t>Child has exceeded allocated resources</a:t>
            </a:r>
          </a:p>
          <a:p>
            <a:pPr lvl="2">
              <a:lnSpc>
                <a:spcPct val="90000"/>
              </a:lnSpc>
            </a:pPr>
            <a:r>
              <a:rPr lang="en-US" altLang="en-US" sz="2400"/>
              <a:t>Task assigned to child is no longer required</a:t>
            </a:r>
          </a:p>
          <a:p>
            <a:pPr lvl="2">
              <a:lnSpc>
                <a:spcPct val="90000"/>
              </a:lnSpc>
            </a:pPr>
            <a:r>
              <a:rPr lang="en-US" altLang="en-US" sz="2400"/>
              <a:t>Parent is exiting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41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3">
            <a:extLst>
              <a:ext uri="{FF2B5EF4-FFF2-40B4-BE49-F238E27FC236}">
                <a16:creationId xmlns:a16="http://schemas.microsoft.com/office/drawing/2014/main" id="{BBFFCB87-EC2D-4FA5-8061-82D55DF680A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4274" name="Rectangle 2">
            <a:extLst>
              <a:ext uri="{FF2B5EF4-FFF2-40B4-BE49-F238E27FC236}">
                <a16:creationId xmlns:a16="http://schemas.microsoft.com/office/drawing/2014/main" id="{810EB20E-E05A-4CA0-AC4E-A3463D549137}"/>
              </a:ext>
            </a:extLst>
          </p:cNvPr>
          <p:cNvSpPr>
            <a:spLocks noGrp="1" noChangeArrowheads="1"/>
          </p:cNvSpPr>
          <p:nvPr>
            <p:ph type="title"/>
          </p:nvPr>
        </p:nvSpPr>
        <p:spPr/>
        <p:txBody>
          <a:bodyPr/>
          <a:lstStyle/>
          <a:p>
            <a:r>
              <a:rPr lang="en-US" altLang="en-US"/>
              <a:t>Part 2:  Processes and Threads</a:t>
            </a:r>
          </a:p>
        </p:txBody>
      </p:sp>
      <p:sp>
        <p:nvSpPr>
          <p:cNvPr id="54275" name="Rectangle 3">
            <a:extLst>
              <a:ext uri="{FF2B5EF4-FFF2-40B4-BE49-F238E27FC236}">
                <a16:creationId xmlns:a16="http://schemas.microsoft.com/office/drawing/2014/main" id="{E2BFEDA5-03B3-4CF8-BE67-EBF53F9D0F54}"/>
              </a:ext>
            </a:extLst>
          </p:cNvPr>
          <p:cNvSpPr>
            <a:spLocks noGrp="1" noChangeArrowheads="1"/>
          </p:cNvSpPr>
          <p:nvPr>
            <p:ph type="body" idx="1"/>
          </p:nvPr>
        </p:nvSpPr>
        <p:spPr/>
        <p:txBody>
          <a:bodyPr/>
          <a:lstStyle/>
          <a:p>
            <a:r>
              <a:rPr lang="en-US" altLang="en-US" sz="2800"/>
              <a:t>Process Concept</a:t>
            </a:r>
          </a:p>
          <a:p>
            <a:r>
              <a:rPr lang="en-US" altLang="en-US" sz="2800"/>
              <a:t>Process Scheduling</a:t>
            </a:r>
          </a:p>
          <a:p>
            <a:r>
              <a:rPr lang="en-US" altLang="en-US" sz="2800"/>
              <a:t>Operation on Processes</a:t>
            </a:r>
          </a:p>
          <a:p>
            <a:r>
              <a:rPr lang="en-US" altLang="en-US" sz="2800" b="1"/>
              <a:t>Interprocess Communication</a:t>
            </a:r>
          </a:p>
          <a:p>
            <a:r>
              <a:rPr lang="en-US" altLang="en-US" sz="2800"/>
              <a:t>Threads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oter Placeholder 3">
            <a:extLst>
              <a:ext uri="{FF2B5EF4-FFF2-40B4-BE49-F238E27FC236}">
                <a16:creationId xmlns:a16="http://schemas.microsoft.com/office/drawing/2014/main" id="{77E238F5-379D-4F27-A1DB-28DB253B773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6322" name="Rectangle 2">
            <a:extLst>
              <a:ext uri="{FF2B5EF4-FFF2-40B4-BE49-F238E27FC236}">
                <a16:creationId xmlns:a16="http://schemas.microsoft.com/office/drawing/2014/main" id="{2135B674-49D8-4515-A388-5A7F66BBC0CD}"/>
              </a:ext>
            </a:extLst>
          </p:cNvPr>
          <p:cNvSpPr>
            <a:spLocks noGrp="1" noChangeArrowheads="1"/>
          </p:cNvSpPr>
          <p:nvPr>
            <p:ph type="title"/>
          </p:nvPr>
        </p:nvSpPr>
        <p:spPr/>
        <p:txBody>
          <a:bodyPr/>
          <a:lstStyle/>
          <a:p>
            <a:r>
              <a:rPr lang="en-US" altLang="en-US"/>
              <a:t>Cooperating Processes</a:t>
            </a:r>
          </a:p>
        </p:txBody>
      </p:sp>
      <p:sp>
        <p:nvSpPr>
          <p:cNvPr id="18436" name="Rectangle 3">
            <a:extLst>
              <a:ext uri="{FF2B5EF4-FFF2-40B4-BE49-F238E27FC236}">
                <a16:creationId xmlns:a16="http://schemas.microsoft.com/office/drawing/2014/main" id="{F318CB74-BE51-47CB-AA0D-89304E5BC578}"/>
              </a:ext>
            </a:extLst>
          </p:cNvPr>
          <p:cNvSpPr>
            <a:spLocks noGrp="1" noChangeArrowheads="1"/>
          </p:cNvSpPr>
          <p:nvPr>
            <p:ph type="body" idx="1"/>
          </p:nvPr>
        </p:nvSpPr>
        <p:spPr>
          <a:xfrm>
            <a:off x="447675" y="1284288"/>
            <a:ext cx="8391525" cy="4959350"/>
          </a:xfrm>
        </p:spPr>
        <p:txBody>
          <a:bodyPr/>
          <a:lstStyle/>
          <a:p>
            <a:pPr>
              <a:lnSpc>
                <a:spcPct val="90000"/>
              </a:lnSpc>
            </a:pPr>
            <a:r>
              <a:rPr lang="en-US" altLang="en-US" sz="2600"/>
              <a:t>An</a:t>
            </a:r>
            <a:r>
              <a:rPr lang="en-US" altLang="en-US" sz="2600" i="1"/>
              <a:t> </a:t>
            </a:r>
            <a:r>
              <a:rPr lang="en-US" altLang="en-US" sz="2600" i="1">
                <a:solidFill>
                  <a:schemeClr val="accent2"/>
                </a:solidFill>
              </a:rPr>
              <a:t>independent</a:t>
            </a:r>
            <a:r>
              <a:rPr lang="en-US" altLang="en-US" sz="2600">
                <a:solidFill>
                  <a:schemeClr val="accent2"/>
                </a:solidFill>
              </a:rPr>
              <a:t> process </a:t>
            </a:r>
            <a:r>
              <a:rPr lang="en-US" altLang="en-US" sz="2600"/>
              <a:t>cannot affect or be affected by the execution of other processes</a:t>
            </a:r>
          </a:p>
          <a:p>
            <a:pPr lvl="4">
              <a:lnSpc>
                <a:spcPct val="90000"/>
              </a:lnSpc>
            </a:pPr>
            <a:endParaRPr lang="en-US" altLang="en-US" sz="2000"/>
          </a:p>
          <a:p>
            <a:pPr>
              <a:lnSpc>
                <a:spcPct val="90000"/>
              </a:lnSpc>
            </a:pPr>
            <a:r>
              <a:rPr lang="en-US" altLang="en-US" sz="2600"/>
              <a:t>A</a:t>
            </a:r>
            <a:r>
              <a:rPr lang="en-US" altLang="en-US" sz="2600" i="1"/>
              <a:t> </a:t>
            </a:r>
            <a:r>
              <a:rPr lang="en-US" altLang="en-US" sz="2600" i="1">
                <a:solidFill>
                  <a:schemeClr val="accent2"/>
                </a:solidFill>
              </a:rPr>
              <a:t>cooperating</a:t>
            </a:r>
            <a:r>
              <a:rPr lang="en-US" altLang="en-US" sz="2600">
                <a:solidFill>
                  <a:schemeClr val="accent2"/>
                </a:solidFill>
              </a:rPr>
              <a:t> process </a:t>
            </a:r>
            <a:r>
              <a:rPr lang="en-US" altLang="en-US" sz="2600"/>
              <a:t>on the other hand can affect or be affected by the execution of other processes</a:t>
            </a:r>
          </a:p>
          <a:p>
            <a:pPr lvl="1">
              <a:lnSpc>
                <a:spcPct val="90000"/>
              </a:lnSpc>
            </a:pPr>
            <a:r>
              <a:rPr lang="en-US" altLang="en-US" sz="2600"/>
              <a:t>Such processes have to communicate with each other to share data</a:t>
            </a:r>
          </a:p>
          <a:p>
            <a:pPr lvl="1">
              <a:lnSpc>
                <a:spcPct val="90000"/>
              </a:lnSpc>
            </a:pPr>
            <a:r>
              <a:rPr lang="en-US" altLang="en-US" sz="2600"/>
              <a:t>Two models of Inter-Process Communication (IPC)</a:t>
            </a:r>
          </a:p>
          <a:p>
            <a:pPr lvl="2">
              <a:lnSpc>
                <a:spcPct val="90000"/>
              </a:lnSpc>
            </a:pPr>
            <a:r>
              <a:rPr lang="en-US" altLang="en-US" sz="2600" b="1">
                <a:solidFill>
                  <a:srgbClr val="FF0000"/>
                </a:solidFill>
              </a:rPr>
              <a:t>Message passing</a:t>
            </a:r>
          </a:p>
          <a:p>
            <a:pPr lvl="2">
              <a:lnSpc>
                <a:spcPct val="90000"/>
              </a:lnSpc>
            </a:pPr>
            <a:r>
              <a:rPr lang="en-US" altLang="en-US" sz="2600" b="1">
                <a:solidFill>
                  <a:srgbClr val="FF0000"/>
                </a:solidFill>
              </a:rPr>
              <a:t>Shared memory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Footer Placeholder 3">
            <a:extLst>
              <a:ext uri="{FF2B5EF4-FFF2-40B4-BE49-F238E27FC236}">
                <a16:creationId xmlns:a16="http://schemas.microsoft.com/office/drawing/2014/main" id="{48F9E19B-0F2A-4EFC-BEC8-1DE03D5E01D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8370" name="Rectangle 2">
            <a:extLst>
              <a:ext uri="{FF2B5EF4-FFF2-40B4-BE49-F238E27FC236}">
                <a16:creationId xmlns:a16="http://schemas.microsoft.com/office/drawing/2014/main" id="{6C1229B8-D7E4-4227-AE04-A2070CBA7F45}"/>
              </a:ext>
            </a:extLst>
          </p:cNvPr>
          <p:cNvSpPr>
            <a:spLocks noGrp="1" noChangeArrowheads="1"/>
          </p:cNvSpPr>
          <p:nvPr>
            <p:ph type="title"/>
          </p:nvPr>
        </p:nvSpPr>
        <p:spPr/>
        <p:txBody>
          <a:bodyPr/>
          <a:lstStyle/>
          <a:p>
            <a:r>
              <a:rPr lang="en-GB" altLang="en-US"/>
              <a:t>IPC Models</a:t>
            </a:r>
          </a:p>
        </p:txBody>
      </p:sp>
      <p:pic>
        <p:nvPicPr>
          <p:cNvPr id="58371" name="Picture 4">
            <a:extLst>
              <a:ext uri="{FF2B5EF4-FFF2-40B4-BE49-F238E27FC236}">
                <a16:creationId xmlns:a16="http://schemas.microsoft.com/office/drawing/2014/main" id="{69B35106-1C7A-4A10-80B2-AC37E9A07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1650" y="1458913"/>
            <a:ext cx="6453188"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Box 4">
            <a:extLst>
              <a:ext uri="{FF2B5EF4-FFF2-40B4-BE49-F238E27FC236}">
                <a16:creationId xmlns:a16="http://schemas.microsoft.com/office/drawing/2014/main" id="{8C8CFD81-2C5F-4E94-B677-E77642B8E6AF}"/>
              </a:ext>
            </a:extLst>
          </p:cNvPr>
          <p:cNvSpPr txBox="1">
            <a:spLocks noChangeArrowheads="1"/>
          </p:cNvSpPr>
          <p:nvPr/>
        </p:nvSpPr>
        <p:spPr bwMode="auto">
          <a:xfrm>
            <a:off x="1789113" y="5715000"/>
            <a:ext cx="2109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Message Passing</a:t>
            </a:r>
          </a:p>
        </p:txBody>
      </p:sp>
      <p:sp>
        <p:nvSpPr>
          <p:cNvPr id="58373" name="TextBox 5">
            <a:extLst>
              <a:ext uri="{FF2B5EF4-FFF2-40B4-BE49-F238E27FC236}">
                <a16:creationId xmlns:a16="http://schemas.microsoft.com/office/drawing/2014/main" id="{4A09A9B6-F8BF-4206-B65F-5016EFC093D6}"/>
              </a:ext>
            </a:extLst>
          </p:cNvPr>
          <p:cNvSpPr txBox="1">
            <a:spLocks noChangeArrowheads="1"/>
          </p:cNvSpPr>
          <p:nvPr/>
        </p:nvSpPr>
        <p:spPr bwMode="auto">
          <a:xfrm>
            <a:off x="5619750" y="5791200"/>
            <a:ext cx="19161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b="1">
                <a:solidFill>
                  <a:srgbClr val="FF0000"/>
                </a:solidFill>
              </a:rPr>
              <a:t>Shared Memory</a:t>
            </a:r>
          </a:p>
        </p:txBody>
      </p:sp>
      <p:sp>
        <p:nvSpPr>
          <p:cNvPr id="58374" name="Left Brace 1">
            <a:extLst>
              <a:ext uri="{FF2B5EF4-FFF2-40B4-BE49-F238E27FC236}">
                <a16:creationId xmlns:a16="http://schemas.microsoft.com/office/drawing/2014/main" id="{6C2EC692-F280-45D1-B70F-B2D58277EE9D}"/>
              </a:ext>
            </a:extLst>
          </p:cNvPr>
          <p:cNvSpPr>
            <a:spLocks/>
          </p:cNvSpPr>
          <p:nvPr/>
        </p:nvSpPr>
        <p:spPr bwMode="auto">
          <a:xfrm>
            <a:off x="1397000" y="1481138"/>
            <a:ext cx="374650" cy="3181350"/>
          </a:xfrm>
          <a:prstGeom prst="leftBrace">
            <a:avLst>
              <a:gd name="adj1" fmla="val 8334"/>
              <a:gd name="adj2" fmla="val 50000"/>
            </a:avLst>
          </a:prstGeom>
          <a:solidFill>
            <a:schemeClr val="bg1"/>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58375" name="Left Brace 7">
            <a:extLst>
              <a:ext uri="{FF2B5EF4-FFF2-40B4-BE49-F238E27FC236}">
                <a16:creationId xmlns:a16="http://schemas.microsoft.com/office/drawing/2014/main" id="{E65FE060-095D-4EDA-AE5B-FB54A02C1965}"/>
              </a:ext>
            </a:extLst>
          </p:cNvPr>
          <p:cNvSpPr>
            <a:spLocks/>
          </p:cNvSpPr>
          <p:nvPr/>
        </p:nvSpPr>
        <p:spPr bwMode="auto">
          <a:xfrm>
            <a:off x="1398588" y="4710113"/>
            <a:ext cx="374650" cy="674687"/>
          </a:xfrm>
          <a:prstGeom prst="leftBrace">
            <a:avLst>
              <a:gd name="adj1" fmla="val 8329"/>
              <a:gd name="adj2" fmla="val 50000"/>
            </a:avLst>
          </a:prstGeom>
          <a:solidFill>
            <a:schemeClr val="bg1"/>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58376" name="TextBox 2">
            <a:extLst>
              <a:ext uri="{FF2B5EF4-FFF2-40B4-BE49-F238E27FC236}">
                <a16:creationId xmlns:a16="http://schemas.microsoft.com/office/drawing/2014/main" id="{16B2A39F-67D5-4CAD-B417-463B870D2A54}"/>
              </a:ext>
            </a:extLst>
          </p:cNvPr>
          <p:cNvSpPr txBox="1">
            <a:spLocks noChangeArrowheads="1"/>
          </p:cNvSpPr>
          <p:nvPr/>
        </p:nvSpPr>
        <p:spPr bwMode="auto">
          <a:xfrm>
            <a:off x="96838" y="2887663"/>
            <a:ext cx="1350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User space</a:t>
            </a:r>
          </a:p>
        </p:txBody>
      </p:sp>
      <p:sp>
        <p:nvSpPr>
          <p:cNvPr id="58377" name="TextBox 9">
            <a:extLst>
              <a:ext uri="{FF2B5EF4-FFF2-40B4-BE49-F238E27FC236}">
                <a16:creationId xmlns:a16="http://schemas.microsoft.com/office/drawing/2014/main" id="{ED58ED18-7CA5-47F1-A0B2-9B5A110EE904}"/>
              </a:ext>
            </a:extLst>
          </p:cNvPr>
          <p:cNvSpPr txBox="1">
            <a:spLocks noChangeArrowheads="1"/>
          </p:cNvSpPr>
          <p:nvPr/>
        </p:nvSpPr>
        <p:spPr bwMode="auto">
          <a:xfrm>
            <a:off x="608013" y="4687888"/>
            <a:ext cx="9159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Kernel </a:t>
            </a:r>
          </a:p>
          <a:p>
            <a:pPr algn="ctr">
              <a:spcBef>
                <a:spcPct val="0"/>
              </a:spcBef>
              <a:buSzTx/>
              <a:buFontTx/>
              <a:buNone/>
            </a:pPr>
            <a:r>
              <a:rPr lang="en-US" altLang="en-US"/>
              <a:t>space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Footer Placeholder 3">
            <a:extLst>
              <a:ext uri="{FF2B5EF4-FFF2-40B4-BE49-F238E27FC236}">
                <a16:creationId xmlns:a16="http://schemas.microsoft.com/office/drawing/2014/main" id="{5A81FC06-3AEA-4666-910A-05013C9A6DA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0418" name="Rectangle 2">
            <a:extLst>
              <a:ext uri="{FF2B5EF4-FFF2-40B4-BE49-F238E27FC236}">
                <a16:creationId xmlns:a16="http://schemas.microsoft.com/office/drawing/2014/main" id="{E051C262-024E-4B0D-9C48-B395AB8479F7}"/>
              </a:ext>
            </a:extLst>
          </p:cNvPr>
          <p:cNvSpPr>
            <a:spLocks noGrp="1" noChangeArrowheads="1"/>
          </p:cNvSpPr>
          <p:nvPr>
            <p:ph type="title"/>
          </p:nvPr>
        </p:nvSpPr>
        <p:spPr/>
        <p:txBody>
          <a:bodyPr/>
          <a:lstStyle/>
          <a:p>
            <a:r>
              <a:rPr lang="en-US" altLang="en-US"/>
              <a:t>IPC – Message Passing</a:t>
            </a:r>
          </a:p>
        </p:txBody>
      </p:sp>
      <p:sp>
        <p:nvSpPr>
          <p:cNvPr id="60419" name="Rectangle 3">
            <a:extLst>
              <a:ext uri="{FF2B5EF4-FFF2-40B4-BE49-F238E27FC236}">
                <a16:creationId xmlns:a16="http://schemas.microsoft.com/office/drawing/2014/main" id="{C24B42FB-54DE-4B11-8F01-BA824B9B7F51}"/>
              </a:ext>
            </a:extLst>
          </p:cNvPr>
          <p:cNvSpPr>
            <a:spLocks noGrp="1" noChangeArrowheads="1"/>
          </p:cNvSpPr>
          <p:nvPr>
            <p:ph type="body" idx="1"/>
          </p:nvPr>
        </p:nvSpPr>
        <p:spPr>
          <a:xfrm>
            <a:off x="363538" y="1246188"/>
            <a:ext cx="8359775" cy="5148262"/>
          </a:xfrm>
        </p:spPr>
        <p:txBody>
          <a:bodyPr/>
          <a:lstStyle/>
          <a:p>
            <a:r>
              <a:rPr lang="en-US" altLang="en-US" sz="2600"/>
              <a:t>Processes communicate and synchronize their actions </a:t>
            </a:r>
            <a:r>
              <a:rPr lang="en-US" altLang="en-US" sz="2600">
                <a:solidFill>
                  <a:schemeClr val="accent2"/>
                </a:solidFill>
              </a:rPr>
              <a:t>without resorting to shared variables</a:t>
            </a:r>
          </a:p>
          <a:p>
            <a:pPr lvl="4"/>
            <a:endParaRPr lang="en-US" altLang="en-US" sz="2000"/>
          </a:p>
          <a:p>
            <a:r>
              <a:rPr lang="en-US" altLang="en-US" sz="2600"/>
              <a:t>Two operations (system calls) are required</a:t>
            </a:r>
          </a:p>
          <a:p>
            <a:pPr lvl="1"/>
            <a:r>
              <a:rPr lang="en-US" altLang="en-US" sz="2600" b="1">
                <a:solidFill>
                  <a:srgbClr val="FF0000"/>
                </a:solidFill>
              </a:rPr>
              <a:t>send</a:t>
            </a:r>
            <a:r>
              <a:rPr lang="en-US" altLang="en-US" sz="2600">
                <a:solidFill>
                  <a:srgbClr val="FF0000"/>
                </a:solidFill>
              </a:rPr>
              <a:t>(</a:t>
            </a:r>
            <a:r>
              <a:rPr lang="en-US" altLang="en-US" sz="2600" i="1">
                <a:solidFill>
                  <a:srgbClr val="FF0000"/>
                </a:solidFill>
              </a:rPr>
              <a:t>message</a:t>
            </a:r>
            <a:r>
              <a:rPr lang="en-US" altLang="en-US" sz="2600">
                <a:solidFill>
                  <a:srgbClr val="FF0000"/>
                </a:solidFill>
              </a:rPr>
              <a:t>)</a:t>
            </a:r>
            <a:r>
              <a:rPr lang="en-US" altLang="en-US" sz="2600"/>
              <a:t> – message size fixed or variable </a:t>
            </a:r>
          </a:p>
          <a:p>
            <a:pPr lvl="1"/>
            <a:r>
              <a:rPr lang="en-US" altLang="en-US" sz="2600" b="1">
                <a:solidFill>
                  <a:srgbClr val="FF0000"/>
                </a:solidFill>
              </a:rPr>
              <a:t>receive</a:t>
            </a:r>
            <a:r>
              <a:rPr lang="en-US" altLang="en-US" sz="2600">
                <a:solidFill>
                  <a:srgbClr val="FF0000"/>
                </a:solidFill>
              </a:rPr>
              <a:t>(</a:t>
            </a:r>
            <a:r>
              <a:rPr lang="en-US" altLang="en-US" sz="2600" i="1">
                <a:solidFill>
                  <a:srgbClr val="FF0000"/>
                </a:solidFill>
              </a:rPr>
              <a:t>message</a:t>
            </a:r>
            <a:r>
              <a:rPr lang="en-US" altLang="en-US" sz="2600">
                <a:solidFill>
                  <a:srgbClr val="FF0000"/>
                </a:solidFill>
              </a:rPr>
              <a:t>)</a:t>
            </a:r>
          </a:p>
          <a:p>
            <a:pPr lvl="4"/>
            <a:endParaRPr lang="en-US" altLang="en-US" sz="2000">
              <a:solidFill>
                <a:srgbClr val="FF0000"/>
              </a:solidFill>
            </a:endParaRPr>
          </a:p>
          <a:p>
            <a:r>
              <a:rPr lang="en-US" altLang="en-US" sz="2600"/>
              <a:t>If two processes wish to communicate, they need to</a:t>
            </a:r>
          </a:p>
          <a:p>
            <a:pPr lvl="1"/>
            <a:r>
              <a:rPr lang="en-US" altLang="en-US" sz="2600"/>
              <a:t>Establish a </a:t>
            </a:r>
            <a:r>
              <a:rPr lang="en-US" altLang="en-US" sz="2600" i="1"/>
              <a:t>communication</a:t>
            </a:r>
            <a:r>
              <a:rPr lang="en-US" altLang="en-US" sz="2600"/>
              <a:t> </a:t>
            </a:r>
            <a:r>
              <a:rPr lang="en-US" altLang="en-US" sz="2600" i="1"/>
              <a:t>link</a:t>
            </a:r>
            <a:r>
              <a:rPr lang="en-US" altLang="en-US" sz="2600"/>
              <a:t> between them</a:t>
            </a:r>
          </a:p>
          <a:p>
            <a:pPr lvl="1"/>
            <a:r>
              <a:rPr lang="en-US" altLang="en-US" sz="2600"/>
              <a:t>Exchange messages via send/receive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Footer Placeholder 3">
            <a:extLst>
              <a:ext uri="{FF2B5EF4-FFF2-40B4-BE49-F238E27FC236}">
                <a16:creationId xmlns:a16="http://schemas.microsoft.com/office/drawing/2014/main" id="{CBD3536D-E641-4A30-A4D6-5EEE0B42711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2466" name="Rectangle 2">
            <a:extLst>
              <a:ext uri="{FF2B5EF4-FFF2-40B4-BE49-F238E27FC236}">
                <a16:creationId xmlns:a16="http://schemas.microsoft.com/office/drawing/2014/main" id="{06FBDBE6-972A-424B-AF80-8AFC2F1D6922}"/>
              </a:ext>
            </a:extLst>
          </p:cNvPr>
          <p:cNvSpPr>
            <a:spLocks noGrp="1" noChangeArrowheads="1"/>
          </p:cNvSpPr>
          <p:nvPr>
            <p:ph type="title"/>
          </p:nvPr>
        </p:nvSpPr>
        <p:spPr/>
        <p:txBody>
          <a:bodyPr/>
          <a:lstStyle/>
          <a:p>
            <a:r>
              <a:rPr lang="en-US" altLang="en-US"/>
              <a:t>Direct vs. Indirect Message Passing</a:t>
            </a:r>
          </a:p>
        </p:txBody>
      </p:sp>
      <p:sp>
        <p:nvSpPr>
          <p:cNvPr id="62467" name="Rectangle 3">
            <a:extLst>
              <a:ext uri="{FF2B5EF4-FFF2-40B4-BE49-F238E27FC236}">
                <a16:creationId xmlns:a16="http://schemas.microsoft.com/office/drawing/2014/main" id="{5CCF66EE-4096-4387-A7CA-E6CA1928B92A}"/>
              </a:ext>
            </a:extLst>
          </p:cNvPr>
          <p:cNvSpPr>
            <a:spLocks noGrp="1" noChangeArrowheads="1"/>
          </p:cNvSpPr>
          <p:nvPr>
            <p:ph type="body" idx="1"/>
          </p:nvPr>
        </p:nvSpPr>
        <p:spPr>
          <a:xfrm>
            <a:off x="457200" y="1419225"/>
            <a:ext cx="8305800" cy="5286375"/>
          </a:xfrm>
        </p:spPr>
        <p:txBody>
          <a:bodyPr/>
          <a:lstStyle/>
          <a:p>
            <a:r>
              <a:rPr lang="en-US" altLang="en-US" sz="2500" b="1">
                <a:solidFill>
                  <a:srgbClr val="FF0000"/>
                </a:solidFill>
              </a:rPr>
              <a:t>Direct: </a:t>
            </a:r>
            <a:r>
              <a:rPr lang="en-US" altLang="en-US" sz="2500"/>
              <a:t>Processes must name each other explicitly</a:t>
            </a:r>
          </a:p>
          <a:p>
            <a:pPr lvl="1"/>
            <a:r>
              <a:rPr lang="en-US" altLang="en-US" sz="2500">
                <a:solidFill>
                  <a:schemeClr val="accent2"/>
                </a:solidFill>
              </a:rPr>
              <a:t>send (</a:t>
            </a:r>
            <a:r>
              <a:rPr lang="en-US" altLang="en-US" sz="2500" i="1">
                <a:solidFill>
                  <a:schemeClr val="accent2"/>
                </a:solidFill>
              </a:rPr>
              <a:t>P,message</a:t>
            </a:r>
            <a:r>
              <a:rPr lang="en-US" altLang="en-US" sz="2500">
                <a:solidFill>
                  <a:schemeClr val="accent2"/>
                </a:solidFill>
              </a:rPr>
              <a:t>): </a:t>
            </a:r>
            <a:r>
              <a:rPr lang="en-US" altLang="en-US" sz="2500"/>
              <a:t>Send a message to process P</a:t>
            </a:r>
          </a:p>
          <a:p>
            <a:pPr lvl="1">
              <a:spcBef>
                <a:spcPct val="0"/>
              </a:spcBef>
            </a:pPr>
            <a:r>
              <a:rPr lang="en-US" altLang="en-US" sz="2500">
                <a:solidFill>
                  <a:schemeClr val="accent2"/>
                </a:solidFill>
              </a:rPr>
              <a:t>receive(</a:t>
            </a:r>
            <a:r>
              <a:rPr lang="en-US" altLang="en-US" sz="2500" i="1">
                <a:solidFill>
                  <a:schemeClr val="accent2"/>
                </a:solidFill>
              </a:rPr>
              <a:t>Q,message</a:t>
            </a:r>
            <a:r>
              <a:rPr lang="en-US" altLang="en-US" sz="2500">
                <a:solidFill>
                  <a:schemeClr val="accent2"/>
                </a:solidFill>
              </a:rPr>
              <a:t>): </a:t>
            </a:r>
            <a:r>
              <a:rPr lang="en-US" altLang="en-US" sz="2500"/>
              <a:t>Receive a message from process Q</a:t>
            </a:r>
          </a:p>
          <a:p>
            <a:pPr lvl="4">
              <a:spcBef>
                <a:spcPct val="0"/>
              </a:spcBef>
            </a:pPr>
            <a:endParaRPr lang="en-US" altLang="en-US" sz="1900"/>
          </a:p>
          <a:p>
            <a:pPr>
              <a:lnSpc>
                <a:spcPct val="80000"/>
              </a:lnSpc>
              <a:spcBef>
                <a:spcPts val="600"/>
              </a:spcBef>
            </a:pPr>
            <a:r>
              <a:rPr lang="en-US" altLang="en-US" sz="2500" b="1">
                <a:solidFill>
                  <a:srgbClr val="FF0000"/>
                </a:solidFill>
              </a:rPr>
              <a:t>Indirect:</a:t>
            </a:r>
            <a:r>
              <a:rPr lang="en-US" altLang="en-US" sz="2500"/>
              <a:t> Messages are sent to or received from mailboxes (also referred to as ports)</a:t>
            </a:r>
          </a:p>
          <a:p>
            <a:pPr lvl="1">
              <a:lnSpc>
                <a:spcPct val="80000"/>
              </a:lnSpc>
            </a:pPr>
            <a:r>
              <a:rPr lang="en-GB" altLang="en-US" sz="2500"/>
              <a:t>Mailbox is an object into which messages are placed and removed (like a queue)</a:t>
            </a:r>
            <a:endParaRPr lang="en-US" altLang="en-US" sz="2500"/>
          </a:p>
          <a:p>
            <a:pPr lvl="1">
              <a:lnSpc>
                <a:spcPct val="80000"/>
              </a:lnSpc>
            </a:pPr>
            <a:r>
              <a:rPr lang="en-GB" altLang="en-US" sz="2500"/>
              <a:t>Primitives are:</a:t>
            </a:r>
          </a:p>
          <a:p>
            <a:pPr lvl="2">
              <a:lnSpc>
                <a:spcPct val="80000"/>
              </a:lnSpc>
            </a:pPr>
            <a:r>
              <a:rPr lang="en-GB" altLang="en-US" sz="2500">
                <a:solidFill>
                  <a:schemeClr val="accent2"/>
                </a:solidFill>
              </a:rPr>
              <a:t>send(</a:t>
            </a:r>
            <a:r>
              <a:rPr lang="en-GB" altLang="en-US" sz="2500" i="1">
                <a:solidFill>
                  <a:schemeClr val="accent2"/>
                </a:solidFill>
              </a:rPr>
              <a:t>A,message</a:t>
            </a:r>
            <a:r>
              <a:rPr lang="en-GB" altLang="en-US" sz="2500">
                <a:solidFill>
                  <a:schemeClr val="accent2"/>
                </a:solidFill>
              </a:rPr>
              <a:t>): </a:t>
            </a:r>
            <a:r>
              <a:rPr lang="en-GB" altLang="en-US" sz="2500"/>
              <a:t>Send a message to mailbox </a:t>
            </a:r>
            <a:r>
              <a:rPr lang="en-GB" altLang="en-US" sz="2500" i="1"/>
              <a:t>A</a:t>
            </a:r>
            <a:endParaRPr lang="en-GB" altLang="en-US" sz="2500"/>
          </a:p>
          <a:p>
            <a:pPr lvl="2">
              <a:lnSpc>
                <a:spcPct val="80000"/>
              </a:lnSpc>
            </a:pPr>
            <a:r>
              <a:rPr lang="en-GB" altLang="en-US" sz="2500">
                <a:solidFill>
                  <a:schemeClr val="accent2"/>
                </a:solidFill>
              </a:rPr>
              <a:t>receive(</a:t>
            </a:r>
            <a:r>
              <a:rPr lang="en-GB" altLang="en-US" sz="2500" i="1">
                <a:solidFill>
                  <a:schemeClr val="accent2"/>
                </a:solidFill>
              </a:rPr>
              <a:t>A,message</a:t>
            </a:r>
            <a:r>
              <a:rPr lang="en-GB" altLang="en-US" sz="2500">
                <a:solidFill>
                  <a:schemeClr val="accent2"/>
                </a:solidFill>
              </a:rPr>
              <a:t>):</a:t>
            </a:r>
            <a:r>
              <a:rPr lang="en-GB" altLang="en-US" sz="2500"/>
              <a:t> Receive a message from mailbox </a:t>
            </a:r>
            <a:r>
              <a:rPr lang="en-GB" altLang="en-US" sz="2500" i="1"/>
              <a:t>A</a:t>
            </a:r>
            <a:endParaRPr lang="en-US" altLang="en-US" sz="2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Footer Placeholder 3">
            <a:extLst>
              <a:ext uri="{FF2B5EF4-FFF2-40B4-BE49-F238E27FC236}">
                <a16:creationId xmlns:a16="http://schemas.microsoft.com/office/drawing/2014/main" id="{11B5F724-9D3C-4FB7-BB1F-471723B8FA7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4514" name="Rectangle 2">
            <a:extLst>
              <a:ext uri="{FF2B5EF4-FFF2-40B4-BE49-F238E27FC236}">
                <a16:creationId xmlns:a16="http://schemas.microsoft.com/office/drawing/2014/main" id="{0617358A-BB0D-4F29-9B29-D6CE657D37C8}"/>
              </a:ext>
            </a:extLst>
          </p:cNvPr>
          <p:cNvSpPr>
            <a:spLocks noGrp="1" noChangeArrowheads="1"/>
          </p:cNvSpPr>
          <p:nvPr>
            <p:ph type="title"/>
          </p:nvPr>
        </p:nvSpPr>
        <p:spPr>
          <a:xfrm>
            <a:off x="762000" y="495300"/>
            <a:ext cx="7715250" cy="457200"/>
          </a:xfrm>
        </p:spPr>
        <p:txBody>
          <a:bodyPr/>
          <a:lstStyle/>
          <a:p>
            <a:r>
              <a:rPr lang="en-US" altLang="en-US"/>
              <a:t>Producer-Consumer Process Paradigm</a:t>
            </a:r>
          </a:p>
        </p:txBody>
      </p:sp>
      <p:sp>
        <p:nvSpPr>
          <p:cNvPr id="64515" name="Rectangle 3">
            <a:extLst>
              <a:ext uri="{FF2B5EF4-FFF2-40B4-BE49-F238E27FC236}">
                <a16:creationId xmlns:a16="http://schemas.microsoft.com/office/drawing/2014/main" id="{0C500700-F9CF-4551-9A11-1DB7FC6A82DD}"/>
              </a:ext>
            </a:extLst>
          </p:cNvPr>
          <p:cNvSpPr>
            <a:spLocks noGrp="1" noChangeArrowheads="1"/>
          </p:cNvSpPr>
          <p:nvPr>
            <p:ph type="body" idx="1"/>
          </p:nvPr>
        </p:nvSpPr>
        <p:spPr>
          <a:xfrm>
            <a:off x="685800" y="1447800"/>
            <a:ext cx="7791450" cy="4114800"/>
          </a:xfrm>
        </p:spPr>
        <p:txBody>
          <a:bodyPr/>
          <a:lstStyle/>
          <a:p>
            <a:pPr>
              <a:defRPr/>
            </a:pPr>
            <a:r>
              <a:rPr lang="en-US" altLang="en-US" sz="2800"/>
              <a:t>Classical paradigm for cooperating processes</a:t>
            </a:r>
            <a:endParaRPr lang="en-US" altLang="en-US" sz="2200"/>
          </a:p>
          <a:p>
            <a:pPr lvl="1">
              <a:defRPr/>
            </a:pPr>
            <a:r>
              <a:rPr lang="en-US" altLang="en-US" sz="2800" i="1"/>
              <a:t>Producer</a:t>
            </a:r>
            <a:r>
              <a:rPr lang="en-US" altLang="en-US" sz="2800"/>
              <a:t> process produces information that is consumed by a </a:t>
            </a:r>
            <a:r>
              <a:rPr lang="en-US" altLang="en-US" sz="2800" i="1"/>
              <a:t>consumer</a:t>
            </a:r>
            <a:r>
              <a:rPr lang="en-US" altLang="en-US" sz="2800"/>
              <a:t> process</a:t>
            </a:r>
          </a:p>
          <a:p>
            <a:pPr lvl="1">
              <a:defRPr/>
            </a:pPr>
            <a:r>
              <a:rPr lang="en-US" altLang="en-US" sz="2800"/>
              <a:t>Shared buffer used for storing information</a:t>
            </a:r>
          </a:p>
          <a:p>
            <a:pPr lvl="4">
              <a:defRPr/>
            </a:pPr>
            <a:endParaRPr lang="en-US" altLang="en-US" sz="2200"/>
          </a:p>
          <a:p>
            <a:pPr>
              <a:defRPr/>
            </a:pPr>
            <a:r>
              <a:rPr lang="en-US" altLang="en-US" sz="2800"/>
              <a:t>Two models for shared buffer</a:t>
            </a:r>
          </a:p>
          <a:p>
            <a:pPr marL="971550" lvl="1" indent="-514350">
              <a:buFont typeface="+mj-lt"/>
              <a:buAutoNum type="arabicPeriod"/>
              <a:defRPr/>
            </a:pPr>
            <a:r>
              <a:rPr lang="en-US" altLang="en-US" sz="2800" i="1">
                <a:solidFill>
                  <a:srgbClr val="FF0000"/>
                </a:solidFill>
              </a:rPr>
              <a:t>unbounded-buffer</a:t>
            </a:r>
            <a:r>
              <a:rPr lang="en-US" altLang="en-US" sz="2800"/>
              <a:t> places no practical limit on the size of the buffer</a:t>
            </a:r>
          </a:p>
          <a:p>
            <a:pPr marL="971550" lvl="1" indent="-514350">
              <a:buFont typeface="+mj-lt"/>
              <a:buAutoNum type="arabicPeriod"/>
              <a:defRPr/>
            </a:pPr>
            <a:r>
              <a:rPr lang="en-US" altLang="en-US" sz="2800" i="1">
                <a:solidFill>
                  <a:srgbClr val="FF0000"/>
                </a:solidFill>
              </a:rPr>
              <a:t>bounded-buffer</a:t>
            </a:r>
            <a:r>
              <a:rPr lang="en-US" altLang="en-US" sz="2800"/>
              <a:t> assumes that there is a fixed buffer size</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Footer Placeholder 3">
            <a:extLst>
              <a:ext uri="{FF2B5EF4-FFF2-40B4-BE49-F238E27FC236}">
                <a16:creationId xmlns:a16="http://schemas.microsoft.com/office/drawing/2014/main" id="{484B2324-830F-42C3-B0C5-9F68AA54C22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6562" name="Rectangle 2">
            <a:extLst>
              <a:ext uri="{FF2B5EF4-FFF2-40B4-BE49-F238E27FC236}">
                <a16:creationId xmlns:a16="http://schemas.microsoft.com/office/drawing/2014/main" id="{6F27BF01-ADBF-4478-9E08-94B417F06548}"/>
              </a:ext>
            </a:extLst>
          </p:cNvPr>
          <p:cNvSpPr>
            <a:spLocks noGrp="1" noChangeArrowheads="1"/>
          </p:cNvSpPr>
          <p:nvPr>
            <p:ph type="title"/>
          </p:nvPr>
        </p:nvSpPr>
        <p:spPr>
          <a:xfrm>
            <a:off x="762000" y="495300"/>
            <a:ext cx="7696200" cy="457200"/>
          </a:xfrm>
        </p:spPr>
        <p:txBody>
          <a:bodyPr/>
          <a:lstStyle/>
          <a:p>
            <a:r>
              <a:rPr lang="en-US" altLang="en-US"/>
              <a:t>Producer-Consumer: Bounded Buffer</a:t>
            </a:r>
          </a:p>
        </p:txBody>
      </p:sp>
      <p:sp>
        <p:nvSpPr>
          <p:cNvPr id="66563" name="Rectangle 3">
            <a:extLst>
              <a:ext uri="{FF2B5EF4-FFF2-40B4-BE49-F238E27FC236}">
                <a16:creationId xmlns:a16="http://schemas.microsoft.com/office/drawing/2014/main" id="{67EC58F5-EFB0-49B2-8B64-1B5209A3AEC1}"/>
              </a:ext>
            </a:extLst>
          </p:cNvPr>
          <p:cNvSpPr>
            <a:spLocks noGrp="1" noChangeArrowheads="1"/>
          </p:cNvSpPr>
          <p:nvPr>
            <p:ph type="body" idx="1"/>
          </p:nvPr>
        </p:nvSpPr>
        <p:spPr>
          <a:xfrm>
            <a:off x="76200" y="1066800"/>
            <a:ext cx="8839200" cy="5397500"/>
          </a:xfrm>
        </p:spPr>
        <p:txBody>
          <a:bodyPr/>
          <a:lstStyle/>
          <a:p>
            <a:pPr>
              <a:spcBef>
                <a:spcPct val="0"/>
              </a:spcBef>
              <a:spcAft>
                <a:spcPts val="600"/>
              </a:spcAft>
              <a:buFontTx/>
              <a:buNone/>
            </a:pPr>
            <a:endParaRPr lang="en-GB" altLang="en-US" sz="700"/>
          </a:p>
          <a:p>
            <a:pPr>
              <a:spcBef>
                <a:spcPct val="0"/>
              </a:spcBef>
              <a:spcAft>
                <a:spcPts val="600"/>
              </a:spcAft>
              <a:buFontTx/>
              <a:buNone/>
            </a:pPr>
            <a:r>
              <a:rPr lang="en-GB" altLang="en-US" sz="2200">
                <a:solidFill>
                  <a:srgbClr val="FF0000"/>
                </a:solidFill>
              </a:rPr>
              <a:t>//declare a </a:t>
            </a:r>
            <a:r>
              <a:rPr lang="en-GB" altLang="en-US" sz="2200" i="1">
                <a:solidFill>
                  <a:srgbClr val="FF0000"/>
                </a:solidFill>
              </a:rPr>
              <a:t>mailbox</a:t>
            </a:r>
            <a:r>
              <a:rPr lang="en-GB" altLang="en-US" sz="2200">
                <a:solidFill>
                  <a:srgbClr val="FF0000"/>
                </a:solidFill>
              </a:rPr>
              <a:t> with capacity of B messages (buffer size B)</a:t>
            </a:r>
          </a:p>
          <a:p>
            <a:pPr>
              <a:spcBef>
                <a:spcPct val="0"/>
              </a:spcBef>
              <a:spcAft>
                <a:spcPts val="600"/>
              </a:spcAft>
              <a:buFontTx/>
              <a:buNone/>
            </a:pPr>
            <a:endParaRPr lang="en-GB" altLang="en-US" sz="2200"/>
          </a:p>
          <a:p>
            <a:pPr>
              <a:spcBef>
                <a:spcPct val="0"/>
              </a:spcBef>
              <a:spcAft>
                <a:spcPts val="600"/>
              </a:spcAft>
              <a:buFontTx/>
              <a:buNone/>
            </a:pPr>
            <a:endParaRPr lang="en-GB" altLang="en-US" sz="2200"/>
          </a:p>
          <a:p>
            <a:pPr>
              <a:spcBef>
                <a:spcPct val="0"/>
              </a:spcBef>
              <a:buFontTx/>
              <a:buNone/>
            </a:pPr>
            <a:r>
              <a:rPr lang="en-GB" altLang="en-US" sz="2200" b="1">
                <a:solidFill>
                  <a:srgbClr val="FF0000"/>
                </a:solidFill>
              </a:rPr>
              <a:t>void </a:t>
            </a:r>
            <a:r>
              <a:rPr lang="en-GB" altLang="en-US" sz="2200" b="1" i="1">
                <a:solidFill>
                  <a:srgbClr val="FF0000"/>
                </a:solidFill>
              </a:rPr>
              <a:t>producer</a:t>
            </a:r>
            <a:r>
              <a:rPr lang="en-GB" altLang="en-US" sz="2200" b="1">
                <a:solidFill>
                  <a:srgbClr val="FF0000"/>
                </a:solidFill>
              </a:rPr>
              <a:t>(void)</a:t>
            </a:r>
          </a:p>
          <a:p>
            <a:pPr>
              <a:spcBef>
                <a:spcPct val="0"/>
              </a:spcBef>
              <a:buFontTx/>
              <a:buNone/>
            </a:pPr>
            <a:r>
              <a:rPr lang="en-GB" altLang="en-US" sz="2200"/>
              <a:t>{</a:t>
            </a:r>
          </a:p>
          <a:p>
            <a:pPr>
              <a:spcBef>
                <a:spcPct val="0"/>
              </a:spcBef>
              <a:buFontTx/>
              <a:buNone/>
            </a:pPr>
            <a:r>
              <a:rPr lang="en-GB" altLang="en-US" sz="2200"/>
              <a:t>	message </a:t>
            </a:r>
            <a:r>
              <a:rPr lang="en-GB" altLang="en-US" sz="2200" i="1"/>
              <a:t>m</a:t>
            </a:r>
            <a:r>
              <a:rPr lang="en-GB" altLang="en-US" sz="2200"/>
              <a:t>;</a:t>
            </a:r>
          </a:p>
          <a:p>
            <a:pPr>
              <a:spcBef>
                <a:spcPct val="0"/>
              </a:spcBef>
              <a:buFontTx/>
              <a:buNone/>
            </a:pPr>
            <a:r>
              <a:rPr lang="en-GB" altLang="en-US" sz="2200"/>
              <a:t>	while (1) {</a:t>
            </a:r>
          </a:p>
          <a:p>
            <a:pPr>
              <a:spcBef>
                <a:spcPct val="0"/>
              </a:spcBef>
              <a:buFontTx/>
              <a:buNone/>
            </a:pPr>
            <a:r>
              <a:rPr lang="en-GB" altLang="en-US" sz="2200"/>
              <a:t>		</a:t>
            </a:r>
            <a:r>
              <a:rPr lang="en-GB" altLang="en-US" sz="2200" i="1"/>
              <a:t>//pre-processing…</a:t>
            </a:r>
            <a:endParaRPr lang="en-GB" altLang="en-US" sz="2200"/>
          </a:p>
          <a:p>
            <a:pPr>
              <a:spcBef>
                <a:spcPct val="0"/>
              </a:spcBef>
              <a:buFontTx/>
              <a:buNone/>
            </a:pPr>
            <a:r>
              <a:rPr lang="en-GB" altLang="en-US" sz="2200"/>
              <a:t>		while(</a:t>
            </a:r>
            <a:r>
              <a:rPr lang="en-GB" altLang="en-US" sz="2200" i="1"/>
              <a:t>mailbox</a:t>
            </a:r>
            <a:r>
              <a:rPr lang="en-GB" altLang="en-US" sz="2200"/>
              <a:t> is full) wait;</a:t>
            </a:r>
          </a:p>
          <a:p>
            <a:pPr>
              <a:spcBef>
                <a:spcPct val="0"/>
              </a:spcBef>
              <a:buFontTx/>
              <a:buNone/>
            </a:pPr>
            <a:r>
              <a:rPr lang="en-GB" altLang="en-US" sz="2200"/>
              <a:t>		</a:t>
            </a:r>
            <a:r>
              <a:rPr lang="en-GB" altLang="en-US" sz="2200" b="1" i="1">
                <a:solidFill>
                  <a:schemeClr val="accent2"/>
                </a:solidFill>
              </a:rPr>
              <a:t>send</a:t>
            </a:r>
            <a:r>
              <a:rPr lang="en-GB" altLang="en-US" sz="2200" b="1">
                <a:solidFill>
                  <a:schemeClr val="accent2"/>
                </a:solidFill>
              </a:rPr>
              <a:t>(</a:t>
            </a:r>
            <a:r>
              <a:rPr lang="en-GB" altLang="en-US" sz="2200" b="1" i="1">
                <a:solidFill>
                  <a:schemeClr val="accent2"/>
                </a:solidFill>
              </a:rPr>
              <a:t>mailbox</a:t>
            </a:r>
            <a:r>
              <a:rPr lang="en-GB" altLang="en-US" sz="2200" b="1">
                <a:solidFill>
                  <a:schemeClr val="accent2"/>
                </a:solidFill>
              </a:rPr>
              <a:t>, m);</a:t>
            </a:r>
          </a:p>
          <a:p>
            <a:pPr>
              <a:spcBef>
                <a:spcPct val="0"/>
              </a:spcBef>
              <a:buFontTx/>
              <a:buNone/>
            </a:pPr>
            <a:r>
              <a:rPr lang="en-GB" altLang="en-US" sz="2200"/>
              <a:t>	}</a:t>
            </a:r>
          </a:p>
          <a:p>
            <a:pPr>
              <a:spcBef>
                <a:spcPct val="0"/>
              </a:spcBef>
              <a:spcAft>
                <a:spcPts val="600"/>
              </a:spcAft>
              <a:buFontTx/>
              <a:buNone/>
            </a:pPr>
            <a:r>
              <a:rPr lang="en-GB" altLang="en-US" sz="2200"/>
              <a:t>}</a:t>
            </a:r>
            <a:endParaRPr lang="en-US" altLang="en-US" sz="2200"/>
          </a:p>
        </p:txBody>
      </p:sp>
      <p:sp>
        <p:nvSpPr>
          <p:cNvPr id="26629" name="Rectangle 3">
            <a:extLst>
              <a:ext uri="{FF2B5EF4-FFF2-40B4-BE49-F238E27FC236}">
                <a16:creationId xmlns:a16="http://schemas.microsoft.com/office/drawing/2014/main" id="{D0656767-F409-42B7-88F2-03E42F46A5A9}"/>
              </a:ext>
            </a:extLst>
          </p:cNvPr>
          <p:cNvSpPr txBox="1">
            <a:spLocks noChangeArrowheads="1"/>
          </p:cNvSpPr>
          <p:nvPr/>
        </p:nvSpPr>
        <p:spPr bwMode="auto">
          <a:xfrm>
            <a:off x="4419600" y="3395663"/>
            <a:ext cx="6184900" cy="262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FontTx/>
              <a:buNone/>
            </a:pPr>
            <a:r>
              <a:rPr lang="en-GB" altLang="en-US" sz="2200" b="1">
                <a:solidFill>
                  <a:srgbClr val="FF0000"/>
                </a:solidFill>
              </a:rPr>
              <a:t>void </a:t>
            </a:r>
            <a:r>
              <a:rPr lang="en-GB" altLang="en-US" sz="2200" b="1" i="1">
                <a:solidFill>
                  <a:srgbClr val="FF0000"/>
                </a:solidFill>
              </a:rPr>
              <a:t>consumer</a:t>
            </a:r>
            <a:r>
              <a:rPr lang="en-GB" altLang="en-US" sz="2200" b="1">
                <a:solidFill>
                  <a:srgbClr val="FF0000"/>
                </a:solidFill>
              </a:rPr>
              <a:t>(void)</a:t>
            </a:r>
          </a:p>
          <a:p>
            <a:pPr>
              <a:spcBef>
                <a:spcPct val="0"/>
              </a:spcBef>
              <a:buFontTx/>
              <a:buNone/>
            </a:pPr>
            <a:r>
              <a:rPr lang="en-GB" altLang="en-US" sz="2200"/>
              <a:t>{</a:t>
            </a:r>
          </a:p>
          <a:p>
            <a:pPr>
              <a:spcBef>
                <a:spcPct val="0"/>
              </a:spcBef>
              <a:buFontTx/>
              <a:buNone/>
            </a:pPr>
            <a:r>
              <a:rPr lang="en-GB" altLang="en-US" sz="2200"/>
              <a:t>	message </a:t>
            </a:r>
            <a:r>
              <a:rPr lang="en-GB" altLang="en-US" sz="2200" i="1"/>
              <a:t>m</a:t>
            </a:r>
            <a:r>
              <a:rPr lang="en-GB" altLang="en-US" sz="2200"/>
              <a:t>;</a:t>
            </a:r>
          </a:p>
          <a:p>
            <a:pPr>
              <a:spcBef>
                <a:spcPct val="0"/>
              </a:spcBef>
              <a:buFontTx/>
              <a:buNone/>
            </a:pPr>
            <a:r>
              <a:rPr lang="en-GB" altLang="en-US" sz="2200"/>
              <a:t>	while (1) {	</a:t>
            </a:r>
          </a:p>
          <a:p>
            <a:pPr>
              <a:spcBef>
                <a:spcPct val="0"/>
              </a:spcBef>
              <a:buFontTx/>
              <a:buNone/>
            </a:pPr>
            <a:r>
              <a:rPr lang="en-GB" altLang="en-US" sz="2200"/>
              <a:t>		while(</a:t>
            </a:r>
            <a:r>
              <a:rPr lang="en-GB" altLang="en-US" sz="2200" i="1"/>
              <a:t>mailbox</a:t>
            </a:r>
            <a:r>
              <a:rPr lang="en-GB" altLang="en-US" sz="2200"/>
              <a:t> is empty) wait;	</a:t>
            </a:r>
          </a:p>
          <a:p>
            <a:pPr>
              <a:spcBef>
                <a:spcPct val="0"/>
              </a:spcBef>
              <a:buFontTx/>
              <a:buNone/>
            </a:pPr>
            <a:r>
              <a:rPr lang="en-GB" altLang="en-US" sz="2200"/>
              <a:t>		</a:t>
            </a:r>
            <a:r>
              <a:rPr lang="en-GB" altLang="en-US" sz="2200" b="1" i="1">
                <a:solidFill>
                  <a:schemeClr val="accent2"/>
                </a:solidFill>
              </a:rPr>
              <a:t>receive</a:t>
            </a:r>
            <a:r>
              <a:rPr lang="en-GB" altLang="en-US" sz="2200" b="1">
                <a:solidFill>
                  <a:schemeClr val="accent2"/>
                </a:solidFill>
              </a:rPr>
              <a:t>(</a:t>
            </a:r>
            <a:r>
              <a:rPr lang="en-GB" altLang="en-US" sz="2200" b="1" i="1">
                <a:solidFill>
                  <a:schemeClr val="accent2"/>
                </a:solidFill>
              </a:rPr>
              <a:t>mailbox</a:t>
            </a:r>
            <a:r>
              <a:rPr lang="en-GB" altLang="en-US" sz="2200" b="1">
                <a:solidFill>
                  <a:schemeClr val="accent2"/>
                </a:solidFill>
              </a:rPr>
              <a:t>, m); 	</a:t>
            </a:r>
          </a:p>
          <a:p>
            <a:pPr>
              <a:spcBef>
                <a:spcPct val="0"/>
              </a:spcBef>
              <a:buFontTx/>
              <a:buNone/>
            </a:pPr>
            <a:r>
              <a:rPr lang="en-GB" altLang="en-US" sz="2200"/>
              <a:t>    	//post-processing…		</a:t>
            </a:r>
          </a:p>
          <a:p>
            <a:pPr>
              <a:spcBef>
                <a:spcPct val="0"/>
              </a:spcBef>
              <a:buFontTx/>
              <a:buNone/>
            </a:pPr>
            <a:r>
              <a:rPr lang="en-GB" altLang="en-US" sz="2200"/>
              <a:t>		}</a:t>
            </a:r>
          </a:p>
          <a:p>
            <a:pPr>
              <a:spcBef>
                <a:spcPct val="0"/>
              </a:spcBef>
              <a:buFontTx/>
              <a:buNone/>
            </a:pPr>
            <a:r>
              <a:rPr lang="en-GB" altLang="en-US" sz="2200"/>
              <a:t>	}</a:t>
            </a:r>
          </a:p>
          <a:p>
            <a:pPr>
              <a:spcBef>
                <a:spcPct val="0"/>
              </a:spcBef>
              <a:buFontTx/>
              <a:buNone/>
            </a:pPr>
            <a:endParaRPr lang="en-US" altLang="en-US" sz="2500"/>
          </a:p>
        </p:txBody>
      </p:sp>
      <p:cxnSp>
        <p:nvCxnSpPr>
          <p:cNvPr id="26630" name="Curved Connector 3">
            <a:extLst>
              <a:ext uri="{FF2B5EF4-FFF2-40B4-BE49-F238E27FC236}">
                <a16:creationId xmlns:a16="http://schemas.microsoft.com/office/drawing/2014/main" id="{B9D46F8F-AA36-42DC-BEE7-57018553B279}"/>
              </a:ext>
            </a:extLst>
          </p:cNvPr>
          <p:cNvCxnSpPr>
            <a:cxnSpLocks noChangeShapeType="1"/>
          </p:cNvCxnSpPr>
          <p:nvPr/>
        </p:nvCxnSpPr>
        <p:spPr bwMode="auto">
          <a:xfrm>
            <a:off x="2806700" y="2743200"/>
            <a:ext cx="1612900" cy="838200"/>
          </a:xfrm>
          <a:prstGeom prst="curvedConnector3">
            <a:avLst>
              <a:gd name="adj1" fmla="val 50000"/>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26631" name="Group 2">
            <a:extLst>
              <a:ext uri="{FF2B5EF4-FFF2-40B4-BE49-F238E27FC236}">
                <a16:creationId xmlns:a16="http://schemas.microsoft.com/office/drawing/2014/main" id="{38F4B60D-5D0E-4C7B-8D94-87AAA410FC71}"/>
              </a:ext>
            </a:extLst>
          </p:cNvPr>
          <p:cNvGrpSpPr>
            <a:grpSpLocks/>
          </p:cNvGrpSpPr>
          <p:nvPr/>
        </p:nvGrpSpPr>
        <p:grpSpPr bwMode="auto">
          <a:xfrm>
            <a:off x="4495800" y="1981200"/>
            <a:ext cx="4419600" cy="990600"/>
            <a:chOff x="4453595" y="1459476"/>
            <a:chExt cx="4419512" cy="989334"/>
          </a:xfrm>
        </p:grpSpPr>
        <p:sp>
          <p:nvSpPr>
            <p:cNvPr id="66567" name="TextBox 1">
              <a:extLst>
                <a:ext uri="{FF2B5EF4-FFF2-40B4-BE49-F238E27FC236}">
                  <a16:creationId xmlns:a16="http://schemas.microsoft.com/office/drawing/2014/main" id="{1C628159-CEC4-441C-9CB6-AEE93B85C1C0}"/>
                </a:ext>
              </a:extLst>
            </p:cNvPr>
            <p:cNvSpPr txBox="1">
              <a:spLocks noChangeArrowheads="1"/>
            </p:cNvSpPr>
            <p:nvPr/>
          </p:nvSpPr>
          <p:spPr bwMode="auto">
            <a:xfrm>
              <a:off x="5144201" y="1600200"/>
              <a:ext cx="37289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2000">
                  <a:latin typeface="Comic Sans MS" panose="030F0702030302020204" pitchFamily="66" charset="0"/>
                </a:rPr>
                <a:t>Does this example use direct </a:t>
              </a:r>
            </a:p>
            <a:p>
              <a:pPr>
                <a:spcBef>
                  <a:spcPct val="0"/>
                </a:spcBef>
                <a:buSzTx/>
                <a:buFontTx/>
                <a:buNone/>
              </a:pPr>
              <a:r>
                <a:rPr lang="en-US" altLang="en-US" sz="2000">
                  <a:latin typeface="Comic Sans MS" panose="030F0702030302020204" pitchFamily="66" charset="0"/>
                </a:rPr>
                <a:t>or indirect communication</a:t>
              </a:r>
            </a:p>
          </p:txBody>
        </p:sp>
        <p:pic>
          <p:nvPicPr>
            <p:cNvPr id="24585" name="Picture 7">
              <a:extLst>
                <a:ext uri="{FF2B5EF4-FFF2-40B4-BE49-F238E27FC236}">
                  <a16:creationId xmlns:a16="http://schemas.microsoft.com/office/drawing/2014/main" id="{A0825E60-D86A-4E6C-BE41-67D8F3FD275E}"/>
                </a:ext>
              </a:extLst>
            </p:cNvPr>
            <p:cNvPicPr>
              <a:picLocks noChangeAspect="1" noChangeArrowheads="1"/>
            </p:cNvPicPr>
            <p:nvPr/>
          </p:nvPicPr>
          <p:blipFill>
            <a:blip r:embed="rId3"/>
            <a:srcRect/>
            <a:stretch>
              <a:fillRect/>
            </a:stretch>
          </p:blipFill>
          <p:spPr bwMode="auto">
            <a:xfrm>
              <a:off x="4453595" y="1459476"/>
              <a:ext cx="693724" cy="989334"/>
            </a:xfrm>
            <a:prstGeom prst="rect">
              <a:avLst/>
            </a:prstGeom>
            <a:noFill/>
            <a:ln>
              <a:noFill/>
            </a:ln>
            <a:effec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9"/>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66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Footer Placeholder 3">
            <a:extLst>
              <a:ext uri="{FF2B5EF4-FFF2-40B4-BE49-F238E27FC236}">
                <a16:creationId xmlns:a16="http://schemas.microsoft.com/office/drawing/2014/main" id="{FAACFC1D-BFE8-421D-9653-8D940B12ECA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8610" name="Rectangle 2">
            <a:extLst>
              <a:ext uri="{FF2B5EF4-FFF2-40B4-BE49-F238E27FC236}">
                <a16:creationId xmlns:a16="http://schemas.microsoft.com/office/drawing/2014/main" id="{A0256526-6789-469B-9AF1-BFD8B5E98840}"/>
              </a:ext>
            </a:extLst>
          </p:cNvPr>
          <p:cNvSpPr>
            <a:spLocks noGrp="1" noChangeArrowheads="1"/>
          </p:cNvSpPr>
          <p:nvPr>
            <p:ph type="title"/>
          </p:nvPr>
        </p:nvSpPr>
        <p:spPr/>
        <p:txBody>
          <a:bodyPr/>
          <a:lstStyle/>
          <a:p>
            <a:r>
              <a:rPr lang="en-US" altLang="en-US"/>
              <a:t>Part 2:  Processes and Threads</a:t>
            </a:r>
          </a:p>
        </p:txBody>
      </p:sp>
      <p:sp>
        <p:nvSpPr>
          <p:cNvPr id="68611" name="Rectangle 3">
            <a:extLst>
              <a:ext uri="{FF2B5EF4-FFF2-40B4-BE49-F238E27FC236}">
                <a16:creationId xmlns:a16="http://schemas.microsoft.com/office/drawing/2014/main" id="{B703ABB0-F4A5-4CA0-9508-7E24D7280478}"/>
              </a:ext>
            </a:extLst>
          </p:cNvPr>
          <p:cNvSpPr>
            <a:spLocks noGrp="1" noChangeArrowheads="1"/>
          </p:cNvSpPr>
          <p:nvPr>
            <p:ph type="body" idx="1"/>
          </p:nvPr>
        </p:nvSpPr>
        <p:spPr/>
        <p:txBody>
          <a:bodyPr/>
          <a:lstStyle/>
          <a:p>
            <a:r>
              <a:rPr lang="en-US" altLang="en-US" sz="2800"/>
              <a:t>Process Concept</a:t>
            </a:r>
          </a:p>
          <a:p>
            <a:r>
              <a:rPr lang="en-US" altLang="en-US" sz="2800"/>
              <a:t>Process Scheduling</a:t>
            </a:r>
          </a:p>
          <a:p>
            <a:r>
              <a:rPr lang="en-US" altLang="en-US" sz="2800"/>
              <a:t>Operation on Processes</a:t>
            </a:r>
          </a:p>
          <a:p>
            <a:r>
              <a:rPr lang="en-US" altLang="en-US" sz="2800"/>
              <a:t>Interprocess Communication</a:t>
            </a:r>
          </a:p>
          <a:p>
            <a:r>
              <a:rPr lang="en-US" altLang="en-US" sz="2800" b="1"/>
              <a:t>Threads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Footer Placeholder 3">
            <a:extLst>
              <a:ext uri="{FF2B5EF4-FFF2-40B4-BE49-F238E27FC236}">
                <a16:creationId xmlns:a16="http://schemas.microsoft.com/office/drawing/2014/main" id="{4EDA7A09-1250-4496-8D76-81CEA879EE6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70658" name="Rectangle 1026">
            <a:extLst>
              <a:ext uri="{FF2B5EF4-FFF2-40B4-BE49-F238E27FC236}">
                <a16:creationId xmlns:a16="http://schemas.microsoft.com/office/drawing/2014/main" id="{EF140166-018D-4CD1-BC22-96B235688E0C}"/>
              </a:ext>
            </a:extLst>
          </p:cNvPr>
          <p:cNvSpPr>
            <a:spLocks noGrp="1" noChangeArrowheads="1"/>
          </p:cNvSpPr>
          <p:nvPr>
            <p:ph type="title"/>
          </p:nvPr>
        </p:nvSpPr>
        <p:spPr>
          <a:xfrm>
            <a:off x="1036638" y="381000"/>
            <a:ext cx="7235825" cy="646113"/>
          </a:xfrm>
        </p:spPr>
        <p:txBody>
          <a:bodyPr/>
          <a:lstStyle/>
          <a:p>
            <a:r>
              <a:rPr lang="en-US" altLang="en-US"/>
              <a:t>Threads</a:t>
            </a:r>
          </a:p>
        </p:txBody>
      </p:sp>
      <p:sp>
        <p:nvSpPr>
          <p:cNvPr id="70659" name="Rectangle 1027">
            <a:extLst>
              <a:ext uri="{FF2B5EF4-FFF2-40B4-BE49-F238E27FC236}">
                <a16:creationId xmlns:a16="http://schemas.microsoft.com/office/drawing/2014/main" id="{6EE4FC0B-8674-4E30-82AE-C951FB4C3A81}"/>
              </a:ext>
            </a:extLst>
          </p:cNvPr>
          <p:cNvSpPr>
            <a:spLocks noGrp="1" noChangeArrowheads="1"/>
          </p:cNvSpPr>
          <p:nvPr>
            <p:ph type="body" idx="1"/>
          </p:nvPr>
        </p:nvSpPr>
        <p:spPr>
          <a:xfrm>
            <a:off x="317500" y="1219200"/>
            <a:ext cx="8426450" cy="5116513"/>
          </a:xfrm>
        </p:spPr>
        <p:txBody>
          <a:bodyPr/>
          <a:lstStyle/>
          <a:p>
            <a:pPr marL="0" indent="0">
              <a:buNone/>
            </a:pPr>
            <a:endParaRPr lang="en-US" altLang="en-US" sz="2600" b="1">
              <a:cs typeface="Helvetica"/>
            </a:endParaRPr>
          </a:p>
          <a:p>
            <a:r>
              <a:rPr lang="en-US" altLang="en-US" sz="2600" b="1"/>
              <a:t>About Labs</a:t>
            </a:r>
            <a:endParaRPr lang="en-US" altLang="en-US" sz="2600" b="1">
              <a:cs typeface="Helvetica"/>
            </a:endParaRPr>
          </a:p>
          <a:p>
            <a:pPr lvl="1"/>
            <a:r>
              <a:rPr lang="en-US" altLang="en-US" sz="2600"/>
              <a:t>Nachos uses term “thread”, but means “process”</a:t>
            </a:r>
            <a:endParaRPr lang="en-US" altLang="en-US" sz="2600">
              <a:cs typeface="Helvetica"/>
            </a:endParaRPr>
          </a:p>
          <a:p>
            <a:pPr lvl="1"/>
            <a:r>
              <a:rPr lang="en-US" altLang="en-US" sz="2600"/>
              <a:t>All concepts and mechanisms that we learnt about processes are also applicable to Nachos threads </a:t>
            </a:r>
            <a:endParaRPr lang="en-US" altLang="en-US" sz="2600">
              <a:cs typeface="Helvetica"/>
            </a:endParaRPr>
          </a:p>
          <a:p>
            <a:pPr lvl="2"/>
            <a:r>
              <a:rPr lang="en-US" altLang="en-US" sz="2600"/>
              <a:t>Thread control block = Process control block</a:t>
            </a:r>
            <a:endParaRPr lang="en-US" altLang="en-US" sz="2600">
              <a:cs typeface="Helvetica"/>
            </a:endParaRPr>
          </a:p>
          <a:p>
            <a:pPr lvl="2"/>
            <a:r>
              <a:rPr lang="en-US" altLang="en-US" sz="2600"/>
              <a:t>Thread state = Process state</a:t>
            </a:r>
            <a:endParaRPr lang="en-US" altLang="en-US" sz="2600">
              <a:cs typeface="Helvetica"/>
            </a:endParaRPr>
          </a:p>
          <a:p>
            <a:pPr lvl="2"/>
            <a:r>
              <a:rPr lang="en-US" altLang="en-US" sz="2600"/>
              <a:t>System calls: fork, exit, etc.</a:t>
            </a:r>
            <a:endParaRPr lang="en-US" altLang="en-US" sz="2600">
              <a:cs typeface="Helvetic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oter Placeholder 3">
            <a:extLst>
              <a:ext uri="{FF2B5EF4-FFF2-40B4-BE49-F238E27FC236}">
                <a16:creationId xmlns:a16="http://schemas.microsoft.com/office/drawing/2014/main" id="{D61B4450-3991-4ADC-9FFC-36EA95E1571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72706" name="Rectangle 2">
            <a:extLst>
              <a:ext uri="{FF2B5EF4-FFF2-40B4-BE49-F238E27FC236}">
                <a16:creationId xmlns:a16="http://schemas.microsoft.com/office/drawing/2014/main" id="{DD6C6547-BC35-4520-BF33-CDDB04160FEE}"/>
              </a:ext>
            </a:extLst>
          </p:cNvPr>
          <p:cNvSpPr>
            <a:spLocks noGrp="1" noChangeArrowheads="1"/>
          </p:cNvSpPr>
          <p:nvPr>
            <p:ph type="title"/>
          </p:nvPr>
        </p:nvSpPr>
        <p:spPr>
          <a:xfrm>
            <a:off x="1036638" y="257175"/>
            <a:ext cx="7235825" cy="844550"/>
          </a:xfrm>
        </p:spPr>
        <p:txBody>
          <a:bodyPr/>
          <a:lstStyle/>
          <a:p>
            <a:r>
              <a:rPr lang="en-US" altLang="en-US"/>
              <a:t>Threads</a:t>
            </a:r>
          </a:p>
        </p:txBody>
      </p:sp>
      <p:sp>
        <p:nvSpPr>
          <p:cNvPr id="72707" name="Rectangle 3">
            <a:extLst>
              <a:ext uri="{FF2B5EF4-FFF2-40B4-BE49-F238E27FC236}">
                <a16:creationId xmlns:a16="http://schemas.microsoft.com/office/drawing/2014/main" id="{0C1D2185-A5AB-4A9E-9369-291A6F52362A}"/>
              </a:ext>
            </a:extLst>
          </p:cNvPr>
          <p:cNvSpPr>
            <a:spLocks noGrp="1" noChangeArrowheads="1"/>
          </p:cNvSpPr>
          <p:nvPr>
            <p:ph type="body" idx="1"/>
          </p:nvPr>
        </p:nvSpPr>
        <p:spPr/>
        <p:txBody>
          <a:bodyPr/>
          <a:lstStyle/>
          <a:p>
            <a:r>
              <a:rPr lang="en-US" altLang="en-US" sz="2800"/>
              <a:t>Overview</a:t>
            </a:r>
          </a:p>
          <a:p>
            <a:r>
              <a:rPr lang="en-US" altLang="en-US" sz="2800"/>
              <a:t>Single vs Multithreading Process</a:t>
            </a:r>
          </a:p>
          <a:p>
            <a:r>
              <a:rPr lang="en-US" altLang="en-US" sz="2800"/>
              <a:t>Benefits of threads</a:t>
            </a:r>
          </a:p>
          <a:p>
            <a:r>
              <a:rPr lang="en-US" altLang="en-US" sz="2800"/>
              <a:t>Types of threads</a:t>
            </a:r>
          </a:p>
          <a:p>
            <a:r>
              <a:rPr lang="en-US" altLang="en-US" sz="2800"/>
              <a:t>Multithreading models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7AE6D40F-A063-4EBE-BA2E-D1C8281AB84E}"/>
              </a:ext>
            </a:extLst>
          </p:cNvPr>
          <p:cNvSpPr>
            <a:spLocks noGrp="1" noChangeArrowheads="1"/>
          </p:cNvSpPr>
          <p:nvPr>
            <p:ph type="title"/>
          </p:nvPr>
        </p:nvSpPr>
        <p:spPr/>
        <p:txBody>
          <a:bodyPr/>
          <a:lstStyle/>
          <a:p>
            <a:r>
              <a:rPr lang="en-US" altLang="en-US"/>
              <a:t>Overview</a:t>
            </a:r>
          </a:p>
        </p:txBody>
      </p:sp>
      <p:sp>
        <p:nvSpPr>
          <p:cNvPr id="74754" name="Footer Placeholder 2">
            <a:extLst>
              <a:ext uri="{FF2B5EF4-FFF2-40B4-BE49-F238E27FC236}">
                <a16:creationId xmlns:a16="http://schemas.microsoft.com/office/drawing/2014/main" id="{73F1F816-8D8D-477F-A259-EB304543D03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 name="Rectangle 3">
            <a:extLst>
              <a:ext uri="{FF2B5EF4-FFF2-40B4-BE49-F238E27FC236}">
                <a16:creationId xmlns:a16="http://schemas.microsoft.com/office/drawing/2014/main" id="{F536D540-4AAF-480E-9123-3D0CAC28A264}"/>
              </a:ext>
            </a:extLst>
          </p:cNvPr>
          <p:cNvSpPr txBox="1">
            <a:spLocks noChangeArrowheads="1"/>
          </p:cNvSpPr>
          <p:nvPr/>
        </p:nvSpPr>
        <p:spPr bwMode="auto">
          <a:xfrm>
            <a:off x="533400" y="1219200"/>
            <a:ext cx="8382000" cy="531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20000"/>
              </a:spcBef>
              <a:buClr>
                <a:srgbClr val="000000"/>
              </a:buClr>
            </a:pPr>
            <a:r>
              <a:rPr kumimoji="1" lang="en-US" altLang="en-US" sz="2400">
                <a:solidFill>
                  <a:srgbClr val="000000"/>
                </a:solidFill>
              </a:rPr>
              <a:t>A </a:t>
            </a:r>
            <a:r>
              <a:rPr kumimoji="1" lang="en-US" altLang="en-US" sz="2400">
                <a:solidFill>
                  <a:schemeClr val="accent2"/>
                </a:solidFill>
              </a:rPr>
              <a:t>thread (or lightweight process) </a:t>
            </a:r>
            <a:r>
              <a:rPr kumimoji="1" lang="en-US" altLang="en-US" sz="2400">
                <a:solidFill>
                  <a:srgbClr val="000000"/>
                </a:solidFill>
              </a:rPr>
              <a:t>is a basic unit of CPU utilization; it consists of:</a:t>
            </a:r>
          </a:p>
          <a:p>
            <a:pPr lvl="1">
              <a:buClr>
                <a:srgbClr val="000000"/>
              </a:buClr>
            </a:pPr>
            <a:r>
              <a:rPr kumimoji="1" lang="en-US" altLang="en-US" sz="2400">
                <a:solidFill>
                  <a:srgbClr val="000000"/>
                </a:solidFill>
              </a:rPr>
              <a:t>Thread id</a:t>
            </a:r>
          </a:p>
          <a:p>
            <a:pPr lvl="1">
              <a:buClr>
                <a:srgbClr val="000000"/>
              </a:buClr>
            </a:pPr>
            <a:r>
              <a:rPr kumimoji="1" lang="en-US" altLang="en-US" sz="2400">
                <a:solidFill>
                  <a:srgbClr val="000000"/>
                </a:solidFill>
              </a:rPr>
              <a:t>Program counter</a:t>
            </a:r>
          </a:p>
          <a:p>
            <a:pPr lvl="1">
              <a:buClr>
                <a:srgbClr val="000000"/>
              </a:buClr>
            </a:pPr>
            <a:r>
              <a:rPr kumimoji="1" lang="en-US" altLang="en-US" sz="2400">
                <a:solidFill>
                  <a:srgbClr val="000000"/>
                </a:solidFill>
              </a:rPr>
              <a:t>Register set </a:t>
            </a:r>
          </a:p>
          <a:p>
            <a:pPr lvl="1">
              <a:buClr>
                <a:srgbClr val="000000"/>
              </a:buClr>
            </a:pPr>
            <a:r>
              <a:rPr kumimoji="1" lang="en-US" altLang="en-US" sz="2400">
                <a:solidFill>
                  <a:srgbClr val="000000"/>
                </a:solidFill>
              </a:rPr>
              <a:t>Stack space</a:t>
            </a:r>
          </a:p>
          <a:p>
            <a:pPr lvl="4">
              <a:buClr>
                <a:srgbClr val="000000"/>
              </a:buClr>
            </a:pPr>
            <a:endParaRPr kumimoji="1" lang="en-US" altLang="en-US">
              <a:solidFill>
                <a:srgbClr val="000000"/>
              </a:solidFill>
            </a:endParaRPr>
          </a:p>
          <a:p>
            <a:pPr>
              <a:spcBef>
                <a:spcPct val="20000"/>
              </a:spcBef>
              <a:buClr>
                <a:srgbClr val="000000"/>
              </a:buClr>
            </a:pPr>
            <a:r>
              <a:rPr kumimoji="1" lang="en-US" altLang="en-US" sz="2400">
                <a:solidFill>
                  <a:srgbClr val="000000"/>
                </a:solidFill>
              </a:rPr>
              <a:t>A thread shares with its peer threads </a:t>
            </a:r>
            <a:r>
              <a:rPr kumimoji="1" lang="en-US" altLang="en-US" sz="2400">
                <a:solidFill>
                  <a:schemeClr val="accent2"/>
                </a:solidFill>
              </a:rPr>
              <a:t>in the same process</a:t>
            </a:r>
            <a:r>
              <a:rPr kumimoji="1" lang="en-US" altLang="en-US" sz="2400">
                <a:solidFill>
                  <a:srgbClr val="000000"/>
                </a:solidFill>
              </a:rPr>
              <a:t>:</a:t>
            </a:r>
          </a:p>
          <a:p>
            <a:pPr lvl="1">
              <a:buClr>
                <a:srgbClr val="000000"/>
              </a:buClr>
            </a:pPr>
            <a:r>
              <a:rPr kumimoji="1" lang="en-US" altLang="en-US" sz="2400">
                <a:solidFill>
                  <a:srgbClr val="000000"/>
                </a:solidFill>
              </a:rPr>
              <a:t>Code and data sections</a:t>
            </a:r>
          </a:p>
          <a:p>
            <a:pPr lvl="1">
              <a:buClr>
                <a:srgbClr val="000000"/>
              </a:buClr>
            </a:pPr>
            <a:r>
              <a:rPr kumimoji="1" lang="en-US" altLang="en-US" sz="2400">
                <a:solidFill>
                  <a:srgbClr val="000000"/>
                </a:solidFill>
              </a:rPr>
              <a:t>Operating system resources (open files, etc.) </a:t>
            </a:r>
          </a:p>
          <a:p>
            <a:pPr lvl="4">
              <a:buClr>
                <a:srgbClr val="000000"/>
              </a:buClr>
            </a:pPr>
            <a:endParaRPr kumimoji="1" lang="en-US" altLang="en-US">
              <a:solidFill>
                <a:srgbClr val="000000"/>
              </a:solidFill>
            </a:endParaRPr>
          </a:p>
          <a:p>
            <a:pPr>
              <a:spcBef>
                <a:spcPct val="20000"/>
              </a:spcBef>
              <a:buClr>
                <a:srgbClr val="000000"/>
              </a:buClr>
            </a:pPr>
            <a:r>
              <a:rPr kumimoji="1" lang="en-US" altLang="en-US" sz="2400">
                <a:solidFill>
                  <a:srgbClr val="000000"/>
                </a:solidFill>
              </a:rPr>
              <a:t>A traditional or heavyweight process is an executing program with a single thread of control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a:extLst>
              <a:ext uri="{FF2B5EF4-FFF2-40B4-BE49-F238E27FC236}">
                <a16:creationId xmlns:a16="http://schemas.microsoft.com/office/drawing/2014/main" id="{11FFCDD3-3DA7-4A46-9377-B9F985830AC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75778" name="Rectangle 2">
            <a:extLst>
              <a:ext uri="{FF2B5EF4-FFF2-40B4-BE49-F238E27FC236}">
                <a16:creationId xmlns:a16="http://schemas.microsoft.com/office/drawing/2014/main" id="{D7BB82C2-271A-428B-A284-0E6A87CF8416}"/>
              </a:ext>
            </a:extLst>
          </p:cNvPr>
          <p:cNvSpPr>
            <a:spLocks noGrp="1" noChangeArrowheads="1"/>
          </p:cNvSpPr>
          <p:nvPr>
            <p:ph type="title"/>
          </p:nvPr>
        </p:nvSpPr>
        <p:spPr>
          <a:xfrm>
            <a:off x="965200" y="295275"/>
            <a:ext cx="7235825" cy="844550"/>
          </a:xfrm>
        </p:spPr>
        <p:txBody>
          <a:bodyPr/>
          <a:lstStyle/>
          <a:p>
            <a:r>
              <a:rPr lang="en-US" altLang="en-US"/>
              <a:t>Single vs Multithreaded Processes</a:t>
            </a:r>
          </a:p>
        </p:txBody>
      </p:sp>
      <p:pic>
        <p:nvPicPr>
          <p:cNvPr id="75779" name="Picture 5">
            <a:extLst>
              <a:ext uri="{FF2B5EF4-FFF2-40B4-BE49-F238E27FC236}">
                <a16:creationId xmlns:a16="http://schemas.microsoft.com/office/drawing/2014/main" id="{416835B8-84B2-4168-9D23-E8331D171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7" t="11810" r="2359" b="11565"/>
          <a:stretch>
            <a:fillRect/>
          </a:stretch>
        </p:blipFill>
        <p:spPr bwMode="auto">
          <a:xfrm>
            <a:off x="990600" y="1428750"/>
            <a:ext cx="7061200" cy="421005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Footer Placeholder 3">
            <a:extLst>
              <a:ext uri="{FF2B5EF4-FFF2-40B4-BE49-F238E27FC236}">
                <a16:creationId xmlns:a16="http://schemas.microsoft.com/office/drawing/2014/main" id="{B4541264-8C24-4E0E-8465-45B4D480A17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77826" name="Rectangle 2">
            <a:extLst>
              <a:ext uri="{FF2B5EF4-FFF2-40B4-BE49-F238E27FC236}">
                <a16:creationId xmlns:a16="http://schemas.microsoft.com/office/drawing/2014/main" id="{F471714B-757E-4444-9628-91F4B28CE53F}"/>
              </a:ext>
            </a:extLst>
          </p:cNvPr>
          <p:cNvSpPr>
            <a:spLocks noGrp="1" noChangeArrowheads="1"/>
          </p:cNvSpPr>
          <p:nvPr>
            <p:ph type="title"/>
          </p:nvPr>
        </p:nvSpPr>
        <p:spPr/>
        <p:txBody>
          <a:bodyPr/>
          <a:lstStyle/>
          <a:p>
            <a:r>
              <a:rPr lang="en-US" altLang="en-US" sz="2800"/>
              <a:t>Advantage of Multithreaded Processes</a:t>
            </a:r>
          </a:p>
        </p:txBody>
      </p:sp>
      <p:sp>
        <p:nvSpPr>
          <p:cNvPr id="77827" name="Rectangle 3">
            <a:extLst>
              <a:ext uri="{FF2B5EF4-FFF2-40B4-BE49-F238E27FC236}">
                <a16:creationId xmlns:a16="http://schemas.microsoft.com/office/drawing/2014/main" id="{7877B2EC-734C-42CF-8B56-08AC81E87815}"/>
              </a:ext>
            </a:extLst>
          </p:cNvPr>
          <p:cNvSpPr>
            <a:spLocks noGrp="1" noChangeArrowheads="1"/>
          </p:cNvSpPr>
          <p:nvPr>
            <p:ph type="body" idx="1"/>
          </p:nvPr>
        </p:nvSpPr>
        <p:spPr>
          <a:xfrm>
            <a:off x="446088" y="1227138"/>
            <a:ext cx="8361362" cy="4875212"/>
          </a:xfrm>
        </p:spPr>
        <p:txBody>
          <a:bodyPr/>
          <a:lstStyle/>
          <a:p>
            <a:r>
              <a:rPr lang="en-US" altLang="en-US" sz="2600"/>
              <a:t>In a multithreaded process, while one thread is blocked and waiting, a second thread can run</a:t>
            </a:r>
          </a:p>
          <a:p>
            <a:pPr lvl="1"/>
            <a:r>
              <a:rPr lang="en-US" altLang="en-US" sz="2600"/>
              <a:t>Cooperation of multiple threads in the same process results in higher throughput</a:t>
            </a:r>
          </a:p>
          <a:p>
            <a:pPr lvl="1"/>
            <a:endParaRPr lang="en-US" altLang="en-US"/>
          </a:p>
        </p:txBody>
      </p:sp>
      <p:pic>
        <p:nvPicPr>
          <p:cNvPr id="77828" name="Picture 4" descr="2-9">
            <a:extLst>
              <a:ext uri="{FF2B5EF4-FFF2-40B4-BE49-F238E27FC236}">
                <a16:creationId xmlns:a16="http://schemas.microsoft.com/office/drawing/2014/main" id="{DCBF8BB7-8C48-43FE-A71F-0A2B69564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313113"/>
            <a:ext cx="6019800" cy="302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9" name="TextBox 1">
            <a:extLst>
              <a:ext uri="{FF2B5EF4-FFF2-40B4-BE49-F238E27FC236}">
                <a16:creationId xmlns:a16="http://schemas.microsoft.com/office/drawing/2014/main" id="{6780CBB2-F3B7-46F8-9CC3-4F192A167AB1}"/>
              </a:ext>
            </a:extLst>
          </p:cNvPr>
          <p:cNvSpPr txBox="1">
            <a:spLocks noChangeArrowheads="1"/>
          </p:cNvSpPr>
          <p:nvPr/>
        </p:nvSpPr>
        <p:spPr bwMode="auto">
          <a:xfrm>
            <a:off x="5181600" y="4333875"/>
            <a:ext cx="915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WORD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ACCDAEED-D8F7-4240-A2D5-C8E726EE935E}"/>
              </a:ext>
            </a:extLst>
          </p:cNvPr>
          <p:cNvSpPr>
            <a:spLocks noGrp="1" noChangeArrowheads="1"/>
          </p:cNvSpPr>
          <p:nvPr>
            <p:ph type="title"/>
          </p:nvPr>
        </p:nvSpPr>
        <p:spPr/>
        <p:txBody>
          <a:bodyPr/>
          <a:lstStyle/>
          <a:p>
            <a:r>
              <a:rPr lang="en-US" altLang="en-US"/>
              <a:t>Example: Multithreaded Server</a:t>
            </a:r>
            <a:endParaRPr lang="en-SG" altLang="en-US"/>
          </a:p>
        </p:txBody>
      </p:sp>
      <p:sp>
        <p:nvSpPr>
          <p:cNvPr id="79874" name="Footer Placeholder 3">
            <a:extLst>
              <a:ext uri="{FF2B5EF4-FFF2-40B4-BE49-F238E27FC236}">
                <a16:creationId xmlns:a16="http://schemas.microsoft.com/office/drawing/2014/main" id="{90E6C076-9F25-4608-92BD-1C900776D20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a:p>
            <a:pPr>
              <a:spcBef>
                <a:spcPct val="0"/>
              </a:spcBef>
              <a:buSzTx/>
              <a:buFontTx/>
              <a:buNone/>
            </a:pPr>
            <a:endParaRPr lang="en-US" altLang="en-US"/>
          </a:p>
        </p:txBody>
      </p:sp>
      <p:pic>
        <p:nvPicPr>
          <p:cNvPr id="79875" name="Picture 4" descr="4">
            <a:extLst>
              <a:ext uri="{FF2B5EF4-FFF2-40B4-BE49-F238E27FC236}">
                <a16:creationId xmlns:a16="http://schemas.microsoft.com/office/drawing/2014/main" id="{E0F3FBC4-16D5-4192-BFFC-C6D2410A2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3" y="2146300"/>
            <a:ext cx="8321675"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Footer Placeholder 3">
            <a:extLst>
              <a:ext uri="{FF2B5EF4-FFF2-40B4-BE49-F238E27FC236}">
                <a16:creationId xmlns:a16="http://schemas.microsoft.com/office/drawing/2014/main" id="{78BE653D-4AB9-4F8B-A919-175D5F7FF08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81922" name="Rectangle 2">
            <a:extLst>
              <a:ext uri="{FF2B5EF4-FFF2-40B4-BE49-F238E27FC236}">
                <a16:creationId xmlns:a16="http://schemas.microsoft.com/office/drawing/2014/main" id="{B77790E0-6E6B-49B7-860A-0BD1659F434D}"/>
              </a:ext>
            </a:extLst>
          </p:cNvPr>
          <p:cNvSpPr>
            <a:spLocks noGrp="1" noChangeArrowheads="1"/>
          </p:cNvSpPr>
          <p:nvPr>
            <p:ph type="title"/>
          </p:nvPr>
        </p:nvSpPr>
        <p:spPr>
          <a:xfrm>
            <a:off x="977900" y="307975"/>
            <a:ext cx="7235825" cy="844550"/>
          </a:xfrm>
        </p:spPr>
        <p:txBody>
          <a:bodyPr/>
          <a:lstStyle/>
          <a:p>
            <a:r>
              <a:rPr lang="en-US" altLang="en-US"/>
              <a:t>Thread Implementation Models</a:t>
            </a:r>
          </a:p>
        </p:txBody>
      </p:sp>
      <p:sp>
        <p:nvSpPr>
          <p:cNvPr id="32772" name="Rectangle 3">
            <a:extLst>
              <a:ext uri="{FF2B5EF4-FFF2-40B4-BE49-F238E27FC236}">
                <a16:creationId xmlns:a16="http://schemas.microsoft.com/office/drawing/2014/main" id="{B210ED94-A16F-40B2-8291-D308EF6E70F4}"/>
              </a:ext>
            </a:extLst>
          </p:cNvPr>
          <p:cNvSpPr>
            <a:spLocks noGrp="1" noChangeArrowheads="1"/>
          </p:cNvSpPr>
          <p:nvPr>
            <p:ph type="body" idx="1"/>
          </p:nvPr>
        </p:nvSpPr>
        <p:spPr>
          <a:xfrm>
            <a:off x="304800" y="1262063"/>
            <a:ext cx="8534400" cy="5062537"/>
          </a:xfrm>
        </p:spPr>
        <p:txBody>
          <a:bodyPr/>
          <a:lstStyle/>
          <a:p>
            <a:pPr>
              <a:lnSpc>
                <a:spcPct val="70000"/>
              </a:lnSpc>
            </a:pPr>
            <a:r>
              <a:rPr lang="en-US" altLang="en-US" sz="2800">
                <a:solidFill>
                  <a:srgbClr val="FF0000"/>
                </a:solidFill>
              </a:rPr>
              <a:t>Paradox</a:t>
            </a:r>
          </a:p>
          <a:p>
            <a:pPr lvl="1">
              <a:lnSpc>
                <a:spcPct val="70000"/>
              </a:lnSpc>
            </a:pPr>
            <a:r>
              <a:rPr lang="en-US" altLang="en-US" sz="2400"/>
              <a:t>Allow users to implement an arbitrary number of threads, </a:t>
            </a:r>
            <a:r>
              <a:rPr lang="en-US" altLang="en-US" sz="2400">
                <a:solidFill>
                  <a:schemeClr val="accent2"/>
                </a:solidFill>
              </a:rPr>
              <a:t>BUT</a:t>
            </a:r>
          </a:p>
          <a:p>
            <a:pPr lvl="1">
              <a:lnSpc>
                <a:spcPct val="70000"/>
              </a:lnSpc>
            </a:pPr>
            <a:r>
              <a:rPr lang="en-US" altLang="en-US" sz="2400"/>
              <a:t>OS kernel can support a limited number of threads due to resource constraints</a:t>
            </a:r>
          </a:p>
          <a:p>
            <a:pPr lvl="4">
              <a:lnSpc>
                <a:spcPct val="70000"/>
              </a:lnSpc>
            </a:pPr>
            <a:endParaRPr lang="en-US" altLang="en-US" sz="2200"/>
          </a:p>
          <a:p>
            <a:pPr>
              <a:lnSpc>
                <a:spcPct val="70000"/>
              </a:lnSpc>
            </a:pPr>
            <a:r>
              <a:rPr lang="en-US" altLang="en-US" sz="2800">
                <a:solidFill>
                  <a:srgbClr val="FF0000"/>
                </a:solidFill>
              </a:rPr>
              <a:t>Solution:</a:t>
            </a:r>
            <a:r>
              <a:rPr lang="en-US" altLang="en-US" sz="2800">
                <a:solidFill>
                  <a:schemeClr val="accent2"/>
                </a:solidFill>
              </a:rPr>
              <a:t> </a:t>
            </a:r>
            <a:r>
              <a:rPr lang="en-US" altLang="en-US" sz="2800"/>
              <a:t>Two layers of abstraction</a:t>
            </a:r>
          </a:p>
          <a:p>
            <a:pPr lvl="4">
              <a:lnSpc>
                <a:spcPct val="70000"/>
              </a:lnSpc>
            </a:pPr>
            <a:endParaRPr lang="en-US" altLang="en-US" sz="2200"/>
          </a:p>
          <a:p>
            <a:pPr lvl="1">
              <a:lnSpc>
                <a:spcPct val="70000"/>
              </a:lnSpc>
            </a:pPr>
            <a:r>
              <a:rPr lang="en-US" altLang="en-US" sz="2400">
                <a:solidFill>
                  <a:srgbClr val="FF0000"/>
                </a:solidFill>
              </a:rPr>
              <a:t>User threads (logical): </a:t>
            </a:r>
            <a:r>
              <a:rPr lang="en-US" altLang="en-US" sz="2400"/>
              <a:t>Created in user space</a:t>
            </a:r>
          </a:p>
          <a:p>
            <a:pPr lvl="2">
              <a:lnSpc>
                <a:spcPct val="70000"/>
              </a:lnSpc>
            </a:pPr>
            <a:r>
              <a:rPr lang="en-US" altLang="en-US" sz="2400"/>
              <a:t>Allows users to create as many threads as they want</a:t>
            </a:r>
          </a:p>
          <a:p>
            <a:pPr lvl="4">
              <a:lnSpc>
                <a:spcPct val="70000"/>
              </a:lnSpc>
            </a:pPr>
            <a:endParaRPr lang="en-US" altLang="en-US"/>
          </a:p>
          <a:p>
            <a:pPr lvl="1">
              <a:lnSpc>
                <a:spcPct val="70000"/>
              </a:lnSpc>
            </a:pPr>
            <a:r>
              <a:rPr lang="en-US" altLang="en-US" sz="2400">
                <a:solidFill>
                  <a:srgbClr val="FF0000"/>
                </a:solidFill>
              </a:rPr>
              <a:t>Kernel threads (physical): </a:t>
            </a:r>
            <a:r>
              <a:rPr lang="en-US" altLang="en-US" sz="2400"/>
              <a:t>Created in kernel space</a:t>
            </a:r>
          </a:p>
          <a:p>
            <a:pPr lvl="2">
              <a:lnSpc>
                <a:spcPct val="70000"/>
              </a:lnSpc>
            </a:pPr>
            <a:r>
              <a:rPr lang="en-US" altLang="en-US" sz="2400"/>
              <a:t>Slower to create and manage than user threads</a:t>
            </a:r>
          </a:p>
          <a:p>
            <a:pPr lvl="2">
              <a:lnSpc>
                <a:spcPct val="70000"/>
              </a:lnSpc>
            </a:pPr>
            <a:r>
              <a:rPr lang="en-US" altLang="en-US" sz="2400"/>
              <a:t>Resources are eventually allocated in kernel threads</a:t>
            </a:r>
          </a:p>
          <a:p>
            <a:pPr lvl="4">
              <a:lnSpc>
                <a:spcPct val="70000"/>
              </a:lnSpc>
            </a:pPr>
            <a:endParaRPr lang="en-US" altLang="en-US" sz="2200"/>
          </a:p>
          <a:p>
            <a:pPr lvl="1">
              <a:lnSpc>
                <a:spcPct val="70000"/>
              </a:lnSpc>
            </a:pPr>
            <a:r>
              <a:rPr lang="en-US" altLang="en-US" sz="2400"/>
              <a:t>OS maintains the mapping from user to kernel threads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2">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7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77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72">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Footer Placeholder 3">
            <a:extLst>
              <a:ext uri="{FF2B5EF4-FFF2-40B4-BE49-F238E27FC236}">
                <a16:creationId xmlns:a16="http://schemas.microsoft.com/office/drawing/2014/main" id="{DB03396F-95F3-4109-98DA-946540CC431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83970" name="Rectangle 2">
            <a:extLst>
              <a:ext uri="{FF2B5EF4-FFF2-40B4-BE49-F238E27FC236}">
                <a16:creationId xmlns:a16="http://schemas.microsoft.com/office/drawing/2014/main" id="{E8FCFBE1-6776-44A1-AE87-EED265074DCB}"/>
              </a:ext>
            </a:extLst>
          </p:cNvPr>
          <p:cNvSpPr>
            <a:spLocks noGrp="1" noChangeArrowheads="1"/>
          </p:cNvSpPr>
          <p:nvPr>
            <p:ph type="title"/>
          </p:nvPr>
        </p:nvSpPr>
        <p:spPr>
          <a:xfrm>
            <a:off x="1011238" y="384175"/>
            <a:ext cx="7235825" cy="671513"/>
          </a:xfrm>
        </p:spPr>
        <p:txBody>
          <a:bodyPr/>
          <a:lstStyle/>
          <a:p>
            <a:r>
              <a:rPr lang="en-US" altLang="en-US"/>
              <a:t>Multithreading Models</a:t>
            </a:r>
          </a:p>
        </p:txBody>
      </p:sp>
      <p:sp>
        <p:nvSpPr>
          <p:cNvPr id="83971" name="Rectangle 3">
            <a:extLst>
              <a:ext uri="{FF2B5EF4-FFF2-40B4-BE49-F238E27FC236}">
                <a16:creationId xmlns:a16="http://schemas.microsoft.com/office/drawing/2014/main" id="{B87FBA15-DAF9-4B97-A67E-D05321E6C47A}"/>
              </a:ext>
            </a:extLst>
          </p:cNvPr>
          <p:cNvSpPr>
            <a:spLocks noGrp="1" noChangeArrowheads="1"/>
          </p:cNvSpPr>
          <p:nvPr>
            <p:ph type="body" idx="1"/>
          </p:nvPr>
        </p:nvSpPr>
        <p:spPr>
          <a:xfrm>
            <a:off x="1047750" y="1724025"/>
            <a:ext cx="7486650" cy="4114800"/>
          </a:xfrm>
        </p:spPr>
        <p:txBody>
          <a:bodyPr/>
          <a:lstStyle/>
          <a:p>
            <a:r>
              <a:rPr lang="en-US" altLang="en-US" sz="2800"/>
              <a:t>Model that defines the mapping between user threads and kernel threads</a:t>
            </a:r>
          </a:p>
          <a:p>
            <a:pPr lvl="1"/>
            <a:r>
              <a:rPr lang="en-US" altLang="en-US" sz="2800">
                <a:solidFill>
                  <a:srgbClr val="FF0000"/>
                </a:solidFill>
              </a:rPr>
              <a:t>Many-to-One</a:t>
            </a:r>
          </a:p>
          <a:p>
            <a:pPr lvl="1"/>
            <a:r>
              <a:rPr lang="en-US" altLang="en-US" sz="2800">
                <a:solidFill>
                  <a:srgbClr val="FF0000"/>
                </a:solidFill>
              </a:rPr>
              <a:t>One-to-One</a:t>
            </a:r>
          </a:p>
          <a:p>
            <a:pPr lvl="1"/>
            <a:r>
              <a:rPr lang="en-US" altLang="en-US" sz="2800">
                <a:solidFill>
                  <a:srgbClr val="FF0000"/>
                </a:solidFill>
              </a:rPr>
              <a:t>Many-to-Many</a:t>
            </a:r>
          </a:p>
          <a:p>
            <a:pPr lvl="4"/>
            <a:endParaRPr lang="en-US" altLang="en-US">
              <a:solidFill>
                <a:srgbClr val="FF0000"/>
              </a:solidFill>
            </a:endParaRPr>
          </a:p>
          <a:p>
            <a:r>
              <a:rPr lang="en-US" altLang="en-US" sz="2800"/>
              <a:t>Why is there no One-to-Many mapping?</a:t>
            </a:r>
          </a:p>
          <a:p>
            <a:pPr lvl="1"/>
            <a:r>
              <a:rPr lang="en-US" altLang="en-US" sz="2800"/>
              <a:t>Wastage of OS resources to map a single user thread to many kernel threads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Footer Placeholder 3">
            <a:extLst>
              <a:ext uri="{FF2B5EF4-FFF2-40B4-BE49-F238E27FC236}">
                <a16:creationId xmlns:a16="http://schemas.microsoft.com/office/drawing/2014/main" id="{3C8E0609-F54E-4797-95A7-DE3E4BA86FC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86018" name="Rectangle 2">
            <a:extLst>
              <a:ext uri="{FF2B5EF4-FFF2-40B4-BE49-F238E27FC236}">
                <a16:creationId xmlns:a16="http://schemas.microsoft.com/office/drawing/2014/main" id="{F8285DB2-3CAA-41D3-9374-4725F4089B07}"/>
              </a:ext>
            </a:extLst>
          </p:cNvPr>
          <p:cNvSpPr>
            <a:spLocks noGrp="1" noChangeArrowheads="1"/>
          </p:cNvSpPr>
          <p:nvPr>
            <p:ph type="title"/>
          </p:nvPr>
        </p:nvSpPr>
        <p:spPr>
          <a:xfrm>
            <a:off x="1084263" y="333375"/>
            <a:ext cx="7235825" cy="646113"/>
          </a:xfrm>
        </p:spPr>
        <p:txBody>
          <a:bodyPr/>
          <a:lstStyle/>
          <a:p>
            <a:r>
              <a:rPr lang="en-US" altLang="en-US"/>
              <a:t>Many-to-One Mapping</a:t>
            </a:r>
          </a:p>
        </p:txBody>
      </p:sp>
      <p:sp>
        <p:nvSpPr>
          <p:cNvPr id="87043" name="Rectangle 3">
            <a:extLst>
              <a:ext uri="{FF2B5EF4-FFF2-40B4-BE49-F238E27FC236}">
                <a16:creationId xmlns:a16="http://schemas.microsoft.com/office/drawing/2014/main" id="{E69FA111-C2F4-45B1-A5EA-901EF2C382FE}"/>
              </a:ext>
            </a:extLst>
          </p:cNvPr>
          <p:cNvSpPr>
            <a:spLocks noGrp="1" noChangeArrowheads="1"/>
          </p:cNvSpPr>
          <p:nvPr>
            <p:ph type="body" idx="1"/>
          </p:nvPr>
        </p:nvSpPr>
        <p:spPr>
          <a:xfrm>
            <a:off x="304800" y="5181600"/>
            <a:ext cx="8763000" cy="733425"/>
          </a:xfrm>
        </p:spPr>
        <p:txBody>
          <a:bodyPr/>
          <a:lstStyle/>
          <a:p>
            <a:pPr marL="0" indent="0">
              <a:buFontTx/>
              <a:buNone/>
            </a:pPr>
            <a:r>
              <a:rPr lang="en-US" altLang="en-US" sz="2800">
                <a:solidFill>
                  <a:srgbClr val="FF0000"/>
                </a:solidFill>
              </a:rPr>
              <a:t>Disadvantage:</a:t>
            </a:r>
            <a:r>
              <a:rPr lang="en-US" altLang="en-US" sz="2800"/>
              <a:t> A blocked user thread, will also block other user threads mapped to the same kernel thread</a:t>
            </a:r>
          </a:p>
        </p:txBody>
      </p:sp>
      <p:pic>
        <p:nvPicPr>
          <p:cNvPr id="86020" name="Picture 6">
            <a:extLst>
              <a:ext uri="{FF2B5EF4-FFF2-40B4-BE49-F238E27FC236}">
                <a16:creationId xmlns:a16="http://schemas.microsoft.com/office/drawing/2014/main" id="{D1706EA9-25C3-4E04-8330-0BE54F88A6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834" t="1373" r="12500" b="1830"/>
          <a:stretch>
            <a:fillRect/>
          </a:stretch>
        </p:blipFill>
        <p:spPr bwMode="auto">
          <a:xfrm>
            <a:off x="2590800" y="1165225"/>
            <a:ext cx="4038600" cy="3824288"/>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734BA636-4468-4087-BAB8-C93498135ED1}"/>
              </a:ext>
            </a:extLst>
          </p:cNvPr>
          <p:cNvGrpSpPr>
            <a:grpSpLocks/>
          </p:cNvGrpSpPr>
          <p:nvPr/>
        </p:nvGrpSpPr>
        <p:grpSpPr bwMode="auto">
          <a:xfrm>
            <a:off x="3003550" y="2667000"/>
            <a:ext cx="190500" cy="419100"/>
            <a:chOff x="685800" y="3657600"/>
            <a:chExt cx="381000" cy="381000"/>
          </a:xfrm>
        </p:grpSpPr>
        <p:cxnSp>
          <p:nvCxnSpPr>
            <p:cNvPr id="86034" name="Straight Connector 2">
              <a:extLst>
                <a:ext uri="{FF2B5EF4-FFF2-40B4-BE49-F238E27FC236}">
                  <a16:creationId xmlns:a16="http://schemas.microsoft.com/office/drawing/2014/main" id="{5572F3BD-FF9D-4688-B05F-E2E9D262E8D7}"/>
                </a:ext>
              </a:extLst>
            </p:cNvPr>
            <p:cNvCxnSpPr>
              <a:cxnSpLocks noChangeShapeType="1"/>
            </p:cNvCxnSpPr>
            <p:nvPr/>
          </p:nvCxnSpPr>
          <p:spPr bwMode="auto">
            <a:xfrm flipH="1">
              <a:off x="685800" y="3657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cxnSp>
        <p:cxnSp>
          <p:nvCxnSpPr>
            <p:cNvPr id="86035" name="Straight Connector 6">
              <a:extLst>
                <a:ext uri="{FF2B5EF4-FFF2-40B4-BE49-F238E27FC236}">
                  <a16:creationId xmlns:a16="http://schemas.microsoft.com/office/drawing/2014/main" id="{09CA4F45-2025-4927-9F0E-383650EEC237}"/>
                </a:ext>
              </a:extLst>
            </p:cNvPr>
            <p:cNvCxnSpPr>
              <a:cxnSpLocks noChangeShapeType="1"/>
            </p:cNvCxnSpPr>
            <p:nvPr/>
          </p:nvCxnSpPr>
          <p:spPr bwMode="auto">
            <a:xfrm>
              <a:off x="685800" y="3657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cxnSp>
      </p:grpSp>
      <p:grpSp>
        <p:nvGrpSpPr>
          <p:cNvPr id="9" name="Group 8">
            <a:extLst>
              <a:ext uri="{FF2B5EF4-FFF2-40B4-BE49-F238E27FC236}">
                <a16:creationId xmlns:a16="http://schemas.microsoft.com/office/drawing/2014/main" id="{C35EB440-948C-4C12-8E79-DE4BEB3E9024}"/>
              </a:ext>
            </a:extLst>
          </p:cNvPr>
          <p:cNvGrpSpPr>
            <a:grpSpLocks/>
          </p:cNvGrpSpPr>
          <p:nvPr/>
        </p:nvGrpSpPr>
        <p:grpSpPr bwMode="auto">
          <a:xfrm>
            <a:off x="3784600" y="3975100"/>
            <a:ext cx="190500" cy="419100"/>
            <a:chOff x="685800" y="3657600"/>
            <a:chExt cx="381000" cy="381000"/>
          </a:xfrm>
        </p:grpSpPr>
        <p:cxnSp>
          <p:nvCxnSpPr>
            <p:cNvPr id="86032" name="Straight Connector 10">
              <a:extLst>
                <a:ext uri="{FF2B5EF4-FFF2-40B4-BE49-F238E27FC236}">
                  <a16:creationId xmlns:a16="http://schemas.microsoft.com/office/drawing/2014/main" id="{94F67FDC-96B5-4A0C-A1F8-CC5A197F5537}"/>
                </a:ext>
              </a:extLst>
            </p:cNvPr>
            <p:cNvCxnSpPr>
              <a:cxnSpLocks noChangeShapeType="1"/>
            </p:cNvCxnSpPr>
            <p:nvPr/>
          </p:nvCxnSpPr>
          <p:spPr bwMode="auto">
            <a:xfrm flipH="1">
              <a:off x="685800" y="3657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cxnSp>
        <p:cxnSp>
          <p:nvCxnSpPr>
            <p:cNvPr id="86033" name="Straight Connector 11">
              <a:extLst>
                <a:ext uri="{FF2B5EF4-FFF2-40B4-BE49-F238E27FC236}">
                  <a16:creationId xmlns:a16="http://schemas.microsoft.com/office/drawing/2014/main" id="{AF3D86A8-FD90-403B-9AB6-FF8E0CD01011}"/>
                </a:ext>
              </a:extLst>
            </p:cNvPr>
            <p:cNvCxnSpPr>
              <a:cxnSpLocks noChangeShapeType="1"/>
            </p:cNvCxnSpPr>
            <p:nvPr/>
          </p:nvCxnSpPr>
          <p:spPr bwMode="auto">
            <a:xfrm>
              <a:off x="685800" y="3657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cxnSp>
      </p:grpSp>
      <p:grpSp>
        <p:nvGrpSpPr>
          <p:cNvPr id="87047" name="Group 12">
            <a:extLst>
              <a:ext uri="{FF2B5EF4-FFF2-40B4-BE49-F238E27FC236}">
                <a16:creationId xmlns:a16="http://schemas.microsoft.com/office/drawing/2014/main" id="{2E56D2B1-209A-41BD-BCBA-B269C2CD41C9}"/>
              </a:ext>
            </a:extLst>
          </p:cNvPr>
          <p:cNvGrpSpPr>
            <a:grpSpLocks/>
          </p:cNvGrpSpPr>
          <p:nvPr/>
        </p:nvGrpSpPr>
        <p:grpSpPr bwMode="auto">
          <a:xfrm>
            <a:off x="6778625" y="2362200"/>
            <a:ext cx="190500" cy="419100"/>
            <a:chOff x="685800" y="3657600"/>
            <a:chExt cx="381000" cy="381000"/>
          </a:xfrm>
        </p:grpSpPr>
        <p:cxnSp>
          <p:nvCxnSpPr>
            <p:cNvPr id="86030" name="Straight Connector 13">
              <a:extLst>
                <a:ext uri="{FF2B5EF4-FFF2-40B4-BE49-F238E27FC236}">
                  <a16:creationId xmlns:a16="http://schemas.microsoft.com/office/drawing/2014/main" id="{DAE67BE8-6AAD-4CA0-ADC5-55C6B92D3D02}"/>
                </a:ext>
              </a:extLst>
            </p:cNvPr>
            <p:cNvCxnSpPr>
              <a:cxnSpLocks noChangeShapeType="1"/>
            </p:cNvCxnSpPr>
            <p:nvPr/>
          </p:nvCxnSpPr>
          <p:spPr bwMode="auto">
            <a:xfrm flipH="1">
              <a:off x="685800" y="3657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cxnSp>
        <p:cxnSp>
          <p:nvCxnSpPr>
            <p:cNvPr id="86031" name="Straight Connector 14">
              <a:extLst>
                <a:ext uri="{FF2B5EF4-FFF2-40B4-BE49-F238E27FC236}">
                  <a16:creationId xmlns:a16="http://schemas.microsoft.com/office/drawing/2014/main" id="{96117D54-C9FF-48BE-B187-26469E8599D7}"/>
                </a:ext>
              </a:extLst>
            </p:cNvPr>
            <p:cNvCxnSpPr>
              <a:cxnSpLocks noChangeShapeType="1"/>
            </p:cNvCxnSpPr>
            <p:nvPr/>
          </p:nvCxnSpPr>
          <p:spPr bwMode="auto">
            <a:xfrm>
              <a:off x="685800" y="3657600"/>
              <a:ext cx="381000" cy="381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cxnSp>
      </p:grpSp>
      <p:sp>
        <p:nvSpPr>
          <p:cNvPr id="87048" name="TextBox 5">
            <a:extLst>
              <a:ext uri="{FF2B5EF4-FFF2-40B4-BE49-F238E27FC236}">
                <a16:creationId xmlns:a16="http://schemas.microsoft.com/office/drawing/2014/main" id="{EDE0E91E-08D3-4CFC-A277-D671547DFCBF}"/>
              </a:ext>
            </a:extLst>
          </p:cNvPr>
          <p:cNvSpPr txBox="1">
            <a:spLocks noChangeArrowheads="1"/>
          </p:cNvSpPr>
          <p:nvPr/>
        </p:nvSpPr>
        <p:spPr bwMode="auto">
          <a:xfrm>
            <a:off x="6986588" y="2433638"/>
            <a:ext cx="20050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I/O or System call</a:t>
            </a:r>
          </a:p>
        </p:txBody>
      </p:sp>
      <p:sp>
        <p:nvSpPr>
          <p:cNvPr id="16" name="TextBox 15">
            <a:extLst>
              <a:ext uri="{FF2B5EF4-FFF2-40B4-BE49-F238E27FC236}">
                <a16:creationId xmlns:a16="http://schemas.microsoft.com/office/drawing/2014/main" id="{12EA7BC9-6286-42E1-BBF8-F2D5CEB2EA79}"/>
              </a:ext>
            </a:extLst>
          </p:cNvPr>
          <p:cNvSpPr txBox="1">
            <a:spLocks noChangeArrowheads="1"/>
          </p:cNvSpPr>
          <p:nvPr/>
        </p:nvSpPr>
        <p:spPr bwMode="auto">
          <a:xfrm>
            <a:off x="3376613" y="2312988"/>
            <a:ext cx="5095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a:solidFill>
                  <a:srgbClr val="FF0000"/>
                </a:solidFill>
                <a:sym typeface="Wingdings" panose="05000000000000000000" pitchFamily="2" charset="2"/>
              </a:rPr>
              <a:t></a:t>
            </a:r>
            <a:endParaRPr lang="en-US" altLang="en-US" sz="3000">
              <a:solidFill>
                <a:srgbClr val="FF0000"/>
              </a:solidFill>
            </a:endParaRPr>
          </a:p>
        </p:txBody>
      </p:sp>
      <p:sp>
        <p:nvSpPr>
          <p:cNvPr id="17" name="TextBox 16">
            <a:extLst>
              <a:ext uri="{FF2B5EF4-FFF2-40B4-BE49-F238E27FC236}">
                <a16:creationId xmlns:a16="http://schemas.microsoft.com/office/drawing/2014/main" id="{E33A14A9-6C6F-4DAF-A08A-2A07E2DC9E3F}"/>
              </a:ext>
            </a:extLst>
          </p:cNvPr>
          <p:cNvSpPr txBox="1">
            <a:spLocks noChangeArrowheads="1"/>
          </p:cNvSpPr>
          <p:nvPr/>
        </p:nvSpPr>
        <p:spPr bwMode="auto">
          <a:xfrm>
            <a:off x="3886200" y="2166938"/>
            <a:ext cx="50958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a:solidFill>
                  <a:srgbClr val="FF0000"/>
                </a:solidFill>
                <a:sym typeface="Wingdings" panose="05000000000000000000" pitchFamily="2" charset="2"/>
              </a:rPr>
              <a:t></a:t>
            </a:r>
            <a:endParaRPr lang="en-US" altLang="en-US" sz="3000">
              <a:solidFill>
                <a:srgbClr val="FF0000"/>
              </a:solidFill>
            </a:endParaRPr>
          </a:p>
        </p:txBody>
      </p:sp>
      <p:sp>
        <p:nvSpPr>
          <p:cNvPr id="18" name="TextBox 17">
            <a:extLst>
              <a:ext uri="{FF2B5EF4-FFF2-40B4-BE49-F238E27FC236}">
                <a16:creationId xmlns:a16="http://schemas.microsoft.com/office/drawing/2014/main" id="{9DBAF2D3-7C41-46DD-B0C2-D27D178B1F1A}"/>
              </a:ext>
            </a:extLst>
          </p:cNvPr>
          <p:cNvSpPr txBox="1">
            <a:spLocks noChangeArrowheads="1"/>
          </p:cNvSpPr>
          <p:nvPr/>
        </p:nvSpPr>
        <p:spPr bwMode="auto">
          <a:xfrm>
            <a:off x="4481513" y="2443163"/>
            <a:ext cx="509587"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a:solidFill>
                  <a:srgbClr val="FF0000"/>
                </a:solidFill>
                <a:sym typeface="Wingdings" panose="05000000000000000000" pitchFamily="2" charset="2"/>
              </a:rPr>
              <a:t></a:t>
            </a:r>
            <a:endParaRPr lang="en-US" altLang="en-US" sz="3000">
              <a:solidFill>
                <a:srgbClr val="FF0000"/>
              </a:solidFill>
            </a:endParaRPr>
          </a:p>
        </p:txBody>
      </p:sp>
      <p:sp>
        <p:nvSpPr>
          <p:cNvPr id="87052" name="TextBox 19">
            <a:extLst>
              <a:ext uri="{FF2B5EF4-FFF2-40B4-BE49-F238E27FC236}">
                <a16:creationId xmlns:a16="http://schemas.microsoft.com/office/drawing/2014/main" id="{952CA861-2697-4E3E-BED4-81BBF1423EF3}"/>
              </a:ext>
            </a:extLst>
          </p:cNvPr>
          <p:cNvSpPr txBox="1">
            <a:spLocks noChangeArrowheads="1"/>
          </p:cNvSpPr>
          <p:nvPr/>
        </p:nvSpPr>
        <p:spPr bwMode="auto">
          <a:xfrm>
            <a:off x="6626225" y="2970213"/>
            <a:ext cx="508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3000">
                <a:solidFill>
                  <a:srgbClr val="FF0000"/>
                </a:solidFill>
                <a:sym typeface="Wingdings" panose="05000000000000000000" pitchFamily="2" charset="2"/>
              </a:rPr>
              <a:t></a:t>
            </a:r>
            <a:endParaRPr lang="en-US" altLang="en-US" sz="3000">
              <a:solidFill>
                <a:srgbClr val="FF0000"/>
              </a:solidFill>
            </a:endParaRPr>
          </a:p>
        </p:txBody>
      </p:sp>
      <p:sp>
        <p:nvSpPr>
          <p:cNvPr id="87053" name="TextBox 20">
            <a:extLst>
              <a:ext uri="{FF2B5EF4-FFF2-40B4-BE49-F238E27FC236}">
                <a16:creationId xmlns:a16="http://schemas.microsoft.com/office/drawing/2014/main" id="{06EC3BE5-C0F7-423A-8885-652880C7264A}"/>
              </a:ext>
            </a:extLst>
          </p:cNvPr>
          <p:cNvSpPr txBox="1">
            <a:spLocks noChangeArrowheads="1"/>
          </p:cNvSpPr>
          <p:nvPr/>
        </p:nvSpPr>
        <p:spPr bwMode="auto">
          <a:xfrm>
            <a:off x="6992938" y="3062288"/>
            <a:ext cx="1004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Blocked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04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0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70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P spid="87048" grpId="0"/>
      <p:bldP spid="16" grpId="0"/>
      <p:bldP spid="17" grpId="0"/>
      <p:bldP spid="18" grpId="0"/>
      <p:bldP spid="87052" grpId="0"/>
      <p:bldP spid="8705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Footer Placeholder 3">
            <a:extLst>
              <a:ext uri="{FF2B5EF4-FFF2-40B4-BE49-F238E27FC236}">
                <a16:creationId xmlns:a16="http://schemas.microsoft.com/office/drawing/2014/main" id="{9B9D98FB-21C2-4DA9-B38D-386574CE338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88066" name="Rectangle 1026">
            <a:extLst>
              <a:ext uri="{FF2B5EF4-FFF2-40B4-BE49-F238E27FC236}">
                <a16:creationId xmlns:a16="http://schemas.microsoft.com/office/drawing/2014/main" id="{3B49B59D-EDB4-44DA-9CF0-3D39D76C3577}"/>
              </a:ext>
            </a:extLst>
          </p:cNvPr>
          <p:cNvSpPr>
            <a:spLocks noGrp="1" noChangeArrowheads="1"/>
          </p:cNvSpPr>
          <p:nvPr>
            <p:ph type="title"/>
          </p:nvPr>
        </p:nvSpPr>
        <p:spPr>
          <a:xfrm>
            <a:off x="1036638" y="271463"/>
            <a:ext cx="7235825" cy="646112"/>
          </a:xfrm>
        </p:spPr>
        <p:txBody>
          <a:bodyPr/>
          <a:lstStyle/>
          <a:p>
            <a:r>
              <a:rPr lang="en-US" altLang="en-US"/>
              <a:t>One-to-One Mapping</a:t>
            </a:r>
          </a:p>
        </p:txBody>
      </p:sp>
      <p:sp>
        <p:nvSpPr>
          <p:cNvPr id="88067" name="Rectangle 1027">
            <a:extLst>
              <a:ext uri="{FF2B5EF4-FFF2-40B4-BE49-F238E27FC236}">
                <a16:creationId xmlns:a16="http://schemas.microsoft.com/office/drawing/2014/main" id="{7B62C01C-D866-46F3-9852-D2484D3B31D1}"/>
              </a:ext>
            </a:extLst>
          </p:cNvPr>
          <p:cNvSpPr>
            <a:spLocks noGrp="1" noChangeArrowheads="1"/>
          </p:cNvSpPr>
          <p:nvPr>
            <p:ph type="body" idx="1"/>
          </p:nvPr>
        </p:nvSpPr>
        <p:spPr>
          <a:xfrm>
            <a:off x="317500" y="1390650"/>
            <a:ext cx="8426450" cy="5116513"/>
          </a:xfrm>
        </p:spPr>
        <p:txBody>
          <a:bodyPr/>
          <a:lstStyle/>
          <a:p>
            <a:r>
              <a:rPr lang="en-US" altLang="en-US" sz="2600"/>
              <a:t>Each user-level thread maps to a unique kernel thread</a:t>
            </a:r>
          </a:p>
          <a:p>
            <a:pPr lvl="1"/>
            <a:r>
              <a:rPr lang="en-US" altLang="en-US" sz="2600"/>
              <a:t>Examples: Windows 95/98/NT/2000, OS/2</a:t>
            </a:r>
          </a:p>
          <a:p>
            <a:pPr lvl="4"/>
            <a:endParaRPr lang="en-US" altLang="en-US" sz="2000"/>
          </a:p>
          <a:p>
            <a:r>
              <a:rPr lang="en-US" altLang="en-US" sz="2600"/>
              <a:t>Provides more concurrency than many-to-one model</a:t>
            </a:r>
          </a:p>
          <a:p>
            <a:pPr lvl="4"/>
            <a:endParaRPr lang="en-US" altLang="en-US" sz="2000"/>
          </a:p>
          <a:p>
            <a:r>
              <a:rPr lang="en-US" altLang="en-US" sz="2600">
                <a:solidFill>
                  <a:srgbClr val="FF0000"/>
                </a:solidFill>
              </a:rPr>
              <a:t>Disadvantages:</a:t>
            </a:r>
            <a:r>
              <a:rPr lang="en-US" altLang="en-US" sz="2600"/>
              <a:t> </a:t>
            </a:r>
          </a:p>
          <a:p>
            <a:pPr lvl="1"/>
            <a:r>
              <a:rPr lang="en-US" altLang="en-US" sz="2600"/>
              <a:t>Creating a user thread requires creating the corresponding kernel thread</a:t>
            </a:r>
          </a:p>
          <a:p>
            <a:pPr lvl="1"/>
            <a:r>
              <a:rPr lang="en-US" altLang="en-US" sz="2600"/>
              <a:t>May create too many kernel threads which is a burden on the system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Footer Placeholder 2">
            <a:extLst>
              <a:ext uri="{FF2B5EF4-FFF2-40B4-BE49-F238E27FC236}">
                <a16:creationId xmlns:a16="http://schemas.microsoft.com/office/drawing/2014/main" id="{88543AC4-7306-403D-9000-91B5D8D3988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92162" name="Rectangle 1026">
            <a:extLst>
              <a:ext uri="{FF2B5EF4-FFF2-40B4-BE49-F238E27FC236}">
                <a16:creationId xmlns:a16="http://schemas.microsoft.com/office/drawing/2014/main" id="{D22961A9-531C-4A1C-95F4-C971B382C9E2}"/>
              </a:ext>
            </a:extLst>
          </p:cNvPr>
          <p:cNvSpPr>
            <a:spLocks noGrp="1" noChangeArrowheads="1"/>
          </p:cNvSpPr>
          <p:nvPr>
            <p:ph type="title"/>
          </p:nvPr>
        </p:nvSpPr>
        <p:spPr>
          <a:xfrm>
            <a:off x="1096963" y="211138"/>
            <a:ext cx="7235825" cy="844550"/>
          </a:xfrm>
        </p:spPr>
        <p:txBody>
          <a:bodyPr/>
          <a:lstStyle/>
          <a:p>
            <a:r>
              <a:rPr lang="en-US" altLang="en-US"/>
              <a:t>Many-to-Many Mapping</a:t>
            </a:r>
          </a:p>
        </p:txBody>
      </p:sp>
      <p:pic>
        <p:nvPicPr>
          <p:cNvPr id="92163" name="Picture 1030">
            <a:extLst>
              <a:ext uri="{FF2B5EF4-FFF2-40B4-BE49-F238E27FC236}">
                <a16:creationId xmlns:a16="http://schemas.microsoft.com/office/drawing/2014/main" id="{73E625EB-6EBC-4905-B54D-35CCFB752E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67" t="1735" r="7027" b="2176"/>
          <a:stretch>
            <a:fillRect/>
          </a:stretch>
        </p:blipFill>
        <p:spPr bwMode="auto">
          <a:xfrm>
            <a:off x="2093913" y="1576388"/>
            <a:ext cx="4953000" cy="4097337"/>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Footer Placeholder 3">
            <a:extLst>
              <a:ext uri="{FF2B5EF4-FFF2-40B4-BE49-F238E27FC236}">
                <a16:creationId xmlns:a16="http://schemas.microsoft.com/office/drawing/2014/main" id="{CA4B8B40-E433-4114-8834-8E944B9B6B9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solidFill>
                  <a:srgbClr val="000000"/>
                </a:solidFill>
              </a:rPr>
              <a:t>Operating Systems</a:t>
            </a:r>
          </a:p>
          <a:p>
            <a:pPr>
              <a:spcBef>
                <a:spcPct val="0"/>
              </a:spcBef>
              <a:buSzTx/>
              <a:buFontTx/>
              <a:buNone/>
            </a:pPr>
            <a:endParaRPr lang="en-US" altLang="en-US">
              <a:solidFill>
                <a:srgbClr val="000000"/>
              </a:solidFill>
            </a:endParaRPr>
          </a:p>
          <a:p>
            <a:pPr>
              <a:spcBef>
                <a:spcPct val="0"/>
              </a:spcBef>
              <a:buSzTx/>
              <a:buFontTx/>
              <a:buNone/>
            </a:pPr>
            <a:endParaRPr lang="en-US" altLang="en-US"/>
          </a:p>
        </p:txBody>
      </p:sp>
      <p:sp>
        <p:nvSpPr>
          <p:cNvPr id="90114" name="Rectangle 1026">
            <a:extLst>
              <a:ext uri="{FF2B5EF4-FFF2-40B4-BE49-F238E27FC236}">
                <a16:creationId xmlns:a16="http://schemas.microsoft.com/office/drawing/2014/main" id="{5533F9C9-9F03-4210-BE3E-072EDED82FEC}"/>
              </a:ext>
            </a:extLst>
          </p:cNvPr>
          <p:cNvSpPr>
            <a:spLocks noGrp="1" noChangeArrowheads="1"/>
          </p:cNvSpPr>
          <p:nvPr>
            <p:ph type="title"/>
          </p:nvPr>
        </p:nvSpPr>
        <p:spPr>
          <a:xfrm>
            <a:off x="1060450" y="211138"/>
            <a:ext cx="7235825" cy="844550"/>
          </a:xfrm>
        </p:spPr>
        <p:txBody>
          <a:bodyPr/>
          <a:lstStyle/>
          <a:p>
            <a:r>
              <a:rPr lang="en-US" altLang="en-US"/>
              <a:t>Many-to-Many Mapping</a:t>
            </a:r>
          </a:p>
        </p:txBody>
      </p:sp>
      <p:sp>
        <p:nvSpPr>
          <p:cNvPr id="90115" name="Rectangle 1027">
            <a:extLst>
              <a:ext uri="{FF2B5EF4-FFF2-40B4-BE49-F238E27FC236}">
                <a16:creationId xmlns:a16="http://schemas.microsoft.com/office/drawing/2014/main" id="{7C19767C-6FFD-46DF-A84F-94790A53C595}"/>
              </a:ext>
            </a:extLst>
          </p:cNvPr>
          <p:cNvSpPr>
            <a:spLocks noGrp="1" noChangeArrowheads="1"/>
          </p:cNvSpPr>
          <p:nvPr>
            <p:ph type="body" idx="1"/>
          </p:nvPr>
        </p:nvSpPr>
        <p:spPr>
          <a:xfrm>
            <a:off x="666750" y="1166813"/>
            <a:ext cx="8248650" cy="4548187"/>
          </a:xfrm>
        </p:spPr>
        <p:txBody>
          <a:bodyPr/>
          <a:lstStyle/>
          <a:p>
            <a:r>
              <a:rPr lang="en-US" altLang="en-US" sz="2600"/>
              <a:t>Allows many user level threads to be mapped to many kernel threads (see next slide)</a:t>
            </a:r>
          </a:p>
          <a:p>
            <a:pPr lvl="1"/>
            <a:r>
              <a:rPr lang="en-US" altLang="en-US" sz="2600"/>
              <a:t>Examples: C++20 coroutines, Golang goroutines</a:t>
            </a:r>
          </a:p>
          <a:p>
            <a:pPr marL="0" indent="0">
              <a:buNone/>
            </a:pPr>
            <a:endParaRPr lang="en-US" altLang="en-US" sz="2000"/>
          </a:p>
          <a:p>
            <a:r>
              <a:rPr lang="en-US" altLang="en-US" sz="2600"/>
              <a:t>Allows the operating system to create a sufficient number of kernel threads</a:t>
            </a:r>
          </a:p>
          <a:p>
            <a:pPr lvl="4"/>
            <a:endParaRPr lang="en-US" altLang="en-US" sz="2000"/>
          </a:p>
          <a:p>
            <a:r>
              <a:rPr lang="en-US" altLang="en-US" sz="2600"/>
              <a:t>Does not have the disadvantages of one-to-one and many-to-one models</a:t>
            </a:r>
          </a:p>
          <a:p>
            <a:pPr lvl="4"/>
            <a:endParaRPr lang="en-US" altLang="en-US" sz="2000"/>
          </a:p>
          <a:p>
            <a:r>
              <a:rPr lang="en-US" altLang="en-US" sz="2600">
                <a:solidFill>
                  <a:srgbClr val="FF0000"/>
                </a:solidFill>
              </a:rPr>
              <a:t>Disadvantage:</a:t>
            </a:r>
            <a:r>
              <a:rPr lang="en-US" altLang="en-US" sz="2600"/>
              <a:t> Not easy to decide the mapping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EF438-CBCA-1B3A-A0F5-545B2EC89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573CE-7357-A632-2304-30848EE5C971}"/>
              </a:ext>
            </a:extLst>
          </p:cNvPr>
          <p:cNvSpPr>
            <a:spLocks noGrp="1"/>
          </p:cNvSpPr>
          <p:nvPr>
            <p:ph type="title"/>
          </p:nvPr>
        </p:nvSpPr>
        <p:spPr/>
        <p:txBody>
          <a:bodyPr/>
          <a:lstStyle/>
          <a:p>
            <a:r>
              <a:rPr lang="en-US" dirty="0"/>
              <a:t>ExtraQ4 </a:t>
            </a:r>
            <a:r>
              <a:rPr lang="en-US" dirty="0" err="1"/>
              <a:t>Wooclap</a:t>
            </a:r>
            <a:r>
              <a:rPr lang="en-US" dirty="0"/>
              <a:t> Exercise</a:t>
            </a:r>
          </a:p>
        </p:txBody>
      </p:sp>
      <p:sp>
        <p:nvSpPr>
          <p:cNvPr id="4" name="Footer Placeholder 3">
            <a:extLst>
              <a:ext uri="{FF2B5EF4-FFF2-40B4-BE49-F238E27FC236}">
                <a16:creationId xmlns:a16="http://schemas.microsoft.com/office/drawing/2014/main" id="{953C820A-713F-DCBC-58AB-20000D196C93}"/>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Content Placeholder 9">
                <a:extLst>
                  <a:ext uri="{FF2B5EF4-FFF2-40B4-BE49-F238E27FC236}">
                    <a16:creationId xmlns:a16="http://schemas.microsoft.com/office/drawing/2014/main" id="{A06D4A1B-FCEB-84B9-5224-57207599B1DB}"/>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10" name="Content Placeholder 9">
                <a:extLst>
                  <a:ext uri="{FF2B5EF4-FFF2-40B4-BE49-F238E27FC236}">
                    <a16:creationId xmlns:a16="http://schemas.microsoft.com/office/drawing/2014/main" id="{A06D4A1B-FCEB-84B9-5224-57207599B1DB}"/>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2727484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Footer Placeholder 3">
            <a:extLst>
              <a:ext uri="{FF2B5EF4-FFF2-40B4-BE49-F238E27FC236}">
                <a16:creationId xmlns:a16="http://schemas.microsoft.com/office/drawing/2014/main" id="{DF812122-135C-428E-AE0E-81B2415732A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4210" name="Rectangle 2">
            <a:extLst>
              <a:ext uri="{FF2B5EF4-FFF2-40B4-BE49-F238E27FC236}">
                <a16:creationId xmlns:a16="http://schemas.microsoft.com/office/drawing/2014/main" id="{4E49D1D4-899B-48ED-8CCD-4BEC788EC375}"/>
              </a:ext>
            </a:extLst>
          </p:cNvPr>
          <p:cNvSpPr>
            <a:spLocks noGrp="1" noChangeArrowheads="1"/>
          </p:cNvSpPr>
          <p:nvPr>
            <p:ph type="title"/>
          </p:nvPr>
        </p:nvSpPr>
        <p:spPr/>
        <p:txBody>
          <a:bodyPr/>
          <a:lstStyle/>
          <a:p>
            <a:r>
              <a:rPr lang="en-US" altLang="en-US"/>
              <a:t>Advanced Readings</a:t>
            </a:r>
          </a:p>
        </p:txBody>
      </p:sp>
      <p:sp>
        <p:nvSpPr>
          <p:cNvPr id="94211" name="Rectangle 3">
            <a:extLst>
              <a:ext uri="{FF2B5EF4-FFF2-40B4-BE49-F238E27FC236}">
                <a16:creationId xmlns:a16="http://schemas.microsoft.com/office/drawing/2014/main" id="{41FE3676-1F93-4CDE-ABBB-BC23CE307B1A}"/>
              </a:ext>
            </a:extLst>
          </p:cNvPr>
          <p:cNvSpPr>
            <a:spLocks noGrp="1" noChangeArrowheads="1"/>
          </p:cNvSpPr>
          <p:nvPr>
            <p:ph type="body" idx="1"/>
          </p:nvPr>
        </p:nvSpPr>
        <p:spPr>
          <a:xfrm>
            <a:off x="638175" y="1439863"/>
            <a:ext cx="7970838" cy="4956175"/>
          </a:xfrm>
        </p:spPr>
        <p:txBody>
          <a:bodyPr/>
          <a:lstStyle/>
          <a:p>
            <a:r>
              <a:rPr lang="en-US" altLang="en-US" sz="2400"/>
              <a:t>Beej's Guide to Unix </a:t>
            </a:r>
            <a:r>
              <a:rPr lang="en-US" altLang="en-US" sz="2400" err="1"/>
              <a:t>Interprocess</a:t>
            </a:r>
            <a:r>
              <a:rPr lang="en-US" altLang="en-US" sz="2400"/>
              <a:t> Communication</a:t>
            </a:r>
          </a:p>
          <a:p>
            <a:pPr lvl="1"/>
            <a:r>
              <a:rPr lang="en-US" altLang="en-US" sz="2000">
                <a:hlinkClick r:id="rId3"/>
              </a:rPr>
              <a:t>http://beej.us/guide/bgipc/</a:t>
            </a:r>
            <a:endParaRPr lang="en-US" altLang="en-US" sz="2000"/>
          </a:p>
          <a:p>
            <a:pPr lvl="1"/>
            <a:r>
              <a:rPr lang="en-US" altLang="en-US" sz="2000"/>
              <a:t>Very good introduction on the IPC implementation inside Unix</a:t>
            </a:r>
          </a:p>
          <a:p>
            <a:pPr lvl="1"/>
            <a:endParaRPr lang="en-US" altLang="en-US" sz="2000"/>
          </a:p>
          <a:p>
            <a:r>
              <a:rPr lang="en-US" altLang="en-US" sz="2400"/>
              <a:t>Tutorials on how to use thread libraries:</a:t>
            </a:r>
          </a:p>
          <a:p>
            <a:pPr lvl="1"/>
            <a:r>
              <a:rPr lang="en-US" altLang="en-US" sz="2000"/>
              <a:t>POSIX </a:t>
            </a:r>
            <a:r>
              <a:rPr lang="en-US" altLang="en-US" sz="2000" err="1"/>
              <a:t>pthreads</a:t>
            </a:r>
            <a:r>
              <a:rPr lang="en-US" altLang="en-US" sz="2000"/>
              <a:t>, </a:t>
            </a:r>
            <a:r>
              <a:rPr lang="en-US" altLang="en-US" sz="2000">
                <a:hlinkClick r:id="rId4"/>
              </a:rPr>
              <a:t>http://randu.org/tutorials/threads/</a:t>
            </a:r>
            <a:r>
              <a:rPr lang="en-US" altLang="en-US" sz="2000"/>
              <a:t>  </a:t>
            </a:r>
          </a:p>
          <a:p>
            <a:pPr lvl="1"/>
            <a:r>
              <a:rPr lang="en-US" altLang="en-US" sz="2000"/>
              <a:t>Windows Process and Thread Functions </a:t>
            </a:r>
            <a:r>
              <a:rPr lang="en-US" altLang="en-US" sz="2000">
                <a:hlinkClick r:id="rId5"/>
              </a:rPr>
              <a:t>http://msdn.microsoft.com/en-us/library/windows/desktop/ms684847(v=vs.85).aspx</a:t>
            </a:r>
            <a:endParaRPr lang="en-US" altLang="en-US" sz="2000"/>
          </a:p>
          <a:p>
            <a:pPr lvl="1"/>
            <a:endParaRPr lang="en-US" altLang="en-US" sz="2000"/>
          </a:p>
          <a:p>
            <a:r>
              <a:rPr lang="en-US" altLang="en-US" sz="2400"/>
              <a:t>Golang goroutines: </a:t>
            </a:r>
            <a:r>
              <a:rPr lang="en-US" altLang="en-US" sz="2400">
                <a:hlinkClick r:id="rId6"/>
              </a:rPr>
              <a:t>https://granulate.io/blog/deep-dive-into-golang-performance/</a:t>
            </a:r>
            <a:endParaRPr lang="en-US" altLang="en-US" sz="2400"/>
          </a:p>
          <a:p>
            <a:endParaRPr lang="en-US" altLang="en-US" sz="2400"/>
          </a:p>
          <a:p>
            <a:endParaRPr lang="en-US" altLang="en-US" sz="24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1DA0-F3D0-895C-817B-60D2B398E801}"/>
              </a:ext>
            </a:extLst>
          </p:cNvPr>
          <p:cNvSpPr>
            <a:spLocks noGrp="1"/>
          </p:cNvSpPr>
          <p:nvPr>
            <p:ph type="title"/>
          </p:nvPr>
        </p:nvSpPr>
        <p:spPr/>
        <p:txBody>
          <a:bodyPr/>
          <a:lstStyle/>
          <a:p>
            <a:r>
              <a:rPr lang="en-US" dirty="0"/>
              <a:t>Concept Poll</a:t>
            </a:r>
          </a:p>
        </p:txBody>
      </p:sp>
      <p:sp>
        <p:nvSpPr>
          <p:cNvPr id="4" name="Footer Placeholder 3">
            <a:extLst>
              <a:ext uri="{FF2B5EF4-FFF2-40B4-BE49-F238E27FC236}">
                <a16:creationId xmlns:a16="http://schemas.microsoft.com/office/drawing/2014/main" id="{308E13DC-B828-C652-7665-415D3BBB604A}"/>
              </a:ext>
            </a:extLst>
          </p:cNvPr>
          <p:cNvSpPr>
            <a:spLocks noGrp="1"/>
          </p:cNvSpPr>
          <p:nvPr>
            <p:ph type="ftr" sz="quarter" idx="10"/>
          </p:nvPr>
        </p:nvSpPr>
        <p:spPr/>
        <p:txBody>
          <a:bodyPr/>
          <a:lstStyle/>
          <a:p>
            <a:pPr>
              <a:defRPr/>
            </a:pPr>
            <a:r>
              <a:rPr lang="en-US"/>
              <a:t>Operating Systems</a:t>
            </a:r>
          </a:p>
          <a:p>
            <a:pPr>
              <a:defRPr/>
            </a:pPr>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A42848FA-BE2D-1E3D-07A2-08FBE2109A0E}"/>
                  </a:ext>
                </a:extLst>
              </p:cNvPr>
              <p:cNvGraphicFramePr>
                <a:graphicFrameLocks noGrp="1"/>
              </p:cNvGraphicFramePr>
              <p:nvPr>
                <p:extLst>
                  <p:ext uri="{D42A27DB-BD31-4B8C-83A1-F6EECF244321}">
                    <p14:modId xmlns:p14="http://schemas.microsoft.com/office/powerpoint/2010/main" val="4029637293"/>
                  </p:ext>
                </p:extLst>
              </p:nvPr>
            </p:nvGraphicFramePr>
            <p:xfrm>
              <a:off x="33337" y="1094665"/>
              <a:ext cx="9144000" cy="530049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a:extLst>
                  <a:ext uri="{FF2B5EF4-FFF2-40B4-BE49-F238E27FC236}">
                    <a16:creationId xmlns:a16="http://schemas.microsoft.com/office/drawing/2014/main" id="{A42848FA-BE2D-1E3D-07A2-08FBE2109A0E}"/>
                  </a:ext>
                </a:extLst>
              </p:cNvPr>
              <p:cNvPicPr>
                <a:picLocks noGrp="1" noRot="1" noChangeAspect="1" noMove="1" noResize="1" noEditPoints="1" noAdjustHandles="1" noChangeArrowheads="1" noChangeShapeType="1"/>
              </p:cNvPicPr>
              <p:nvPr/>
            </p:nvPicPr>
            <p:blipFill>
              <a:blip r:embed="rId4"/>
              <a:stretch>
                <a:fillRect/>
              </a:stretch>
            </p:blipFill>
            <p:spPr>
              <a:xfrm>
                <a:off x="33337" y="1094665"/>
                <a:ext cx="9144000" cy="5300494"/>
              </a:xfrm>
              <a:prstGeom prst="rect">
                <a:avLst/>
              </a:prstGeom>
            </p:spPr>
          </p:pic>
        </mc:Fallback>
      </mc:AlternateContent>
    </p:spTree>
    <p:extLst>
      <p:ext uri="{BB962C8B-B14F-4D97-AF65-F5344CB8AC3E}">
        <p14:creationId xmlns:p14="http://schemas.microsoft.com/office/powerpoint/2010/main" val="4191262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19267-7A02-A86E-86C4-0AA772B4F2C6}"/>
              </a:ext>
            </a:extLst>
          </p:cNvPr>
          <p:cNvSpPr>
            <a:spLocks noGrp="1"/>
          </p:cNvSpPr>
          <p:nvPr>
            <p:ph type="title"/>
          </p:nvPr>
        </p:nvSpPr>
        <p:spPr/>
        <p:txBody>
          <a:bodyPr/>
          <a:lstStyle/>
          <a:p>
            <a:r>
              <a:rPr lang="en-US" dirty="0"/>
              <a:t>Feedback &amp; Improvements</a:t>
            </a:r>
          </a:p>
        </p:txBody>
      </p:sp>
      <p:sp>
        <p:nvSpPr>
          <p:cNvPr id="4" name="Footer Placeholder 3">
            <a:extLst>
              <a:ext uri="{FF2B5EF4-FFF2-40B4-BE49-F238E27FC236}">
                <a16:creationId xmlns:a16="http://schemas.microsoft.com/office/drawing/2014/main" id="{ECEE63EC-C796-BC37-791A-94E0F125660F}"/>
              </a:ext>
            </a:extLst>
          </p:cNvPr>
          <p:cNvSpPr>
            <a:spLocks noGrp="1"/>
          </p:cNvSpPr>
          <p:nvPr>
            <p:ph type="ftr" sz="quarter" idx="10"/>
          </p:nvPr>
        </p:nvSpPr>
        <p:spPr/>
        <p:txBody>
          <a:bodyPr/>
          <a:lstStyle/>
          <a:p>
            <a:pPr>
              <a:defRPr/>
            </a:pPr>
            <a:r>
              <a:rPr lang="en-US"/>
              <a:t>Operating Systems</a:t>
            </a:r>
          </a:p>
          <a:p>
            <a:pPr>
              <a:defRPr/>
            </a:pPr>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8" name="Add-in 7">
                <a:extLst>
                  <a:ext uri="{FF2B5EF4-FFF2-40B4-BE49-F238E27FC236}">
                    <a16:creationId xmlns:a16="http://schemas.microsoft.com/office/drawing/2014/main" id="{68134748-8B06-5593-9B4F-9841278C814B}"/>
                  </a:ext>
                </a:extLst>
              </p:cNvPr>
              <p:cNvGraphicFramePr>
                <a:graphicFrameLocks noGrp="1"/>
              </p:cNvGraphicFramePr>
              <p:nvPr>
                <p:extLst>
                  <p:ext uri="{D42A27DB-BD31-4B8C-83A1-F6EECF244321}">
                    <p14:modId xmlns:p14="http://schemas.microsoft.com/office/powerpoint/2010/main" val="1932436590"/>
                  </p:ext>
                </p:extLst>
              </p:nvPr>
            </p:nvGraphicFramePr>
            <p:xfrm>
              <a:off x="0" y="680936"/>
              <a:ext cx="9144000" cy="5398851"/>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8" name="Add-in 7">
                <a:extLst>
                  <a:ext uri="{FF2B5EF4-FFF2-40B4-BE49-F238E27FC236}">
                    <a16:creationId xmlns:a16="http://schemas.microsoft.com/office/drawing/2014/main" id="{68134748-8B06-5593-9B4F-9841278C814B}"/>
                  </a:ext>
                </a:extLst>
              </p:cNvPr>
              <p:cNvPicPr>
                <a:picLocks noGrp="1" noRot="1" noChangeAspect="1" noMove="1" noResize="1" noEditPoints="1" noAdjustHandles="1" noChangeArrowheads="1" noChangeShapeType="1"/>
              </p:cNvPicPr>
              <p:nvPr/>
            </p:nvPicPr>
            <p:blipFill>
              <a:blip r:embed="rId3"/>
              <a:stretch>
                <a:fillRect/>
              </a:stretch>
            </p:blipFill>
            <p:spPr>
              <a:xfrm>
                <a:off x="0" y="680936"/>
                <a:ext cx="9144000" cy="5398851"/>
              </a:xfrm>
              <a:prstGeom prst="rect">
                <a:avLst/>
              </a:prstGeom>
            </p:spPr>
          </p:pic>
        </mc:Fallback>
      </mc:AlternateContent>
    </p:spTree>
    <p:extLst>
      <p:ext uri="{BB962C8B-B14F-4D97-AF65-F5344CB8AC3E}">
        <p14:creationId xmlns:p14="http://schemas.microsoft.com/office/powerpoint/2010/main" val="1594576249"/>
      </p:ext>
    </p:extLst>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webextension2.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6.xml.rels><?xml version="1.0" encoding="UTF-8" standalone="yes"?>
<Relationships xmlns="http://schemas.openxmlformats.org/package/2006/relationships"><Relationship Id="rId1" Type="http://schemas.openxmlformats.org/officeDocument/2006/relationships/image" Target="../media/image18.png"/></Relationships>
</file>

<file path=ppt/webextensions/_rels/webextension7.xml.rels><?xml version="1.0" encoding="UTF-8" standalone="yes"?>
<Relationships xmlns="http://schemas.openxmlformats.org/package/2006/relationships"><Relationship Id="rId1" Type="http://schemas.openxmlformats.org/officeDocument/2006/relationships/image" Target="../media/image19.png"/></Relationships>
</file>

<file path=ppt/webextensions/webextension1.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KDFNF&quot;"/>
    <we:property name="selectedQuestionId" value="&quot;66c301aaadd2d65b12706c1e&quot;"/>
    <we:property name="ZKDFNF:66c301aaadd2d65b12706c1e:SlideId" value="416"/>
  </we:properties>
  <we:bindings/>
  <we:snapshot xmlns:r="http://schemas.openxmlformats.org/officeDocument/2006/relationships"/>
</we:webextension>
</file>

<file path=ppt/webextensions/webextension2.xml><?xml version="1.0" encoding="utf-8"?>
<we:webextension xmlns:we="http://schemas.microsoft.com/office/webextensions/webextension/2010/11" id="{D881F902-8F52-8245-A256-DF8B74F058C8}">
  <we:reference id="71a1a0ed-6cd0-4a6e-ad2d-015b8a8b43cb" version="1.0.0.8" store="EXCatalog" storeType="EXCatalog"/>
  <we:alternateReferences>
    <we:reference id="WA104381682" version="1.0.0.8" store="en-SG" storeType="OMEX"/>
  </we:alternateReferences>
  <we:properties>
    <we:property name="addinSlideId" value="414"/>
    <we:property name="selectedSlug" value="&quot;ZKDFNF&quot;"/>
    <we:property name="selectedQuestionId" value="&quot;66c2fe49f97d79c6dc2ebcb5&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KDFNF&quot;"/>
    <we:property name="selectedQuestionId" value="&quot;66beb3a05ef7d0336a5bbe26&quot;"/>
    <we:property name="ZKDFNF:66beb3a05ef7d0336a5bbe26:SlideId" value="426"/>
  </we:properties>
  <we:bindings/>
  <we:snapshot xmlns:r="http://schemas.openxmlformats.org/officeDocument/2006/relationships"/>
</we:webextension>
</file>

<file path=ppt/webextensions/webextension4.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KDFNF&quot;"/>
    <we:property name="selectedQuestionId" value="&quot;66c3055877a22fac8f77d8d6&quot;"/>
    <we:property name="ZKDFNF:66c3055877a22fac8f77d8d6:SlideId" value="427"/>
  </we:properties>
  <we:bindings/>
  <we:snapshot xmlns:r="http://schemas.openxmlformats.org/officeDocument/2006/relationships"/>
</we:webextension>
</file>

<file path=ppt/webextensions/webextension5.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KDFNF&quot;"/>
    <we:property name="selectedQuestionId" value="&quot;66c33aaafa10226c6aab7d20&quot;"/>
    <we:property name="ZKDFNF:66c33aaafa10226c6aab7d20:SlideId" value="428"/>
  </we:properties>
  <we:bindings/>
  <we:snapshot xmlns:r="http://schemas.openxmlformats.org/officeDocument/2006/relationships"/>
</we:webextension>
</file>

<file path=ppt/webextensions/webextension6.xml><?xml version="1.0" encoding="utf-8"?>
<we:webextension xmlns:we="http://schemas.microsoft.com/office/webextensions/webextension/2010/11" id="{2DF0A3D7-818F-9143-9687-22F79151666F}">
  <we:reference id="71a1a0ed-6cd0-4a6e-ad2d-015b8a8b43cb" version="1.0.0.8" store="EXCatalog" storeType="EXCatalog"/>
  <we:alternateReferences>
    <we:reference id="WA104381682" version="1.0.0.8" store="en-SG" storeType="OMEX"/>
  </we:alternateReferences>
  <we:properties>
    <we:property name="addinSlideId" value="423"/>
    <we:property name="selectedSlug" value="&quot;ZKDFNF&quot;"/>
    <we:property name="selectedQuestionId" value="&quot;66c57c780822eca012295404&quot;"/>
  </we:properties>
  <we:bindings/>
  <we:snapshot xmlns:r="http://schemas.openxmlformats.org/officeDocument/2006/relationships" r:embed="rId1"/>
</we:webextension>
</file>

<file path=ppt/webextensions/webextension7.xml><?xml version="1.0" encoding="utf-8"?>
<we:webextension xmlns:we="http://schemas.microsoft.com/office/webextensions/webextension/2010/11" id="{179BEE14-D66A-194D-A406-AA4379601D1A}">
  <we:reference id="71a1a0ed-6cd0-4a6e-ad2d-015b8a8b43cb" version="1.0.0.8" store="EXCatalog" storeType="EXCatalog"/>
  <we:alternateReferences>
    <we:reference id="WA104381682" version="1.0.0.8" store="en-SG" storeType="OMEX"/>
  </we:alternateReferences>
  <we:properties>
    <we:property name="addinSlideId" value="424"/>
    <we:property name="selectedSlug" value="&quot;ZKDFNF&quot;"/>
    <we:property name="selectedQuestionId" value="&quot;66c57dfc832401e9c9e28f7f&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186</TotalTime>
  <Words>6556</Words>
  <Application>Microsoft Macintosh PowerPoint</Application>
  <PresentationFormat>On-screen Show (4:3)</PresentationFormat>
  <Paragraphs>562</Paragraphs>
  <Slides>47</Slides>
  <Notes>41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Comic Sans MS</vt:lpstr>
      <vt:lpstr>Helvetica</vt:lpstr>
      <vt:lpstr>Monotype Sorts</vt:lpstr>
      <vt:lpstr>Symbol</vt:lpstr>
      <vt:lpstr>Times New Roman</vt:lpstr>
      <vt:lpstr>Wingdings</vt:lpstr>
      <vt:lpstr>avi</vt:lpstr>
      <vt:lpstr>Part 2:  Processes and Threads</vt:lpstr>
      <vt:lpstr>Process Concept</vt:lpstr>
      <vt:lpstr>Process in Memory</vt:lpstr>
      <vt:lpstr>ExtraQ1 Wooclap Exercise</vt:lpstr>
      <vt:lpstr>Process State</vt:lpstr>
      <vt:lpstr>Diagram of Process State Transitions</vt:lpstr>
      <vt:lpstr>Exercise</vt:lpstr>
      <vt:lpstr>ExtraQ2 Wooclap Exercise</vt:lpstr>
      <vt:lpstr>Process Control Block (PCB)</vt:lpstr>
      <vt:lpstr>Process Control Block (PCB)</vt:lpstr>
      <vt:lpstr>PCB and Processes in Main Memory</vt:lpstr>
      <vt:lpstr>Part 2:  Processes and Threads</vt:lpstr>
      <vt:lpstr>Context Switch Between Processes</vt:lpstr>
      <vt:lpstr>Context Switch</vt:lpstr>
      <vt:lpstr>Process Scheduling Queues</vt:lpstr>
      <vt:lpstr>Ready Queue And Various I/O Device Queues</vt:lpstr>
      <vt:lpstr>ExtraQ3 Wooclap Exercise</vt:lpstr>
      <vt:lpstr>Process Schedulers</vt:lpstr>
      <vt:lpstr>Process Schedulers (Cont.)</vt:lpstr>
      <vt:lpstr>Part 2:  Processes and Threads</vt:lpstr>
      <vt:lpstr>Process Creation</vt:lpstr>
      <vt:lpstr>Process Creation (Cont.)</vt:lpstr>
      <vt:lpstr>Process Termination</vt:lpstr>
      <vt:lpstr>Part 2:  Processes and Threads</vt:lpstr>
      <vt:lpstr>Cooperating Processes</vt:lpstr>
      <vt:lpstr>IPC Models</vt:lpstr>
      <vt:lpstr>IPC – Message Passing</vt:lpstr>
      <vt:lpstr>Direct vs. Indirect Message Passing</vt:lpstr>
      <vt:lpstr>Producer-Consumer Process Paradigm</vt:lpstr>
      <vt:lpstr>Producer-Consumer: Bounded Buffer</vt:lpstr>
      <vt:lpstr>Part 2:  Processes and Threads</vt:lpstr>
      <vt:lpstr>Threads</vt:lpstr>
      <vt:lpstr>Threads</vt:lpstr>
      <vt:lpstr>Overview</vt:lpstr>
      <vt:lpstr>Single vs Multithreaded Processes</vt:lpstr>
      <vt:lpstr>Advantage of Multithreaded Processes</vt:lpstr>
      <vt:lpstr>Example: Multithreaded Server</vt:lpstr>
      <vt:lpstr>Thread Implementation Models</vt:lpstr>
      <vt:lpstr>Multithreading Models</vt:lpstr>
      <vt:lpstr>Many-to-One Mapping</vt:lpstr>
      <vt:lpstr>One-to-One Mapping</vt:lpstr>
      <vt:lpstr>Many-to-Many Mapping</vt:lpstr>
      <vt:lpstr>Many-to-Many Mapping</vt:lpstr>
      <vt:lpstr>ExtraQ4 Wooclap Exercise</vt:lpstr>
      <vt:lpstr>Advanced Readings</vt:lpstr>
      <vt:lpstr>Concept Poll</vt:lpstr>
      <vt:lpstr>Feedback &amp;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2:  Processes and Threads</dc:title>
  <dc:creator>Arvind Easwaran</dc:creator>
  <cp:lastModifiedBy>Arvind Easwaran</cp:lastModifiedBy>
  <cp:revision>2</cp:revision>
  <cp:lastPrinted>2003-01-09T01:25:52Z</cp:lastPrinted>
  <dcterms:created xsi:type="dcterms:W3CDTF">2019-09-15T04:01:10Z</dcterms:created>
  <dcterms:modified xsi:type="dcterms:W3CDTF">2025-01-09T08:00:06Z</dcterms:modified>
</cp:coreProperties>
</file>