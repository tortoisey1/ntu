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webextensions/webextension1.xml" ContentType="application/vnd.ms-office.webextension+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webextensions/webextension2.xml" ContentType="application/vnd.ms-office.webextension+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webextensions/webextension3.xml" ContentType="application/vnd.ms-office.webextension+xml"/>
  <Override PartName="/ppt/notesSlides/notesSlide17.xml" ContentType="application/vnd.openxmlformats-officedocument.presentationml.notesSlide+xml"/>
  <Override PartName="/ppt/webextensions/webextension4.xml" ContentType="application/vnd.ms-office.webextension+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webextensions/webextension5.xml" ContentType="application/vnd.ms-office.webextension+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webextensions/webextension6.xml" ContentType="application/vnd.ms-office.webextension+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webextensions/webextension7.xml" ContentType="application/vnd.ms-office.webextension+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webextensions/webextension8.xml" ContentType="application/vnd.ms-office.webextension+xml"/>
  <Override PartName="/ppt/webextensions/webextension9.xml" ContentType="application/vnd.ms-office.webextension+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2"/>
  </p:notesMasterIdLst>
  <p:handoutMasterIdLst>
    <p:handoutMasterId r:id="rId43"/>
  </p:handoutMasterIdLst>
  <p:sldIdLst>
    <p:sldId id="310" r:id="rId2"/>
    <p:sldId id="256" r:id="rId3"/>
    <p:sldId id="257" r:id="rId4"/>
    <p:sldId id="278" r:id="rId5"/>
    <p:sldId id="258" r:id="rId6"/>
    <p:sldId id="285" r:id="rId7"/>
    <p:sldId id="414" r:id="rId8"/>
    <p:sldId id="260" r:id="rId9"/>
    <p:sldId id="286" r:id="rId10"/>
    <p:sldId id="293" r:id="rId11"/>
    <p:sldId id="292" r:id="rId12"/>
    <p:sldId id="262" r:id="rId13"/>
    <p:sldId id="263" r:id="rId14"/>
    <p:sldId id="287" r:id="rId15"/>
    <p:sldId id="429" r:id="rId16"/>
    <p:sldId id="264" r:id="rId17"/>
    <p:sldId id="265" r:id="rId18"/>
    <p:sldId id="266" r:id="rId19"/>
    <p:sldId id="430" r:id="rId20"/>
    <p:sldId id="417" r:id="rId21"/>
    <p:sldId id="269" r:id="rId22"/>
    <p:sldId id="416" r:id="rId23"/>
    <p:sldId id="270" r:id="rId24"/>
    <p:sldId id="271" r:id="rId25"/>
    <p:sldId id="431" r:id="rId26"/>
    <p:sldId id="281" r:id="rId27"/>
    <p:sldId id="291" r:id="rId28"/>
    <p:sldId id="272" r:id="rId29"/>
    <p:sldId id="289" r:id="rId30"/>
    <p:sldId id="295" r:id="rId31"/>
    <p:sldId id="296" r:id="rId32"/>
    <p:sldId id="297" r:id="rId33"/>
    <p:sldId id="298" r:id="rId34"/>
    <p:sldId id="432" r:id="rId35"/>
    <p:sldId id="299" r:id="rId36"/>
    <p:sldId id="300" r:id="rId37"/>
    <p:sldId id="301" r:id="rId38"/>
    <p:sldId id="308" r:id="rId39"/>
    <p:sldId id="433" r:id="rId40"/>
    <p:sldId id="434" r:id="rId41"/>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5pPr>
    <a:lvl6pPr marL="2286000" algn="l" defTabSz="914400" rtl="0" eaLnBrk="1" latinLnBrk="0" hangingPunct="1">
      <a:defRPr kern="1200">
        <a:solidFill>
          <a:schemeClr val="tx1"/>
        </a:solidFill>
        <a:latin typeface="Helvetica" panose="020B0604020202020204" pitchFamily="34" charset="0"/>
        <a:ea typeface="+mn-ea"/>
        <a:cs typeface="+mn-cs"/>
      </a:defRPr>
    </a:lvl6pPr>
    <a:lvl7pPr marL="2743200" algn="l" defTabSz="914400" rtl="0" eaLnBrk="1" latinLnBrk="0" hangingPunct="1">
      <a:defRPr kern="1200">
        <a:solidFill>
          <a:schemeClr val="tx1"/>
        </a:solidFill>
        <a:latin typeface="Helvetica" panose="020B0604020202020204" pitchFamily="34" charset="0"/>
        <a:ea typeface="+mn-ea"/>
        <a:cs typeface="+mn-cs"/>
      </a:defRPr>
    </a:lvl7pPr>
    <a:lvl8pPr marL="3200400" algn="l" defTabSz="914400" rtl="0" eaLnBrk="1" latinLnBrk="0" hangingPunct="1">
      <a:defRPr kern="1200">
        <a:solidFill>
          <a:schemeClr val="tx1"/>
        </a:solidFill>
        <a:latin typeface="Helvetica" panose="020B0604020202020204" pitchFamily="34" charset="0"/>
        <a:ea typeface="+mn-ea"/>
        <a:cs typeface="+mn-cs"/>
      </a:defRPr>
    </a:lvl8pPr>
    <a:lvl9pPr marL="3657600" algn="l" defTabSz="914400" rtl="0" eaLnBrk="1" latinLnBrk="0" hangingPunct="1">
      <a:defRPr kern="1200">
        <a:solidFill>
          <a:schemeClr val="tx1"/>
        </a:solidFill>
        <a:latin typeface="Helvetica"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72F7DA-5FA7-AB43-8481-AF05266D0F79}" v="12" dt="2025-01-08T12:24:11.9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31"/>
    <p:restoredTop sz="84096" autoAdjust="0"/>
  </p:normalViewPr>
  <p:slideViewPr>
    <p:cSldViewPr snapToGrid="0">
      <p:cViewPr varScale="1">
        <p:scale>
          <a:sx n="142" d="100"/>
          <a:sy n="142" d="100"/>
        </p:scale>
        <p:origin x="3016"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02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mitrii Ustiugov" userId="fee3c4a0-c40b-4de8-8e1d-1d3cf97580eb" providerId="ADAL" clId="{DCED9D6F-4253-674E-BAD7-33713D973654}"/>
    <pc:docChg chg="undo custSel addSld modSld sldOrd">
      <pc:chgData name="Dmitrii Ustiugov" userId="fee3c4a0-c40b-4de8-8e1d-1d3cf97580eb" providerId="ADAL" clId="{DCED9D6F-4253-674E-BAD7-33713D973654}" dt="2023-08-31T03:24:30.955" v="497" actId="20577"/>
      <pc:docMkLst>
        <pc:docMk/>
      </pc:docMkLst>
      <pc:sldChg chg="addSp delSp modSp add mod delAnim">
        <pc:chgData name="Dmitrii Ustiugov" userId="fee3c4a0-c40b-4de8-8e1d-1d3cf97580eb" providerId="ADAL" clId="{DCED9D6F-4253-674E-BAD7-33713D973654}" dt="2023-08-31T01:15:28.451" v="16" actId="478"/>
        <pc:sldMkLst>
          <pc:docMk/>
          <pc:sldMk cId="0" sldId="307"/>
        </pc:sldMkLst>
      </pc:sldChg>
      <pc:sldChg chg="addSp delSp modSp new mod ord modAnim">
        <pc:chgData name="Dmitrii Ustiugov" userId="fee3c4a0-c40b-4de8-8e1d-1d3cf97580eb" providerId="ADAL" clId="{DCED9D6F-4253-674E-BAD7-33713D973654}" dt="2023-08-31T03:24:30.955" v="497" actId="20577"/>
        <pc:sldMkLst>
          <pc:docMk/>
          <pc:sldMk cId="1857617458" sldId="308"/>
        </pc:sldMkLst>
      </pc:sldChg>
      <pc:sldChg chg="modSp new mod">
        <pc:chgData name="Dmitrii Ustiugov" userId="fee3c4a0-c40b-4de8-8e1d-1d3cf97580eb" providerId="ADAL" clId="{DCED9D6F-4253-674E-BAD7-33713D973654}" dt="2023-08-31T01:18:02.084" v="319" actId="403"/>
        <pc:sldMkLst>
          <pc:docMk/>
          <pc:sldMk cId="1627049018" sldId="309"/>
        </pc:sldMkLst>
      </pc:sldChg>
    </pc:docChg>
  </pc:docChgLst>
  <pc:docChgLst>
    <pc:chgData name="Arvind Easwaran" userId="S::arvinde@staff.main.ntu.edu.sg::6059df8d-17bf-4148-9f7c-190b13d86f35" providerId="AD" clId="Web-{B4900754-605C-29B9-3E15-1BDA16ACBA1C}"/>
    <pc:docChg chg="addSld delSld modSld">
      <pc:chgData name="Arvind Easwaran" userId="S::arvinde@staff.main.ntu.edu.sg::6059df8d-17bf-4148-9f7c-190b13d86f35" providerId="AD" clId="Web-{B4900754-605C-29B9-3E15-1BDA16ACBA1C}" dt="2021-07-26T07:46:33.554" v="3025" actId="20577"/>
      <pc:docMkLst>
        <pc:docMk/>
      </pc:docMkLst>
      <pc:sldChg chg="modSp">
        <pc:chgData name="Arvind Easwaran" userId="S::arvinde@staff.main.ntu.edu.sg::6059df8d-17bf-4148-9f7c-190b13d86f35" providerId="AD" clId="Web-{B4900754-605C-29B9-3E15-1BDA16ACBA1C}" dt="2021-07-26T03:44:08.821" v="166" actId="20577"/>
        <pc:sldMkLst>
          <pc:docMk/>
          <pc:sldMk cId="0" sldId="258"/>
        </pc:sldMkLst>
      </pc:sldChg>
      <pc:sldChg chg="modSp modNotes">
        <pc:chgData name="Arvind Easwaran" userId="S::arvinde@staff.main.ntu.edu.sg::6059df8d-17bf-4148-9f7c-190b13d86f35" providerId="AD" clId="Web-{B4900754-605C-29B9-3E15-1BDA16ACBA1C}" dt="2021-07-26T03:40:23.739" v="101" actId="20577"/>
        <pc:sldMkLst>
          <pc:docMk/>
          <pc:sldMk cId="0" sldId="260"/>
        </pc:sldMkLst>
      </pc:sldChg>
      <pc:sldChg chg="modSp modNotes">
        <pc:chgData name="Arvind Easwaran" userId="S::arvinde@staff.main.ntu.edu.sg::6059df8d-17bf-4148-9f7c-190b13d86f35" providerId="AD" clId="Web-{B4900754-605C-29B9-3E15-1BDA16ACBA1C}" dt="2021-07-26T03:57:50.446" v="339" actId="20577"/>
        <pc:sldMkLst>
          <pc:docMk/>
          <pc:sldMk cId="0" sldId="262"/>
        </pc:sldMkLst>
      </pc:sldChg>
      <pc:sldChg chg="modSp">
        <pc:chgData name="Arvind Easwaran" userId="S::arvinde@staff.main.ntu.edu.sg::6059df8d-17bf-4148-9f7c-190b13d86f35" providerId="AD" clId="Web-{B4900754-605C-29B9-3E15-1BDA16ACBA1C}" dt="2021-07-26T03:57:39.743" v="335" actId="20577"/>
        <pc:sldMkLst>
          <pc:docMk/>
          <pc:sldMk cId="0" sldId="263"/>
        </pc:sldMkLst>
      </pc:sldChg>
      <pc:sldChg chg="modSp">
        <pc:chgData name="Arvind Easwaran" userId="S::arvinde@staff.main.ntu.edu.sg::6059df8d-17bf-4148-9f7c-190b13d86f35" providerId="AD" clId="Web-{B4900754-605C-29B9-3E15-1BDA16ACBA1C}" dt="2021-07-26T03:54:45.302" v="283" actId="20577"/>
        <pc:sldMkLst>
          <pc:docMk/>
          <pc:sldMk cId="0" sldId="264"/>
        </pc:sldMkLst>
      </pc:sldChg>
      <pc:sldChg chg="modNotes">
        <pc:chgData name="Arvind Easwaran" userId="S::arvinde@staff.main.ntu.edu.sg::6059df8d-17bf-4148-9f7c-190b13d86f35" providerId="AD" clId="Web-{B4900754-605C-29B9-3E15-1BDA16ACBA1C}" dt="2021-07-26T03:56:45.179" v="331"/>
        <pc:sldMkLst>
          <pc:docMk/>
          <pc:sldMk cId="0" sldId="265"/>
        </pc:sldMkLst>
      </pc:sldChg>
      <pc:sldChg chg="modSp">
        <pc:chgData name="Arvind Easwaran" userId="S::arvinde@staff.main.ntu.edu.sg::6059df8d-17bf-4148-9f7c-190b13d86f35" providerId="AD" clId="Web-{B4900754-605C-29B9-3E15-1BDA16ACBA1C}" dt="2021-07-26T03:58:47.259" v="342" actId="1076"/>
        <pc:sldMkLst>
          <pc:docMk/>
          <pc:sldMk cId="0" sldId="266"/>
        </pc:sldMkLst>
      </pc:sldChg>
      <pc:sldChg chg="modSp modNotes">
        <pc:chgData name="Arvind Easwaran" userId="S::arvinde@staff.main.ntu.edu.sg::6059df8d-17bf-4148-9f7c-190b13d86f35" providerId="AD" clId="Web-{B4900754-605C-29B9-3E15-1BDA16ACBA1C}" dt="2021-07-26T04:01:16.325" v="365"/>
        <pc:sldMkLst>
          <pc:docMk/>
          <pc:sldMk cId="0" sldId="269"/>
        </pc:sldMkLst>
      </pc:sldChg>
      <pc:sldChg chg="modSp">
        <pc:chgData name="Arvind Easwaran" userId="S::arvinde@staff.main.ntu.edu.sg::6059df8d-17bf-4148-9f7c-190b13d86f35" providerId="AD" clId="Web-{B4900754-605C-29B9-3E15-1BDA16ACBA1C}" dt="2021-07-26T04:02:20.935" v="378" actId="20577"/>
        <pc:sldMkLst>
          <pc:docMk/>
          <pc:sldMk cId="0" sldId="270"/>
        </pc:sldMkLst>
      </pc:sldChg>
      <pc:sldChg chg="modSp">
        <pc:chgData name="Arvind Easwaran" userId="S::arvinde@staff.main.ntu.edu.sg::6059df8d-17bf-4148-9f7c-190b13d86f35" providerId="AD" clId="Web-{B4900754-605C-29B9-3E15-1BDA16ACBA1C}" dt="2021-07-26T07:13:02.562" v="2577" actId="20577"/>
        <pc:sldMkLst>
          <pc:docMk/>
          <pc:sldMk cId="0" sldId="271"/>
        </pc:sldMkLst>
      </pc:sldChg>
      <pc:sldChg chg="modSp">
        <pc:chgData name="Arvind Easwaran" userId="S::arvinde@staff.main.ntu.edu.sg::6059df8d-17bf-4148-9f7c-190b13d86f35" providerId="AD" clId="Web-{B4900754-605C-29B9-3E15-1BDA16ACBA1C}" dt="2021-07-26T03:40:50.755" v="103" actId="20577"/>
        <pc:sldMkLst>
          <pc:docMk/>
          <pc:sldMk cId="0" sldId="286"/>
        </pc:sldMkLst>
      </pc:sldChg>
      <pc:sldChg chg="modSp">
        <pc:chgData name="Arvind Easwaran" userId="S::arvinde@staff.main.ntu.edu.sg::6059df8d-17bf-4148-9f7c-190b13d86f35" providerId="AD" clId="Web-{B4900754-605C-29B9-3E15-1BDA16ACBA1C}" dt="2021-07-26T03:53:58.098" v="278" actId="20577"/>
        <pc:sldMkLst>
          <pc:docMk/>
          <pc:sldMk cId="0" sldId="287"/>
        </pc:sldMkLst>
      </pc:sldChg>
      <pc:sldChg chg="modSp modNotes">
        <pc:chgData name="Arvind Easwaran" userId="S::arvinde@staff.main.ntu.edu.sg::6059df8d-17bf-4148-9f7c-190b13d86f35" providerId="AD" clId="Web-{B4900754-605C-29B9-3E15-1BDA16ACBA1C}" dt="2021-07-26T04:06:46.393" v="399"/>
        <pc:sldMkLst>
          <pc:docMk/>
          <pc:sldMk cId="0" sldId="289"/>
        </pc:sldMkLst>
      </pc:sldChg>
      <pc:sldChg chg="addSp delSp modSp">
        <pc:chgData name="Arvind Easwaran" userId="S::arvinde@staff.main.ntu.edu.sg::6059df8d-17bf-4148-9f7c-190b13d86f35" providerId="AD" clId="Web-{B4900754-605C-29B9-3E15-1BDA16ACBA1C}" dt="2021-07-26T03:47:23.481" v="194" actId="20577"/>
        <pc:sldMkLst>
          <pc:docMk/>
          <pc:sldMk cId="0" sldId="292"/>
        </pc:sldMkLst>
      </pc:sldChg>
      <pc:sldChg chg="modSp modNotes">
        <pc:chgData name="Arvind Easwaran" userId="S::arvinde@staff.main.ntu.edu.sg::6059df8d-17bf-4148-9f7c-190b13d86f35" providerId="AD" clId="Web-{B4900754-605C-29B9-3E15-1BDA16ACBA1C}" dt="2021-07-26T03:43:53.227" v="164" actId="20577"/>
        <pc:sldMkLst>
          <pc:docMk/>
          <pc:sldMk cId="0" sldId="293"/>
        </pc:sldMkLst>
      </pc:sldChg>
      <pc:sldChg chg="new del">
        <pc:chgData name="Arvind Easwaran" userId="S::arvinde@staff.main.ntu.edu.sg::6059df8d-17bf-4148-9f7c-190b13d86f35" providerId="AD" clId="Web-{B4900754-605C-29B9-3E15-1BDA16ACBA1C}" dt="2021-07-26T03:47:48.763" v="197"/>
        <pc:sldMkLst>
          <pc:docMk/>
          <pc:sldMk cId="1608985826" sldId="294"/>
        </pc:sldMkLst>
      </pc:sldChg>
      <pc:sldChg chg="modSp add replId modNotes">
        <pc:chgData name="Arvind Easwaran" userId="S::arvinde@staff.main.ntu.edu.sg::6059df8d-17bf-4148-9f7c-190b13d86f35" providerId="AD" clId="Web-{B4900754-605C-29B9-3E15-1BDA16ACBA1C}" dt="2021-07-26T06:18:45.720" v="1747"/>
        <pc:sldMkLst>
          <pc:docMk/>
          <pc:sldMk cId="3162046392" sldId="295"/>
        </pc:sldMkLst>
      </pc:sldChg>
      <pc:sldChg chg="addSp delSp modSp new addAnim delAnim modAnim modNotes">
        <pc:chgData name="Arvind Easwaran" userId="S::arvinde@staff.main.ntu.edu.sg::6059df8d-17bf-4148-9f7c-190b13d86f35" providerId="AD" clId="Web-{B4900754-605C-29B9-3E15-1BDA16ACBA1C}" dt="2021-07-26T07:45:41.396" v="2984" actId="20577"/>
        <pc:sldMkLst>
          <pc:docMk/>
          <pc:sldMk cId="3074692815" sldId="296"/>
        </pc:sldMkLst>
      </pc:sldChg>
      <pc:sldChg chg="addSp delSp modSp new modNotes">
        <pc:chgData name="Arvind Easwaran" userId="S::arvinde@staff.main.ntu.edu.sg::6059df8d-17bf-4148-9f7c-190b13d86f35" providerId="AD" clId="Web-{B4900754-605C-29B9-3E15-1BDA16ACBA1C}" dt="2021-07-26T07:45:56.943" v="2995" actId="20577"/>
        <pc:sldMkLst>
          <pc:docMk/>
          <pc:sldMk cId="1926246632" sldId="297"/>
        </pc:sldMkLst>
      </pc:sldChg>
      <pc:sldChg chg="addSp delSp modSp add replId delAnim modNotes">
        <pc:chgData name="Arvind Easwaran" userId="S::arvinde@staff.main.ntu.edu.sg::6059df8d-17bf-4148-9f7c-190b13d86f35" providerId="AD" clId="Web-{B4900754-605C-29B9-3E15-1BDA16ACBA1C}" dt="2021-07-26T07:46:33.554" v="3025" actId="20577"/>
        <pc:sldMkLst>
          <pc:docMk/>
          <pc:sldMk cId="646777190" sldId="298"/>
        </pc:sldMkLst>
      </pc:sldChg>
      <pc:sldChg chg="addSp delSp modSp add replId addAnim delAnim modAnim modNotes">
        <pc:chgData name="Arvind Easwaran" userId="S::arvinde@staff.main.ntu.edu.sg::6059df8d-17bf-4148-9f7c-190b13d86f35" providerId="AD" clId="Web-{B4900754-605C-29B9-3E15-1BDA16ACBA1C}" dt="2021-07-26T07:10:54.747" v="2530"/>
        <pc:sldMkLst>
          <pc:docMk/>
          <pc:sldMk cId="2175914380" sldId="299"/>
        </pc:sldMkLst>
      </pc:sldChg>
      <pc:sldChg chg="addSp delSp modSp add replId addAnim delAnim modAnim modNotes">
        <pc:chgData name="Arvind Easwaran" userId="S::arvinde@staff.main.ntu.edu.sg::6059df8d-17bf-4148-9f7c-190b13d86f35" providerId="AD" clId="Web-{B4900754-605C-29B9-3E15-1BDA16ACBA1C}" dt="2021-07-26T07:38:04.247" v="2759" actId="1076"/>
        <pc:sldMkLst>
          <pc:docMk/>
          <pc:sldMk cId="3277381189" sldId="300"/>
        </pc:sldMkLst>
      </pc:sldChg>
      <pc:sldChg chg="modSp add replId modNotes">
        <pc:chgData name="Arvind Easwaran" userId="S::arvinde@staff.main.ntu.edu.sg::6059df8d-17bf-4148-9f7c-190b13d86f35" providerId="AD" clId="Web-{B4900754-605C-29B9-3E15-1BDA16ACBA1C}" dt="2021-07-26T07:44:19.598" v="2942" actId="20577"/>
        <pc:sldMkLst>
          <pc:docMk/>
          <pc:sldMk cId="2188810833" sldId="301"/>
        </pc:sldMkLst>
      </pc:sldChg>
    </pc:docChg>
  </pc:docChgLst>
  <pc:docChgLst>
    <pc:chgData name="Dmitrii Ustiugov" userId="fee3c4a0-c40b-4de8-8e1d-1d3cf97580eb" providerId="ADAL" clId="{EB064B58-BAA2-8442-A893-2B364552AB30}"/>
    <pc:docChg chg="custSel addSld delSld modSld sldOrd">
      <pc:chgData name="Dmitrii Ustiugov" userId="fee3c4a0-c40b-4de8-8e1d-1d3cf97580eb" providerId="ADAL" clId="{EB064B58-BAA2-8442-A893-2B364552AB30}" dt="2024-09-12T03:52:25.212" v="1042" actId="14100"/>
      <pc:docMkLst>
        <pc:docMk/>
      </pc:docMkLst>
      <pc:sldChg chg="addSp modSp">
        <pc:chgData name="Dmitrii Ustiugov" userId="fee3c4a0-c40b-4de8-8e1d-1d3cf97580eb" providerId="ADAL" clId="{EB064B58-BAA2-8442-A893-2B364552AB30}" dt="2024-08-28T13:54:08.620" v="1013"/>
        <pc:sldMkLst>
          <pc:docMk/>
          <pc:sldMk cId="0" sldId="266"/>
        </pc:sldMkLst>
      </pc:sldChg>
      <pc:sldChg chg="del">
        <pc:chgData name="Dmitrii Ustiugov" userId="fee3c4a0-c40b-4de8-8e1d-1d3cf97580eb" providerId="ADAL" clId="{EB064B58-BAA2-8442-A893-2B364552AB30}" dt="2024-08-28T13:26:13.559" v="758" actId="2696"/>
        <pc:sldMkLst>
          <pc:docMk/>
          <pc:sldMk cId="0" sldId="307"/>
        </pc:sldMkLst>
      </pc:sldChg>
      <pc:sldChg chg="modSp">
        <pc:chgData name="Dmitrii Ustiugov" userId="fee3c4a0-c40b-4de8-8e1d-1d3cf97580eb" providerId="ADAL" clId="{EB064B58-BAA2-8442-A893-2B364552AB30}" dt="2024-09-12T03:52:25.212" v="1042" actId="14100"/>
        <pc:sldMkLst>
          <pc:docMk/>
          <pc:sldMk cId="1857617458" sldId="308"/>
        </pc:sldMkLst>
      </pc:sldChg>
      <pc:sldChg chg="del">
        <pc:chgData name="Dmitrii Ustiugov" userId="fee3c4a0-c40b-4de8-8e1d-1d3cf97580eb" providerId="ADAL" clId="{EB064B58-BAA2-8442-A893-2B364552AB30}" dt="2024-08-28T13:47:32.407" v="994" actId="2696"/>
        <pc:sldMkLst>
          <pc:docMk/>
          <pc:sldMk cId="1627049018" sldId="309"/>
        </pc:sldMkLst>
      </pc:sldChg>
      <pc:sldChg chg="addSp delSp modSp new mod">
        <pc:chgData name="Dmitrii Ustiugov" userId="fee3c4a0-c40b-4de8-8e1d-1d3cf97580eb" providerId="ADAL" clId="{EB064B58-BAA2-8442-A893-2B364552AB30}" dt="2024-08-28T13:26:04.321" v="757" actId="1076"/>
        <pc:sldMkLst>
          <pc:docMk/>
          <pc:sldMk cId="172071730" sldId="310"/>
        </pc:sldMkLst>
      </pc:sldChg>
      <pc:sldChg chg="modSp new mod">
        <pc:chgData name="Dmitrii Ustiugov" userId="fee3c4a0-c40b-4de8-8e1d-1d3cf97580eb" providerId="ADAL" clId="{EB064B58-BAA2-8442-A893-2B364552AB30}" dt="2024-08-28T13:43:47.214" v="981" actId="20577"/>
        <pc:sldMkLst>
          <pc:docMk/>
          <pc:sldMk cId="1706115972" sldId="311"/>
        </pc:sldMkLst>
      </pc:sldChg>
      <pc:sldChg chg="new del">
        <pc:chgData name="Dmitrii Ustiugov" userId="fee3c4a0-c40b-4de8-8e1d-1d3cf97580eb" providerId="ADAL" clId="{EB064B58-BAA2-8442-A893-2B364552AB30}" dt="2024-08-28T13:44:16.359" v="983" actId="2696"/>
        <pc:sldMkLst>
          <pc:docMk/>
          <pc:sldMk cId="1285148977" sldId="312"/>
        </pc:sldMkLst>
      </pc:sldChg>
      <pc:sldChg chg="addSp delSp modSp add mod">
        <pc:chgData name="Dmitrii Ustiugov" userId="fee3c4a0-c40b-4de8-8e1d-1d3cf97580eb" providerId="ADAL" clId="{EB064B58-BAA2-8442-A893-2B364552AB30}" dt="2024-08-28T13:44:42.765" v="987" actId="14100"/>
        <pc:sldMkLst>
          <pc:docMk/>
          <pc:sldMk cId="718181411" sldId="414"/>
        </pc:sldMkLst>
      </pc:sldChg>
      <pc:sldChg chg="add del">
        <pc:chgData name="Dmitrii Ustiugov" userId="fee3c4a0-c40b-4de8-8e1d-1d3cf97580eb" providerId="ADAL" clId="{EB064B58-BAA2-8442-A893-2B364552AB30}" dt="2024-08-28T13:45:46.864" v="990" actId="2696"/>
        <pc:sldMkLst>
          <pc:docMk/>
          <pc:sldMk cId="163168327" sldId="415"/>
        </pc:sldMkLst>
      </pc:sldChg>
      <pc:sldChg chg="add ord">
        <pc:chgData name="Dmitrii Ustiugov" userId="fee3c4a0-c40b-4de8-8e1d-1d3cf97580eb" providerId="ADAL" clId="{EB064B58-BAA2-8442-A893-2B364552AB30}" dt="2024-08-28T13:54:00.121" v="1011" actId="20578"/>
        <pc:sldMkLst>
          <pc:docMk/>
          <pc:sldMk cId="4214996566" sldId="416"/>
        </pc:sldMkLst>
      </pc:sldChg>
      <pc:sldChg chg="add del">
        <pc:chgData name="Dmitrii Ustiugov" userId="fee3c4a0-c40b-4de8-8e1d-1d3cf97580eb" providerId="ADAL" clId="{EB064B58-BAA2-8442-A893-2B364552AB30}" dt="2024-08-28T13:46:23.780" v="992" actId="2696"/>
        <pc:sldMkLst>
          <pc:docMk/>
          <pc:sldMk cId="4244235613" sldId="416"/>
        </pc:sldMkLst>
      </pc:sldChg>
      <pc:sldChg chg="add del">
        <pc:chgData name="Dmitrii Ustiugov" userId="fee3c4a0-c40b-4de8-8e1d-1d3cf97580eb" providerId="ADAL" clId="{EB064B58-BAA2-8442-A893-2B364552AB30}" dt="2024-08-28T13:47:56.461" v="995" actId="2696"/>
        <pc:sldMkLst>
          <pc:docMk/>
          <pc:sldMk cId="1597844837" sldId="417"/>
        </pc:sldMkLst>
      </pc:sldChg>
      <pc:sldChg chg="add">
        <pc:chgData name="Dmitrii Ustiugov" userId="fee3c4a0-c40b-4de8-8e1d-1d3cf97580eb" providerId="ADAL" clId="{EB064B58-BAA2-8442-A893-2B364552AB30}" dt="2024-08-28T13:48:11.655" v="996"/>
        <pc:sldMkLst>
          <pc:docMk/>
          <pc:sldMk cId="2105130627" sldId="417"/>
        </pc:sldMkLst>
      </pc:sldChg>
      <pc:sldChg chg="addSp delSp modSp add mod">
        <pc:chgData name="Dmitrii Ustiugov" userId="fee3c4a0-c40b-4de8-8e1d-1d3cf97580eb" providerId="ADAL" clId="{EB064B58-BAA2-8442-A893-2B364552AB30}" dt="2024-08-28T13:51:54.185" v="1009" actId="1076"/>
        <pc:sldMkLst>
          <pc:docMk/>
          <pc:sldMk cId="866122435" sldId="420"/>
        </pc:sldMkLst>
      </pc:sldChg>
      <pc:sldChg chg="add del">
        <pc:chgData name="Dmitrii Ustiugov" userId="fee3c4a0-c40b-4de8-8e1d-1d3cf97580eb" providerId="ADAL" clId="{EB064B58-BAA2-8442-A893-2B364552AB30}" dt="2024-08-29T02:28:47.019" v="1038" actId="2696"/>
        <pc:sldMkLst>
          <pc:docMk/>
          <pc:sldMk cId="4208040779" sldId="421"/>
        </pc:sldMkLst>
      </pc:sldChg>
      <pc:sldChg chg="modSp add mod">
        <pc:chgData name="Dmitrii Ustiugov" userId="fee3c4a0-c40b-4de8-8e1d-1d3cf97580eb" providerId="ADAL" clId="{EB064B58-BAA2-8442-A893-2B364552AB30}" dt="2024-08-28T13:54:26.158" v="1016" actId="20577"/>
        <pc:sldMkLst>
          <pc:docMk/>
          <pc:sldMk cId="3622583729" sldId="422"/>
        </pc:sldMkLst>
      </pc:sldChg>
      <pc:sldChg chg="modSp add mod ord">
        <pc:chgData name="Dmitrii Ustiugov" userId="fee3c4a0-c40b-4de8-8e1d-1d3cf97580eb" providerId="ADAL" clId="{EB064B58-BAA2-8442-A893-2B364552AB30}" dt="2024-08-28T13:55:13.738" v="1022" actId="20578"/>
        <pc:sldMkLst>
          <pc:docMk/>
          <pc:sldMk cId="2725531136" sldId="423"/>
        </pc:sldMkLst>
      </pc:sldChg>
      <pc:sldChg chg="add del">
        <pc:chgData name="Dmitrii Ustiugov" userId="fee3c4a0-c40b-4de8-8e1d-1d3cf97580eb" providerId="ADAL" clId="{EB064B58-BAA2-8442-A893-2B364552AB30}" dt="2024-08-28T13:54:35.677" v="1018" actId="2696"/>
        <pc:sldMkLst>
          <pc:docMk/>
          <pc:sldMk cId="4136066931" sldId="423"/>
        </pc:sldMkLst>
      </pc:sldChg>
      <pc:sldChg chg="modSp add mod">
        <pc:chgData name="Dmitrii Ustiugov" userId="fee3c4a0-c40b-4de8-8e1d-1d3cf97580eb" providerId="ADAL" clId="{EB064B58-BAA2-8442-A893-2B364552AB30}" dt="2024-08-28T13:56:19.853" v="1025" actId="20577"/>
        <pc:sldMkLst>
          <pc:docMk/>
          <pc:sldMk cId="4023765586" sldId="424"/>
        </pc:sldMkLst>
      </pc:sldChg>
      <pc:sldChg chg="modSp add mod">
        <pc:chgData name="Dmitrii Ustiugov" userId="fee3c4a0-c40b-4de8-8e1d-1d3cf97580eb" providerId="ADAL" clId="{EB064B58-BAA2-8442-A893-2B364552AB30}" dt="2024-08-28T13:59:55.589" v="1034" actId="20577"/>
        <pc:sldMkLst>
          <pc:docMk/>
          <pc:sldMk cId="602353923" sldId="425"/>
        </pc:sldMkLst>
      </pc:sldChg>
      <pc:sldChg chg="modSp add mod">
        <pc:chgData name="Dmitrii Ustiugov" userId="fee3c4a0-c40b-4de8-8e1d-1d3cf97580eb" providerId="ADAL" clId="{EB064B58-BAA2-8442-A893-2B364552AB30}" dt="2024-08-28T14:00:00.591" v="1037" actId="20577"/>
        <pc:sldMkLst>
          <pc:docMk/>
          <pc:sldMk cId="2099076290" sldId="426"/>
        </pc:sldMkLst>
      </pc:sldChg>
    </pc:docChg>
  </pc:docChgLst>
  <pc:docChgLst>
    <pc:chgData name="Arvind Easwaran" userId="6059df8d-17bf-4148-9f7c-190b13d86f35" providerId="ADAL" clId="{6600205A-74CE-5B4B-ABA3-119741B5FC5A}"/>
    <pc:docChg chg="custSel delSld modSld">
      <pc:chgData name="Arvind Easwaran" userId="6059df8d-17bf-4148-9f7c-190b13d86f35" providerId="ADAL" clId="{6600205A-74CE-5B4B-ABA3-119741B5FC5A}" dt="2025-01-09T08:01:04.315" v="3" actId="478"/>
      <pc:docMkLst>
        <pc:docMk/>
      </pc:docMkLst>
      <pc:sldChg chg="del">
        <pc:chgData name="Arvind Easwaran" userId="6059df8d-17bf-4148-9f7c-190b13d86f35" providerId="ADAL" clId="{6600205A-74CE-5B4B-ABA3-119741B5FC5A}" dt="2025-01-09T07:57:58.475" v="0" actId="2696"/>
        <pc:sldMkLst>
          <pc:docMk/>
          <pc:sldMk cId="1706115972" sldId="311"/>
        </pc:sldMkLst>
      </pc:sldChg>
      <pc:sldChg chg="delSp mod">
        <pc:chgData name="Arvind Easwaran" userId="6059df8d-17bf-4148-9f7c-190b13d86f35" providerId="ADAL" clId="{6600205A-74CE-5B4B-ABA3-119741B5FC5A}" dt="2025-01-09T08:00:24.002" v="1" actId="478"/>
        <pc:sldMkLst>
          <pc:docMk/>
          <pc:sldMk cId="718181411" sldId="414"/>
        </pc:sldMkLst>
        <pc:spChg chg="del">
          <ac:chgData name="Arvind Easwaran" userId="6059df8d-17bf-4148-9f7c-190b13d86f35" providerId="ADAL" clId="{6600205A-74CE-5B4B-ABA3-119741B5FC5A}" dt="2025-01-09T08:00:24.002" v="1" actId="478"/>
          <ac:spMkLst>
            <pc:docMk/>
            <pc:sldMk cId="718181411" sldId="414"/>
            <ac:spMk id="3" creationId="{43F50D15-9A48-1148-80EA-3F17CEB4B293}"/>
          </ac:spMkLst>
        </pc:spChg>
      </pc:sldChg>
      <pc:sldChg chg="delSp mod">
        <pc:chgData name="Arvind Easwaran" userId="6059df8d-17bf-4148-9f7c-190b13d86f35" providerId="ADAL" clId="{6600205A-74CE-5B4B-ABA3-119741B5FC5A}" dt="2025-01-09T08:01:04.315" v="3" actId="478"/>
        <pc:sldMkLst>
          <pc:docMk/>
          <pc:sldMk cId="4214996566" sldId="416"/>
        </pc:sldMkLst>
        <pc:spChg chg="del">
          <ac:chgData name="Arvind Easwaran" userId="6059df8d-17bf-4148-9f7c-190b13d86f35" providerId="ADAL" clId="{6600205A-74CE-5B4B-ABA3-119741B5FC5A}" dt="2025-01-09T08:01:04.315" v="3" actId="478"/>
          <ac:spMkLst>
            <pc:docMk/>
            <pc:sldMk cId="4214996566" sldId="416"/>
            <ac:spMk id="3" creationId="{43F50D15-9A48-1148-80EA-3F17CEB4B293}"/>
          </ac:spMkLst>
        </pc:spChg>
      </pc:sldChg>
      <pc:sldChg chg="mod modShow">
        <pc:chgData name="Arvind Easwaran" userId="6059df8d-17bf-4148-9f7c-190b13d86f35" providerId="ADAL" clId="{6600205A-74CE-5B4B-ABA3-119741B5FC5A}" dt="2025-01-09T08:00:53.750" v="2" actId="729"/>
        <pc:sldMkLst>
          <pc:docMk/>
          <pc:sldMk cId="2105130627" sldId="417"/>
        </pc:sldMkLst>
      </pc:sldChg>
    </pc:docChg>
  </pc:docChgLst>
  <pc:docChgLst>
    <pc:chgData name="Arvind Easwaran" userId="S::arvinde@staff.main.ntu.edu.sg::6059df8d-17bf-4148-9f7c-190b13d86f35" providerId="AD" clId="Web-{5128B3C6-5A16-BCEF-B59D-B171DC1F0041}"/>
    <pc:docChg chg="modSld">
      <pc:chgData name="Arvind Easwaran" userId="S::arvinde@staff.main.ntu.edu.sg::6059df8d-17bf-4148-9f7c-190b13d86f35" providerId="AD" clId="Web-{5128B3C6-5A16-BCEF-B59D-B171DC1F0041}" dt="2021-07-26T03:26:09.515" v="279"/>
      <pc:docMkLst>
        <pc:docMk/>
      </pc:docMkLst>
      <pc:sldChg chg="modSp modNotes">
        <pc:chgData name="Arvind Easwaran" userId="S::arvinde@staff.main.ntu.edu.sg::6059df8d-17bf-4148-9f7c-190b13d86f35" providerId="AD" clId="Web-{5128B3C6-5A16-BCEF-B59D-B171DC1F0041}" dt="2021-07-26T03:16:40.518" v="145" actId="20577"/>
        <pc:sldMkLst>
          <pc:docMk/>
          <pc:sldMk cId="0" sldId="256"/>
        </pc:sldMkLst>
      </pc:sldChg>
      <pc:sldChg chg="modSp modNotes">
        <pc:chgData name="Arvind Easwaran" userId="S::arvinde@staff.main.ntu.edu.sg::6059df8d-17bf-4148-9f7c-190b13d86f35" providerId="AD" clId="Web-{5128B3C6-5A16-BCEF-B59D-B171DC1F0041}" dt="2021-07-26T03:11:20.823" v="123"/>
        <pc:sldMkLst>
          <pc:docMk/>
          <pc:sldMk cId="0" sldId="257"/>
        </pc:sldMkLst>
      </pc:sldChg>
      <pc:sldChg chg="modSp modNotes">
        <pc:chgData name="Arvind Easwaran" userId="S::arvinde@staff.main.ntu.edu.sg::6059df8d-17bf-4148-9f7c-190b13d86f35" providerId="AD" clId="Web-{5128B3C6-5A16-BCEF-B59D-B171DC1F0041}" dt="2021-07-26T03:24:00.590" v="249"/>
        <pc:sldMkLst>
          <pc:docMk/>
          <pc:sldMk cId="0" sldId="258"/>
        </pc:sldMkLst>
      </pc:sldChg>
      <pc:sldChg chg="modSp modNotes">
        <pc:chgData name="Arvind Easwaran" userId="S::arvinde@staff.main.ntu.edu.sg::6059df8d-17bf-4148-9f7c-190b13d86f35" providerId="AD" clId="Web-{5128B3C6-5A16-BCEF-B59D-B171DC1F0041}" dt="2021-07-26T03:26:09.515" v="279"/>
        <pc:sldMkLst>
          <pc:docMk/>
          <pc:sldMk cId="0" sldId="285"/>
        </pc:sldMkLst>
      </pc:sldChg>
    </pc:docChg>
  </pc:docChgLst>
  <pc:docChgLst>
    <pc:chgData name="Dmitrii Ustiugov" userId="fee3c4a0-c40b-4de8-8e1d-1d3cf97580eb" providerId="ADAL" clId="{7072F7DA-5FA7-AB43-8481-AF05266D0F79}"/>
    <pc:docChg chg="undo custSel addSld delSld modSld">
      <pc:chgData name="Dmitrii Ustiugov" userId="fee3c4a0-c40b-4de8-8e1d-1d3cf97580eb" providerId="ADAL" clId="{7072F7DA-5FA7-AB43-8481-AF05266D0F79}" dt="2025-01-08T12:24:07.811" v="25" actId="20577"/>
      <pc:docMkLst>
        <pc:docMk/>
      </pc:docMkLst>
      <pc:sldChg chg="addSp delSp del mod">
        <pc:chgData name="Dmitrii Ustiugov" userId="fee3c4a0-c40b-4de8-8e1d-1d3cf97580eb" providerId="ADAL" clId="{7072F7DA-5FA7-AB43-8481-AF05266D0F79}" dt="2025-01-08T12:22:25.659" v="3" actId="2696"/>
        <pc:sldMkLst>
          <pc:docMk/>
          <pc:sldMk cId="866122435" sldId="420"/>
        </pc:sldMkLst>
        <pc:spChg chg="add del">
          <ac:chgData name="Dmitrii Ustiugov" userId="fee3c4a0-c40b-4de8-8e1d-1d3cf97580eb" providerId="ADAL" clId="{7072F7DA-5FA7-AB43-8481-AF05266D0F79}" dt="2025-01-08T12:22:14.520" v="1" actId="22"/>
          <ac:spMkLst>
            <pc:docMk/>
            <pc:sldMk cId="866122435" sldId="420"/>
            <ac:spMk id="7" creationId="{F4980275-8478-2D92-A870-DEB974BD7045}"/>
          </ac:spMkLst>
        </pc:spChg>
      </pc:sldChg>
      <pc:sldChg chg="del">
        <pc:chgData name="Dmitrii Ustiugov" userId="fee3c4a0-c40b-4de8-8e1d-1d3cf97580eb" providerId="ADAL" clId="{7072F7DA-5FA7-AB43-8481-AF05266D0F79}" dt="2025-01-08T12:22:55.570" v="7" actId="2696"/>
        <pc:sldMkLst>
          <pc:docMk/>
          <pc:sldMk cId="3622583729" sldId="422"/>
        </pc:sldMkLst>
      </pc:sldChg>
      <pc:sldChg chg="del">
        <pc:chgData name="Dmitrii Ustiugov" userId="fee3c4a0-c40b-4de8-8e1d-1d3cf97580eb" providerId="ADAL" clId="{7072F7DA-5FA7-AB43-8481-AF05266D0F79}" dt="2025-01-08T12:23:09.011" v="11" actId="2696"/>
        <pc:sldMkLst>
          <pc:docMk/>
          <pc:sldMk cId="2725531136" sldId="423"/>
        </pc:sldMkLst>
      </pc:sldChg>
      <pc:sldChg chg="del">
        <pc:chgData name="Dmitrii Ustiugov" userId="fee3c4a0-c40b-4de8-8e1d-1d3cf97580eb" providerId="ADAL" clId="{7072F7DA-5FA7-AB43-8481-AF05266D0F79}" dt="2025-01-08T12:23:23.399" v="15" actId="2696"/>
        <pc:sldMkLst>
          <pc:docMk/>
          <pc:sldMk cId="4023765586" sldId="424"/>
        </pc:sldMkLst>
      </pc:sldChg>
      <pc:sldChg chg="del">
        <pc:chgData name="Dmitrii Ustiugov" userId="fee3c4a0-c40b-4de8-8e1d-1d3cf97580eb" providerId="ADAL" clId="{7072F7DA-5FA7-AB43-8481-AF05266D0F79}" dt="2025-01-08T12:23:56.915" v="19" actId="2696"/>
        <pc:sldMkLst>
          <pc:docMk/>
          <pc:sldMk cId="602353923" sldId="425"/>
        </pc:sldMkLst>
      </pc:sldChg>
      <pc:sldChg chg="del">
        <pc:chgData name="Dmitrii Ustiugov" userId="fee3c4a0-c40b-4de8-8e1d-1d3cf97580eb" providerId="ADAL" clId="{7072F7DA-5FA7-AB43-8481-AF05266D0F79}" dt="2025-01-08T12:24:01.510" v="22" actId="2696"/>
        <pc:sldMkLst>
          <pc:docMk/>
          <pc:sldMk cId="2099076290" sldId="426"/>
        </pc:sldMkLst>
      </pc:sldChg>
      <pc:sldChg chg="modSp add mod">
        <pc:chgData name="Dmitrii Ustiugov" userId="fee3c4a0-c40b-4de8-8e1d-1d3cf97580eb" providerId="ADAL" clId="{7072F7DA-5FA7-AB43-8481-AF05266D0F79}" dt="2025-01-08T12:22:28.892" v="5" actId="20577"/>
        <pc:sldMkLst>
          <pc:docMk/>
          <pc:sldMk cId="1807626032" sldId="429"/>
        </pc:sldMkLst>
        <pc:spChg chg="mod">
          <ac:chgData name="Dmitrii Ustiugov" userId="fee3c4a0-c40b-4de8-8e1d-1d3cf97580eb" providerId="ADAL" clId="{7072F7DA-5FA7-AB43-8481-AF05266D0F79}" dt="2025-01-08T12:22:28.892" v="5" actId="20577"/>
          <ac:spMkLst>
            <pc:docMk/>
            <pc:sldMk cId="1807626032" sldId="429"/>
            <ac:spMk id="2" creationId="{5F55F646-632A-FF27-8965-74B2B2C34ADA}"/>
          </ac:spMkLst>
        </pc:spChg>
      </pc:sldChg>
      <pc:sldChg chg="modSp add mod">
        <pc:chgData name="Dmitrii Ustiugov" userId="fee3c4a0-c40b-4de8-8e1d-1d3cf97580eb" providerId="ADAL" clId="{7072F7DA-5FA7-AB43-8481-AF05266D0F79}" dt="2025-01-08T12:22:57.734" v="9" actId="20577"/>
        <pc:sldMkLst>
          <pc:docMk/>
          <pc:sldMk cId="1531016732" sldId="430"/>
        </pc:sldMkLst>
        <pc:spChg chg="mod">
          <ac:chgData name="Dmitrii Ustiugov" userId="fee3c4a0-c40b-4de8-8e1d-1d3cf97580eb" providerId="ADAL" clId="{7072F7DA-5FA7-AB43-8481-AF05266D0F79}" dt="2025-01-08T12:22:57.734" v="9" actId="20577"/>
          <ac:spMkLst>
            <pc:docMk/>
            <pc:sldMk cId="1531016732" sldId="430"/>
            <ac:spMk id="2" creationId="{47419AC5-8631-FE53-601F-8AE93ABDB5B7}"/>
          </ac:spMkLst>
        </pc:spChg>
      </pc:sldChg>
      <pc:sldChg chg="modSp add mod">
        <pc:chgData name="Dmitrii Ustiugov" userId="fee3c4a0-c40b-4de8-8e1d-1d3cf97580eb" providerId="ADAL" clId="{7072F7DA-5FA7-AB43-8481-AF05266D0F79}" dt="2025-01-08T12:23:11.861" v="13" actId="20577"/>
        <pc:sldMkLst>
          <pc:docMk/>
          <pc:sldMk cId="1131107180" sldId="431"/>
        </pc:sldMkLst>
        <pc:spChg chg="mod">
          <ac:chgData name="Dmitrii Ustiugov" userId="fee3c4a0-c40b-4de8-8e1d-1d3cf97580eb" providerId="ADAL" clId="{7072F7DA-5FA7-AB43-8481-AF05266D0F79}" dt="2025-01-08T12:23:11.861" v="13" actId="20577"/>
          <ac:spMkLst>
            <pc:docMk/>
            <pc:sldMk cId="1131107180" sldId="431"/>
            <ac:spMk id="2" creationId="{8726C250-A448-247C-FA79-5AED5DFF6A30}"/>
          </ac:spMkLst>
        </pc:spChg>
      </pc:sldChg>
      <pc:sldChg chg="modSp add mod">
        <pc:chgData name="Dmitrii Ustiugov" userId="fee3c4a0-c40b-4de8-8e1d-1d3cf97580eb" providerId="ADAL" clId="{7072F7DA-5FA7-AB43-8481-AF05266D0F79}" dt="2025-01-08T12:23:26.685" v="17" actId="20577"/>
        <pc:sldMkLst>
          <pc:docMk/>
          <pc:sldMk cId="1145108315" sldId="432"/>
        </pc:sldMkLst>
        <pc:spChg chg="mod">
          <ac:chgData name="Dmitrii Ustiugov" userId="fee3c4a0-c40b-4de8-8e1d-1d3cf97580eb" providerId="ADAL" clId="{7072F7DA-5FA7-AB43-8481-AF05266D0F79}" dt="2025-01-08T12:23:26.685" v="17" actId="20577"/>
          <ac:spMkLst>
            <pc:docMk/>
            <pc:sldMk cId="1145108315" sldId="432"/>
            <ac:spMk id="2" creationId="{F1A07E08-3376-0754-4A29-62DEF24CDD5C}"/>
          </ac:spMkLst>
        </pc:spChg>
      </pc:sldChg>
      <pc:sldChg chg="modSp add mod">
        <pc:chgData name="Dmitrii Ustiugov" userId="fee3c4a0-c40b-4de8-8e1d-1d3cf97580eb" providerId="ADAL" clId="{7072F7DA-5FA7-AB43-8481-AF05266D0F79}" dt="2025-01-08T12:23:59.350" v="21" actId="20577"/>
        <pc:sldMkLst>
          <pc:docMk/>
          <pc:sldMk cId="2268111171" sldId="433"/>
        </pc:sldMkLst>
        <pc:spChg chg="mod">
          <ac:chgData name="Dmitrii Ustiugov" userId="fee3c4a0-c40b-4de8-8e1d-1d3cf97580eb" providerId="ADAL" clId="{7072F7DA-5FA7-AB43-8481-AF05266D0F79}" dt="2025-01-08T12:23:59.350" v="21" actId="20577"/>
          <ac:spMkLst>
            <pc:docMk/>
            <pc:sldMk cId="2268111171" sldId="433"/>
            <ac:spMk id="2" creationId="{A29BBE58-7A32-7D5D-39A0-88A239934AF2}"/>
          </ac:spMkLst>
        </pc:spChg>
      </pc:sldChg>
      <pc:sldChg chg="modSp add mod">
        <pc:chgData name="Dmitrii Ustiugov" userId="fee3c4a0-c40b-4de8-8e1d-1d3cf97580eb" providerId="ADAL" clId="{7072F7DA-5FA7-AB43-8481-AF05266D0F79}" dt="2025-01-08T12:24:07.811" v="25" actId="20577"/>
        <pc:sldMkLst>
          <pc:docMk/>
          <pc:sldMk cId="3407907164" sldId="434"/>
        </pc:sldMkLst>
        <pc:spChg chg="mod">
          <ac:chgData name="Dmitrii Ustiugov" userId="fee3c4a0-c40b-4de8-8e1d-1d3cf97580eb" providerId="ADAL" clId="{7072F7DA-5FA7-AB43-8481-AF05266D0F79}" dt="2025-01-08T12:24:07.811" v="25" actId="20577"/>
          <ac:spMkLst>
            <pc:docMk/>
            <pc:sldMk cId="3407907164" sldId="434"/>
            <ac:spMk id="2" creationId="{827CA87D-C8FA-8021-F378-245501E14CCE}"/>
          </ac:spMkLst>
        </pc:spChg>
      </pc:sldChg>
    </pc:docChg>
  </pc:docChgLst>
  <pc:docChgLst>
    <pc:chgData name="Arvind Easwaran" userId="6059df8d-17bf-4148-9f7c-190b13d86f35" providerId="ADAL" clId="{4C204419-DB48-4B49-AFA2-B3AE58E8CA47}"/>
    <pc:docChg chg="modSld">
      <pc:chgData name="Arvind Easwaran" userId="6059df8d-17bf-4148-9f7c-190b13d86f35" providerId="ADAL" clId="{4C204419-DB48-4B49-AFA2-B3AE58E8CA47}" dt="2021-07-28T08:26:16.741" v="326" actId="1037"/>
      <pc:docMkLst>
        <pc:docMk/>
      </pc:docMkLst>
      <pc:sldChg chg="modSp modAnim">
        <pc:chgData name="Arvind Easwaran" userId="6059df8d-17bf-4148-9f7c-190b13d86f35" providerId="ADAL" clId="{4C204419-DB48-4B49-AFA2-B3AE58E8CA47}" dt="2021-07-28T08:23:50.571" v="291"/>
        <pc:sldMkLst>
          <pc:docMk/>
          <pc:sldMk cId="2175914380" sldId="299"/>
        </pc:sldMkLst>
      </pc:sldChg>
      <pc:sldChg chg="modSp modAnim">
        <pc:chgData name="Arvind Easwaran" userId="6059df8d-17bf-4148-9f7c-190b13d86f35" providerId="ADAL" clId="{4C204419-DB48-4B49-AFA2-B3AE58E8CA47}" dt="2021-07-28T08:26:16.741" v="326" actId="1037"/>
        <pc:sldMkLst>
          <pc:docMk/>
          <pc:sldMk cId="3277381189" sldId="30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840D4752-8D3F-4A7D-A186-697235AE5531}"/>
              </a:ext>
            </a:extLst>
          </p:cNvPr>
          <p:cNvSpPr>
            <a:spLocks noGrp="1" noChangeArrowheads="1"/>
          </p:cNvSpPr>
          <p:nvPr>
            <p:ph type="hdr" sz="quarter"/>
          </p:nvPr>
        </p:nvSpPr>
        <p:spPr bwMode="auto">
          <a:xfrm>
            <a:off x="0" y="0"/>
            <a:ext cx="3211513" cy="517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Helvetica" pitchFamily="34" charset="0"/>
              </a:defRPr>
            </a:lvl1pPr>
          </a:lstStyle>
          <a:p>
            <a:pPr>
              <a:defRPr/>
            </a:pPr>
            <a:endParaRPr lang="en-US"/>
          </a:p>
        </p:txBody>
      </p:sp>
      <p:sp>
        <p:nvSpPr>
          <p:cNvPr id="73731" name="Rectangle 3">
            <a:extLst>
              <a:ext uri="{FF2B5EF4-FFF2-40B4-BE49-F238E27FC236}">
                <a16:creationId xmlns:a16="http://schemas.microsoft.com/office/drawing/2014/main" id="{6217784D-2AAC-4D26-BBFE-8E0C9248F5D8}"/>
              </a:ext>
            </a:extLst>
          </p:cNvPr>
          <p:cNvSpPr>
            <a:spLocks noGrp="1" noChangeArrowheads="1"/>
          </p:cNvSpPr>
          <p:nvPr>
            <p:ph type="dt" sz="quarter" idx="1"/>
          </p:nvPr>
        </p:nvSpPr>
        <p:spPr bwMode="auto">
          <a:xfrm>
            <a:off x="4117975" y="0"/>
            <a:ext cx="3211513" cy="517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Helvetica" pitchFamily="34" charset="0"/>
              </a:defRPr>
            </a:lvl1pPr>
          </a:lstStyle>
          <a:p>
            <a:pPr>
              <a:defRPr/>
            </a:pPr>
            <a:endParaRPr lang="en-US"/>
          </a:p>
        </p:txBody>
      </p:sp>
      <p:sp>
        <p:nvSpPr>
          <p:cNvPr id="73732" name="Rectangle 4">
            <a:extLst>
              <a:ext uri="{FF2B5EF4-FFF2-40B4-BE49-F238E27FC236}">
                <a16:creationId xmlns:a16="http://schemas.microsoft.com/office/drawing/2014/main" id="{C77F8BDB-D017-4BAF-B970-6D26BE943423}"/>
              </a:ext>
            </a:extLst>
          </p:cNvPr>
          <p:cNvSpPr>
            <a:spLocks noGrp="1" noChangeArrowheads="1"/>
          </p:cNvSpPr>
          <p:nvPr>
            <p:ph type="ftr" sz="quarter" idx="2"/>
          </p:nvPr>
        </p:nvSpPr>
        <p:spPr bwMode="auto">
          <a:xfrm>
            <a:off x="0" y="9083675"/>
            <a:ext cx="3211513" cy="5175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Helvetica" pitchFamily="34" charset="0"/>
              </a:defRPr>
            </a:lvl1pPr>
          </a:lstStyle>
          <a:p>
            <a:pPr>
              <a:defRPr/>
            </a:pPr>
            <a:endParaRPr lang="en-US"/>
          </a:p>
        </p:txBody>
      </p:sp>
      <p:sp>
        <p:nvSpPr>
          <p:cNvPr id="73733" name="Rectangle 5">
            <a:extLst>
              <a:ext uri="{FF2B5EF4-FFF2-40B4-BE49-F238E27FC236}">
                <a16:creationId xmlns:a16="http://schemas.microsoft.com/office/drawing/2014/main" id="{637F87A9-2A9C-4DDA-9A70-CF6A50A42BEB}"/>
              </a:ext>
            </a:extLst>
          </p:cNvPr>
          <p:cNvSpPr>
            <a:spLocks noGrp="1" noChangeArrowheads="1"/>
          </p:cNvSpPr>
          <p:nvPr>
            <p:ph type="sldNum" sz="quarter" idx="3"/>
          </p:nvPr>
        </p:nvSpPr>
        <p:spPr bwMode="auto">
          <a:xfrm>
            <a:off x="4117975" y="9083675"/>
            <a:ext cx="3211513" cy="5175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4EDF2A87-C332-4CA5-88D9-EF6A7AF66B81}"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0EB478D0-F377-4070-942E-72173D2E7FA0}"/>
              </a:ext>
            </a:extLst>
          </p:cNvPr>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none" lIns="93097" tIns="46549" rIns="93097" bIns="46549" numCol="1" anchor="ctr" anchorCtr="0" compatLnSpc="1">
            <a:prstTxWarp prst="textNoShape">
              <a:avLst/>
            </a:prstTxWarp>
          </a:bodyPr>
          <a:lstStyle>
            <a:lvl1pPr algn="l" defTabSz="931863">
              <a:defRPr sz="1200">
                <a:latin typeface="Times New Roman" pitchFamily="18" charset="0"/>
              </a:defRPr>
            </a:lvl1pPr>
          </a:lstStyle>
          <a:p>
            <a:pPr>
              <a:defRPr/>
            </a:pPr>
            <a:endParaRPr lang="en-US"/>
          </a:p>
        </p:txBody>
      </p:sp>
      <p:sp>
        <p:nvSpPr>
          <p:cNvPr id="6147" name="Rectangle 3">
            <a:extLst>
              <a:ext uri="{FF2B5EF4-FFF2-40B4-BE49-F238E27FC236}">
                <a16:creationId xmlns:a16="http://schemas.microsoft.com/office/drawing/2014/main" id="{E96472F1-06B7-4556-9FCE-54D37505135B}"/>
              </a:ext>
            </a:extLst>
          </p:cNvPr>
          <p:cNvSpPr>
            <a:spLocks noGrp="1" noChangeArrowheads="1"/>
          </p:cNvSpPr>
          <p:nvPr>
            <p:ph type="dt" idx="1"/>
          </p:nvPr>
        </p:nvSpPr>
        <p:spPr bwMode="auto">
          <a:xfrm>
            <a:off x="4146550" y="0"/>
            <a:ext cx="3168650" cy="479425"/>
          </a:xfrm>
          <a:prstGeom prst="rect">
            <a:avLst/>
          </a:prstGeom>
          <a:noFill/>
          <a:ln w="9525">
            <a:noFill/>
            <a:miter lim="800000"/>
            <a:headEnd/>
            <a:tailEnd/>
          </a:ln>
          <a:effectLst/>
        </p:spPr>
        <p:txBody>
          <a:bodyPr vert="horz" wrap="none" lIns="93097" tIns="46549" rIns="93097" bIns="46549" numCol="1" anchor="ctr" anchorCtr="0" compatLnSpc="1">
            <a:prstTxWarp prst="textNoShape">
              <a:avLst/>
            </a:prstTxWarp>
          </a:bodyPr>
          <a:lstStyle>
            <a:lvl1pPr algn="r" defTabSz="931863">
              <a:defRPr sz="1200">
                <a:latin typeface="Times New Roman" pitchFamily="18" charset="0"/>
              </a:defRPr>
            </a:lvl1pPr>
          </a:lstStyle>
          <a:p>
            <a:pPr>
              <a:defRPr/>
            </a:pPr>
            <a:endParaRPr lang="en-US"/>
          </a:p>
        </p:txBody>
      </p:sp>
      <p:sp>
        <p:nvSpPr>
          <p:cNvPr id="13316" name="Rectangle 4">
            <a:extLst>
              <a:ext uri="{FF2B5EF4-FFF2-40B4-BE49-F238E27FC236}">
                <a16:creationId xmlns:a16="http://schemas.microsoft.com/office/drawing/2014/main" id="{9C4FC111-C191-443D-936F-C4317482876B}"/>
              </a:ext>
            </a:extLst>
          </p:cNvPr>
          <p:cNvSpPr>
            <a:spLocks noGrp="1" noRot="1" noChangeAspect="1" noChangeArrowheads="1" noTextEdit="1"/>
          </p:cNvSpPr>
          <p:nvPr>
            <p:ph type="sldImg" idx="2"/>
          </p:nvPr>
        </p:nvSpPr>
        <p:spPr bwMode="auto">
          <a:xfrm>
            <a:off x="1258888" y="720725"/>
            <a:ext cx="4799012" cy="35988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46E19705-F9BD-41D5-80ED-3F8992CCE430}"/>
              </a:ext>
            </a:extLst>
          </p:cNvPr>
          <p:cNvSpPr>
            <a:spLocks noGrp="1" noChangeArrowheads="1"/>
          </p:cNvSpPr>
          <p:nvPr>
            <p:ph type="body" sz="quarter" idx="3"/>
          </p:nvPr>
        </p:nvSpPr>
        <p:spPr bwMode="auto">
          <a:xfrm>
            <a:off x="976313" y="4559300"/>
            <a:ext cx="5362575" cy="4321175"/>
          </a:xfrm>
          <a:prstGeom prst="rect">
            <a:avLst/>
          </a:prstGeom>
          <a:noFill/>
          <a:ln w="9525">
            <a:noFill/>
            <a:miter lim="800000"/>
            <a:headEnd/>
            <a:tailEnd/>
          </a:ln>
          <a:effectLst/>
        </p:spPr>
        <p:txBody>
          <a:bodyPr vert="horz" wrap="none" lIns="93097" tIns="46549" rIns="93097" bIns="46549"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610DA261-256A-4111-BA73-22628CEAE94F}"/>
              </a:ext>
            </a:extLst>
          </p:cNvPr>
          <p:cNvSpPr>
            <a:spLocks noGrp="1" noChangeArrowheads="1"/>
          </p:cNvSpPr>
          <p:nvPr>
            <p:ph type="ftr" sz="quarter" idx="4"/>
          </p:nvPr>
        </p:nvSpPr>
        <p:spPr bwMode="auto">
          <a:xfrm>
            <a:off x="0" y="9121775"/>
            <a:ext cx="3168650" cy="479425"/>
          </a:xfrm>
          <a:prstGeom prst="rect">
            <a:avLst/>
          </a:prstGeom>
          <a:noFill/>
          <a:ln w="9525">
            <a:noFill/>
            <a:miter lim="800000"/>
            <a:headEnd/>
            <a:tailEnd/>
          </a:ln>
          <a:effectLst/>
        </p:spPr>
        <p:txBody>
          <a:bodyPr vert="horz" wrap="none" lIns="93097" tIns="46549" rIns="93097" bIns="46549" numCol="1" anchor="b" anchorCtr="0" compatLnSpc="1">
            <a:prstTxWarp prst="textNoShape">
              <a:avLst/>
            </a:prstTxWarp>
          </a:bodyPr>
          <a:lstStyle>
            <a:lvl1pPr algn="l" defTabSz="931863">
              <a:defRPr sz="1200">
                <a:latin typeface="Times New Roman" pitchFamily="18" charset="0"/>
              </a:defRPr>
            </a:lvl1pPr>
          </a:lstStyle>
          <a:p>
            <a:pPr>
              <a:defRPr/>
            </a:pPr>
            <a:endParaRPr lang="en-US"/>
          </a:p>
        </p:txBody>
      </p:sp>
      <p:sp>
        <p:nvSpPr>
          <p:cNvPr id="6151" name="Rectangle 7">
            <a:extLst>
              <a:ext uri="{FF2B5EF4-FFF2-40B4-BE49-F238E27FC236}">
                <a16:creationId xmlns:a16="http://schemas.microsoft.com/office/drawing/2014/main" id="{64C3CB5B-B647-4023-9563-256F1C001A08}"/>
              </a:ext>
            </a:extLst>
          </p:cNvPr>
          <p:cNvSpPr>
            <a:spLocks noGrp="1" noChangeArrowheads="1"/>
          </p:cNvSpPr>
          <p:nvPr>
            <p:ph type="sldNum" sz="quarter" idx="5"/>
          </p:nvPr>
        </p:nvSpPr>
        <p:spPr bwMode="auto">
          <a:xfrm>
            <a:off x="4146550" y="9121775"/>
            <a:ext cx="3168650" cy="479425"/>
          </a:xfrm>
          <a:prstGeom prst="rect">
            <a:avLst/>
          </a:prstGeom>
          <a:noFill/>
          <a:ln w="9525">
            <a:noFill/>
            <a:miter lim="800000"/>
            <a:headEnd/>
            <a:tailEnd/>
          </a:ln>
          <a:effectLst/>
        </p:spPr>
        <p:txBody>
          <a:bodyPr vert="horz" wrap="none" lIns="93097" tIns="46549" rIns="93097" bIns="46549" numCol="1" anchor="b" anchorCtr="0" compatLnSpc="1">
            <a:prstTxWarp prst="textNoShape">
              <a:avLst/>
            </a:prstTxWarp>
          </a:bodyPr>
          <a:lstStyle>
            <a:lvl1pPr algn="r" defTabSz="931863">
              <a:defRPr sz="1200">
                <a:latin typeface="Times New Roman" panose="02020603050405020304" pitchFamily="18" charset="0"/>
              </a:defRPr>
            </a:lvl1pPr>
          </a:lstStyle>
          <a:p>
            <a:fld id="{078A6003-6A91-4890-BF68-D3EBD372AE99}"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a:extLst>
              <a:ext uri="{FF2B5EF4-FFF2-40B4-BE49-F238E27FC236}">
                <a16:creationId xmlns:a16="http://schemas.microsoft.com/office/drawing/2014/main" id="{8EA7A4FB-91B9-4A7C-8006-1FFEF25F798D}"/>
              </a:ext>
            </a:extLst>
          </p:cNvPr>
          <p:cNvSpPr>
            <a:spLocks noGrp="1" noRot="1" noChangeAspect="1" noChangeArrowheads="1" noTextEdit="1"/>
          </p:cNvSpPr>
          <p:nvPr>
            <p:ph type="sldImg"/>
          </p:nvPr>
        </p:nvSpPr>
        <p:spPr>
          <a:ln/>
        </p:spPr>
      </p:sp>
      <p:sp>
        <p:nvSpPr>
          <p:cNvPr id="16386" name="Notes Placeholder 2">
            <a:extLst>
              <a:ext uri="{FF2B5EF4-FFF2-40B4-BE49-F238E27FC236}">
                <a16:creationId xmlns:a16="http://schemas.microsoft.com/office/drawing/2014/main" id="{4DDC4AE7-4732-477B-A83E-976CDA54DFB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a:cs typeface="Times New Roman"/>
              </a:rPr>
              <a:t>After introducing the concepts in the previous two weeks, we now study some advanced topics. We will study process scheduling algorithms in this chapter. We will have some calculations. We first introduce the basic concepts, scheduling criteria and then we will introduce the scheduling algorithms one by one.</a:t>
            </a:r>
          </a:p>
          <a:p>
            <a:endParaRPr lang="en-US" altLang="en-US"/>
          </a:p>
          <a:p>
            <a:r>
              <a:rPr lang="en-US" altLang="en-US" dirty="0">
                <a:latin typeface="Times New Roman"/>
                <a:cs typeface="Times New Roman"/>
              </a:rPr>
              <a:t>@in our last lecture, we stopped here. let’s review what we have learnt in our last lecture. We start with talking about single </a:t>
            </a:r>
            <a:r>
              <a:rPr lang="en-US" altLang="en-US" dirty="0" err="1">
                <a:latin typeface="Times New Roman"/>
                <a:cs typeface="Times New Roman"/>
              </a:rPr>
              <a:t>processs</a:t>
            </a:r>
            <a:r>
              <a:rPr lang="en-US" altLang="en-US" dirty="0">
                <a:latin typeface="Times New Roman"/>
                <a:cs typeface="Times New Roman"/>
              </a:rPr>
              <a:t> operations, including process creation and termination. You can use some system calls to create/terminate a process. Then, we talk about IPC, inter-process communication. We have two IPC models: shared memory and message passing. Message passing is more widely used. Then, we talk about two message passing methods: direct communication and indirect communication. Recall they are message passing, not shared memory.</a:t>
            </a:r>
            <a:endParaRPr lang="en-US" altLang="en-US" dirty="0">
              <a:cs typeface="Times New Roman"/>
            </a:endParaRPr>
          </a:p>
        </p:txBody>
      </p:sp>
      <p:sp>
        <p:nvSpPr>
          <p:cNvPr id="16387" name="Slide Number Placeholder 3">
            <a:extLst>
              <a:ext uri="{FF2B5EF4-FFF2-40B4-BE49-F238E27FC236}">
                <a16:creationId xmlns:a16="http://schemas.microsoft.com/office/drawing/2014/main" id="{B4EC000D-EFE8-4629-AD6F-D49AAE2A262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FB17AAEB-5409-479D-9762-7238CCCD2947}"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54F6F360-C4AC-40E8-9ACD-DDF1E31B42D7}"/>
              </a:ext>
            </a:extLst>
          </p:cNvPr>
          <p:cNvSpPr>
            <a:spLocks noGrp="1" noRot="1" noChangeAspect="1" noChangeArrowheads="1" noTextEdit="1"/>
          </p:cNvSpPr>
          <p:nvPr>
            <p:ph type="sldImg"/>
          </p:nvPr>
        </p:nvSpPr>
        <p:spPr>
          <a:ln/>
        </p:spPr>
      </p:sp>
      <p:sp>
        <p:nvSpPr>
          <p:cNvPr id="18434" name="Notes Placeholder 2">
            <a:extLst>
              <a:ext uri="{FF2B5EF4-FFF2-40B4-BE49-F238E27FC236}">
                <a16:creationId xmlns:a16="http://schemas.microsoft.com/office/drawing/2014/main" id="{E9013A66-B801-4C41-AB75-0B5EA80223E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a:cs typeface="Times New Roman"/>
              </a:rPr>
              <a:t>When a process has to wait for I/O or other events, the operating system performs a context switch, and gives the CPU core to another process. That means, a normal process execution has CPU execution, then I/O and then CPU execution, and so on. CPU execution and I/O wait form a cycle.</a:t>
            </a:r>
          </a:p>
          <a:p>
            <a:endParaRPr lang="en-US" altLang="en-US" dirty="0"/>
          </a:p>
          <a:p>
            <a:r>
              <a:rPr lang="en-US" altLang="en-US" dirty="0">
                <a:latin typeface="Times New Roman"/>
                <a:cs typeface="Times New Roman"/>
              </a:rPr>
              <a:t>Why do we need to learn about CPU-I/O burst cycle? Single process cannot fully utilize the CPU. When a process is in an I/O burst, we need to seek another process to execute on the CPU. That is multiprogramming. </a:t>
            </a:r>
            <a:endParaRPr lang="en-US" altLang="en-US" dirty="0">
              <a:cs typeface="Times New Roman"/>
            </a:endParaRPr>
          </a:p>
          <a:p>
            <a:endParaRPr lang="en-US" altLang="en-US" dirty="0"/>
          </a:p>
          <a:p>
            <a:r>
              <a:rPr lang="en-US" altLang="en-US" dirty="0">
                <a:latin typeface="Times New Roman"/>
                <a:cs typeface="Times New Roman"/>
              </a:rPr>
              <a:t>Maximum CPU utilization is obtained with multiprogramming. Multiprogramming means that there are multiple programs kept in the memory at one time and CPU is multiplexed among the processes. CPU scheduling or process scheduling is to keep the CPU busy. If the CPU comprises more than one processing core (multiprocessor system), then the scheduler needs to select multiple processes to execute in parallel, one per core. </a:t>
            </a:r>
            <a:endParaRPr lang="en-US" altLang="en-US" dirty="0">
              <a:cs typeface="Times New Roman"/>
            </a:endParaRPr>
          </a:p>
          <a:p>
            <a:endParaRPr lang="en-US" altLang="en-US" dirty="0"/>
          </a:p>
          <a:p>
            <a:r>
              <a:rPr lang="en-US" altLang="en-US" dirty="0">
                <a:latin typeface="Times New Roman"/>
                <a:cs typeface="Times New Roman"/>
              </a:rPr>
              <a:t>For simplicity, we focus on the concepts of short-term, ready queue, scheduler. The scheduling algorithms for long-term scheduler and medium-term scheduler will be discussed in the second half of the course. </a:t>
            </a:r>
            <a:endParaRPr lang="en-US" altLang="en-US" dirty="0">
              <a:cs typeface="Times New Roman"/>
            </a:endParaRPr>
          </a:p>
          <a:p>
            <a:endParaRPr lang="en-US" altLang="en-US" dirty="0"/>
          </a:p>
        </p:txBody>
      </p:sp>
      <p:sp>
        <p:nvSpPr>
          <p:cNvPr id="18435" name="Slide Number Placeholder 3">
            <a:extLst>
              <a:ext uri="{FF2B5EF4-FFF2-40B4-BE49-F238E27FC236}">
                <a16:creationId xmlns:a16="http://schemas.microsoft.com/office/drawing/2014/main" id="{1A97BA33-074C-4865-8DF7-CF0D51112E7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4858A2FF-819B-46D7-9843-837966E4890B}"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a:extLst>
              <a:ext uri="{FF2B5EF4-FFF2-40B4-BE49-F238E27FC236}">
                <a16:creationId xmlns:a16="http://schemas.microsoft.com/office/drawing/2014/main" id="{2B36ECBF-C336-434D-B481-36C167E54D75}"/>
              </a:ext>
            </a:extLst>
          </p:cNvPr>
          <p:cNvSpPr>
            <a:spLocks noGrp="1" noRot="1" noChangeAspect="1" noChangeArrowheads="1" noTextEdit="1"/>
          </p:cNvSpPr>
          <p:nvPr>
            <p:ph type="sldImg"/>
          </p:nvPr>
        </p:nvSpPr>
        <p:spPr>
          <a:ln/>
        </p:spPr>
      </p:sp>
      <p:sp>
        <p:nvSpPr>
          <p:cNvPr id="20482" name="Notes Placeholder 2">
            <a:extLst>
              <a:ext uri="{FF2B5EF4-FFF2-40B4-BE49-F238E27FC236}">
                <a16:creationId xmlns:a16="http://schemas.microsoft.com/office/drawing/2014/main" id="{FD1E7792-8A8F-4CEC-A86D-AA18B29200B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Let’s look at one example of alternativing sequence of CPU and IO bursts. As you can see from this figure, the process execution usually starts with a CPU burst, and then followed by an IO burst by reading from file. Then, CPU and IO bursts appear alternatively, and they form a cycle. </a:t>
            </a:r>
          </a:p>
          <a:p>
            <a:endParaRPr lang="en-US" altLang="en-US"/>
          </a:p>
        </p:txBody>
      </p:sp>
      <p:sp>
        <p:nvSpPr>
          <p:cNvPr id="20483" name="Slide Number Placeholder 3">
            <a:extLst>
              <a:ext uri="{FF2B5EF4-FFF2-40B4-BE49-F238E27FC236}">
                <a16:creationId xmlns:a16="http://schemas.microsoft.com/office/drawing/2014/main" id="{09C43B72-022C-4F0C-811B-BE66CE39A21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407956B3-565B-4241-B2CF-FB67E61304EA}"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a:extLst>
              <a:ext uri="{FF2B5EF4-FFF2-40B4-BE49-F238E27FC236}">
                <a16:creationId xmlns:a16="http://schemas.microsoft.com/office/drawing/2014/main" id="{A5079096-4183-4E11-BBF7-C0B867E08B05}"/>
              </a:ext>
            </a:extLst>
          </p:cNvPr>
          <p:cNvSpPr>
            <a:spLocks noGrp="1" noRot="1" noChangeAspect="1" noChangeArrowheads="1" noTextEdit="1"/>
          </p:cNvSpPr>
          <p:nvPr>
            <p:ph type="sldImg"/>
          </p:nvPr>
        </p:nvSpPr>
        <p:spPr>
          <a:ln/>
        </p:spPr>
      </p:sp>
      <p:sp>
        <p:nvSpPr>
          <p:cNvPr id="22530" name="Notes Placeholder 2">
            <a:extLst>
              <a:ext uri="{FF2B5EF4-FFF2-40B4-BE49-F238E27FC236}">
                <a16:creationId xmlns:a16="http://schemas.microsoft.com/office/drawing/2014/main" id="{3733FF2B-CDD1-444D-AC30-C736E343FBC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a:cs typeface="Times New Roman"/>
              </a:rPr>
              <a:t>When one or more of the CPU cores become idle, the CPU scheduler is responsible for selecting processes from the ready queue and allocating them to the cores (one per core).</a:t>
            </a:r>
          </a:p>
          <a:p>
            <a:endParaRPr lang="en-US" altLang="en-US"/>
          </a:p>
          <a:p>
            <a:r>
              <a:rPr lang="en-US" altLang="en-US" dirty="0">
                <a:latin typeface="Times New Roman"/>
                <a:cs typeface="Times New Roman"/>
              </a:rPr>
              <a:t>CPU scheduling decisions can take place when a process changes the state. Let’s see the process state transitions. There are five transitions when a scheduling decision may be made.  </a:t>
            </a:r>
            <a:r>
              <a:rPr lang="en-US" altLang="en-US" b="1" dirty="0">
                <a:latin typeface="Times New Roman"/>
                <a:cs typeface="Times New Roman"/>
              </a:rPr>
              <a:t>Scheduler dispatch </a:t>
            </a:r>
            <a:r>
              <a:rPr lang="en-US" altLang="en-US" dirty="0">
                <a:latin typeface="Times New Roman"/>
                <a:cs typeface="Times New Roman"/>
              </a:rPr>
              <a:t>is the decision made by the CPU scheduler. </a:t>
            </a:r>
            <a:endParaRPr lang="en-US" altLang="en-US" dirty="0">
              <a:cs typeface="Times New Roman"/>
            </a:endParaRPr>
          </a:p>
          <a:p>
            <a:endParaRPr lang="en-US" altLang="en-US"/>
          </a:p>
          <a:p>
            <a:r>
              <a:rPr lang="en-US" altLang="en-US" dirty="0">
                <a:latin typeface="Times New Roman"/>
                <a:cs typeface="Times New Roman"/>
              </a:rPr>
              <a:t>For which cases does scheduling have to occur, in order to keep the CPU busy? When I say “have to occur”, I mean: if scheduling does not take place, one or more CPU cores will become idle. </a:t>
            </a:r>
            <a:endParaRPr lang="en-US" altLang="en-US" dirty="0">
              <a:cs typeface="Times New Roman"/>
            </a:endParaRPr>
          </a:p>
          <a:p>
            <a:endParaRPr lang="en-US" altLang="en-US"/>
          </a:p>
          <a:p>
            <a:r>
              <a:rPr lang="en-US" altLang="en-US" dirty="0">
                <a:latin typeface="Times New Roman"/>
                <a:cs typeface="Times New Roman"/>
              </a:rPr>
              <a:t>Let’s look at Case 4: admitted. In this case, we simply add a process to ready queue. If there are running processes they can continue to run; the newly admitted process can run if some core is idle. Hence scheduling is not always required to keep the CPU busy.</a:t>
            </a:r>
          </a:p>
          <a:p>
            <a:endParaRPr lang="en-US" altLang="en-US"/>
          </a:p>
          <a:p>
            <a:r>
              <a:rPr lang="en-US" altLang="en-US" dirty="0">
                <a:latin typeface="Times New Roman"/>
                <a:cs typeface="Times New Roman"/>
              </a:rPr>
              <a:t>You can see that for the first and the fifth cases, we have no choice but to execute the short-term scheduler in order to keep the CPU cores busy. This is because, the active process on a CPU core cannot execute anymore.</a:t>
            </a:r>
          </a:p>
          <a:p>
            <a:endParaRPr lang="en-US" altLang="en-US"/>
          </a:p>
        </p:txBody>
      </p:sp>
      <p:sp>
        <p:nvSpPr>
          <p:cNvPr id="22531" name="Slide Number Placeholder 3">
            <a:extLst>
              <a:ext uri="{FF2B5EF4-FFF2-40B4-BE49-F238E27FC236}">
                <a16:creationId xmlns:a16="http://schemas.microsoft.com/office/drawing/2014/main" id="{52E24007-225F-458D-9948-54E98A11C95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B74576C6-22F8-4560-841E-9A73B7B2E627}"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a:extLst>
              <a:ext uri="{FF2B5EF4-FFF2-40B4-BE49-F238E27FC236}">
                <a16:creationId xmlns:a16="http://schemas.microsoft.com/office/drawing/2014/main" id="{F0359CF5-5833-436E-9865-8714F50F5C79}"/>
              </a:ext>
            </a:extLst>
          </p:cNvPr>
          <p:cNvSpPr>
            <a:spLocks noGrp="1" noRot="1" noChangeAspect="1" noChangeArrowheads="1" noTextEdit="1"/>
          </p:cNvSpPr>
          <p:nvPr>
            <p:ph type="sldImg"/>
          </p:nvPr>
        </p:nvSpPr>
        <p:spPr>
          <a:ln/>
        </p:spPr>
      </p:sp>
      <p:sp>
        <p:nvSpPr>
          <p:cNvPr id="24578" name="Notes Placeholder 2">
            <a:extLst>
              <a:ext uri="{FF2B5EF4-FFF2-40B4-BE49-F238E27FC236}">
                <a16:creationId xmlns:a16="http://schemas.microsoft.com/office/drawing/2014/main" id="{EF74BF1E-C7D3-46F2-889F-68CF37B2C36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a:cs typeface="Times New Roman"/>
              </a:rPr>
              <a:t>Based on when a scheduler chooses a new process, we can categorize the scheduler to be </a:t>
            </a:r>
            <a:r>
              <a:rPr lang="en-US" altLang="en-US" dirty="0" err="1">
                <a:latin typeface="Times New Roman"/>
                <a:cs typeface="Times New Roman"/>
              </a:rPr>
              <a:t>nonpreemptive</a:t>
            </a:r>
            <a:r>
              <a:rPr lang="en-US" altLang="en-US" dirty="0">
                <a:latin typeface="Times New Roman"/>
                <a:cs typeface="Times New Roman"/>
              </a:rPr>
              <a:t> or preemptive. </a:t>
            </a:r>
            <a:endParaRPr lang="en-US" altLang="en-US"/>
          </a:p>
          <a:p>
            <a:endParaRPr lang="en-US" altLang="en-US"/>
          </a:p>
          <a:p>
            <a:r>
              <a:rPr lang="en-US" altLang="en-US" dirty="0">
                <a:latin typeface="Times New Roman"/>
                <a:cs typeface="Times New Roman"/>
              </a:rPr>
              <a:t>A scheduler is </a:t>
            </a:r>
            <a:r>
              <a:rPr lang="en-US" altLang="en-US" dirty="0" err="1">
                <a:latin typeface="Times New Roman"/>
                <a:cs typeface="Times New Roman"/>
              </a:rPr>
              <a:t>nonpreemptive</a:t>
            </a:r>
            <a:r>
              <a:rPr lang="en-US" altLang="en-US" dirty="0">
                <a:latin typeface="Times New Roman"/>
                <a:cs typeface="Times New Roman"/>
              </a:rPr>
              <a:t>, if once the CPU has been allocated to a process, the process keeps the CPU until it voluntarily releases it either by terminating or requesting I/O/event wait. That means, scheduling is </a:t>
            </a:r>
            <a:r>
              <a:rPr lang="en-US" altLang="en-US" dirty="0" err="1">
                <a:latin typeface="Times New Roman"/>
                <a:cs typeface="Times New Roman"/>
              </a:rPr>
              <a:t>nonpreemptive</a:t>
            </a:r>
            <a:r>
              <a:rPr lang="en-US" altLang="en-US" dirty="0">
                <a:latin typeface="Times New Roman"/>
                <a:cs typeface="Times New Roman"/>
              </a:rPr>
              <a:t> if it happens only for transitions 1 and 5 (also 4, when a CPU core is idle).</a:t>
            </a:r>
          </a:p>
          <a:p>
            <a:endParaRPr lang="en-US" altLang="en-US"/>
          </a:p>
          <a:p>
            <a:r>
              <a:rPr lang="en-US" altLang="en-US" dirty="0">
                <a:latin typeface="Times New Roman"/>
                <a:cs typeface="Times New Roman"/>
              </a:rPr>
              <a:t>A scheduler is preemptive if the CPU can be taken away from the running process at any time by the OS. Scheduling is preemptive if it also happens for transitions 2, 3, 4 or at any other time. We should pay attention to “any time” here. Any time includes all the five cases and also any other time instant, depending on the scheduling algorithm. As we will see later, preemptive scheduling considers newly arriving processes.</a:t>
            </a:r>
          </a:p>
          <a:p>
            <a:endParaRPr lang="en-US" altLang="en-US"/>
          </a:p>
          <a:p>
            <a:endParaRPr lang="en-US" altLang="en-US"/>
          </a:p>
        </p:txBody>
      </p:sp>
      <p:sp>
        <p:nvSpPr>
          <p:cNvPr id="24579" name="Slide Number Placeholder 3">
            <a:extLst>
              <a:ext uri="{FF2B5EF4-FFF2-40B4-BE49-F238E27FC236}">
                <a16:creationId xmlns:a16="http://schemas.microsoft.com/office/drawing/2014/main" id="{E3C15CEA-479A-495E-9F82-EC6D417AAD6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26B546CD-1CEF-4119-8189-8E25E5CF5635}"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971001-0765-4275-A0AB-CEBA9F47F0D7}" type="slidenum">
              <a:rPr lang="en-US" altLang="en-US" smtClean="0"/>
              <a:pPr/>
              <a:t>7</a:t>
            </a:fld>
            <a:endParaRPr lang="en-US" altLang="en-US"/>
          </a:p>
        </p:txBody>
      </p:sp>
    </p:spTree>
    <p:extLst>
      <p:ext uri="{BB962C8B-B14F-4D97-AF65-F5344CB8AC3E}">
        <p14:creationId xmlns:p14="http://schemas.microsoft.com/office/powerpoint/2010/main" val="15606572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a:extLst>
              <a:ext uri="{FF2B5EF4-FFF2-40B4-BE49-F238E27FC236}">
                <a16:creationId xmlns:a16="http://schemas.microsoft.com/office/drawing/2014/main" id="{6D709D5D-FA5F-4031-96CB-E4B5694F2A8D}"/>
              </a:ext>
            </a:extLst>
          </p:cNvPr>
          <p:cNvSpPr>
            <a:spLocks noGrp="1" noRot="1" noChangeAspect="1" noChangeArrowheads="1" noTextEdit="1"/>
          </p:cNvSpPr>
          <p:nvPr>
            <p:ph type="sldImg"/>
          </p:nvPr>
        </p:nvSpPr>
        <p:spPr>
          <a:ln/>
        </p:spPr>
      </p:sp>
      <p:sp>
        <p:nvSpPr>
          <p:cNvPr id="26626" name="Notes Placeholder 2">
            <a:extLst>
              <a:ext uri="{FF2B5EF4-FFF2-40B4-BE49-F238E27FC236}">
                <a16:creationId xmlns:a16="http://schemas.microsoft.com/office/drawing/2014/main" id="{EC88E387-16B6-4A3E-96C3-0327672BCC0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a:cs typeface="Times New Roman"/>
              </a:rPr>
              <a:t>In operating system, there are multiple scheduling criteria. In this lecture, we introduce five of them. Two are system-wide criteria, whereas three are process specific criteria.  </a:t>
            </a:r>
            <a:endParaRPr lang="en-US" altLang="en-US"/>
          </a:p>
          <a:p>
            <a:endParaRPr lang="en-US" altLang="en-US"/>
          </a:p>
          <a:p>
            <a:r>
              <a:rPr lang="en-US" altLang="en-US" dirty="0">
                <a:latin typeface="Times New Roman"/>
                <a:cs typeface="Times New Roman"/>
              </a:rPr>
              <a:t>The first system-wide criteria is CPU utilization. The goal is to keep the CPU as busy as possible. It is the ratio of CPU core execution time over total time (can also be denoted as a percentage of total time) divided by the number of CPU cores.</a:t>
            </a:r>
          </a:p>
          <a:p>
            <a:endParaRPr lang="en-US" altLang="en-US"/>
          </a:p>
          <a:p>
            <a:r>
              <a:rPr lang="en-US" altLang="en-US" dirty="0">
                <a:latin typeface="Times New Roman"/>
                <a:cs typeface="Times New Roman"/>
              </a:rPr>
              <a:t>Throughput refers to the number of processes that complete their execution per time unit. For example, the number of processes per second.</a:t>
            </a:r>
          </a:p>
          <a:p>
            <a:endParaRPr lang="en-US" altLang="en-US"/>
          </a:p>
        </p:txBody>
      </p:sp>
      <p:sp>
        <p:nvSpPr>
          <p:cNvPr id="26627" name="Slide Number Placeholder 3">
            <a:extLst>
              <a:ext uri="{FF2B5EF4-FFF2-40B4-BE49-F238E27FC236}">
                <a16:creationId xmlns:a16="http://schemas.microsoft.com/office/drawing/2014/main" id="{47039D2E-B4A6-45E0-B752-2A446A78E6E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01556816-0379-4285-B3DA-34391E951919}" type="slidenum">
              <a:rPr lang="en-US" altLang="en-US">
                <a:latin typeface="Times New Roman" panose="02020603050405020304" pitchFamily="18" charset="0"/>
              </a:rPr>
              <a:pPr/>
              <a:t>8</a:t>
            </a:fld>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a:extLst>
              <a:ext uri="{FF2B5EF4-FFF2-40B4-BE49-F238E27FC236}">
                <a16:creationId xmlns:a16="http://schemas.microsoft.com/office/drawing/2014/main" id="{D37F38FA-8C5D-4CA4-956D-E3F943ACA792}"/>
              </a:ext>
            </a:extLst>
          </p:cNvPr>
          <p:cNvSpPr>
            <a:spLocks noGrp="1" noRot="1" noChangeAspect="1" noChangeArrowheads="1" noTextEdit="1"/>
          </p:cNvSpPr>
          <p:nvPr>
            <p:ph type="sldImg"/>
          </p:nvPr>
        </p:nvSpPr>
        <p:spPr>
          <a:ln/>
        </p:spPr>
      </p:sp>
      <p:sp>
        <p:nvSpPr>
          <p:cNvPr id="28674" name="Notes Placeholder 2">
            <a:extLst>
              <a:ext uri="{FF2B5EF4-FFF2-40B4-BE49-F238E27FC236}">
                <a16:creationId xmlns:a16="http://schemas.microsoft.com/office/drawing/2014/main" id="{8143963A-BBA9-42BD-B7D8-94C7870D9BA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third criteria is turnaround time, which is a process specific criteria. It denotes the amount of time to execute a particular process, from the time of creation to the time of termination. </a:t>
            </a:r>
          </a:p>
          <a:p>
            <a:endParaRPr lang="en-US" altLang="en-US"/>
          </a:p>
        </p:txBody>
      </p:sp>
      <p:sp>
        <p:nvSpPr>
          <p:cNvPr id="28675" name="Slide Number Placeholder 3">
            <a:extLst>
              <a:ext uri="{FF2B5EF4-FFF2-40B4-BE49-F238E27FC236}">
                <a16:creationId xmlns:a16="http://schemas.microsoft.com/office/drawing/2014/main" id="{8963E301-974A-46AA-800F-34782C370D4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B444A49D-3712-4F70-83C5-798FAC76E952}"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a:extLst>
              <a:ext uri="{FF2B5EF4-FFF2-40B4-BE49-F238E27FC236}">
                <a16:creationId xmlns:a16="http://schemas.microsoft.com/office/drawing/2014/main" id="{FE8D21EA-20F5-422A-9697-86823F629D47}"/>
              </a:ext>
            </a:extLst>
          </p:cNvPr>
          <p:cNvSpPr>
            <a:spLocks noGrp="1" noRot="1" noChangeAspect="1" noChangeArrowheads="1" noTextEdit="1"/>
          </p:cNvSpPr>
          <p:nvPr>
            <p:ph type="sldImg"/>
          </p:nvPr>
        </p:nvSpPr>
        <p:spPr>
          <a:ln/>
        </p:spPr>
      </p:sp>
      <p:sp>
        <p:nvSpPr>
          <p:cNvPr id="30722" name="Notes Placeholder 2">
            <a:extLst>
              <a:ext uri="{FF2B5EF4-FFF2-40B4-BE49-F238E27FC236}">
                <a16:creationId xmlns:a16="http://schemas.microsoft.com/office/drawing/2014/main" id="{C634C878-09AE-4003-8B55-9E3D7267F5B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a:cs typeface="Times New Roman"/>
              </a:rPr>
              <a:t>Waiting time is the amount of time a process has been waiting in the ready queue. Please note, CPU scheduling algorithm does not affect the total amount of time during which a process executes or does I/O (waits in waiting state). It only affects the waiting time in the ready state.</a:t>
            </a:r>
          </a:p>
          <a:p>
            <a:endParaRPr lang="en-US" altLang="en-US"/>
          </a:p>
          <a:p>
            <a:r>
              <a:rPr lang="en-US" altLang="en-US" dirty="0">
                <a:latin typeface="Times New Roman"/>
                <a:cs typeface="Times New Roman"/>
              </a:rPr>
              <a:t>Consider the total turnaround time. There are three parts: CPU execution time (that is the CPU burst length), I/O burst length (in the waiting state), and waiting time (in the ready state). See the process state transition diagram. </a:t>
            </a:r>
          </a:p>
          <a:p>
            <a:r>
              <a:rPr lang="en-US" altLang="en-US" sz="2600" dirty="0">
                <a:latin typeface="Times New Roman"/>
                <a:cs typeface="Times New Roman"/>
              </a:rPr>
              <a:t>If all processes have a single CPU burst, then waiting time = turnaround time – CPU burst time. Why? Since a process has a single CPU burst, that means, the process has only two cases: either executing on the CPU or in the ready queue. </a:t>
            </a:r>
            <a:endParaRPr lang="en-US" altLang="en-US" sz="2600" dirty="0">
              <a:cs typeface="Times New Roman"/>
            </a:endParaRPr>
          </a:p>
          <a:p>
            <a:endParaRPr lang="en-US" altLang="en-US"/>
          </a:p>
          <a:p>
            <a:r>
              <a:rPr lang="en-US" altLang="en-US" dirty="0">
                <a:latin typeface="Times New Roman"/>
                <a:cs typeface="Times New Roman"/>
              </a:rPr>
              <a:t>Response time is the amount of time it takes from when a request was submitted until the first response is produced. Please note, a process can produce some output fairly early, and response time is no larger than the turnaround time. Consider one example. When you run a command on a console, what is the time for getting the first output message? Is it response time or turnaround time? It is the response time. What is the time for getting the last output message? It is the turnaround time. </a:t>
            </a:r>
            <a:endParaRPr lang="en-US" altLang="en-US" dirty="0">
              <a:cs typeface="Times New Roman"/>
            </a:endParaRPr>
          </a:p>
          <a:p>
            <a:endParaRPr lang="en-US" altLang="en-US"/>
          </a:p>
          <a:p>
            <a:r>
              <a:rPr lang="en-US" altLang="en-US" dirty="0">
                <a:latin typeface="Times New Roman"/>
                <a:cs typeface="Times New Roman"/>
              </a:rPr>
              <a:t>In the remainder of this lecture, we assume that each process has only one CPU burst for simplicity. This can be extended to multiple bursts easily. </a:t>
            </a:r>
            <a:endParaRPr lang="en-US" altLang="en-US" dirty="0">
              <a:cs typeface="Times New Roman"/>
            </a:endParaRPr>
          </a:p>
          <a:p>
            <a:r>
              <a:rPr lang="en-US" altLang="en-US" dirty="0">
                <a:latin typeface="Times New Roman"/>
                <a:cs typeface="Times New Roman"/>
              </a:rPr>
              <a:t>Our measure is the average waiting time. In the tutorial, you will have some questions on multiple CPU bursts as well as on calculating the other measures.</a:t>
            </a:r>
          </a:p>
          <a:p>
            <a:endParaRPr lang="en-US" altLang="en-US"/>
          </a:p>
        </p:txBody>
      </p:sp>
      <p:sp>
        <p:nvSpPr>
          <p:cNvPr id="30723" name="Slide Number Placeholder 3">
            <a:extLst>
              <a:ext uri="{FF2B5EF4-FFF2-40B4-BE49-F238E27FC236}">
                <a16:creationId xmlns:a16="http://schemas.microsoft.com/office/drawing/2014/main" id="{6CCDCE16-127B-49EC-AF9C-C5E04A6CA69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358DA5BC-65EC-4DB4-9841-7C60BE388F96}"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a:extLst>
              <a:ext uri="{FF2B5EF4-FFF2-40B4-BE49-F238E27FC236}">
                <a16:creationId xmlns:a16="http://schemas.microsoft.com/office/drawing/2014/main" id="{1BC7F571-C194-4371-A0A9-B076AAA05D04}"/>
              </a:ext>
            </a:extLst>
          </p:cNvPr>
          <p:cNvSpPr>
            <a:spLocks noGrp="1" noRot="1" noChangeAspect="1" noChangeArrowheads="1" noTextEdit="1"/>
          </p:cNvSpPr>
          <p:nvPr>
            <p:ph type="sldImg"/>
          </p:nvPr>
        </p:nvSpPr>
        <p:spPr>
          <a:ln/>
        </p:spPr>
      </p:sp>
      <p:sp>
        <p:nvSpPr>
          <p:cNvPr id="32770" name="Notes Placeholder 2">
            <a:extLst>
              <a:ext uri="{FF2B5EF4-FFF2-40B4-BE49-F238E27FC236}">
                <a16:creationId xmlns:a16="http://schemas.microsoft.com/office/drawing/2014/main" id="{E4EABCE7-9B8E-496F-A40A-5998F618822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2771" name="Slide Number Placeholder 3">
            <a:extLst>
              <a:ext uri="{FF2B5EF4-FFF2-40B4-BE49-F238E27FC236}">
                <a16:creationId xmlns:a16="http://schemas.microsoft.com/office/drawing/2014/main" id="{FC4B20E9-B178-4714-84C0-6A1AD46E27A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6EED99AF-39D9-4C08-934B-091A974D0F8F}"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a:extLst>
              <a:ext uri="{FF2B5EF4-FFF2-40B4-BE49-F238E27FC236}">
                <a16:creationId xmlns:a16="http://schemas.microsoft.com/office/drawing/2014/main" id="{15737C37-508D-4F59-B0CD-5EECCD311516}"/>
              </a:ext>
            </a:extLst>
          </p:cNvPr>
          <p:cNvSpPr>
            <a:spLocks noGrp="1" noRot="1" noChangeAspect="1" noChangeArrowheads="1" noTextEdit="1"/>
          </p:cNvSpPr>
          <p:nvPr>
            <p:ph type="sldImg"/>
          </p:nvPr>
        </p:nvSpPr>
        <p:spPr>
          <a:ln/>
        </p:spPr>
      </p:sp>
      <p:sp>
        <p:nvSpPr>
          <p:cNvPr id="34818" name="Notes Placeholder 2">
            <a:extLst>
              <a:ext uri="{FF2B5EF4-FFF2-40B4-BE49-F238E27FC236}">
                <a16:creationId xmlns:a16="http://schemas.microsoft.com/office/drawing/2014/main" id="{489A650B-04BB-43CF-A770-18504AE4FA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a:cs typeface="Times New Roman"/>
              </a:rPr>
              <a:t>The simplest algorithm is first come first served, FCFS algorithm. The process that comes first is scheduled on the CPU core first. This algorithm can be implemented using a FIFO queue. </a:t>
            </a:r>
            <a:endParaRPr lang="en-US" altLang="en-US" dirty="0"/>
          </a:p>
          <a:p>
            <a:endParaRPr lang="en-US" altLang="en-US"/>
          </a:p>
          <a:p>
            <a:r>
              <a:rPr lang="en-US" altLang="en-US" dirty="0">
                <a:latin typeface="Times New Roman"/>
                <a:cs typeface="Times New Roman"/>
              </a:rPr>
              <a:t>Here is one example. Suppose these three processes arrive at time 0. We use a Gantt chart to represent the schedule. *In the exam, I encourage you to draw the Gantt chart to help your calculation.*</a:t>
            </a:r>
          </a:p>
          <a:p>
            <a:endParaRPr lang="en-US" altLang="en-US"/>
          </a:p>
          <a:p>
            <a:r>
              <a:rPr lang="en-US" altLang="en-US" dirty="0">
                <a:latin typeface="Times New Roman"/>
                <a:cs typeface="Times New Roman"/>
              </a:rPr>
              <a:t>Note, once the CPU has been allocated to a process, that process keeps the CPU until it releases the CPU, either by terminating or by requesting I/O. So is FCFS preemptive or </a:t>
            </a:r>
            <a:r>
              <a:rPr lang="en-US" altLang="en-US" dirty="0" err="1">
                <a:latin typeface="Times New Roman"/>
                <a:cs typeface="Times New Roman"/>
              </a:rPr>
              <a:t>nonpreemptive</a:t>
            </a:r>
            <a:r>
              <a:rPr lang="en-US" altLang="en-US" dirty="0">
                <a:latin typeface="Times New Roman"/>
                <a:cs typeface="Times New Roman"/>
              </a:rPr>
              <a:t>? </a:t>
            </a:r>
            <a:r>
              <a:rPr lang="en-US" altLang="en-US" dirty="0" err="1">
                <a:latin typeface="Times New Roman"/>
                <a:cs typeface="Times New Roman"/>
              </a:rPr>
              <a:t>Nonpreemptive</a:t>
            </a:r>
            <a:r>
              <a:rPr lang="en-US" altLang="en-US" dirty="0">
                <a:latin typeface="Times New Roman"/>
                <a:cs typeface="Times New Roman"/>
              </a:rPr>
              <a:t>. </a:t>
            </a:r>
            <a:endParaRPr lang="en-US" altLang="en-US" dirty="0">
              <a:cs typeface="Times New Roman"/>
            </a:endParaRPr>
          </a:p>
        </p:txBody>
      </p:sp>
      <p:sp>
        <p:nvSpPr>
          <p:cNvPr id="34819" name="Slide Number Placeholder 3">
            <a:extLst>
              <a:ext uri="{FF2B5EF4-FFF2-40B4-BE49-F238E27FC236}">
                <a16:creationId xmlns:a16="http://schemas.microsoft.com/office/drawing/2014/main" id="{47BE29DB-FCCF-4A0C-9550-DF508C984E5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7937828F-E1FA-4231-94B7-1FD3E29E836D}"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a:extLst>
              <a:ext uri="{FF2B5EF4-FFF2-40B4-BE49-F238E27FC236}">
                <a16:creationId xmlns:a16="http://schemas.microsoft.com/office/drawing/2014/main" id="{732DB51B-EFA5-48FD-91D1-223F3AC2D7FF}"/>
              </a:ext>
            </a:extLst>
          </p:cNvPr>
          <p:cNvSpPr>
            <a:spLocks noGrp="1" noRot="1" noChangeAspect="1" noChangeArrowheads="1" noTextEdit="1"/>
          </p:cNvSpPr>
          <p:nvPr>
            <p:ph type="sldImg"/>
          </p:nvPr>
        </p:nvSpPr>
        <p:spPr>
          <a:ln/>
        </p:spPr>
      </p:sp>
      <p:sp>
        <p:nvSpPr>
          <p:cNvPr id="36866" name="Notes Placeholder 2">
            <a:extLst>
              <a:ext uri="{FF2B5EF4-FFF2-40B4-BE49-F238E27FC236}">
                <a16:creationId xmlns:a16="http://schemas.microsoft.com/office/drawing/2014/main" id="{94D06CCF-2386-488D-A647-F6DCE7CE9C5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average waiting time of FCFS algorithm is affected by the arrival order. Let’s consider another arrival order for the same example.</a:t>
            </a:r>
          </a:p>
          <a:p>
            <a:endParaRPr lang="en-US" altLang="en-US"/>
          </a:p>
          <a:p>
            <a:r>
              <a:rPr lang="en-US" altLang="en-US"/>
              <a:t>The average waiting time is much better than the previous case.</a:t>
            </a:r>
          </a:p>
        </p:txBody>
      </p:sp>
      <p:sp>
        <p:nvSpPr>
          <p:cNvPr id="36867" name="Slide Number Placeholder 3">
            <a:extLst>
              <a:ext uri="{FF2B5EF4-FFF2-40B4-BE49-F238E27FC236}">
                <a16:creationId xmlns:a16="http://schemas.microsoft.com/office/drawing/2014/main" id="{93296156-EE1A-45A9-A22C-78FAC159F9D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80EDE6FF-2BE5-469F-9AF4-6F84DCCEC544}"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a:extLst>
              <a:ext uri="{FF2B5EF4-FFF2-40B4-BE49-F238E27FC236}">
                <a16:creationId xmlns:a16="http://schemas.microsoft.com/office/drawing/2014/main" id="{5454FD9A-CE20-422F-818B-B5DE4F4951B1}"/>
              </a:ext>
            </a:extLst>
          </p:cNvPr>
          <p:cNvSpPr>
            <a:spLocks noGrp="1" noRot="1" noChangeAspect="1" noChangeArrowheads="1" noTextEdit="1"/>
          </p:cNvSpPr>
          <p:nvPr>
            <p:ph type="sldImg"/>
          </p:nvPr>
        </p:nvSpPr>
        <p:spPr>
          <a:ln/>
        </p:spPr>
      </p:sp>
      <p:sp>
        <p:nvSpPr>
          <p:cNvPr id="38914" name="Notes Placeholder 2">
            <a:extLst>
              <a:ext uri="{FF2B5EF4-FFF2-40B4-BE49-F238E27FC236}">
                <a16:creationId xmlns:a16="http://schemas.microsoft.com/office/drawing/2014/main" id="{7E35CCDB-AADF-448B-BA1F-9014C640E5E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Different arrival order causes different waiting times. This reveals the problem of FCFS. It is called the convoy effect. </a:t>
            </a:r>
            <a:r>
              <a:rPr lang="en-US" altLang="en-US" b="1"/>
              <a:t>In FCFS, the job arrival order matters!</a:t>
            </a:r>
          </a:p>
          <a:p>
            <a:endParaRPr lang="en-US" altLang="en-US"/>
          </a:p>
        </p:txBody>
      </p:sp>
      <p:sp>
        <p:nvSpPr>
          <p:cNvPr id="38915" name="Slide Number Placeholder 3">
            <a:extLst>
              <a:ext uri="{FF2B5EF4-FFF2-40B4-BE49-F238E27FC236}">
                <a16:creationId xmlns:a16="http://schemas.microsoft.com/office/drawing/2014/main" id="{C11B8CF4-E7E6-4473-842A-4417FB490E1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AE52F86D-59D2-449B-BFAA-7465BDE76088}"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a:extLst>
              <a:ext uri="{FF2B5EF4-FFF2-40B4-BE49-F238E27FC236}">
                <a16:creationId xmlns:a16="http://schemas.microsoft.com/office/drawing/2014/main" id="{541AB7EA-8AB3-4430-99F4-F99E5286ACC3}"/>
              </a:ext>
            </a:extLst>
          </p:cNvPr>
          <p:cNvSpPr>
            <a:spLocks noGrp="1" noRot="1" noChangeAspect="1" noChangeArrowheads="1" noTextEdit="1"/>
          </p:cNvSpPr>
          <p:nvPr>
            <p:ph type="sldImg"/>
          </p:nvPr>
        </p:nvSpPr>
        <p:spPr>
          <a:ln/>
        </p:spPr>
      </p:sp>
      <p:sp>
        <p:nvSpPr>
          <p:cNvPr id="37891" name="Notes Placeholder 2">
            <a:extLst>
              <a:ext uri="{FF2B5EF4-FFF2-40B4-BE49-F238E27FC236}">
                <a16:creationId xmlns:a16="http://schemas.microsoft.com/office/drawing/2014/main" id="{FA0C10D2-7242-4E43-A872-9350E652A429}"/>
              </a:ext>
            </a:extLst>
          </p:cNvPr>
          <p:cNvSpPr>
            <a:spLocks noGrp="1"/>
          </p:cNvSpPr>
          <p:nvPr>
            <p:ph type="body" idx="1"/>
          </p:nvPr>
        </p:nvSpPr>
        <p:spPr>
          <a:ln/>
        </p:spPr>
        <p:txBody>
          <a:bodyPr/>
          <a:lstStyle/>
          <a:p>
            <a:pPr>
              <a:defRPr/>
            </a:pPr>
            <a:r>
              <a:rPr lang="en-US" dirty="0"/>
              <a:t>The convoy effect of FCFS problem shows that the short job should have a higher priority. Thus, we have the shortest job first scheduling. Priority is given to the job with the shortest time.</a:t>
            </a:r>
          </a:p>
          <a:p>
            <a:pPr>
              <a:defRPr/>
            </a:pPr>
            <a:r>
              <a:rPr lang="en-US" dirty="0"/>
              <a:t> </a:t>
            </a:r>
          </a:p>
          <a:p>
            <a:pPr>
              <a:defRPr/>
            </a:pPr>
            <a:r>
              <a:rPr lang="en-US" dirty="0"/>
              <a:t>Depending on whether the scheduling is preemptive or not, we have two variants of SJF algorithm:</a:t>
            </a:r>
          </a:p>
          <a:p>
            <a:pPr marL="228600" indent="-228600">
              <a:buFontTx/>
              <a:buAutoNum type="arabicParenR"/>
              <a:defRPr/>
            </a:pPr>
            <a:r>
              <a:rPr lang="en-US" dirty="0" err="1"/>
              <a:t>Nonpreemptive</a:t>
            </a:r>
            <a:r>
              <a:rPr lang="en-US" dirty="0"/>
              <a:t>: Once the CPU is given to the process, it cannot be preempted until the CPU burst is completed. </a:t>
            </a:r>
          </a:p>
          <a:p>
            <a:pPr marL="228600" indent="-228600">
              <a:buFontTx/>
              <a:buAutoNum type="arabicParenR"/>
              <a:defRPr/>
            </a:pPr>
            <a:r>
              <a:rPr lang="en-US" dirty="0"/>
              <a:t>Preemptive: If a new process arrives with CPU burst length less than the remaining time of the current executing process, then preempt. That means, the CPU should be given to the new process.</a:t>
            </a:r>
          </a:p>
          <a:p>
            <a:pPr>
              <a:defRPr/>
            </a:pPr>
            <a:endParaRPr lang="en-US" dirty="0"/>
          </a:p>
          <a:p>
            <a:pPr>
              <a:defRPr/>
            </a:pPr>
            <a:r>
              <a:rPr lang="en-US" dirty="0"/>
              <a:t>SJF is optimal, in the sense that it gives the minimum average waiting time for a given set of processes. The proof can be found in the textbook.</a:t>
            </a:r>
          </a:p>
          <a:p>
            <a:pPr>
              <a:defRPr/>
            </a:pPr>
            <a:endParaRPr lang="en-US" dirty="0"/>
          </a:p>
        </p:txBody>
      </p:sp>
      <p:sp>
        <p:nvSpPr>
          <p:cNvPr id="40963" name="Slide Number Placeholder 3">
            <a:extLst>
              <a:ext uri="{FF2B5EF4-FFF2-40B4-BE49-F238E27FC236}">
                <a16:creationId xmlns:a16="http://schemas.microsoft.com/office/drawing/2014/main" id="{9E605702-0FF5-4B39-81CA-D1EF88FF68F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B20E2A44-7675-464E-9131-E02A729C5725}"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a:extLst>
              <a:ext uri="{FF2B5EF4-FFF2-40B4-BE49-F238E27FC236}">
                <a16:creationId xmlns:a16="http://schemas.microsoft.com/office/drawing/2014/main" id="{E8B1EDE9-EFC5-467F-9360-727E433D3650}"/>
              </a:ext>
            </a:extLst>
          </p:cNvPr>
          <p:cNvSpPr>
            <a:spLocks noGrp="1" noRot="1" noChangeAspect="1" noChangeArrowheads="1" noTextEdit="1"/>
          </p:cNvSpPr>
          <p:nvPr>
            <p:ph type="sldImg"/>
          </p:nvPr>
        </p:nvSpPr>
        <p:spPr>
          <a:ln/>
        </p:spPr>
      </p:sp>
      <p:sp>
        <p:nvSpPr>
          <p:cNvPr id="43010" name="Notes Placeholder 2">
            <a:extLst>
              <a:ext uri="{FF2B5EF4-FFF2-40B4-BE49-F238E27FC236}">
                <a16:creationId xmlns:a16="http://schemas.microsoft.com/office/drawing/2014/main" id="{1EF6458E-8713-48DD-9192-3734C1C18FF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a:cs typeface="Times New Roman"/>
              </a:rPr>
              <a:t>P2 and P4 have the same CPU burst time. How to break the tie? We choose the one with the earliest arrival time when two processes have the same CPU burst length. However, note tie can broken using any strategy. The optimality of SJF w.r.t average waiting time will still hold, irrespective of the tie breaking strategy.</a:t>
            </a:r>
            <a:endParaRPr lang="en-US" altLang="en-US" dirty="0"/>
          </a:p>
        </p:txBody>
      </p:sp>
      <p:sp>
        <p:nvSpPr>
          <p:cNvPr id="43011" name="Slide Number Placeholder 3">
            <a:extLst>
              <a:ext uri="{FF2B5EF4-FFF2-40B4-BE49-F238E27FC236}">
                <a16:creationId xmlns:a16="http://schemas.microsoft.com/office/drawing/2014/main" id="{612AEDB5-32F2-41F0-9276-EC5B5C2B2F9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296D7D50-99FF-4EFE-BEB2-80392EFDB8DA}" type="slidenum">
              <a:rPr lang="en-US" altLang="en-US">
                <a:latin typeface="Times New Roman" panose="02020603050405020304" pitchFamily="18" charset="0"/>
              </a:rPr>
              <a:pPr/>
              <a:t>17</a:t>
            </a:fld>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a:extLst>
              <a:ext uri="{FF2B5EF4-FFF2-40B4-BE49-F238E27FC236}">
                <a16:creationId xmlns:a16="http://schemas.microsoft.com/office/drawing/2014/main" id="{EF6DAF1E-6D60-488C-ADC8-FDBA08AFA030}"/>
              </a:ext>
            </a:extLst>
          </p:cNvPr>
          <p:cNvSpPr>
            <a:spLocks noGrp="1" noRot="1" noChangeAspect="1" noChangeArrowheads="1" noTextEdit="1"/>
          </p:cNvSpPr>
          <p:nvPr>
            <p:ph type="sldImg"/>
          </p:nvPr>
        </p:nvSpPr>
        <p:spPr>
          <a:ln/>
        </p:spPr>
      </p:sp>
      <p:sp>
        <p:nvSpPr>
          <p:cNvPr id="45058" name="Notes Placeholder 2">
            <a:extLst>
              <a:ext uri="{FF2B5EF4-FFF2-40B4-BE49-F238E27FC236}">
                <a16:creationId xmlns:a16="http://schemas.microsoft.com/office/drawing/2014/main" id="{97F17D54-1BB4-498B-A6F5-EC9F5226C69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We need to consider scheduling when a new process comes, or when a process terminates. </a:t>
            </a:r>
          </a:p>
        </p:txBody>
      </p:sp>
      <p:sp>
        <p:nvSpPr>
          <p:cNvPr id="45059" name="Slide Number Placeholder 3">
            <a:extLst>
              <a:ext uri="{FF2B5EF4-FFF2-40B4-BE49-F238E27FC236}">
                <a16:creationId xmlns:a16="http://schemas.microsoft.com/office/drawing/2014/main" id="{7CD67986-5171-4FAA-ADCC-DC77FC513CC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EE6B059D-F45B-49B5-8E44-8B949CE468E5}"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971001-0765-4275-A0AB-CEBA9F47F0D7}" type="slidenum">
              <a:rPr lang="en-US" altLang="en-US" smtClean="0"/>
              <a:pPr/>
              <a:t>20</a:t>
            </a:fld>
            <a:endParaRPr lang="en-US" altLang="en-US"/>
          </a:p>
        </p:txBody>
      </p:sp>
    </p:spTree>
    <p:extLst>
      <p:ext uri="{BB962C8B-B14F-4D97-AF65-F5344CB8AC3E}">
        <p14:creationId xmlns:p14="http://schemas.microsoft.com/office/powerpoint/2010/main" val="36065939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a:extLst>
              <a:ext uri="{FF2B5EF4-FFF2-40B4-BE49-F238E27FC236}">
                <a16:creationId xmlns:a16="http://schemas.microsoft.com/office/drawing/2014/main" id="{0686B574-E563-4A1D-BF46-6D569785406E}"/>
              </a:ext>
            </a:extLst>
          </p:cNvPr>
          <p:cNvSpPr>
            <a:spLocks noGrp="1" noRot="1" noChangeAspect="1" noChangeArrowheads="1" noTextEdit="1"/>
          </p:cNvSpPr>
          <p:nvPr>
            <p:ph type="sldImg"/>
          </p:nvPr>
        </p:nvSpPr>
        <p:spPr>
          <a:ln/>
        </p:spPr>
      </p:sp>
      <p:sp>
        <p:nvSpPr>
          <p:cNvPr id="47106" name="Notes Placeholder 2">
            <a:extLst>
              <a:ext uri="{FF2B5EF4-FFF2-40B4-BE49-F238E27FC236}">
                <a16:creationId xmlns:a16="http://schemas.microsoft.com/office/drawing/2014/main" id="{7AB368F2-7714-457D-8178-B1FBA487D86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a:cs typeface="Times New Roman"/>
              </a:rPr>
              <a:t>In FCFS, a higher priority is given to a process that arrives earlier. In SJF, a higher </a:t>
            </a:r>
            <a:r>
              <a:rPr lang="en-US" altLang="en-US" dirty="0" err="1">
                <a:latin typeface="Times New Roman"/>
                <a:cs typeface="Times New Roman"/>
              </a:rPr>
              <a:t>prirority</a:t>
            </a:r>
            <a:r>
              <a:rPr lang="en-US" altLang="en-US" dirty="0">
                <a:latin typeface="Times New Roman"/>
                <a:cs typeface="Times New Roman"/>
              </a:rPr>
              <a:t> is given to a process with shorter CPU burst length. In general, we can assign an arbitrary priority to each process and schedule based on that priority. This is what happens in priority-based scheduling. </a:t>
            </a:r>
            <a:endParaRPr lang="en-US" altLang="en-US"/>
          </a:p>
          <a:p>
            <a:endParaRPr lang="en-US" altLang="en-US"/>
          </a:p>
          <a:p>
            <a:r>
              <a:rPr lang="en-US" altLang="en-US" dirty="0">
                <a:latin typeface="Times New Roman"/>
                <a:cs typeface="Times New Roman"/>
              </a:rPr>
              <a:t>The priority number can be an integer. For example, in Linux, the priority number can be [-20, 20]. -20 means the highest priority; 20 means the lowest priority. Similar to SJF, priority scheduling can be preemptive or </a:t>
            </a:r>
            <a:r>
              <a:rPr lang="en-US" altLang="en-US" dirty="0" err="1">
                <a:latin typeface="Times New Roman"/>
                <a:cs typeface="Times New Roman"/>
              </a:rPr>
              <a:t>nonpreemptive</a:t>
            </a:r>
            <a:r>
              <a:rPr lang="en-US" altLang="en-US" dirty="0">
                <a:latin typeface="Times New Roman"/>
                <a:cs typeface="Times New Roman"/>
              </a:rPr>
              <a:t>. </a:t>
            </a:r>
            <a:endParaRPr lang="en-US" altLang="en-US" dirty="0">
              <a:cs typeface="Times New Roman"/>
            </a:endParaRPr>
          </a:p>
          <a:p>
            <a:endParaRPr lang="en-US" altLang="en-US"/>
          </a:p>
          <a:p>
            <a:r>
              <a:rPr lang="en-US" altLang="en-US" dirty="0">
                <a:latin typeface="Times New Roman"/>
                <a:cs typeface="Times New Roman"/>
              </a:rPr>
              <a:t>One of the problems with priority-based scheduling is that of starvation. That is, lower priority processes may never execute. In a heavily loaded system, a low priority process may never get the CPU. In UC Berkeley, they found a process that had starved for over 30 years.</a:t>
            </a:r>
          </a:p>
          <a:p>
            <a:endParaRPr lang="en-US" altLang="en-US"/>
          </a:p>
          <a:p>
            <a:r>
              <a:rPr lang="en-US" altLang="en-US" dirty="0">
                <a:latin typeface="Times New Roman"/>
                <a:cs typeface="Times New Roman"/>
              </a:rPr>
              <a:t>A common solution for avoiding starvation is to introduce aging. The basic idea of aging is that, as time progresses, the system gradually increases the priority of the process. Eventually, the process has a high priority to execute. </a:t>
            </a:r>
            <a:endParaRPr lang="en-US" altLang="en-US" dirty="0">
              <a:cs typeface="Times New Roman"/>
            </a:endParaRPr>
          </a:p>
          <a:p>
            <a:endParaRPr lang="en-US" altLang="en-US"/>
          </a:p>
          <a:p>
            <a:endParaRPr lang="en-US" altLang="en-US"/>
          </a:p>
        </p:txBody>
      </p:sp>
      <p:sp>
        <p:nvSpPr>
          <p:cNvPr id="47107" name="Slide Number Placeholder 3">
            <a:extLst>
              <a:ext uri="{FF2B5EF4-FFF2-40B4-BE49-F238E27FC236}">
                <a16:creationId xmlns:a16="http://schemas.microsoft.com/office/drawing/2014/main" id="{AA25C28F-974D-4502-B40B-458F98CCF93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5CB28074-D70F-4C77-A7C8-E15E1C268F63}"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971001-0765-4275-A0AB-CEBA9F47F0D7}" type="slidenum">
              <a:rPr lang="en-US" altLang="en-US" smtClean="0"/>
              <a:pPr/>
              <a:t>22</a:t>
            </a:fld>
            <a:endParaRPr lang="en-US" altLang="en-US"/>
          </a:p>
        </p:txBody>
      </p:sp>
    </p:spTree>
    <p:extLst>
      <p:ext uri="{BB962C8B-B14F-4D97-AF65-F5344CB8AC3E}">
        <p14:creationId xmlns:p14="http://schemas.microsoft.com/office/powerpoint/2010/main" val="11443956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a:extLst>
              <a:ext uri="{FF2B5EF4-FFF2-40B4-BE49-F238E27FC236}">
                <a16:creationId xmlns:a16="http://schemas.microsoft.com/office/drawing/2014/main" id="{00078E43-C932-4DAC-8EF7-AF80EEB4EE9B}"/>
              </a:ext>
            </a:extLst>
          </p:cNvPr>
          <p:cNvSpPr>
            <a:spLocks noGrp="1" noRot="1" noChangeAspect="1" noChangeArrowheads="1" noTextEdit="1"/>
          </p:cNvSpPr>
          <p:nvPr>
            <p:ph type="sldImg"/>
          </p:nvPr>
        </p:nvSpPr>
        <p:spPr>
          <a:ln/>
        </p:spPr>
      </p:sp>
      <p:sp>
        <p:nvSpPr>
          <p:cNvPr id="49154" name="Notes Placeholder 2">
            <a:extLst>
              <a:ext uri="{FF2B5EF4-FFF2-40B4-BE49-F238E27FC236}">
                <a16:creationId xmlns:a16="http://schemas.microsoft.com/office/drawing/2014/main" id="{24CDF67D-8A13-4BBB-B18B-D1721EF41D8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Now we look at a fair scheduling algorithm. This algorithm is called round robin. In RR, each process gets a small unit of CPU time (called time quantum). The time quantum is usually 10-100 ms. After this time has elapsed, the process is preempted and added to the tail of the ready queue. We give the CPU to the process that is at the head of the ready queue. This is the timer interrupt in the process state transition diagram.</a:t>
            </a:r>
          </a:p>
          <a:p>
            <a:r>
              <a:rPr lang="en-US" altLang="en-US"/>
              <a:t> </a:t>
            </a:r>
          </a:p>
          <a:p>
            <a:r>
              <a:rPr lang="en-US" altLang="en-US"/>
              <a:t>Question: is RR preemptive or nonpreemptive? Preemptive. The CPU is forcibly taken away from the process when the time quantum is finished. We actually use RR to implement the scheduling of time sharing systems.</a:t>
            </a:r>
          </a:p>
          <a:p>
            <a:endParaRPr lang="en-US" altLang="en-US"/>
          </a:p>
          <a:p>
            <a:r>
              <a:rPr lang="en-US" altLang="en-US"/>
              <a:t>We can also see, if the time quantum q is very large, say, larger than the maximum length of the CPU bursts, RR becomes FCFS. When a process comes, it will be added to the end of the ready queue. Each process can finish the execution in a time quantum. </a:t>
            </a:r>
          </a:p>
          <a:p>
            <a:endParaRPr lang="en-US" altLang="en-US"/>
          </a:p>
          <a:p>
            <a:r>
              <a:rPr lang="en-US" altLang="en-US"/>
              <a:t>If q is too small, context switch overhead is very high. So, q must be large with respect to the context switch overhead. There will be a tutorial question on this issue.</a:t>
            </a:r>
          </a:p>
          <a:p>
            <a:endParaRPr lang="en-US" altLang="en-US"/>
          </a:p>
          <a:p>
            <a:endParaRPr lang="en-US" altLang="en-US"/>
          </a:p>
        </p:txBody>
      </p:sp>
      <p:sp>
        <p:nvSpPr>
          <p:cNvPr id="49155" name="Slide Number Placeholder 3">
            <a:extLst>
              <a:ext uri="{FF2B5EF4-FFF2-40B4-BE49-F238E27FC236}">
                <a16:creationId xmlns:a16="http://schemas.microsoft.com/office/drawing/2014/main" id="{9DDED004-293E-4769-9FF7-D9404A667A2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B9E29F65-AC31-4806-89BE-7698446F77C8}"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a:extLst>
              <a:ext uri="{FF2B5EF4-FFF2-40B4-BE49-F238E27FC236}">
                <a16:creationId xmlns:a16="http://schemas.microsoft.com/office/drawing/2014/main" id="{53ACEC51-F6F5-462B-BBAF-40886C0505B5}"/>
              </a:ext>
            </a:extLst>
          </p:cNvPr>
          <p:cNvSpPr>
            <a:spLocks noGrp="1" noRot="1" noChangeAspect="1" noChangeArrowheads="1" noTextEdit="1"/>
          </p:cNvSpPr>
          <p:nvPr>
            <p:ph type="sldImg"/>
          </p:nvPr>
        </p:nvSpPr>
        <p:spPr>
          <a:ln/>
        </p:spPr>
      </p:sp>
      <p:sp>
        <p:nvSpPr>
          <p:cNvPr id="51202" name="Notes Placeholder 2">
            <a:extLst>
              <a:ext uri="{FF2B5EF4-FFF2-40B4-BE49-F238E27FC236}">
                <a16:creationId xmlns:a16="http://schemas.microsoft.com/office/drawing/2014/main" id="{D426F844-5014-4284-AF26-BADBC39E5E8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RR has a higher average turnaround time than SJF, but better response time. </a:t>
            </a:r>
          </a:p>
          <a:p>
            <a:endParaRPr lang="en-US" altLang="en-US"/>
          </a:p>
          <a:p>
            <a:r>
              <a:rPr lang="en-US" altLang="en-US"/>
              <a:t>What is the response time for P1? 0 P2? 20….</a:t>
            </a:r>
          </a:p>
        </p:txBody>
      </p:sp>
      <p:sp>
        <p:nvSpPr>
          <p:cNvPr id="51203" name="Slide Number Placeholder 3">
            <a:extLst>
              <a:ext uri="{FF2B5EF4-FFF2-40B4-BE49-F238E27FC236}">
                <a16:creationId xmlns:a16="http://schemas.microsoft.com/office/drawing/2014/main" id="{4662E890-6F8A-4AB6-A096-3FA97F9B2B3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25A90363-9B11-42F6-BFEA-3E7B865C22E5}"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a:extLst>
              <a:ext uri="{FF2B5EF4-FFF2-40B4-BE49-F238E27FC236}">
                <a16:creationId xmlns:a16="http://schemas.microsoft.com/office/drawing/2014/main" id="{A31F7C1C-1502-41C8-9ECF-63EDE0ED2935}"/>
              </a:ext>
            </a:extLst>
          </p:cNvPr>
          <p:cNvSpPr>
            <a:spLocks noGrp="1" noRot="1" noChangeAspect="1" noChangeArrowheads="1" noTextEdit="1"/>
          </p:cNvSpPr>
          <p:nvPr>
            <p:ph type="sldImg"/>
          </p:nvPr>
        </p:nvSpPr>
        <p:spPr>
          <a:ln/>
        </p:spPr>
      </p:sp>
      <p:sp>
        <p:nvSpPr>
          <p:cNvPr id="53250" name="Notes Placeholder 2">
            <a:extLst>
              <a:ext uri="{FF2B5EF4-FFF2-40B4-BE49-F238E27FC236}">
                <a16:creationId xmlns:a16="http://schemas.microsoft.com/office/drawing/2014/main" id="{140C291F-562F-4074-986F-305D0156175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So, now let’s see the effect of the time quantum size on the number of context switches.</a:t>
            </a:r>
          </a:p>
          <a:p>
            <a:r>
              <a:rPr lang="en-US" altLang="en-US"/>
              <a:t> </a:t>
            </a:r>
          </a:p>
          <a:p>
            <a:r>
              <a:rPr lang="en-US" altLang="en-US"/>
              <a:t>A process with a CPU burst of ten units of time. If the quantum is 12 units of time, the number of context switches *during* the process execution is zero. If the quantum is 6, the number of context switches during the process execution is 1. If the quantum becomes 1, the number of context switches is 9. So you can see, a small time quantum will dramatically increase the context switch overhead.  There is a similar question in the tutorial. </a:t>
            </a:r>
          </a:p>
          <a:p>
            <a:endParaRPr lang="en-US" altLang="en-US"/>
          </a:p>
        </p:txBody>
      </p:sp>
      <p:sp>
        <p:nvSpPr>
          <p:cNvPr id="53251" name="Slide Number Placeholder 3">
            <a:extLst>
              <a:ext uri="{FF2B5EF4-FFF2-40B4-BE49-F238E27FC236}">
                <a16:creationId xmlns:a16="http://schemas.microsoft.com/office/drawing/2014/main" id="{D9A49B84-26D9-44BB-85FB-A735889512E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B13B5E8B-37FF-48F7-B966-194423E1A3A7}"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a:extLst>
              <a:ext uri="{FF2B5EF4-FFF2-40B4-BE49-F238E27FC236}">
                <a16:creationId xmlns:a16="http://schemas.microsoft.com/office/drawing/2014/main" id="{9B8B5AB8-B4EF-475E-8E0B-4CB89D15D16C}"/>
              </a:ext>
            </a:extLst>
          </p:cNvPr>
          <p:cNvSpPr>
            <a:spLocks noGrp="1" noRot="1" noChangeAspect="1" noChangeArrowheads="1" noTextEdit="1"/>
          </p:cNvSpPr>
          <p:nvPr>
            <p:ph type="sldImg"/>
          </p:nvPr>
        </p:nvSpPr>
        <p:spPr>
          <a:ln/>
        </p:spPr>
      </p:sp>
      <p:sp>
        <p:nvSpPr>
          <p:cNvPr id="55298" name="Notes Placeholder 2">
            <a:extLst>
              <a:ext uri="{FF2B5EF4-FFF2-40B4-BE49-F238E27FC236}">
                <a16:creationId xmlns:a16="http://schemas.microsoft.com/office/drawing/2014/main" id="{A14CEB49-27B1-4E8E-B881-EA2852CDBE0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FCFS = (6+9+10+17)/4=10.5, assuming arrival order of P1, P2, P3 and P4.</a:t>
            </a:r>
          </a:p>
          <a:p>
            <a:endParaRPr lang="en-US" altLang="en-US"/>
          </a:p>
          <a:p>
            <a:r>
              <a:rPr lang="en-US" altLang="en-US"/>
              <a:t>In this example we see how the time quantum size affects the turnaround time. We can make two observations. First, there is no clear relationship between the average turnaround time and the time quantum size. As the time quantum size increases, the average turnaround time may not always increase. Second, if the time quantum is larger than the largest CPU burst length, the average turnaround time becomes stable. Why? Because RR becomes FCFS.</a:t>
            </a:r>
          </a:p>
        </p:txBody>
      </p:sp>
      <p:sp>
        <p:nvSpPr>
          <p:cNvPr id="55299" name="Slide Number Placeholder 3">
            <a:extLst>
              <a:ext uri="{FF2B5EF4-FFF2-40B4-BE49-F238E27FC236}">
                <a16:creationId xmlns:a16="http://schemas.microsoft.com/office/drawing/2014/main" id="{A06E828C-C9BA-4E6F-8E58-E5469D7699F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62F6A7D4-494F-41CD-8B03-79A0628C0993}"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a:extLst>
              <a:ext uri="{FF2B5EF4-FFF2-40B4-BE49-F238E27FC236}">
                <a16:creationId xmlns:a16="http://schemas.microsoft.com/office/drawing/2014/main" id="{C1A94071-06FD-4FEA-8851-AB777A4A4617}"/>
              </a:ext>
            </a:extLst>
          </p:cNvPr>
          <p:cNvSpPr>
            <a:spLocks noGrp="1" noRot="1" noChangeAspect="1" noChangeArrowheads="1" noTextEdit="1"/>
          </p:cNvSpPr>
          <p:nvPr>
            <p:ph type="sldImg"/>
          </p:nvPr>
        </p:nvSpPr>
        <p:spPr>
          <a:ln/>
        </p:spPr>
      </p:sp>
      <p:sp>
        <p:nvSpPr>
          <p:cNvPr id="57346" name="Notes Placeholder 2">
            <a:extLst>
              <a:ext uri="{FF2B5EF4-FFF2-40B4-BE49-F238E27FC236}">
                <a16:creationId xmlns:a16="http://schemas.microsoft.com/office/drawing/2014/main" id="{EB799DA8-ED26-4E81-9298-3F9EF237774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So far, we focused on a single ready queue. In practice, different processes have different requirements on performance, and thus they may require different scheduling algorithms. For example, foreground processes are more interactive like the key stroke, mouse or when you are playing a game. We prefer RR for such processes. Background processes are more about batch processing such as virus scanning. We prefer FCFS for such processes. Moreover, foreground processes may have a higher priority than background processes.</a:t>
            </a:r>
          </a:p>
          <a:p>
            <a:r>
              <a:rPr lang="en-US" altLang="en-US"/>
              <a:t>  </a:t>
            </a:r>
          </a:p>
          <a:p>
            <a:r>
              <a:rPr lang="en-US" altLang="en-US"/>
              <a:t>Multi-level queue scheduling can be used to handle such varying requirements. The ready queue is partitioned into separate queues, and each queue can have its own scheduling algorithm.</a:t>
            </a:r>
          </a:p>
          <a:p>
            <a:endParaRPr lang="en-US" altLang="en-US"/>
          </a:p>
          <a:p>
            <a:endParaRPr lang="en-US" altLang="en-US"/>
          </a:p>
        </p:txBody>
      </p:sp>
      <p:sp>
        <p:nvSpPr>
          <p:cNvPr id="57347" name="Slide Number Placeholder 3">
            <a:extLst>
              <a:ext uri="{FF2B5EF4-FFF2-40B4-BE49-F238E27FC236}">
                <a16:creationId xmlns:a16="http://schemas.microsoft.com/office/drawing/2014/main" id="{321FF57B-9888-43D0-8BB0-5991E6A6889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7EB30A2C-B84C-416E-9147-D3B1FBB8837D}"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a:extLst>
              <a:ext uri="{FF2B5EF4-FFF2-40B4-BE49-F238E27FC236}">
                <a16:creationId xmlns:a16="http://schemas.microsoft.com/office/drawing/2014/main" id="{E8C4C216-B777-4266-A3D3-F5482E0D8FC6}"/>
              </a:ext>
            </a:extLst>
          </p:cNvPr>
          <p:cNvSpPr>
            <a:spLocks noGrp="1" noRot="1" noChangeAspect="1" noChangeArrowheads="1" noTextEdit="1"/>
          </p:cNvSpPr>
          <p:nvPr>
            <p:ph type="sldImg"/>
          </p:nvPr>
        </p:nvSpPr>
        <p:spPr>
          <a:ln/>
        </p:spPr>
      </p:sp>
      <p:sp>
        <p:nvSpPr>
          <p:cNvPr id="59394" name="Notes Placeholder 2">
            <a:extLst>
              <a:ext uri="{FF2B5EF4-FFF2-40B4-BE49-F238E27FC236}">
                <a16:creationId xmlns:a16="http://schemas.microsoft.com/office/drawing/2014/main" id="{63F92559-3FE1-4318-BF5A-37AC441BA59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a:cs typeface="Times New Roman"/>
              </a:rPr>
              <a:t>We call it multi-level queue, because the scheduling is not only performed within each queue, but also among the queues. </a:t>
            </a:r>
            <a:endParaRPr lang="en-US" altLang="en-US"/>
          </a:p>
          <a:p>
            <a:endParaRPr lang="en-US" altLang="en-US"/>
          </a:p>
          <a:p>
            <a:r>
              <a:rPr lang="en-US" altLang="en-US" dirty="0">
                <a:latin typeface="Times New Roman"/>
                <a:cs typeface="Times New Roman"/>
              </a:rPr>
              <a:t>There are basically two ways of inter-queue scheduling. </a:t>
            </a:r>
            <a:endParaRPr lang="en-US" altLang="en-US" dirty="0">
              <a:cs typeface="Times New Roman"/>
            </a:endParaRPr>
          </a:p>
          <a:p>
            <a:endParaRPr lang="en-US" altLang="en-US"/>
          </a:p>
          <a:p>
            <a:r>
              <a:rPr lang="en-US" altLang="en-US" dirty="0">
                <a:latin typeface="Times New Roman"/>
                <a:cs typeface="Times New Roman"/>
              </a:rPr>
              <a:t>The first one is fixed priority scheduling: we first serve all the processes in the foreground queue. After serving all the processes in the foreground queue, we consider the background queue. That may cause starvation for the background process. So, how to solve this problem? Aging.</a:t>
            </a:r>
          </a:p>
          <a:p>
            <a:endParaRPr lang="en-US" altLang="en-US"/>
          </a:p>
          <a:p>
            <a:r>
              <a:rPr lang="en-US" altLang="en-US" dirty="0">
                <a:latin typeface="Times New Roman"/>
                <a:cs typeface="Times New Roman"/>
              </a:rPr>
              <a:t>The other method is time slice. Each queue gets a certain amount of CPU time which it can use to schedule among the processes. For example, 80% of the CPU time is given to the foreground queue, and the other 20% is given to the background queue. In each queue, we perform scheduling according to the chosen algorithm for that queue. </a:t>
            </a:r>
            <a:endParaRPr lang="en-US" altLang="en-US" dirty="0">
              <a:cs typeface="Times New Roman"/>
            </a:endParaRPr>
          </a:p>
          <a:p>
            <a:endParaRPr lang="en-US" altLang="en-US"/>
          </a:p>
          <a:p>
            <a:endParaRPr lang="en-US" altLang="en-US"/>
          </a:p>
        </p:txBody>
      </p:sp>
      <p:sp>
        <p:nvSpPr>
          <p:cNvPr id="59395" name="Slide Number Placeholder 3">
            <a:extLst>
              <a:ext uri="{FF2B5EF4-FFF2-40B4-BE49-F238E27FC236}">
                <a16:creationId xmlns:a16="http://schemas.microsoft.com/office/drawing/2014/main" id="{0714C54F-A25C-4797-A019-CC78E0413DE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02146125-F5B7-41B5-9AE6-44852CB7BB08}"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a:extLst>
              <a:ext uri="{FF2B5EF4-FFF2-40B4-BE49-F238E27FC236}">
                <a16:creationId xmlns:a16="http://schemas.microsoft.com/office/drawing/2014/main" id="{1BC7F571-C194-4371-A0A9-B076AAA05D04}"/>
              </a:ext>
            </a:extLst>
          </p:cNvPr>
          <p:cNvSpPr>
            <a:spLocks noGrp="1" noRot="1" noChangeAspect="1" noChangeArrowheads="1" noTextEdit="1"/>
          </p:cNvSpPr>
          <p:nvPr>
            <p:ph type="sldImg"/>
          </p:nvPr>
        </p:nvSpPr>
        <p:spPr>
          <a:ln/>
        </p:spPr>
      </p:sp>
      <p:sp>
        <p:nvSpPr>
          <p:cNvPr id="32770" name="Notes Placeholder 2">
            <a:extLst>
              <a:ext uri="{FF2B5EF4-FFF2-40B4-BE49-F238E27FC236}">
                <a16:creationId xmlns:a16="http://schemas.microsoft.com/office/drawing/2014/main" id="{E4EABCE7-9B8E-496F-A40A-5998F618822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a:cs typeface="Times New Roman"/>
              </a:rPr>
              <a:t>We now look at the multiprocessor scheduling problem in which processes need to be allocated to two or more CPU cores. We will look at two types of scheduling strategies, partitioned and global scheduling.</a:t>
            </a:r>
          </a:p>
          <a:p>
            <a:endParaRPr lang="en-US" altLang="en-US" dirty="0">
              <a:cs typeface="Times New Roman"/>
            </a:endParaRPr>
          </a:p>
          <a:p>
            <a:r>
              <a:rPr lang="en-US" altLang="en-US">
                <a:latin typeface="Times New Roman"/>
                <a:cs typeface="Times New Roman"/>
              </a:rPr>
              <a:t>For this section, we assume that a single process cannot execute in parallel on two CPU cores at the same time. However, it is possible that it executes on different CPU cores at different times. For example, it may start executing on core 1 and at a later time be context switched to execute on core 2.</a:t>
            </a:r>
            <a:endParaRPr lang="en-US" altLang="en-US" dirty="0">
              <a:cs typeface="Times New Roman"/>
            </a:endParaRPr>
          </a:p>
        </p:txBody>
      </p:sp>
      <p:sp>
        <p:nvSpPr>
          <p:cNvPr id="32771" name="Slide Number Placeholder 3">
            <a:extLst>
              <a:ext uri="{FF2B5EF4-FFF2-40B4-BE49-F238E27FC236}">
                <a16:creationId xmlns:a16="http://schemas.microsoft.com/office/drawing/2014/main" id="{FC4B20E9-B178-4714-84C0-6A1AD46E27A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6EED99AF-39D9-4C08-934B-091A974D0F8F}"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Tree>
    <p:extLst>
      <p:ext uri="{BB962C8B-B14F-4D97-AF65-F5344CB8AC3E}">
        <p14:creationId xmlns:p14="http://schemas.microsoft.com/office/powerpoint/2010/main" val="7918333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cs typeface="Calibri"/>
              </a:rPr>
              <a:t>This is the simplest mechanism to extend single-core CPU scheduling to multi-core systems.</a:t>
            </a:r>
          </a:p>
          <a:p>
            <a:endParaRPr lang="en-US" dirty="0">
              <a:latin typeface="Calibri"/>
              <a:cs typeface="Calibri"/>
            </a:endParaRPr>
          </a:p>
          <a:p>
            <a:r>
              <a:rPr lang="en-US">
                <a:latin typeface="Calibri"/>
                <a:cs typeface="Calibri"/>
              </a:rPr>
              <a:t>There are one or more dedicated ready queues per CPU core (queues are specific to cores), and different uniprocessor scheduling algorithms can be used for different cores. Mapping of processes to cores is done at process creation time.</a:t>
            </a:r>
          </a:p>
          <a:p>
            <a:endParaRPr lang="en-US" dirty="0">
              <a:latin typeface="Calibri"/>
              <a:cs typeface="Calibri"/>
            </a:endParaRPr>
          </a:p>
          <a:p>
            <a:r>
              <a:rPr lang="en-US">
                <a:latin typeface="Calibri"/>
                <a:cs typeface="Calibri"/>
              </a:rPr>
              <a:t>What would be the main challenge in such a simple extension of uniprocessor scheduling to multiprocessors?</a:t>
            </a:r>
            <a:endParaRPr lang="en-US" dirty="0">
              <a:latin typeface="Calibri"/>
              <a:cs typeface="Calibri"/>
            </a:endParaRPr>
          </a:p>
        </p:txBody>
      </p:sp>
      <p:sp>
        <p:nvSpPr>
          <p:cNvPr id="4" name="Slide Number Placeholder 3"/>
          <p:cNvSpPr>
            <a:spLocks noGrp="1"/>
          </p:cNvSpPr>
          <p:nvPr>
            <p:ph type="sldNum" sz="quarter" idx="5"/>
          </p:nvPr>
        </p:nvSpPr>
        <p:spPr/>
        <p:txBody>
          <a:bodyPr/>
          <a:lstStyle/>
          <a:p>
            <a:fld id="{078A6003-6A91-4890-BF68-D3EBD372AE99}" type="slidenum">
              <a:rPr lang="en-US" altLang="en-US"/>
              <a:pPr/>
              <a:t>31</a:t>
            </a:fld>
            <a:endParaRPr lang="en-US" altLang="en-US"/>
          </a:p>
        </p:txBody>
      </p:sp>
    </p:spTree>
    <p:extLst>
      <p:ext uri="{BB962C8B-B14F-4D97-AF65-F5344CB8AC3E}">
        <p14:creationId xmlns:p14="http://schemas.microsoft.com/office/powerpoint/2010/main" val="20387285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cs typeface="Calibri"/>
              </a:rPr>
              <a:t>Allocating processes to cores is a challenging problem. Ideally, some sort of load balancing strategy must be employed so that all cores are equally utilized. This will improve overall system and process performance (turnaround time, throughput, etc.). An unbalanced distribution may lead to scenarios in which one core is idling while the other core is overloaded with several processes waiting/ready to execute. This can worsen the performance metrics on the overloaded core.</a:t>
            </a:r>
          </a:p>
          <a:p>
            <a:endParaRPr lang="en-US" dirty="0">
              <a:latin typeface="Calibri"/>
              <a:cs typeface="Calibri"/>
            </a:endParaRPr>
          </a:p>
          <a:p>
            <a:r>
              <a:rPr lang="en-US">
                <a:latin typeface="Calibri"/>
                <a:cs typeface="Calibri"/>
              </a:rPr>
              <a:t>However, optimal allocation of processes to core is not feasible, unless P=NP. This is a NP-Hard problem very similar to the well-known knapsack problem, in which items with weights (processes with CPU bursts) need to be allocated to a set of knapsacks of a certain fixed capacity (cores operating at a fixed frequency).</a:t>
            </a:r>
            <a:endParaRPr lang="en-US" dirty="0">
              <a:latin typeface="Calibri"/>
              <a:cs typeface="Calibri"/>
            </a:endParaRPr>
          </a:p>
          <a:p>
            <a:endParaRPr lang="en-US" dirty="0">
              <a:latin typeface="Calibri"/>
              <a:cs typeface="Calibri"/>
            </a:endParaRPr>
          </a:p>
          <a:p>
            <a:r>
              <a:rPr lang="en-US">
                <a:latin typeface="Calibri"/>
                <a:cs typeface="Calibri"/>
              </a:rPr>
              <a:t>Heuristics could be used to perform this allocation provided CPU burst lengths are known in advance. For example, best-fit could try to allocate a process to a core that is least backlogged (total pending execution time on the core) among all the cores.</a:t>
            </a:r>
            <a:endParaRPr lang="en-US" dirty="0">
              <a:latin typeface="Calibri"/>
              <a:cs typeface="Calibri"/>
            </a:endParaRPr>
          </a:p>
          <a:p>
            <a:endParaRPr lang="en-US" dirty="0">
              <a:latin typeface="Calibri"/>
              <a:cs typeface="Calibri"/>
            </a:endParaRPr>
          </a:p>
        </p:txBody>
      </p:sp>
      <p:sp>
        <p:nvSpPr>
          <p:cNvPr id="4" name="Slide Number Placeholder 3"/>
          <p:cNvSpPr>
            <a:spLocks noGrp="1"/>
          </p:cNvSpPr>
          <p:nvPr>
            <p:ph type="sldNum" sz="quarter" idx="5"/>
          </p:nvPr>
        </p:nvSpPr>
        <p:spPr/>
        <p:txBody>
          <a:bodyPr/>
          <a:lstStyle/>
          <a:p>
            <a:fld id="{078A6003-6A91-4890-BF68-D3EBD372AE99}" type="slidenum">
              <a:rPr lang="en-US" altLang="en-US"/>
              <a:pPr/>
              <a:t>32</a:t>
            </a:fld>
            <a:endParaRPr lang="en-US" altLang="en-US"/>
          </a:p>
        </p:txBody>
      </p:sp>
    </p:spTree>
    <p:extLst>
      <p:ext uri="{BB962C8B-B14F-4D97-AF65-F5344CB8AC3E}">
        <p14:creationId xmlns:p14="http://schemas.microsoft.com/office/powerpoint/2010/main" val="30224249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cs typeface="Calibri"/>
              </a:rPr>
              <a:t>A global set of ready queues are maintained. Queues are not assigned to specific CPU cores. When a core becomes idle, a process is selected from one of the queues and allocated to the core. The selection strategy is applied globally across all the cores.</a:t>
            </a:r>
            <a:endParaRPr lang="en-US" dirty="0">
              <a:latin typeface="Calibri"/>
              <a:cs typeface="Calibri"/>
            </a:endParaRPr>
          </a:p>
          <a:p>
            <a:endParaRPr lang="en-US" dirty="0">
              <a:latin typeface="Calibri"/>
              <a:cs typeface="Calibri"/>
            </a:endParaRPr>
          </a:p>
          <a:p>
            <a:r>
              <a:rPr lang="en-US">
                <a:latin typeface="Calibri"/>
                <a:cs typeface="Calibri"/>
              </a:rPr>
              <a:t>For example, if we use FCFS on a dual-core system, then there will be a single global ready queue. At any point in time, the two earliest arrived processes that are ready to execute will be executing on the two CPU cores.</a:t>
            </a:r>
          </a:p>
          <a:p>
            <a:endParaRPr lang="en-US" dirty="0">
              <a:latin typeface="Calibri"/>
              <a:cs typeface="Calibri"/>
            </a:endParaRPr>
          </a:p>
          <a:p>
            <a:r>
              <a:rPr lang="en-US">
                <a:latin typeface="Calibri"/>
                <a:cs typeface="Calibri"/>
              </a:rPr>
              <a:t>Since processes could have multiple CPU bursts or they could be preempted, it is possible that the same process is executing on different CPU cores at different times. However, our assumption is that the same process cannot be executing on two different CPU cores at the same time.   </a:t>
            </a:r>
            <a:endParaRPr lang="en-US">
              <a:cs typeface="Times New Roman"/>
            </a:endParaRPr>
          </a:p>
        </p:txBody>
      </p:sp>
      <p:sp>
        <p:nvSpPr>
          <p:cNvPr id="4" name="Slide Number Placeholder 3"/>
          <p:cNvSpPr>
            <a:spLocks noGrp="1"/>
          </p:cNvSpPr>
          <p:nvPr>
            <p:ph type="sldNum" sz="quarter" idx="5"/>
          </p:nvPr>
        </p:nvSpPr>
        <p:spPr/>
        <p:txBody>
          <a:bodyPr/>
          <a:lstStyle/>
          <a:p>
            <a:fld id="{078A6003-6A91-4890-BF68-D3EBD372AE99}" type="slidenum">
              <a:rPr lang="en-US" altLang="en-US"/>
              <a:pPr/>
              <a:t>33</a:t>
            </a:fld>
            <a:endParaRPr lang="en-US" altLang="en-US"/>
          </a:p>
        </p:txBody>
      </p:sp>
    </p:spTree>
    <p:extLst>
      <p:ext uri="{BB962C8B-B14F-4D97-AF65-F5344CB8AC3E}">
        <p14:creationId xmlns:p14="http://schemas.microsoft.com/office/powerpoint/2010/main" val="6143695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a:extLst>
              <a:ext uri="{FF2B5EF4-FFF2-40B4-BE49-F238E27FC236}">
                <a16:creationId xmlns:a16="http://schemas.microsoft.com/office/drawing/2014/main" id="{EF6DAF1E-6D60-488C-ADC8-FDBA08AFA030}"/>
              </a:ext>
            </a:extLst>
          </p:cNvPr>
          <p:cNvSpPr>
            <a:spLocks noGrp="1" noRot="1" noChangeAspect="1" noChangeArrowheads="1" noTextEdit="1"/>
          </p:cNvSpPr>
          <p:nvPr>
            <p:ph type="sldImg"/>
          </p:nvPr>
        </p:nvSpPr>
        <p:spPr>
          <a:ln/>
        </p:spPr>
      </p:sp>
      <p:sp>
        <p:nvSpPr>
          <p:cNvPr id="45058" name="Notes Placeholder 2">
            <a:extLst>
              <a:ext uri="{FF2B5EF4-FFF2-40B4-BE49-F238E27FC236}">
                <a16:creationId xmlns:a16="http://schemas.microsoft.com/office/drawing/2014/main" id="{97F17D54-1BB4-498B-A6F5-EC9F5226C69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a:cs typeface="Times New Roman"/>
              </a:rPr>
              <a:t>Preemptive shortest job first applied to the case when we have two CPU cores. The example is the same as the one used for uniprocessor scheduling. </a:t>
            </a:r>
          </a:p>
          <a:p>
            <a:endParaRPr lang="en-US" altLang="en-US" dirty="0">
              <a:cs typeface="Times New Roman"/>
            </a:endParaRPr>
          </a:p>
          <a:p>
            <a:r>
              <a:rPr lang="en-US" altLang="en-US">
                <a:latin typeface="Times New Roman"/>
                <a:cs typeface="Times New Roman"/>
              </a:rPr>
              <a:t>Compare the waiting times obtained here with the ones for the uniprocessor system.</a:t>
            </a:r>
            <a:endParaRPr lang="en-US" altLang="en-US" dirty="0">
              <a:latin typeface="Times New Roman"/>
              <a:cs typeface="Times New Roman"/>
            </a:endParaRPr>
          </a:p>
        </p:txBody>
      </p:sp>
      <p:sp>
        <p:nvSpPr>
          <p:cNvPr id="45059" name="Slide Number Placeholder 3">
            <a:extLst>
              <a:ext uri="{FF2B5EF4-FFF2-40B4-BE49-F238E27FC236}">
                <a16:creationId xmlns:a16="http://schemas.microsoft.com/office/drawing/2014/main" id="{7CD67986-5171-4FAA-ADCC-DC77FC513CC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EE6B059D-F45B-49B5-8E44-8B949CE468E5}" type="slidenum">
              <a:rPr lang="en-US" altLang="en-US">
                <a:latin typeface="Times New Roman" panose="02020603050405020304" pitchFamily="18" charset="0"/>
              </a:rPr>
              <a:pPr/>
              <a:t>35</a:t>
            </a:fld>
            <a:endParaRPr lang="en-US" altLang="en-US">
              <a:latin typeface="Times New Roman" panose="02020603050405020304" pitchFamily="18" charset="0"/>
            </a:endParaRPr>
          </a:p>
        </p:txBody>
      </p:sp>
    </p:spTree>
    <p:extLst>
      <p:ext uri="{BB962C8B-B14F-4D97-AF65-F5344CB8AC3E}">
        <p14:creationId xmlns:p14="http://schemas.microsoft.com/office/powerpoint/2010/main" val="15398202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a:extLst>
              <a:ext uri="{FF2B5EF4-FFF2-40B4-BE49-F238E27FC236}">
                <a16:creationId xmlns:a16="http://schemas.microsoft.com/office/drawing/2014/main" id="{53ACEC51-F6F5-462B-BBAF-40886C0505B5}"/>
              </a:ext>
            </a:extLst>
          </p:cNvPr>
          <p:cNvSpPr>
            <a:spLocks noGrp="1" noRot="1" noChangeAspect="1" noChangeArrowheads="1" noTextEdit="1"/>
          </p:cNvSpPr>
          <p:nvPr>
            <p:ph type="sldImg"/>
          </p:nvPr>
        </p:nvSpPr>
        <p:spPr>
          <a:ln/>
        </p:spPr>
      </p:sp>
      <p:sp>
        <p:nvSpPr>
          <p:cNvPr id="51202" name="Notes Placeholder 2">
            <a:extLst>
              <a:ext uri="{FF2B5EF4-FFF2-40B4-BE49-F238E27FC236}">
                <a16:creationId xmlns:a16="http://schemas.microsoft.com/office/drawing/2014/main" id="{D426F844-5014-4284-AF26-BADBC39E5E8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Times New Roman"/>
                <a:cs typeface="Times New Roman"/>
              </a:rPr>
              <a:t> Round robin scheduling applied to the case when we have two CPU cores. The example is the same as the one used for uniprocessor scheduling. </a:t>
            </a:r>
            <a:endParaRPr lang="en-US" dirty="0">
              <a:latin typeface="Times New Roman"/>
              <a:cs typeface="Times New Roman"/>
            </a:endParaRPr>
          </a:p>
          <a:p>
            <a:endParaRPr lang="en-US" dirty="0"/>
          </a:p>
          <a:p>
            <a:r>
              <a:rPr lang="en-US"/>
              <a:t>Compare the waiting times obtained here with the ones for the uniprocessor system.</a:t>
            </a:r>
          </a:p>
        </p:txBody>
      </p:sp>
      <p:sp>
        <p:nvSpPr>
          <p:cNvPr id="51203" name="Slide Number Placeholder 3">
            <a:extLst>
              <a:ext uri="{FF2B5EF4-FFF2-40B4-BE49-F238E27FC236}">
                <a16:creationId xmlns:a16="http://schemas.microsoft.com/office/drawing/2014/main" id="{4662E890-6F8A-4AB6-A096-3FA97F9B2B3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Helvetica" panose="020B0604020202020204" pitchFamily="34" charset="0"/>
              </a:defRPr>
            </a:lvl1pPr>
            <a:lvl2pPr marL="742950" indent="-285750" defTabSz="931863">
              <a:defRPr>
                <a:solidFill>
                  <a:schemeClr val="tx1"/>
                </a:solidFill>
                <a:latin typeface="Helvetica" panose="020B0604020202020204" pitchFamily="34" charset="0"/>
              </a:defRPr>
            </a:lvl2pPr>
            <a:lvl3pPr marL="1143000" indent="-228600" defTabSz="931863">
              <a:defRPr>
                <a:solidFill>
                  <a:schemeClr val="tx1"/>
                </a:solidFill>
                <a:latin typeface="Helvetica" panose="020B0604020202020204" pitchFamily="34" charset="0"/>
              </a:defRPr>
            </a:lvl3pPr>
            <a:lvl4pPr marL="1600200" indent="-228600" defTabSz="931863">
              <a:defRPr>
                <a:solidFill>
                  <a:schemeClr val="tx1"/>
                </a:solidFill>
                <a:latin typeface="Helvetica" panose="020B0604020202020204" pitchFamily="34" charset="0"/>
              </a:defRPr>
            </a:lvl4pPr>
            <a:lvl5pPr marL="2057400" indent="-228600" defTabSz="931863">
              <a:defRPr>
                <a:solidFill>
                  <a:schemeClr val="tx1"/>
                </a:solidFill>
                <a:latin typeface="Helvetica" panose="020B0604020202020204" pitchFamily="34" charset="0"/>
              </a:defRPr>
            </a:lvl5pPr>
            <a:lvl6pPr marL="2514600" indent="-228600" defTabSz="931863" eaLnBrk="0" fontAlgn="base" hangingPunct="0">
              <a:spcBef>
                <a:spcPct val="0"/>
              </a:spcBef>
              <a:spcAft>
                <a:spcPct val="0"/>
              </a:spcAft>
              <a:defRPr>
                <a:solidFill>
                  <a:schemeClr val="tx1"/>
                </a:solidFill>
                <a:latin typeface="Helvetica" panose="020B0604020202020204" pitchFamily="34" charset="0"/>
              </a:defRPr>
            </a:lvl6pPr>
            <a:lvl7pPr marL="2971800" indent="-228600" defTabSz="931863" eaLnBrk="0" fontAlgn="base" hangingPunct="0">
              <a:spcBef>
                <a:spcPct val="0"/>
              </a:spcBef>
              <a:spcAft>
                <a:spcPct val="0"/>
              </a:spcAft>
              <a:defRPr>
                <a:solidFill>
                  <a:schemeClr val="tx1"/>
                </a:solidFill>
                <a:latin typeface="Helvetica" panose="020B0604020202020204" pitchFamily="34" charset="0"/>
              </a:defRPr>
            </a:lvl7pPr>
            <a:lvl8pPr marL="3429000" indent="-228600" defTabSz="931863" eaLnBrk="0" fontAlgn="base" hangingPunct="0">
              <a:spcBef>
                <a:spcPct val="0"/>
              </a:spcBef>
              <a:spcAft>
                <a:spcPct val="0"/>
              </a:spcAft>
              <a:defRPr>
                <a:solidFill>
                  <a:schemeClr val="tx1"/>
                </a:solidFill>
                <a:latin typeface="Helvetica" panose="020B0604020202020204" pitchFamily="34" charset="0"/>
              </a:defRPr>
            </a:lvl8pPr>
            <a:lvl9pPr marL="3886200" indent="-228600" defTabSz="931863" eaLnBrk="0" fontAlgn="base" hangingPunct="0">
              <a:spcBef>
                <a:spcPct val="0"/>
              </a:spcBef>
              <a:spcAft>
                <a:spcPct val="0"/>
              </a:spcAft>
              <a:defRPr>
                <a:solidFill>
                  <a:schemeClr val="tx1"/>
                </a:solidFill>
                <a:latin typeface="Helvetica" panose="020B0604020202020204" pitchFamily="34" charset="0"/>
              </a:defRPr>
            </a:lvl9pPr>
          </a:lstStyle>
          <a:p>
            <a:fld id="{25A90363-9B11-42F6-BFEA-3E7B865C22E5}" type="slidenum">
              <a:rPr lang="en-US" altLang="en-US">
                <a:latin typeface="Times New Roman" panose="02020603050405020304" pitchFamily="18" charset="0"/>
              </a:rPr>
              <a:pPr/>
              <a:t>36</a:t>
            </a:fld>
            <a:endParaRPr lang="en-US" altLang="en-US">
              <a:latin typeface="Times New Roman" panose="02020603050405020304" pitchFamily="18" charset="0"/>
            </a:endParaRPr>
          </a:p>
        </p:txBody>
      </p:sp>
    </p:spTree>
    <p:extLst>
      <p:ext uri="{BB962C8B-B14F-4D97-AF65-F5344CB8AC3E}">
        <p14:creationId xmlns:p14="http://schemas.microsoft.com/office/powerpoint/2010/main" val="28707363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Times New Roman"/>
              </a:rPr>
              <a:t>The scheduler must use a single clock so that the cores can be synchronized. Notion of time is global across all cores.</a:t>
            </a:r>
          </a:p>
          <a:p>
            <a:endParaRPr lang="en-US" dirty="0">
              <a:cs typeface="Times New Roman"/>
            </a:endParaRPr>
          </a:p>
          <a:p>
            <a:r>
              <a:rPr lang="en-US" dirty="0">
                <a:cs typeface="Times New Roman"/>
              </a:rPr>
              <a:t>Selection of next process to run may involve going through several processes in the ready queue, particularly when there are more than one idle cores.</a:t>
            </a:r>
          </a:p>
          <a:p>
            <a:endParaRPr lang="en-US" dirty="0">
              <a:cs typeface="Times New Roman"/>
            </a:endParaRPr>
          </a:p>
          <a:p>
            <a:r>
              <a:rPr lang="en-US" dirty="0">
                <a:cs typeface="Times New Roman"/>
              </a:rPr>
              <a:t>When a process context switches from one core to another, it loses access to the core’s private cache. This means that data must now be migrated to the other core’s private cache, which can be time consuming. Or the process has to start with a cold private cache in the other core, which can significantly increase its execution time. Either way, migration has overhead, which is not applicable in </a:t>
            </a:r>
            <a:r>
              <a:rPr lang="en-US">
                <a:cs typeface="Times New Roman"/>
              </a:rPr>
              <a:t>partitioned scheduling.</a:t>
            </a:r>
            <a:endParaRPr lang="en-US" dirty="0">
              <a:cs typeface="Times New Roman"/>
            </a:endParaRPr>
          </a:p>
        </p:txBody>
      </p:sp>
      <p:sp>
        <p:nvSpPr>
          <p:cNvPr id="4" name="Slide Number Placeholder 3"/>
          <p:cNvSpPr>
            <a:spLocks noGrp="1"/>
          </p:cNvSpPr>
          <p:nvPr>
            <p:ph type="sldNum" sz="quarter" idx="5"/>
          </p:nvPr>
        </p:nvSpPr>
        <p:spPr/>
        <p:txBody>
          <a:bodyPr/>
          <a:lstStyle/>
          <a:p>
            <a:fld id="{078A6003-6A91-4890-BF68-D3EBD372AE99}" type="slidenum">
              <a:rPr lang="en-US" altLang="en-US"/>
              <a:pPr/>
              <a:t>37</a:t>
            </a:fld>
            <a:endParaRPr lang="en-US" altLang="en-US"/>
          </a:p>
        </p:txBody>
      </p:sp>
    </p:spTree>
    <p:extLst>
      <p:ext uri="{BB962C8B-B14F-4D97-AF65-F5344CB8AC3E}">
        <p14:creationId xmlns:p14="http://schemas.microsoft.com/office/powerpoint/2010/main" val="16867033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a:extLst>
              <a:ext uri="{FF2B5EF4-FFF2-40B4-BE49-F238E27FC236}">
                <a16:creationId xmlns:a16="http://schemas.microsoft.com/office/drawing/2014/main" id="{A270FB84-E9A2-4B46-BE45-74999B437F19}"/>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2821941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9B8A6866-D935-4D6E-99D7-96EDCF4D283D}"/>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584296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5D3259EA-639D-4B33-95D9-664ECC788E24}"/>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2680616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47750" y="1724025"/>
            <a:ext cx="34385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38675" y="1724025"/>
            <a:ext cx="34385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1CE59393-D917-4361-8D56-281B8FC8AE4B}"/>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102700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047A2F97-121A-4AFB-B4E5-E1909707F184}"/>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1489837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A965AE3A-B51C-4B05-860A-97EDACBF9B04}"/>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3866143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CCE74020-53D8-4E1F-8725-CDAC0F04DB1B}"/>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1834012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95ADD2AA-6E15-4A42-94A7-DE43E1915366}"/>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1386549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0C79F621-32CD-40ED-B7EA-E0417C3405BF}"/>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3060319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20A6ADE9-6852-4C5A-81A1-0CFA994C0CD6}"/>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1493910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19838" y="495300"/>
            <a:ext cx="1757362" cy="5343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47750" y="495300"/>
            <a:ext cx="5119688" cy="5343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42FC34B8-5843-4E2D-AD4B-802518D4670F}"/>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2622277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a:extLst>
              <a:ext uri="{FF2B5EF4-FFF2-40B4-BE49-F238E27FC236}">
                <a16:creationId xmlns:a16="http://schemas.microsoft.com/office/drawing/2014/main" id="{6A15888A-9C5C-4501-BFFC-FD4A38458966}"/>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lvl1pPr>
              <a:defRPr>
                <a:solidFill>
                  <a:schemeClr val="tx1"/>
                </a:solidFill>
                <a:latin typeface="Helvetica" pitchFamily="2" charset="0"/>
              </a:defRPr>
            </a:lvl1pPr>
            <a:lvl2pPr marL="742950" indent="-285750">
              <a:defRPr>
                <a:solidFill>
                  <a:schemeClr val="tx1"/>
                </a:solidFill>
                <a:latin typeface="Helvetica" pitchFamily="2" charset="0"/>
              </a:defRPr>
            </a:lvl2pPr>
            <a:lvl3pPr marL="1143000" indent="-228600">
              <a:defRPr>
                <a:solidFill>
                  <a:schemeClr val="tx1"/>
                </a:solidFill>
                <a:latin typeface="Helvetica" pitchFamily="2" charset="0"/>
              </a:defRPr>
            </a:lvl3pPr>
            <a:lvl4pPr marL="1600200" indent="-228600">
              <a:defRPr>
                <a:solidFill>
                  <a:schemeClr val="tx1"/>
                </a:solidFill>
                <a:latin typeface="Helvetica" pitchFamily="2" charset="0"/>
              </a:defRPr>
            </a:lvl4pPr>
            <a:lvl5pPr marL="2057400" indent="-228600">
              <a:defRPr>
                <a:solidFill>
                  <a:schemeClr val="tx1"/>
                </a:solidFill>
                <a:latin typeface="Helvetica" pitchFamily="2" charset="0"/>
              </a:defRPr>
            </a:lvl5pPr>
            <a:lvl6pPr marL="2514600" indent="-228600" eaLnBrk="0" fontAlgn="base" hangingPunct="0">
              <a:spcBef>
                <a:spcPct val="0"/>
              </a:spcBef>
              <a:spcAft>
                <a:spcPct val="0"/>
              </a:spcAft>
              <a:defRPr>
                <a:solidFill>
                  <a:schemeClr val="tx1"/>
                </a:solidFill>
                <a:latin typeface="Helvetica" pitchFamily="2" charset="0"/>
              </a:defRPr>
            </a:lvl6pPr>
            <a:lvl7pPr marL="2971800" indent="-228600" eaLnBrk="0" fontAlgn="base" hangingPunct="0">
              <a:spcBef>
                <a:spcPct val="0"/>
              </a:spcBef>
              <a:spcAft>
                <a:spcPct val="0"/>
              </a:spcAft>
              <a:defRPr>
                <a:solidFill>
                  <a:schemeClr val="tx1"/>
                </a:solidFill>
                <a:latin typeface="Helvetica" pitchFamily="2" charset="0"/>
              </a:defRPr>
            </a:lvl7pPr>
            <a:lvl8pPr marL="3429000" indent="-228600" eaLnBrk="0" fontAlgn="base" hangingPunct="0">
              <a:spcBef>
                <a:spcPct val="0"/>
              </a:spcBef>
              <a:spcAft>
                <a:spcPct val="0"/>
              </a:spcAft>
              <a:defRPr>
                <a:solidFill>
                  <a:schemeClr val="tx1"/>
                </a:solidFill>
                <a:latin typeface="Helvetica" pitchFamily="2" charset="0"/>
              </a:defRPr>
            </a:lvl8pPr>
            <a:lvl9pPr marL="3886200" indent="-228600" eaLnBrk="0" fontAlgn="base" hangingPunct="0">
              <a:spcBef>
                <a:spcPct val="0"/>
              </a:spcBef>
              <a:spcAft>
                <a:spcPct val="0"/>
              </a:spcAft>
              <a:defRPr>
                <a:solidFill>
                  <a:schemeClr val="tx1"/>
                </a:solidFill>
                <a:latin typeface="Helvetica" pitchFamily="2" charset="0"/>
              </a:defRPr>
            </a:lvl9pPr>
          </a:lstStyle>
          <a:p>
            <a:pPr algn="ctr">
              <a:defRPr/>
            </a:pPr>
            <a:endParaRPr lang="en-US" altLang="en-US"/>
          </a:p>
        </p:txBody>
      </p:sp>
      <p:sp>
        <p:nvSpPr>
          <p:cNvPr id="1027" name="Rectangle 2">
            <a:extLst>
              <a:ext uri="{FF2B5EF4-FFF2-40B4-BE49-F238E27FC236}">
                <a16:creationId xmlns:a16="http://schemas.microsoft.com/office/drawing/2014/main" id="{8C1D83E0-B24A-4350-B099-070ECA88ED8C}"/>
              </a:ext>
            </a:extLst>
          </p:cNvPr>
          <p:cNvSpPr>
            <a:spLocks noGrp="1" noChangeArrowheads="1"/>
          </p:cNvSpPr>
          <p:nvPr>
            <p:ph type="title"/>
          </p:nvPr>
        </p:nvSpPr>
        <p:spPr bwMode="auto">
          <a:xfrm>
            <a:off x="1162050" y="495300"/>
            <a:ext cx="688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3">
            <a:extLst>
              <a:ext uri="{FF2B5EF4-FFF2-40B4-BE49-F238E27FC236}">
                <a16:creationId xmlns:a16="http://schemas.microsoft.com/office/drawing/2014/main" id="{DBE045AF-BCC1-44BF-972D-2CD6CC489EF8}"/>
              </a:ext>
            </a:extLst>
          </p:cNvPr>
          <p:cNvSpPr>
            <a:spLocks noGrp="1" noChangeArrowheads="1"/>
          </p:cNvSpPr>
          <p:nvPr>
            <p:ph type="body" idx="1"/>
          </p:nvPr>
        </p:nvSpPr>
        <p:spPr bwMode="auto">
          <a:xfrm>
            <a:off x="1047750" y="1724025"/>
            <a:ext cx="702945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2F4047F8-8A45-483E-9684-064E21944A98}"/>
              </a:ext>
            </a:extLst>
          </p:cNvPr>
          <p:cNvSpPr>
            <a:spLocks noGrp="1" noChangeArrowheads="1"/>
          </p:cNvSpPr>
          <p:nvPr>
            <p:ph type="ftr" sz="quarter" idx="3"/>
          </p:nvPr>
        </p:nvSpPr>
        <p:spPr bwMode="auto">
          <a:xfrm>
            <a:off x="69850" y="6607175"/>
            <a:ext cx="3530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000">
                <a:latin typeface="Helvetica" pitchFamily="34" charset="0"/>
              </a:defRPr>
            </a:lvl1pPr>
          </a:lstStyle>
          <a:p>
            <a:pPr>
              <a:defRPr/>
            </a:pPr>
            <a:r>
              <a:rPr lang="en-US"/>
              <a:t>Operating Systems</a:t>
            </a:r>
          </a:p>
          <a:p>
            <a:pPr>
              <a:defRPr/>
            </a:pPr>
            <a:endParaRPr lang="en-US"/>
          </a:p>
        </p:txBody>
      </p:sp>
      <p:sp>
        <p:nvSpPr>
          <p:cNvPr id="1030" name="Rectangle 8">
            <a:extLst>
              <a:ext uri="{FF2B5EF4-FFF2-40B4-BE49-F238E27FC236}">
                <a16:creationId xmlns:a16="http://schemas.microsoft.com/office/drawing/2014/main" id="{CDCBB2AA-9BA1-4B5C-B295-4C39C6AAA0BC}"/>
              </a:ext>
            </a:extLst>
          </p:cNvPr>
          <p:cNvSpPr>
            <a:spLocks noChangeArrowheads="1"/>
          </p:cNvSpPr>
          <p:nvPr/>
        </p:nvSpPr>
        <p:spPr bwMode="auto">
          <a:xfrm>
            <a:off x="7131050" y="6567488"/>
            <a:ext cx="1760538" cy="290512"/>
          </a:xfrm>
          <a:prstGeom prst="rect">
            <a:avLst/>
          </a:prstGeom>
          <a:noFill/>
          <a:ln>
            <a:noFill/>
          </a:ln>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lgn="ctr">
              <a:defRPr/>
            </a:pPr>
            <a:r>
              <a:rPr lang="en-US" altLang="en-US" sz="1000"/>
              <a:t>Part 3 Process Scheduling</a:t>
            </a:r>
            <a:r>
              <a:rPr lang="en-US" altLang="en-US" sz="1400">
                <a:latin typeface="Times New Roman" pitchFamily="18" charset="0"/>
              </a:rPr>
              <a:t> </a:t>
            </a:r>
          </a:p>
        </p:txBody>
      </p:sp>
      <p:sp>
        <p:nvSpPr>
          <p:cNvPr id="1031" name="AutoShape 9">
            <a:extLst>
              <a:ext uri="{FF2B5EF4-FFF2-40B4-BE49-F238E27FC236}">
                <a16:creationId xmlns:a16="http://schemas.microsoft.com/office/drawing/2014/main" id="{68662C60-F362-4325-8655-242AA1354116}"/>
              </a:ext>
            </a:extLst>
          </p:cNvPr>
          <p:cNvSpPr>
            <a:spLocks noChangeArrowheads="1"/>
          </p:cNvSpPr>
          <p:nvPr/>
        </p:nvSpPr>
        <p:spPr bwMode="auto">
          <a:xfrm>
            <a:off x="120650" y="95250"/>
            <a:ext cx="8909050" cy="6448425"/>
          </a:xfrm>
          <a:prstGeom prst="roundRect">
            <a:avLst>
              <a:gd name="adj" fmla="val 17278"/>
            </a:avLst>
          </a:prstGeom>
          <a:noFill/>
          <a:ln w="9525">
            <a:solidFill>
              <a:schemeClr val="tx1"/>
            </a:solidFill>
            <a:round/>
            <a:headEnd/>
            <a:tailEnd/>
          </a:ln>
        </p:spPr>
        <p:txBody>
          <a:bodyPr wrap="none" anchor="ct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lgn="ctr">
              <a:defRPr/>
            </a:pPr>
            <a:endParaRPr lang="en-US" altLang="en-US"/>
          </a:p>
        </p:txBody>
      </p:sp>
      <p:sp>
        <p:nvSpPr>
          <p:cNvPr id="1032" name="Text Box 10">
            <a:extLst>
              <a:ext uri="{FF2B5EF4-FFF2-40B4-BE49-F238E27FC236}">
                <a16:creationId xmlns:a16="http://schemas.microsoft.com/office/drawing/2014/main" id="{B516B234-1767-4EA6-8F11-BF9547E2D727}"/>
              </a:ext>
            </a:extLst>
          </p:cNvPr>
          <p:cNvSpPr txBox="1">
            <a:spLocks noChangeArrowheads="1"/>
          </p:cNvSpPr>
          <p:nvPr/>
        </p:nvSpPr>
        <p:spPr bwMode="auto">
          <a:xfrm>
            <a:off x="3935413" y="6475413"/>
            <a:ext cx="817562" cy="460375"/>
          </a:xfrm>
          <a:prstGeom prst="rect">
            <a:avLst/>
          </a:prstGeom>
          <a:noFill/>
          <a:ln>
            <a:noFill/>
          </a:ln>
        </p:spPr>
        <p:txBody>
          <a:bodyPr wrap="none" anchor="ctr">
            <a:spAutoFit/>
          </a:bodyPr>
          <a:lstStyle>
            <a:lvl1pPr>
              <a:defRPr>
                <a:solidFill>
                  <a:schemeClr val="tx1"/>
                </a:solidFill>
                <a:latin typeface="Helvetica" panose="020B0604020202020204" pitchFamily="34" charset="0"/>
              </a:defRPr>
            </a:lvl1pPr>
            <a:lvl2pPr marL="742950" indent="-285750">
              <a:defRPr>
                <a:solidFill>
                  <a:schemeClr val="tx1"/>
                </a:solidFill>
                <a:latin typeface="Helvetica" panose="020B0604020202020204" pitchFamily="34" charset="0"/>
              </a:defRPr>
            </a:lvl2pPr>
            <a:lvl3pPr marL="1143000" indent="-228600">
              <a:defRPr>
                <a:solidFill>
                  <a:schemeClr val="tx1"/>
                </a:solidFill>
                <a:latin typeface="Helvetica" panose="020B0604020202020204" pitchFamily="34" charset="0"/>
              </a:defRPr>
            </a:lvl3pPr>
            <a:lvl4pPr marL="1600200" indent="-228600">
              <a:defRPr>
                <a:solidFill>
                  <a:schemeClr val="tx1"/>
                </a:solidFill>
                <a:latin typeface="Helvetica" panose="020B0604020202020204" pitchFamily="34" charset="0"/>
              </a:defRPr>
            </a:lvl4pPr>
            <a:lvl5pPr marL="2057400" indent="-228600">
              <a:defRPr>
                <a:solidFill>
                  <a:schemeClr val="tx1"/>
                </a:solidFill>
                <a:latin typeface="Helvetica" panose="020B0604020202020204" pitchFamily="34" charset="0"/>
              </a:defRPr>
            </a:lvl5pPr>
            <a:lvl6pPr marL="2514600" indent="-228600" eaLnBrk="0" fontAlgn="base" hangingPunct="0">
              <a:spcBef>
                <a:spcPct val="0"/>
              </a:spcBef>
              <a:spcAft>
                <a:spcPct val="0"/>
              </a:spcAft>
              <a:defRPr>
                <a:solidFill>
                  <a:schemeClr val="tx1"/>
                </a:solidFill>
                <a:latin typeface="Helvetica" panose="020B0604020202020204" pitchFamily="34" charset="0"/>
              </a:defRPr>
            </a:lvl6pPr>
            <a:lvl7pPr marL="2971800" indent="-228600" eaLnBrk="0" fontAlgn="base" hangingPunct="0">
              <a:spcBef>
                <a:spcPct val="0"/>
              </a:spcBef>
              <a:spcAft>
                <a:spcPct val="0"/>
              </a:spcAft>
              <a:defRPr>
                <a:solidFill>
                  <a:schemeClr val="tx1"/>
                </a:solidFill>
                <a:latin typeface="Helvetica" panose="020B0604020202020204" pitchFamily="34" charset="0"/>
              </a:defRPr>
            </a:lvl7pPr>
            <a:lvl8pPr marL="3429000" indent="-228600" eaLnBrk="0" fontAlgn="base" hangingPunct="0">
              <a:spcBef>
                <a:spcPct val="0"/>
              </a:spcBef>
              <a:spcAft>
                <a:spcPct val="0"/>
              </a:spcAft>
              <a:defRPr>
                <a:solidFill>
                  <a:schemeClr val="tx1"/>
                </a:solidFill>
                <a:latin typeface="Helvetica" panose="020B0604020202020204" pitchFamily="34" charset="0"/>
              </a:defRPr>
            </a:lvl8pPr>
            <a:lvl9pPr marL="3886200" indent="-228600" eaLnBrk="0" fontAlgn="base" hangingPunct="0">
              <a:spcBef>
                <a:spcPct val="0"/>
              </a:spcBef>
              <a:spcAft>
                <a:spcPct val="0"/>
              </a:spcAft>
              <a:defRPr>
                <a:solidFill>
                  <a:schemeClr val="tx1"/>
                </a:solidFill>
                <a:latin typeface="Helvetica" panose="020B0604020202020204" pitchFamily="34" charset="0"/>
              </a:defRPr>
            </a:lvl9pPr>
          </a:lstStyle>
          <a:p>
            <a:pPr algn="ctr">
              <a:spcBef>
                <a:spcPct val="50000"/>
              </a:spcBef>
            </a:pPr>
            <a:r>
              <a:rPr lang="en-US" altLang="en-US" sz="2400"/>
              <a:t>3.</a:t>
            </a:r>
            <a:fld id="{F4040154-D8E3-4EDE-8B37-CFCA943FE929}" type="slidenum">
              <a:rPr lang="en-US" altLang="en-US" sz="2400"/>
              <a:pPr algn="ctr">
                <a:spcBef>
                  <a:spcPct val="50000"/>
                </a:spcBef>
              </a:pPr>
              <a:t>‹#›</a:t>
            </a:fld>
            <a:endParaRPr lang="en-US" altLang="en-US" sz="2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3000" b="1">
          <a:solidFill>
            <a:schemeClr val="tx2"/>
          </a:solidFill>
          <a:latin typeface="+mj-lt"/>
          <a:ea typeface="+mj-ea"/>
          <a:cs typeface="+mj-cs"/>
        </a:defRPr>
      </a:lvl1pPr>
      <a:lvl2pPr algn="ctr" rtl="0" eaLnBrk="0" fontAlgn="base" hangingPunct="0">
        <a:spcBef>
          <a:spcPct val="0"/>
        </a:spcBef>
        <a:spcAft>
          <a:spcPct val="0"/>
        </a:spcAft>
        <a:defRPr sz="3000" b="1">
          <a:solidFill>
            <a:schemeClr val="tx2"/>
          </a:solidFill>
          <a:latin typeface="Helvetica" pitchFamily="34" charset="0"/>
        </a:defRPr>
      </a:lvl2pPr>
      <a:lvl3pPr algn="ctr" rtl="0" eaLnBrk="0" fontAlgn="base" hangingPunct="0">
        <a:spcBef>
          <a:spcPct val="0"/>
        </a:spcBef>
        <a:spcAft>
          <a:spcPct val="0"/>
        </a:spcAft>
        <a:defRPr sz="3000" b="1">
          <a:solidFill>
            <a:schemeClr val="tx2"/>
          </a:solidFill>
          <a:latin typeface="Helvetica" pitchFamily="34" charset="0"/>
        </a:defRPr>
      </a:lvl3pPr>
      <a:lvl4pPr algn="ctr" rtl="0" eaLnBrk="0" fontAlgn="base" hangingPunct="0">
        <a:spcBef>
          <a:spcPct val="0"/>
        </a:spcBef>
        <a:spcAft>
          <a:spcPct val="0"/>
        </a:spcAft>
        <a:defRPr sz="3000" b="1">
          <a:solidFill>
            <a:schemeClr val="tx2"/>
          </a:solidFill>
          <a:latin typeface="Helvetica" pitchFamily="34" charset="0"/>
        </a:defRPr>
      </a:lvl4pPr>
      <a:lvl5pPr algn="ctr" rtl="0" eaLnBrk="0" fontAlgn="base" hangingPunct="0">
        <a:spcBef>
          <a:spcPct val="0"/>
        </a:spcBef>
        <a:spcAft>
          <a:spcPct val="0"/>
        </a:spcAft>
        <a:defRPr sz="3000" b="1">
          <a:solidFill>
            <a:schemeClr val="tx2"/>
          </a:solidFill>
          <a:latin typeface="Helvetica" pitchFamily="34" charset="0"/>
        </a:defRPr>
      </a:lvl5pPr>
      <a:lvl6pPr marL="457200" algn="ctr" rtl="0" eaLnBrk="0" fontAlgn="base" hangingPunct="0">
        <a:spcBef>
          <a:spcPct val="0"/>
        </a:spcBef>
        <a:spcAft>
          <a:spcPct val="0"/>
        </a:spcAft>
        <a:defRPr sz="3000" b="1">
          <a:solidFill>
            <a:schemeClr val="tx2"/>
          </a:solidFill>
          <a:latin typeface="Helvetica" pitchFamily="34" charset="0"/>
        </a:defRPr>
      </a:lvl6pPr>
      <a:lvl7pPr marL="914400" algn="ctr" rtl="0" eaLnBrk="0" fontAlgn="base" hangingPunct="0">
        <a:spcBef>
          <a:spcPct val="0"/>
        </a:spcBef>
        <a:spcAft>
          <a:spcPct val="0"/>
        </a:spcAft>
        <a:defRPr sz="3000" b="1">
          <a:solidFill>
            <a:schemeClr val="tx2"/>
          </a:solidFill>
          <a:latin typeface="Helvetica" pitchFamily="34" charset="0"/>
        </a:defRPr>
      </a:lvl7pPr>
      <a:lvl8pPr marL="1371600" algn="ctr" rtl="0" eaLnBrk="0" fontAlgn="base" hangingPunct="0">
        <a:spcBef>
          <a:spcPct val="0"/>
        </a:spcBef>
        <a:spcAft>
          <a:spcPct val="0"/>
        </a:spcAft>
        <a:defRPr sz="3000" b="1">
          <a:solidFill>
            <a:schemeClr val="tx2"/>
          </a:solidFill>
          <a:latin typeface="Helvetica" pitchFamily="34" charset="0"/>
        </a:defRPr>
      </a:lvl8pPr>
      <a:lvl9pPr marL="1828800" algn="ctr" rtl="0" eaLnBrk="0" fontAlgn="base" hangingPunct="0">
        <a:spcBef>
          <a:spcPct val="0"/>
        </a:spcBef>
        <a:spcAft>
          <a:spcPct val="0"/>
        </a:spcAft>
        <a:defRPr sz="3000" b="1">
          <a:solidFill>
            <a:schemeClr val="tx2"/>
          </a:solidFill>
          <a:latin typeface="Helvetica" pitchFamily="34" charset="0"/>
        </a:defRPr>
      </a:lvl9pPr>
    </p:titleStyle>
    <p:body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i="1">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1/relationships/webextension" Target="../webextensions/webextension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1/relationships/webextension" Target="../webextensions/webextension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11/relationships/webextension" Target="../webextensions/webextension4.xm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11/relationships/webextension" Target="../webextensions/webextension5.xm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microsoft.com/office/2011/relationships/webextension" Target="../webextensions/webextension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microsoft.com/office/2011/relationships/webextension" Target="../webextensions/webextension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microsoft.com/office/2011/relationships/webextension" Target="../webextensions/webextension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microsoft.com/office/2011/relationships/webextension" Target="../webextensions/webextension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2E37C-D648-62AB-79DD-BE12C60273D7}"/>
              </a:ext>
            </a:extLst>
          </p:cNvPr>
          <p:cNvSpPr>
            <a:spLocks noGrp="1"/>
          </p:cNvSpPr>
          <p:nvPr>
            <p:ph type="title"/>
          </p:nvPr>
        </p:nvSpPr>
        <p:spPr/>
        <p:txBody>
          <a:bodyPr/>
          <a:lstStyle/>
          <a:p>
            <a:r>
              <a:rPr lang="en-US" dirty="0"/>
              <a:t>Course Overview</a:t>
            </a:r>
          </a:p>
        </p:txBody>
      </p:sp>
      <p:sp>
        <p:nvSpPr>
          <p:cNvPr id="4" name="Footer Placeholder 3">
            <a:extLst>
              <a:ext uri="{FF2B5EF4-FFF2-40B4-BE49-F238E27FC236}">
                <a16:creationId xmlns:a16="http://schemas.microsoft.com/office/drawing/2014/main" id="{2AB58029-CCA3-2962-F8C9-30EEC52B4DA1}"/>
              </a:ext>
            </a:extLst>
          </p:cNvPr>
          <p:cNvSpPr>
            <a:spLocks noGrp="1"/>
          </p:cNvSpPr>
          <p:nvPr>
            <p:ph type="ftr" sz="quarter" idx="10"/>
          </p:nvPr>
        </p:nvSpPr>
        <p:spPr/>
        <p:txBody>
          <a:bodyPr/>
          <a:lstStyle/>
          <a:p>
            <a:pPr>
              <a:defRPr/>
            </a:pPr>
            <a:r>
              <a:rPr lang="en-US"/>
              <a:t>Operating Systems</a:t>
            </a:r>
          </a:p>
          <a:p>
            <a:pPr>
              <a:defRPr/>
            </a:pPr>
            <a:endParaRPr lang="en-US"/>
          </a:p>
        </p:txBody>
      </p:sp>
      <p:sp>
        <p:nvSpPr>
          <p:cNvPr id="5" name="TextBox 4">
            <a:extLst>
              <a:ext uri="{FF2B5EF4-FFF2-40B4-BE49-F238E27FC236}">
                <a16:creationId xmlns:a16="http://schemas.microsoft.com/office/drawing/2014/main" id="{E8CDAB8E-895E-6DF4-D571-864BCF9B761D}"/>
              </a:ext>
            </a:extLst>
          </p:cNvPr>
          <p:cNvSpPr txBox="1"/>
          <p:nvPr/>
        </p:nvSpPr>
        <p:spPr>
          <a:xfrm>
            <a:off x="3306871" y="1114817"/>
            <a:ext cx="2743200" cy="646331"/>
          </a:xfrm>
          <a:prstGeom prst="rect">
            <a:avLst/>
          </a:prstGeom>
          <a:noFill/>
        </p:spPr>
        <p:txBody>
          <a:bodyPr wrap="square" rtlCol="0">
            <a:spAutoFit/>
          </a:bodyPr>
          <a:lstStyle/>
          <a:p>
            <a:pPr algn="ctr"/>
            <a:r>
              <a:rPr lang="en-US" sz="3600" u="sng" dirty="0"/>
              <a:t>OS goals</a:t>
            </a:r>
          </a:p>
        </p:txBody>
      </p:sp>
      <p:sp>
        <p:nvSpPr>
          <p:cNvPr id="6" name="TextBox 5">
            <a:extLst>
              <a:ext uri="{FF2B5EF4-FFF2-40B4-BE49-F238E27FC236}">
                <a16:creationId xmlns:a16="http://schemas.microsoft.com/office/drawing/2014/main" id="{AFFAA270-F49D-B5B6-6624-06718A29A0F4}"/>
              </a:ext>
            </a:extLst>
          </p:cNvPr>
          <p:cNvSpPr txBox="1"/>
          <p:nvPr/>
        </p:nvSpPr>
        <p:spPr>
          <a:xfrm>
            <a:off x="703545" y="2190096"/>
            <a:ext cx="2290176" cy="954107"/>
          </a:xfrm>
          <a:prstGeom prst="rect">
            <a:avLst/>
          </a:prstGeom>
          <a:noFill/>
        </p:spPr>
        <p:txBody>
          <a:bodyPr wrap="square" rtlCol="0">
            <a:spAutoFit/>
          </a:bodyPr>
          <a:lstStyle/>
          <a:p>
            <a:pPr algn="ctr"/>
            <a:r>
              <a:rPr lang="en-US" sz="2800" dirty="0"/>
              <a:t>CPU management</a:t>
            </a:r>
          </a:p>
        </p:txBody>
      </p:sp>
      <p:sp>
        <p:nvSpPr>
          <p:cNvPr id="7" name="TextBox 6">
            <a:extLst>
              <a:ext uri="{FF2B5EF4-FFF2-40B4-BE49-F238E27FC236}">
                <a16:creationId xmlns:a16="http://schemas.microsoft.com/office/drawing/2014/main" id="{B2A68BF2-6C5D-82BB-1EBD-4B22D672B24D}"/>
              </a:ext>
            </a:extLst>
          </p:cNvPr>
          <p:cNvSpPr txBox="1"/>
          <p:nvPr/>
        </p:nvSpPr>
        <p:spPr>
          <a:xfrm>
            <a:off x="3533383" y="2213359"/>
            <a:ext cx="2290176" cy="954107"/>
          </a:xfrm>
          <a:prstGeom prst="rect">
            <a:avLst/>
          </a:prstGeom>
          <a:noFill/>
        </p:spPr>
        <p:txBody>
          <a:bodyPr wrap="square" rtlCol="0">
            <a:spAutoFit/>
          </a:bodyPr>
          <a:lstStyle/>
          <a:p>
            <a:pPr algn="ctr"/>
            <a:r>
              <a:rPr lang="en-US" sz="2800" dirty="0"/>
              <a:t>Memory management</a:t>
            </a:r>
          </a:p>
        </p:txBody>
      </p:sp>
      <p:sp>
        <p:nvSpPr>
          <p:cNvPr id="8" name="TextBox 7">
            <a:extLst>
              <a:ext uri="{FF2B5EF4-FFF2-40B4-BE49-F238E27FC236}">
                <a16:creationId xmlns:a16="http://schemas.microsoft.com/office/drawing/2014/main" id="{7026B318-0276-D407-BE2C-5323F61FBA41}"/>
              </a:ext>
            </a:extLst>
          </p:cNvPr>
          <p:cNvSpPr txBox="1"/>
          <p:nvPr/>
        </p:nvSpPr>
        <p:spPr>
          <a:xfrm>
            <a:off x="6270581" y="2209644"/>
            <a:ext cx="2290176" cy="954107"/>
          </a:xfrm>
          <a:prstGeom prst="rect">
            <a:avLst/>
          </a:prstGeom>
          <a:noFill/>
        </p:spPr>
        <p:txBody>
          <a:bodyPr wrap="square" rtlCol="0">
            <a:spAutoFit/>
          </a:bodyPr>
          <a:lstStyle/>
          <a:p>
            <a:pPr algn="ctr"/>
            <a:r>
              <a:rPr lang="en-US" sz="2800" dirty="0"/>
              <a:t>Filesystem management</a:t>
            </a:r>
          </a:p>
        </p:txBody>
      </p:sp>
      <p:cxnSp>
        <p:nvCxnSpPr>
          <p:cNvPr id="10" name="Straight Arrow Connector 9">
            <a:extLst>
              <a:ext uri="{FF2B5EF4-FFF2-40B4-BE49-F238E27FC236}">
                <a16:creationId xmlns:a16="http://schemas.microsoft.com/office/drawing/2014/main" id="{F8E28BDE-592A-9B76-0302-3CDC54E9D09C}"/>
              </a:ext>
            </a:extLst>
          </p:cNvPr>
          <p:cNvCxnSpPr>
            <a:stCxn id="5" idx="2"/>
            <a:endCxn id="6" idx="0"/>
          </p:cNvCxnSpPr>
          <p:nvPr/>
        </p:nvCxnSpPr>
        <p:spPr bwMode="auto">
          <a:xfrm flipH="1">
            <a:off x="1848633" y="1761148"/>
            <a:ext cx="2829838" cy="428948"/>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FDE19395-CD15-FACE-5D91-BCF380D788CE}"/>
              </a:ext>
            </a:extLst>
          </p:cNvPr>
          <p:cNvCxnSpPr>
            <a:cxnSpLocks/>
            <a:stCxn id="5" idx="2"/>
            <a:endCxn id="8" idx="0"/>
          </p:cNvCxnSpPr>
          <p:nvPr/>
        </p:nvCxnSpPr>
        <p:spPr bwMode="auto">
          <a:xfrm>
            <a:off x="4678471" y="1761148"/>
            <a:ext cx="2737198" cy="448496"/>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6F5F8C69-32F4-BD16-93F7-BD56CF2CBACC}"/>
              </a:ext>
            </a:extLst>
          </p:cNvPr>
          <p:cNvCxnSpPr>
            <a:cxnSpLocks/>
            <a:stCxn id="5" idx="2"/>
            <a:endCxn id="7" idx="0"/>
          </p:cNvCxnSpPr>
          <p:nvPr/>
        </p:nvCxnSpPr>
        <p:spPr bwMode="auto">
          <a:xfrm>
            <a:off x="4678471" y="1761148"/>
            <a:ext cx="0" cy="452211"/>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20" name="TextBox 19">
            <a:extLst>
              <a:ext uri="{FF2B5EF4-FFF2-40B4-BE49-F238E27FC236}">
                <a16:creationId xmlns:a16="http://schemas.microsoft.com/office/drawing/2014/main" id="{712DE5A6-DBDF-51BE-DB3A-6FC80529063D}"/>
              </a:ext>
            </a:extLst>
          </p:cNvPr>
          <p:cNvSpPr txBox="1"/>
          <p:nvPr/>
        </p:nvSpPr>
        <p:spPr>
          <a:xfrm>
            <a:off x="1162050" y="5227761"/>
            <a:ext cx="3299304" cy="646331"/>
          </a:xfrm>
          <a:prstGeom prst="rect">
            <a:avLst/>
          </a:prstGeom>
          <a:noFill/>
          <a:ln>
            <a:solidFill>
              <a:schemeClr val="tx1"/>
            </a:solidFill>
          </a:ln>
        </p:spPr>
        <p:txBody>
          <a:bodyPr wrap="square" rtlCol="0">
            <a:spAutoFit/>
          </a:bodyPr>
          <a:lstStyle/>
          <a:p>
            <a:pPr marL="342900" indent="-342900">
              <a:buFontTx/>
              <a:buChar char="-"/>
            </a:pPr>
            <a:r>
              <a:rPr lang="en-US" i="1" dirty="0"/>
              <a:t>Synchronization (L5-6)</a:t>
            </a:r>
          </a:p>
          <a:p>
            <a:pPr marL="342900" indent="-342900">
              <a:buFontTx/>
              <a:buChar char="-"/>
            </a:pPr>
            <a:r>
              <a:rPr lang="en-US" i="1" dirty="0"/>
              <a:t>Deadlocks (L7)</a:t>
            </a:r>
          </a:p>
        </p:txBody>
      </p:sp>
      <p:sp>
        <p:nvSpPr>
          <p:cNvPr id="22" name="TextBox 21">
            <a:extLst>
              <a:ext uri="{FF2B5EF4-FFF2-40B4-BE49-F238E27FC236}">
                <a16:creationId xmlns:a16="http://schemas.microsoft.com/office/drawing/2014/main" id="{7A2D67A4-22D5-2C0F-632D-A2011031AC69}"/>
              </a:ext>
            </a:extLst>
          </p:cNvPr>
          <p:cNvSpPr txBox="1"/>
          <p:nvPr/>
        </p:nvSpPr>
        <p:spPr>
          <a:xfrm>
            <a:off x="5010150" y="5366260"/>
            <a:ext cx="3550607" cy="369332"/>
          </a:xfrm>
          <a:prstGeom prst="rect">
            <a:avLst/>
          </a:prstGeom>
          <a:noFill/>
          <a:ln>
            <a:solidFill>
              <a:schemeClr val="tx1"/>
            </a:solidFill>
          </a:ln>
        </p:spPr>
        <p:txBody>
          <a:bodyPr wrap="square" rtlCol="0">
            <a:spAutoFit/>
          </a:bodyPr>
          <a:lstStyle/>
          <a:p>
            <a:pPr algn="ctr"/>
            <a:r>
              <a:rPr lang="en-US" i="1" dirty="0"/>
              <a:t>I/O &amp; disk (L12)</a:t>
            </a:r>
          </a:p>
        </p:txBody>
      </p:sp>
      <p:cxnSp>
        <p:nvCxnSpPr>
          <p:cNvPr id="24" name="Straight Arrow Connector 23">
            <a:extLst>
              <a:ext uri="{FF2B5EF4-FFF2-40B4-BE49-F238E27FC236}">
                <a16:creationId xmlns:a16="http://schemas.microsoft.com/office/drawing/2014/main" id="{E26D7182-418D-1A8C-CA35-2C4EACD615A6}"/>
              </a:ext>
            </a:extLst>
          </p:cNvPr>
          <p:cNvCxnSpPr>
            <a:cxnSpLocks/>
            <a:stCxn id="6" idx="2"/>
            <a:endCxn id="19" idx="0"/>
          </p:cNvCxnSpPr>
          <p:nvPr/>
        </p:nvCxnSpPr>
        <p:spPr bwMode="auto">
          <a:xfrm flipH="1">
            <a:off x="1750121" y="3144203"/>
            <a:ext cx="98512" cy="447166"/>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27" name="Straight Arrow Connector 26">
            <a:extLst>
              <a:ext uri="{FF2B5EF4-FFF2-40B4-BE49-F238E27FC236}">
                <a16:creationId xmlns:a16="http://schemas.microsoft.com/office/drawing/2014/main" id="{806D2220-1B46-51FF-93B7-FEB0BDD1F037}"/>
              </a:ext>
            </a:extLst>
          </p:cNvPr>
          <p:cNvCxnSpPr>
            <a:cxnSpLocks/>
            <a:stCxn id="7" idx="2"/>
            <a:endCxn id="21" idx="0"/>
          </p:cNvCxnSpPr>
          <p:nvPr/>
        </p:nvCxnSpPr>
        <p:spPr bwMode="auto">
          <a:xfrm flipH="1">
            <a:off x="4675601" y="3167466"/>
            <a:ext cx="2870" cy="409917"/>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9CFAA15E-7F5B-D6D8-3A81-99F3D2AA0269}"/>
              </a:ext>
            </a:extLst>
          </p:cNvPr>
          <p:cNvCxnSpPr>
            <a:cxnSpLocks/>
            <a:stCxn id="8" idx="2"/>
            <a:endCxn id="23" idx="0"/>
          </p:cNvCxnSpPr>
          <p:nvPr/>
        </p:nvCxnSpPr>
        <p:spPr bwMode="auto">
          <a:xfrm>
            <a:off x="7415669" y="3163751"/>
            <a:ext cx="111820" cy="552319"/>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9958DD35-66CB-1CDC-983C-BA2E67A9DC7F}"/>
              </a:ext>
            </a:extLst>
          </p:cNvPr>
          <p:cNvCxnSpPr>
            <a:cxnSpLocks/>
            <a:stCxn id="6" idx="2"/>
          </p:cNvCxnSpPr>
          <p:nvPr/>
        </p:nvCxnSpPr>
        <p:spPr bwMode="auto">
          <a:xfrm>
            <a:off x="1848633" y="3144203"/>
            <a:ext cx="884653" cy="1903786"/>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19" name="TextBox 18">
            <a:extLst>
              <a:ext uri="{FF2B5EF4-FFF2-40B4-BE49-F238E27FC236}">
                <a16:creationId xmlns:a16="http://schemas.microsoft.com/office/drawing/2014/main" id="{FB5EA5D8-7888-BD95-FFE7-60608354B022}"/>
              </a:ext>
            </a:extLst>
          </p:cNvPr>
          <p:cNvSpPr txBox="1"/>
          <p:nvPr/>
        </p:nvSpPr>
        <p:spPr>
          <a:xfrm>
            <a:off x="506521" y="3591369"/>
            <a:ext cx="2487200" cy="646331"/>
          </a:xfrm>
          <a:prstGeom prst="rect">
            <a:avLst/>
          </a:prstGeom>
          <a:solidFill>
            <a:srgbClr val="FFFFFF">
              <a:alpha val="77647"/>
            </a:srgbClr>
          </a:solidFill>
          <a:ln>
            <a:solidFill>
              <a:schemeClr val="tx1"/>
            </a:solidFill>
          </a:ln>
        </p:spPr>
        <p:txBody>
          <a:bodyPr wrap="square" rtlCol="0">
            <a:spAutoFit/>
          </a:bodyPr>
          <a:lstStyle/>
          <a:p>
            <a:pPr marL="342900" indent="-342900">
              <a:buFontTx/>
              <a:buChar char="-"/>
            </a:pPr>
            <a:r>
              <a:rPr lang="en-US" i="1" dirty="0"/>
              <a:t>Processes (L2)</a:t>
            </a:r>
          </a:p>
          <a:p>
            <a:pPr marL="342900" indent="-342900">
              <a:buFontTx/>
              <a:buChar char="-"/>
            </a:pPr>
            <a:r>
              <a:rPr lang="en-US" i="1" dirty="0"/>
              <a:t>Scheduling (L3)</a:t>
            </a:r>
          </a:p>
        </p:txBody>
      </p:sp>
      <p:cxnSp>
        <p:nvCxnSpPr>
          <p:cNvPr id="37" name="Straight Arrow Connector 36">
            <a:extLst>
              <a:ext uri="{FF2B5EF4-FFF2-40B4-BE49-F238E27FC236}">
                <a16:creationId xmlns:a16="http://schemas.microsoft.com/office/drawing/2014/main" id="{661EAEBD-F3E4-1FBA-78D2-8582F33AA6EB}"/>
              </a:ext>
            </a:extLst>
          </p:cNvPr>
          <p:cNvCxnSpPr>
            <a:cxnSpLocks/>
            <a:stCxn id="7" idx="2"/>
          </p:cNvCxnSpPr>
          <p:nvPr/>
        </p:nvCxnSpPr>
        <p:spPr bwMode="auto">
          <a:xfrm flipH="1">
            <a:off x="3013814" y="3167466"/>
            <a:ext cx="1664657" cy="1880523"/>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12F746E9-2FFA-042B-E36D-854D03D7AE4F}"/>
              </a:ext>
            </a:extLst>
          </p:cNvPr>
          <p:cNvCxnSpPr>
            <a:cxnSpLocks/>
            <a:stCxn id="8" idx="2"/>
          </p:cNvCxnSpPr>
          <p:nvPr/>
        </p:nvCxnSpPr>
        <p:spPr bwMode="auto">
          <a:xfrm flipH="1">
            <a:off x="6877050" y="3163751"/>
            <a:ext cx="538619" cy="2064010"/>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23" name="TextBox 22">
            <a:extLst>
              <a:ext uri="{FF2B5EF4-FFF2-40B4-BE49-F238E27FC236}">
                <a16:creationId xmlns:a16="http://schemas.microsoft.com/office/drawing/2014/main" id="{8DF748DE-F3BD-1F2A-F532-C6421E95CAA8}"/>
              </a:ext>
            </a:extLst>
          </p:cNvPr>
          <p:cNvSpPr txBox="1"/>
          <p:nvPr/>
        </p:nvSpPr>
        <p:spPr>
          <a:xfrm>
            <a:off x="6517707" y="3716070"/>
            <a:ext cx="2019564" cy="369332"/>
          </a:xfrm>
          <a:prstGeom prst="rect">
            <a:avLst/>
          </a:prstGeom>
          <a:solidFill>
            <a:srgbClr val="FFFFFF">
              <a:alpha val="77647"/>
            </a:srgbClr>
          </a:solidFill>
          <a:ln>
            <a:solidFill>
              <a:schemeClr val="tx1"/>
            </a:solidFill>
          </a:ln>
        </p:spPr>
        <p:txBody>
          <a:bodyPr wrap="square" rtlCol="0">
            <a:spAutoFit/>
          </a:bodyPr>
          <a:lstStyle/>
          <a:p>
            <a:pPr algn="ctr"/>
            <a:r>
              <a:rPr lang="en-US" i="1" dirty="0"/>
              <a:t>Filesystems (L11) </a:t>
            </a:r>
          </a:p>
        </p:txBody>
      </p:sp>
      <p:cxnSp>
        <p:nvCxnSpPr>
          <p:cNvPr id="46" name="Straight Arrow Connector 45">
            <a:extLst>
              <a:ext uri="{FF2B5EF4-FFF2-40B4-BE49-F238E27FC236}">
                <a16:creationId xmlns:a16="http://schemas.microsoft.com/office/drawing/2014/main" id="{EB7CD25E-AD72-4834-0D85-402FD2876148}"/>
              </a:ext>
            </a:extLst>
          </p:cNvPr>
          <p:cNvCxnSpPr>
            <a:cxnSpLocks/>
            <a:stCxn id="6" idx="2"/>
          </p:cNvCxnSpPr>
          <p:nvPr/>
        </p:nvCxnSpPr>
        <p:spPr bwMode="auto">
          <a:xfrm>
            <a:off x="1848633" y="3144203"/>
            <a:ext cx="4936820" cy="2083558"/>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21" name="TextBox 20">
            <a:extLst>
              <a:ext uri="{FF2B5EF4-FFF2-40B4-BE49-F238E27FC236}">
                <a16:creationId xmlns:a16="http://schemas.microsoft.com/office/drawing/2014/main" id="{CDA502AC-AB7B-E936-0F17-B35C2FF86E07}"/>
              </a:ext>
            </a:extLst>
          </p:cNvPr>
          <p:cNvSpPr txBox="1"/>
          <p:nvPr/>
        </p:nvSpPr>
        <p:spPr>
          <a:xfrm>
            <a:off x="3100713" y="3577383"/>
            <a:ext cx="3149775" cy="646331"/>
          </a:xfrm>
          <a:prstGeom prst="rect">
            <a:avLst/>
          </a:prstGeom>
          <a:solidFill>
            <a:srgbClr val="FFFFFF">
              <a:alpha val="77647"/>
            </a:srgbClr>
          </a:solidFill>
          <a:ln>
            <a:solidFill>
              <a:schemeClr val="tx1"/>
            </a:solidFill>
          </a:ln>
        </p:spPr>
        <p:txBody>
          <a:bodyPr wrap="square" rtlCol="0">
            <a:spAutoFit/>
          </a:bodyPr>
          <a:lstStyle/>
          <a:p>
            <a:pPr marL="342900" indent="-342900">
              <a:buFontTx/>
              <a:buChar char="-"/>
            </a:pPr>
            <a:r>
              <a:rPr lang="en-US" i="1" dirty="0"/>
              <a:t>Memory organization (L8)</a:t>
            </a:r>
          </a:p>
          <a:p>
            <a:pPr marL="342900" indent="-342900">
              <a:buFontTx/>
              <a:buChar char="-"/>
            </a:pPr>
            <a:r>
              <a:rPr lang="en-US" i="1" dirty="0"/>
              <a:t>Virtual memory (L9-10)</a:t>
            </a:r>
          </a:p>
        </p:txBody>
      </p:sp>
      <p:sp>
        <p:nvSpPr>
          <p:cNvPr id="50" name="TextBox 49">
            <a:extLst>
              <a:ext uri="{FF2B5EF4-FFF2-40B4-BE49-F238E27FC236}">
                <a16:creationId xmlns:a16="http://schemas.microsoft.com/office/drawing/2014/main" id="{20C2B103-1BEA-0854-1B6D-4C522BA63A93}"/>
              </a:ext>
            </a:extLst>
          </p:cNvPr>
          <p:cNvSpPr txBox="1"/>
          <p:nvPr/>
        </p:nvSpPr>
        <p:spPr>
          <a:xfrm>
            <a:off x="2590017" y="6033156"/>
            <a:ext cx="4171166" cy="369332"/>
          </a:xfrm>
          <a:prstGeom prst="rect">
            <a:avLst/>
          </a:prstGeom>
          <a:noFill/>
          <a:ln>
            <a:solidFill>
              <a:schemeClr val="tx1"/>
            </a:solidFill>
          </a:ln>
        </p:spPr>
        <p:txBody>
          <a:bodyPr wrap="square" rtlCol="0">
            <a:spAutoFit/>
          </a:bodyPr>
          <a:lstStyle/>
          <a:p>
            <a:pPr algn="ctr"/>
            <a:r>
              <a:rPr lang="en-US" i="1" dirty="0"/>
              <a:t>Special: Real-time OS &amp; virtualization</a:t>
            </a:r>
          </a:p>
        </p:txBody>
      </p:sp>
    </p:spTree>
    <p:extLst>
      <p:ext uri="{BB962C8B-B14F-4D97-AF65-F5344CB8AC3E}">
        <p14:creationId xmlns:p14="http://schemas.microsoft.com/office/powerpoint/2010/main" val="172071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Footer Placeholder 3">
            <a:extLst>
              <a:ext uri="{FF2B5EF4-FFF2-40B4-BE49-F238E27FC236}">
                <a16:creationId xmlns:a16="http://schemas.microsoft.com/office/drawing/2014/main" id="{36122535-A15A-495D-A334-F55AFD177E3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15362" name="Rectangle 2">
            <a:extLst>
              <a:ext uri="{FF2B5EF4-FFF2-40B4-BE49-F238E27FC236}">
                <a16:creationId xmlns:a16="http://schemas.microsoft.com/office/drawing/2014/main" id="{86ACF8AE-12FE-433E-9FED-D04841736EB2}"/>
              </a:ext>
            </a:extLst>
          </p:cNvPr>
          <p:cNvSpPr>
            <a:spLocks noGrp="1" noChangeArrowheads="1"/>
          </p:cNvSpPr>
          <p:nvPr>
            <p:ph type="title"/>
          </p:nvPr>
        </p:nvSpPr>
        <p:spPr/>
        <p:txBody>
          <a:bodyPr/>
          <a:lstStyle/>
          <a:p>
            <a:r>
              <a:rPr lang="en-US" altLang="en-US"/>
              <a:t>Part 3:  Process Scheduling</a:t>
            </a:r>
          </a:p>
        </p:txBody>
      </p:sp>
      <p:sp>
        <p:nvSpPr>
          <p:cNvPr id="15363" name="Rectangle 3">
            <a:extLst>
              <a:ext uri="{FF2B5EF4-FFF2-40B4-BE49-F238E27FC236}">
                <a16:creationId xmlns:a16="http://schemas.microsoft.com/office/drawing/2014/main" id="{AC39DE03-149A-469D-8BE1-B95D22F969EB}"/>
              </a:ext>
            </a:extLst>
          </p:cNvPr>
          <p:cNvSpPr>
            <a:spLocks noGrp="1" noChangeArrowheads="1"/>
          </p:cNvSpPr>
          <p:nvPr>
            <p:ph type="body" idx="1"/>
          </p:nvPr>
        </p:nvSpPr>
        <p:spPr/>
        <p:txBody>
          <a:bodyPr/>
          <a:lstStyle/>
          <a:p>
            <a:r>
              <a:rPr lang="en-US" altLang="en-US" sz="2800" dirty="0"/>
              <a:t>Basic Concepts</a:t>
            </a:r>
          </a:p>
          <a:p>
            <a:pPr lvl="4"/>
            <a:endParaRPr lang="en-US" altLang="en-US" sz="2200"/>
          </a:p>
          <a:p>
            <a:r>
              <a:rPr lang="en-US" altLang="en-US" sz="2800" dirty="0"/>
              <a:t>Scheduling Criteria </a:t>
            </a:r>
            <a:endParaRPr lang="en-US" altLang="en-US" sz="2800" dirty="0">
              <a:cs typeface="Helvetica"/>
            </a:endParaRPr>
          </a:p>
          <a:p>
            <a:pPr lvl="4"/>
            <a:endParaRPr lang="en-US" altLang="en-US" sz="2200"/>
          </a:p>
          <a:p>
            <a:r>
              <a:rPr lang="en-US" altLang="en-US" sz="2800" dirty="0"/>
              <a:t>Scheduling Algorithms</a:t>
            </a:r>
            <a:endParaRPr lang="en-US" altLang="en-US" sz="2800" dirty="0">
              <a:cs typeface="Helvetica"/>
            </a:endParaRPr>
          </a:p>
          <a:p>
            <a:pPr lvl="1"/>
            <a:r>
              <a:rPr lang="en-US" altLang="en-US" sz="2800" dirty="0">
                <a:cs typeface="Helvetica"/>
              </a:rPr>
              <a:t>Uniprocessor (single-core) scheduling</a:t>
            </a:r>
          </a:p>
          <a:p>
            <a:pPr lvl="1"/>
            <a:r>
              <a:rPr lang="en-US" altLang="en-US" sz="2800" dirty="0">
                <a:cs typeface="Helvetica"/>
              </a:rPr>
              <a:t>Multiprocessor (multi-core) scheduling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Footer Placeholder 3">
            <a:extLst>
              <a:ext uri="{FF2B5EF4-FFF2-40B4-BE49-F238E27FC236}">
                <a16:creationId xmlns:a16="http://schemas.microsoft.com/office/drawing/2014/main" id="{04B1E677-B8F4-4422-866C-430A37BCD68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17410" name="Rectangle 2">
            <a:extLst>
              <a:ext uri="{FF2B5EF4-FFF2-40B4-BE49-F238E27FC236}">
                <a16:creationId xmlns:a16="http://schemas.microsoft.com/office/drawing/2014/main" id="{E80C155E-386D-4D10-9220-C4B98A73402C}"/>
              </a:ext>
            </a:extLst>
          </p:cNvPr>
          <p:cNvSpPr>
            <a:spLocks noGrp="1" noChangeArrowheads="1"/>
          </p:cNvSpPr>
          <p:nvPr>
            <p:ph type="title"/>
          </p:nvPr>
        </p:nvSpPr>
        <p:spPr/>
        <p:txBody>
          <a:bodyPr/>
          <a:lstStyle/>
          <a:p>
            <a:r>
              <a:rPr lang="en-US" altLang="en-US"/>
              <a:t>Basic Concepts</a:t>
            </a:r>
          </a:p>
        </p:txBody>
      </p:sp>
      <p:sp>
        <p:nvSpPr>
          <p:cNvPr id="17411" name="Rectangle 3">
            <a:extLst>
              <a:ext uri="{FF2B5EF4-FFF2-40B4-BE49-F238E27FC236}">
                <a16:creationId xmlns:a16="http://schemas.microsoft.com/office/drawing/2014/main" id="{262357A9-4CB2-4773-BDD2-14F46AFBEFD5}"/>
              </a:ext>
            </a:extLst>
          </p:cNvPr>
          <p:cNvSpPr>
            <a:spLocks noGrp="1" noChangeArrowheads="1"/>
          </p:cNvSpPr>
          <p:nvPr>
            <p:ph type="body" idx="1"/>
          </p:nvPr>
        </p:nvSpPr>
        <p:spPr>
          <a:xfrm>
            <a:off x="293688" y="1227294"/>
            <a:ext cx="8569325" cy="4114800"/>
          </a:xfrm>
        </p:spPr>
        <p:txBody>
          <a:bodyPr/>
          <a:lstStyle/>
          <a:p>
            <a:r>
              <a:rPr lang="en-US" altLang="en-US" sz="2800" dirty="0">
                <a:solidFill>
                  <a:srgbClr val="FF0000"/>
                </a:solidFill>
              </a:rPr>
              <a:t>CPU–I/O Bursts:</a:t>
            </a:r>
            <a:r>
              <a:rPr lang="en-US" altLang="en-US" sz="2800" dirty="0"/>
              <a:t> Process execution alternates between CPU executions and I/O operations</a:t>
            </a:r>
          </a:p>
          <a:p>
            <a:pPr lvl="1"/>
            <a:r>
              <a:rPr lang="en-US" altLang="en-US" sz="2600" dirty="0">
                <a:solidFill>
                  <a:srgbClr val="FF0000"/>
                </a:solidFill>
              </a:rPr>
              <a:t>CPU burst: </a:t>
            </a:r>
            <a:r>
              <a:rPr lang="en-US" altLang="en-US" sz="2600" dirty="0"/>
              <a:t>Duration of one CPU execution cycle</a:t>
            </a:r>
            <a:endParaRPr lang="en-US" altLang="en-US" sz="2600" dirty="0">
              <a:cs typeface="Helvetica"/>
            </a:endParaRPr>
          </a:p>
          <a:p>
            <a:pPr lvl="1"/>
            <a:r>
              <a:rPr lang="en-US" altLang="en-US" sz="2600" dirty="0">
                <a:solidFill>
                  <a:srgbClr val="FF0000"/>
                </a:solidFill>
              </a:rPr>
              <a:t>I/O burst: </a:t>
            </a:r>
            <a:r>
              <a:rPr lang="en-US" altLang="en-US" sz="2600" dirty="0"/>
              <a:t>Duration of one I/O operation (wait time)</a:t>
            </a:r>
            <a:endParaRPr lang="en-US" altLang="en-US" sz="2600" dirty="0">
              <a:cs typeface="Helvetica"/>
            </a:endParaRPr>
          </a:p>
          <a:p>
            <a:pPr lvl="4"/>
            <a:endParaRPr lang="en-US" altLang="en-US" sz="2000"/>
          </a:p>
          <a:p>
            <a:r>
              <a:rPr lang="en-US" altLang="en-US" sz="2800" dirty="0">
                <a:solidFill>
                  <a:srgbClr val="FF0000"/>
                </a:solidFill>
              </a:rPr>
              <a:t>CPU scheduling objective:</a:t>
            </a:r>
            <a:r>
              <a:rPr lang="en-US" altLang="en-US" sz="2800" dirty="0"/>
              <a:t> Keep the CPU busy as much as possible (i.e., using multiprogramming)</a:t>
            </a:r>
            <a:endParaRPr lang="en-US" altLang="en-US" sz="2800" dirty="0">
              <a:cs typeface="Helvetica"/>
            </a:endParaRPr>
          </a:p>
          <a:p>
            <a:pPr lvl="4"/>
            <a:endParaRPr lang="en-US" altLang="en-US" sz="2200"/>
          </a:p>
          <a:p>
            <a:r>
              <a:rPr lang="en-US" altLang="en-US" sz="2800" dirty="0"/>
              <a:t>For simplicity, we focus on the concepts of </a:t>
            </a:r>
            <a:r>
              <a:rPr lang="en-US" altLang="en-US" sz="2800" b="1" dirty="0"/>
              <a:t>short-term (ready queue) scheduler for both </a:t>
            </a:r>
            <a:r>
              <a:rPr lang="en-US" altLang="en-US" sz="2800" b="1" dirty="0" err="1"/>
              <a:t>uni</a:t>
            </a:r>
            <a:r>
              <a:rPr lang="en-US" altLang="en-US" sz="2800" b="1" dirty="0"/>
              <a:t>- and multi- processor CPUs</a:t>
            </a:r>
            <a:endParaRPr lang="en-US" alt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Footer Placeholder 2">
            <a:extLst>
              <a:ext uri="{FF2B5EF4-FFF2-40B4-BE49-F238E27FC236}">
                <a16:creationId xmlns:a16="http://schemas.microsoft.com/office/drawing/2014/main" id="{216256DD-0A32-4D99-9C0F-0096622ABEC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19458" name="Rectangle 1026">
            <a:extLst>
              <a:ext uri="{FF2B5EF4-FFF2-40B4-BE49-F238E27FC236}">
                <a16:creationId xmlns:a16="http://schemas.microsoft.com/office/drawing/2014/main" id="{86A24943-64C7-4E20-A79A-14F67025F5CA}"/>
              </a:ext>
            </a:extLst>
          </p:cNvPr>
          <p:cNvSpPr>
            <a:spLocks noGrp="1" noChangeArrowheads="1"/>
          </p:cNvSpPr>
          <p:nvPr>
            <p:ph type="title"/>
          </p:nvPr>
        </p:nvSpPr>
        <p:spPr>
          <a:xfrm>
            <a:off x="384175" y="495300"/>
            <a:ext cx="8374063" cy="457200"/>
          </a:xfrm>
        </p:spPr>
        <p:txBody>
          <a:bodyPr/>
          <a:lstStyle/>
          <a:p>
            <a:r>
              <a:rPr lang="en-US" altLang="en-US" sz="2800"/>
              <a:t>Alternating Sequence of CPU And I/O Bursts</a:t>
            </a:r>
            <a:endParaRPr lang="en-US" altLang="en-US"/>
          </a:p>
        </p:txBody>
      </p:sp>
      <p:pic>
        <p:nvPicPr>
          <p:cNvPr id="19459" name="Picture 6">
            <a:extLst>
              <a:ext uri="{FF2B5EF4-FFF2-40B4-BE49-F238E27FC236}">
                <a16:creationId xmlns:a16="http://schemas.microsoft.com/office/drawing/2014/main" id="{3C2915AB-415D-4098-A409-7C4235DD9A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0032" t="789" r="30032" b="1576"/>
          <a:stretch>
            <a:fillRect/>
          </a:stretch>
        </p:blipFill>
        <p:spPr bwMode="auto">
          <a:xfrm>
            <a:off x="3336925" y="1214438"/>
            <a:ext cx="2819400" cy="517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Footer Placeholder 3">
            <a:extLst>
              <a:ext uri="{FF2B5EF4-FFF2-40B4-BE49-F238E27FC236}">
                <a16:creationId xmlns:a16="http://schemas.microsoft.com/office/drawing/2014/main" id="{79CB3EAB-5CAA-4BBE-918A-65E92F03FF0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21506" name="Rectangle 2">
            <a:extLst>
              <a:ext uri="{FF2B5EF4-FFF2-40B4-BE49-F238E27FC236}">
                <a16:creationId xmlns:a16="http://schemas.microsoft.com/office/drawing/2014/main" id="{8EBFAF2E-55BB-4CC7-BFAA-CE6948BE4DB8}"/>
              </a:ext>
            </a:extLst>
          </p:cNvPr>
          <p:cNvSpPr>
            <a:spLocks noGrp="1" noChangeArrowheads="1"/>
          </p:cNvSpPr>
          <p:nvPr>
            <p:ph type="title"/>
          </p:nvPr>
        </p:nvSpPr>
        <p:spPr/>
        <p:txBody>
          <a:bodyPr/>
          <a:lstStyle/>
          <a:p>
            <a:r>
              <a:rPr lang="en-US" altLang="en-US"/>
              <a:t>CPU Scheduler (Short-Term)</a:t>
            </a:r>
          </a:p>
        </p:txBody>
      </p:sp>
      <p:sp>
        <p:nvSpPr>
          <p:cNvPr id="5124" name="Rectangle 3">
            <a:extLst>
              <a:ext uri="{FF2B5EF4-FFF2-40B4-BE49-F238E27FC236}">
                <a16:creationId xmlns:a16="http://schemas.microsoft.com/office/drawing/2014/main" id="{10798C99-ACF9-427D-8D29-F99378892EAD}"/>
              </a:ext>
            </a:extLst>
          </p:cNvPr>
          <p:cNvSpPr>
            <a:spLocks noGrp="1" noChangeArrowheads="1"/>
          </p:cNvSpPr>
          <p:nvPr>
            <p:ph type="body" idx="1"/>
          </p:nvPr>
        </p:nvSpPr>
        <p:spPr>
          <a:xfrm>
            <a:off x="460375" y="1101725"/>
            <a:ext cx="8464550" cy="5265738"/>
          </a:xfrm>
        </p:spPr>
        <p:txBody>
          <a:bodyPr/>
          <a:lstStyle/>
          <a:p>
            <a:pPr>
              <a:spcBef>
                <a:spcPts val="600"/>
              </a:spcBef>
            </a:pPr>
            <a:r>
              <a:rPr lang="en-US" altLang="en-US" sz="2500" dirty="0">
                <a:solidFill>
                  <a:srgbClr val="FF0000"/>
                </a:solidFill>
              </a:rPr>
              <a:t>Goal:</a:t>
            </a:r>
            <a:r>
              <a:rPr lang="en-US" altLang="en-US" sz="2500" dirty="0"/>
              <a:t> Select one or more of the processes in the ready queue, and allocate it to the CPU </a:t>
            </a:r>
            <a:r>
              <a:rPr lang="en-US" altLang="en-US" sz="2500" dirty="0">
                <a:solidFill>
                  <a:schemeClr val="tx1">
                    <a:lumMod val="95000"/>
                    <a:lumOff val="5000"/>
                  </a:schemeClr>
                </a:solidFill>
              </a:rPr>
              <a:t>(</a:t>
            </a:r>
            <a:r>
              <a:rPr lang="en-US" altLang="en-US" sz="2500" dirty="0">
                <a:solidFill>
                  <a:srgbClr val="FF0000"/>
                </a:solidFill>
              </a:rPr>
              <a:t>one process per core</a:t>
            </a:r>
            <a:r>
              <a:rPr lang="en-US" altLang="en-US" sz="2500" dirty="0">
                <a:solidFill>
                  <a:schemeClr val="tx1">
                    <a:lumMod val="95000"/>
                    <a:lumOff val="5000"/>
                  </a:schemeClr>
                </a:solidFill>
              </a:rPr>
              <a:t>)</a:t>
            </a:r>
          </a:p>
          <a:p>
            <a:pPr lvl="4">
              <a:spcBef>
                <a:spcPts val="600"/>
              </a:spcBef>
            </a:pPr>
            <a:endParaRPr lang="en-US" altLang="en-US" sz="1900"/>
          </a:p>
          <a:p>
            <a:pPr>
              <a:spcBef>
                <a:spcPts val="600"/>
              </a:spcBef>
            </a:pPr>
            <a:r>
              <a:rPr lang="en-US" altLang="en-US" sz="2500" dirty="0"/>
              <a:t>Scheduler may run whenever a process changes state</a:t>
            </a:r>
            <a:endParaRPr lang="en-US" altLang="en-US" sz="2500" dirty="0">
              <a:cs typeface="Helvetica"/>
            </a:endParaRPr>
          </a:p>
          <a:p>
            <a:pPr lvl="1"/>
            <a:endParaRPr lang="en-US" altLang="en-US" sz="2600"/>
          </a:p>
        </p:txBody>
      </p:sp>
      <p:grpSp>
        <p:nvGrpSpPr>
          <p:cNvPr id="2" name="Group 1">
            <a:extLst>
              <a:ext uri="{FF2B5EF4-FFF2-40B4-BE49-F238E27FC236}">
                <a16:creationId xmlns:a16="http://schemas.microsoft.com/office/drawing/2014/main" id="{6C440281-6889-4F06-9782-FC852E061CA8}"/>
              </a:ext>
            </a:extLst>
          </p:cNvPr>
          <p:cNvGrpSpPr>
            <a:grpSpLocks/>
          </p:cNvGrpSpPr>
          <p:nvPr/>
        </p:nvGrpSpPr>
        <p:grpSpPr bwMode="auto">
          <a:xfrm>
            <a:off x="465138" y="3044825"/>
            <a:ext cx="6292850" cy="3073400"/>
            <a:chOff x="1117600" y="3436938"/>
            <a:chExt cx="6292850" cy="3073400"/>
          </a:xfrm>
        </p:grpSpPr>
        <p:pic>
          <p:nvPicPr>
            <p:cNvPr id="21511" name="Picture 7">
              <a:extLst>
                <a:ext uri="{FF2B5EF4-FFF2-40B4-BE49-F238E27FC236}">
                  <a16:creationId xmlns:a16="http://schemas.microsoft.com/office/drawing/2014/main" id="{C09DF2F3-13CA-46D2-8DFE-2D70FCFABD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66" t="25691" r="592" b="25531"/>
            <a:stretch>
              <a:fillRect/>
            </a:stretch>
          </p:blipFill>
          <p:spPr bwMode="auto">
            <a:xfrm>
              <a:off x="1117600" y="3436938"/>
              <a:ext cx="6292850" cy="307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2" name="Rectangle 1">
              <a:extLst>
                <a:ext uri="{FF2B5EF4-FFF2-40B4-BE49-F238E27FC236}">
                  <a16:creationId xmlns:a16="http://schemas.microsoft.com/office/drawing/2014/main" id="{6FB6630E-3500-4858-9C86-B247C3254CC7}"/>
                </a:ext>
              </a:extLst>
            </p:cNvPr>
            <p:cNvSpPr>
              <a:spLocks noChangeArrowheads="1"/>
            </p:cNvSpPr>
            <p:nvPr/>
          </p:nvSpPr>
          <p:spPr bwMode="auto">
            <a:xfrm>
              <a:off x="5106988" y="5430838"/>
              <a:ext cx="5159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b="1">
                  <a:solidFill>
                    <a:srgbClr val="FF0000"/>
                  </a:solidFill>
                </a:rPr>
                <a:t>1.</a:t>
              </a:r>
            </a:p>
          </p:txBody>
        </p:sp>
        <p:sp>
          <p:nvSpPr>
            <p:cNvPr id="21513" name="Rectangle 6">
              <a:extLst>
                <a:ext uri="{FF2B5EF4-FFF2-40B4-BE49-F238E27FC236}">
                  <a16:creationId xmlns:a16="http://schemas.microsoft.com/office/drawing/2014/main" id="{1EBE8E0F-EA90-466F-9EEB-E73D21338F8F}"/>
                </a:ext>
              </a:extLst>
            </p:cNvPr>
            <p:cNvSpPr>
              <a:spLocks noChangeArrowheads="1"/>
            </p:cNvSpPr>
            <p:nvPr/>
          </p:nvSpPr>
          <p:spPr bwMode="auto">
            <a:xfrm>
              <a:off x="3635375" y="3495675"/>
              <a:ext cx="547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b="1">
                  <a:solidFill>
                    <a:srgbClr val="FF0000"/>
                  </a:solidFill>
                </a:rPr>
                <a:t>2.</a:t>
              </a:r>
            </a:p>
          </p:txBody>
        </p:sp>
        <p:sp>
          <p:nvSpPr>
            <p:cNvPr id="21514" name="Rectangle 7">
              <a:extLst>
                <a:ext uri="{FF2B5EF4-FFF2-40B4-BE49-F238E27FC236}">
                  <a16:creationId xmlns:a16="http://schemas.microsoft.com/office/drawing/2014/main" id="{C5D076AB-F60D-4D5D-9183-B279F862E19C}"/>
                </a:ext>
              </a:extLst>
            </p:cNvPr>
            <p:cNvSpPr>
              <a:spLocks noChangeArrowheads="1"/>
            </p:cNvSpPr>
            <p:nvPr/>
          </p:nvSpPr>
          <p:spPr bwMode="auto">
            <a:xfrm>
              <a:off x="1317625" y="5391150"/>
              <a:ext cx="565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b="1">
                  <a:solidFill>
                    <a:srgbClr val="FF0000"/>
                  </a:solidFill>
                </a:rPr>
                <a:t>3.</a:t>
              </a:r>
            </a:p>
          </p:txBody>
        </p:sp>
        <p:sp>
          <p:nvSpPr>
            <p:cNvPr id="21515" name="Rectangle 8">
              <a:extLst>
                <a:ext uri="{FF2B5EF4-FFF2-40B4-BE49-F238E27FC236}">
                  <a16:creationId xmlns:a16="http://schemas.microsoft.com/office/drawing/2014/main" id="{4C5E41CD-DD20-4BEC-90BA-10B58225B3C4}"/>
                </a:ext>
              </a:extLst>
            </p:cNvPr>
            <p:cNvSpPr>
              <a:spLocks noChangeArrowheads="1"/>
            </p:cNvSpPr>
            <p:nvPr/>
          </p:nvSpPr>
          <p:spPr bwMode="auto">
            <a:xfrm>
              <a:off x="2533650" y="3522663"/>
              <a:ext cx="5095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b="1">
                  <a:solidFill>
                    <a:srgbClr val="FF0000"/>
                  </a:solidFill>
                </a:rPr>
                <a:t>4.</a:t>
              </a:r>
            </a:p>
          </p:txBody>
        </p:sp>
        <p:sp>
          <p:nvSpPr>
            <p:cNvPr id="21516" name="Rectangle 9">
              <a:extLst>
                <a:ext uri="{FF2B5EF4-FFF2-40B4-BE49-F238E27FC236}">
                  <a16:creationId xmlns:a16="http://schemas.microsoft.com/office/drawing/2014/main" id="{A8A29664-32DC-4617-838A-5B030ED35346}"/>
                </a:ext>
              </a:extLst>
            </p:cNvPr>
            <p:cNvSpPr>
              <a:spLocks noChangeArrowheads="1"/>
            </p:cNvSpPr>
            <p:nvPr/>
          </p:nvSpPr>
          <p:spPr bwMode="auto">
            <a:xfrm>
              <a:off x="5013325" y="3549650"/>
              <a:ext cx="5492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b="1">
                  <a:solidFill>
                    <a:srgbClr val="FF0000"/>
                  </a:solidFill>
                </a:rPr>
                <a:t>5.</a:t>
              </a:r>
            </a:p>
          </p:txBody>
        </p:sp>
      </p:grpSp>
      <p:sp>
        <p:nvSpPr>
          <p:cNvPr id="3" name="TextBox 2">
            <a:extLst>
              <a:ext uri="{FF2B5EF4-FFF2-40B4-BE49-F238E27FC236}">
                <a16:creationId xmlns:a16="http://schemas.microsoft.com/office/drawing/2014/main" id="{847FF441-3ACF-4EA0-B0C1-E544EF6C1659}"/>
              </a:ext>
            </a:extLst>
          </p:cNvPr>
          <p:cNvSpPr txBox="1">
            <a:spLocks noChangeArrowheads="1"/>
          </p:cNvSpPr>
          <p:nvPr/>
        </p:nvSpPr>
        <p:spPr bwMode="auto">
          <a:xfrm>
            <a:off x="6807200" y="3289300"/>
            <a:ext cx="2068513"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None/>
            </a:pPr>
            <a:r>
              <a:rPr lang="en-US" altLang="en-US" dirty="0">
                <a:solidFill>
                  <a:schemeClr val="accent2"/>
                </a:solidFill>
                <a:latin typeface="Helvetica"/>
                <a:cs typeface="Helvetica"/>
              </a:rPr>
              <a:t>In which case(s) does CPU scheduling have to occur in order to keep the CPU cores busy?</a:t>
            </a:r>
          </a:p>
        </p:txBody>
      </p:sp>
      <p:sp>
        <p:nvSpPr>
          <p:cNvPr id="4" name="TextBox 3">
            <a:extLst>
              <a:ext uri="{FF2B5EF4-FFF2-40B4-BE49-F238E27FC236}">
                <a16:creationId xmlns:a16="http://schemas.microsoft.com/office/drawing/2014/main" id="{3ABBF539-893D-44C0-86C5-7F51264B3D59}"/>
              </a:ext>
            </a:extLst>
          </p:cNvPr>
          <p:cNvSpPr txBox="1">
            <a:spLocks noChangeArrowheads="1"/>
          </p:cNvSpPr>
          <p:nvPr/>
        </p:nvSpPr>
        <p:spPr bwMode="auto">
          <a:xfrm>
            <a:off x="6778625" y="5016500"/>
            <a:ext cx="1944688" cy="104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marL="0" lvl="1">
              <a:spcBef>
                <a:spcPct val="0"/>
              </a:spcBef>
              <a:buFontTx/>
              <a:buNone/>
            </a:pPr>
            <a:r>
              <a:rPr lang="en-US" altLang="en-US" sz="2200" b="1">
                <a:solidFill>
                  <a:srgbClr val="FF0000"/>
                </a:solidFill>
              </a:rPr>
              <a:t>Answer:</a:t>
            </a:r>
          </a:p>
          <a:p>
            <a:pPr marL="0" lvl="1">
              <a:spcBef>
                <a:spcPct val="0"/>
              </a:spcBef>
              <a:buFontTx/>
              <a:buNone/>
            </a:pPr>
            <a:r>
              <a:rPr lang="en-US" altLang="en-US" sz="2200" b="1">
                <a:solidFill>
                  <a:srgbClr val="FF0000"/>
                </a:solidFill>
              </a:rPr>
              <a:t>Only 1 and 5</a:t>
            </a:r>
            <a:r>
              <a:rPr lang="en-US" altLang="en-US" sz="2200"/>
              <a:t> </a:t>
            </a:r>
          </a:p>
          <a:p>
            <a:pPr>
              <a:spcBef>
                <a:spcPct val="0"/>
              </a:spcBef>
              <a:buSzTx/>
              <a:buFontTx/>
              <a:buNone/>
            </a:pP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Footer Placeholder 3">
            <a:extLst>
              <a:ext uri="{FF2B5EF4-FFF2-40B4-BE49-F238E27FC236}">
                <a16:creationId xmlns:a16="http://schemas.microsoft.com/office/drawing/2014/main" id="{693DEAF4-789E-4080-A46A-718B156F222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23554" name="Rectangle 2">
            <a:extLst>
              <a:ext uri="{FF2B5EF4-FFF2-40B4-BE49-F238E27FC236}">
                <a16:creationId xmlns:a16="http://schemas.microsoft.com/office/drawing/2014/main" id="{5D76699B-4253-4A00-BC4A-7631961A754E}"/>
              </a:ext>
            </a:extLst>
          </p:cNvPr>
          <p:cNvSpPr>
            <a:spLocks noGrp="1" noChangeArrowheads="1"/>
          </p:cNvSpPr>
          <p:nvPr>
            <p:ph type="title"/>
          </p:nvPr>
        </p:nvSpPr>
        <p:spPr/>
        <p:txBody>
          <a:bodyPr/>
          <a:lstStyle/>
          <a:p>
            <a:r>
              <a:rPr lang="en-US" altLang="en-US"/>
              <a:t>Types of CPU Schedulers</a:t>
            </a:r>
          </a:p>
        </p:txBody>
      </p:sp>
      <p:sp>
        <p:nvSpPr>
          <p:cNvPr id="6148" name="Rectangle 3">
            <a:extLst>
              <a:ext uri="{FF2B5EF4-FFF2-40B4-BE49-F238E27FC236}">
                <a16:creationId xmlns:a16="http://schemas.microsoft.com/office/drawing/2014/main" id="{19FEB44C-C1F1-4021-9B6E-6FF044AD05DD}"/>
              </a:ext>
            </a:extLst>
          </p:cNvPr>
          <p:cNvSpPr>
            <a:spLocks noGrp="1" noChangeArrowheads="1"/>
          </p:cNvSpPr>
          <p:nvPr>
            <p:ph type="body" idx="1"/>
          </p:nvPr>
        </p:nvSpPr>
        <p:spPr>
          <a:xfrm>
            <a:off x="460375" y="1493838"/>
            <a:ext cx="8464550" cy="5122862"/>
          </a:xfrm>
        </p:spPr>
        <p:txBody>
          <a:bodyPr/>
          <a:lstStyle/>
          <a:p>
            <a:pPr marL="400050" indent="-457200">
              <a:buFont typeface="+mj-lt"/>
              <a:buAutoNum type="arabicPeriod"/>
              <a:defRPr/>
            </a:pPr>
            <a:r>
              <a:rPr lang="en-US" sz="2400" b="1" dirty="0" err="1">
                <a:solidFill>
                  <a:srgbClr val="FF0000"/>
                </a:solidFill>
              </a:rPr>
              <a:t>Nonpreemptive</a:t>
            </a:r>
            <a:r>
              <a:rPr lang="en-US" sz="2400" dirty="0"/>
              <a:t> means that once the CPU has been allocated to a process, the process keeps the CPU until it </a:t>
            </a:r>
            <a:r>
              <a:rPr lang="en-US" sz="2400" dirty="0">
                <a:solidFill>
                  <a:schemeClr val="accent2"/>
                </a:solidFill>
              </a:rPr>
              <a:t>voluntarily releases the CPU</a:t>
            </a:r>
            <a:r>
              <a:rPr lang="en-US" sz="2400" dirty="0"/>
              <a:t> either by terminating or requesting I/</a:t>
            </a:r>
            <a:r>
              <a:rPr lang="en-US" sz="2400" dirty="0">
                <a:solidFill>
                  <a:schemeClr val="tx1">
                    <a:lumMod val="95000"/>
                    <a:lumOff val="5000"/>
                  </a:schemeClr>
                </a:solidFill>
              </a:rPr>
              <a:t>O/event wait</a:t>
            </a:r>
          </a:p>
          <a:p>
            <a:pPr lvl="1">
              <a:defRPr/>
            </a:pPr>
            <a:r>
              <a:rPr lang="en-US" sz="2400" dirty="0"/>
              <a:t>Scheduling is </a:t>
            </a:r>
            <a:r>
              <a:rPr lang="en-US" sz="2400" dirty="0" err="1"/>
              <a:t>nonpreemptive</a:t>
            </a:r>
            <a:r>
              <a:rPr lang="en-US" sz="2400" dirty="0"/>
              <a:t> if it happens </a:t>
            </a:r>
            <a:r>
              <a:rPr lang="en-US" sz="2400" b="1" dirty="0"/>
              <a:t>only</a:t>
            </a:r>
            <a:r>
              <a:rPr lang="en-US" sz="2400" dirty="0"/>
              <a:t> for transitions 1 and 5 (also 4, when a CPU core is idle)</a:t>
            </a:r>
            <a:endParaRPr lang="en-US" sz="2400" dirty="0">
              <a:cs typeface="Helvetica"/>
            </a:endParaRPr>
          </a:p>
          <a:p>
            <a:pPr lvl="4">
              <a:defRPr/>
            </a:pPr>
            <a:endParaRPr lang="en-US" dirty="0"/>
          </a:p>
          <a:p>
            <a:pPr marL="400050" indent="-457200">
              <a:buFont typeface="+mj-lt"/>
              <a:buAutoNum type="arabicPeriod"/>
              <a:defRPr/>
            </a:pPr>
            <a:r>
              <a:rPr lang="en-US" sz="2400" b="1" dirty="0">
                <a:solidFill>
                  <a:srgbClr val="FF0000"/>
                </a:solidFill>
              </a:rPr>
              <a:t>Preemptive</a:t>
            </a:r>
            <a:r>
              <a:rPr lang="en-US" sz="2400" dirty="0"/>
              <a:t> means that the CPU can be taken away from a running process </a:t>
            </a:r>
            <a:r>
              <a:rPr lang="en-US" sz="2400" dirty="0">
                <a:solidFill>
                  <a:schemeClr val="accent2"/>
                </a:solidFill>
              </a:rPr>
              <a:t>at any time </a:t>
            </a:r>
            <a:r>
              <a:rPr lang="en-US" sz="2400" dirty="0"/>
              <a:t>by the scheduler</a:t>
            </a:r>
          </a:p>
          <a:p>
            <a:pPr lvl="1">
              <a:defRPr/>
            </a:pPr>
            <a:r>
              <a:rPr lang="en-US" sz="2400" dirty="0"/>
              <a:t>Scheduling is preemptive if it </a:t>
            </a:r>
            <a:r>
              <a:rPr lang="en-US" sz="2400" b="1" dirty="0"/>
              <a:t>also</a:t>
            </a:r>
            <a:r>
              <a:rPr lang="en-US" sz="2400" dirty="0"/>
              <a:t> happens for transitions 2, 3, 4 or at any other time instant</a:t>
            </a:r>
            <a:endParaRPr lang="en-US" sz="2400" dirty="0">
              <a:cs typeface="Helvetic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DDF10-9BA9-93BB-78CB-803AA83EB96A}"/>
              </a:ext>
            </a:extLst>
          </p:cNvPr>
          <p:cNvSpPr>
            <a:spLocks noGrp="1"/>
          </p:cNvSpPr>
          <p:nvPr>
            <p:ph type="title"/>
          </p:nvPr>
        </p:nvSpPr>
        <p:spPr/>
        <p:txBody>
          <a:bodyPr/>
          <a:lstStyle/>
          <a:p>
            <a:r>
              <a:rPr lang="en-US" dirty="0"/>
              <a:t>Exercise</a:t>
            </a:r>
          </a:p>
        </p:txBody>
      </p:sp>
      <p:sp>
        <p:nvSpPr>
          <p:cNvPr id="4" name="Footer Placeholder 3">
            <a:extLst>
              <a:ext uri="{FF2B5EF4-FFF2-40B4-BE49-F238E27FC236}">
                <a16:creationId xmlns:a16="http://schemas.microsoft.com/office/drawing/2014/main" id="{63448A31-CE06-551E-7901-6E6E842B79DB}"/>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Add-in 4">
                <a:extLst>
                  <a:ext uri="{FF2B5EF4-FFF2-40B4-BE49-F238E27FC236}">
                    <a16:creationId xmlns:a16="http://schemas.microsoft.com/office/drawing/2014/main" id="{1E625128-ACB9-9B84-3365-DF45F78AFE81}"/>
                  </a:ext>
                </a:extLst>
              </p:cNvPr>
              <p:cNvGraphicFramePr>
                <a:graphicFrameLocks noGrp="1"/>
              </p:cNvGraphicFramePr>
              <p:nvPr>
                <p:extLst>
                  <p:ext uri="{D42A27DB-BD31-4B8C-83A1-F6EECF244321}">
                    <p14:modId xmlns:p14="http://schemas.microsoft.com/office/powerpoint/2010/main" val="2828283156"/>
                  </p:ext>
                </p:extLst>
              </p:nvPr>
            </p:nvGraphicFramePr>
            <p:xfrm>
              <a:off x="69850" y="952500"/>
              <a:ext cx="9074150" cy="5072519"/>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5" name="Add-in 4">
                <a:extLst>
                  <a:ext uri="{FF2B5EF4-FFF2-40B4-BE49-F238E27FC236}">
                    <a16:creationId xmlns:a16="http://schemas.microsoft.com/office/drawing/2014/main" id="{1E625128-ACB9-9B84-3365-DF45F78AFE81}"/>
                  </a:ext>
                </a:extLst>
              </p:cNvPr>
              <p:cNvPicPr>
                <a:picLocks noGrp="1" noRot="1" noChangeAspect="1" noMove="1" noResize="1" noEditPoints="1" noAdjustHandles="1" noChangeArrowheads="1" noChangeShapeType="1"/>
              </p:cNvPicPr>
              <p:nvPr/>
            </p:nvPicPr>
            <p:blipFill>
              <a:blip r:embed="rId4"/>
              <a:stretch>
                <a:fillRect/>
              </a:stretch>
            </p:blipFill>
            <p:spPr>
              <a:xfrm>
                <a:off x="69850" y="952500"/>
                <a:ext cx="9074150" cy="5072519"/>
              </a:xfrm>
              <a:prstGeom prst="rect">
                <a:avLst/>
              </a:prstGeom>
            </p:spPr>
          </p:pic>
        </mc:Fallback>
      </mc:AlternateContent>
    </p:spTree>
    <p:extLst>
      <p:ext uri="{BB962C8B-B14F-4D97-AF65-F5344CB8AC3E}">
        <p14:creationId xmlns:p14="http://schemas.microsoft.com/office/powerpoint/2010/main" val="718181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Footer Placeholder 3">
            <a:extLst>
              <a:ext uri="{FF2B5EF4-FFF2-40B4-BE49-F238E27FC236}">
                <a16:creationId xmlns:a16="http://schemas.microsoft.com/office/drawing/2014/main" id="{ABD9ACD9-B98C-40A1-B562-764CEDFD975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25602" name="Rectangle 2">
            <a:extLst>
              <a:ext uri="{FF2B5EF4-FFF2-40B4-BE49-F238E27FC236}">
                <a16:creationId xmlns:a16="http://schemas.microsoft.com/office/drawing/2014/main" id="{0FD0C65C-83D2-4662-9F2D-13A363B81A34}"/>
              </a:ext>
            </a:extLst>
          </p:cNvPr>
          <p:cNvSpPr>
            <a:spLocks noGrp="1" noChangeArrowheads="1"/>
          </p:cNvSpPr>
          <p:nvPr>
            <p:ph type="title"/>
          </p:nvPr>
        </p:nvSpPr>
        <p:spPr/>
        <p:txBody>
          <a:bodyPr/>
          <a:lstStyle/>
          <a:p>
            <a:r>
              <a:rPr lang="en-US" altLang="en-US"/>
              <a:t>Scheduling Objectives</a:t>
            </a:r>
          </a:p>
        </p:txBody>
      </p:sp>
      <p:sp>
        <p:nvSpPr>
          <p:cNvPr id="7172" name="Rectangle 3">
            <a:extLst>
              <a:ext uri="{FF2B5EF4-FFF2-40B4-BE49-F238E27FC236}">
                <a16:creationId xmlns:a16="http://schemas.microsoft.com/office/drawing/2014/main" id="{F0A78A4D-6329-4390-BDAA-11C47508A677}"/>
              </a:ext>
            </a:extLst>
          </p:cNvPr>
          <p:cNvSpPr>
            <a:spLocks noGrp="1" noChangeArrowheads="1"/>
          </p:cNvSpPr>
          <p:nvPr>
            <p:ph type="body" idx="1"/>
          </p:nvPr>
        </p:nvSpPr>
        <p:spPr>
          <a:xfrm>
            <a:off x="304800" y="1316038"/>
            <a:ext cx="8502650" cy="4838700"/>
          </a:xfrm>
        </p:spPr>
        <p:txBody>
          <a:bodyPr/>
          <a:lstStyle/>
          <a:p>
            <a:pPr marL="0" indent="0">
              <a:buFontTx/>
              <a:buNone/>
              <a:defRPr/>
            </a:pPr>
            <a:r>
              <a:rPr lang="en-US" altLang="en-US" sz="3200" b="1" dirty="0">
                <a:solidFill>
                  <a:srgbClr val="FF0000"/>
                </a:solidFill>
              </a:rPr>
              <a:t>System-wide Objectives:</a:t>
            </a:r>
            <a:r>
              <a:rPr lang="en-US" altLang="en-US" sz="2800" b="1" dirty="0">
                <a:solidFill>
                  <a:srgbClr val="FF0000"/>
                </a:solidFill>
              </a:rPr>
              <a:t>				</a:t>
            </a:r>
            <a:endParaRPr lang="en-US" dirty="0"/>
          </a:p>
          <a:p>
            <a:pPr marL="514350" indent="-514350">
              <a:buFont typeface="Helvetica" charset="0"/>
              <a:buAutoNum type="arabicPeriod"/>
              <a:defRPr/>
            </a:pPr>
            <a:r>
              <a:rPr lang="en-US" altLang="en-US" sz="2800" b="1" dirty="0">
                <a:solidFill>
                  <a:srgbClr val="FF0000"/>
                </a:solidFill>
              </a:rPr>
              <a:t>Max. CPU Utilization:</a:t>
            </a:r>
            <a:r>
              <a:rPr lang="en-US" altLang="en-US" sz="2800" dirty="0"/>
              <a:t> Keep the CPU as busy as possible</a:t>
            </a:r>
          </a:p>
          <a:p>
            <a:pPr marL="1028700" lvl="1" indent="-514350">
              <a:defRPr/>
            </a:pPr>
            <a:r>
              <a:rPr lang="en-US" altLang="en-US" sz="2800" dirty="0">
                <a:solidFill>
                  <a:schemeClr val="accent2"/>
                </a:solidFill>
              </a:rPr>
              <a:t>Percentage of time during which the CPU cores are busy executing processes.</a:t>
            </a:r>
            <a:endParaRPr lang="en-US" altLang="en-US" sz="2200" dirty="0">
              <a:solidFill>
                <a:schemeClr val="accent2"/>
              </a:solidFill>
              <a:cs typeface="Helvetica"/>
            </a:endParaRPr>
          </a:p>
          <a:p>
            <a:pPr marL="1028700" lvl="1" indent="-514350">
              <a:defRPr/>
            </a:pPr>
            <a:r>
              <a:rPr lang="en-US" altLang="en-US" sz="2800" dirty="0">
                <a:solidFill>
                  <a:schemeClr val="accent2"/>
                </a:solidFill>
              </a:rPr>
              <a:t>(Sum of execution time on each core) divided by (total time multiplied by number of cores)</a:t>
            </a:r>
            <a:endParaRPr lang="en-US" altLang="en-US" sz="2800" dirty="0">
              <a:solidFill>
                <a:schemeClr val="accent2"/>
              </a:solidFill>
              <a:cs typeface="Helvetica"/>
            </a:endParaRPr>
          </a:p>
          <a:p>
            <a:pPr marL="514350" indent="-514350">
              <a:buFont typeface="Helvetica" charset="0"/>
              <a:buAutoNum type="arabicPeriod"/>
              <a:defRPr/>
            </a:pPr>
            <a:r>
              <a:rPr lang="en-US" altLang="en-US" sz="2800" b="1" dirty="0">
                <a:solidFill>
                  <a:srgbClr val="FF0000"/>
                </a:solidFill>
              </a:rPr>
              <a:t>Max. Throughput:</a:t>
            </a:r>
            <a:r>
              <a:rPr lang="en-US" altLang="en-US" sz="2800" dirty="0"/>
              <a:t> Number of processes that complete their execution per unit of time</a:t>
            </a:r>
          </a:p>
          <a:p>
            <a:pPr marL="1028700" lvl="1" indent="-514350">
              <a:defRPr/>
            </a:pPr>
            <a:r>
              <a:rPr lang="en-US" altLang="en-US" sz="2800" dirty="0">
                <a:solidFill>
                  <a:schemeClr val="accent2"/>
                </a:solidFill>
              </a:rPr>
              <a:t>Number of </a:t>
            </a:r>
            <a:r>
              <a:rPr lang="en-US" altLang="en-US" sz="2800" b="1" dirty="0">
                <a:solidFill>
                  <a:schemeClr val="accent2"/>
                </a:solidFill>
              </a:rPr>
              <a:t>“exit” transitions</a:t>
            </a:r>
            <a:r>
              <a:rPr lang="en-US" altLang="en-US" sz="2800" dirty="0">
                <a:solidFill>
                  <a:schemeClr val="accent2"/>
                </a:solidFill>
              </a:rPr>
              <a:t> per unit of time </a:t>
            </a:r>
            <a:endParaRPr lang="en-US" altLang="en-US" sz="2800" dirty="0">
              <a:solidFill>
                <a:schemeClr val="accent2"/>
              </a:solidFill>
              <a:cs typeface="Helvetic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7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Footer Placeholder 3">
            <a:extLst>
              <a:ext uri="{FF2B5EF4-FFF2-40B4-BE49-F238E27FC236}">
                <a16:creationId xmlns:a16="http://schemas.microsoft.com/office/drawing/2014/main" id="{5E2F41F1-5407-428A-99F8-5F7F62246C0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27650" name="Rectangle 2050">
            <a:extLst>
              <a:ext uri="{FF2B5EF4-FFF2-40B4-BE49-F238E27FC236}">
                <a16:creationId xmlns:a16="http://schemas.microsoft.com/office/drawing/2014/main" id="{AC6052C6-5E8B-4BE3-A6DC-65960B32B379}"/>
              </a:ext>
            </a:extLst>
          </p:cNvPr>
          <p:cNvSpPr>
            <a:spLocks noGrp="1" noChangeArrowheads="1"/>
          </p:cNvSpPr>
          <p:nvPr>
            <p:ph type="title"/>
          </p:nvPr>
        </p:nvSpPr>
        <p:spPr/>
        <p:txBody>
          <a:bodyPr/>
          <a:lstStyle/>
          <a:p>
            <a:r>
              <a:rPr lang="en-US" altLang="en-US"/>
              <a:t>Scheduling Objectives (Cont.)</a:t>
            </a:r>
          </a:p>
        </p:txBody>
      </p:sp>
      <p:sp>
        <p:nvSpPr>
          <p:cNvPr id="8196" name="Rectangle 2051">
            <a:extLst>
              <a:ext uri="{FF2B5EF4-FFF2-40B4-BE49-F238E27FC236}">
                <a16:creationId xmlns:a16="http://schemas.microsoft.com/office/drawing/2014/main" id="{D8FCFDAD-66C3-43A1-9DD4-2A5665994940}"/>
              </a:ext>
            </a:extLst>
          </p:cNvPr>
          <p:cNvSpPr>
            <a:spLocks noGrp="1" noChangeArrowheads="1"/>
          </p:cNvSpPr>
          <p:nvPr>
            <p:ph type="body" idx="1"/>
          </p:nvPr>
        </p:nvSpPr>
        <p:spPr>
          <a:xfrm>
            <a:off x="304800" y="1160463"/>
            <a:ext cx="8502650" cy="4138612"/>
          </a:xfrm>
        </p:spPr>
        <p:txBody>
          <a:bodyPr/>
          <a:lstStyle/>
          <a:p>
            <a:pPr marL="0" indent="0">
              <a:buFontTx/>
              <a:buNone/>
              <a:defRPr/>
            </a:pPr>
            <a:r>
              <a:rPr lang="en-US" altLang="en-US" sz="3200" b="1" dirty="0">
                <a:solidFill>
                  <a:srgbClr val="FF0000"/>
                </a:solidFill>
              </a:rPr>
              <a:t>Individual Process Objectives:</a:t>
            </a:r>
          </a:p>
          <a:p>
            <a:pPr marL="514350" indent="-514350">
              <a:buFont typeface="+mj-lt"/>
              <a:buAutoNum type="arabicPeriod"/>
              <a:defRPr/>
            </a:pPr>
            <a:r>
              <a:rPr lang="en-US" altLang="en-US" sz="2800" b="1" dirty="0">
                <a:solidFill>
                  <a:srgbClr val="FF0000"/>
                </a:solidFill>
              </a:rPr>
              <a:t>Min. Turnaround Time:</a:t>
            </a:r>
            <a:r>
              <a:rPr lang="en-US" altLang="en-US" sz="2800" dirty="0"/>
              <a:t> Amount of time to execute a particular process, i.e., from the time of creation to the time of termination</a:t>
            </a:r>
          </a:p>
          <a:p>
            <a:pPr marL="1028700" lvl="1" indent="-514350">
              <a:defRPr/>
            </a:pPr>
            <a:r>
              <a:rPr lang="en-US" altLang="en-US" sz="2800" dirty="0">
                <a:solidFill>
                  <a:schemeClr val="accent2"/>
                </a:solidFill>
              </a:rPr>
              <a:t>Time elapsed between </a:t>
            </a:r>
            <a:r>
              <a:rPr lang="en-US" altLang="en-US" sz="2800" b="1" dirty="0">
                <a:solidFill>
                  <a:schemeClr val="accent2"/>
                </a:solidFill>
              </a:rPr>
              <a:t>“admitted” </a:t>
            </a:r>
            <a:r>
              <a:rPr lang="en-US" altLang="en-US" sz="2800" dirty="0">
                <a:solidFill>
                  <a:schemeClr val="accent2"/>
                </a:solidFill>
              </a:rPr>
              <a:t>and </a:t>
            </a:r>
            <a:r>
              <a:rPr lang="en-US" altLang="en-US" sz="2800" b="1" dirty="0">
                <a:solidFill>
                  <a:schemeClr val="accent2"/>
                </a:solidFill>
              </a:rPr>
              <a:t>“exit” transitions</a:t>
            </a:r>
            <a:r>
              <a:rPr lang="en-US" altLang="en-US" sz="2800" dirty="0">
                <a:solidFill>
                  <a:schemeClr val="accent2"/>
                </a:solidFill>
              </a:rPr>
              <a:t> for a process</a:t>
            </a:r>
          </a:p>
          <a:p>
            <a:pPr marL="1028700" lvl="1" indent="-514350">
              <a:defRPr/>
            </a:pPr>
            <a:r>
              <a:rPr lang="en-US" altLang="en-US" sz="2800" dirty="0"/>
              <a:t>Average over all processes is denoted as </a:t>
            </a:r>
            <a:r>
              <a:rPr lang="en-US" altLang="en-US" sz="2800" dirty="0">
                <a:solidFill>
                  <a:srgbClr val="FF0000"/>
                </a:solidFill>
              </a:rPr>
              <a:t>average turnaround time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Footer Placeholder 3">
            <a:extLst>
              <a:ext uri="{FF2B5EF4-FFF2-40B4-BE49-F238E27FC236}">
                <a16:creationId xmlns:a16="http://schemas.microsoft.com/office/drawing/2014/main" id="{5B967427-DB69-480C-B721-47AEE9388D2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29698" name="Rectangle 2050">
            <a:extLst>
              <a:ext uri="{FF2B5EF4-FFF2-40B4-BE49-F238E27FC236}">
                <a16:creationId xmlns:a16="http://schemas.microsoft.com/office/drawing/2014/main" id="{609BE4CC-F68A-4D1B-9E74-8FF82F9F5179}"/>
              </a:ext>
            </a:extLst>
          </p:cNvPr>
          <p:cNvSpPr>
            <a:spLocks noGrp="1" noChangeArrowheads="1"/>
          </p:cNvSpPr>
          <p:nvPr>
            <p:ph type="title"/>
          </p:nvPr>
        </p:nvSpPr>
        <p:spPr/>
        <p:txBody>
          <a:bodyPr/>
          <a:lstStyle/>
          <a:p>
            <a:r>
              <a:rPr lang="en-US" altLang="en-US"/>
              <a:t>Scheduling Objectives (Cont.)</a:t>
            </a:r>
          </a:p>
        </p:txBody>
      </p:sp>
      <p:sp>
        <p:nvSpPr>
          <p:cNvPr id="8196" name="Rectangle 2051">
            <a:extLst>
              <a:ext uri="{FF2B5EF4-FFF2-40B4-BE49-F238E27FC236}">
                <a16:creationId xmlns:a16="http://schemas.microsoft.com/office/drawing/2014/main" id="{385FB1C7-565A-401D-9965-96AE595D0EE3}"/>
              </a:ext>
            </a:extLst>
          </p:cNvPr>
          <p:cNvSpPr>
            <a:spLocks noGrp="1" noChangeArrowheads="1"/>
          </p:cNvSpPr>
          <p:nvPr>
            <p:ph type="body" idx="1"/>
          </p:nvPr>
        </p:nvSpPr>
        <p:spPr>
          <a:xfrm>
            <a:off x="304800" y="1160463"/>
            <a:ext cx="8480425" cy="4138612"/>
          </a:xfrm>
        </p:spPr>
        <p:txBody>
          <a:bodyPr/>
          <a:lstStyle/>
          <a:p>
            <a:pPr marL="514350" indent="-514350">
              <a:buFont typeface="Helvetica" panose="020B0604020202020204" pitchFamily="34" charset="0"/>
              <a:buAutoNum type="arabicPeriod" startAt="2"/>
            </a:pPr>
            <a:r>
              <a:rPr lang="en-US" altLang="en-US" sz="2800" b="1" dirty="0">
                <a:solidFill>
                  <a:srgbClr val="FF0000"/>
                </a:solidFill>
              </a:rPr>
              <a:t>Min. Waiting Time:</a:t>
            </a:r>
            <a:r>
              <a:rPr lang="en-US" altLang="en-US" sz="2800" dirty="0"/>
              <a:t> Amount of time a process has been </a:t>
            </a:r>
            <a:r>
              <a:rPr lang="en-US" altLang="en-US" sz="2800" dirty="0">
                <a:solidFill>
                  <a:schemeClr val="accent2"/>
                </a:solidFill>
              </a:rPr>
              <a:t>waiting in the </a:t>
            </a:r>
            <a:r>
              <a:rPr lang="en-US" altLang="en-US" sz="2800" b="1" dirty="0">
                <a:solidFill>
                  <a:schemeClr val="accent2"/>
                </a:solidFill>
              </a:rPr>
              <a:t>“ready” state</a:t>
            </a:r>
          </a:p>
          <a:p>
            <a:pPr lvl="1"/>
            <a:r>
              <a:rPr lang="en-US" altLang="en-US" sz="2600" dirty="0"/>
              <a:t>We do not consider time in “waiting” state; why?</a:t>
            </a:r>
            <a:endParaRPr lang="en-US" altLang="en-US" sz="2600" dirty="0">
              <a:cs typeface="Helvetica"/>
            </a:endParaRPr>
          </a:p>
          <a:p>
            <a:pPr lvl="1"/>
            <a:r>
              <a:rPr lang="en-US" altLang="en-US" sz="2600" dirty="0"/>
              <a:t>Turnaround time components: CPU burst (running), I/O burst (waiting) and waiting time (ready)</a:t>
            </a:r>
            <a:endParaRPr lang="en-US" altLang="en-US" sz="2600" dirty="0">
              <a:cs typeface="Helvetica"/>
            </a:endParaRPr>
          </a:p>
          <a:p>
            <a:pPr lvl="1"/>
            <a:r>
              <a:rPr lang="en-US" altLang="en-US" sz="2600" dirty="0">
                <a:solidFill>
                  <a:srgbClr val="FF0000"/>
                </a:solidFill>
              </a:rPr>
              <a:t>If all processes have a single CPU burst (no I/O), then waiting time = turnaround time – CPU burst</a:t>
            </a:r>
            <a:endParaRPr lang="en-US" altLang="en-US" sz="2600" dirty="0">
              <a:solidFill>
                <a:srgbClr val="FF0000"/>
              </a:solidFill>
              <a:cs typeface="Helvetica"/>
            </a:endParaRPr>
          </a:p>
          <a:p>
            <a:pPr lvl="4"/>
            <a:endParaRPr lang="en-US" altLang="en-US" sz="2000"/>
          </a:p>
          <a:p>
            <a:pPr marL="514350" indent="-514350">
              <a:buFont typeface="Helvetica" panose="020B0604020202020204" pitchFamily="34" charset="0"/>
              <a:buAutoNum type="arabicPeriod" startAt="2"/>
            </a:pPr>
            <a:r>
              <a:rPr lang="en-US" altLang="en-US" sz="2800" b="1" dirty="0">
                <a:solidFill>
                  <a:srgbClr val="FF0000"/>
                </a:solidFill>
              </a:rPr>
              <a:t>Min. Response Time:</a:t>
            </a:r>
            <a:r>
              <a:rPr lang="en-US" altLang="en-US" sz="2800" dirty="0"/>
              <a:t> Time from a request submission (</a:t>
            </a:r>
            <a:r>
              <a:rPr lang="en-US" altLang="en-US" sz="2800" b="1" dirty="0">
                <a:solidFill>
                  <a:schemeClr val="accent2"/>
                </a:solidFill>
              </a:rPr>
              <a:t>“admitted” transition</a:t>
            </a:r>
            <a:r>
              <a:rPr lang="en-US" altLang="en-US" sz="2800" dirty="0"/>
              <a:t>) until the first response is produced (</a:t>
            </a:r>
            <a:r>
              <a:rPr lang="en-US" altLang="en-US" sz="2800" dirty="0">
                <a:solidFill>
                  <a:srgbClr val="FF0000"/>
                </a:solidFill>
              </a:rPr>
              <a:t>we assume first response coincides with start of execution</a:t>
            </a:r>
            <a:r>
              <a:rPr lang="en-US" altLang="en-US" sz="2800" dirty="0"/>
              <a:t>)</a:t>
            </a:r>
            <a:endParaRPr lang="en-US" altLang="en-US" sz="2800" dirty="0">
              <a:cs typeface="Helvetic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19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Footer Placeholder 3">
            <a:extLst>
              <a:ext uri="{FF2B5EF4-FFF2-40B4-BE49-F238E27FC236}">
                <a16:creationId xmlns:a16="http://schemas.microsoft.com/office/drawing/2014/main" id="{25410670-BA3D-4C08-9273-9FB8038DBC8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31746" name="Rectangle 2">
            <a:extLst>
              <a:ext uri="{FF2B5EF4-FFF2-40B4-BE49-F238E27FC236}">
                <a16:creationId xmlns:a16="http://schemas.microsoft.com/office/drawing/2014/main" id="{E34E2667-71AE-4CC0-A2DE-74763AAA0FA6}"/>
              </a:ext>
            </a:extLst>
          </p:cNvPr>
          <p:cNvSpPr>
            <a:spLocks noGrp="1" noChangeArrowheads="1"/>
          </p:cNvSpPr>
          <p:nvPr>
            <p:ph type="title"/>
          </p:nvPr>
        </p:nvSpPr>
        <p:spPr/>
        <p:txBody>
          <a:bodyPr/>
          <a:lstStyle/>
          <a:p>
            <a:r>
              <a:rPr lang="en-US" altLang="en-US" sz="2400" dirty="0"/>
              <a:t>Scheduling Algorithms: Uniprocessor System</a:t>
            </a:r>
            <a:endParaRPr lang="en-US" altLang="en-US" sz="2400">
              <a:cs typeface="Helvetica"/>
            </a:endParaRPr>
          </a:p>
        </p:txBody>
      </p:sp>
      <p:sp>
        <p:nvSpPr>
          <p:cNvPr id="31747" name="Rectangle 3">
            <a:extLst>
              <a:ext uri="{FF2B5EF4-FFF2-40B4-BE49-F238E27FC236}">
                <a16:creationId xmlns:a16="http://schemas.microsoft.com/office/drawing/2014/main" id="{4F04040A-398C-4341-9C2C-C5F232BDABEA}"/>
              </a:ext>
            </a:extLst>
          </p:cNvPr>
          <p:cNvSpPr>
            <a:spLocks noGrp="1" noChangeArrowheads="1"/>
          </p:cNvSpPr>
          <p:nvPr>
            <p:ph type="body" idx="1"/>
          </p:nvPr>
        </p:nvSpPr>
        <p:spPr>
          <a:xfrm>
            <a:off x="354013" y="1474788"/>
            <a:ext cx="8447087" cy="4114800"/>
          </a:xfrm>
        </p:spPr>
        <p:txBody>
          <a:bodyPr/>
          <a:lstStyle/>
          <a:p>
            <a:pPr marL="514350" indent="-514350">
              <a:buFont typeface="+mj-lt"/>
              <a:buAutoNum type="arabicPeriod"/>
              <a:defRPr/>
            </a:pPr>
            <a:r>
              <a:rPr lang="en-US" altLang="en-US" sz="2800" dirty="0">
                <a:solidFill>
                  <a:schemeClr val="tx1">
                    <a:lumMod val="95000"/>
                    <a:lumOff val="5000"/>
                  </a:schemeClr>
                </a:solidFill>
              </a:rPr>
              <a:t>First-Come, First-Served (FCFS) </a:t>
            </a:r>
            <a:endParaRPr lang="en-US" altLang="en-US" sz="2800" dirty="0">
              <a:solidFill>
                <a:schemeClr val="tx1">
                  <a:lumMod val="95000"/>
                  <a:lumOff val="5000"/>
                </a:schemeClr>
              </a:solidFill>
              <a:cs typeface="Helvetica"/>
            </a:endParaRPr>
          </a:p>
          <a:p>
            <a:pPr marL="514350" indent="-514350">
              <a:buFont typeface="+mj-lt"/>
              <a:buAutoNum type="arabicPeriod"/>
              <a:defRPr/>
            </a:pPr>
            <a:r>
              <a:rPr lang="en-US" altLang="en-US" sz="2800" dirty="0">
                <a:solidFill>
                  <a:schemeClr val="tx1">
                    <a:lumMod val="95000"/>
                    <a:lumOff val="5000"/>
                  </a:schemeClr>
                </a:solidFill>
              </a:rPr>
              <a:t>Shortest Job First (SJF)</a:t>
            </a:r>
            <a:endParaRPr lang="en-US" altLang="en-US" sz="2800" dirty="0">
              <a:solidFill>
                <a:schemeClr val="tx1">
                  <a:lumMod val="95000"/>
                  <a:lumOff val="5000"/>
                </a:schemeClr>
              </a:solidFill>
              <a:cs typeface="Helvetica"/>
            </a:endParaRPr>
          </a:p>
          <a:p>
            <a:pPr marL="514350" indent="-514350">
              <a:buFont typeface="+mj-lt"/>
              <a:buAutoNum type="arabicPeriod"/>
              <a:defRPr/>
            </a:pPr>
            <a:r>
              <a:rPr lang="en-US" altLang="en-US" sz="2800" dirty="0">
                <a:solidFill>
                  <a:schemeClr val="tx1">
                    <a:lumMod val="95000"/>
                    <a:lumOff val="5000"/>
                  </a:schemeClr>
                </a:solidFill>
              </a:rPr>
              <a:t>Priority-based Scheduling</a:t>
            </a:r>
            <a:endParaRPr lang="en-US" altLang="en-US" sz="2800" dirty="0">
              <a:solidFill>
                <a:schemeClr val="tx1">
                  <a:lumMod val="95000"/>
                  <a:lumOff val="5000"/>
                </a:schemeClr>
              </a:solidFill>
              <a:cs typeface="Helvetica"/>
            </a:endParaRPr>
          </a:p>
          <a:p>
            <a:pPr marL="514350" indent="-514350">
              <a:buFont typeface="+mj-lt"/>
              <a:buAutoNum type="arabicPeriod"/>
              <a:defRPr/>
            </a:pPr>
            <a:r>
              <a:rPr lang="en-US" altLang="en-US" sz="2800" dirty="0">
                <a:solidFill>
                  <a:schemeClr val="tx1">
                    <a:lumMod val="95000"/>
                    <a:lumOff val="5000"/>
                  </a:schemeClr>
                </a:solidFill>
              </a:rPr>
              <a:t>Round Robin (RR)</a:t>
            </a:r>
            <a:endParaRPr lang="en-US" altLang="en-US" sz="2800" dirty="0">
              <a:solidFill>
                <a:schemeClr val="tx1">
                  <a:lumMod val="95000"/>
                  <a:lumOff val="5000"/>
                </a:schemeClr>
              </a:solidFill>
              <a:cs typeface="Helvetica"/>
            </a:endParaRPr>
          </a:p>
          <a:p>
            <a:pPr marL="514350" indent="-514350">
              <a:buFont typeface="+mj-lt"/>
              <a:buAutoNum type="arabicPeriod"/>
              <a:defRPr/>
            </a:pPr>
            <a:r>
              <a:rPr lang="en-US" altLang="en-US" sz="2800" dirty="0">
                <a:solidFill>
                  <a:schemeClr val="tx1">
                    <a:lumMod val="95000"/>
                    <a:lumOff val="5000"/>
                  </a:schemeClr>
                </a:solidFill>
              </a:rPr>
              <a:t>Multilevel Queue Scheduling</a:t>
            </a:r>
            <a:endParaRPr lang="en-US" altLang="en-US" sz="2800" dirty="0">
              <a:solidFill>
                <a:schemeClr val="tx1">
                  <a:lumMod val="95000"/>
                  <a:lumOff val="5000"/>
                </a:schemeClr>
              </a:solidFill>
              <a:cs typeface="Helvetica"/>
            </a:endParaRPr>
          </a:p>
          <a:p>
            <a:pPr marL="2343150" lvl="4" indent="-514350">
              <a:buFont typeface="+mj-lt"/>
              <a:buAutoNum type="arabicPeriod"/>
              <a:defRPr/>
            </a:pPr>
            <a:endParaRPr lang="en-US" altLang="en-US" sz="2200" dirty="0">
              <a:solidFill>
                <a:srgbClr val="FF0000"/>
              </a:solidFill>
            </a:endParaRPr>
          </a:p>
          <a:p>
            <a:pPr marL="0" indent="0">
              <a:buNone/>
              <a:defRPr/>
            </a:pPr>
            <a:r>
              <a:rPr lang="en-US" sz="2800" b="1" dirty="0"/>
              <a:t>We assume a single CPU burst for each process, a single CPU core and focus on the average waiting time</a:t>
            </a:r>
            <a:endParaRPr lang="en-US" sz="2800" b="1" dirty="0">
              <a:cs typeface="Helvetica"/>
            </a:endParaRPr>
          </a:p>
          <a:p>
            <a:pPr marL="0" indent="0">
              <a:buFontTx/>
              <a:buNone/>
              <a:defRPr/>
            </a:pPr>
            <a:endParaRPr lang="en-US" altLang="en-US" sz="2800" dirty="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Footer Placeholder 3">
            <a:extLst>
              <a:ext uri="{FF2B5EF4-FFF2-40B4-BE49-F238E27FC236}">
                <a16:creationId xmlns:a16="http://schemas.microsoft.com/office/drawing/2014/main" id="{BCC19E90-48B9-497B-A4BF-776597273E1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33794" name="Rectangle 2">
            <a:extLst>
              <a:ext uri="{FF2B5EF4-FFF2-40B4-BE49-F238E27FC236}">
                <a16:creationId xmlns:a16="http://schemas.microsoft.com/office/drawing/2014/main" id="{349CD2D5-2450-4365-99FF-387349E7D142}"/>
              </a:ext>
            </a:extLst>
          </p:cNvPr>
          <p:cNvSpPr>
            <a:spLocks noGrp="1" noChangeArrowheads="1"/>
          </p:cNvSpPr>
          <p:nvPr>
            <p:ph type="title"/>
          </p:nvPr>
        </p:nvSpPr>
        <p:spPr>
          <a:xfrm>
            <a:off x="423863" y="514350"/>
            <a:ext cx="8242300" cy="457200"/>
          </a:xfrm>
        </p:spPr>
        <p:txBody>
          <a:bodyPr/>
          <a:lstStyle/>
          <a:p>
            <a:r>
              <a:rPr lang="en-US" altLang="en-US" sz="2800"/>
              <a:t>First-Come, First-Served (FCFS) Scheduling</a:t>
            </a:r>
            <a:endParaRPr lang="en-US" altLang="en-US"/>
          </a:p>
        </p:txBody>
      </p:sp>
      <p:sp>
        <p:nvSpPr>
          <p:cNvPr id="13316" name="Rectangle 3">
            <a:extLst>
              <a:ext uri="{FF2B5EF4-FFF2-40B4-BE49-F238E27FC236}">
                <a16:creationId xmlns:a16="http://schemas.microsoft.com/office/drawing/2014/main" id="{F14360E7-0F02-43F3-9D5E-FD40E4B32FAB}"/>
              </a:ext>
            </a:extLst>
          </p:cNvPr>
          <p:cNvSpPr>
            <a:spLocks noGrp="1" noChangeArrowheads="1"/>
          </p:cNvSpPr>
          <p:nvPr>
            <p:ph type="body" idx="1"/>
          </p:nvPr>
        </p:nvSpPr>
        <p:spPr>
          <a:xfrm>
            <a:off x="619125" y="1323975"/>
            <a:ext cx="8450263" cy="4760913"/>
          </a:xfrm>
        </p:spPr>
        <p:txBody>
          <a:bodyPr/>
          <a:lstStyle/>
          <a:p>
            <a:pPr>
              <a:tabLst>
                <a:tab pos="3032125" algn="ctr"/>
                <a:tab pos="4635500" algn="ctr"/>
              </a:tabLst>
            </a:pPr>
            <a:r>
              <a:rPr lang="en-US" altLang="en-US" sz="2000" dirty="0">
                <a:solidFill>
                  <a:srgbClr val="FF0000"/>
                </a:solidFill>
              </a:rPr>
              <a:t>Example:</a:t>
            </a:r>
            <a:r>
              <a:rPr lang="en-US" altLang="en-US" sz="2000" dirty="0"/>
              <a:t>	</a:t>
            </a:r>
            <a:r>
              <a:rPr lang="en-US" altLang="en-US" sz="2000" u="sng" dirty="0"/>
              <a:t>Process</a:t>
            </a:r>
            <a:r>
              <a:rPr lang="en-US" altLang="en-US" sz="2000" dirty="0"/>
              <a:t>	    </a:t>
            </a:r>
            <a:r>
              <a:rPr lang="en-US" altLang="en-US" sz="2000" u="sng" dirty="0"/>
              <a:t>CPU Burst Length</a:t>
            </a:r>
          </a:p>
          <a:p>
            <a:pPr>
              <a:buFontTx/>
              <a:buNone/>
              <a:tabLst>
                <a:tab pos="3032125" algn="ctr"/>
                <a:tab pos="4635500" algn="ctr"/>
              </a:tabLst>
            </a:pPr>
            <a:r>
              <a:rPr lang="en-US" altLang="en-US" sz="2000" dirty="0"/>
              <a:t>		</a:t>
            </a:r>
            <a:r>
              <a:rPr lang="en-US" altLang="en-US" sz="2000" i="1" dirty="0"/>
              <a:t>P</a:t>
            </a:r>
            <a:r>
              <a:rPr lang="en-US" altLang="en-US" sz="2000" i="1" baseline="-25000" dirty="0"/>
              <a:t>1</a:t>
            </a:r>
            <a:r>
              <a:rPr lang="en-US" altLang="en-US" sz="2000" dirty="0"/>
              <a:t>	24</a:t>
            </a:r>
            <a:endParaRPr lang="en-US" altLang="en-US" sz="2000" dirty="0">
              <a:cs typeface="Helvetica"/>
            </a:endParaRPr>
          </a:p>
          <a:p>
            <a:pPr>
              <a:buFontTx/>
              <a:buNone/>
              <a:tabLst>
                <a:tab pos="3032125" algn="ctr"/>
                <a:tab pos="4635500" algn="ctr"/>
              </a:tabLst>
            </a:pPr>
            <a:r>
              <a:rPr lang="en-US" altLang="en-US" sz="2000" dirty="0"/>
              <a:t>		 </a:t>
            </a:r>
            <a:r>
              <a:rPr lang="en-US" altLang="en-US" sz="2000" i="1" dirty="0"/>
              <a:t>P</a:t>
            </a:r>
            <a:r>
              <a:rPr lang="en-US" altLang="en-US" sz="2000" i="1" baseline="-25000" dirty="0"/>
              <a:t>2</a:t>
            </a:r>
            <a:r>
              <a:rPr lang="en-US" altLang="en-US" sz="2000" dirty="0"/>
              <a:t> 	 3</a:t>
            </a:r>
            <a:endParaRPr lang="en-US" altLang="en-US" sz="2000" dirty="0">
              <a:cs typeface="Helvetica"/>
            </a:endParaRPr>
          </a:p>
          <a:p>
            <a:pPr>
              <a:buNone/>
              <a:tabLst>
                <a:tab pos="3032125" algn="ctr"/>
                <a:tab pos="4635500" algn="ctr"/>
              </a:tabLst>
            </a:pPr>
            <a:r>
              <a:rPr lang="en-US" altLang="en-US" sz="2000" dirty="0"/>
              <a:t>		 </a:t>
            </a:r>
            <a:r>
              <a:rPr lang="en-US" altLang="en-US" sz="2000" i="1" dirty="0"/>
              <a:t>P</a:t>
            </a:r>
            <a:r>
              <a:rPr lang="en-US" altLang="en-US" sz="2000" i="1" baseline="-25000" dirty="0"/>
              <a:t>3	 </a:t>
            </a:r>
            <a:r>
              <a:rPr lang="en-US" altLang="en-US" sz="2000" dirty="0"/>
              <a:t>3</a:t>
            </a:r>
            <a:r>
              <a:rPr lang="en-US" altLang="en-US" sz="2000" i="1" baseline="-25000" dirty="0"/>
              <a:t> </a:t>
            </a:r>
            <a:endParaRPr lang="en-US" altLang="en-US" sz="2000" i="1" baseline="-25000" dirty="0">
              <a:cs typeface="Helvetica"/>
            </a:endParaRPr>
          </a:p>
          <a:p>
            <a:pPr>
              <a:tabLst>
                <a:tab pos="3032125" algn="ctr"/>
                <a:tab pos="4635500" algn="ctr"/>
              </a:tabLst>
            </a:pPr>
            <a:r>
              <a:rPr lang="en-US" altLang="en-US" sz="2000" dirty="0"/>
              <a:t>Suppose that processes arrive in the order </a:t>
            </a:r>
            <a:r>
              <a:rPr lang="en-US" altLang="en-US" sz="2000" i="1" dirty="0"/>
              <a:t>P</a:t>
            </a:r>
            <a:r>
              <a:rPr lang="en-US" altLang="en-US" sz="2000" i="1" baseline="-25000" dirty="0"/>
              <a:t>1</a:t>
            </a:r>
            <a:r>
              <a:rPr lang="en-US" altLang="en-US" sz="2000" dirty="0"/>
              <a:t>,  </a:t>
            </a:r>
            <a:r>
              <a:rPr lang="en-US" altLang="en-US" sz="2000" i="1" dirty="0"/>
              <a:t>P</a:t>
            </a:r>
            <a:r>
              <a:rPr lang="en-US" altLang="en-US" sz="2000" i="1" baseline="-25000" dirty="0"/>
              <a:t>2</a:t>
            </a:r>
            <a:r>
              <a:rPr lang="en-US" altLang="en-US" sz="2000" dirty="0"/>
              <a:t>, </a:t>
            </a:r>
            <a:r>
              <a:rPr lang="en-US" altLang="en-US" sz="2000" i="1" dirty="0"/>
              <a:t>P</a:t>
            </a:r>
            <a:r>
              <a:rPr lang="en-US" altLang="en-US" sz="2000" i="1" baseline="-25000" dirty="0"/>
              <a:t>3</a:t>
            </a:r>
            <a:r>
              <a:rPr lang="en-US" altLang="en-US" sz="2000" dirty="0"/>
              <a:t>, </a:t>
            </a:r>
            <a:r>
              <a:rPr lang="en-US" altLang="en-US" sz="2000" dirty="0">
                <a:solidFill>
                  <a:schemeClr val="accent2"/>
                </a:solidFill>
              </a:rPr>
              <a:t>all at time 0</a:t>
            </a:r>
            <a:endParaRPr lang="en-US" altLang="en-US" sz="2000" dirty="0">
              <a:solidFill>
                <a:schemeClr val="accent2"/>
              </a:solidFill>
              <a:cs typeface="Helvetica"/>
            </a:endParaRPr>
          </a:p>
          <a:p>
            <a:pPr lvl="4">
              <a:tabLst>
                <a:tab pos="3032125" algn="ctr"/>
                <a:tab pos="4635500" algn="ctr"/>
              </a:tabLst>
            </a:pPr>
            <a:endParaRPr lang="en-US" altLang="en-US" sz="1400" i="1" baseline="-25000"/>
          </a:p>
          <a:p>
            <a:pPr>
              <a:tabLst>
                <a:tab pos="3032125" algn="ctr"/>
                <a:tab pos="4635500" algn="ctr"/>
              </a:tabLst>
            </a:pPr>
            <a:r>
              <a:rPr lang="en-US" altLang="en-US" sz="2000" b="1" dirty="0">
                <a:solidFill>
                  <a:srgbClr val="FF0000"/>
                </a:solidFill>
              </a:rPr>
              <a:t>The Gantt Chart for the schedule is:</a:t>
            </a:r>
            <a:br>
              <a:rPr lang="en-US" altLang="en-US" sz="2000" b="1" dirty="0"/>
            </a:br>
            <a:br>
              <a:rPr lang="en-US" altLang="en-US" b="1" dirty="0"/>
            </a:br>
            <a:br>
              <a:rPr lang="en-US" altLang="en-US" b="1" dirty="0"/>
            </a:br>
            <a:br>
              <a:rPr lang="en-US" altLang="en-US" b="1" dirty="0"/>
            </a:br>
            <a:br>
              <a:rPr lang="en-US" altLang="en-US" b="1" dirty="0"/>
            </a:br>
            <a:endParaRPr lang="en-US" altLang="en-US" b="1"/>
          </a:p>
          <a:p>
            <a:pPr>
              <a:tabLst>
                <a:tab pos="3032125" algn="ctr"/>
                <a:tab pos="4635500" algn="ctr"/>
              </a:tabLst>
            </a:pPr>
            <a:r>
              <a:rPr lang="en-US" altLang="en-US" sz="2000" dirty="0"/>
              <a:t>Waiting time for </a:t>
            </a:r>
            <a:r>
              <a:rPr lang="en-US" altLang="en-US" sz="2000" i="1" dirty="0"/>
              <a:t>P</a:t>
            </a:r>
            <a:r>
              <a:rPr lang="en-US" altLang="en-US" sz="2000" i="1" baseline="-25000" dirty="0"/>
              <a:t>1</a:t>
            </a:r>
            <a:r>
              <a:rPr lang="en-US" altLang="en-US" sz="2000" dirty="0"/>
              <a:t>  = 0; </a:t>
            </a:r>
            <a:r>
              <a:rPr lang="en-US" altLang="en-US" sz="2000" i="1" dirty="0"/>
              <a:t>P</a:t>
            </a:r>
            <a:r>
              <a:rPr lang="en-US" altLang="en-US" sz="2000" i="1" baseline="-25000" dirty="0"/>
              <a:t>2</a:t>
            </a:r>
            <a:r>
              <a:rPr lang="en-US" altLang="en-US" sz="2000" dirty="0"/>
              <a:t>  = 24; </a:t>
            </a:r>
            <a:r>
              <a:rPr lang="en-US" altLang="en-US" sz="2000" i="1" dirty="0"/>
              <a:t>P</a:t>
            </a:r>
            <a:r>
              <a:rPr lang="en-US" altLang="en-US" sz="2000" i="1" baseline="-25000" dirty="0"/>
              <a:t>3 </a:t>
            </a:r>
            <a:r>
              <a:rPr lang="en-US" altLang="en-US" sz="2000" dirty="0"/>
              <a:t>= 27</a:t>
            </a:r>
            <a:endParaRPr lang="en-US" altLang="en-US" sz="2000" dirty="0">
              <a:cs typeface="Helvetica"/>
            </a:endParaRPr>
          </a:p>
          <a:p>
            <a:pPr>
              <a:tabLst>
                <a:tab pos="3032125" algn="ctr"/>
                <a:tab pos="4635500" algn="ctr"/>
              </a:tabLst>
            </a:pPr>
            <a:r>
              <a:rPr lang="en-US" altLang="en-US" sz="2000" dirty="0"/>
              <a:t>Average waiting time: (0 + 24 + 27)/3 = 17</a:t>
            </a:r>
            <a:endParaRPr lang="en-US" altLang="en-US" sz="2000" dirty="0">
              <a:cs typeface="Helvetica"/>
            </a:endParaRPr>
          </a:p>
        </p:txBody>
      </p:sp>
      <p:sp>
        <p:nvSpPr>
          <p:cNvPr id="33796" name="Rectangle 4">
            <a:extLst>
              <a:ext uri="{FF2B5EF4-FFF2-40B4-BE49-F238E27FC236}">
                <a16:creationId xmlns:a16="http://schemas.microsoft.com/office/drawing/2014/main" id="{AD342BA2-226E-4583-87A9-0A448F638B57}"/>
              </a:ext>
            </a:extLst>
          </p:cNvPr>
          <p:cNvSpPr>
            <a:spLocks noChangeArrowheads="1"/>
          </p:cNvSpPr>
          <p:nvPr/>
        </p:nvSpPr>
        <p:spPr bwMode="auto">
          <a:xfrm>
            <a:off x="1395413" y="4333875"/>
            <a:ext cx="5257800" cy="609600"/>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13319" name="Text Box 5">
            <a:extLst>
              <a:ext uri="{FF2B5EF4-FFF2-40B4-BE49-F238E27FC236}">
                <a16:creationId xmlns:a16="http://schemas.microsoft.com/office/drawing/2014/main" id="{D867779D-4806-4290-9338-FABDDCDD70AF}"/>
              </a:ext>
            </a:extLst>
          </p:cNvPr>
          <p:cNvSpPr txBox="1">
            <a:spLocks noChangeArrowheads="1"/>
          </p:cNvSpPr>
          <p:nvPr/>
        </p:nvSpPr>
        <p:spPr bwMode="auto">
          <a:xfrm>
            <a:off x="2690813" y="4410075"/>
            <a:ext cx="4206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P</a:t>
            </a:r>
            <a:r>
              <a:rPr lang="en-US" altLang="en-US" baseline="-25000"/>
              <a:t>1</a:t>
            </a:r>
            <a:endParaRPr lang="en-US" altLang="en-US"/>
          </a:p>
        </p:txBody>
      </p:sp>
      <p:sp>
        <p:nvSpPr>
          <p:cNvPr id="13320" name="Text Box 6">
            <a:extLst>
              <a:ext uri="{FF2B5EF4-FFF2-40B4-BE49-F238E27FC236}">
                <a16:creationId xmlns:a16="http://schemas.microsoft.com/office/drawing/2014/main" id="{6FD4F4D1-3668-499E-8EB0-AE16DC9B3DF3}"/>
              </a:ext>
            </a:extLst>
          </p:cNvPr>
          <p:cNvSpPr txBox="1">
            <a:spLocks noChangeArrowheads="1"/>
          </p:cNvSpPr>
          <p:nvPr/>
        </p:nvSpPr>
        <p:spPr bwMode="auto">
          <a:xfrm>
            <a:off x="5053013" y="4410075"/>
            <a:ext cx="4206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P</a:t>
            </a:r>
            <a:r>
              <a:rPr lang="en-US" altLang="en-US" baseline="-25000"/>
              <a:t>2</a:t>
            </a:r>
            <a:endParaRPr lang="en-US" altLang="en-US"/>
          </a:p>
        </p:txBody>
      </p:sp>
      <p:sp>
        <p:nvSpPr>
          <p:cNvPr id="13321" name="Text Box 7">
            <a:extLst>
              <a:ext uri="{FF2B5EF4-FFF2-40B4-BE49-F238E27FC236}">
                <a16:creationId xmlns:a16="http://schemas.microsoft.com/office/drawing/2014/main" id="{F0BA1102-85E6-4C51-9830-CB0D5ECFC8A3}"/>
              </a:ext>
            </a:extLst>
          </p:cNvPr>
          <p:cNvSpPr txBox="1">
            <a:spLocks noChangeArrowheads="1"/>
          </p:cNvSpPr>
          <p:nvPr/>
        </p:nvSpPr>
        <p:spPr bwMode="auto">
          <a:xfrm>
            <a:off x="5967413" y="4410075"/>
            <a:ext cx="4206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P</a:t>
            </a:r>
            <a:r>
              <a:rPr lang="en-US" altLang="en-US" baseline="-25000"/>
              <a:t>3</a:t>
            </a:r>
            <a:endParaRPr lang="en-US" altLang="en-US"/>
          </a:p>
        </p:txBody>
      </p:sp>
      <p:sp>
        <p:nvSpPr>
          <p:cNvPr id="33800" name="Line 8">
            <a:extLst>
              <a:ext uri="{FF2B5EF4-FFF2-40B4-BE49-F238E27FC236}">
                <a16:creationId xmlns:a16="http://schemas.microsoft.com/office/drawing/2014/main" id="{C9F00720-0C31-4922-BA08-53FA624F3E35}"/>
              </a:ext>
            </a:extLst>
          </p:cNvPr>
          <p:cNvSpPr>
            <a:spLocks noChangeShapeType="1"/>
          </p:cNvSpPr>
          <p:nvPr/>
        </p:nvSpPr>
        <p:spPr bwMode="auto">
          <a:xfrm>
            <a:off x="1395413" y="4943475"/>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323" name="Line 9">
            <a:extLst>
              <a:ext uri="{FF2B5EF4-FFF2-40B4-BE49-F238E27FC236}">
                <a16:creationId xmlns:a16="http://schemas.microsoft.com/office/drawing/2014/main" id="{F25044FF-82CD-4E17-B82C-41407799B780}"/>
              </a:ext>
            </a:extLst>
          </p:cNvPr>
          <p:cNvSpPr>
            <a:spLocks noChangeShapeType="1"/>
          </p:cNvSpPr>
          <p:nvPr/>
        </p:nvSpPr>
        <p:spPr bwMode="auto">
          <a:xfrm>
            <a:off x="6653213" y="4943475"/>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 name="Group 19">
            <a:extLst>
              <a:ext uri="{FF2B5EF4-FFF2-40B4-BE49-F238E27FC236}">
                <a16:creationId xmlns:a16="http://schemas.microsoft.com/office/drawing/2014/main" id="{8DF1A8D5-14D6-4144-ADFF-4C7CBE3279CB}"/>
              </a:ext>
            </a:extLst>
          </p:cNvPr>
          <p:cNvGrpSpPr>
            <a:grpSpLocks/>
          </p:cNvGrpSpPr>
          <p:nvPr/>
        </p:nvGrpSpPr>
        <p:grpSpPr bwMode="auto">
          <a:xfrm>
            <a:off x="4519613" y="4333875"/>
            <a:ext cx="438150" cy="1128713"/>
            <a:chOff x="4519613" y="3970338"/>
            <a:chExt cx="438150" cy="1128712"/>
          </a:xfrm>
        </p:grpSpPr>
        <p:sp>
          <p:nvSpPr>
            <p:cNvPr id="33809" name="Line 10">
              <a:extLst>
                <a:ext uri="{FF2B5EF4-FFF2-40B4-BE49-F238E27FC236}">
                  <a16:creationId xmlns:a16="http://schemas.microsoft.com/office/drawing/2014/main" id="{EC599218-5401-4436-B47E-0271F87BD76A}"/>
                </a:ext>
              </a:extLst>
            </p:cNvPr>
            <p:cNvSpPr>
              <a:spLocks noChangeShapeType="1"/>
            </p:cNvSpPr>
            <p:nvPr/>
          </p:nvSpPr>
          <p:spPr bwMode="auto">
            <a:xfrm>
              <a:off x="4748213" y="3970338"/>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10" name="Line 12">
              <a:extLst>
                <a:ext uri="{FF2B5EF4-FFF2-40B4-BE49-F238E27FC236}">
                  <a16:creationId xmlns:a16="http://schemas.microsoft.com/office/drawing/2014/main" id="{135F712E-488F-4D5F-8735-68D08A94ECFC}"/>
                </a:ext>
              </a:extLst>
            </p:cNvPr>
            <p:cNvSpPr>
              <a:spLocks noChangeShapeType="1"/>
            </p:cNvSpPr>
            <p:nvPr/>
          </p:nvSpPr>
          <p:spPr bwMode="auto">
            <a:xfrm>
              <a:off x="4748213" y="457993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11" name="Text Box 14">
              <a:extLst>
                <a:ext uri="{FF2B5EF4-FFF2-40B4-BE49-F238E27FC236}">
                  <a16:creationId xmlns:a16="http://schemas.microsoft.com/office/drawing/2014/main" id="{BD9871A7-BEBD-45D2-8152-FC0FD0BB36C3}"/>
                </a:ext>
              </a:extLst>
            </p:cNvPr>
            <p:cNvSpPr txBox="1">
              <a:spLocks noChangeArrowheads="1"/>
            </p:cNvSpPr>
            <p:nvPr/>
          </p:nvSpPr>
          <p:spPr bwMode="auto">
            <a:xfrm>
              <a:off x="4519613" y="4732338"/>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24</a:t>
              </a:r>
            </a:p>
          </p:txBody>
        </p:sp>
      </p:grpSp>
      <p:grpSp>
        <p:nvGrpSpPr>
          <p:cNvPr id="3" name="Group 20">
            <a:extLst>
              <a:ext uri="{FF2B5EF4-FFF2-40B4-BE49-F238E27FC236}">
                <a16:creationId xmlns:a16="http://schemas.microsoft.com/office/drawing/2014/main" id="{51D09FA9-BC3D-461C-8217-D21ACEFD4882}"/>
              </a:ext>
            </a:extLst>
          </p:cNvPr>
          <p:cNvGrpSpPr>
            <a:grpSpLocks/>
          </p:cNvGrpSpPr>
          <p:nvPr/>
        </p:nvGrpSpPr>
        <p:grpSpPr bwMode="auto">
          <a:xfrm>
            <a:off x="5434013" y="4333875"/>
            <a:ext cx="438150" cy="1128713"/>
            <a:chOff x="5434013" y="3970338"/>
            <a:chExt cx="438150" cy="1128712"/>
          </a:xfrm>
        </p:grpSpPr>
        <p:sp>
          <p:nvSpPr>
            <p:cNvPr id="33806" name="Line 11">
              <a:extLst>
                <a:ext uri="{FF2B5EF4-FFF2-40B4-BE49-F238E27FC236}">
                  <a16:creationId xmlns:a16="http://schemas.microsoft.com/office/drawing/2014/main" id="{CC5C69F1-80CD-4D2A-8FD8-DDC190F8C58B}"/>
                </a:ext>
              </a:extLst>
            </p:cNvPr>
            <p:cNvSpPr>
              <a:spLocks noChangeShapeType="1"/>
            </p:cNvSpPr>
            <p:nvPr/>
          </p:nvSpPr>
          <p:spPr bwMode="auto">
            <a:xfrm>
              <a:off x="5662613" y="3970338"/>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07" name="Line 13">
              <a:extLst>
                <a:ext uri="{FF2B5EF4-FFF2-40B4-BE49-F238E27FC236}">
                  <a16:creationId xmlns:a16="http://schemas.microsoft.com/office/drawing/2014/main" id="{0A3282FD-6EFF-4805-B70C-5CB6DA8B2DDE}"/>
                </a:ext>
              </a:extLst>
            </p:cNvPr>
            <p:cNvSpPr>
              <a:spLocks noChangeShapeType="1"/>
            </p:cNvSpPr>
            <p:nvPr/>
          </p:nvSpPr>
          <p:spPr bwMode="auto">
            <a:xfrm>
              <a:off x="5662613" y="457993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08" name="Text Box 15">
              <a:extLst>
                <a:ext uri="{FF2B5EF4-FFF2-40B4-BE49-F238E27FC236}">
                  <a16:creationId xmlns:a16="http://schemas.microsoft.com/office/drawing/2014/main" id="{16F564C2-D320-41B5-B35B-E350A8B73388}"/>
                </a:ext>
              </a:extLst>
            </p:cNvPr>
            <p:cNvSpPr txBox="1">
              <a:spLocks noChangeArrowheads="1"/>
            </p:cNvSpPr>
            <p:nvPr/>
          </p:nvSpPr>
          <p:spPr bwMode="auto">
            <a:xfrm>
              <a:off x="5434013" y="4732338"/>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27</a:t>
              </a:r>
            </a:p>
          </p:txBody>
        </p:sp>
      </p:grpSp>
      <p:sp>
        <p:nvSpPr>
          <p:cNvPr id="13330" name="Text Box 16">
            <a:extLst>
              <a:ext uri="{FF2B5EF4-FFF2-40B4-BE49-F238E27FC236}">
                <a16:creationId xmlns:a16="http://schemas.microsoft.com/office/drawing/2014/main" id="{8AA9B9A0-EBB6-4536-BE4F-96BD04AB49B4}"/>
              </a:ext>
            </a:extLst>
          </p:cNvPr>
          <p:cNvSpPr txBox="1">
            <a:spLocks noChangeArrowheads="1"/>
          </p:cNvSpPr>
          <p:nvPr/>
        </p:nvSpPr>
        <p:spPr bwMode="auto">
          <a:xfrm>
            <a:off x="6348413" y="5095875"/>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30</a:t>
            </a:r>
          </a:p>
        </p:txBody>
      </p:sp>
      <p:sp>
        <p:nvSpPr>
          <p:cNvPr id="33805" name="Text Box 17">
            <a:extLst>
              <a:ext uri="{FF2B5EF4-FFF2-40B4-BE49-F238E27FC236}">
                <a16:creationId xmlns:a16="http://schemas.microsoft.com/office/drawing/2014/main" id="{27F0D8FF-4180-4D25-87EE-429857393C1B}"/>
              </a:ext>
            </a:extLst>
          </p:cNvPr>
          <p:cNvSpPr txBox="1">
            <a:spLocks noChangeArrowheads="1"/>
          </p:cNvSpPr>
          <p:nvPr/>
        </p:nvSpPr>
        <p:spPr bwMode="auto">
          <a:xfrm>
            <a:off x="1230313" y="509587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319"/>
                                        </p:tgtEl>
                                        <p:attrNameLst>
                                          <p:attrName>style.visibility</p:attrName>
                                        </p:attrNameLst>
                                      </p:cBhvr>
                                      <p:to>
                                        <p:strVal val="visible"/>
                                      </p:to>
                                    </p:set>
                                    <p:animEffect transition="in" filter="box(in)">
                                      <p:cBhvr>
                                        <p:cTn id="7" dur="500"/>
                                        <p:tgtEl>
                                          <p:spTgt spid="133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3320"/>
                                        </p:tgtEl>
                                        <p:attrNameLst>
                                          <p:attrName>style.visibility</p:attrName>
                                        </p:attrNameLst>
                                      </p:cBhvr>
                                      <p:to>
                                        <p:strVal val="visible"/>
                                      </p:to>
                                    </p:set>
                                    <p:animEffect transition="in" filter="box(in)">
                                      <p:cBhvr>
                                        <p:cTn id="17" dur="500"/>
                                        <p:tgtEl>
                                          <p:spTgt spid="133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ox(in)">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3321"/>
                                        </p:tgtEl>
                                        <p:attrNameLst>
                                          <p:attrName>style.visibility</p:attrName>
                                        </p:attrNameLst>
                                      </p:cBhvr>
                                      <p:to>
                                        <p:strVal val="visible"/>
                                      </p:to>
                                    </p:set>
                                    <p:animEffect transition="in" filter="box(in)">
                                      <p:cBhvr>
                                        <p:cTn id="27" dur="500"/>
                                        <p:tgtEl>
                                          <p:spTgt spid="1332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13323"/>
                                        </p:tgtEl>
                                        <p:attrNameLst>
                                          <p:attrName>style.visibility</p:attrName>
                                        </p:attrNameLst>
                                      </p:cBhvr>
                                      <p:to>
                                        <p:strVal val="visible"/>
                                      </p:to>
                                    </p:set>
                                    <p:animEffect transition="in" filter="box(in)">
                                      <p:cBhvr>
                                        <p:cTn id="32" dur="500"/>
                                        <p:tgtEl>
                                          <p:spTgt spid="13323"/>
                                        </p:tgtEl>
                                      </p:cBhvr>
                                    </p:animEffect>
                                  </p:childTnLst>
                                </p:cTn>
                              </p:par>
                              <p:par>
                                <p:cTn id="33" presetID="4" presetClass="entr" presetSubtype="16" fill="hold" grpId="0" nodeType="withEffect">
                                  <p:stCondLst>
                                    <p:cond delay="0"/>
                                  </p:stCondLst>
                                  <p:childTnLst>
                                    <p:set>
                                      <p:cBhvr>
                                        <p:cTn id="34" dur="1" fill="hold">
                                          <p:stCondLst>
                                            <p:cond delay="0"/>
                                          </p:stCondLst>
                                        </p:cTn>
                                        <p:tgtEl>
                                          <p:spTgt spid="13330"/>
                                        </p:tgtEl>
                                        <p:attrNameLst>
                                          <p:attrName>style.visibility</p:attrName>
                                        </p:attrNameLst>
                                      </p:cBhvr>
                                      <p:to>
                                        <p:strVal val="visible"/>
                                      </p:to>
                                    </p:set>
                                    <p:animEffect transition="in" filter="box(in)">
                                      <p:cBhvr>
                                        <p:cTn id="35" dur="500"/>
                                        <p:tgtEl>
                                          <p:spTgt spid="1333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16" fill="hold" nodeType="clickEffect">
                                  <p:stCondLst>
                                    <p:cond delay="0"/>
                                  </p:stCondLst>
                                  <p:childTnLst>
                                    <p:set>
                                      <p:cBhvr>
                                        <p:cTn id="39" dur="1" fill="hold">
                                          <p:stCondLst>
                                            <p:cond delay="0"/>
                                          </p:stCondLst>
                                        </p:cTn>
                                        <p:tgtEl>
                                          <p:spTgt spid="13316">
                                            <p:txEl>
                                              <p:pRg st="7" end="7"/>
                                            </p:txEl>
                                          </p:spTgt>
                                        </p:tgtEl>
                                        <p:attrNameLst>
                                          <p:attrName>style.visibility</p:attrName>
                                        </p:attrNameLst>
                                      </p:cBhvr>
                                      <p:to>
                                        <p:strVal val="visible"/>
                                      </p:to>
                                    </p:set>
                                    <p:animEffect transition="in" filter="box(in)">
                                      <p:cBhvr>
                                        <p:cTn id="40" dur="500"/>
                                        <p:tgtEl>
                                          <p:spTgt spid="13316">
                                            <p:txEl>
                                              <p:pRg st="7" end="7"/>
                                            </p:txEl>
                                          </p:spTgt>
                                        </p:tgtEl>
                                      </p:cBhvr>
                                    </p:animEffect>
                                  </p:childTnLst>
                                </p:cTn>
                              </p:par>
                              <p:par>
                                <p:cTn id="41" presetID="4" presetClass="entr" presetSubtype="16" fill="hold" nodeType="withEffect">
                                  <p:stCondLst>
                                    <p:cond delay="0"/>
                                  </p:stCondLst>
                                  <p:childTnLst>
                                    <p:set>
                                      <p:cBhvr>
                                        <p:cTn id="42" dur="1" fill="hold">
                                          <p:stCondLst>
                                            <p:cond delay="0"/>
                                          </p:stCondLst>
                                        </p:cTn>
                                        <p:tgtEl>
                                          <p:spTgt spid="13316">
                                            <p:txEl>
                                              <p:pRg st="8" end="8"/>
                                            </p:txEl>
                                          </p:spTgt>
                                        </p:tgtEl>
                                        <p:attrNameLst>
                                          <p:attrName>style.visibility</p:attrName>
                                        </p:attrNameLst>
                                      </p:cBhvr>
                                      <p:to>
                                        <p:strVal val="visible"/>
                                      </p:to>
                                    </p:set>
                                    <p:animEffect transition="in" filter="box(in)">
                                      <p:cBhvr>
                                        <p:cTn id="43" dur="500"/>
                                        <p:tgtEl>
                                          <p:spTgt spid="1331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9" grpId="0"/>
      <p:bldP spid="13320" grpId="0"/>
      <p:bldP spid="13321" grpId="0"/>
      <p:bldP spid="1333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Footer Placeholder 3">
            <a:extLst>
              <a:ext uri="{FF2B5EF4-FFF2-40B4-BE49-F238E27FC236}">
                <a16:creationId xmlns:a16="http://schemas.microsoft.com/office/drawing/2014/main" id="{292B9E2C-306E-4706-A731-87CC3B7F2B5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35842" name="Rectangle 2">
            <a:extLst>
              <a:ext uri="{FF2B5EF4-FFF2-40B4-BE49-F238E27FC236}">
                <a16:creationId xmlns:a16="http://schemas.microsoft.com/office/drawing/2014/main" id="{76944EE6-3962-4B60-8C4E-4C6EEC7549C9}"/>
              </a:ext>
            </a:extLst>
          </p:cNvPr>
          <p:cNvSpPr>
            <a:spLocks noGrp="1" noChangeArrowheads="1"/>
          </p:cNvSpPr>
          <p:nvPr>
            <p:ph type="title"/>
          </p:nvPr>
        </p:nvSpPr>
        <p:spPr/>
        <p:txBody>
          <a:bodyPr/>
          <a:lstStyle/>
          <a:p>
            <a:r>
              <a:rPr lang="en-US" altLang="en-US"/>
              <a:t>FCFS Scheduling (Cont.)</a:t>
            </a:r>
          </a:p>
        </p:txBody>
      </p:sp>
      <p:sp>
        <p:nvSpPr>
          <p:cNvPr id="35843" name="Rectangle 3">
            <a:extLst>
              <a:ext uri="{FF2B5EF4-FFF2-40B4-BE49-F238E27FC236}">
                <a16:creationId xmlns:a16="http://schemas.microsoft.com/office/drawing/2014/main" id="{9A8C36EE-90CF-4F39-876A-32A985230833}"/>
              </a:ext>
            </a:extLst>
          </p:cNvPr>
          <p:cNvSpPr>
            <a:spLocks noGrp="1" noChangeArrowheads="1"/>
          </p:cNvSpPr>
          <p:nvPr>
            <p:ph type="body" idx="1"/>
          </p:nvPr>
        </p:nvSpPr>
        <p:spPr>
          <a:xfrm>
            <a:off x="452438" y="1195388"/>
            <a:ext cx="8515350" cy="4965700"/>
          </a:xfrm>
        </p:spPr>
        <p:txBody>
          <a:bodyPr/>
          <a:lstStyle/>
          <a:p>
            <a:pPr>
              <a:lnSpc>
                <a:spcPct val="90000"/>
              </a:lnSpc>
              <a:tabLst>
                <a:tab pos="3651250" algn="ctr"/>
              </a:tabLst>
            </a:pPr>
            <a:r>
              <a:rPr lang="en-US" altLang="en-US" sz="2800" dirty="0"/>
              <a:t>Suppose that the processes arrive in the order </a:t>
            </a:r>
            <a:r>
              <a:rPr lang="en-US" altLang="en-US" sz="2800" i="1" dirty="0"/>
              <a:t>P</a:t>
            </a:r>
            <a:r>
              <a:rPr lang="en-US" altLang="en-US" sz="2800" i="1" baseline="-25000" dirty="0"/>
              <a:t>2</a:t>
            </a:r>
            <a:r>
              <a:rPr lang="en-US" altLang="en-US" sz="2800" dirty="0"/>
              <a:t>, </a:t>
            </a:r>
            <a:r>
              <a:rPr lang="en-US" altLang="en-US" sz="2800" i="1" dirty="0"/>
              <a:t>P</a:t>
            </a:r>
            <a:r>
              <a:rPr lang="en-US" altLang="en-US" sz="2800" i="1" baseline="-25000" dirty="0"/>
              <a:t>3</a:t>
            </a:r>
            <a:r>
              <a:rPr lang="en-US" altLang="en-US" sz="2800" dirty="0"/>
              <a:t>, </a:t>
            </a:r>
            <a:r>
              <a:rPr lang="en-US" altLang="en-US" sz="2800" i="1" dirty="0"/>
              <a:t>P</a:t>
            </a:r>
            <a:r>
              <a:rPr lang="en-US" altLang="en-US" sz="2800" i="1" baseline="-25000" dirty="0"/>
              <a:t>1</a:t>
            </a:r>
            <a:r>
              <a:rPr lang="en-US" altLang="en-US" sz="2800" dirty="0"/>
              <a:t>, </a:t>
            </a:r>
            <a:r>
              <a:rPr lang="en-US" altLang="en-US" sz="2800" dirty="0">
                <a:solidFill>
                  <a:schemeClr val="accent2"/>
                </a:solidFill>
              </a:rPr>
              <a:t>again all at time 0</a:t>
            </a:r>
          </a:p>
          <a:p>
            <a:pPr lvl="4">
              <a:lnSpc>
                <a:spcPct val="90000"/>
              </a:lnSpc>
              <a:tabLst>
                <a:tab pos="3651250" algn="ctr"/>
              </a:tabLst>
            </a:pPr>
            <a:endParaRPr lang="en-US" altLang="en-US" sz="2200">
              <a:solidFill>
                <a:schemeClr val="accent2"/>
              </a:solidFill>
            </a:endParaRPr>
          </a:p>
          <a:p>
            <a:pPr>
              <a:lnSpc>
                <a:spcPct val="90000"/>
              </a:lnSpc>
              <a:tabLst>
                <a:tab pos="3651250" algn="ctr"/>
              </a:tabLst>
            </a:pPr>
            <a:r>
              <a:rPr lang="en-US" altLang="en-US" sz="2800" dirty="0">
                <a:solidFill>
                  <a:srgbClr val="FF0000"/>
                </a:solidFill>
              </a:rPr>
              <a:t>The Gantt chart for the schedule is:</a:t>
            </a:r>
            <a:br>
              <a:rPr lang="en-US" altLang="en-US" sz="2800" dirty="0"/>
            </a:br>
            <a:endParaRPr lang="en-US" altLang="en-US" sz="2800">
              <a:solidFill>
                <a:srgbClr val="FF0000"/>
              </a:solidFill>
            </a:endParaRPr>
          </a:p>
          <a:p>
            <a:pPr>
              <a:lnSpc>
                <a:spcPct val="90000"/>
              </a:lnSpc>
              <a:tabLst>
                <a:tab pos="3651250" algn="ctr"/>
              </a:tabLst>
            </a:pPr>
            <a:endParaRPr lang="en-US" altLang="en-US" sz="2800"/>
          </a:p>
          <a:p>
            <a:pPr>
              <a:lnSpc>
                <a:spcPct val="90000"/>
              </a:lnSpc>
              <a:tabLst>
                <a:tab pos="3651250" algn="ctr"/>
              </a:tabLst>
            </a:pPr>
            <a:endParaRPr lang="en-US" altLang="en-US" sz="2800"/>
          </a:p>
          <a:p>
            <a:pPr>
              <a:lnSpc>
                <a:spcPct val="90000"/>
              </a:lnSpc>
              <a:tabLst>
                <a:tab pos="3651250" algn="ctr"/>
              </a:tabLst>
            </a:pPr>
            <a:r>
              <a:rPr lang="en-US" altLang="en-US" sz="2800" dirty="0"/>
              <a:t>Waiting time for </a:t>
            </a:r>
            <a:r>
              <a:rPr lang="en-US" altLang="en-US" sz="2800" i="1" dirty="0"/>
              <a:t>P</a:t>
            </a:r>
            <a:r>
              <a:rPr lang="en-US" altLang="en-US" sz="2800" i="1" baseline="-25000" dirty="0"/>
              <a:t>1 </a:t>
            </a:r>
            <a:r>
              <a:rPr lang="en-US" altLang="en-US" sz="2800" i="1" dirty="0"/>
              <a:t>=</a:t>
            </a:r>
            <a:r>
              <a:rPr lang="en-US" altLang="en-US" sz="2800" dirty="0"/>
              <a:t> 6</a:t>
            </a:r>
            <a:r>
              <a:rPr lang="en-US" altLang="en-US" sz="2800" i="1" dirty="0"/>
              <a:t>;</a:t>
            </a:r>
            <a:r>
              <a:rPr lang="en-US" altLang="en-US" sz="2800" i="1" baseline="-25000" dirty="0"/>
              <a:t> </a:t>
            </a:r>
            <a:r>
              <a:rPr lang="en-US" altLang="en-US" sz="2800" i="1" dirty="0"/>
              <a:t>P</a:t>
            </a:r>
            <a:r>
              <a:rPr lang="en-US" altLang="en-US" sz="2800" i="1" baseline="-25000" dirty="0"/>
              <a:t>2</a:t>
            </a:r>
            <a:r>
              <a:rPr lang="en-US" altLang="en-US" sz="2800" dirty="0"/>
              <a:t> = 0</a:t>
            </a:r>
            <a:r>
              <a:rPr lang="en-US" altLang="en-US" sz="2800" i="1" dirty="0"/>
              <a:t>;</a:t>
            </a:r>
            <a:r>
              <a:rPr lang="en-US" altLang="en-US" sz="2800" i="1" baseline="-25000" dirty="0"/>
              <a:t> </a:t>
            </a:r>
            <a:r>
              <a:rPr lang="en-US" altLang="en-US" sz="2800" i="1" dirty="0"/>
              <a:t>P</a:t>
            </a:r>
            <a:r>
              <a:rPr lang="en-US" altLang="en-US" sz="2800" i="1" baseline="-25000" dirty="0"/>
              <a:t>3 </a:t>
            </a:r>
            <a:r>
              <a:rPr lang="en-US" altLang="en-US" sz="2800" i="1" dirty="0"/>
              <a:t>= </a:t>
            </a:r>
            <a:r>
              <a:rPr lang="en-US" altLang="en-US" sz="2800" dirty="0"/>
              <a:t>3</a:t>
            </a:r>
            <a:endParaRPr lang="en-US" altLang="en-US" sz="2800" i="1" dirty="0"/>
          </a:p>
          <a:p>
            <a:pPr>
              <a:lnSpc>
                <a:spcPct val="90000"/>
              </a:lnSpc>
              <a:tabLst>
                <a:tab pos="3651250" algn="ctr"/>
              </a:tabLst>
            </a:pPr>
            <a:r>
              <a:rPr lang="en-US" altLang="en-US" sz="2800" dirty="0"/>
              <a:t>Average waiting time: (6 + 0 + 3)/3 = </a:t>
            </a:r>
            <a:r>
              <a:rPr lang="en-US" altLang="en-US" sz="2800" b="1" dirty="0"/>
              <a:t>3 </a:t>
            </a:r>
            <a:endParaRPr lang="en-US" altLang="en-US" sz="2800" b="1" dirty="0">
              <a:cs typeface="Helvetica"/>
            </a:endParaRPr>
          </a:p>
          <a:p>
            <a:pPr lvl="1">
              <a:lnSpc>
                <a:spcPct val="90000"/>
              </a:lnSpc>
              <a:tabLst>
                <a:tab pos="3651250" algn="ctr"/>
              </a:tabLst>
            </a:pPr>
            <a:r>
              <a:rPr lang="en-US" altLang="en-US" sz="2800" dirty="0">
                <a:solidFill>
                  <a:srgbClr val="FF0000"/>
                </a:solidFill>
              </a:rPr>
              <a:t>Much better than the previous case</a:t>
            </a:r>
            <a:endParaRPr lang="en-US" altLang="en-US" sz="2800" dirty="0">
              <a:solidFill>
                <a:srgbClr val="FF0000"/>
              </a:solidFill>
              <a:cs typeface="Helvetica"/>
            </a:endParaRPr>
          </a:p>
        </p:txBody>
      </p:sp>
      <p:grpSp>
        <p:nvGrpSpPr>
          <p:cNvPr id="35844" name="Group 23">
            <a:extLst>
              <a:ext uri="{FF2B5EF4-FFF2-40B4-BE49-F238E27FC236}">
                <a16:creationId xmlns:a16="http://schemas.microsoft.com/office/drawing/2014/main" id="{27BD622E-D631-472E-BFB0-706AC121290F}"/>
              </a:ext>
            </a:extLst>
          </p:cNvPr>
          <p:cNvGrpSpPr>
            <a:grpSpLocks/>
          </p:cNvGrpSpPr>
          <p:nvPr/>
        </p:nvGrpSpPr>
        <p:grpSpPr bwMode="auto">
          <a:xfrm>
            <a:off x="812800" y="3281363"/>
            <a:ext cx="5575300" cy="1128712"/>
            <a:chOff x="624" y="1968"/>
            <a:chExt cx="3512" cy="711"/>
          </a:xfrm>
        </p:grpSpPr>
        <p:sp>
          <p:nvSpPr>
            <p:cNvPr id="35845" name="Line 10">
              <a:extLst>
                <a:ext uri="{FF2B5EF4-FFF2-40B4-BE49-F238E27FC236}">
                  <a16:creationId xmlns:a16="http://schemas.microsoft.com/office/drawing/2014/main" id="{51FA1624-FA0D-49C3-80C6-C06CC36F760A}"/>
                </a:ext>
              </a:extLst>
            </p:cNvPr>
            <p:cNvSpPr>
              <a:spLocks noChangeShapeType="1"/>
            </p:cNvSpPr>
            <p:nvPr/>
          </p:nvSpPr>
          <p:spPr bwMode="auto">
            <a:xfrm flipH="1">
              <a:off x="4032" y="235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46" name="Line 11">
              <a:extLst>
                <a:ext uri="{FF2B5EF4-FFF2-40B4-BE49-F238E27FC236}">
                  <a16:creationId xmlns:a16="http://schemas.microsoft.com/office/drawing/2014/main" id="{C528CB4D-AC97-4930-A7E6-4D5F797941BB}"/>
                </a:ext>
              </a:extLst>
            </p:cNvPr>
            <p:cNvSpPr>
              <a:spLocks noChangeShapeType="1"/>
            </p:cNvSpPr>
            <p:nvPr/>
          </p:nvSpPr>
          <p:spPr bwMode="auto">
            <a:xfrm flipH="1">
              <a:off x="720" y="235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47" name="Line 14">
              <a:extLst>
                <a:ext uri="{FF2B5EF4-FFF2-40B4-BE49-F238E27FC236}">
                  <a16:creationId xmlns:a16="http://schemas.microsoft.com/office/drawing/2014/main" id="{5ACF31EF-B864-4313-A2D3-2B853FC6EDDF}"/>
                </a:ext>
              </a:extLst>
            </p:cNvPr>
            <p:cNvSpPr>
              <a:spLocks noChangeShapeType="1"/>
            </p:cNvSpPr>
            <p:nvPr/>
          </p:nvSpPr>
          <p:spPr bwMode="auto">
            <a:xfrm flipH="1">
              <a:off x="1920" y="235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48" name="Line 15">
              <a:extLst>
                <a:ext uri="{FF2B5EF4-FFF2-40B4-BE49-F238E27FC236}">
                  <a16:creationId xmlns:a16="http://schemas.microsoft.com/office/drawing/2014/main" id="{1E5495AE-2D92-49DD-A50D-92C8BCC8025C}"/>
                </a:ext>
              </a:extLst>
            </p:cNvPr>
            <p:cNvSpPr>
              <a:spLocks noChangeShapeType="1"/>
            </p:cNvSpPr>
            <p:nvPr/>
          </p:nvSpPr>
          <p:spPr bwMode="auto">
            <a:xfrm flipH="1">
              <a:off x="1344" y="235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35849" name="Group 22">
              <a:extLst>
                <a:ext uri="{FF2B5EF4-FFF2-40B4-BE49-F238E27FC236}">
                  <a16:creationId xmlns:a16="http://schemas.microsoft.com/office/drawing/2014/main" id="{A6713DE1-6D1E-4FC8-A682-DA4136B4AADB}"/>
                </a:ext>
              </a:extLst>
            </p:cNvPr>
            <p:cNvGrpSpPr>
              <a:grpSpLocks/>
            </p:cNvGrpSpPr>
            <p:nvPr/>
          </p:nvGrpSpPr>
          <p:grpSpPr bwMode="auto">
            <a:xfrm>
              <a:off x="624" y="1968"/>
              <a:ext cx="3512" cy="711"/>
              <a:chOff x="624" y="1968"/>
              <a:chExt cx="3512" cy="711"/>
            </a:xfrm>
          </p:grpSpPr>
          <p:sp>
            <p:nvSpPr>
              <p:cNvPr id="35850" name="Rectangle 6">
                <a:extLst>
                  <a:ext uri="{FF2B5EF4-FFF2-40B4-BE49-F238E27FC236}">
                    <a16:creationId xmlns:a16="http://schemas.microsoft.com/office/drawing/2014/main" id="{FB92A901-2BF5-40AF-9ED9-6C894CB8796E}"/>
                  </a:ext>
                </a:extLst>
              </p:cNvPr>
              <p:cNvSpPr>
                <a:spLocks noChangeArrowheads="1"/>
              </p:cNvSpPr>
              <p:nvPr/>
            </p:nvSpPr>
            <p:spPr bwMode="auto">
              <a:xfrm flipH="1">
                <a:off x="720" y="1968"/>
                <a:ext cx="3312" cy="384"/>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35851" name="Text Box 7">
                <a:extLst>
                  <a:ext uri="{FF2B5EF4-FFF2-40B4-BE49-F238E27FC236}">
                    <a16:creationId xmlns:a16="http://schemas.microsoft.com/office/drawing/2014/main" id="{13FAFBFA-17B6-45AD-BC43-6B703D08D9A4}"/>
                  </a:ext>
                </a:extLst>
              </p:cNvPr>
              <p:cNvSpPr txBox="1">
                <a:spLocks noChangeArrowheads="1"/>
              </p:cNvSpPr>
              <p:nvPr/>
            </p:nvSpPr>
            <p:spPr bwMode="auto">
              <a:xfrm flipH="1">
                <a:off x="2951" y="2016"/>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P</a:t>
                </a:r>
                <a:r>
                  <a:rPr lang="en-US" altLang="en-US" baseline="-25000"/>
                  <a:t>1</a:t>
                </a:r>
                <a:endParaRPr lang="en-US" altLang="en-US"/>
              </a:p>
            </p:txBody>
          </p:sp>
          <p:sp>
            <p:nvSpPr>
              <p:cNvPr id="35852" name="Text Box 8">
                <a:extLst>
                  <a:ext uri="{FF2B5EF4-FFF2-40B4-BE49-F238E27FC236}">
                    <a16:creationId xmlns:a16="http://schemas.microsoft.com/office/drawing/2014/main" id="{86547A26-00FF-4DAA-B0FD-95EBD87AD073}"/>
                  </a:ext>
                </a:extLst>
              </p:cNvPr>
              <p:cNvSpPr txBox="1">
                <a:spLocks noChangeArrowheads="1"/>
              </p:cNvSpPr>
              <p:nvPr/>
            </p:nvSpPr>
            <p:spPr bwMode="auto">
              <a:xfrm flipH="1">
                <a:off x="1463" y="2016"/>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P</a:t>
                </a:r>
                <a:r>
                  <a:rPr lang="en-US" altLang="en-US" baseline="-25000"/>
                  <a:t>3</a:t>
                </a:r>
                <a:endParaRPr lang="en-US" altLang="en-US"/>
              </a:p>
            </p:txBody>
          </p:sp>
          <p:sp>
            <p:nvSpPr>
              <p:cNvPr id="35853" name="Text Box 9">
                <a:extLst>
                  <a:ext uri="{FF2B5EF4-FFF2-40B4-BE49-F238E27FC236}">
                    <a16:creationId xmlns:a16="http://schemas.microsoft.com/office/drawing/2014/main" id="{72D93CC8-9780-4E43-A46E-BDB4E05CBDEE}"/>
                  </a:ext>
                </a:extLst>
              </p:cNvPr>
              <p:cNvSpPr txBox="1">
                <a:spLocks noChangeArrowheads="1"/>
              </p:cNvSpPr>
              <p:nvPr/>
            </p:nvSpPr>
            <p:spPr bwMode="auto">
              <a:xfrm flipH="1">
                <a:off x="887" y="2016"/>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P</a:t>
                </a:r>
                <a:r>
                  <a:rPr lang="en-US" altLang="en-US" baseline="-25000"/>
                  <a:t>2</a:t>
                </a:r>
                <a:endParaRPr lang="en-US" altLang="en-US"/>
              </a:p>
            </p:txBody>
          </p:sp>
          <p:sp>
            <p:nvSpPr>
              <p:cNvPr id="35854" name="Line 12">
                <a:extLst>
                  <a:ext uri="{FF2B5EF4-FFF2-40B4-BE49-F238E27FC236}">
                    <a16:creationId xmlns:a16="http://schemas.microsoft.com/office/drawing/2014/main" id="{D033FDF4-69AA-4F2D-8DC1-104F58F2FF08}"/>
                  </a:ext>
                </a:extLst>
              </p:cNvPr>
              <p:cNvSpPr>
                <a:spLocks noChangeShapeType="1"/>
              </p:cNvSpPr>
              <p:nvPr/>
            </p:nvSpPr>
            <p:spPr bwMode="auto">
              <a:xfrm flipH="1">
                <a:off x="1920" y="1968"/>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55" name="Line 13">
                <a:extLst>
                  <a:ext uri="{FF2B5EF4-FFF2-40B4-BE49-F238E27FC236}">
                    <a16:creationId xmlns:a16="http://schemas.microsoft.com/office/drawing/2014/main" id="{9A1D52BE-ABFC-4788-9BA9-B35A55E6E06B}"/>
                  </a:ext>
                </a:extLst>
              </p:cNvPr>
              <p:cNvSpPr>
                <a:spLocks noChangeShapeType="1"/>
              </p:cNvSpPr>
              <p:nvPr/>
            </p:nvSpPr>
            <p:spPr bwMode="auto">
              <a:xfrm flipH="1">
                <a:off x="1344" y="1968"/>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856" name="Text Box 16">
                <a:extLst>
                  <a:ext uri="{FF2B5EF4-FFF2-40B4-BE49-F238E27FC236}">
                    <a16:creationId xmlns:a16="http://schemas.microsoft.com/office/drawing/2014/main" id="{4D7D175D-E275-4F2D-9AEB-2C0423C5CFF9}"/>
                  </a:ext>
                </a:extLst>
              </p:cNvPr>
              <p:cNvSpPr txBox="1">
                <a:spLocks noChangeArrowheads="1"/>
              </p:cNvSpPr>
              <p:nvPr/>
            </p:nvSpPr>
            <p:spPr bwMode="auto">
              <a:xfrm flipH="1">
                <a:off x="1828" y="244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6</a:t>
                </a:r>
              </a:p>
            </p:txBody>
          </p:sp>
          <p:sp>
            <p:nvSpPr>
              <p:cNvPr id="35857" name="Text Box 17">
                <a:extLst>
                  <a:ext uri="{FF2B5EF4-FFF2-40B4-BE49-F238E27FC236}">
                    <a16:creationId xmlns:a16="http://schemas.microsoft.com/office/drawing/2014/main" id="{99BBB035-52B3-4D2D-BF6C-9547C5FE8F62}"/>
                  </a:ext>
                </a:extLst>
              </p:cNvPr>
              <p:cNvSpPr txBox="1">
                <a:spLocks noChangeArrowheads="1"/>
              </p:cNvSpPr>
              <p:nvPr/>
            </p:nvSpPr>
            <p:spPr bwMode="auto">
              <a:xfrm flipH="1">
                <a:off x="1252" y="244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3</a:t>
                </a:r>
              </a:p>
            </p:txBody>
          </p:sp>
          <p:sp>
            <p:nvSpPr>
              <p:cNvPr id="35858" name="Text Box 18">
                <a:extLst>
                  <a:ext uri="{FF2B5EF4-FFF2-40B4-BE49-F238E27FC236}">
                    <a16:creationId xmlns:a16="http://schemas.microsoft.com/office/drawing/2014/main" id="{2886D189-1D00-4758-90BE-E40CB675F463}"/>
                  </a:ext>
                </a:extLst>
              </p:cNvPr>
              <p:cNvSpPr txBox="1">
                <a:spLocks noChangeArrowheads="1"/>
              </p:cNvSpPr>
              <p:nvPr/>
            </p:nvSpPr>
            <p:spPr bwMode="auto">
              <a:xfrm flipH="1">
                <a:off x="3860" y="2448"/>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30</a:t>
                </a:r>
              </a:p>
            </p:txBody>
          </p:sp>
          <p:sp>
            <p:nvSpPr>
              <p:cNvPr id="35859" name="Text Box 19">
                <a:extLst>
                  <a:ext uri="{FF2B5EF4-FFF2-40B4-BE49-F238E27FC236}">
                    <a16:creationId xmlns:a16="http://schemas.microsoft.com/office/drawing/2014/main" id="{C026BD75-2B8A-45F8-AEDF-52719CC840AF}"/>
                  </a:ext>
                </a:extLst>
              </p:cNvPr>
              <p:cNvSpPr txBox="1">
                <a:spLocks noChangeArrowheads="1"/>
              </p:cNvSpPr>
              <p:nvPr/>
            </p:nvSpPr>
            <p:spPr bwMode="auto">
              <a:xfrm flipH="1">
                <a:off x="624" y="244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0</a:t>
                </a:r>
              </a:p>
            </p:txBody>
          </p: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Footer Placeholder 3">
            <a:extLst>
              <a:ext uri="{FF2B5EF4-FFF2-40B4-BE49-F238E27FC236}">
                <a16:creationId xmlns:a16="http://schemas.microsoft.com/office/drawing/2014/main" id="{46331027-F860-497C-8B92-DB6668B72C7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37890" name="Rectangle 1026">
            <a:extLst>
              <a:ext uri="{FF2B5EF4-FFF2-40B4-BE49-F238E27FC236}">
                <a16:creationId xmlns:a16="http://schemas.microsoft.com/office/drawing/2014/main" id="{97708AAD-CD91-4001-A3E6-B929BA41E624}"/>
              </a:ext>
            </a:extLst>
          </p:cNvPr>
          <p:cNvSpPr>
            <a:spLocks noGrp="1" noChangeArrowheads="1"/>
          </p:cNvSpPr>
          <p:nvPr>
            <p:ph type="title"/>
          </p:nvPr>
        </p:nvSpPr>
        <p:spPr/>
        <p:txBody>
          <a:bodyPr/>
          <a:lstStyle/>
          <a:p>
            <a:r>
              <a:rPr lang="en-US" altLang="en-US"/>
              <a:t>FCFS Scheduling: Properties</a:t>
            </a:r>
          </a:p>
        </p:txBody>
      </p:sp>
      <p:sp>
        <p:nvSpPr>
          <p:cNvPr id="37891" name="Rectangle 1027">
            <a:extLst>
              <a:ext uri="{FF2B5EF4-FFF2-40B4-BE49-F238E27FC236}">
                <a16:creationId xmlns:a16="http://schemas.microsoft.com/office/drawing/2014/main" id="{C0670C5F-FA94-4946-B6CB-A36625BB7C46}"/>
              </a:ext>
            </a:extLst>
          </p:cNvPr>
          <p:cNvSpPr>
            <a:spLocks noGrp="1" noChangeArrowheads="1"/>
          </p:cNvSpPr>
          <p:nvPr>
            <p:ph type="body" idx="1"/>
          </p:nvPr>
        </p:nvSpPr>
        <p:spPr>
          <a:xfrm>
            <a:off x="452438" y="1476375"/>
            <a:ext cx="8641570" cy="4965700"/>
          </a:xfrm>
        </p:spPr>
        <p:txBody>
          <a:bodyPr/>
          <a:lstStyle/>
          <a:p>
            <a:pPr>
              <a:tabLst>
                <a:tab pos="3651250" algn="ctr"/>
              </a:tabLst>
            </a:pPr>
            <a:r>
              <a:rPr lang="en-US" altLang="en-US" sz="2800" dirty="0">
                <a:solidFill>
                  <a:srgbClr val="FF0000"/>
                </a:solidFill>
              </a:rPr>
              <a:t>Is FCFS preemptive or </a:t>
            </a:r>
            <a:r>
              <a:rPr lang="en-US" altLang="en-US" sz="2800" dirty="0" err="1">
                <a:solidFill>
                  <a:srgbClr val="FF0000"/>
                </a:solidFill>
              </a:rPr>
              <a:t>nonpreemptive</a:t>
            </a:r>
            <a:r>
              <a:rPr lang="en-US" altLang="en-US" sz="2800" dirty="0">
                <a:solidFill>
                  <a:srgbClr val="FF0000"/>
                </a:solidFill>
              </a:rPr>
              <a:t>?</a:t>
            </a:r>
          </a:p>
          <a:p>
            <a:pPr lvl="1">
              <a:tabLst>
                <a:tab pos="3651250" algn="ctr"/>
              </a:tabLst>
            </a:pPr>
            <a:r>
              <a:rPr lang="en-US" altLang="en-US" sz="2800" dirty="0" err="1">
                <a:solidFill>
                  <a:schemeClr val="accent2"/>
                </a:solidFill>
              </a:rPr>
              <a:t>Nonpreemptive</a:t>
            </a:r>
            <a:r>
              <a:rPr lang="en-US" altLang="en-US" sz="2800" dirty="0"/>
              <a:t>, because processes have to voluntarily release the CPU once allocated</a:t>
            </a:r>
            <a:endParaRPr lang="en-US" altLang="en-US" sz="2800" dirty="0">
              <a:cs typeface="Helvetica"/>
            </a:endParaRPr>
          </a:p>
          <a:p>
            <a:pPr lvl="4">
              <a:tabLst>
                <a:tab pos="3651250" algn="ctr"/>
              </a:tabLst>
            </a:pPr>
            <a:endParaRPr lang="en-US" altLang="en-US" sz="2200"/>
          </a:p>
          <a:p>
            <a:pPr>
              <a:tabLst>
                <a:tab pos="3651250" algn="ctr"/>
              </a:tabLst>
            </a:pPr>
            <a:r>
              <a:rPr lang="en-US" altLang="en-US" sz="2800" dirty="0">
                <a:solidFill>
                  <a:srgbClr val="FF0000"/>
                </a:solidFill>
              </a:rPr>
              <a:t>Main problem with FCFS is the </a:t>
            </a:r>
            <a:r>
              <a:rPr lang="en-US" altLang="en-US" sz="2800" b="1" dirty="0">
                <a:solidFill>
                  <a:srgbClr val="FF0000"/>
                </a:solidFill>
              </a:rPr>
              <a:t>c</a:t>
            </a:r>
            <a:r>
              <a:rPr lang="en-US" altLang="en-US" sz="2800" b="1" i="1" dirty="0">
                <a:solidFill>
                  <a:srgbClr val="FF0000"/>
                </a:solidFill>
              </a:rPr>
              <a:t>onvoy effect</a:t>
            </a:r>
            <a:endParaRPr lang="en-US" altLang="en-US" sz="2800" i="1" dirty="0"/>
          </a:p>
          <a:p>
            <a:pPr lvl="1">
              <a:tabLst>
                <a:tab pos="3651250" algn="ctr"/>
              </a:tabLst>
            </a:pPr>
            <a:r>
              <a:rPr lang="en-US" altLang="en-US" sz="2800" dirty="0"/>
              <a:t>Short processes suffer increased waiting times due to an earlier arrived long process</a:t>
            </a:r>
            <a:endParaRPr lang="en-US" altLang="en-US" sz="2800" dirty="0">
              <a:cs typeface="Helvetica"/>
            </a:endParaRPr>
          </a:p>
          <a:p>
            <a:pPr lvl="2">
              <a:buFont typeface="Arial" pitchFamily="2" charset="2"/>
              <a:buChar char="•"/>
              <a:tabLst>
                <a:tab pos="3651250" algn="ctr"/>
              </a:tabLst>
            </a:pPr>
            <a:r>
              <a:rPr lang="en-US" altLang="en-US" sz="2800" dirty="0"/>
              <a:t>We </a:t>
            </a:r>
            <a:r>
              <a:rPr lang="en-US" altLang="en-US" sz="2800" i="0" dirty="0"/>
              <a:t>saw this effect in the previous example -</a:t>
            </a:r>
            <a:r>
              <a:rPr lang="en-US" altLang="en-US" sz="2800" dirty="0"/>
              <a:t> </a:t>
            </a:r>
            <a:r>
              <a:rPr lang="en-US" altLang="en-US" sz="2800" i="0" dirty="0">
                <a:solidFill>
                  <a:schemeClr val="accent2"/>
                </a:solidFill>
              </a:rPr>
              <a:t>P1 increased the waiting times of P2 and P3</a:t>
            </a:r>
            <a:endParaRPr lang="en-US" altLang="en-US" sz="2800" i="0" dirty="0">
              <a:solidFill>
                <a:schemeClr val="accent2"/>
              </a:solidFill>
              <a:cs typeface="Helvetic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789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7891">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789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89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73391-436F-8B4B-3034-5407A5427C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55F646-632A-FF27-8965-74B2B2C34ADA}"/>
              </a:ext>
            </a:extLst>
          </p:cNvPr>
          <p:cNvSpPr>
            <a:spLocks noGrp="1"/>
          </p:cNvSpPr>
          <p:nvPr>
            <p:ph type="title"/>
          </p:nvPr>
        </p:nvSpPr>
        <p:spPr/>
        <p:txBody>
          <a:bodyPr/>
          <a:lstStyle/>
          <a:p>
            <a:r>
              <a:rPr lang="en-US" dirty="0"/>
              <a:t>ExtraQ1 </a:t>
            </a:r>
            <a:r>
              <a:rPr lang="en-US" dirty="0" err="1"/>
              <a:t>Wooclap</a:t>
            </a:r>
            <a:r>
              <a:rPr lang="en-US" dirty="0"/>
              <a:t> Exercise</a:t>
            </a:r>
          </a:p>
        </p:txBody>
      </p:sp>
      <p:sp>
        <p:nvSpPr>
          <p:cNvPr id="4" name="Footer Placeholder 3">
            <a:extLst>
              <a:ext uri="{FF2B5EF4-FFF2-40B4-BE49-F238E27FC236}">
                <a16:creationId xmlns:a16="http://schemas.microsoft.com/office/drawing/2014/main" id="{A86DAED2-3269-8605-AC0F-5444308826DB}"/>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10" name="Content Placeholder 9">
                <a:extLst>
                  <a:ext uri="{FF2B5EF4-FFF2-40B4-BE49-F238E27FC236}">
                    <a16:creationId xmlns:a16="http://schemas.microsoft.com/office/drawing/2014/main" id="{94E850E9-F7A0-AEB9-BF2C-7A77FDD85C00}"/>
                  </a:ext>
                </a:extLst>
              </p:cNvPr>
              <p:cNvGraphicFramePr>
                <a:graphicFrameLocks noGrp="1"/>
              </p:cNvGraphicFramePr>
              <p:nvPr>
                <p:ph idx="1"/>
              </p:nvPr>
            </p:nvGraphicFramePr>
            <p:xfrm>
              <a:off x="1047750" y="1724025"/>
              <a:ext cx="7029450" cy="41148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10" name="Content Placeholder 9">
                <a:extLst>
                  <a:ext uri="{FF2B5EF4-FFF2-40B4-BE49-F238E27FC236}">
                    <a16:creationId xmlns:a16="http://schemas.microsoft.com/office/drawing/2014/main" id="{94E850E9-F7A0-AEB9-BF2C-7A77FDD85C00}"/>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1047750" y="1724025"/>
                <a:ext cx="7029450" cy="4114800"/>
              </a:xfrm>
              <a:prstGeom prst="rect">
                <a:avLst/>
              </a:prstGeom>
            </p:spPr>
          </p:pic>
        </mc:Fallback>
      </mc:AlternateContent>
    </p:spTree>
    <p:extLst>
      <p:ext uri="{BB962C8B-B14F-4D97-AF65-F5344CB8AC3E}">
        <p14:creationId xmlns:p14="http://schemas.microsoft.com/office/powerpoint/2010/main" val="18076260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Footer Placeholder 3">
            <a:extLst>
              <a:ext uri="{FF2B5EF4-FFF2-40B4-BE49-F238E27FC236}">
                <a16:creationId xmlns:a16="http://schemas.microsoft.com/office/drawing/2014/main" id="{CFC2A6A4-789F-4466-8B0C-E67BEE74213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39938" name="Rectangle 2">
            <a:extLst>
              <a:ext uri="{FF2B5EF4-FFF2-40B4-BE49-F238E27FC236}">
                <a16:creationId xmlns:a16="http://schemas.microsoft.com/office/drawing/2014/main" id="{FF28384B-36DF-4133-8509-DB0E37C66D95}"/>
              </a:ext>
            </a:extLst>
          </p:cNvPr>
          <p:cNvSpPr>
            <a:spLocks noGrp="1" noChangeArrowheads="1"/>
          </p:cNvSpPr>
          <p:nvPr>
            <p:ph type="title"/>
          </p:nvPr>
        </p:nvSpPr>
        <p:spPr/>
        <p:txBody>
          <a:bodyPr/>
          <a:lstStyle/>
          <a:p>
            <a:r>
              <a:rPr lang="en-US" altLang="en-US"/>
              <a:t>Shortest-Job-First (SJF) Scheduling</a:t>
            </a:r>
          </a:p>
        </p:txBody>
      </p:sp>
      <p:sp>
        <p:nvSpPr>
          <p:cNvPr id="13316" name="Rectangle 3">
            <a:extLst>
              <a:ext uri="{FF2B5EF4-FFF2-40B4-BE49-F238E27FC236}">
                <a16:creationId xmlns:a16="http://schemas.microsoft.com/office/drawing/2014/main" id="{8DD095B5-7B34-479C-87B6-4C62DB6CCF69}"/>
              </a:ext>
            </a:extLst>
          </p:cNvPr>
          <p:cNvSpPr>
            <a:spLocks noGrp="1" noChangeArrowheads="1"/>
          </p:cNvSpPr>
          <p:nvPr>
            <p:ph type="body" idx="1"/>
          </p:nvPr>
        </p:nvSpPr>
        <p:spPr>
          <a:xfrm>
            <a:off x="592138" y="1150938"/>
            <a:ext cx="8312150" cy="4954587"/>
          </a:xfrm>
        </p:spPr>
        <p:txBody>
          <a:bodyPr/>
          <a:lstStyle/>
          <a:p>
            <a:pPr>
              <a:defRPr/>
            </a:pPr>
            <a:r>
              <a:rPr lang="en-US" altLang="en-US" sz="2400" dirty="0">
                <a:solidFill>
                  <a:srgbClr val="FF0000"/>
                </a:solidFill>
              </a:rPr>
              <a:t>Prioritize processes based on their CPU burst lengths</a:t>
            </a:r>
          </a:p>
          <a:p>
            <a:pPr lvl="1">
              <a:defRPr/>
            </a:pPr>
            <a:r>
              <a:rPr lang="en-US" altLang="en-US" sz="2400" b="1" dirty="0"/>
              <a:t>Shorter burst implies higher priority</a:t>
            </a:r>
          </a:p>
          <a:p>
            <a:pPr lvl="1">
              <a:defRPr/>
            </a:pPr>
            <a:r>
              <a:rPr lang="en-US" altLang="en-US" sz="2400" dirty="0"/>
              <a:t>Intuitive way to handle the convoy effect of FCFS</a:t>
            </a:r>
          </a:p>
          <a:p>
            <a:pPr lvl="4">
              <a:defRPr/>
            </a:pPr>
            <a:endParaRPr lang="en-US" altLang="en-US" dirty="0"/>
          </a:p>
          <a:p>
            <a:pPr>
              <a:defRPr/>
            </a:pPr>
            <a:r>
              <a:rPr lang="en-US" altLang="en-US" sz="2400" dirty="0"/>
              <a:t>Two schemes: </a:t>
            </a:r>
          </a:p>
          <a:p>
            <a:pPr marL="914400" lvl="1" indent="-457200">
              <a:buFont typeface="+mj-lt"/>
              <a:buAutoNum type="arabicPeriod"/>
              <a:defRPr/>
            </a:pPr>
            <a:r>
              <a:rPr lang="en-US" altLang="en-US" sz="2400" dirty="0" err="1">
                <a:solidFill>
                  <a:srgbClr val="FF0000"/>
                </a:solidFill>
              </a:rPr>
              <a:t>Nonpreemptive</a:t>
            </a:r>
            <a:r>
              <a:rPr lang="en-US" altLang="en-US" sz="2400" dirty="0">
                <a:solidFill>
                  <a:srgbClr val="FF0000"/>
                </a:solidFill>
              </a:rPr>
              <a:t>: </a:t>
            </a:r>
            <a:r>
              <a:rPr lang="en-US" altLang="en-US" sz="2400" dirty="0"/>
              <a:t>Once core is given to a process, it cannot be preempted until it completes its CPU burst</a:t>
            </a:r>
          </a:p>
          <a:p>
            <a:pPr marL="914400" lvl="1" indent="-457200">
              <a:buFont typeface="+mj-lt"/>
              <a:buAutoNum type="arabicPeriod"/>
              <a:defRPr/>
            </a:pPr>
            <a:r>
              <a:rPr lang="en-US" altLang="en-US" sz="2400" dirty="0">
                <a:solidFill>
                  <a:srgbClr val="FF0000"/>
                </a:solidFill>
              </a:rPr>
              <a:t>Preemptive (also known as Shortest Remaining-Time First or SRTF): </a:t>
            </a:r>
            <a:r>
              <a:rPr lang="en-US" altLang="en-US" sz="2400" dirty="0"/>
              <a:t>If a newly created process has CPU burst length less than the remaining CPU burst of currently running process, then preemption will occur</a:t>
            </a:r>
          </a:p>
          <a:p>
            <a:pPr marL="2228850" lvl="4" indent="-457200">
              <a:buFont typeface="+mj-lt"/>
              <a:buAutoNum type="arabicPeriod"/>
              <a:defRPr/>
            </a:pPr>
            <a:endParaRPr lang="en-US" altLang="en-US" dirty="0"/>
          </a:p>
          <a:p>
            <a:pPr>
              <a:defRPr/>
            </a:pPr>
            <a:r>
              <a:rPr lang="en-US" altLang="en-US" sz="2400" dirty="0">
                <a:solidFill>
                  <a:srgbClr val="FF0000"/>
                </a:solidFill>
              </a:rPr>
              <a:t>SJF/SRTF is optimal for minimizing average waiting time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31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31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316">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316">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316">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31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Footer Placeholder 3">
            <a:extLst>
              <a:ext uri="{FF2B5EF4-FFF2-40B4-BE49-F238E27FC236}">
                <a16:creationId xmlns:a16="http://schemas.microsoft.com/office/drawing/2014/main" id="{332A223E-F4A3-476F-8452-DA4AEBA8E5C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17411" name="Rectangle 3">
            <a:extLst>
              <a:ext uri="{FF2B5EF4-FFF2-40B4-BE49-F238E27FC236}">
                <a16:creationId xmlns:a16="http://schemas.microsoft.com/office/drawing/2014/main" id="{F295BC63-6F1E-4694-9433-85B78B4AFF67}"/>
              </a:ext>
            </a:extLst>
          </p:cNvPr>
          <p:cNvSpPr>
            <a:spLocks noGrp="1" noChangeArrowheads="1"/>
          </p:cNvSpPr>
          <p:nvPr>
            <p:ph type="body" idx="1"/>
          </p:nvPr>
        </p:nvSpPr>
        <p:spPr>
          <a:xfrm>
            <a:off x="995363" y="1057275"/>
            <a:ext cx="6902450" cy="4643438"/>
          </a:xfrm>
        </p:spPr>
        <p:txBody>
          <a:bodyPr/>
          <a:lstStyle/>
          <a:p>
            <a:pPr>
              <a:buFontTx/>
              <a:buNone/>
              <a:tabLst>
                <a:tab pos="1603375" algn="ctr"/>
                <a:tab pos="3254375" algn="ctr"/>
                <a:tab pos="5143500" algn="ctr"/>
              </a:tabLst>
            </a:pPr>
            <a:r>
              <a:rPr lang="en-US" altLang="en-US"/>
              <a:t>		</a:t>
            </a:r>
            <a:r>
              <a:rPr lang="en-US" altLang="en-US" sz="2000" u="sng"/>
              <a:t>Process</a:t>
            </a:r>
            <a:r>
              <a:rPr lang="en-US" altLang="en-US" sz="2000"/>
              <a:t>	</a:t>
            </a:r>
            <a:r>
              <a:rPr lang="en-US" altLang="en-US" sz="2000" u="sng"/>
              <a:t>Arrival Time</a:t>
            </a:r>
            <a:r>
              <a:rPr lang="en-US" altLang="en-US" sz="2000"/>
              <a:t>	</a:t>
            </a:r>
            <a:r>
              <a:rPr lang="en-US" altLang="en-US" sz="2000" u="sng"/>
              <a:t>Burst Time</a:t>
            </a:r>
            <a:endParaRPr lang="en-US" altLang="en-US" sz="2000"/>
          </a:p>
          <a:p>
            <a:pPr>
              <a:buFontTx/>
              <a:buNone/>
              <a:tabLst>
                <a:tab pos="1603375" algn="ctr"/>
                <a:tab pos="3254375" algn="ctr"/>
                <a:tab pos="5143500" algn="ctr"/>
              </a:tabLst>
            </a:pPr>
            <a:r>
              <a:rPr lang="en-US" altLang="en-US" sz="2000"/>
              <a:t>		</a:t>
            </a:r>
            <a:r>
              <a:rPr lang="en-US" altLang="en-US" sz="2000" i="1"/>
              <a:t>P</a:t>
            </a:r>
            <a:r>
              <a:rPr lang="en-US" altLang="en-US" sz="2000" i="1" baseline="-25000"/>
              <a:t>1</a:t>
            </a:r>
            <a:r>
              <a:rPr lang="en-US" altLang="en-US" sz="2000"/>
              <a:t>	0.0	7</a:t>
            </a:r>
          </a:p>
          <a:p>
            <a:pPr>
              <a:buFontTx/>
              <a:buNone/>
              <a:tabLst>
                <a:tab pos="1603375" algn="ctr"/>
                <a:tab pos="3254375" algn="ctr"/>
                <a:tab pos="5143500" algn="ctr"/>
              </a:tabLst>
            </a:pPr>
            <a:r>
              <a:rPr lang="en-US" altLang="en-US" sz="2000"/>
              <a:t>		 </a:t>
            </a:r>
            <a:r>
              <a:rPr lang="en-US" altLang="en-US" sz="2000" i="1"/>
              <a:t>P</a:t>
            </a:r>
            <a:r>
              <a:rPr lang="en-US" altLang="en-US" sz="2000" i="1" baseline="-25000"/>
              <a:t>2	</a:t>
            </a:r>
            <a:r>
              <a:rPr lang="en-US" altLang="en-US" sz="2000"/>
              <a:t>2.0	4</a:t>
            </a:r>
          </a:p>
          <a:p>
            <a:pPr>
              <a:buFontTx/>
              <a:buNone/>
              <a:tabLst>
                <a:tab pos="1603375" algn="ctr"/>
                <a:tab pos="3254375" algn="ctr"/>
                <a:tab pos="5143500" algn="ctr"/>
              </a:tabLst>
            </a:pPr>
            <a:r>
              <a:rPr lang="en-US" altLang="en-US" sz="2000"/>
              <a:t>		 </a:t>
            </a:r>
            <a:r>
              <a:rPr lang="en-US" altLang="en-US" sz="2000" i="1"/>
              <a:t>P</a:t>
            </a:r>
            <a:r>
              <a:rPr lang="en-US" altLang="en-US" sz="2000" i="1" baseline="-25000"/>
              <a:t>3</a:t>
            </a:r>
            <a:r>
              <a:rPr lang="en-US" altLang="en-US" sz="2000"/>
              <a:t>	4.0	1</a:t>
            </a:r>
          </a:p>
          <a:p>
            <a:pPr>
              <a:buFontTx/>
              <a:buNone/>
              <a:tabLst>
                <a:tab pos="1603375" algn="ctr"/>
                <a:tab pos="3254375" algn="ctr"/>
                <a:tab pos="5143500" algn="ctr"/>
              </a:tabLst>
            </a:pPr>
            <a:r>
              <a:rPr lang="en-US" altLang="en-US" sz="2000"/>
              <a:t>		 </a:t>
            </a:r>
            <a:r>
              <a:rPr lang="en-US" altLang="en-US" sz="2000" i="1"/>
              <a:t>P</a:t>
            </a:r>
            <a:r>
              <a:rPr lang="en-US" altLang="en-US" sz="2000" i="1" baseline="-25000"/>
              <a:t>4</a:t>
            </a:r>
            <a:r>
              <a:rPr lang="en-US" altLang="en-US" sz="2000"/>
              <a:t>	5.0	4</a:t>
            </a:r>
          </a:p>
          <a:p>
            <a:pPr>
              <a:tabLst>
                <a:tab pos="1603375" algn="ctr"/>
                <a:tab pos="3254375" algn="ctr"/>
                <a:tab pos="5143500" algn="ctr"/>
              </a:tabLst>
            </a:pPr>
            <a:endParaRPr lang="en-US" altLang="en-US" sz="2000">
              <a:solidFill>
                <a:srgbClr val="FF0000"/>
              </a:solidFill>
            </a:endParaRPr>
          </a:p>
          <a:p>
            <a:pPr>
              <a:tabLst>
                <a:tab pos="1603375" algn="ctr"/>
                <a:tab pos="3254375" algn="ctr"/>
                <a:tab pos="5143500" algn="ctr"/>
              </a:tabLst>
            </a:pPr>
            <a:r>
              <a:rPr lang="en-US" altLang="en-US" sz="2000" b="1">
                <a:solidFill>
                  <a:srgbClr val="FF0000"/>
                </a:solidFill>
              </a:rPr>
              <a:t>SJF (Nonpreemptive) Gantt Chart:</a:t>
            </a:r>
          </a:p>
          <a:p>
            <a:pPr>
              <a:tabLst>
                <a:tab pos="1603375" algn="ctr"/>
                <a:tab pos="3254375" algn="ctr"/>
                <a:tab pos="5143500" algn="ctr"/>
              </a:tabLst>
            </a:pPr>
            <a:endParaRPr lang="en-US" altLang="en-US"/>
          </a:p>
          <a:p>
            <a:pPr>
              <a:tabLst>
                <a:tab pos="1603375" algn="ctr"/>
                <a:tab pos="3254375" algn="ctr"/>
                <a:tab pos="5143500" algn="ctr"/>
              </a:tabLst>
            </a:pPr>
            <a:endParaRPr lang="en-US" altLang="en-US"/>
          </a:p>
          <a:p>
            <a:pPr>
              <a:tabLst>
                <a:tab pos="1603375" algn="ctr"/>
                <a:tab pos="3254375" algn="ctr"/>
                <a:tab pos="5143500" algn="ctr"/>
              </a:tabLst>
            </a:pPr>
            <a:endParaRPr lang="en-US" altLang="en-US"/>
          </a:p>
          <a:p>
            <a:pPr lvl="4">
              <a:tabLst>
                <a:tab pos="1603375" algn="ctr"/>
                <a:tab pos="3254375" algn="ctr"/>
                <a:tab pos="5143500" algn="ctr"/>
              </a:tabLst>
            </a:pPr>
            <a:endParaRPr lang="en-US" altLang="en-US" sz="1400"/>
          </a:p>
          <a:p>
            <a:pPr>
              <a:tabLst>
                <a:tab pos="1603375" algn="ctr"/>
                <a:tab pos="3254375" algn="ctr"/>
                <a:tab pos="5143500" algn="ctr"/>
              </a:tabLst>
            </a:pPr>
            <a:r>
              <a:rPr lang="en-US" altLang="en-US" sz="2000"/>
              <a:t>Average waiting time = (0 + 6 + 3 + 7)/4 = 4</a:t>
            </a:r>
            <a:endParaRPr lang="en-US" altLang="en-US" sz="2000" i="1" baseline="-25000"/>
          </a:p>
        </p:txBody>
      </p:sp>
      <p:sp>
        <p:nvSpPr>
          <p:cNvPr id="41987" name="Rectangle 4">
            <a:extLst>
              <a:ext uri="{FF2B5EF4-FFF2-40B4-BE49-F238E27FC236}">
                <a16:creationId xmlns:a16="http://schemas.microsoft.com/office/drawing/2014/main" id="{B454AF41-8BD5-443A-BC7A-BE8C0D62E9DA}"/>
              </a:ext>
            </a:extLst>
          </p:cNvPr>
          <p:cNvSpPr>
            <a:spLocks noGrp="1" noChangeArrowheads="1"/>
          </p:cNvSpPr>
          <p:nvPr>
            <p:ph type="title"/>
          </p:nvPr>
        </p:nvSpPr>
        <p:spPr>
          <a:noFill/>
        </p:spPr>
        <p:txBody>
          <a:bodyPr/>
          <a:lstStyle/>
          <a:p>
            <a:r>
              <a:rPr lang="en-US" altLang="en-US"/>
              <a:t>Example of Nonpreemptive SJF</a:t>
            </a:r>
          </a:p>
        </p:txBody>
      </p:sp>
      <p:sp>
        <p:nvSpPr>
          <p:cNvPr id="41988" name="Rectangle 5">
            <a:extLst>
              <a:ext uri="{FF2B5EF4-FFF2-40B4-BE49-F238E27FC236}">
                <a16:creationId xmlns:a16="http://schemas.microsoft.com/office/drawing/2014/main" id="{657A35FA-4E16-4F3E-A2DF-E520D428812B}"/>
              </a:ext>
            </a:extLst>
          </p:cNvPr>
          <p:cNvSpPr>
            <a:spLocks noChangeArrowheads="1"/>
          </p:cNvSpPr>
          <p:nvPr/>
        </p:nvSpPr>
        <p:spPr bwMode="auto">
          <a:xfrm flipH="1">
            <a:off x="1524000" y="4222750"/>
            <a:ext cx="5257800" cy="609600"/>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17414" name="Text Box 6">
            <a:extLst>
              <a:ext uri="{FF2B5EF4-FFF2-40B4-BE49-F238E27FC236}">
                <a16:creationId xmlns:a16="http://schemas.microsoft.com/office/drawing/2014/main" id="{EAC92BB7-C741-44D8-A761-3C8E02E99001}"/>
              </a:ext>
            </a:extLst>
          </p:cNvPr>
          <p:cNvSpPr txBox="1">
            <a:spLocks noChangeArrowheads="1"/>
          </p:cNvSpPr>
          <p:nvPr/>
        </p:nvSpPr>
        <p:spPr bwMode="auto">
          <a:xfrm flipH="1">
            <a:off x="2209800" y="4298950"/>
            <a:ext cx="4206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P</a:t>
            </a:r>
            <a:r>
              <a:rPr lang="en-US" altLang="en-US" baseline="-25000"/>
              <a:t>1</a:t>
            </a:r>
            <a:endParaRPr lang="en-US" altLang="en-US"/>
          </a:p>
        </p:txBody>
      </p:sp>
      <p:sp>
        <p:nvSpPr>
          <p:cNvPr id="17415" name="Text Box 7">
            <a:extLst>
              <a:ext uri="{FF2B5EF4-FFF2-40B4-BE49-F238E27FC236}">
                <a16:creationId xmlns:a16="http://schemas.microsoft.com/office/drawing/2014/main" id="{601257E0-899E-4C25-9F7E-EEE967C674A2}"/>
              </a:ext>
            </a:extLst>
          </p:cNvPr>
          <p:cNvSpPr txBox="1">
            <a:spLocks noChangeArrowheads="1"/>
          </p:cNvSpPr>
          <p:nvPr/>
        </p:nvSpPr>
        <p:spPr bwMode="auto">
          <a:xfrm flipH="1">
            <a:off x="3810000" y="4298950"/>
            <a:ext cx="4206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P</a:t>
            </a:r>
            <a:r>
              <a:rPr lang="en-US" altLang="en-US" baseline="-25000"/>
              <a:t>3</a:t>
            </a:r>
            <a:endParaRPr lang="en-US" altLang="en-US"/>
          </a:p>
        </p:txBody>
      </p:sp>
      <p:sp>
        <p:nvSpPr>
          <p:cNvPr id="17416" name="Text Box 8">
            <a:extLst>
              <a:ext uri="{FF2B5EF4-FFF2-40B4-BE49-F238E27FC236}">
                <a16:creationId xmlns:a16="http://schemas.microsoft.com/office/drawing/2014/main" id="{341FD9BC-BEF3-43DC-B9B4-7EA769AAC1E0}"/>
              </a:ext>
            </a:extLst>
          </p:cNvPr>
          <p:cNvSpPr txBox="1">
            <a:spLocks noChangeArrowheads="1"/>
          </p:cNvSpPr>
          <p:nvPr/>
        </p:nvSpPr>
        <p:spPr bwMode="auto">
          <a:xfrm flipH="1">
            <a:off x="4724400" y="4298950"/>
            <a:ext cx="4206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P</a:t>
            </a:r>
            <a:r>
              <a:rPr lang="en-US" altLang="en-US" baseline="-25000"/>
              <a:t>2</a:t>
            </a:r>
            <a:endParaRPr lang="en-US" altLang="en-US"/>
          </a:p>
        </p:txBody>
      </p:sp>
      <p:sp>
        <p:nvSpPr>
          <p:cNvPr id="41992" name="Line 9">
            <a:extLst>
              <a:ext uri="{FF2B5EF4-FFF2-40B4-BE49-F238E27FC236}">
                <a16:creationId xmlns:a16="http://schemas.microsoft.com/office/drawing/2014/main" id="{71C392B9-CA22-4696-BDF6-E98E47F32F0C}"/>
              </a:ext>
            </a:extLst>
          </p:cNvPr>
          <p:cNvSpPr>
            <a:spLocks noChangeShapeType="1"/>
          </p:cNvSpPr>
          <p:nvPr/>
        </p:nvSpPr>
        <p:spPr bwMode="auto">
          <a:xfrm flipH="1">
            <a:off x="6781800" y="483235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993" name="Line 10">
            <a:extLst>
              <a:ext uri="{FF2B5EF4-FFF2-40B4-BE49-F238E27FC236}">
                <a16:creationId xmlns:a16="http://schemas.microsoft.com/office/drawing/2014/main" id="{A398D427-E164-4A1B-A0A2-F41A1C41EF42}"/>
              </a:ext>
            </a:extLst>
          </p:cNvPr>
          <p:cNvSpPr>
            <a:spLocks noChangeShapeType="1"/>
          </p:cNvSpPr>
          <p:nvPr/>
        </p:nvSpPr>
        <p:spPr bwMode="auto">
          <a:xfrm flipH="1">
            <a:off x="1524000" y="483235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19" name="Line 11">
            <a:extLst>
              <a:ext uri="{FF2B5EF4-FFF2-40B4-BE49-F238E27FC236}">
                <a16:creationId xmlns:a16="http://schemas.microsoft.com/office/drawing/2014/main" id="{8CC491EB-9C40-4626-95CB-832F97584DA4}"/>
              </a:ext>
            </a:extLst>
          </p:cNvPr>
          <p:cNvSpPr>
            <a:spLocks noChangeShapeType="1"/>
          </p:cNvSpPr>
          <p:nvPr/>
        </p:nvSpPr>
        <p:spPr bwMode="auto">
          <a:xfrm flipH="1">
            <a:off x="4267200" y="422275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20" name="Line 12">
            <a:extLst>
              <a:ext uri="{FF2B5EF4-FFF2-40B4-BE49-F238E27FC236}">
                <a16:creationId xmlns:a16="http://schemas.microsoft.com/office/drawing/2014/main" id="{D3B4CFF8-BCFB-407E-B66C-450BB7CE428D}"/>
              </a:ext>
            </a:extLst>
          </p:cNvPr>
          <p:cNvSpPr>
            <a:spLocks noChangeShapeType="1"/>
          </p:cNvSpPr>
          <p:nvPr/>
        </p:nvSpPr>
        <p:spPr bwMode="auto">
          <a:xfrm flipH="1">
            <a:off x="3810000" y="422275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21" name="Line 13">
            <a:extLst>
              <a:ext uri="{FF2B5EF4-FFF2-40B4-BE49-F238E27FC236}">
                <a16:creationId xmlns:a16="http://schemas.microsoft.com/office/drawing/2014/main" id="{05660F20-2090-4919-8896-4E9A6F6CFB24}"/>
              </a:ext>
            </a:extLst>
          </p:cNvPr>
          <p:cNvSpPr>
            <a:spLocks noChangeShapeType="1"/>
          </p:cNvSpPr>
          <p:nvPr/>
        </p:nvSpPr>
        <p:spPr bwMode="auto">
          <a:xfrm flipH="1">
            <a:off x="3810000" y="483235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997" name="Line 14">
            <a:extLst>
              <a:ext uri="{FF2B5EF4-FFF2-40B4-BE49-F238E27FC236}">
                <a16:creationId xmlns:a16="http://schemas.microsoft.com/office/drawing/2014/main" id="{5DFA62F4-B972-40DF-8ED9-B584E3699192}"/>
              </a:ext>
            </a:extLst>
          </p:cNvPr>
          <p:cNvSpPr>
            <a:spLocks noChangeShapeType="1"/>
          </p:cNvSpPr>
          <p:nvPr/>
        </p:nvSpPr>
        <p:spPr bwMode="auto">
          <a:xfrm flipH="1">
            <a:off x="2209800" y="471963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23" name="Text Box 15">
            <a:extLst>
              <a:ext uri="{FF2B5EF4-FFF2-40B4-BE49-F238E27FC236}">
                <a16:creationId xmlns:a16="http://schemas.microsoft.com/office/drawing/2014/main" id="{764E5CF2-F1E1-48BA-B2F7-B561D3A9BFF1}"/>
              </a:ext>
            </a:extLst>
          </p:cNvPr>
          <p:cNvSpPr txBox="1">
            <a:spLocks noChangeArrowheads="1"/>
          </p:cNvSpPr>
          <p:nvPr/>
        </p:nvSpPr>
        <p:spPr bwMode="auto">
          <a:xfrm flipH="1">
            <a:off x="3657600" y="498475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7</a:t>
            </a:r>
          </a:p>
        </p:txBody>
      </p:sp>
      <p:sp>
        <p:nvSpPr>
          <p:cNvPr id="41999" name="Text Box 16">
            <a:extLst>
              <a:ext uri="{FF2B5EF4-FFF2-40B4-BE49-F238E27FC236}">
                <a16:creationId xmlns:a16="http://schemas.microsoft.com/office/drawing/2014/main" id="{38E6FCB4-74CC-4C1B-AD36-51FAB402A360}"/>
              </a:ext>
            </a:extLst>
          </p:cNvPr>
          <p:cNvSpPr txBox="1">
            <a:spLocks noChangeArrowheads="1"/>
          </p:cNvSpPr>
          <p:nvPr/>
        </p:nvSpPr>
        <p:spPr bwMode="auto">
          <a:xfrm flipH="1">
            <a:off x="2368550" y="498475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3</a:t>
            </a:r>
          </a:p>
        </p:txBody>
      </p:sp>
      <p:sp>
        <p:nvSpPr>
          <p:cNvPr id="42000" name="Text Box 17">
            <a:extLst>
              <a:ext uri="{FF2B5EF4-FFF2-40B4-BE49-F238E27FC236}">
                <a16:creationId xmlns:a16="http://schemas.microsoft.com/office/drawing/2014/main" id="{51697621-6907-47D1-9202-7F27B79FC57B}"/>
              </a:ext>
            </a:extLst>
          </p:cNvPr>
          <p:cNvSpPr txBox="1">
            <a:spLocks noChangeArrowheads="1"/>
          </p:cNvSpPr>
          <p:nvPr/>
        </p:nvSpPr>
        <p:spPr bwMode="auto">
          <a:xfrm flipH="1">
            <a:off x="6508750" y="4984750"/>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16</a:t>
            </a:r>
          </a:p>
        </p:txBody>
      </p:sp>
      <p:sp>
        <p:nvSpPr>
          <p:cNvPr id="42001" name="Text Box 18">
            <a:extLst>
              <a:ext uri="{FF2B5EF4-FFF2-40B4-BE49-F238E27FC236}">
                <a16:creationId xmlns:a16="http://schemas.microsoft.com/office/drawing/2014/main" id="{59AD8071-0C33-411C-B100-06F682F4888F}"/>
              </a:ext>
            </a:extLst>
          </p:cNvPr>
          <p:cNvSpPr txBox="1">
            <a:spLocks noChangeArrowheads="1"/>
          </p:cNvSpPr>
          <p:nvPr/>
        </p:nvSpPr>
        <p:spPr bwMode="auto">
          <a:xfrm flipH="1">
            <a:off x="1371600" y="498475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0</a:t>
            </a:r>
          </a:p>
        </p:txBody>
      </p:sp>
      <p:sp>
        <p:nvSpPr>
          <p:cNvPr id="17427" name="Text Box 20">
            <a:extLst>
              <a:ext uri="{FF2B5EF4-FFF2-40B4-BE49-F238E27FC236}">
                <a16:creationId xmlns:a16="http://schemas.microsoft.com/office/drawing/2014/main" id="{AB3EF6ED-13E0-4F9A-9BD6-55695BDD2F4C}"/>
              </a:ext>
            </a:extLst>
          </p:cNvPr>
          <p:cNvSpPr txBox="1">
            <a:spLocks noChangeArrowheads="1"/>
          </p:cNvSpPr>
          <p:nvPr/>
        </p:nvSpPr>
        <p:spPr bwMode="auto">
          <a:xfrm flipH="1">
            <a:off x="5867400" y="4298950"/>
            <a:ext cx="4206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P</a:t>
            </a:r>
            <a:r>
              <a:rPr lang="en-US" altLang="en-US" baseline="-25000"/>
              <a:t>4</a:t>
            </a:r>
            <a:endParaRPr lang="en-US" altLang="en-US"/>
          </a:p>
        </p:txBody>
      </p:sp>
      <p:sp>
        <p:nvSpPr>
          <p:cNvPr id="17428" name="Line 21">
            <a:extLst>
              <a:ext uri="{FF2B5EF4-FFF2-40B4-BE49-F238E27FC236}">
                <a16:creationId xmlns:a16="http://schemas.microsoft.com/office/drawing/2014/main" id="{F7D0A4F0-59F7-4305-BDBB-7F182B58F554}"/>
              </a:ext>
            </a:extLst>
          </p:cNvPr>
          <p:cNvSpPr>
            <a:spLocks noChangeShapeType="1"/>
          </p:cNvSpPr>
          <p:nvPr/>
        </p:nvSpPr>
        <p:spPr bwMode="auto">
          <a:xfrm flipH="1">
            <a:off x="5486400" y="422275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04" name="Line 22">
            <a:extLst>
              <a:ext uri="{FF2B5EF4-FFF2-40B4-BE49-F238E27FC236}">
                <a16:creationId xmlns:a16="http://schemas.microsoft.com/office/drawing/2014/main" id="{3FE11C43-556B-4242-8915-7C23D99B960C}"/>
              </a:ext>
            </a:extLst>
          </p:cNvPr>
          <p:cNvSpPr>
            <a:spLocks noChangeShapeType="1"/>
          </p:cNvSpPr>
          <p:nvPr/>
        </p:nvSpPr>
        <p:spPr bwMode="auto">
          <a:xfrm flipH="1">
            <a:off x="1828800" y="471963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05" name="Line 23">
            <a:extLst>
              <a:ext uri="{FF2B5EF4-FFF2-40B4-BE49-F238E27FC236}">
                <a16:creationId xmlns:a16="http://schemas.microsoft.com/office/drawing/2014/main" id="{646DB6CA-99AA-4917-9AEA-F5163B845FFD}"/>
              </a:ext>
            </a:extLst>
          </p:cNvPr>
          <p:cNvSpPr>
            <a:spLocks noChangeShapeType="1"/>
          </p:cNvSpPr>
          <p:nvPr/>
        </p:nvSpPr>
        <p:spPr bwMode="auto">
          <a:xfrm flipH="1">
            <a:off x="2590800" y="471963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06" name="Line 24">
            <a:extLst>
              <a:ext uri="{FF2B5EF4-FFF2-40B4-BE49-F238E27FC236}">
                <a16:creationId xmlns:a16="http://schemas.microsoft.com/office/drawing/2014/main" id="{6C5426DD-6E3D-4DC9-BEEC-B5B7BD964227}"/>
              </a:ext>
            </a:extLst>
          </p:cNvPr>
          <p:cNvSpPr>
            <a:spLocks noChangeShapeType="1"/>
          </p:cNvSpPr>
          <p:nvPr/>
        </p:nvSpPr>
        <p:spPr bwMode="auto">
          <a:xfrm flipH="1">
            <a:off x="2971800" y="471963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07" name="Line 25">
            <a:extLst>
              <a:ext uri="{FF2B5EF4-FFF2-40B4-BE49-F238E27FC236}">
                <a16:creationId xmlns:a16="http://schemas.microsoft.com/office/drawing/2014/main" id="{DBA63DD4-897A-438E-8A4F-8276DED32B01}"/>
              </a:ext>
            </a:extLst>
          </p:cNvPr>
          <p:cNvSpPr>
            <a:spLocks noChangeShapeType="1"/>
          </p:cNvSpPr>
          <p:nvPr/>
        </p:nvSpPr>
        <p:spPr bwMode="auto">
          <a:xfrm flipH="1">
            <a:off x="3276600" y="471963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08" name="Line 26">
            <a:extLst>
              <a:ext uri="{FF2B5EF4-FFF2-40B4-BE49-F238E27FC236}">
                <a16:creationId xmlns:a16="http://schemas.microsoft.com/office/drawing/2014/main" id="{4388CA99-FE52-43C5-808B-C83C89B54365}"/>
              </a:ext>
            </a:extLst>
          </p:cNvPr>
          <p:cNvSpPr>
            <a:spLocks noChangeShapeType="1"/>
          </p:cNvSpPr>
          <p:nvPr/>
        </p:nvSpPr>
        <p:spPr bwMode="auto">
          <a:xfrm flipH="1">
            <a:off x="3581400" y="471963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4" name="Line 27">
            <a:extLst>
              <a:ext uri="{FF2B5EF4-FFF2-40B4-BE49-F238E27FC236}">
                <a16:creationId xmlns:a16="http://schemas.microsoft.com/office/drawing/2014/main" id="{DC115827-AA4E-4127-B155-419D0BF7DFCC}"/>
              </a:ext>
            </a:extLst>
          </p:cNvPr>
          <p:cNvSpPr>
            <a:spLocks noChangeShapeType="1"/>
          </p:cNvSpPr>
          <p:nvPr/>
        </p:nvSpPr>
        <p:spPr bwMode="auto">
          <a:xfrm flipH="1">
            <a:off x="4267200" y="483235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5" name="Text Box 28">
            <a:extLst>
              <a:ext uri="{FF2B5EF4-FFF2-40B4-BE49-F238E27FC236}">
                <a16:creationId xmlns:a16="http://schemas.microsoft.com/office/drawing/2014/main" id="{465FDE3E-C42A-49A9-9613-6B058D33574D}"/>
              </a:ext>
            </a:extLst>
          </p:cNvPr>
          <p:cNvSpPr txBox="1">
            <a:spLocks noChangeArrowheads="1"/>
          </p:cNvSpPr>
          <p:nvPr/>
        </p:nvSpPr>
        <p:spPr bwMode="auto">
          <a:xfrm flipH="1">
            <a:off x="4114800" y="498475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8</a:t>
            </a:r>
          </a:p>
        </p:txBody>
      </p:sp>
      <p:sp>
        <p:nvSpPr>
          <p:cNvPr id="42011" name="Line 29">
            <a:extLst>
              <a:ext uri="{FF2B5EF4-FFF2-40B4-BE49-F238E27FC236}">
                <a16:creationId xmlns:a16="http://schemas.microsoft.com/office/drawing/2014/main" id="{F5417E35-FFC6-4680-8502-AA07291766C1}"/>
              </a:ext>
            </a:extLst>
          </p:cNvPr>
          <p:cNvSpPr>
            <a:spLocks noChangeShapeType="1"/>
          </p:cNvSpPr>
          <p:nvPr/>
        </p:nvSpPr>
        <p:spPr bwMode="auto">
          <a:xfrm flipH="1">
            <a:off x="4648200" y="471963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12" name="Line 30">
            <a:extLst>
              <a:ext uri="{FF2B5EF4-FFF2-40B4-BE49-F238E27FC236}">
                <a16:creationId xmlns:a16="http://schemas.microsoft.com/office/drawing/2014/main" id="{6B402CC4-18B6-4132-A665-572E96DF796A}"/>
              </a:ext>
            </a:extLst>
          </p:cNvPr>
          <p:cNvSpPr>
            <a:spLocks noChangeShapeType="1"/>
          </p:cNvSpPr>
          <p:nvPr/>
        </p:nvSpPr>
        <p:spPr bwMode="auto">
          <a:xfrm flipH="1">
            <a:off x="4953000" y="471963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13" name="Line 31">
            <a:extLst>
              <a:ext uri="{FF2B5EF4-FFF2-40B4-BE49-F238E27FC236}">
                <a16:creationId xmlns:a16="http://schemas.microsoft.com/office/drawing/2014/main" id="{248164F4-BEA0-466C-BCE9-4123C536C870}"/>
              </a:ext>
            </a:extLst>
          </p:cNvPr>
          <p:cNvSpPr>
            <a:spLocks noChangeShapeType="1"/>
          </p:cNvSpPr>
          <p:nvPr/>
        </p:nvSpPr>
        <p:spPr bwMode="auto">
          <a:xfrm flipH="1">
            <a:off x="5257800" y="471963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9" name="Line 32">
            <a:extLst>
              <a:ext uri="{FF2B5EF4-FFF2-40B4-BE49-F238E27FC236}">
                <a16:creationId xmlns:a16="http://schemas.microsoft.com/office/drawing/2014/main" id="{BD940033-2910-4F73-8B14-5EF6082C1CBE}"/>
              </a:ext>
            </a:extLst>
          </p:cNvPr>
          <p:cNvSpPr>
            <a:spLocks noChangeShapeType="1"/>
          </p:cNvSpPr>
          <p:nvPr/>
        </p:nvSpPr>
        <p:spPr bwMode="auto">
          <a:xfrm flipH="1">
            <a:off x="5486400" y="483235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40" name="Text Box 33">
            <a:extLst>
              <a:ext uri="{FF2B5EF4-FFF2-40B4-BE49-F238E27FC236}">
                <a16:creationId xmlns:a16="http://schemas.microsoft.com/office/drawing/2014/main" id="{C1178B31-EE1B-44B0-AEA0-729996771C7E}"/>
              </a:ext>
            </a:extLst>
          </p:cNvPr>
          <p:cNvSpPr txBox="1">
            <a:spLocks noChangeArrowheads="1"/>
          </p:cNvSpPr>
          <p:nvPr/>
        </p:nvSpPr>
        <p:spPr bwMode="auto">
          <a:xfrm flipH="1">
            <a:off x="5257800" y="4984750"/>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12</a:t>
            </a:r>
          </a:p>
        </p:txBody>
      </p:sp>
      <p:sp>
        <p:nvSpPr>
          <p:cNvPr id="42016" name="Line 34">
            <a:extLst>
              <a:ext uri="{FF2B5EF4-FFF2-40B4-BE49-F238E27FC236}">
                <a16:creationId xmlns:a16="http://schemas.microsoft.com/office/drawing/2014/main" id="{0D6EEAC3-F693-4748-A100-AEAD5240804E}"/>
              </a:ext>
            </a:extLst>
          </p:cNvPr>
          <p:cNvSpPr>
            <a:spLocks noChangeShapeType="1"/>
          </p:cNvSpPr>
          <p:nvPr/>
        </p:nvSpPr>
        <p:spPr bwMode="auto">
          <a:xfrm flipH="1">
            <a:off x="5867400" y="471963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17" name="Line 35">
            <a:extLst>
              <a:ext uri="{FF2B5EF4-FFF2-40B4-BE49-F238E27FC236}">
                <a16:creationId xmlns:a16="http://schemas.microsoft.com/office/drawing/2014/main" id="{D73E0A21-FCDD-40C5-AE53-68E8E259D2E4}"/>
              </a:ext>
            </a:extLst>
          </p:cNvPr>
          <p:cNvSpPr>
            <a:spLocks noChangeShapeType="1"/>
          </p:cNvSpPr>
          <p:nvPr/>
        </p:nvSpPr>
        <p:spPr bwMode="auto">
          <a:xfrm flipH="1">
            <a:off x="6172200" y="471963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18" name="Line 36">
            <a:extLst>
              <a:ext uri="{FF2B5EF4-FFF2-40B4-BE49-F238E27FC236}">
                <a16:creationId xmlns:a16="http://schemas.microsoft.com/office/drawing/2014/main" id="{1A9F87F6-8511-4B6E-A3DB-08052A4E7092}"/>
              </a:ext>
            </a:extLst>
          </p:cNvPr>
          <p:cNvSpPr>
            <a:spLocks noChangeShapeType="1"/>
          </p:cNvSpPr>
          <p:nvPr/>
        </p:nvSpPr>
        <p:spPr bwMode="auto">
          <a:xfrm flipH="1">
            <a:off x="6477000" y="471963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19" name="Line 25">
            <a:extLst>
              <a:ext uri="{FF2B5EF4-FFF2-40B4-BE49-F238E27FC236}">
                <a16:creationId xmlns:a16="http://schemas.microsoft.com/office/drawing/2014/main" id="{BB985F5D-C90C-448C-8C7D-F6A78D4B6861}"/>
              </a:ext>
            </a:extLst>
          </p:cNvPr>
          <p:cNvSpPr>
            <a:spLocks noChangeShapeType="1"/>
          </p:cNvSpPr>
          <p:nvPr/>
        </p:nvSpPr>
        <p:spPr bwMode="auto">
          <a:xfrm flipH="1">
            <a:off x="3802063" y="473075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20" name="Line 25">
            <a:extLst>
              <a:ext uri="{FF2B5EF4-FFF2-40B4-BE49-F238E27FC236}">
                <a16:creationId xmlns:a16="http://schemas.microsoft.com/office/drawing/2014/main" id="{CD72972A-39D0-4499-B400-984F6EB15725}"/>
              </a:ext>
            </a:extLst>
          </p:cNvPr>
          <p:cNvSpPr>
            <a:spLocks noChangeShapeType="1"/>
          </p:cNvSpPr>
          <p:nvPr/>
        </p:nvSpPr>
        <p:spPr bwMode="auto">
          <a:xfrm flipH="1">
            <a:off x="4265613" y="473075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21" name="Line 25">
            <a:extLst>
              <a:ext uri="{FF2B5EF4-FFF2-40B4-BE49-F238E27FC236}">
                <a16:creationId xmlns:a16="http://schemas.microsoft.com/office/drawing/2014/main" id="{9150B875-4C03-486F-85CD-C950DA47B9A8}"/>
              </a:ext>
            </a:extLst>
          </p:cNvPr>
          <p:cNvSpPr>
            <a:spLocks noChangeShapeType="1"/>
          </p:cNvSpPr>
          <p:nvPr/>
        </p:nvSpPr>
        <p:spPr bwMode="auto">
          <a:xfrm flipH="1">
            <a:off x="5489575" y="474345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9" name="Freeform 38">
            <a:extLst>
              <a:ext uri="{FF2B5EF4-FFF2-40B4-BE49-F238E27FC236}">
                <a16:creationId xmlns:a16="http://schemas.microsoft.com/office/drawing/2014/main" id="{19F61698-57B3-4DBB-AD44-6952B7B9D381}"/>
              </a:ext>
            </a:extLst>
          </p:cNvPr>
          <p:cNvSpPr>
            <a:spLocks/>
          </p:cNvSpPr>
          <p:nvPr/>
        </p:nvSpPr>
        <p:spPr bwMode="auto">
          <a:xfrm>
            <a:off x="6457950" y="1643063"/>
            <a:ext cx="201613" cy="136525"/>
          </a:xfrm>
          <a:custGeom>
            <a:avLst/>
            <a:gdLst>
              <a:gd name="T0" fmla="*/ 0 w 201706"/>
              <a:gd name="T1" fmla="*/ 71052 h 135623"/>
              <a:gd name="T2" fmla="*/ 52753 w 201706"/>
              <a:gd name="T3" fmla="*/ 177639 h 135623"/>
              <a:gd name="T4" fmla="*/ 197815 w 201706"/>
              <a:gd name="T5" fmla="*/ 0 h 135623"/>
              <a:gd name="T6" fmla="*/ 0 60000 65536"/>
              <a:gd name="T7" fmla="*/ 0 60000 65536"/>
              <a:gd name="T8" fmla="*/ 0 60000 65536"/>
              <a:gd name="T9" fmla="*/ 0 w 201706"/>
              <a:gd name="T10" fmla="*/ 0 h 135623"/>
              <a:gd name="T11" fmla="*/ 201706 w 201706"/>
              <a:gd name="T12" fmla="*/ 135623 h 135623"/>
            </a:gdLst>
            <a:ahLst/>
            <a:cxnLst>
              <a:cxn ang="T6">
                <a:pos x="T0" y="T1"/>
              </a:cxn>
              <a:cxn ang="T7">
                <a:pos x="T2" y="T3"/>
              </a:cxn>
              <a:cxn ang="T8">
                <a:pos x="T4" y="T5"/>
              </a:cxn>
            </a:cxnLst>
            <a:rect l="T9" t="T10" r="T11" b="T12"/>
            <a:pathLst>
              <a:path w="201706" h="135623">
                <a:moveTo>
                  <a:pt x="0" y="53788"/>
                </a:moveTo>
                <a:cubicBezTo>
                  <a:pt x="10085" y="98611"/>
                  <a:pt x="20170" y="143435"/>
                  <a:pt x="53788" y="134470"/>
                </a:cubicBezTo>
                <a:cubicBezTo>
                  <a:pt x="87406" y="125505"/>
                  <a:pt x="144556" y="62752"/>
                  <a:pt x="201706" y="0"/>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 name="Freeform 39">
            <a:extLst>
              <a:ext uri="{FF2B5EF4-FFF2-40B4-BE49-F238E27FC236}">
                <a16:creationId xmlns:a16="http://schemas.microsoft.com/office/drawing/2014/main" id="{AF603F7C-635C-4BA1-BA60-FD7E758A4757}"/>
              </a:ext>
            </a:extLst>
          </p:cNvPr>
          <p:cNvSpPr>
            <a:spLocks/>
          </p:cNvSpPr>
          <p:nvPr/>
        </p:nvSpPr>
        <p:spPr bwMode="auto">
          <a:xfrm>
            <a:off x="6426200" y="2544763"/>
            <a:ext cx="201613" cy="136525"/>
          </a:xfrm>
          <a:custGeom>
            <a:avLst/>
            <a:gdLst>
              <a:gd name="T0" fmla="*/ 0 w 201706"/>
              <a:gd name="T1" fmla="*/ 71052 h 135623"/>
              <a:gd name="T2" fmla="*/ 52753 w 201706"/>
              <a:gd name="T3" fmla="*/ 177639 h 135623"/>
              <a:gd name="T4" fmla="*/ 197815 w 201706"/>
              <a:gd name="T5" fmla="*/ 0 h 135623"/>
              <a:gd name="T6" fmla="*/ 0 60000 65536"/>
              <a:gd name="T7" fmla="*/ 0 60000 65536"/>
              <a:gd name="T8" fmla="*/ 0 60000 65536"/>
              <a:gd name="T9" fmla="*/ 0 w 201706"/>
              <a:gd name="T10" fmla="*/ 0 h 135623"/>
              <a:gd name="T11" fmla="*/ 201706 w 201706"/>
              <a:gd name="T12" fmla="*/ 135623 h 135623"/>
            </a:gdLst>
            <a:ahLst/>
            <a:cxnLst>
              <a:cxn ang="T6">
                <a:pos x="T0" y="T1"/>
              </a:cxn>
              <a:cxn ang="T7">
                <a:pos x="T2" y="T3"/>
              </a:cxn>
              <a:cxn ang="T8">
                <a:pos x="T4" y="T5"/>
              </a:cxn>
            </a:cxnLst>
            <a:rect l="T9" t="T10" r="T11" b="T12"/>
            <a:pathLst>
              <a:path w="201706" h="135623">
                <a:moveTo>
                  <a:pt x="0" y="53788"/>
                </a:moveTo>
                <a:cubicBezTo>
                  <a:pt x="10085" y="98611"/>
                  <a:pt x="20170" y="143435"/>
                  <a:pt x="53788" y="134470"/>
                </a:cubicBezTo>
                <a:cubicBezTo>
                  <a:pt x="87406" y="125505"/>
                  <a:pt x="144556" y="62752"/>
                  <a:pt x="201706" y="0"/>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 name="Freeform 40">
            <a:extLst>
              <a:ext uri="{FF2B5EF4-FFF2-40B4-BE49-F238E27FC236}">
                <a16:creationId xmlns:a16="http://schemas.microsoft.com/office/drawing/2014/main" id="{32A3FD6D-524F-4585-B1C3-7E0A7282805A}"/>
              </a:ext>
            </a:extLst>
          </p:cNvPr>
          <p:cNvSpPr>
            <a:spLocks/>
          </p:cNvSpPr>
          <p:nvPr/>
        </p:nvSpPr>
        <p:spPr bwMode="auto">
          <a:xfrm>
            <a:off x="6426200" y="2128838"/>
            <a:ext cx="201613" cy="136525"/>
          </a:xfrm>
          <a:custGeom>
            <a:avLst/>
            <a:gdLst>
              <a:gd name="T0" fmla="*/ 0 w 201706"/>
              <a:gd name="T1" fmla="*/ 71052 h 135623"/>
              <a:gd name="T2" fmla="*/ 52753 w 201706"/>
              <a:gd name="T3" fmla="*/ 177639 h 135623"/>
              <a:gd name="T4" fmla="*/ 197815 w 201706"/>
              <a:gd name="T5" fmla="*/ 0 h 135623"/>
              <a:gd name="T6" fmla="*/ 0 60000 65536"/>
              <a:gd name="T7" fmla="*/ 0 60000 65536"/>
              <a:gd name="T8" fmla="*/ 0 60000 65536"/>
              <a:gd name="T9" fmla="*/ 0 w 201706"/>
              <a:gd name="T10" fmla="*/ 0 h 135623"/>
              <a:gd name="T11" fmla="*/ 201706 w 201706"/>
              <a:gd name="T12" fmla="*/ 135623 h 135623"/>
            </a:gdLst>
            <a:ahLst/>
            <a:cxnLst>
              <a:cxn ang="T6">
                <a:pos x="T0" y="T1"/>
              </a:cxn>
              <a:cxn ang="T7">
                <a:pos x="T2" y="T3"/>
              </a:cxn>
              <a:cxn ang="T8">
                <a:pos x="T4" y="T5"/>
              </a:cxn>
            </a:cxnLst>
            <a:rect l="T9" t="T10" r="T11" b="T12"/>
            <a:pathLst>
              <a:path w="201706" h="135623">
                <a:moveTo>
                  <a:pt x="0" y="53788"/>
                </a:moveTo>
                <a:cubicBezTo>
                  <a:pt x="10085" y="98611"/>
                  <a:pt x="20170" y="143435"/>
                  <a:pt x="53788" y="134470"/>
                </a:cubicBezTo>
                <a:cubicBezTo>
                  <a:pt x="87406" y="125505"/>
                  <a:pt x="144556" y="62752"/>
                  <a:pt x="201706" y="0"/>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2" name="Freeform 41">
            <a:extLst>
              <a:ext uri="{FF2B5EF4-FFF2-40B4-BE49-F238E27FC236}">
                <a16:creationId xmlns:a16="http://schemas.microsoft.com/office/drawing/2014/main" id="{432D6EFF-E8EB-437D-97A3-D995C3AE2D5B}"/>
              </a:ext>
            </a:extLst>
          </p:cNvPr>
          <p:cNvSpPr>
            <a:spLocks/>
          </p:cNvSpPr>
          <p:nvPr/>
        </p:nvSpPr>
        <p:spPr bwMode="auto">
          <a:xfrm>
            <a:off x="6443663" y="2992438"/>
            <a:ext cx="201612" cy="136525"/>
          </a:xfrm>
          <a:custGeom>
            <a:avLst/>
            <a:gdLst>
              <a:gd name="T0" fmla="*/ 0 w 201706"/>
              <a:gd name="T1" fmla="*/ 71052 h 135623"/>
              <a:gd name="T2" fmla="*/ 52738 w 201706"/>
              <a:gd name="T3" fmla="*/ 177639 h 135623"/>
              <a:gd name="T4" fmla="*/ 197795 w 201706"/>
              <a:gd name="T5" fmla="*/ 0 h 135623"/>
              <a:gd name="T6" fmla="*/ 0 60000 65536"/>
              <a:gd name="T7" fmla="*/ 0 60000 65536"/>
              <a:gd name="T8" fmla="*/ 0 60000 65536"/>
              <a:gd name="T9" fmla="*/ 0 w 201706"/>
              <a:gd name="T10" fmla="*/ 0 h 135623"/>
              <a:gd name="T11" fmla="*/ 201706 w 201706"/>
              <a:gd name="T12" fmla="*/ 135623 h 135623"/>
            </a:gdLst>
            <a:ahLst/>
            <a:cxnLst>
              <a:cxn ang="T6">
                <a:pos x="T0" y="T1"/>
              </a:cxn>
              <a:cxn ang="T7">
                <a:pos x="T2" y="T3"/>
              </a:cxn>
              <a:cxn ang="T8">
                <a:pos x="T4" y="T5"/>
              </a:cxn>
            </a:cxnLst>
            <a:rect l="T9" t="T10" r="T11" b="T12"/>
            <a:pathLst>
              <a:path w="201706" h="135623">
                <a:moveTo>
                  <a:pt x="0" y="53788"/>
                </a:moveTo>
                <a:cubicBezTo>
                  <a:pt x="10085" y="98611"/>
                  <a:pt x="20170" y="143435"/>
                  <a:pt x="53788" y="134470"/>
                </a:cubicBezTo>
                <a:cubicBezTo>
                  <a:pt x="87406" y="125505"/>
                  <a:pt x="144556" y="62752"/>
                  <a:pt x="201706" y="0"/>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7414"/>
                                        </p:tgtEl>
                                        <p:attrNameLst>
                                          <p:attrName>style.visibility</p:attrName>
                                        </p:attrNameLst>
                                      </p:cBhvr>
                                      <p:to>
                                        <p:strVal val="visible"/>
                                      </p:to>
                                    </p:set>
                                    <p:animEffect transition="in" filter="box(in)">
                                      <p:cBhvr>
                                        <p:cTn id="7" dur="500"/>
                                        <p:tgtEl>
                                          <p:spTgt spid="174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7420"/>
                                        </p:tgtEl>
                                        <p:attrNameLst>
                                          <p:attrName>style.visibility</p:attrName>
                                        </p:attrNameLst>
                                      </p:cBhvr>
                                      <p:to>
                                        <p:strVal val="visible"/>
                                      </p:to>
                                    </p:set>
                                    <p:animEffect transition="in" filter="box(in)">
                                      <p:cBhvr>
                                        <p:cTn id="12" dur="500"/>
                                        <p:tgtEl>
                                          <p:spTgt spid="17420"/>
                                        </p:tgtEl>
                                      </p:cBhvr>
                                    </p:animEffect>
                                  </p:childTnLst>
                                </p:cTn>
                              </p:par>
                              <p:par>
                                <p:cTn id="13" presetID="1" presetClass="entr" presetSubtype="0" fill="hold"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4" presetClass="entr" presetSubtype="16" fill="hold" nodeType="withEffect">
                                  <p:stCondLst>
                                    <p:cond delay="0"/>
                                  </p:stCondLst>
                                  <p:childTnLst>
                                    <p:set>
                                      <p:cBhvr>
                                        <p:cTn id="16" dur="1" fill="hold">
                                          <p:stCondLst>
                                            <p:cond delay="0"/>
                                          </p:stCondLst>
                                        </p:cTn>
                                        <p:tgtEl>
                                          <p:spTgt spid="17421"/>
                                        </p:tgtEl>
                                        <p:attrNameLst>
                                          <p:attrName>style.visibility</p:attrName>
                                        </p:attrNameLst>
                                      </p:cBhvr>
                                      <p:to>
                                        <p:strVal val="visible"/>
                                      </p:to>
                                    </p:set>
                                    <p:animEffect transition="in" filter="box(in)">
                                      <p:cBhvr>
                                        <p:cTn id="17" dur="500"/>
                                        <p:tgtEl>
                                          <p:spTgt spid="17421"/>
                                        </p:tgtEl>
                                      </p:cBhvr>
                                    </p:animEffect>
                                  </p:childTnLst>
                                </p:cTn>
                              </p:par>
                              <p:par>
                                <p:cTn id="18" presetID="4" presetClass="entr" presetSubtype="16" fill="hold" grpId="0" nodeType="withEffect">
                                  <p:stCondLst>
                                    <p:cond delay="0"/>
                                  </p:stCondLst>
                                  <p:childTnLst>
                                    <p:set>
                                      <p:cBhvr>
                                        <p:cTn id="19" dur="1" fill="hold">
                                          <p:stCondLst>
                                            <p:cond delay="0"/>
                                          </p:stCondLst>
                                        </p:cTn>
                                        <p:tgtEl>
                                          <p:spTgt spid="17423"/>
                                        </p:tgtEl>
                                        <p:attrNameLst>
                                          <p:attrName>style.visibility</p:attrName>
                                        </p:attrNameLst>
                                      </p:cBhvr>
                                      <p:to>
                                        <p:strVal val="visible"/>
                                      </p:to>
                                    </p:set>
                                    <p:animEffect transition="in" filter="box(in)">
                                      <p:cBhvr>
                                        <p:cTn id="20" dur="500"/>
                                        <p:tgtEl>
                                          <p:spTgt spid="1742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17415"/>
                                        </p:tgtEl>
                                        <p:attrNameLst>
                                          <p:attrName>style.visibility</p:attrName>
                                        </p:attrNameLst>
                                      </p:cBhvr>
                                      <p:to>
                                        <p:strVal val="visible"/>
                                      </p:to>
                                    </p:set>
                                    <p:animEffect transition="in" filter="box(in)">
                                      <p:cBhvr>
                                        <p:cTn id="25" dur="500"/>
                                        <p:tgtEl>
                                          <p:spTgt spid="1741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nodeType="clickEffect">
                                  <p:stCondLst>
                                    <p:cond delay="0"/>
                                  </p:stCondLst>
                                  <p:childTnLst>
                                    <p:set>
                                      <p:cBhvr>
                                        <p:cTn id="29" dur="1" fill="hold">
                                          <p:stCondLst>
                                            <p:cond delay="0"/>
                                          </p:stCondLst>
                                        </p:cTn>
                                        <p:tgtEl>
                                          <p:spTgt spid="17419"/>
                                        </p:tgtEl>
                                        <p:attrNameLst>
                                          <p:attrName>style.visibility</p:attrName>
                                        </p:attrNameLst>
                                      </p:cBhvr>
                                      <p:to>
                                        <p:strVal val="visible"/>
                                      </p:to>
                                    </p:set>
                                    <p:animEffect transition="in" filter="box(in)">
                                      <p:cBhvr>
                                        <p:cTn id="30" dur="500"/>
                                        <p:tgtEl>
                                          <p:spTgt spid="17419"/>
                                        </p:tgtEl>
                                      </p:cBhvr>
                                    </p:animEffect>
                                  </p:childTnLst>
                                </p:cTn>
                              </p:par>
                              <p:par>
                                <p:cTn id="31" presetID="4" presetClass="entr" presetSubtype="16" fill="hold" nodeType="withEffect">
                                  <p:stCondLst>
                                    <p:cond delay="0"/>
                                  </p:stCondLst>
                                  <p:childTnLst>
                                    <p:set>
                                      <p:cBhvr>
                                        <p:cTn id="32" dur="1" fill="hold">
                                          <p:stCondLst>
                                            <p:cond delay="0"/>
                                          </p:stCondLst>
                                        </p:cTn>
                                        <p:tgtEl>
                                          <p:spTgt spid="17434"/>
                                        </p:tgtEl>
                                        <p:attrNameLst>
                                          <p:attrName>style.visibility</p:attrName>
                                        </p:attrNameLst>
                                      </p:cBhvr>
                                      <p:to>
                                        <p:strVal val="visible"/>
                                      </p:to>
                                    </p:set>
                                    <p:animEffect transition="in" filter="box(in)">
                                      <p:cBhvr>
                                        <p:cTn id="33" dur="500"/>
                                        <p:tgtEl>
                                          <p:spTgt spid="17434"/>
                                        </p:tgtEl>
                                      </p:cBhvr>
                                    </p:animEffect>
                                  </p:childTnLst>
                                </p:cTn>
                              </p:par>
                              <p:par>
                                <p:cTn id="34" presetID="1"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childTnLst>
                                </p:cTn>
                              </p:par>
                              <p:par>
                                <p:cTn id="36" presetID="4" presetClass="entr" presetSubtype="16" fill="hold" grpId="0" nodeType="withEffect">
                                  <p:stCondLst>
                                    <p:cond delay="0"/>
                                  </p:stCondLst>
                                  <p:childTnLst>
                                    <p:set>
                                      <p:cBhvr>
                                        <p:cTn id="37" dur="1" fill="hold">
                                          <p:stCondLst>
                                            <p:cond delay="0"/>
                                          </p:stCondLst>
                                        </p:cTn>
                                        <p:tgtEl>
                                          <p:spTgt spid="17435"/>
                                        </p:tgtEl>
                                        <p:attrNameLst>
                                          <p:attrName>style.visibility</p:attrName>
                                        </p:attrNameLst>
                                      </p:cBhvr>
                                      <p:to>
                                        <p:strVal val="visible"/>
                                      </p:to>
                                    </p:set>
                                    <p:animEffect transition="in" filter="box(in)">
                                      <p:cBhvr>
                                        <p:cTn id="38" dur="500"/>
                                        <p:tgtEl>
                                          <p:spTgt spid="17435"/>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17416"/>
                                        </p:tgtEl>
                                        <p:attrNameLst>
                                          <p:attrName>style.visibility</p:attrName>
                                        </p:attrNameLst>
                                      </p:cBhvr>
                                      <p:to>
                                        <p:strVal val="visible"/>
                                      </p:to>
                                    </p:set>
                                    <p:animEffect transition="in" filter="box(in)">
                                      <p:cBhvr>
                                        <p:cTn id="43" dur="500"/>
                                        <p:tgtEl>
                                          <p:spTgt spid="1741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4" presetClass="entr" presetSubtype="16" fill="hold" nodeType="clickEffect">
                                  <p:stCondLst>
                                    <p:cond delay="0"/>
                                  </p:stCondLst>
                                  <p:childTnLst>
                                    <p:set>
                                      <p:cBhvr>
                                        <p:cTn id="47" dur="1" fill="hold">
                                          <p:stCondLst>
                                            <p:cond delay="0"/>
                                          </p:stCondLst>
                                        </p:cTn>
                                        <p:tgtEl>
                                          <p:spTgt spid="17428"/>
                                        </p:tgtEl>
                                        <p:attrNameLst>
                                          <p:attrName>style.visibility</p:attrName>
                                        </p:attrNameLst>
                                      </p:cBhvr>
                                      <p:to>
                                        <p:strVal val="visible"/>
                                      </p:to>
                                    </p:set>
                                    <p:animEffect transition="in" filter="box(in)">
                                      <p:cBhvr>
                                        <p:cTn id="48" dur="500"/>
                                        <p:tgtEl>
                                          <p:spTgt spid="17428"/>
                                        </p:tgtEl>
                                      </p:cBhvr>
                                    </p:animEffect>
                                  </p:childTnLst>
                                </p:cTn>
                              </p:par>
                              <p:par>
                                <p:cTn id="49" presetID="4" presetClass="entr" presetSubtype="16" fill="hold" nodeType="withEffect">
                                  <p:stCondLst>
                                    <p:cond delay="0"/>
                                  </p:stCondLst>
                                  <p:childTnLst>
                                    <p:set>
                                      <p:cBhvr>
                                        <p:cTn id="50" dur="1" fill="hold">
                                          <p:stCondLst>
                                            <p:cond delay="0"/>
                                          </p:stCondLst>
                                        </p:cTn>
                                        <p:tgtEl>
                                          <p:spTgt spid="17439"/>
                                        </p:tgtEl>
                                        <p:attrNameLst>
                                          <p:attrName>style.visibility</p:attrName>
                                        </p:attrNameLst>
                                      </p:cBhvr>
                                      <p:to>
                                        <p:strVal val="visible"/>
                                      </p:to>
                                    </p:set>
                                    <p:animEffect transition="in" filter="box(in)">
                                      <p:cBhvr>
                                        <p:cTn id="51" dur="500"/>
                                        <p:tgtEl>
                                          <p:spTgt spid="17439"/>
                                        </p:tgtEl>
                                      </p:cBhvr>
                                    </p:animEffect>
                                  </p:childTnLst>
                                </p:cTn>
                              </p:par>
                              <p:par>
                                <p:cTn id="52" presetID="1" presetClass="entr" presetSubtype="0" fill="hold" nodeType="withEffect">
                                  <p:stCondLst>
                                    <p:cond delay="0"/>
                                  </p:stCondLst>
                                  <p:childTnLst>
                                    <p:set>
                                      <p:cBhvr>
                                        <p:cTn id="53" dur="1" fill="hold">
                                          <p:stCondLst>
                                            <p:cond delay="0"/>
                                          </p:stCondLst>
                                        </p:cTn>
                                        <p:tgtEl>
                                          <p:spTgt spid="41"/>
                                        </p:tgtEl>
                                        <p:attrNameLst>
                                          <p:attrName>style.visibility</p:attrName>
                                        </p:attrNameLst>
                                      </p:cBhvr>
                                      <p:to>
                                        <p:strVal val="visible"/>
                                      </p:to>
                                    </p:set>
                                  </p:childTnLst>
                                </p:cTn>
                              </p:par>
                              <p:par>
                                <p:cTn id="54" presetID="4" presetClass="entr" presetSubtype="16" fill="hold" grpId="0" nodeType="withEffect">
                                  <p:stCondLst>
                                    <p:cond delay="0"/>
                                  </p:stCondLst>
                                  <p:childTnLst>
                                    <p:set>
                                      <p:cBhvr>
                                        <p:cTn id="55" dur="1" fill="hold">
                                          <p:stCondLst>
                                            <p:cond delay="0"/>
                                          </p:stCondLst>
                                        </p:cTn>
                                        <p:tgtEl>
                                          <p:spTgt spid="17440"/>
                                        </p:tgtEl>
                                        <p:attrNameLst>
                                          <p:attrName>style.visibility</p:attrName>
                                        </p:attrNameLst>
                                      </p:cBhvr>
                                      <p:to>
                                        <p:strVal val="visible"/>
                                      </p:to>
                                    </p:set>
                                    <p:animEffect transition="in" filter="box(in)">
                                      <p:cBhvr>
                                        <p:cTn id="56" dur="500"/>
                                        <p:tgtEl>
                                          <p:spTgt spid="17440"/>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4" presetClass="entr" presetSubtype="16" fill="hold" grpId="0" nodeType="clickEffect">
                                  <p:stCondLst>
                                    <p:cond delay="0"/>
                                  </p:stCondLst>
                                  <p:childTnLst>
                                    <p:set>
                                      <p:cBhvr>
                                        <p:cTn id="60" dur="1" fill="hold">
                                          <p:stCondLst>
                                            <p:cond delay="0"/>
                                          </p:stCondLst>
                                        </p:cTn>
                                        <p:tgtEl>
                                          <p:spTgt spid="17427"/>
                                        </p:tgtEl>
                                        <p:attrNameLst>
                                          <p:attrName>style.visibility</p:attrName>
                                        </p:attrNameLst>
                                      </p:cBhvr>
                                      <p:to>
                                        <p:strVal val="visible"/>
                                      </p:to>
                                    </p:set>
                                    <p:animEffect transition="in" filter="box(in)">
                                      <p:cBhvr>
                                        <p:cTn id="61" dur="500"/>
                                        <p:tgtEl>
                                          <p:spTgt spid="17427"/>
                                        </p:tgtEl>
                                      </p:cBhvr>
                                    </p:animEffect>
                                  </p:childTnLst>
                                </p:cTn>
                              </p:par>
                              <p:par>
                                <p:cTn id="62" presetID="1" presetClass="entr" presetSubtype="0" fill="hold" nodeType="withEffect">
                                  <p:stCondLst>
                                    <p:cond delay="0"/>
                                  </p:stCondLst>
                                  <p:childTnLst>
                                    <p:set>
                                      <p:cBhvr>
                                        <p:cTn id="63" dur="1" fill="hold">
                                          <p:stCondLst>
                                            <p:cond delay="0"/>
                                          </p:stCondLst>
                                        </p:cTn>
                                        <p:tgtEl>
                                          <p:spTgt spid="42"/>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4" presetClass="entr" presetSubtype="16" fill="hold" nodeType="clickEffect">
                                  <p:stCondLst>
                                    <p:cond delay="0"/>
                                  </p:stCondLst>
                                  <p:childTnLst>
                                    <p:set>
                                      <p:cBhvr>
                                        <p:cTn id="67" dur="1" fill="hold">
                                          <p:stCondLst>
                                            <p:cond delay="0"/>
                                          </p:stCondLst>
                                        </p:cTn>
                                        <p:tgtEl>
                                          <p:spTgt spid="17411">
                                            <p:txEl>
                                              <p:pRg st="11" end="11"/>
                                            </p:txEl>
                                          </p:spTgt>
                                        </p:tgtEl>
                                        <p:attrNameLst>
                                          <p:attrName>style.visibility</p:attrName>
                                        </p:attrNameLst>
                                      </p:cBhvr>
                                      <p:to>
                                        <p:strVal val="visible"/>
                                      </p:to>
                                    </p:set>
                                    <p:animEffect transition="in" filter="box(in)">
                                      <p:cBhvr>
                                        <p:cTn id="68" dur="500"/>
                                        <p:tgtEl>
                                          <p:spTgt spid="17411">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4" grpId="0"/>
      <p:bldP spid="17415" grpId="0"/>
      <p:bldP spid="17416" grpId="0"/>
      <p:bldP spid="17423" grpId="0"/>
      <p:bldP spid="17427" grpId="0"/>
      <p:bldP spid="17435" grpId="0"/>
      <p:bldP spid="1744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Footer Placeholder 3">
            <a:extLst>
              <a:ext uri="{FF2B5EF4-FFF2-40B4-BE49-F238E27FC236}">
                <a16:creationId xmlns:a16="http://schemas.microsoft.com/office/drawing/2014/main" id="{D6A90478-06FE-4A1E-84E0-0CA3A26FEE1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44034" name="Rectangle 2">
            <a:extLst>
              <a:ext uri="{FF2B5EF4-FFF2-40B4-BE49-F238E27FC236}">
                <a16:creationId xmlns:a16="http://schemas.microsoft.com/office/drawing/2014/main" id="{7F75A811-4DF7-49BD-8DBF-6930EF88ABDB}"/>
              </a:ext>
            </a:extLst>
          </p:cNvPr>
          <p:cNvSpPr>
            <a:spLocks noGrp="1" noChangeArrowheads="1"/>
          </p:cNvSpPr>
          <p:nvPr>
            <p:ph type="title"/>
          </p:nvPr>
        </p:nvSpPr>
        <p:spPr>
          <a:xfrm>
            <a:off x="806450" y="495300"/>
            <a:ext cx="7502525" cy="457200"/>
          </a:xfrm>
        </p:spPr>
        <p:txBody>
          <a:bodyPr/>
          <a:lstStyle/>
          <a:p>
            <a:r>
              <a:rPr lang="en-US" altLang="en-US"/>
              <a:t>Example of Preemptive SJF (SRTF)</a:t>
            </a:r>
          </a:p>
        </p:txBody>
      </p:sp>
      <p:sp>
        <p:nvSpPr>
          <p:cNvPr id="39" name="Rectangle 36">
            <a:extLst>
              <a:ext uri="{FF2B5EF4-FFF2-40B4-BE49-F238E27FC236}">
                <a16:creationId xmlns:a16="http://schemas.microsoft.com/office/drawing/2014/main" id="{21602163-A063-4CC7-96A6-88E83BBD4E13}"/>
              </a:ext>
            </a:extLst>
          </p:cNvPr>
          <p:cNvSpPr txBox="1">
            <a:spLocks noChangeArrowheads="1"/>
          </p:cNvSpPr>
          <p:nvPr/>
        </p:nvSpPr>
        <p:spPr bwMode="auto">
          <a:xfrm>
            <a:off x="1047750" y="1173163"/>
            <a:ext cx="7029450" cy="4114800"/>
          </a:xfrm>
          <a:prstGeom prst="rect">
            <a:avLst/>
          </a:prstGeom>
          <a:noFill/>
          <a:ln w="9525">
            <a:noFill/>
            <a:miter lim="800000"/>
            <a:headEnd/>
            <a:tailEnd/>
          </a:ln>
        </p:spPr>
        <p:txBody>
          <a:bodyPr/>
          <a:lstStyle/>
          <a:p>
            <a:pPr marL="228600" indent="-228600">
              <a:spcBef>
                <a:spcPct val="50000"/>
              </a:spcBef>
              <a:buSzPct val="140000"/>
              <a:tabLst>
                <a:tab pos="1603375" algn="ctr"/>
                <a:tab pos="3254375" algn="ctr"/>
                <a:tab pos="5143500" algn="ctr"/>
              </a:tabLst>
              <a:defRPr/>
            </a:pPr>
            <a:r>
              <a:rPr lang="en-US" kern="0" dirty="0">
                <a:latin typeface="+mn-lt"/>
              </a:rPr>
              <a:t>		</a:t>
            </a:r>
            <a:r>
              <a:rPr lang="en-US" u="sng" kern="0" dirty="0">
                <a:latin typeface="+mn-lt"/>
              </a:rPr>
              <a:t>Process</a:t>
            </a:r>
            <a:r>
              <a:rPr lang="en-US" kern="0" dirty="0">
                <a:latin typeface="+mn-lt"/>
              </a:rPr>
              <a:t>	</a:t>
            </a:r>
            <a:r>
              <a:rPr lang="en-US" u="sng" kern="0" dirty="0">
                <a:latin typeface="+mn-lt"/>
              </a:rPr>
              <a:t>Arrival Time</a:t>
            </a:r>
            <a:r>
              <a:rPr lang="en-US" kern="0" dirty="0">
                <a:latin typeface="+mn-lt"/>
              </a:rPr>
              <a:t>	</a:t>
            </a:r>
            <a:r>
              <a:rPr lang="en-US" u="sng" kern="0" dirty="0">
                <a:latin typeface="+mn-lt"/>
              </a:rPr>
              <a:t>Burst Time</a:t>
            </a:r>
            <a:endParaRPr lang="en-US" kern="0" dirty="0">
              <a:latin typeface="+mn-lt"/>
            </a:endParaRPr>
          </a:p>
          <a:p>
            <a:pPr marL="228600" indent="-228600">
              <a:spcBef>
                <a:spcPct val="50000"/>
              </a:spcBef>
              <a:buSzPct val="140000"/>
              <a:tabLst>
                <a:tab pos="1603375" algn="ctr"/>
                <a:tab pos="3254375" algn="ctr"/>
                <a:tab pos="5143500" algn="ctr"/>
              </a:tabLst>
              <a:defRPr/>
            </a:pPr>
            <a:r>
              <a:rPr lang="en-US" kern="0" dirty="0">
                <a:latin typeface="+mn-lt"/>
              </a:rPr>
              <a:t>		</a:t>
            </a:r>
            <a:r>
              <a:rPr lang="en-US" i="1" kern="0" dirty="0">
                <a:latin typeface="+mn-lt"/>
              </a:rPr>
              <a:t>P</a:t>
            </a:r>
            <a:r>
              <a:rPr lang="en-US" i="1" kern="0" baseline="-25000" dirty="0">
                <a:latin typeface="+mn-lt"/>
              </a:rPr>
              <a:t>1</a:t>
            </a:r>
            <a:r>
              <a:rPr lang="en-US" kern="0" dirty="0">
                <a:latin typeface="+mn-lt"/>
              </a:rPr>
              <a:t>	0.0	7</a:t>
            </a:r>
          </a:p>
          <a:p>
            <a:pPr marL="228600" indent="-228600">
              <a:spcBef>
                <a:spcPct val="50000"/>
              </a:spcBef>
              <a:buSzPct val="140000"/>
              <a:tabLst>
                <a:tab pos="1603375" algn="ctr"/>
                <a:tab pos="3254375" algn="ctr"/>
                <a:tab pos="5143500" algn="ctr"/>
              </a:tabLst>
              <a:defRPr/>
            </a:pPr>
            <a:r>
              <a:rPr lang="en-US" kern="0" dirty="0">
                <a:latin typeface="+mn-lt"/>
              </a:rPr>
              <a:t>		 </a:t>
            </a:r>
            <a:r>
              <a:rPr lang="en-US" i="1" kern="0" dirty="0">
                <a:latin typeface="+mn-lt"/>
              </a:rPr>
              <a:t>P</a:t>
            </a:r>
            <a:r>
              <a:rPr lang="en-US" i="1" kern="0" baseline="-25000" dirty="0">
                <a:latin typeface="+mn-lt"/>
              </a:rPr>
              <a:t>2	</a:t>
            </a:r>
            <a:r>
              <a:rPr lang="en-US" kern="0" dirty="0">
                <a:latin typeface="+mn-lt"/>
              </a:rPr>
              <a:t>2.0	4</a:t>
            </a:r>
          </a:p>
          <a:p>
            <a:pPr marL="228600" indent="-228600">
              <a:spcBef>
                <a:spcPct val="50000"/>
              </a:spcBef>
              <a:buSzPct val="140000"/>
              <a:tabLst>
                <a:tab pos="1603375" algn="ctr"/>
                <a:tab pos="3254375" algn="ctr"/>
                <a:tab pos="5143500" algn="ctr"/>
              </a:tabLst>
              <a:defRPr/>
            </a:pPr>
            <a:r>
              <a:rPr lang="en-US" kern="0" dirty="0">
                <a:latin typeface="+mn-lt"/>
              </a:rPr>
              <a:t>		 </a:t>
            </a:r>
            <a:r>
              <a:rPr lang="en-US" i="1" kern="0" dirty="0">
                <a:latin typeface="+mn-lt"/>
              </a:rPr>
              <a:t>P</a:t>
            </a:r>
            <a:r>
              <a:rPr lang="en-US" i="1" kern="0" baseline="-25000" dirty="0">
                <a:latin typeface="+mn-lt"/>
              </a:rPr>
              <a:t>3</a:t>
            </a:r>
            <a:r>
              <a:rPr lang="en-US" kern="0" dirty="0">
                <a:latin typeface="+mn-lt"/>
              </a:rPr>
              <a:t>	4.0	1</a:t>
            </a:r>
          </a:p>
          <a:p>
            <a:pPr marL="228600" indent="-228600">
              <a:spcBef>
                <a:spcPct val="50000"/>
              </a:spcBef>
              <a:buSzPct val="140000"/>
              <a:tabLst>
                <a:tab pos="1603375" algn="ctr"/>
                <a:tab pos="3254375" algn="ctr"/>
                <a:tab pos="5143500" algn="ctr"/>
              </a:tabLst>
              <a:defRPr/>
            </a:pPr>
            <a:r>
              <a:rPr lang="en-US" kern="0" dirty="0">
                <a:latin typeface="+mn-lt"/>
              </a:rPr>
              <a:t>		 </a:t>
            </a:r>
            <a:r>
              <a:rPr lang="en-US" i="1" kern="0" dirty="0">
                <a:latin typeface="+mn-lt"/>
              </a:rPr>
              <a:t>P</a:t>
            </a:r>
            <a:r>
              <a:rPr lang="en-US" i="1" kern="0" baseline="-25000" dirty="0">
                <a:latin typeface="+mn-lt"/>
              </a:rPr>
              <a:t>4</a:t>
            </a:r>
            <a:r>
              <a:rPr lang="en-US" kern="0" dirty="0">
                <a:latin typeface="+mn-lt"/>
              </a:rPr>
              <a:t>	5.0	4</a:t>
            </a:r>
          </a:p>
          <a:p>
            <a:pPr marL="228600" indent="-228600">
              <a:spcBef>
                <a:spcPct val="50000"/>
              </a:spcBef>
              <a:buSzPct val="140000"/>
              <a:buFontTx/>
              <a:buChar char="•"/>
              <a:tabLst>
                <a:tab pos="1603375" algn="ctr"/>
                <a:tab pos="3254375" algn="ctr"/>
                <a:tab pos="5143500" algn="ctr"/>
              </a:tabLst>
              <a:defRPr/>
            </a:pPr>
            <a:endParaRPr lang="en-US" kern="0" dirty="0">
              <a:latin typeface="+mn-lt"/>
            </a:endParaRPr>
          </a:p>
          <a:p>
            <a:pPr marL="228600" indent="-228600">
              <a:spcBef>
                <a:spcPct val="50000"/>
              </a:spcBef>
              <a:buSzPct val="140000"/>
              <a:buFontTx/>
              <a:buChar char="•"/>
              <a:tabLst>
                <a:tab pos="1603375" algn="ctr"/>
                <a:tab pos="3254375" algn="ctr"/>
                <a:tab pos="5143500" algn="ctr"/>
              </a:tabLst>
              <a:defRPr/>
            </a:pPr>
            <a:r>
              <a:rPr lang="en-US" b="1" kern="0" dirty="0">
                <a:solidFill>
                  <a:srgbClr val="FF0000"/>
                </a:solidFill>
                <a:latin typeface="+mn-lt"/>
              </a:rPr>
              <a:t>SJF (Preemptive) Gantt Chart:</a:t>
            </a:r>
          </a:p>
          <a:p>
            <a:pPr marL="228600" indent="-228600">
              <a:spcBef>
                <a:spcPct val="50000"/>
              </a:spcBef>
              <a:buSzPct val="140000"/>
              <a:buFontTx/>
              <a:buChar char="•"/>
              <a:tabLst>
                <a:tab pos="1603375" algn="ctr"/>
                <a:tab pos="3254375" algn="ctr"/>
                <a:tab pos="5143500" algn="ctr"/>
              </a:tabLst>
              <a:defRPr/>
            </a:pPr>
            <a:endParaRPr lang="en-US" kern="0" dirty="0">
              <a:solidFill>
                <a:srgbClr val="FF0000"/>
              </a:solidFill>
              <a:latin typeface="+mn-lt"/>
            </a:endParaRPr>
          </a:p>
          <a:p>
            <a:pPr marL="228600" indent="-228600">
              <a:spcBef>
                <a:spcPct val="50000"/>
              </a:spcBef>
              <a:buSzPct val="140000"/>
              <a:buFontTx/>
              <a:buChar char="•"/>
              <a:tabLst>
                <a:tab pos="1603375" algn="ctr"/>
                <a:tab pos="3254375" algn="ctr"/>
                <a:tab pos="5143500" algn="ctr"/>
              </a:tabLst>
              <a:defRPr/>
            </a:pPr>
            <a:endParaRPr lang="en-US" kern="0" dirty="0">
              <a:solidFill>
                <a:srgbClr val="FF0000"/>
              </a:solidFill>
              <a:latin typeface="+mn-lt"/>
            </a:endParaRPr>
          </a:p>
          <a:p>
            <a:pPr marL="228600" indent="-228600">
              <a:spcBef>
                <a:spcPct val="50000"/>
              </a:spcBef>
              <a:buSzPct val="140000"/>
              <a:buFontTx/>
              <a:buChar char="•"/>
              <a:tabLst>
                <a:tab pos="1603375" algn="ctr"/>
                <a:tab pos="3254375" algn="ctr"/>
                <a:tab pos="5143500" algn="ctr"/>
              </a:tabLst>
              <a:defRPr/>
            </a:pPr>
            <a:endParaRPr lang="en-US" kern="0" dirty="0">
              <a:solidFill>
                <a:srgbClr val="FF0000"/>
              </a:solidFill>
              <a:latin typeface="+mn-lt"/>
            </a:endParaRPr>
          </a:p>
          <a:p>
            <a:pPr>
              <a:spcBef>
                <a:spcPct val="50000"/>
              </a:spcBef>
              <a:buSzPct val="140000"/>
              <a:tabLst>
                <a:tab pos="1603375" algn="ctr"/>
                <a:tab pos="3254375" algn="ctr"/>
                <a:tab pos="5143500" algn="ctr"/>
              </a:tabLst>
              <a:defRPr/>
            </a:pPr>
            <a:endParaRPr lang="en-US" kern="0" dirty="0">
              <a:latin typeface="+mn-lt"/>
            </a:endParaRPr>
          </a:p>
          <a:p>
            <a:pPr>
              <a:spcBef>
                <a:spcPct val="50000"/>
              </a:spcBef>
              <a:buSzPct val="140000"/>
              <a:tabLst>
                <a:tab pos="1603375" algn="ctr"/>
                <a:tab pos="3254375" algn="ctr"/>
                <a:tab pos="5143500" algn="ctr"/>
              </a:tabLst>
              <a:defRPr/>
            </a:pPr>
            <a:endParaRPr lang="en-US" sz="1200" kern="0" dirty="0">
              <a:latin typeface="+mn-lt"/>
            </a:endParaRPr>
          </a:p>
          <a:p>
            <a:pPr marL="228600" indent="-228600">
              <a:spcBef>
                <a:spcPct val="50000"/>
              </a:spcBef>
              <a:buSzPct val="140000"/>
              <a:buFontTx/>
              <a:buChar char="•"/>
              <a:tabLst>
                <a:tab pos="1603375" algn="ctr"/>
                <a:tab pos="3254375" algn="ctr"/>
                <a:tab pos="5143500" algn="ctr"/>
              </a:tabLst>
              <a:defRPr/>
            </a:pPr>
            <a:r>
              <a:rPr lang="en-US" kern="0" dirty="0">
                <a:latin typeface="+mn-lt"/>
              </a:rPr>
              <a:t>Average waiting time = (9 + 1 + 0 +2)/4 = 3</a:t>
            </a:r>
            <a:endParaRPr lang="en-US" i="1" kern="0" baseline="-25000" dirty="0">
              <a:latin typeface="+mn-lt"/>
            </a:endParaRPr>
          </a:p>
        </p:txBody>
      </p:sp>
      <p:sp>
        <p:nvSpPr>
          <p:cNvPr id="44036" name="Rectangle 37">
            <a:extLst>
              <a:ext uri="{FF2B5EF4-FFF2-40B4-BE49-F238E27FC236}">
                <a16:creationId xmlns:a16="http://schemas.microsoft.com/office/drawing/2014/main" id="{464B77F3-273B-434B-AD96-EB1873854DFF}"/>
              </a:ext>
            </a:extLst>
          </p:cNvPr>
          <p:cNvSpPr>
            <a:spLocks noChangeArrowheads="1"/>
          </p:cNvSpPr>
          <p:nvPr/>
        </p:nvSpPr>
        <p:spPr bwMode="auto">
          <a:xfrm flipH="1">
            <a:off x="1524000" y="4140200"/>
            <a:ext cx="5562600" cy="609600"/>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18439" name="Text Box 38">
            <a:extLst>
              <a:ext uri="{FF2B5EF4-FFF2-40B4-BE49-F238E27FC236}">
                <a16:creationId xmlns:a16="http://schemas.microsoft.com/office/drawing/2014/main" id="{E9CCC908-99CE-4F52-A18D-ECD51BFC9D52}"/>
              </a:ext>
            </a:extLst>
          </p:cNvPr>
          <p:cNvSpPr txBox="1">
            <a:spLocks noChangeArrowheads="1"/>
          </p:cNvSpPr>
          <p:nvPr/>
        </p:nvSpPr>
        <p:spPr bwMode="auto">
          <a:xfrm flipH="1">
            <a:off x="1600200" y="4202113"/>
            <a:ext cx="4206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P</a:t>
            </a:r>
            <a:r>
              <a:rPr lang="en-US" altLang="en-US" baseline="-25000"/>
              <a:t>1</a:t>
            </a:r>
            <a:endParaRPr lang="en-US" altLang="en-US"/>
          </a:p>
        </p:txBody>
      </p:sp>
      <p:sp>
        <p:nvSpPr>
          <p:cNvPr id="18440" name="Text Box 39">
            <a:extLst>
              <a:ext uri="{FF2B5EF4-FFF2-40B4-BE49-F238E27FC236}">
                <a16:creationId xmlns:a16="http://schemas.microsoft.com/office/drawing/2014/main" id="{DCC40818-389E-4B41-80E6-F806F3389DE6}"/>
              </a:ext>
            </a:extLst>
          </p:cNvPr>
          <p:cNvSpPr txBox="1">
            <a:spLocks noChangeArrowheads="1"/>
          </p:cNvSpPr>
          <p:nvPr/>
        </p:nvSpPr>
        <p:spPr bwMode="auto">
          <a:xfrm flipH="1">
            <a:off x="2895600" y="4202113"/>
            <a:ext cx="4206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P</a:t>
            </a:r>
            <a:r>
              <a:rPr lang="en-US" altLang="en-US" baseline="-25000"/>
              <a:t>3</a:t>
            </a:r>
            <a:endParaRPr lang="en-US" altLang="en-US"/>
          </a:p>
        </p:txBody>
      </p:sp>
      <p:sp>
        <p:nvSpPr>
          <p:cNvPr id="18441" name="Text Box 40">
            <a:extLst>
              <a:ext uri="{FF2B5EF4-FFF2-40B4-BE49-F238E27FC236}">
                <a16:creationId xmlns:a16="http://schemas.microsoft.com/office/drawing/2014/main" id="{5E0C36CD-8D65-4CA2-B9F0-632876D9BC97}"/>
              </a:ext>
            </a:extLst>
          </p:cNvPr>
          <p:cNvSpPr txBox="1">
            <a:spLocks noChangeArrowheads="1"/>
          </p:cNvSpPr>
          <p:nvPr/>
        </p:nvSpPr>
        <p:spPr bwMode="auto">
          <a:xfrm flipH="1">
            <a:off x="2362200" y="4202113"/>
            <a:ext cx="4206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P</a:t>
            </a:r>
            <a:r>
              <a:rPr lang="en-US" altLang="en-US" baseline="-25000"/>
              <a:t>2</a:t>
            </a:r>
            <a:endParaRPr lang="en-US" altLang="en-US"/>
          </a:p>
        </p:txBody>
      </p:sp>
      <p:sp>
        <p:nvSpPr>
          <p:cNvPr id="44040" name="Line 41">
            <a:extLst>
              <a:ext uri="{FF2B5EF4-FFF2-40B4-BE49-F238E27FC236}">
                <a16:creationId xmlns:a16="http://schemas.microsoft.com/office/drawing/2014/main" id="{1F747948-31AE-4D00-BE6F-F746AC8EDFB2}"/>
              </a:ext>
            </a:extLst>
          </p:cNvPr>
          <p:cNvSpPr>
            <a:spLocks noChangeShapeType="1"/>
          </p:cNvSpPr>
          <p:nvPr/>
        </p:nvSpPr>
        <p:spPr bwMode="auto">
          <a:xfrm flipH="1">
            <a:off x="7067550" y="4735513"/>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41" name="Line 42">
            <a:extLst>
              <a:ext uri="{FF2B5EF4-FFF2-40B4-BE49-F238E27FC236}">
                <a16:creationId xmlns:a16="http://schemas.microsoft.com/office/drawing/2014/main" id="{F9F0D9C8-C296-4F58-9FBC-23DAA68C43AC}"/>
              </a:ext>
            </a:extLst>
          </p:cNvPr>
          <p:cNvSpPr>
            <a:spLocks noChangeShapeType="1"/>
          </p:cNvSpPr>
          <p:nvPr/>
        </p:nvSpPr>
        <p:spPr bwMode="auto">
          <a:xfrm flipH="1">
            <a:off x="1524000" y="47498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4" name="Line 43">
            <a:extLst>
              <a:ext uri="{FF2B5EF4-FFF2-40B4-BE49-F238E27FC236}">
                <a16:creationId xmlns:a16="http://schemas.microsoft.com/office/drawing/2014/main" id="{0A5CD2F1-5C25-42A1-81BC-D1D63D56F8AF}"/>
              </a:ext>
            </a:extLst>
          </p:cNvPr>
          <p:cNvSpPr>
            <a:spLocks noChangeShapeType="1"/>
          </p:cNvSpPr>
          <p:nvPr/>
        </p:nvSpPr>
        <p:spPr bwMode="auto">
          <a:xfrm flipH="1">
            <a:off x="4267200" y="4140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5" name="Line 44">
            <a:extLst>
              <a:ext uri="{FF2B5EF4-FFF2-40B4-BE49-F238E27FC236}">
                <a16:creationId xmlns:a16="http://schemas.microsoft.com/office/drawing/2014/main" id="{21ECA1D5-2123-4DD9-AB26-F44D3BB718FF}"/>
              </a:ext>
            </a:extLst>
          </p:cNvPr>
          <p:cNvSpPr>
            <a:spLocks noChangeShapeType="1"/>
          </p:cNvSpPr>
          <p:nvPr/>
        </p:nvSpPr>
        <p:spPr bwMode="auto">
          <a:xfrm flipH="1">
            <a:off x="2133600" y="4125913"/>
            <a:ext cx="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44" name="Line 45">
            <a:extLst>
              <a:ext uri="{FF2B5EF4-FFF2-40B4-BE49-F238E27FC236}">
                <a16:creationId xmlns:a16="http://schemas.microsoft.com/office/drawing/2014/main" id="{3FB10F30-2912-460C-97DF-3DEC9C32A2B7}"/>
              </a:ext>
            </a:extLst>
          </p:cNvPr>
          <p:cNvSpPr>
            <a:spLocks noChangeShapeType="1"/>
          </p:cNvSpPr>
          <p:nvPr/>
        </p:nvSpPr>
        <p:spPr bwMode="auto">
          <a:xfrm flipH="1">
            <a:off x="3810000" y="47498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7" name="Text Box 47">
            <a:extLst>
              <a:ext uri="{FF2B5EF4-FFF2-40B4-BE49-F238E27FC236}">
                <a16:creationId xmlns:a16="http://schemas.microsoft.com/office/drawing/2014/main" id="{DB8C3D48-B809-4F1F-8908-261668AEDC2C}"/>
              </a:ext>
            </a:extLst>
          </p:cNvPr>
          <p:cNvSpPr txBox="1">
            <a:spLocks noChangeArrowheads="1"/>
          </p:cNvSpPr>
          <p:nvPr/>
        </p:nvSpPr>
        <p:spPr bwMode="auto">
          <a:xfrm flipH="1">
            <a:off x="2743200" y="49641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4</a:t>
            </a:r>
          </a:p>
        </p:txBody>
      </p:sp>
      <p:sp>
        <p:nvSpPr>
          <p:cNvPr id="18448" name="Text Box 48">
            <a:extLst>
              <a:ext uri="{FF2B5EF4-FFF2-40B4-BE49-F238E27FC236}">
                <a16:creationId xmlns:a16="http://schemas.microsoft.com/office/drawing/2014/main" id="{1927E1A7-F78A-4B29-859E-01FCE1B71989}"/>
              </a:ext>
            </a:extLst>
          </p:cNvPr>
          <p:cNvSpPr txBox="1">
            <a:spLocks noChangeArrowheads="1"/>
          </p:cNvSpPr>
          <p:nvPr/>
        </p:nvSpPr>
        <p:spPr bwMode="auto">
          <a:xfrm flipH="1">
            <a:off x="1981200" y="49641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2</a:t>
            </a:r>
          </a:p>
        </p:txBody>
      </p:sp>
      <p:sp>
        <p:nvSpPr>
          <p:cNvPr id="44047" name="Text Box 49">
            <a:extLst>
              <a:ext uri="{FF2B5EF4-FFF2-40B4-BE49-F238E27FC236}">
                <a16:creationId xmlns:a16="http://schemas.microsoft.com/office/drawing/2014/main" id="{0AF7FCEF-2F7F-4CA7-BCBF-3AF784509294}"/>
              </a:ext>
            </a:extLst>
          </p:cNvPr>
          <p:cNvSpPr txBox="1">
            <a:spLocks noChangeArrowheads="1"/>
          </p:cNvSpPr>
          <p:nvPr/>
        </p:nvSpPr>
        <p:spPr bwMode="auto">
          <a:xfrm flipH="1">
            <a:off x="5257800" y="4887913"/>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11</a:t>
            </a:r>
          </a:p>
        </p:txBody>
      </p:sp>
      <p:sp>
        <p:nvSpPr>
          <p:cNvPr id="44048" name="Text Box 50">
            <a:extLst>
              <a:ext uri="{FF2B5EF4-FFF2-40B4-BE49-F238E27FC236}">
                <a16:creationId xmlns:a16="http://schemas.microsoft.com/office/drawing/2014/main" id="{12B1AEBA-CFFB-4D06-9F64-85A00AACF8B9}"/>
              </a:ext>
            </a:extLst>
          </p:cNvPr>
          <p:cNvSpPr txBox="1">
            <a:spLocks noChangeArrowheads="1"/>
          </p:cNvSpPr>
          <p:nvPr/>
        </p:nvSpPr>
        <p:spPr bwMode="auto">
          <a:xfrm flipH="1">
            <a:off x="1371600" y="490220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0</a:t>
            </a:r>
          </a:p>
        </p:txBody>
      </p:sp>
      <p:sp>
        <p:nvSpPr>
          <p:cNvPr id="18451" name="Text Box 51">
            <a:extLst>
              <a:ext uri="{FF2B5EF4-FFF2-40B4-BE49-F238E27FC236}">
                <a16:creationId xmlns:a16="http://schemas.microsoft.com/office/drawing/2014/main" id="{928E909E-F749-4ADF-A2C2-B92EDE79D7F6}"/>
              </a:ext>
            </a:extLst>
          </p:cNvPr>
          <p:cNvSpPr txBox="1">
            <a:spLocks noChangeArrowheads="1"/>
          </p:cNvSpPr>
          <p:nvPr/>
        </p:nvSpPr>
        <p:spPr bwMode="auto">
          <a:xfrm flipH="1">
            <a:off x="4724400" y="4202113"/>
            <a:ext cx="4206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P</a:t>
            </a:r>
            <a:r>
              <a:rPr lang="en-US" altLang="en-US" baseline="-25000"/>
              <a:t>4</a:t>
            </a:r>
            <a:endParaRPr lang="en-US" altLang="en-US"/>
          </a:p>
        </p:txBody>
      </p:sp>
      <p:sp>
        <p:nvSpPr>
          <p:cNvPr id="18452" name="Line 52">
            <a:extLst>
              <a:ext uri="{FF2B5EF4-FFF2-40B4-BE49-F238E27FC236}">
                <a16:creationId xmlns:a16="http://schemas.microsoft.com/office/drawing/2014/main" id="{9BDBF214-2F27-4CA5-8129-075F7FC3DE4B}"/>
              </a:ext>
            </a:extLst>
          </p:cNvPr>
          <p:cNvSpPr>
            <a:spLocks noChangeShapeType="1"/>
          </p:cNvSpPr>
          <p:nvPr/>
        </p:nvSpPr>
        <p:spPr bwMode="auto">
          <a:xfrm flipH="1">
            <a:off x="5486400" y="4140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51" name="Line 53">
            <a:extLst>
              <a:ext uri="{FF2B5EF4-FFF2-40B4-BE49-F238E27FC236}">
                <a16:creationId xmlns:a16="http://schemas.microsoft.com/office/drawing/2014/main" id="{D1DC9B35-5C1D-485F-9632-B2D90E28F004}"/>
              </a:ext>
            </a:extLst>
          </p:cNvPr>
          <p:cNvSpPr>
            <a:spLocks noChangeShapeType="1"/>
          </p:cNvSpPr>
          <p:nvPr/>
        </p:nvSpPr>
        <p:spPr bwMode="auto">
          <a:xfrm flipH="1">
            <a:off x="1828800" y="463708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52" name="Line 54">
            <a:extLst>
              <a:ext uri="{FF2B5EF4-FFF2-40B4-BE49-F238E27FC236}">
                <a16:creationId xmlns:a16="http://schemas.microsoft.com/office/drawing/2014/main" id="{C787F0E6-DBF2-4024-986A-EC255EC99D66}"/>
              </a:ext>
            </a:extLst>
          </p:cNvPr>
          <p:cNvSpPr>
            <a:spLocks noChangeShapeType="1"/>
          </p:cNvSpPr>
          <p:nvPr/>
        </p:nvSpPr>
        <p:spPr bwMode="auto">
          <a:xfrm flipH="1">
            <a:off x="2590800" y="463708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53" name="Line 58">
            <a:extLst>
              <a:ext uri="{FF2B5EF4-FFF2-40B4-BE49-F238E27FC236}">
                <a16:creationId xmlns:a16="http://schemas.microsoft.com/office/drawing/2014/main" id="{3B65F7F4-8838-41C1-B0F4-F9192D75CF9A}"/>
              </a:ext>
            </a:extLst>
          </p:cNvPr>
          <p:cNvSpPr>
            <a:spLocks noChangeShapeType="1"/>
          </p:cNvSpPr>
          <p:nvPr/>
        </p:nvSpPr>
        <p:spPr bwMode="auto">
          <a:xfrm flipH="1">
            <a:off x="4267200" y="47498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54" name="Text Box 59">
            <a:extLst>
              <a:ext uri="{FF2B5EF4-FFF2-40B4-BE49-F238E27FC236}">
                <a16:creationId xmlns:a16="http://schemas.microsoft.com/office/drawing/2014/main" id="{8D8253D2-82DB-4A9C-B861-166B3A5BEFBD}"/>
              </a:ext>
            </a:extLst>
          </p:cNvPr>
          <p:cNvSpPr txBox="1">
            <a:spLocks noChangeArrowheads="1"/>
          </p:cNvSpPr>
          <p:nvPr/>
        </p:nvSpPr>
        <p:spPr bwMode="auto">
          <a:xfrm flipH="1">
            <a:off x="3276600" y="49641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5</a:t>
            </a:r>
          </a:p>
        </p:txBody>
      </p:sp>
      <p:sp>
        <p:nvSpPr>
          <p:cNvPr id="44055" name="Line 60">
            <a:extLst>
              <a:ext uri="{FF2B5EF4-FFF2-40B4-BE49-F238E27FC236}">
                <a16:creationId xmlns:a16="http://schemas.microsoft.com/office/drawing/2014/main" id="{122AF21D-0C15-4917-A4B8-4FE3A1956974}"/>
              </a:ext>
            </a:extLst>
          </p:cNvPr>
          <p:cNvSpPr>
            <a:spLocks noChangeShapeType="1"/>
          </p:cNvSpPr>
          <p:nvPr/>
        </p:nvSpPr>
        <p:spPr bwMode="auto">
          <a:xfrm flipH="1">
            <a:off x="4648200" y="463708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56" name="Line 61">
            <a:extLst>
              <a:ext uri="{FF2B5EF4-FFF2-40B4-BE49-F238E27FC236}">
                <a16:creationId xmlns:a16="http://schemas.microsoft.com/office/drawing/2014/main" id="{D4C0C08B-7E3A-4E8E-962C-15718FA1EC05}"/>
              </a:ext>
            </a:extLst>
          </p:cNvPr>
          <p:cNvSpPr>
            <a:spLocks noChangeShapeType="1"/>
          </p:cNvSpPr>
          <p:nvPr/>
        </p:nvSpPr>
        <p:spPr bwMode="auto">
          <a:xfrm flipH="1">
            <a:off x="4953000" y="463708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57" name="Line 62">
            <a:extLst>
              <a:ext uri="{FF2B5EF4-FFF2-40B4-BE49-F238E27FC236}">
                <a16:creationId xmlns:a16="http://schemas.microsoft.com/office/drawing/2014/main" id="{25C1101E-3C2D-4F8D-A0E1-20EF2E34E9A8}"/>
              </a:ext>
            </a:extLst>
          </p:cNvPr>
          <p:cNvSpPr>
            <a:spLocks noChangeShapeType="1"/>
          </p:cNvSpPr>
          <p:nvPr/>
        </p:nvSpPr>
        <p:spPr bwMode="auto">
          <a:xfrm flipH="1">
            <a:off x="5257800" y="463708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58" name="Line 63">
            <a:extLst>
              <a:ext uri="{FF2B5EF4-FFF2-40B4-BE49-F238E27FC236}">
                <a16:creationId xmlns:a16="http://schemas.microsoft.com/office/drawing/2014/main" id="{C8330ED7-4409-4AB7-8D5D-EE269ACE054C}"/>
              </a:ext>
            </a:extLst>
          </p:cNvPr>
          <p:cNvSpPr>
            <a:spLocks noChangeShapeType="1"/>
          </p:cNvSpPr>
          <p:nvPr/>
        </p:nvSpPr>
        <p:spPr bwMode="auto">
          <a:xfrm flipH="1">
            <a:off x="5486400" y="47498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59" name="Text Box 64">
            <a:extLst>
              <a:ext uri="{FF2B5EF4-FFF2-40B4-BE49-F238E27FC236}">
                <a16:creationId xmlns:a16="http://schemas.microsoft.com/office/drawing/2014/main" id="{731EDB79-0620-40EB-B661-6177B392D576}"/>
              </a:ext>
            </a:extLst>
          </p:cNvPr>
          <p:cNvSpPr txBox="1">
            <a:spLocks noChangeArrowheads="1"/>
          </p:cNvSpPr>
          <p:nvPr/>
        </p:nvSpPr>
        <p:spPr bwMode="auto">
          <a:xfrm flipH="1">
            <a:off x="4114800" y="49641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7</a:t>
            </a:r>
          </a:p>
        </p:txBody>
      </p:sp>
      <p:sp>
        <p:nvSpPr>
          <p:cNvPr id="44060" name="Line 65">
            <a:extLst>
              <a:ext uri="{FF2B5EF4-FFF2-40B4-BE49-F238E27FC236}">
                <a16:creationId xmlns:a16="http://schemas.microsoft.com/office/drawing/2014/main" id="{C8C3E30E-F7D2-4E04-8E43-BCF8EB2EBD25}"/>
              </a:ext>
            </a:extLst>
          </p:cNvPr>
          <p:cNvSpPr>
            <a:spLocks noChangeShapeType="1"/>
          </p:cNvSpPr>
          <p:nvPr/>
        </p:nvSpPr>
        <p:spPr bwMode="auto">
          <a:xfrm flipH="1">
            <a:off x="5867400" y="463708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61" name="Line 66">
            <a:extLst>
              <a:ext uri="{FF2B5EF4-FFF2-40B4-BE49-F238E27FC236}">
                <a16:creationId xmlns:a16="http://schemas.microsoft.com/office/drawing/2014/main" id="{B5A9D837-F22E-4510-8BCD-B87C9F99D720}"/>
              </a:ext>
            </a:extLst>
          </p:cNvPr>
          <p:cNvSpPr>
            <a:spLocks noChangeShapeType="1"/>
          </p:cNvSpPr>
          <p:nvPr/>
        </p:nvSpPr>
        <p:spPr bwMode="auto">
          <a:xfrm flipH="1">
            <a:off x="6172200" y="463708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62" name="Line 67">
            <a:extLst>
              <a:ext uri="{FF2B5EF4-FFF2-40B4-BE49-F238E27FC236}">
                <a16:creationId xmlns:a16="http://schemas.microsoft.com/office/drawing/2014/main" id="{6295A09C-8C5C-443A-8A5D-85B744EB5564}"/>
              </a:ext>
            </a:extLst>
          </p:cNvPr>
          <p:cNvSpPr>
            <a:spLocks noChangeShapeType="1"/>
          </p:cNvSpPr>
          <p:nvPr/>
        </p:nvSpPr>
        <p:spPr bwMode="auto">
          <a:xfrm flipH="1">
            <a:off x="6477000" y="463708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65" name="Line 68">
            <a:extLst>
              <a:ext uri="{FF2B5EF4-FFF2-40B4-BE49-F238E27FC236}">
                <a16:creationId xmlns:a16="http://schemas.microsoft.com/office/drawing/2014/main" id="{F120D82B-8F1E-4002-800E-B04844A19562}"/>
              </a:ext>
            </a:extLst>
          </p:cNvPr>
          <p:cNvSpPr>
            <a:spLocks noChangeShapeType="1"/>
          </p:cNvSpPr>
          <p:nvPr/>
        </p:nvSpPr>
        <p:spPr bwMode="auto">
          <a:xfrm flipH="1">
            <a:off x="2895600" y="4125913"/>
            <a:ext cx="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394" name="Line 69">
            <a:extLst>
              <a:ext uri="{FF2B5EF4-FFF2-40B4-BE49-F238E27FC236}">
                <a16:creationId xmlns:a16="http://schemas.microsoft.com/office/drawing/2014/main" id="{FC800C91-AACE-43A6-A27E-CC7E07A761F9}"/>
              </a:ext>
            </a:extLst>
          </p:cNvPr>
          <p:cNvSpPr>
            <a:spLocks noChangeShapeType="1"/>
          </p:cNvSpPr>
          <p:nvPr/>
        </p:nvSpPr>
        <p:spPr bwMode="auto">
          <a:xfrm flipH="1">
            <a:off x="3429000" y="4125913"/>
            <a:ext cx="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67" name="Text Box 70">
            <a:extLst>
              <a:ext uri="{FF2B5EF4-FFF2-40B4-BE49-F238E27FC236}">
                <a16:creationId xmlns:a16="http://schemas.microsoft.com/office/drawing/2014/main" id="{888F0836-14A6-4347-9128-16C808041C47}"/>
              </a:ext>
            </a:extLst>
          </p:cNvPr>
          <p:cNvSpPr txBox="1">
            <a:spLocks noChangeArrowheads="1"/>
          </p:cNvSpPr>
          <p:nvPr/>
        </p:nvSpPr>
        <p:spPr bwMode="auto">
          <a:xfrm flipH="1">
            <a:off x="3581400" y="4202113"/>
            <a:ext cx="4206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P</a:t>
            </a:r>
            <a:r>
              <a:rPr lang="en-US" altLang="en-US" baseline="-25000"/>
              <a:t>2</a:t>
            </a:r>
            <a:endParaRPr lang="en-US" altLang="en-US"/>
          </a:p>
        </p:txBody>
      </p:sp>
      <p:sp>
        <p:nvSpPr>
          <p:cNvPr id="18468" name="Text Box 71">
            <a:extLst>
              <a:ext uri="{FF2B5EF4-FFF2-40B4-BE49-F238E27FC236}">
                <a16:creationId xmlns:a16="http://schemas.microsoft.com/office/drawing/2014/main" id="{096C4516-544E-4BC1-98DC-FCD75D63DD07}"/>
              </a:ext>
            </a:extLst>
          </p:cNvPr>
          <p:cNvSpPr txBox="1">
            <a:spLocks noChangeArrowheads="1"/>
          </p:cNvSpPr>
          <p:nvPr/>
        </p:nvSpPr>
        <p:spPr bwMode="auto">
          <a:xfrm flipH="1">
            <a:off x="6096000" y="4202113"/>
            <a:ext cx="4206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P</a:t>
            </a:r>
            <a:r>
              <a:rPr lang="en-US" altLang="en-US" baseline="-25000"/>
              <a:t>1</a:t>
            </a:r>
            <a:endParaRPr lang="en-US" altLang="en-US"/>
          </a:p>
        </p:txBody>
      </p:sp>
      <p:sp>
        <p:nvSpPr>
          <p:cNvPr id="44067" name="Line 72">
            <a:extLst>
              <a:ext uri="{FF2B5EF4-FFF2-40B4-BE49-F238E27FC236}">
                <a16:creationId xmlns:a16="http://schemas.microsoft.com/office/drawing/2014/main" id="{A28B8650-D8BD-4B55-994E-432E5EFCF122}"/>
              </a:ext>
            </a:extLst>
          </p:cNvPr>
          <p:cNvSpPr>
            <a:spLocks noChangeShapeType="1"/>
          </p:cNvSpPr>
          <p:nvPr/>
        </p:nvSpPr>
        <p:spPr bwMode="auto">
          <a:xfrm flipH="1">
            <a:off x="6781800" y="463708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68" name="Text Box 73">
            <a:extLst>
              <a:ext uri="{FF2B5EF4-FFF2-40B4-BE49-F238E27FC236}">
                <a16:creationId xmlns:a16="http://schemas.microsoft.com/office/drawing/2014/main" id="{8149803F-1652-418A-9D81-962E7BC403F0}"/>
              </a:ext>
            </a:extLst>
          </p:cNvPr>
          <p:cNvSpPr txBox="1">
            <a:spLocks noChangeArrowheads="1"/>
          </p:cNvSpPr>
          <p:nvPr/>
        </p:nvSpPr>
        <p:spPr bwMode="auto">
          <a:xfrm flipH="1">
            <a:off x="6858000" y="4887913"/>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16</a:t>
            </a:r>
          </a:p>
        </p:txBody>
      </p:sp>
      <p:sp>
        <p:nvSpPr>
          <p:cNvPr id="18471" name="Text Box 6">
            <a:extLst>
              <a:ext uri="{FF2B5EF4-FFF2-40B4-BE49-F238E27FC236}">
                <a16:creationId xmlns:a16="http://schemas.microsoft.com/office/drawing/2014/main" id="{FC9D455B-F9B3-4292-8152-8A71FB86BF37}"/>
              </a:ext>
            </a:extLst>
          </p:cNvPr>
          <p:cNvSpPr txBox="1">
            <a:spLocks noChangeArrowheads="1"/>
          </p:cNvSpPr>
          <p:nvPr/>
        </p:nvSpPr>
        <p:spPr bwMode="auto">
          <a:xfrm flipH="1">
            <a:off x="1262063" y="5268913"/>
            <a:ext cx="4206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P</a:t>
            </a:r>
            <a:r>
              <a:rPr lang="en-US" altLang="en-US" baseline="-25000">
                <a:solidFill>
                  <a:srgbClr val="FF0000"/>
                </a:solidFill>
              </a:rPr>
              <a:t>1</a:t>
            </a:r>
            <a:endParaRPr lang="en-US" altLang="en-US">
              <a:solidFill>
                <a:srgbClr val="FF0000"/>
              </a:solidFill>
            </a:endParaRPr>
          </a:p>
        </p:txBody>
      </p:sp>
      <p:sp>
        <p:nvSpPr>
          <p:cNvPr id="74" name="Rectangle 73">
            <a:extLst>
              <a:ext uri="{FF2B5EF4-FFF2-40B4-BE49-F238E27FC236}">
                <a16:creationId xmlns:a16="http://schemas.microsoft.com/office/drawing/2014/main" id="{4C449C90-15FF-41C4-9D72-14437DD013C7}"/>
              </a:ext>
            </a:extLst>
          </p:cNvPr>
          <p:cNvSpPr>
            <a:spLocks noChangeArrowheads="1"/>
          </p:cNvSpPr>
          <p:nvPr/>
        </p:nvSpPr>
        <p:spPr bwMode="auto">
          <a:xfrm>
            <a:off x="1997075" y="5265738"/>
            <a:ext cx="4238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P</a:t>
            </a:r>
            <a:r>
              <a:rPr lang="en-US" altLang="en-US" baseline="-25000">
                <a:solidFill>
                  <a:srgbClr val="FF0000"/>
                </a:solidFill>
              </a:rPr>
              <a:t>2</a:t>
            </a:r>
            <a:endParaRPr lang="en-US" altLang="en-US">
              <a:solidFill>
                <a:srgbClr val="FF0000"/>
              </a:solidFill>
            </a:endParaRPr>
          </a:p>
        </p:txBody>
      </p:sp>
      <p:sp>
        <p:nvSpPr>
          <p:cNvPr id="75" name="Rectangle 74">
            <a:extLst>
              <a:ext uri="{FF2B5EF4-FFF2-40B4-BE49-F238E27FC236}">
                <a16:creationId xmlns:a16="http://schemas.microsoft.com/office/drawing/2014/main" id="{D6CA9A1E-F0A0-4838-8A21-6DBEDAD770E9}"/>
              </a:ext>
            </a:extLst>
          </p:cNvPr>
          <p:cNvSpPr>
            <a:spLocks noChangeArrowheads="1"/>
          </p:cNvSpPr>
          <p:nvPr/>
        </p:nvSpPr>
        <p:spPr bwMode="auto">
          <a:xfrm>
            <a:off x="2760663" y="5253038"/>
            <a:ext cx="4222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P</a:t>
            </a:r>
            <a:r>
              <a:rPr lang="en-US" altLang="en-US" baseline="-25000">
                <a:solidFill>
                  <a:srgbClr val="FF0000"/>
                </a:solidFill>
              </a:rPr>
              <a:t>3</a:t>
            </a:r>
            <a:endParaRPr lang="en-US" altLang="en-US">
              <a:solidFill>
                <a:srgbClr val="FF0000"/>
              </a:solidFill>
            </a:endParaRPr>
          </a:p>
        </p:txBody>
      </p:sp>
      <p:sp>
        <p:nvSpPr>
          <p:cNvPr id="76" name="Rectangle 75">
            <a:extLst>
              <a:ext uri="{FF2B5EF4-FFF2-40B4-BE49-F238E27FC236}">
                <a16:creationId xmlns:a16="http://schemas.microsoft.com/office/drawing/2014/main" id="{24DBC12A-BC61-4D00-A96A-27E0A063A027}"/>
              </a:ext>
            </a:extLst>
          </p:cNvPr>
          <p:cNvSpPr>
            <a:spLocks noChangeArrowheads="1"/>
          </p:cNvSpPr>
          <p:nvPr/>
        </p:nvSpPr>
        <p:spPr bwMode="auto">
          <a:xfrm>
            <a:off x="3224213" y="5265738"/>
            <a:ext cx="4238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P</a:t>
            </a:r>
            <a:r>
              <a:rPr lang="en-US" altLang="en-US" baseline="-25000">
                <a:solidFill>
                  <a:srgbClr val="FF0000"/>
                </a:solidFill>
              </a:rPr>
              <a:t>4</a:t>
            </a:r>
            <a:endParaRPr lang="en-US" altLang="en-US">
              <a:solidFill>
                <a:srgbClr val="FF0000"/>
              </a:solidFill>
            </a:endParaRPr>
          </a:p>
        </p:txBody>
      </p:sp>
      <p:sp>
        <p:nvSpPr>
          <p:cNvPr id="77" name="Rectangle 76">
            <a:extLst>
              <a:ext uri="{FF2B5EF4-FFF2-40B4-BE49-F238E27FC236}">
                <a16:creationId xmlns:a16="http://schemas.microsoft.com/office/drawing/2014/main" id="{6E58FC73-C69F-4BEF-8F82-32B4B927F556}"/>
              </a:ext>
            </a:extLst>
          </p:cNvPr>
          <p:cNvSpPr>
            <a:spLocks noChangeArrowheads="1"/>
          </p:cNvSpPr>
          <p:nvPr/>
        </p:nvSpPr>
        <p:spPr bwMode="auto">
          <a:xfrm>
            <a:off x="6743700" y="1576388"/>
            <a:ext cx="312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5</a:t>
            </a:r>
          </a:p>
        </p:txBody>
      </p:sp>
      <p:cxnSp>
        <p:nvCxnSpPr>
          <p:cNvPr id="78" name="Straight Arrow Connector 77">
            <a:extLst>
              <a:ext uri="{FF2B5EF4-FFF2-40B4-BE49-F238E27FC236}">
                <a16:creationId xmlns:a16="http://schemas.microsoft.com/office/drawing/2014/main" id="{835E485C-6A0D-4BB0-9781-DF0ADBDE516C}"/>
              </a:ext>
            </a:extLst>
          </p:cNvPr>
          <p:cNvCxnSpPr>
            <a:cxnSpLocks noChangeShapeType="1"/>
            <a:endCxn id="77" idx="1"/>
          </p:cNvCxnSpPr>
          <p:nvPr/>
        </p:nvCxnSpPr>
        <p:spPr bwMode="auto">
          <a:xfrm>
            <a:off x="6477000" y="1762125"/>
            <a:ext cx="266700" cy="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79" name="Rectangle 78">
            <a:extLst>
              <a:ext uri="{FF2B5EF4-FFF2-40B4-BE49-F238E27FC236}">
                <a16:creationId xmlns:a16="http://schemas.microsoft.com/office/drawing/2014/main" id="{E49F3093-9EDD-43F2-B3E0-06D641969ED2}"/>
              </a:ext>
            </a:extLst>
          </p:cNvPr>
          <p:cNvSpPr>
            <a:spLocks noChangeArrowheads="1"/>
          </p:cNvSpPr>
          <p:nvPr/>
        </p:nvSpPr>
        <p:spPr bwMode="auto">
          <a:xfrm>
            <a:off x="6742113" y="2025650"/>
            <a:ext cx="312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2</a:t>
            </a:r>
          </a:p>
        </p:txBody>
      </p:sp>
      <p:cxnSp>
        <p:nvCxnSpPr>
          <p:cNvPr id="80" name="Straight Arrow Connector 79">
            <a:extLst>
              <a:ext uri="{FF2B5EF4-FFF2-40B4-BE49-F238E27FC236}">
                <a16:creationId xmlns:a16="http://schemas.microsoft.com/office/drawing/2014/main" id="{A1A82D82-0710-4F30-B82B-E62DACC807EA}"/>
              </a:ext>
            </a:extLst>
          </p:cNvPr>
          <p:cNvCxnSpPr>
            <a:cxnSpLocks noChangeShapeType="1"/>
            <a:endCxn id="79" idx="1"/>
          </p:cNvCxnSpPr>
          <p:nvPr/>
        </p:nvCxnSpPr>
        <p:spPr bwMode="auto">
          <a:xfrm>
            <a:off x="6475413" y="2209800"/>
            <a:ext cx="266700" cy="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44077" name="Line 53">
            <a:extLst>
              <a:ext uri="{FF2B5EF4-FFF2-40B4-BE49-F238E27FC236}">
                <a16:creationId xmlns:a16="http://schemas.microsoft.com/office/drawing/2014/main" id="{54C0BD6D-5060-42A3-8749-837D76BBAAD9}"/>
              </a:ext>
            </a:extLst>
          </p:cNvPr>
          <p:cNvSpPr>
            <a:spLocks noChangeShapeType="1"/>
          </p:cNvSpPr>
          <p:nvPr/>
        </p:nvSpPr>
        <p:spPr bwMode="auto">
          <a:xfrm flipH="1">
            <a:off x="2125663" y="4675188"/>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78" name="Line 53">
            <a:extLst>
              <a:ext uri="{FF2B5EF4-FFF2-40B4-BE49-F238E27FC236}">
                <a16:creationId xmlns:a16="http://schemas.microsoft.com/office/drawing/2014/main" id="{2A4D9B80-921F-4450-8C47-FC22BD11391A}"/>
              </a:ext>
            </a:extLst>
          </p:cNvPr>
          <p:cNvSpPr>
            <a:spLocks noChangeShapeType="1"/>
          </p:cNvSpPr>
          <p:nvPr/>
        </p:nvSpPr>
        <p:spPr bwMode="auto">
          <a:xfrm flipH="1">
            <a:off x="2903538" y="4645025"/>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79" name="Line 53">
            <a:extLst>
              <a:ext uri="{FF2B5EF4-FFF2-40B4-BE49-F238E27FC236}">
                <a16:creationId xmlns:a16="http://schemas.microsoft.com/office/drawing/2014/main" id="{D72B8EC9-66F7-49A9-A1AE-F390FCE087FC}"/>
              </a:ext>
            </a:extLst>
          </p:cNvPr>
          <p:cNvSpPr>
            <a:spLocks noChangeShapeType="1"/>
          </p:cNvSpPr>
          <p:nvPr/>
        </p:nvSpPr>
        <p:spPr bwMode="auto">
          <a:xfrm flipH="1">
            <a:off x="3421063" y="4606925"/>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80" name="Line 53">
            <a:extLst>
              <a:ext uri="{FF2B5EF4-FFF2-40B4-BE49-F238E27FC236}">
                <a16:creationId xmlns:a16="http://schemas.microsoft.com/office/drawing/2014/main" id="{2DD02AE9-54E3-47D1-8517-8C0A3C641407}"/>
              </a:ext>
            </a:extLst>
          </p:cNvPr>
          <p:cNvSpPr>
            <a:spLocks noChangeShapeType="1"/>
          </p:cNvSpPr>
          <p:nvPr/>
        </p:nvSpPr>
        <p:spPr bwMode="auto">
          <a:xfrm flipH="1">
            <a:off x="4267200" y="462915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81" name="Line 53">
            <a:extLst>
              <a:ext uri="{FF2B5EF4-FFF2-40B4-BE49-F238E27FC236}">
                <a16:creationId xmlns:a16="http://schemas.microsoft.com/office/drawing/2014/main" id="{D0705DEC-4109-4ECB-94C4-B25F12AE6A6B}"/>
              </a:ext>
            </a:extLst>
          </p:cNvPr>
          <p:cNvSpPr>
            <a:spLocks noChangeShapeType="1"/>
          </p:cNvSpPr>
          <p:nvPr/>
        </p:nvSpPr>
        <p:spPr bwMode="auto">
          <a:xfrm flipH="1">
            <a:off x="5478463" y="462915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 name="Rectangle 51">
            <a:extLst>
              <a:ext uri="{FF2B5EF4-FFF2-40B4-BE49-F238E27FC236}">
                <a16:creationId xmlns:a16="http://schemas.microsoft.com/office/drawing/2014/main" id="{67D69516-AE1E-41EE-BF8A-F95339A546A3}"/>
              </a:ext>
            </a:extLst>
          </p:cNvPr>
          <p:cNvSpPr>
            <a:spLocks noChangeArrowheads="1"/>
          </p:cNvSpPr>
          <p:nvPr/>
        </p:nvSpPr>
        <p:spPr bwMode="auto">
          <a:xfrm>
            <a:off x="7267575" y="2033588"/>
            <a:ext cx="312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0</a:t>
            </a:r>
          </a:p>
        </p:txBody>
      </p:sp>
      <p:cxnSp>
        <p:nvCxnSpPr>
          <p:cNvPr id="53" name="Straight Arrow Connector 52">
            <a:extLst>
              <a:ext uri="{FF2B5EF4-FFF2-40B4-BE49-F238E27FC236}">
                <a16:creationId xmlns:a16="http://schemas.microsoft.com/office/drawing/2014/main" id="{EA168B7A-7F96-4AAB-A6C0-95366575A8FF}"/>
              </a:ext>
            </a:extLst>
          </p:cNvPr>
          <p:cNvCxnSpPr>
            <a:cxnSpLocks noChangeShapeType="1"/>
          </p:cNvCxnSpPr>
          <p:nvPr/>
        </p:nvCxnSpPr>
        <p:spPr bwMode="auto">
          <a:xfrm>
            <a:off x="7085022" y="2217738"/>
            <a:ext cx="266700" cy="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54" name="Rectangle 53">
            <a:extLst>
              <a:ext uri="{FF2B5EF4-FFF2-40B4-BE49-F238E27FC236}">
                <a16:creationId xmlns:a16="http://schemas.microsoft.com/office/drawing/2014/main" id="{80C6F718-9AB5-4F83-A3FB-F8950EB2B4CE}"/>
              </a:ext>
            </a:extLst>
          </p:cNvPr>
          <p:cNvSpPr>
            <a:spLocks noChangeArrowheads="1"/>
          </p:cNvSpPr>
          <p:nvPr/>
        </p:nvSpPr>
        <p:spPr bwMode="auto">
          <a:xfrm>
            <a:off x="6719888" y="2444750"/>
            <a:ext cx="312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0</a:t>
            </a:r>
          </a:p>
        </p:txBody>
      </p:sp>
      <p:cxnSp>
        <p:nvCxnSpPr>
          <p:cNvPr id="55" name="Straight Arrow Connector 54">
            <a:extLst>
              <a:ext uri="{FF2B5EF4-FFF2-40B4-BE49-F238E27FC236}">
                <a16:creationId xmlns:a16="http://schemas.microsoft.com/office/drawing/2014/main" id="{2E768CE2-F2C1-4731-8C9D-AD433C21E5A6}"/>
              </a:ext>
            </a:extLst>
          </p:cNvPr>
          <p:cNvCxnSpPr>
            <a:cxnSpLocks noChangeShapeType="1"/>
            <a:endCxn id="54" idx="1"/>
          </p:cNvCxnSpPr>
          <p:nvPr/>
        </p:nvCxnSpPr>
        <p:spPr bwMode="auto">
          <a:xfrm>
            <a:off x="6453188" y="2628900"/>
            <a:ext cx="266700" cy="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56" name="Rectangle 55">
            <a:extLst>
              <a:ext uri="{FF2B5EF4-FFF2-40B4-BE49-F238E27FC236}">
                <a16:creationId xmlns:a16="http://schemas.microsoft.com/office/drawing/2014/main" id="{BA06043D-4182-4A83-943B-F464F65C129C}"/>
              </a:ext>
            </a:extLst>
          </p:cNvPr>
          <p:cNvSpPr>
            <a:spLocks noChangeArrowheads="1"/>
          </p:cNvSpPr>
          <p:nvPr/>
        </p:nvSpPr>
        <p:spPr bwMode="auto">
          <a:xfrm>
            <a:off x="6725439" y="2794000"/>
            <a:ext cx="312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0</a:t>
            </a:r>
          </a:p>
        </p:txBody>
      </p:sp>
      <p:cxnSp>
        <p:nvCxnSpPr>
          <p:cNvPr id="57" name="Straight Arrow Connector 56">
            <a:extLst>
              <a:ext uri="{FF2B5EF4-FFF2-40B4-BE49-F238E27FC236}">
                <a16:creationId xmlns:a16="http://schemas.microsoft.com/office/drawing/2014/main" id="{56821C0F-BC3B-40E1-BFE3-919A53176857}"/>
              </a:ext>
            </a:extLst>
          </p:cNvPr>
          <p:cNvCxnSpPr>
            <a:cxnSpLocks noChangeShapeType="1"/>
          </p:cNvCxnSpPr>
          <p:nvPr/>
        </p:nvCxnSpPr>
        <p:spPr bwMode="auto">
          <a:xfrm>
            <a:off x="6448425" y="2978150"/>
            <a:ext cx="266700" cy="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58" name="Rectangle 57">
            <a:extLst>
              <a:ext uri="{FF2B5EF4-FFF2-40B4-BE49-F238E27FC236}">
                <a16:creationId xmlns:a16="http://schemas.microsoft.com/office/drawing/2014/main" id="{297D1981-D438-4307-8190-F44D6F8FC811}"/>
              </a:ext>
            </a:extLst>
          </p:cNvPr>
          <p:cNvSpPr>
            <a:spLocks noChangeArrowheads="1"/>
          </p:cNvSpPr>
          <p:nvPr/>
        </p:nvSpPr>
        <p:spPr bwMode="auto">
          <a:xfrm>
            <a:off x="7277100" y="1577975"/>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0</a:t>
            </a:r>
          </a:p>
        </p:txBody>
      </p:sp>
      <p:cxnSp>
        <p:nvCxnSpPr>
          <p:cNvPr id="59" name="Straight Arrow Connector 58">
            <a:extLst>
              <a:ext uri="{FF2B5EF4-FFF2-40B4-BE49-F238E27FC236}">
                <a16:creationId xmlns:a16="http://schemas.microsoft.com/office/drawing/2014/main" id="{D4EBAE86-BE3E-4937-B5C2-D8CA52E8C928}"/>
              </a:ext>
            </a:extLst>
          </p:cNvPr>
          <p:cNvCxnSpPr>
            <a:cxnSpLocks noChangeShapeType="1"/>
          </p:cNvCxnSpPr>
          <p:nvPr/>
        </p:nvCxnSpPr>
        <p:spPr bwMode="auto">
          <a:xfrm>
            <a:off x="7094547" y="1762125"/>
            <a:ext cx="266700" cy="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8471"/>
                                        </p:tgtEl>
                                        <p:attrNameLst>
                                          <p:attrName>style.visibility</p:attrName>
                                        </p:attrNameLst>
                                      </p:cBhvr>
                                      <p:to>
                                        <p:strVal val="visible"/>
                                      </p:to>
                                    </p:set>
                                    <p:animEffect transition="in" filter="box(in)">
                                      <p:cBhvr>
                                        <p:cTn id="7" dur="500"/>
                                        <p:tgtEl>
                                          <p:spTgt spid="184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8439"/>
                                        </p:tgtEl>
                                        <p:attrNameLst>
                                          <p:attrName>style.visibility</p:attrName>
                                        </p:attrNameLst>
                                      </p:cBhvr>
                                      <p:to>
                                        <p:strVal val="visible"/>
                                      </p:to>
                                    </p:set>
                                    <p:animEffect transition="in" filter="box(in)">
                                      <p:cBhvr>
                                        <p:cTn id="12" dur="500"/>
                                        <p:tgtEl>
                                          <p:spTgt spid="184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16" fill="hold" nodeType="clickEffect">
                                  <p:stCondLst>
                                    <p:cond delay="0"/>
                                  </p:stCondLst>
                                  <p:childTnLst>
                                    <p:set>
                                      <p:cBhvr>
                                        <p:cTn id="20" dur="1" fill="hold">
                                          <p:stCondLst>
                                            <p:cond delay="0"/>
                                          </p:stCondLst>
                                        </p:cTn>
                                        <p:tgtEl>
                                          <p:spTgt spid="18445"/>
                                        </p:tgtEl>
                                        <p:attrNameLst>
                                          <p:attrName>style.visibility</p:attrName>
                                        </p:attrNameLst>
                                      </p:cBhvr>
                                      <p:to>
                                        <p:strVal val="visible"/>
                                      </p:to>
                                    </p:set>
                                    <p:animEffect transition="in" filter="box(in)">
                                      <p:cBhvr>
                                        <p:cTn id="21" dur="500"/>
                                        <p:tgtEl>
                                          <p:spTgt spid="18445"/>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18448"/>
                                        </p:tgtEl>
                                        <p:attrNameLst>
                                          <p:attrName>style.visibility</p:attrName>
                                        </p:attrNameLst>
                                      </p:cBhvr>
                                      <p:to>
                                        <p:strVal val="visible"/>
                                      </p:to>
                                    </p:set>
                                    <p:animEffect transition="in" filter="box(in)">
                                      <p:cBhvr>
                                        <p:cTn id="24" dur="500"/>
                                        <p:tgtEl>
                                          <p:spTgt spid="1844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18441"/>
                                        </p:tgtEl>
                                        <p:attrNameLst>
                                          <p:attrName>style.visibility</p:attrName>
                                        </p:attrNameLst>
                                      </p:cBhvr>
                                      <p:to>
                                        <p:strVal val="visible"/>
                                      </p:to>
                                    </p:set>
                                    <p:animEffect transition="in" filter="box(in)">
                                      <p:cBhvr>
                                        <p:cTn id="35" dur="500"/>
                                        <p:tgtEl>
                                          <p:spTgt spid="1844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75"/>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79"/>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80"/>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4" presetClass="entr" presetSubtype="16" fill="hold" nodeType="clickEffect">
                                  <p:stCondLst>
                                    <p:cond delay="0"/>
                                  </p:stCondLst>
                                  <p:childTnLst>
                                    <p:set>
                                      <p:cBhvr>
                                        <p:cTn id="49" dur="1" fill="hold">
                                          <p:stCondLst>
                                            <p:cond delay="0"/>
                                          </p:stCondLst>
                                        </p:cTn>
                                        <p:tgtEl>
                                          <p:spTgt spid="18465"/>
                                        </p:tgtEl>
                                        <p:attrNameLst>
                                          <p:attrName>style.visibility</p:attrName>
                                        </p:attrNameLst>
                                      </p:cBhvr>
                                      <p:to>
                                        <p:strVal val="visible"/>
                                      </p:to>
                                    </p:set>
                                    <p:animEffect transition="in" filter="box(in)">
                                      <p:cBhvr>
                                        <p:cTn id="50" dur="500"/>
                                        <p:tgtEl>
                                          <p:spTgt spid="18465"/>
                                        </p:tgtEl>
                                      </p:cBhvr>
                                    </p:animEffect>
                                  </p:childTnLst>
                                </p:cTn>
                              </p:par>
                              <p:par>
                                <p:cTn id="51" presetID="4" presetClass="entr" presetSubtype="16" fill="hold" grpId="0" nodeType="withEffect">
                                  <p:stCondLst>
                                    <p:cond delay="0"/>
                                  </p:stCondLst>
                                  <p:childTnLst>
                                    <p:set>
                                      <p:cBhvr>
                                        <p:cTn id="52" dur="1" fill="hold">
                                          <p:stCondLst>
                                            <p:cond delay="0"/>
                                          </p:stCondLst>
                                        </p:cTn>
                                        <p:tgtEl>
                                          <p:spTgt spid="18447"/>
                                        </p:tgtEl>
                                        <p:attrNameLst>
                                          <p:attrName>style.visibility</p:attrName>
                                        </p:attrNameLst>
                                      </p:cBhvr>
                                      <p:to>
                                        <p:strVal val="visible"/>
                                      </p:to>
                                    </p:set>
                                    <p:animEffect transition="in" filter="box(in)">
                                      <p:cBhvr>
                                        <p:cTn id="53" dur="500"/>
                                        <p:tgtEl>
                                          <p:spTgt spid="18447"/>
                                        </p:tgtEl>
                                      </p:cBhvr>
                                    </p:animEffect>
                                  </p:childTnLst>
                                </p:cTn>
                              </p:par>
                              <p:par>
                                <p:cTn id="54" presetID="4" presetClass="entr" presetSubtype="16" fill="hold" grpId="0" nodeType="withEffect">
                                  <p:stCondLst>
                                    <p:cond delay="0"/>
                                  </p:stCondLst>
                                  <p:childTnLst>
                                    <p:set>
                                      <p:cBhvr>
                                        <p:cTn id="55" dur="1" fill="hold">
                                          <p:stCondLst>
                                            <p:cond delay="0"/>
                                          </p:stCondLst>
                                        </p:cTn>
                                        <p:tgtEl>
                                          <p:spTgt spid="18440"/>
                                        </p:tgtEl>
                                        <p:attrNameLst>
                                          <p:attrName>style.visibility</p:attrName>
                                        </p:attrNameLst>
                                      </p:cBhvr>
                                      <p:to>
                                        <p:strVal val="visible"/>
                                      </p:to>
                                    </p:set>
                                    <p:animEffect transition="in" filter="box(in)">
                                      <p:cBhvr>
                                        <p:cTn id="56" dur="500"/>
                                        <p:tgtEl>
                                          <p:spTgt spid="18440"/>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5"/>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5394"/>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4" presetClass="entr" presetSubtype="16" fill="hold" grpId="0" nodeType="clickEffect">
                                  <p:stCondLst>
                                    <p:cond delay="0"/>
                                  </p:stCondLst>
                                  <p:childTnLst>
                                    <p:set>
                                      <p:cBhvr>
                                        <p:cTn id="72" dur="1" fill="hold">
                                          <p:stCondLst>
                                            <p:cond delay="0"/>
                                          </p:stCondLst>
                                        </p:cTn>
                                        <p:tgtEl>
                                          <p:spTgt spid="18467"/>
                                        </p:tgtEl>
                                        <p:attrNameLst>
                                          <p:attrName>style.visibility</p:attrName>
                                        </p:attrNameLst>
                                      </p:cBhvr>
                                      <p:to>
                                        <p:strVal val="visible"/>
                                      </p:to>
                                    </p:set>
                                    <p:animEffect transition="in" filter="box(in)">
                                      <p:cBhvr>
                                        <p:cTn id="73" dur="500"/>
                                        <p:tgtEl>
                                          <p:spTgt spid="18467"/>
                                        </p:tgtEl>
                                      </p:cBhvr>
                                    </p:animEffect>
                                  </p:childTnLst>
                                </p:cTn>
                              </p:par>
                              <p:par>
                                <p:cTn id="74" presetID="4" presetClass="entr" presetSubtype="16" fill="hold" nodeType="withEffect">
                                  <p:stCondLst>
                                    <p:cond delay="0"/>
                                  </p:stCondLst>
                                  <p:childTnLst>
                                    <p:set>
                                      <p:cBhvr>
                                        <p:cTn id="75" dur="1" fill="hold">
                                          <p:stCondLst>
                                            <p:cond delay="0"/>
                                          </p:stCondLst>
                                        </p:cTn>
                                        <p:tgtEl>
                                          <p:spTgt spid="18444"/>
                                        </p:tgtEl>
                                        <p:attrNameLst>
                                          <p:attrName>style.visibility</p:attrName>
                                        </p:attrNameLst>
                                      </p:cBhvr>
                                      <p:to>
                                        <p:strVal val="visible"/>
                                      </p:to>
                                    </p:set>
                                    <p:animEffect transition="in" filter="box(in)">
                                      <p:cBhvr>
                                        <p:cTn id="76" dur="500"/>
                                        <p:tgtEl>
                                          <p:spTgt spid="18444"/>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52"/>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53"/>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4" presetClass="entr" presetSubtype="16" fill="hold" grpId="0" nodeType="clickEffect">
                                  <p:stCondLst>
                                    <p:cond delay="0"/>
                                  </p:stCondLst>
                                  <p:childTnLst>
                                    <p:set>
                                      <p:cBhvr>
                                        <p:cTn id="86" dur="1" fill="hold">
                                          <p:stCondLst>
                                            <p:cond delay="0"/>
                                          </p:stCondLst>
                                        </p:cTn>
                                        <p:tgtEl>
                                          <p:spTgt spid="18451"/>
                                        </p:tgtEl>
                                        <p:attrNameLst>
                                          <p:attrName>style.visibility</p:attrName>
                                        </p:attrNameLst>
                                      </p:cBhvr>
                                      <p:to>
                                        <p:strVal val="visible"/>
                                      </p:to>
                                    </p:set>
                                    <p:animEffect transition="in" filter="box(in)">
                                      <p:cBhvr>
                                        <p:cTn id="87" dur="500"/>
                                        <p:tgtEl>
                                          <p:spTgt spid="18451"/>
                                        </p:tgtEl>
                                      </p:cBhvr>
                                    </p:animEffect>
                                  </p:childTnLst>
                                </p:cTn>
                              </p:par>
                              <p:par>
                                <p:cTn id="88" presetID="4" presetClass="entr" presetSubtype="16" fill="hold" nodeType="withEffect">
                                  <p:stCondLst>
                                    <p:cond delay="0"/>
                                  </p:stCondLst>
                                  <p:childTnLst>
                                    <p:set>
                                      <p:cBhvr>
                                        <p:cTn id="89" dur="1" fill="hold">
                                          <p:stCondLst>
                                            <p:cond delay="0"/>
                                          </p:stCondLst>
                                        </p:cTn>
                                        <p:tgtEl>
                                          <p:spTgt spid="18452"/>
                                        </p:tgtEl>
                                        <p:attrNameLst>
                                          <p:attrName>style.visibility</p:attrName>
                                        </p:attrNameLst>
                                      </p:cBhvr>
                                      <p:to>
                                        <p:strVal val="visible"/>
                                      </p:to>
                                    </p:set>
                                    <p:animEffect transition="in" filter="box(in)">
                                      <p:cBhvr>
                                        <p:cTn id="90" dur="500"/>
                                        <p:tgtEl>
                                          <p:spTgt spid="18452"/>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56"/>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57"/>
                                        </p:tgtEl>
                                        <p:attrNameLst>
                                          <p:attrName>style.visibility</p:attrName>
                                        </p:attrNameLst>
                                      </p:cBhvr>
                                      <p:to>
                                        <p:strVal val="visibl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4" presetClass="entr" presetSubtype="16" fill="hold" grpId="0" nodeType="clickEffect">
                                  <p:stCondLst>
                                    <p:cond delay="0"/>
                                  </p:stCondLst>
                                  <p:childTnLst>
                                    <p:set>
                                      <p:cBhvr>
                                        <p:cTn id="100" dur="1" fill="hold">
                                          <p:stCondLst>
                                            <p:cond delay="0"/>
                                          </p:stCondLst>
                                        </p:cTn>
                                        <p:tgtEl>
                                          <p:spTgt spid="18468"/>
                                        </p:tgtEl>
                                        <p:attrNameLst>
                                          <p:attrName>style.visibility</p:attrName>
                                        </p:attrNameLst>
                                      </p:cBhvr>
                                      <p:to>
                                        <p:strVal val="visible"/>
                                      </p:to>
                                    </p:set>
                                    <p:animEffect transition="in" filter="box(in)">
                                      <p:cBhvr>
                                        <p:cTn id="101" dur="500"/>
                                        <p:tgtEl>
                                          <p:spTgt spid="18468"/>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58"/>
                                        </p:tgtEl>
                                        <p:attrNameLst>
                                          <p:attrName>style.visibility</p:attrName>
                                        </p:attrNameLst>
                                      </p:cBhvr>
                                      <p:to>
                                        <p:strVal val="visible"/>
                                      </p:to>
                                    </p:set>
                                  </p:childTnLst>
                                </p:cTn>
                              </p:par>
                              <p:par>
                                <p:cTn id="106" presetID="1" presetClass="entr" presetSubtype="0" fill="hold" nodeType="withEffect">
                                  <p:stCondLst>
                                    <p:cond delay="0"/>
                                  </p:stCondLst>
                                  <p:childTnLst>
                                    <p:set>
                                      <p:cBhvr>
                                        <p:cTn id="107" dur="1" fill="hold">
                                          <p:stCondLst>
                                            <p:cond delay="0"/>
                                          </p:stCondLst>
                                        </p:cTn>
                                        <p:tgtEl>
                                          <p:spTgt spid="59"/>
                                        </p:tgtEl>
                                        <p:attrNameLst>
                                          <p:attrName>style.visibility</p:attrName>
                                        </p:attrNameLst>
                                      </p:cBhvr>
                                      <p:to>
                                        <p:strVal val="visible"/>
                                      </p:to>
                                    </p:se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4" presetClass="entr" presetSubtype="16" fill="hold" nodeType="clickEffect">
                                  <p:stCondLst>
                                    <p:cond delay="0"/>
                                  </p:stCondLst>
                                  <p:childTnLst>
                                    <p:set>
                                      <p:cBhvr>
                                        <p:cTn id="111" dur="1" fill="hold">
                                          <p:stCondLst>
                                            <p:cond delay="0"/>
                                          </p:stCondLst>
                                        </p:cTn>
                                        <p:tgtEl>
                                          <p:spTgt spid="39">
                                            <p:txEl>
                                              <p:pRg st="12" end="12"/>
                                            </p:txEl>
                                          </p:spTgt>
                                        </p:tgtEl>
                                        <p:attrNameLst>
                                          <p:attrName>style.visibility</p:attrName>
                                        </p:attrNameLst>
                                      </p:cBhvr>
                                      <p:to>
                                        <p:strVal val="visible"/>
                                      </p:to>
                                    </p:set>
                                    <p:animEffect transition="in" filter="box(in)">
                                      <p:cBhvr>
                                        <p:cTn id="112" dur="500"/>
                                        <p:tgtEl>
                                          <p:spTgt spid="39">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9" grpId="0"/>
      <p:bldP spid="18440" grpId="0"/>
      <p:bldP spid="18441" grpId="0"/>
      <p:bldP spid="18447" grpId="0"/>
      <p:bldP spid="18448" grpId="0"/>
      <p:bldP spid="18451" grpId="0"/>
      <p:bldP spid="18467" grpId="0"/>
      <p:bldP spid="18468" grpId="0"/>
      <p:bldP spid="18471" grpId="0"/>
      <p:bldP spid="74" grpId="0"/>
      <p:bldP spid="75" grpId="0"/>
      <p:bldP spid="76" grpId="0"/>
      <p:bldP spid="77" grpId="0"/>
      <p:bldP spid="79" grpId="0"/>
      <p:bldP spid="52" grpId="0"/>
      <p:bldP spid="54" grpId="0"/>
      <p:bldP spid="56" grpId="0"/>
      <p:bldP spid="5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74942-0FEB-244C-AD9D-B10C177B10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419AC5-8631-FE53-601F-8AE93ABDB5B7}"/>
              </a:ext>
            </a:extLst>
          </p:cNvPr>
          <p:cNvSpPr>
            <a:spLocks noGrp="1"/>
          </p:cNvSpPr>
          <p:nvPr>
            <p:ph type="title"/>
          </p:nvPr>
        </p:nvSpPr>
        <p:spPr/>
        <p:txBody>
          <a:bodyPr/>
          <a:lstStyle/>
          <a:p>
            <a:r>
              <a:rPr lang="en-US" dirty="0"/>
              <a:t>ExtraQ2 </a:t>
            </a:r>
            <a:r>
              <a:rPr lang="en-US" dirty="0" err="1"/>
              <a:t>Wooclap</a:t>
            </a:r>
            <a:r>
              <a:rPr lang="en-US" dirty="0"/>
              <a:t> Exercise</a:t>
            </a:r>
          </a:p>
        </p:txBody>
      </p:sp>
      <p:sp>
        <p:nvSpPr>
          <p:cNvPr id="4" name="Footer Placeholder 3">
            <a:extLst>
              <a:ext uri="{FF2B5EF4-FFF2-40B4-BE49-F238E27FC236}">
                <a16:creationId xmlns:a16="http://schemas.microsoft.com/office/drawing/2014/main" id="{69E7DBD3-D479-6116-69E5-7AD0A9D974E5}"/>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10" name="Content Placeholder 9">
                <a:extLst>
                  <a:ext uri="{FF2B5EF4-FFF2-40B4-BE49-F238E27FC236}">
                    <a16:creationId xmlns:a16="http://schemas.microsoft.com/office/drawing/2014/main" id="{37C4AD0D-C658-E59A-B024-3F0902C4CDCD}"/>
                  </a:ext>
                </a:extLst>
              </p:cNvPr>
              <p:cNvGraphicFramePr>
                <a:graphicFrameLocks noGrp="1"/>
              </p:cNvGraphicFramePr>
              <p:nvPr>
                <p:ph idx="1"/>
              </p:nvPr>
            </p:nvGraphicFramePr>
            <p:xfrm>
              <a:off x="1047750" y="1724025"/>
              <a:ext cx="7029450" cy="41148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10" name="Content Placeholder 9">
                <a:extLst>
                  <a:ext uri="{FF2B5EF4-FFF2-40B4-BE49-F238E27FC236}">
                    <a16:creationId xmlns:a16="http://schemas.microsoft.com/office/drawing/2014/main" id="{37C4AD0D-C658-E59A-B024-3F0902C4CDCD}"/>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1047750" y="1724025"/>
                <a:ext cx="7029450" cy="4114800"/>
              </a:xfrm>
              <a:prstGeom prst="rect">
                <a:avLst/>
              </a:prstGeom>
            </p:spPr>
          </p:pic>
        </mc:Fallback>
      </mc:AlternateContent>
    </p:spTree>
    <p:extLst>
      <p:ext uri="{BB962C8B-B14F-4D97-AF65-F5344CB8AC3E}">
        <p14:creationId xmlns:p14="http://schemas.microsoft.com/office/powerpoint/2010/main" val="15310167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DDF10-9BA9-93BB-78CB-803AA83EB96A}"/>
              </a:ext>
            </a:extLst>
          </p:cNvPr>
          <p:cNvSpPr>
            <a:spLocks noGrp="1"/>
          </p:cNvSpPr>
          <p:nvPr>
            <p:ph type="title"/>
          </p:nvPr>
        </p:nvSpPr>
        <p:spPr/>
        <p:txBody>
          <a:bodyPr/>
          <a:lstStyle/>
          <a:p>
            <a:r>
              <a:rPr lang="en-US" dirty="0"/>
              <a:t>Exercise</a:t>
            </a:r>
          </a:p>
        </p:txBody>
      </p:sp>
      <p:sp>
        <p:nvSpPr>
          <p:cNvPr id="4" name="Footer Placeholder 3">
            <a:extLst>
              <a:ext uri="{FF2B5EF4-FFF2-40B4-BE49-F238E27FC236}">
                <a16:creationId xmlns:a16="http://schemas.microsoft.com/office/drawing/2014/main" id="{63448A31-CE06-551E-7901-6E6E842B79DB}"/>
              </a:ext>
            </a:extLst>
          </p:cNvPr>
          <p:cNvSpPr>
            <a:spLocks noGrp="1"/>
          </p:cNvSpPr>
          <p:nvPr>
            <p:ph type="ftr" sz="quarter" idx="10"/>
          </p:nvPr>
        </p:nvSpPr>
        <p:spPr/>
        <p:txBody>
          <a:bodyPr/>
          <a:lstStyle/>
          <a:p>
            <a:pPr>
              <a:defRPr/>
            </a:pPr>
            <a:r>
              <a:rPr lang="en-US"/>
              <a:t>SC2005 Operating Systems</a:t>
            </a:r>
          </a:p>
        </p:txBody>
      </p:sp>
      <p:sp>
        <p:nvSpPr>
          <p:cNvPr id="3" name="TextBox 2">
            <a:extLst>
              <a:ext uri="{FF2B5EF4-FFF2-40B4-BE49-F238E27FC236}">
                <a16:creationId xmlns:a16="http://schemas.microsoft.com/office/drawing/2014/main" id="{43F50D15-9A48-1148-80EA-3F17CEB4B293}"/>
              </a:ext>
            </a:extLst>
          </p:cNvPr>
          <p:cNvSpPr txBox="1"/>
          <p:nvPr/>
        </p:nvSpPr>
        <p:spPr>
          <a:xfrm>
            <a:off x="198930" y="5901035"/>
            <a:ext cx="8746138" cy="461665"/>
          </a:xfrm>
          <a:prstGeom prst="rect">
            <a:avLst/>
          </a:prstGeom>
          <a:noFill/>
        </p:spPr>
        <p:txBody>
          <a:bodyPr wrap="square" rtlCol="0">
            <a:spAutoFit/>
          </a:bodyPr>
          <a:lstStyle/>
          <a:p>
            <a:pPr algn="ctr"/>
            <a:r>
              <a:rPr lang="en-US" sz="2400" dirty="0">
                <a:solidFill>
                  <a:srgbClr val="FF0000"/>
                </a:solidFill>
              </a:rPr>
              <a:t>Keep </a:t>
            </a:r>
            <a:r>
              <a:rPr lang="en-US" sz="2400" dirty="0" err="1">
                <a:solidFill>
                  <a:srgbClr val="FF0000"/>
                </a:solidFill>
              </a:rPr>
              <a:t>Wooclap</a:t>
            </a:r>
            <a:r>
              <a:rPr lang="en-US" sz="2400" dirty="0">
                <a:solidFill>
                  <a:srgbClr val="FF0000"/>
                </a:solidFill>
              </a:rPr>
              <a:t> open on your device before the lecture ends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Add-in 4">
                <a:extLst>
                  <a:ext uri="{FF2B5EF4-FFF2-40B4-BE49-F238E27FC236}">
                    <a16:creationId xmlns:a16="http://schemas.microsoft.com/office/drawing/2014/main" id="{1E625128-ACB9-9B84-3365-DF45F78AFE81}"/>
                  </a:ext>
                </a:extLst>
              </p:cNvPr>
              <p:cNvGraphicFramePr>
                <a:graphicFrameLocks noGrp="1"/>
              </p:cNvGraphicFramePr>
              <p:nvPr/>
            </p:nvGraphicFramePr>
            <p:xfrm>
              <a:off x="69850" y="952500"/>
              <a:ext cx="9074150" cy="5072519"/>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5" name="Add-in 4">
                <a:extLst>
                  <a:ext uri="{FF2B5EF4-FFF2-40B4-BE49-F238E27FC236}">
                    <a16:creationId xmlns:a16="http://schemas.microsoft.com/office/drawing/2014/main" id="{1E625128-ACB9-9B84-3365-DF45F78AFE81}"/>
                  </a:ext>
                </a:extLst>
              </p:cNvPr>
              <p:cNvPicPr>
                <a:picLocks noGrp="1" noRot="1" noChangeAspect="1" noMove="1" noResize="1" noEditPoints="1" noAdjustHandles="1" noChangeArrowheads="1" noChangeShapeType="1"/>
              </p:cNvPicPr>
              <p:nvPr/>
            </p:nvPicPr>
            <p:blipFill>
              <a:blip r:embed="rId4"/>
              <a:stretch>
                <a:fillRect/>
              </a:stretch>
            </p:blipFill>
            <p:spPr>
              <a:xfrm>
                <a:off x="69850" y="952500"/>
                <a:ext cx="9074150" cy="5072519"/>
              </a:xfrm>
              <a:prstGeom prst="rect">
                <a:avLst/>
              </a:prstGeom>
            </p:spPr>
          </p:pic>
        </mc:Fallback>
      </mc:AlternateContent>
    </p:spTree>
    <p:extLst>
      <p:ext uri="{BB962C8B-B14F-4D97-AF65-F5344CB8AC3E}">
        <p14:creationId xmlns:p14="http://schemas.microsoft.com/office/powerpoint/2010/main" val="2105130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Footer Placeholder 3">
            <a:extLst>
              <a:ext uri="{FF2B5EF4-FFF2-40B4-BE49-F238E27FC236}">
                <a16:creationId xmlns:a16="http://schemas.microsoft.com/office/drawing/2014/main" id="{B793996D-1991-4BCA-8231-13DFBF82C95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46082" name="Rectangle 2">
            <a:extLst>
              <a:ext uri="{FF2B5EF4-FFF2-40B4-BE49-F238E27FC236}">
                <a16:creationId xmlns:a16="http://schemas.microsoft.com/office/drawing/2014/main" id="{E711C12D-C518-4BE0-A4E6-999D4303BE0B}"/>
              </a:ext>
            </a:extLst>
          </p:cNvPr>
          <p:cNvSpPr>
            <a:spLocks noGrp="1" noChangeArrowheads="1"/>
          </p:cNvSpPr>
          <p:nvPr>
            <p:ph type="title"/>
          </p:nvPr>
        </p:nvSpPr>
        <p:spPr/>
        <p:txBody>
          <a:bodyPr/>
          <a:lstStyle/>
          <a:p>
            <a:r>
              <a:rPr lang="en-US" altLang="en-US"/>
              <a:t>Priority-based Scheduling</a:t>
            </a:r>
          </a:p>
        </p:txBody>
      </p:sp>
      <p:sp>
        <p:nvSpPr>
          <p:cNvPr id="16388" name="Rectangle 3">
            <a:extLst>
              <a:ext uri="{FF2B5EF4-FFF2-40B4-BE49-F238E27FC236}">
                <a16:creationId xmlns:a16="http://schemas.microsoft.com/office/drawing/2014/main" id="{95400946-6ADA-4EFD-B98C-D979F3663715}"/>
              </a:ext>
            </a:extLst>
          </p:cNvPr>
          <p:cNvSpPr>
            <a:spLocks noGrp="1" noChangeArrowheads="1"/>
          </p:cNvSpPr>
          <p:nvPr>
            <p:ph type="body" idx="1"/>
          </p:nvPr>
        </p:nvSpPr>
        <p:spPr>
          <a:xfrm>
            <a:off x="428625" y="1323975"/>
            <a:ext cx="8229600" cy="4902200"/>
          </a:xfrm>
        </p:spPr>
        <p:txBody>
          <a:bodyPr/>
          <a:lstStyle/>
          <a:p>
            <a:r>
              <a:rPr lang="en-US" altLang="en-US" sz="2300" dirty="0"/>
              <a:t>A </a:t>
            </a:r>
            <a:r>
              <a:rPr lang="en-US" altLang="en-US" sz="2300" dirty="0">
                <a:solidFill>
                  <a:schemeClr val="accent2"/>
                </a:solidFill>
              </a:rPr>
              <a:t>priority number (integer)</a:t>
            </a:r>
            <a:r>
              <a:rPr lang="en-US" altLang="en-US" sz="2300" dirty="0"/>
              <a:t> is associated with each process</a:t>
            </a:r>
          </a:p>
          <a:p>
            <a:pPr lvl="4"/>
            <a:endParaRPr lang="en-US" altLang="en-US" sz="1700"/>
          </a:p>
          <a:p>
            <a:r>
              <a:rPr lang="en-US" altLang="en-US" sz="2300" dirty="0">
                <a:solidFill>
                  <a:srgbClr val="FF0000"/>
                </a:solidFill>
              </a:rPr>
              <a:t>CPU is allocated to the process with the highest priority</a:t>
            </a:r>
            <a:endParaRPr lang="en-US" altLang="en-US" sz="2300" dirty="0">
              <a:solidFill>
                <a:srgbClr val="FF0000"/>
              </a:solidFill>
              <a:cs typeface="Helvetica"/>
            </a:endParaRPr>
          </a:p>
          <a:p>
            <a:pPr lvl="1"/>
            <a:r>
              <a:rPr lang="en-US" altLang="en-US" sz="2300" dirty="0"/>
              <a:t>Usually, smallest integer implies highest</a:t>
            </a:r>
            <a:r>
              <a:rPr lang="en-US" altLang="en-US" sz="2300" dirty="0">
                <a:sym typeface="Symbol" panose="05050102010706020507" pitchFamily="18" charset="2"/>
              </a:rPr>
              <a:t> priority</a:t>
            </a:r>
            <a:endParaRPr lang="en-US" altLang="en-US" sz="2300" dirty="0">
              <a:cs typeface="Helvetica"/>
            </a:endParaRPr>
          </a:p>
          <a:p>
            <a:pPr lvl="1"/>
            <a:r>
              <a:rPr lang="en-US" altLang="en-US" sz="2300" dirty="0">
                <a:solidFill>
                  <a:schemeClr val="accent2"/>
                </a:solidFill>
                <a:sym typeface="Symbol" panose="05050102010706020507" pitchFamily="18" charset="2"/>
              </a:rPr>
              <a:t>Two schemes:</a:t>
            </a:r>
            <a:r>
              <a:rPr lang="en-US" altLang="en-US" sz="2300" dirty="0">
                <a:sym typeface="Symbol" panose="05050102010706020507" pitchFamily="18" charset="2"/>
              </a:rPr>
              <a:t> </a:t>
            </a:r>
            <a:r>
              <a:rPr lang="en-US" altLang="en-US" sz="2300" dirty="0"/>
              <a:t>Preemptive and </a:t>
            </a:r>
            <a:r>
              <a:rPr lang="en-US" altLang="en-US" sz="2300" dirty="0" err="1"/>
              <a:t>nonpreemptive</a:t>
            </a:r>
            <a:endParaRPr lang="en-US" altLang="en-US" sz="2300" dirty="0" err="1">
              <a:cs typeface="Helvetica"/>
            </a:endParaRPr>
          </a:p>
          <a:p>
            <a:pPr lvl="1"/>
            <a:r>
              <a:rPr lang="en-US" altLang="en-US" sz="2300" dirty="0"/>
              <a:t>FCFS</a:t>
            </a:r>
            <a:r>
              <a:rPr lang="en-US" altLang="en-US" sz="2300" dirty="0">
                <a:sym typeface="Symbol" panose="05050102010706020507" pitchFamily="18" charset="2"/>
              </a:rPr>
              <a:t>: Priority based on arrival order</a:t>
            </a:r>
            <a:endParaRPr lang="en-US" altLang="en-US" sz="2300" dirty="0">
              <a:cs typeface="Helvetica"/>
            </a:endParaRPr>
          </a:p>
          <a:p>
            <a:pPr lvl="1"/>
            <a:r>
              <a:rPr lang="en-US" altLang="en-US" sz="2300" dirty="0"/>
              <a:t>SJF</a:t>
            </a:r>
            <a:r>
              <a:rPr lang="en-US" altLang="en-US" sz="2300" dirty="0">
                <a:sym typeface="Symbol" panose="05050102010706020507" pitchFamily="18" charset="2"/>
              </a:rPr>
              <a:t>: Priority based on CPU burst length</a:t>
            </a:r>
            <a:endParaRPr lang="en-US" altLang="en-US" sz="2300" dirty="0">
              <a:cs typeface="Helvetica"/>
            </a:endParaRPr>
          </a:p>
          <a:p>
            <a:pPr lvl="4"/>
            <a:endParaRPr lang="en-US" altLang="en-US" sz="1700"/>
          </a:p>
          <a:p>
            <a:r>
              <a:rPr lang="en-US" altLang="en-US" sz="2300" dirty="0">
                <a:solidFill>
                  <a:srgbClr val="FF0000"/>
                </a:solidFill>
              </a:rPr>
              <a:t>Problem </a:t>
            </a:r>
            <a:r>
              <a:rPr lang="en-US" altLang="en-US" sz="2300" dirty="0">
                <a:solidFill>
                  <a:srgbClr val="FF0000"/>
                </a:solidFill>
                <a:sym typeface="Symbol" panose="05050102010706020507" pitchFamily="18" charset="2"/>
              </a:rPr>
              <a:t>of Starvation:</a:t>
            </a:r>
            <a:r>
              <a:rPr lang="en-US" altLang="en-US" sz="2300" dirty="0">
                <a:sym typeface="Symbol" panose="05050102010706020507" pitchFamily="18" charset="2"/>
              </a:rPr>
              <a:t> Lower priority processes may never execute in a heavily loaded system</a:t>
            </a:r>
            <a:endParaRPr lang="en-US" altLang="en-US" sz="2300" dirty="0">
              <a:cs typeface="Helvetica"/>
            </a:endParaRPr>
          </a:p>
          <a:p>
            <a:pPr lvl="1"/>
            <a:r>
              <a:rPr lang="en-US" altLang="en-US" sz="2300" dirty="0">
                <a:solidFill>
                  <a:schemeClr val="accent2"/>
                </a:solidFill>
                <a:sym typeface="Symbol" panose="05050102010706020507" pitchFamily="18" charset="2"/>
              </a:rPr>
              <a:t>Solution is Aging:</a:t>
            </a:r>
            <a:r>
              <a:rPr lang="en-US" altLang="en-US" sz="2300" dirty="0">
                <a:sym typeface="Symbol" panose="05050102010706020507" pitchFamily="18" charset="2"/>
              </a:rPr>
              <a:t> As time progresses, slowly increase the priority of processes that are not able to execute</a:t>
            </a:r>
            <a:endParaRPr lang="en-US" altLang="en-US" sz="2300" dirty="0">
              <a:cs typeface="Helvetic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8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388">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388">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388">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388">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388">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388">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38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DDF10-9BA9-93BB-78CB-803AA83EB96A}"/>
              </a:ext>
            </a:extLst>
          </p:cNvPr>
          <p:cNvSpPr>
            <a:spLocks noGrp="1"/>
          </p:cNvSpPr>
          <p:nvPr>
            <p:ph type="title"/>
          </p:nvPr>
        </p:nvSpPr>
        <p:spPr/>
        <p:txBody>
          <a:bodyPr/>
          <a:lstStyle/>
          <a:p>
            <a:r>
              <a:rPr lang="en-US" dirty="0"/>
              <a:t>Exercise</a:t>
            </a:r>
          </a:p>
        </p:txBody>
      </p:sp>
      <p:sp>
        <p:nvSpPr>
          <p:cNvPr id="4" name="Footer Placeholder 3">
            <a:extLst>
              <a:ext uri="{FF2B5EF4-FFF2-40B4-BE49-F238E27FC236}">
                <a16:creationId xmlns:a16="http://schemas.microsoft.com/office/drawing/2014/main" id="{63448A31-CE06-551E-7901-6E6E842B79DB}"/>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Add-in 4">
                <a:extLst>
                  <a:ext uri="{FF2B5EF4-FFF2-40B4-BE49-F238E27FC236}">
                    <a16:creationId xmlns:a16="http://schemas.microsoft.com/office/drawing/2014/main" id="{1E625128-ACB9-9B84-3365-DF45F78AFE81}"/>
                  </a:ext>
                </a:extLst>
              </p:cNvPr>
              <p:cNvGraphicFramePr>
                <a:graphicFrameLocks noGrp="1"/>
              </p:cNvGraphicFramePr>
              <p:nvPr/>
            </p:nvGraphicFramePr>
            <p:xfrm>
              <a:off x="69850" y="952500"/>
              <a:ext cx="9074150" cy="5072519"/>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5" name="Add-in 4">
                <a:extLst>
                  <a:ext uri="{FF2B5EF4-FFF2-40B4-BE49-F238E27FC236}">
                    <a16:creationId xmlns:a16="http://schemas.microsoft.com/office/drawing/2014/main" id="{1E625128-ACB9-9B84-3365-DF45F78AFE81}"/>
                  </a:ext>
                </a:extLst>
              </p:cNvPr>
              <p:cNvPicPr>
                <a:picLocks noGrp="1" noRot="1" noChangeAspect="1" noMove="1" noResize="1" noEditPoints="1" noAdjustHandles="1" noChangeArrowheads="1" noChangeShapeType="1"/>
              </p:cNvPicPr>
              <p:nvPr/>
            </p:nvPicPr>
            <p:blipFill>
              <a:blip r:embed="rId4"/>
              <a:stretch>
                <a:fillRect/>
              </a:stretch>
            </p:blipFill>
            <p:spPr>
              <a:xfrm>
                <a:off x="69850" y="952500"/>
                <a:ext cx="9074150" cy="5072519"/>
              </a:xfrm>
              <a:prstGeom prst="rect">
                <a:avLst/>
              </a:prstGeom>
            </p:spPr>
          </p:pic>
        </mc:Fallback>
      </mc:AlternateContent>
    </p:spTree>
    <p:extLst>
      <p:ext uri="{BB962C8B-B14F-4D97-AF65-F5344CB8AC3E}">
        <p14:creationId xmlns:p14="http://schemas.microsoft.com/office/powerpoint/2010/main" val="42149965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Footer Placeholder 3">
            <a:extLst>
              <a:ext uri="{FF2B5EF4-FFF2-40B4-BE49-F238E27FC236}">
                <a16:creationId xmlns:a16="http://schemas.microsoft.com/office/drawing/2014/main" id="{C977E160-5DAD-45F6-A59B-D2090D6689C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48130" name="Rectangle 2">
            <a:extLst>
              <a:ext uri="{FF2B5EF4-FFF2-40B4-BE49-F238E27FC236}">
                <a16:creationId xmlns:a16="http://schemas.microsoft.com/office/drawing/2014/main" id="{D72FEA5D-4CCA-463D-A953-70F3BC1D7A9A}"/>
              </a:ext>
            </a:extLst>
          </p:cNvPr>
          <p:cNvSpPr>
            <a:spLocks noGrp="1" noChangeArrowheads="1"/>
          </p:cNvSpPr>
          <p:nvPr>
            <p:ph type="title"/>
          </p:nvPr>
        </p:nvSpPr>
        <p:spPr/>
        <p:txBody>
          <a:bodyPr/>
          <a:lstStyle/>
          <a:p>
            <a:r>
              <a:rPr lang="en-US" altLang="en-US"/>
              <a:t>Round Robin (RR) Scheduling</a:t>
            </a:r>
          </a:p>
        </p:txBody>
      </p:sp>
      <p:sp>
        <p:nvSpPr>
          <p:cNvPr id="17412" name="Rectangle 3">
            <a:extLst>
              <a:ext uri="{FF2B5EF4-FFF2-40B4-BE49-F238E27FC236}">
                <a16:creationId xmlns:a16="http://schemas.microsoft.com/office/drawing/2014/main" id="{99A83047-24A0-41C7-8E5E-30D1FAB37B8F}"/>
              </a:ext>
            </a:extLst>
          </p:cNvPr>
          <p:cNvSpPr>
            <a:spLocks noGrp="1" noChangeArrowheads="1"/>
          </p:cNvSpPr>
          <p:nvPr>
            <p:ph type="body" idx="1"/>
          </p:nvPr>
        </p:nvSpPr>
        <p:spPr>
          <a:xfrm>
            <a:off x="187325" y="1311275"/>
            <a:ext cx="8707438" cy="4940300"/>
          </a:xfrm>
        </p:spPr>
        <p:txBody>
          <a:bodyPr/>
          <a:lstStyle/>
          <a:p>
            <a:pPr>
              <a:lnSpc>
                <a:spcPct val="90000"/>
              </a:lnSpc>
            </a:pPr>
            <a:r>
              <a:rPr lang="en-US" altLang="en-US" sz="2800" dirty="0">
                <a:solidFill>
                  <a:srgbClr val="FF0000"/>
                </a:solidFill>
              </a:rPr>
              <a:t>Fixed time quantum for scheduling (q): </a:t>
            </a:r>
            <a:r>
              <a:rPr lang="en-US" altLang="en-US" sz="2800" dirty="0"/>
              <a:t>A Process is allocated CPU for q time units, preempted thereafter and inserted at the end of the ready queue</a:t>
            </a:r>
          </a:p>
          <a:p>
            <a:pPr lvl="1">
              <a:lnSpc>
                <a:spcPct val="90000"/>
              </a:lnSpc>
            </a:pPr>
            <a:r>
              <a:rPr lang="en-US" altLang="en-US" sz="2800" dirty="0"/>
              <a:t>Processes are </a:t>
            </a:r>
            <a:r>
              <a:rPr lang="en-US" altLang="en-US" sz="2800" dirty="0">
                <a:solidFill>
                  <a:schemeClr val="accent2"/>
                </a:solidFill>
              </a:rPr>
              <a:t>scheduled cyclically</a:t>
            </a:r>
            <a:r>
              <a:rPr lang="en-US" altLang="en-US" sz="2800" dirty="0"/>
              <a:t> based on q</a:t>
            </a:r>
            <a:endParaRPr lang="en-US" altLang="en-US" sz="2800" dirty="0">
              <a:cs typeface="Helvetica"/>
            </a:endParaRPr>
          </a:p>
          <a:p>
            <a:pPr lvl="1">
              <a:lnSpc>
                <a:spcPct val="90000"/>
              </a:lnSpc>
            </a:pPr>
            <a:r>
              <a:rPr lang="en-US" altLang="en-US" sz="2800" dirty="0"/>
              <a:t>Usually </a:t>
            </a:r>
            <a:r>
              <a:rPr lang="en-US" altLang="en-US" sz="2800" dirty="0">
                <a:solidFill>
                  <a:schemeClr val="accent2"/>
                </a:solidFill>
              </a:rPr>
              <a:t>q is small</a:t>
            </a:r>
            <a:r>
              <a:rPr lang="en-US" altLang="en-US" sz="2800" dirty="0"/>
              <a:t>, around 10-100 milliseconds</a:t>
            </a:r>
            <a:endParaRPr lang="en-US" altLang="en-US" sz="2800" dirty="0">
              <a:cs typeface="Helvetica"/>
            </a:endParaRPr>
          </a:p>
          <a:p>
            <a:pPr lvl="4">
              <a:lnSpc>
                <a:spcPct val="90000"/>
              </a:lnSpc>
            </a:pPr>
            <a:endParaRPr lang="en-US" altLang="en-US" sz="2200"/>
          </a:p>
          <a:p>
            <a:pPr>
              <a:lnSpc>
                <a:spcPct val="90000"/>
              </a:lnSpc>
            </a:pPr>
            <a:r>
              <a:rPr lang="en-US" altLang="en-US" sz="2800" dirty="0">
                <a:solidFill>
                  <a:srgbClr val="FF0000"/>
                </a:solidFill>
              </a:rPr>
              <a:t>Performance:</a:t>
            </a:r>
            <a:endParaRPr lang="en-US" altLang="en-US" sz="2800" dirty="0">
              <a:solidFill>
                <a:srgbClr val="FF0000"/>
              </a:solidFill>
              <a:cs typeface="Helvetica"/>
            </a:endParaRPr>
          </a:p>
          <a:p>
            <a:pPr lvl="1">
              <a:lnSpc>
                <a:spcPct val="90000"/>
              </a:lnSpc>
            </a:pPr>
            <a:r>
              <a:rPr lang="en-US" altLang="en-US" sz="2800" i="1" dirty="0"/>
              <a:t>n processes in ready queue implies</a:t>
            </a:r>
            <a:r>
              <a:rPr lang="en-US" altLang="en-US" sz="2800" dirty="0">
                <a:sym typeface="Symbol" panose="05050102010706020507" pitchFamily="18" charset="2"/>
              </a:rPr>
              <a:t> waiting time is no more than (n-1)q time units</a:t>
            </a:r>
            <a:endParaRPr lang="en-US" altLang="en-US" sz="2800" i="1" dirty="0"/>
          </a:p>
          <a:p>
            <a:pPr lvl="1">
              <a:lnSpc>
                <a:spcPct val="90000"/>
              </a:lnSpc>
            </a:pPr>
            <a:r>
              <a:rPr lang="en-US" altLang="en-US" sz="2800" b="1" dirty="0">
                <a:solidFill>
                  <a:schemeClr val="tx1">
                    <a:lumMod val="95000"/>
                    <a:lumOff val="5000"/>
                  </a:schemeClr>
                </a:solidFill>
              </a:rPr>
              <a:t>Large q</a:t>
            </a:r>
            <a:r>
              <a:rPr lang="en-US" altLang="en-US" sz="2800" b="1" dirty="0">
                <a:solidFill>
                  <a:schemeClr val="tx1">
                    <a:lumMod val="95000"/>
                    <a:lumOff val="5000"/>
                  </a:schemeClr>
                </a:solidFill>
                <a:sym typeface="Symbol" panose="05050102010706020507" pitchFamily="18" charset="2"/>
              </a:rPr>
              <a:t>:</a:t>
            </a:r>
            <a:r>
              <a:rPr lang="en-US" altLang="en-US" sz="2800" dirty="0">
                <a:solidFill>
                  <a:schemeClr val="tx1">
                    <a:lumMod val="95000"/>
                    <a:lumOff val="5000"/>
                  </a:schemeClr>
                </a:solidFill>
                <a:sym typeface="Symbol" panose="05050102010706020507" pitchFamily="18" charset="2"/>
              </a:rPr>
              <a:t> Degenerates to FCFS</a:t>
            </a:r>
            <a:endParaRPr lang="en-US" altLang="en-US" sz="2800" b="1">
              <a:solidFill>
                <a:schemeClr val="tx1">
                  <a:lumMod val="95000"/>
                  <a:lumOff val="5000"/>
                </a:schemeClr>
              </a:solidFill>
              <a:cs typeface="Helvetica"/>
            </a:endParaRPr>
          </a:p>
          <a:p>
            <a:pPr lvl="1">
              <a:lnSpc>
                <a:spcPct val="90000"/>
              </a:lnSpc>
            </a:pPr>
            <a:r>
              <a:rPr lang="en-US" altLang="en-US" sz="2800" b="1" dirty="0">
                <a:solidFill>
                  <a:schemeClr val="tx1">
                    <a:lumMod val="95000"/>
                    <a:lumOff val="5000"/>
                  </a:schemeClr>
                </a:solidFill>
                <a:sym typeface="Symbol" panose="05050102010706020507" pitchFamily="18" charset="2"/>
              </a:rPr>
              <a:t>Small q:</a:t>
            </a:r>
            <a:r>
              <a:rPr lang="en-US" altLang="en-US" sz="2800" dirty="0">
                <a:solidFill>
                  <a:schemeClr val="tx1">
                    <a:lumMod val="95000"/>
                    <a:lumOff val="5000"/>
                  </a:schemeClr>
                </a:solidFill>
                <a:sym typeface="Symbol" panose="05050102010706020507" pitchFamily="18" charset="2"/>
              </a:rPr>
              <a:t> </a:t>
            </a:r>
            <a:r>
              <a:rPr lang="en-US" altLang="en-US" sz="2800" i="1" dirty="0">
                <a:solidFill>
                  <a:schemeClr val="tx1">
                    <a:lumMod val="95000"/>
                    <a:lumOff val="5000"/>
                  </a:schemeClr>
                </a:solidFill>
                <a:sym typeface="Symbol" panose="05050102010706020507" pitchFamily="18" charset="2"/>
              </a:rPr>
              <a:t>Many context switches; high overhead</a:t>
            </a:r>
            <a:endParaRPr lang="en-US" altLang="en-US" sz="2800" dirty="0">
              <a:solidFill>
                <a:schemeClr val="tx1">
                  <a:lumMod val="95000"/>
                  <a:lumOff val="5000"/>
                </a:schemeClr>
              </a:solidFill>
              <a:cs typeface="Helvetic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1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412">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412">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412">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412">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4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2"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Footer Placeholder 3">
            <a:extLst>
              <a:ext uri="{FF2B5EF4-FFF2-40B4-BE49-F238E27FC236}">
                <a16:creationId xmlns:a16="http://schemas.microsoft.com/office/drawing/2014/main" id="{23C91058-35FB-4D36-BF88-9471B911EE8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50178" name="Rectangle 2">
            <a:extLst>
              <a:ext uri="{FF2B5EF4-FFF2-40B4-BE49-F238E27FC236}">
                <a16:creationId xmlns:a16="http://schemas.microsoft.com/office/drawing/2014/main" id="{C90D970F-71FF-4EA4-8EF4-43ABAABF0FCF}"/>
              </a:ext>
            </a:extLst>
          </p:cNvPr>
          <p:cNvSpPr>
            <a:spLocks noGrp="1" noChangeArrowheads="1"/>
          </p:cNvSpPr>
          <p:nvPr>
            <p:ph type="title"/>
          </p:nvPr>
        </p:nvSpPr>
        <p:spPr>
          <a:xfrm>
            <a:off x="974725" y="495300"/>
            <a:ext cx="7204075" cy="457200"/>
          </a:xfrm>
        </p:spPr>
        <p:txBody>
          <a:bodyPr/>
          <a:lstStyle/>
          <a:p>
            <a:r>
              <a:rPr lang="en-US" altLang="en-US"/>
              <a:t>Example:  RR with Time Quantum = 20</a:t>
            </a:r>
          </a:p>
        </p:txBody>
      </p:sp>
      <p:sp>
        <p:nvSpPr>
          <p:cNvPr id="18436" name="Rectangle 3">
            <a:extLst>
              <a:ext uri="{FF2B5EF4-FFF2-40B4-BE49-F238E27FC236}">
                <a16:creationId xmlns:a16="http://schemas.microsoft.com/office/drawing/2014/main" id="{F5E2B910-B8B0-4F82-BD4C-8FC7B923912C}"/>
              </a:ext>
            </a:extLst>
          </p:cNvPr>
          <p:cNvSpPr>
            <a:spLocks noGrp="1" noChangeArrowheads="1"/>
          </p:cNvSpPr>
          <p:nvPr>
            <p:ph type="body" idx="1"/>
          </p:nvPr>
        </p:nvSpPr>
        <p:spPr>
          <a:xfrm>
            <a:off x="1066800" y="1073150"/>
            <a:ext cx="7029450" cy="4114800"/>
          </a:xfrm>
        </p:spPr>
        <p:txBody>
          <a:bodyPr/>
          <a:lstStyle/>
          <a:p>
            <a:pPr>
              <a:buFontTx/>
              <a:buNone/>
              <a:tabLst>
                <a:tab pos="2222500" algn="ctr"/>
                <a:tab pos="3997325" algn="ctr"/>
              </a:tabLst>
            </a:pPr>
            <a:r>
              <a:rPr lang="en-US" altLang="en-US" sz="2000" dirty="0"/>
              <a:t>		</a:t>
            </a:r>
            <a:r>
              <a:rPr lang="en-US" altLang="en-US" sz="2000" u="sng"/>
              <a:t>Process</a:t>
            </a:r>
            <a:r>
              <a:rPr lang="en-US" altLang="en-US" sz="2000" dirty="0"/>
              <a:t>	</a:t>
            </a:r>
            <a:r>
              <a:rPr lang="en-US" altLang="en-US" sz="2000" u="sng"/>
              <a:t>Burst Time</a:t>
            </a:r>
          </a:p>
          <a:p>
            <a:pPr>
              <a:buFontTx/>
              <a:buNone/>
              <a:tabLst>
                <a:tab pos="2222500" algn="ctr"/>
                <a:tab pos="3997325" algn="ctr"/>
              </a:tabLst>
            </a:pPr>
            <a:r>
              <a:rPr lang="en-US" altLang="en-US" sz="2000" i="1"/>
              <a:t>		P</a:t>
            </a:r>
            <a:r>
              <a:rPr lang="en-US" altLang="en-US" sz="2000" i="1" baseline="-25000"/>
              <a:t>1	</a:t>
            </a:r>
            <a:r>
              <a:rPr lang="en-US" altLang="en-US" sz="2000"/>
              <a:t>53</a:t>
            </a:r>
          </a:p>
          <a:p>
            <a:pPr>
              <a:buFontTx/>
              <a:buNone/>
              <a:tabLst>
                <a:tab pos="2222500" algn="ctr"/>
                <a:tab pos="3997325" algn="ctr"/>
              </a:tabLst>
            </a:pPr>
            <a:r>
              <a:rPr lang="en-US" altLang="en-US" sz="2000" dirty="0"/>
              <a:t>		 </a:t>
            </a:r>
            <a:r>
              <a:rPr lang="en-US" altLang="en-US" sz="2000" i="1"/>
              <a:t>P</a:t>
            </a:r>
            <a:r>
              <a:rPr lang="en-US" altLang="en-US" sz="2000" i="1" baseline="-25000"/>
              <a:t>2	 </a:t>
            </a:r>
            <a:r>
              <a:rPr lang="en-US" altLang="en-US" sz="2000"/>
              <a:t>17</a:t>
            </a:r>
          </a:p>
          <a:p>
            <a:pPr>
              <a:buFontTx/>
              <a:buNone/>
              <a:tabLst>
                <a:tab pos="2222500" algn="ctr"/>
                <a:tab pos="3997325" algn="ctr"/>
              </a:tabLst>
            </a:pPr>
            <a:r>
              <a:rPr lang="en-US" altLang="en-US" sz="2000" dirty="0"/>
              <a:t>		 </a:t>
            </a:r>
            <a:r>
              <a:rPr lang="en-US" altLang="en-US" sz="2000" i="1"/>
              <a:t>P</a:t>
            </a:r>
            <a:r>
              <a:rPr lang="en-US" altLang="en-US" sz="2000" i="1" baseline="-25000"/>
              <a:t>3	</a:t>
            </a:r>
            <a:r>
              <a:rPr lang="en-US" altLang="en-US" sz="2000"/>
              <a:t>68</a:t>
            </a:r>
          </a:p>
          <a:p>
            <a:pPr>
              <a:buFontTx/>
              <a:buNone/>
              <a:tabLst>
                <a:tab pos="2222500" algn="ctr"/>
                <a:tab pos="3997325" algn="ctr"/>
              </a:tabLst>
            </a:pPr>
            <a:r>
              <a:rPr lang="en-US" altLang="en-US" sz="2000" dirty="0"/>
              <a:t>		 </a:t>
            </a:r>
            <a:r>
              <a:rPr lang="en-US" altLang="en-US" sz="2000" i="1"/>
              <a:t>P</a:t>
            </a:r>
            <a:r>
              <a:rPr lang="en-US" altLang="en-US" sz="2000" i="1" baseline="-25000"/>
              <a:t>4	 </a:t>
            </a:r>
            <a:r>
              <a:rPr lang="en-US" altLang="en-US" sz="2000"/>
              <a:t>24</a:t>
            </a:r>
          </a:p>
          <a:p>
            <a:pPr>
              <a:tabLst>
                <a:tab pos="2222500" algn="ctr"/>
                <a:tab pos="3997325" algn="ctr"/>
              </a:tabLst>
            </a:pPr>
            <a:r>
              <a:rPr lang="en-US" altLang="en-US" sz="2000"/>
              <a:t>All processes come at time 0 in the order of P1, P2, P3, P4</a:t>
            </a:r>
          </a:p>
          <a:p>
            <a:pPr lvl="4">
              <a:tabLst>
                <a:tab pos="2222500" algn="ctr"/>
                <a:tab pos="3997325" algn="ctr"/>
              </a:tabLst>
            </a:pPr>
            <a:endParaRPr lang="en-US" altLang="en-US" sz="1400"/>
          </a:p>
          <a:p>
            <a:pPr>
              <a:tabLst>
                <a:tab pos="2222500" algn="ctr"/>
                <a:tab pos="3997325" algn="ctr"/>
              </a:tabLst>
            </a:pPr>
            <a:r>
              <a:rPr lang="en-US" altLang="en-US" sz="2000" b="1">
                <a:solidFill>
                  <a:srgbClr val="FF0000"/>
                </a:solidFill>
              </a:rPr>
              <a:t>RR scheduling Gantt Chart: </a:t>
            </a:r>
            <a:br>
              <a:rPr lang="en-US" altLang="en-US" sz="2000" b="1" dirty="0"/>
            </a:br>
            <a:br>
              <a:rPr lang="en-US" altLang="en-US" dirty="0"/>
            </a:br>
            <a:br>
              <a:rPr lang="en-US" altLang="en-US" dirty="0"/>
            </a:br>
            <a:br>
              <a:rPr lang="en-US" altLang="en-US" dirty="0"/>
            </a:br>
            <a:r>
              <a:rPr lang="en-US" altLang="en-US" dirty="0"/>
              <a:t>			</a:t>
            </a:r>
            <a:endParaRPr lang="en-US" altLang="en-US" dirty="0">
              <a:cs typeface="Helvetica"/>
            </a:endParaRPr>
          </a:p>
          <a:p>
            <a:pPr>
              <a:tabLst>
                <a:tab pos="2222500" algn="ctr"/>
                <a:tab pos="3997325" algn="ctr"/>
              </a:tabLst>
            </a:pPr>
            <a:r>
              <a:rPr lang="en-US" altLang="en-US" sz="2000">
                <a:solidFill>
                  <a:srgbClr val="FF0000"/>
                </a:solidFill>
              </a:rPr>
              <a:t>Typically, higher average waiting/turnaround time than SJF, but better </a:t>
            </a:r>
            <a:r>
              <a:rPr lang="en-US" altLang="en-US" sz="2000" i="1">
                <a:solidFill>
                  <a:srgbClr val="FF0000"/>
                </a:solidFill>
              </a:rPr>
              <a:t>response time</a:t>
            </a:r>
            <a:endParaRPr lang="en-US" altLang="en-US" sz="2000">
              <a:solidFill>
                <a:srgbClr val="FF0000"/>
              </a:solidFill>
            </a:endParaRPr>
          </a:p>
        </p:txBody>
      </p:sp>
      <p:sp>
        <p:nvSpPr>
          <p:cNvPr id="23569" name="Rectangle 4">
            <a:extLst>
              <a:ext uri="{FF2B5EF4-FFF2-40B4-BE49-F238E27FC236}">
                <a16:creationId xmlns:a16="http://schemas.microsoft.com/office/drawing/2014/main" id="{7A82F241-00B7-4E91-B9C8-D0B9FFEC72E1}"/>
              </a:ext>
            </a:extLst>
          </p:cNvPr>
          <p:cNvSpPr>
            <a:spLocks noChangeArrowheads="1"/>
          </p:cNvSpPr>
          <p:nvPr/>
        </p:nvSpPr>
        <p:spPr bwMode="auto">
          <a:xfrm>
            <a:off x="1828800" y="4506913"/>
            <a:ext cx="563563" cy="609600"/>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P</a:t>
            </a:r>
            <a:r>
              <a:rPr lang="en-US" altLang="en-US" baseline="-25000"/>
              <a:t>1</a:t>
            </a:r>
            <a:endParaRPr lang="en-US" altLang="en-US"/>
          </a:p>
        </p:txBody>
      </p:sp>
      <p:sp>
        <p:nvSpPr>
          <p:cNvPr id="23570" name="Rectangle 5">
            <a:extLst>
              <a:ext uri="{FF2B5EF4-FFF2-40B4-BE49-F238E27FC236}">
                <a16:creationId xmlns:a16="http://schemas.microsoft.com/office/drawing/2014/main" id="{9916E653-16B3-46FE-A00D-043FD657BF86}"/>
              </a:ext>
            </a:extLst>
          </p:cNvPr>
          <p:cNvSpPr>
            <a:spLocks noChangeArrowheads="1"/>
          </p:cNvSpPr>
          <p:nvPr/>
        </p:nvSpPr>
        <p:spPr bwMode="auto">
          <a:xfrm>
            <a:off x="2392363" y="4506913"/>
            <a:ext cx="563562" cy="609600"/>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P</a:t>
            </a:r>
            <a:r>
              <a:rPr lang="en-US" altLang="en-US" baseline="-25000"/>
              <a:t>2</a:t>
            </a:r>
          </a:p>
        </p:txBody>
      </p:sp>
      <p:sp>
        <p:nvSpPr>
          <p:cNvPr id="23571" name="Rectangle 6">
            <a:extLst>
              <a:ext uri="{FF2B5EF4-FFF2-40B4-BE49-F238E27FC236}">
                <a16:creationId xmlns:a16="http://schemas.microsoft.com/office/drawing/2014/main" id="{C06E6EB4-DAD4-456D-AAE7-7192102DAE64}"/>
              </a:ext>
            </a:extLst>
          </p:cNvPr>
          <p:cNvSpPr>
            <a:spLocks noChangeArrowheads="1"/>
          </p:cNvSpPr>
          <p:nvPr/>
        </p:nvSpPr>
        <p:spPr bwMode="auto">
          <a:xfrm>
            <a:off x="2955925" y="4506913"/>
            <a:ext cx="565150" cy="609600"/>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P</a:t>
            </a:r>
            <a:r>
              <a:rPr lang="en-US" altLang="en-US" baseline="-25000"/>
              <a:t>3</a:t>
            </a:r>
          </a:p>
        </p:txBody>
      </p:sp>
      <p:sp>
        <p:nvSpPr>
          <p:cNvPr id="23572" name="Rectangle 7">
            <a:extLst>
              <a:ext uri="{FF2B5EF4-FFF2-40B4-BE49-F238E27FC236}">
                <a16:creationId xmlns:a16="http://schemas.microsoft.com/office/drawing/2014/main" id="{3CFC0740-D6E3-4DD3-9103-D1255045C507}"/>
              </a:ext>
            </a:extLst>
          </p:cNvPr>
          <p:cNvSpPr>
            <a:spLocks noChangeArrowheads="1"/>
          </p:cNvSpPr>
          <p:nvPr/>
        </p:nvSpPr>
        <p:spPr bwMode="auto">
          <a:xfrm>
            <a:off x="3521075" y="4506913"/>
            <a:ext cx="563563" cy="609600"/>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P</a:t>
            </a:r>
            <a:r>
              <a:rPr lang="en-US" altLang="en-US" baseline="-25000"/>
              <a:t>4</a:t>
            </a:r>
          </a:p>
        </p:txBody>
      </p:sp>
      <p:sp>
        <p:nvSpPr>
          <p:cNvPr id="23558" name="Text Box 15">
            <a:extLst>
              <a:ext uri="{FF2B5EF4-FFF2-40B4-BE49-F238E27FC236}">
                <a16:creationId xmlns:a16="http://schemas.microsoft.com/office/drawing/2014/main" id="{9FFB3E77-2CF1-4E9A-B7C4-BAB5A0BF02EB}"/>
              </a:ext>
            </a:extLst>
          </p:cNvPr>
          <p:cNvSpPr txBox="1">
            <a:spLocks noChangeArrowheads="1"/>
          </p:cNvSpPr>
          <p:nvPr/>
        </p:nvSpPr>
        <p:spPr bwMode="auto">
          <a:xfrm>
            <a:off x="1676400" y="51165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0</a:t>
            </a:r>
          </a:p>
        </p:txBody>
      </p:sp>
      <p:sp>
        <p:nvSpPr>
          <p:cNvPr id="23559" name="Text Box 16">
            <a:extLst>
              <a:ext uri="{FF2B5EF4-FFF2-40B4-BE49-F238E27FC236}">
                <a16:creationId xmlns:a16="http://schemas.microsoft.com/office/drawing/2014/main" id="{222A2398-5292-4808-8714-35EF5E43645F}"/>
              </a:ext>
            </a:extLst>
          </p:cNvPr>
          <p:cNvSpPr txBox="1">
            <a:spLocks noChangeArrowheads="1"/>
          </p:cNvSpPr>
          <p:nvPr/>
        </p:nvSpPr>
        <p:spPr bwMode="auto">
          <a:xfrm>
            <a:off x="2146300" y="5116513"/>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20</a:t>
            </a:r>
          </a:p>
        </p:txBody>
      </p:sp>
      <p:sp>
        <p:nvSpPr>
          <p:cNvPr id="23560" name="Text Box 17">
            <a:extLst>
              <a:ext uri="{FF2B5EF4-FFF2-40B4-BE49-F238E27FC236}">
                <a16:creationId xmlns:a16="http://schemas.microsoft.com/office/drawing/2014/main" id="{1C3D9C22-0D3D-4747-AD53-57B6FDF26E62}"/>
              </a:ext>
            </a:extLst>
          </p:cNvPr>
          <p:cNvSpPr txBox="1">
            <a:spLocks noChangeArrowheads="1"/>
          </p:cNvSpPr>
          <p:nvPr/>
        </p:nvSpPr>
        <p:spPr bwMode="auto">
          <a:xfrm>
            <a:off x="2679700" y="5116513"/>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37</a:t>
            </a:r>
          </a:p>
        </p:txBody>
      </p:sp>
      <p:sp>
        <p:nvSpPr>
          <p:cNvPr id="23561" name="Text Box 18">
            <a:extLst>
              <a:ext uri="{FF2B5EF4-FFF2-40B4-BE49-F238E27FC236}">
                <a16:creationId xmlns:a16="http://schemas.microsoft.com/office/drawing/2014/main" id="{D39F1ABA-2FA2-4CD2-AFE7-96CBB4DA8F3E}"/>
              </a:ext>
            </a:extLst>
          </p:cNvPr>
          <p:cNvSpPr txBox="1">
            <a:spLocks noChangeArrowheads="1"/>
          </p:cNvSpPr>
          <p:nvPr/>
        </p:nvSpPr>
        <p:spPr bwMode="auto">
          <a:xfrm>
            <a:off x="3282950" y="5116513"/>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57</a:t>
            </a:r>
          </a:p>
        </p:txBody>
      </p:sp>
      <p:sp>
        <p:nvSpPr>
          <p:cNvPr id="23562" name="Text Box 19">
            <a:extLst>
              <a:ext uri="{FF2B5EF4-FFF2-40B4-BE49-F238E27FC236}">
                <a16:creationId xmlns:a16="http://schemas.microsoft.com/office/drawing/2014/main" id="{5A8F7BAF-6605-46C2-B8CB-87C9D6C534AD}"/>
              </a:ext>
            </a:extLst>
          </p:cNvPr>
          <p:cNvSpPr txBox="1">
            <a:spLocks noChangeArrowheads="1"/>
          </p:cNvSpPr>
          <p:nvPr/>
        </p:nvSpPr>
        <p:spPr bwMode="auto">
          <a:xfrm>
            <a:off x="3898900" y="5116513"/>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77</a:t>
            </a:r>
          </a:p>
        </p:txBody>
      </p:sp>
      <p:grpSp>
        <p:nvGrpSpPr>
          <p:cNvPr id="2" name="Group 34">
            <a:extLst>
              <a:ext uri="{FF2B5EF4-FFF2-40B4-BE49-F238E27FC236}">
                <a16:creationId xmlns:a16="http://schemas.microsoft.com/office/drawing/2014/main" id="{A753E873-C26A-45ED-9546-BC1C5C5DB0F7}"/>
              </a:ext>
            </a:extLst>
          </p:cNvPr>
          <p:cNvGrpSpPr>
            <a:grpSpLocks/>
          </p:cNvGrpSpPr>
          <p:nvPr/>
        </p:nvGrpSpPr>
        <p:grpSpPr bwMode="auto">
          <a:xfrm>
            <a:off x="4084638" y="4506913"/>
            <a:ext cx="3643312" cy="976312"/>
            <a:chOff x="4084320" y="4191000"/>
            <a:chExt cx="3643630" cy="976313"/>
          </a:xfrm>
        </p:grpSpPr>
        <p:sp>
          <p:nvSpPr>
            <p:cNvPr id="50198" name="Rectangle 8">
              <a:extLst>
                <a:ext uri="{FF2B5EF4-FFF2-40B4-BE49-F238E27FC236}">
                  <a16:creationId xmlns:a16="http://schemas.microsoft.com/office/drawing/2014/main" id="{2712EA7C-ED2B-4F22-8AF9-81192164AD3D}"/>
                </a:ext>
              </a:extLst>
            </p:cNvPr>
            <p:cNvSpPr>
              <a:spLocks noChangeArrowheads="1"/>
            </p:cNvSpPr>
            <p:nvPr/>
          </p:nvSpPr>
          <p:spPr bwMode="auto">
            <a:xfrm>
              <a:off x="4084320" y="4191000"/>
              <a:ext cx="563880" cy="609600"/>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P</a:t>
              </a:r>
              <a:r>
                <a:rPr lang="en-US" altLang="en-US" baseline="-25000"/>
                <a:t>1</a:t>
              </a:r>
            </a:p>
          </p:txBody>
        </p:sp>
        <p:sp>
          <p:nvSpPr>
            <p:cNvPr id="50199" name="Rectangle 9">
              <a:extLst>
                <a:ext uri="{FF2B5EF4-FFF2-40B4-BE49-F238E27FC236}">
                  <a16:creationId xmlns:a16="http://schemas.microsoft.com/office/drawing/2014/main" id="{F7CCF0B8-5050-4385-82CC-672395ED0CE0}"/>
                </a:ext>
              </a:extLst>
            </p:cNvPr>
            <p:cNvSpPr>
              <a:spLocks noChangeArrowheads="1"/>
            </p:cNvSpPr>
            <p:nvPr/>
          </p:nvSpPr>
          <p:spPr bwMode="auto">
            <a:xfrm>
              <a:off x="4648200" y="4191000"/>
              <a:ext cx="563880" cy="609600"/>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P</a:t>
              </a:r>
              <a:r>
                <a:rPr lang="en-US" altLang="en-US" baseline="-25000"/>
                <a:t>3</a:t>
              </a:r>
            </a:p>
          </p:txBody>
        </p:sp>
        <p:sp>
          <p:nvSpPr>
            <p:cNvPr id="50200" name="Rectangle 10">
              <a:extLst>
                <a:ext uri="{FF2B5EF4-FFF2-40B4-BE49-F238E27FC236}">
                  <a16:creationId xmlns:a16="http://schemas.microsoft.com/office/drawing/2014/main" id="{3AF561CB-3CE8-4C80-96A2-2048C1BCA07F}"/>
                </a:ext>
              </a:extLst>
            </p:cNvPr>
            <p:cNvSpPr>
              <a:spLocks noChangeArrowheads="1"/>
            </p:cNvSpPr>
            <p:nvPr/>
          </p:nvSpPr>
          <p:spPr bwMode="auto">
            <a:xfrm>
              <a:off x="5212080" y="4191000"/>
              <a:ext cx="563880" cy="609600"/>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P</a:t>
              </a:r>
              <a:r>
                <a:rPr lang="en-US" altLang="en-US" baseline="-25000"/>
                <a:t>4</a:t>
              </a:r>
            </a:p>
          </p:txBody>
        </p:sp>
        <p:sp>
          <p:nvSpPr>
            <p:cNvPr id="50201" name="Rectangle 11">
              <a:extLst>
                <a:ext uri="{FF2B5EF4-FFF2-40B4-BE49-F238E27FC236}">
                  <a16:creationId xmlns:a16="http://schemas.microsoft.com/office/drawing/2014/main" id="{E6A3BD4B-F458-4549-885B-2E04C5B4DBA4}"/>
                </a:ext>
              </a:extLst>
            </p:cNvPr>
            <p:cNvSpPr>
              <a:spLocks noChangeArrowheads="1"/>
            </p:cNvSpPr>
            <p:nvPr/>
          </p:nvSpPr>
          <p:spPr bwMode="auto">
            <a:xfrm>
              <a:off x="5775960" y="4191000"/>
              <a:ext cx="563880" cy="609600"/>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P</a:t>
              </a:r>
              <a:r>
                <a:rPr lang="en-US" altLang="en-US" baseline="-25000"/>
                <a:t>1</a:t>
              </a:r>
            </a:p>
          </p:txBody>
        </p:sp>
        <p:sp>
          <p:nvSpPr>
            <p:cNvPr id="50202" name="Rectangle 12">
              <a:extLst>
                <a:ext uri="{FF2B5EF4-FFF2-40B4-BE49-F238E27FC236}">
                  <a16:creationId xmlns:a16="http://schemas.microsoft.com/office/drawing/2014/main" id="{F983A367-D10D-4035-B47D-83E4992A95D1}"/>
                </a:ext>
              </a:extLst>
            </p:cNvPr>
            <p:cNvSpPr>
              <a:spLocks noChangeArrowheads="1"/>
            </p:cNvSpPr>
            <p:nvPr/>
          </p:nvSpPr>
          <p:spPr bwMode="auto">
            <a:xfrm>
              <a:off x="6339840" y="4191000"/>
              <a:ext cx="563880" cy="609600"/>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P</a:t>
              </a:r>
              <a:r>
                <a:rPr lang="en-US" altLang="en-US" baseline="-25000"/>
                <a:t>3</a:t>
              </a:r>
            </a:p>
          </p:txBody>
        </p:sp>
        <p:sp>
          <p:nvSpPr>
            <p:cNvPr id="50203" name="Rectangle 13">
              <a:extLst>
                <a:ext uri="{FF2B5EF4-FFF2-40B4-BE49-F238E27FC236}">
                  <a16:creationId xmlns:a16="http://schemas.microsoft.com/office/drawing/2014/main" id="{7A39DFC1-EB3F-4285-B734-48E2AA68FA54}"/>
                </a:ext>
              </a:extLst>
            </p:cNvPr>
            <p:cNvSpPr>
              <a:spLocks noChangeArrowheads="1"/>
            </p:cNvSpPr>
            <p:nvPr/>
          </p:nvSpPr>
          <p:spPr bwMode="auto">
            <a:xfrm>
              <a:off x="6903720" y="4191000"/>
              <a:ext cx="563880" cy="609600"/>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P</a:t>
              </a:r>
              <a:r>
                <a:rPr lang="en-US" altLang="en-US" baseline="-25000"/>
                <a:t>3</a:t>
              </a:r>
            </a:p>
          </p:txBody>
        </p:sp>
        <p:sp>
          <p:nvSpPr>
            <p:cNvPr id="50204" name="Text Box 20">
              <a:extLst>
                <a:ext uri="{FF2B5EF4-FFF2-40B4-BE49-F238E27FC236}">
                  <a16:creationId xmlns:a16="http://schemas.microsoft.com/office/drawing/2014/main" id="{547C7561-8128-4463-83B6-023A8D98B329}"/>
                </a:ext>
              </a:extLst>
            </p:cNvPr>
            <p:cNvSpPr txBox="1">
              <a:spLocks noChangeArrowheads="1"/>
            </p:cNvSpPr>
            <p:nvPr/>
          </p:nvSpPr>
          <p:spPr bwMode="auto">
            <a:xfrm>
              <a:off x="4432300" y="4800600"/>
              <a:ext cx="43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97</a:t>
              </a:r>
            </a:p>
          </p:txBody>
        </p:sp>
        <p:sp>
          <p:nvSpPr>
            <p:cNvPr id="50205" name="Text Box 21">
              <a:extLst>
                <a:ext uri="{FF2B5EF4-FFF2-40B4-BE49-F238E27FC236}">
                  <a16:creationId xmlns:a16="http://schemas.microsoft.com/office/drawing/2014/main" id="{1E643715-113C-46C8-BF20-8B7EA811B408}"/>
                </a:ext>
              </a:extLst>
            </p:cNvPr>
            <p:cNvSpPr txBox="1">
              <a:spLocks noChangeArrowheads="1"/>
            </p:cNvSpPr>
            <p:nvPr/>
          </p:nvSpPr>
          <p:spPr bwMode="auto">
            <a:xfrm>
              <a:off x="4902200" y="4800600"/>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117</a:t>
              </a:r>
            </a:p>
          </p:txBody>
        </p:sp>
        <p:sp>
          <p:nvSpPr>
            <p:cNvPr id="50206" name="Text Box 22">
              <a:extLst>
                <a:ext uri="{FF2B5EF4-FFF2-40B4-BE49-F238E27FC236}">
                  <a16:creationId xmlns:a16="http://schemas.microsoft.com/office/drawing/2014/main" id="{11AB5A4D-D189-453D-9B8E-F0828B4A4079}"/>
                </a:ext>
              </a:extLst>
            </p:cNvPr>
            <p:cNvSpPr txBox="1">
              <a:spLocks noChangeArrowheads="1"/>
            </p:cNvSpPr>
            <p:nvPr/>
          </p:nvSpPr>
          <p:spPr bwMode="auto">
            <a:xfrm>
              <a:off x="5511800" y="4800600"/>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121</a:t>
              </a:r>
            </a:p>
          </p:txBody>
        </p:sp>
        <p:sp>
          <p:nvSpPr>
            <p:cNvPr id="50207" name="Text Box 24">
              <a:extLst>
                <a:ext uri="{FF2B5EF4-FFF2-40B4-BE49-F238E27FC236}">
                  <a16:creationId xmlns:a16="http://schemas.microsoft.com/office/drawing/2014/main" id="{798AD26E-F081-4F29-A758-ACEAC8432EBF}"/>
                </a:ext>
              </a:extLst>
            </p:cNvPr>
            <p:cNvSpPr txBox="1">
              <a:spLocks noChangeArrowheads="1"/>
            </p:cNvSpPr>
            <p:nvPr/>
          </p:nvSpPr>
          <p:spPr bwMode="auto">
            <a:xfrm>
              <a:off x="6045200" y="4800600"/>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134</a:t>
              </a:r>
            </a:p>
          </p:txBody>
        </p:sp>
        <p:sp>
          <p:nvSpPr>
            <p:cNvPr id="50208" name="Text Box 25">
              <a:extLst>
                <a:ext uri="{FF2B5EF4-FFF2-40B4-BE49-F238E27FC236}">
                  <a16:creationId xmlns:a16="http://schemas.microsoft.com/office/drawing/2014/main" id="{404D24B9-8172-4C37-8CD0-A83BD545CE9E}"/>
                </a:ext>
              </a:extLst>
            </p:cNvPr>
            <p:cNvSpPr txBox="1">
              <a:spLocks noChangeArrowheads="1"/>
            </p:cNvSpPr>
            <p:nvPr/>
          </p:nvSpPr>
          <p:spPr bwMode="auto">
            <a:xfrm>
              <a:off x="6629400" y="4800600"/>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154</a:t>
              </a:r>
            </a:p>
          </p:txBody>
        </p:sp>
        <p:sp>
          <p:nvSpPr>
            <p:cNvPr id="50209" name="Text Box 26">
              <a:extLst>
                <a:ext uri="{FF2B5EF4-FFF2-40B4-BE49-F238E27FC236}">
                  <a16:creationId xmlns:a16="http://schemas.microsoft.com/office/drawing/2014/main" id="{BC94F283-FC60-4F9D-8437-AE258A4F6049}"/>
                </a:ext>
              </a:extLst>
            </p:cNvPr>
            <p:cNvSpPr txBox="1">
              <a:spLocks noChangeArrowheads="1"/>
            </p:cNvSpPr>
            <p:nvPr/>
          </p:nvSpPr>
          <p:spPr bwMode="auto">
            <a:xfrm>
              <a:off x="7162800" y="4800600"/>
              <a:ext cx="565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162</a:t>
              </a:r>
            </a:p>
          </p:txBody>
        </p:sp>
      </p:grpSp>
      <p:sp>
        <p:nvSpPr>
          <p:cNvPr id="27" name="Rectangle 26">
            <a:extLst>
              <a:ext uri="{FF2B5EF4-FFF2-40B4-BE49-F238E27FC236}">
                <a16:creationId xmlns:a16="http://schemas.microsoft.com/office/drawing/2014/main" id="{14C72A2A-0C03-4100-AD25-15F00E5BD5F1}"/>
              </a:ext>
            </a:extLst>
          </p:cNvPr>
          <p:cNvSpPr>
            <a:spLocks noChangeArrowheads="1"/>
          </p:cNvSpPr>
          <p:nvPr/>
        </p:nvSpPr>
        <p:spPr bwMode="auto">
          <a:xfrm>
            <a:off x="5624513" y="1957388"/>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0</a:t>
            </a:r>
          </a:p>
        </p:txBody>
      </p:sp>
      <p:cxnSp>
        <p:nvCxnSpPr>
          <p:cNvPr id="28" name="Straight Arrow Connector 27">
            <a:extLst>
              <a:ext uri="{FF2B5EF4-FFF2-40B4-BE49-F238E27FC236}">
                <a16:creationId xmlns:a16="http://schemas.microsoft.com/office/drawing/2014/main" id="{8CA2D1CA-7C87-4A72-A715-360B7B22B21A}"/>
              </a:ext>
            </a:extLst>
          </p:cNvPr>
          <p:cNvCxnSpPr>
            <a:cxnSpLocks noChangeShapeType="1"/>
            <a:endCxn id="27" idx="1"/>
          </p:cNvCxnSpPr>
          <p:nvPr/>
        </p:nvCxnSpPr>
        <p:spPr bwMode="auto">
          <a:xfrm>
            <a:off x="5357813" y="2141538"/>
            <a:ext cx="266700" cy="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29" name="Rectangle 28">
            <a:extLst>
              <a:ext uri="{FF2B5EF4-FFF2-40B4-BE49-F238E27FC236}">
                <a16:creationId xmlns:a16="http://schemas.microsoft.com/office/drawing/2014/main" id="{E644EF78-74AD-465E-8B00-4EB39FEA9100}"/>
              </a:ext>
            </a:extLst>
          </p:cNvPr>
          <p:cNvSpPr>
            <a:spLocks noChangeArrowheads="1"/>
          </p:cNvSpPr>
          <p:nvPr/>
        </p:nvSpPr>
        <p:spPr bwMode="auto">
          <a:xfrm>
            <a:off x="5573713" y="1543050"/>
            <a:ext cx="441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33</a:t>
            </a:r>
          </a:p>
        </p:txBody>
      </p:sp>
      <p:cxnSp>
        <p:nvCxnSpPr>
          <p:cNvPr id="30" name="Straight Arrow Connector 29">
            <a:extLst>
              <a:ext uri="{FF2B5EF4-FFF2-40B4-BE49-F238E27FC236}">
                <a16:creationId xmlns:a16="http://schemas.microsoft.com/office/drawing/2014/main" id="{8FE41273-B1FC-43DA-A71E-FFEF1FD29BAC}"/>
              </a:ext>
            </a:extLst>
          </p:cNvPr>
          <p:cNvCxnSpPr>
            <a:cxnSpLocks noChangeShapeType="1"/>
            <a:endCxn id="29" idx="1"/>
          </p:cNvCxnSpPr>
          <p:nvPr/>
        </p:nvCxnSpPr>
        <p:spPr bwMode="auto">
          <a:xfrm>
            <a:off x="5370513" y="1727200"/>
            <a:ext cx="203200" cy="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31" name="Rectangle 30">
            <a:extLst>
              <a:ext uri="{FF2B5EF4-FFF2-40B4-BE49-F238E27FC236}">
                <a16:creationId xmlns:a16="http://schemas.microsoft.com/office/drawing/2014/main" id="{F453E527-954F-4688-9551-AFC5E66B4640}"/>
              </a:ext>
            </a:extLst>
          </p:cNvPr>
          <p:cNvSpPr>
            <a:spLocks noChangeArrowheads="1"/>
          </p:cNvSpPr>
          <p:nvPr/>
        </p:nvSpPr>
        <p:spPr bwMode="auto">
          <a:xfrm>
            <a:off x="5610225" y="2447925"/>
            <a:ext cx="441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48</a:t>
            </a:r>
          </a:p>
        </p:txBody>
      </p:sp>
      <p:cxnSp>
        <p:nvCxnSpPr>
          <p:cNvPr id="32" name="Straight Arrow Connector 31">
            <a:extLst>
              <a:ext uri="{FF2B5EF4-FFF2-40B4-BE49-F238E27FC236}">
                <a16:creationId xmlns:a16="http://schemas.microsoft.com/office/drawing/2014/main" id="{37FC1159-3FBB-4F16-9A0E-80479562F90B}"/>
              </a:ext>
            </a:extLst>
          </p:cNvPr>
          <p:cNvCxnSpPr>
            <a:cxnSpLocks noChangeShapeType="1"/>
            <a:endCxn id="31" idx="1"/>
          </p:cNvCxnSpPr>
          <p:nvPr/>
        </p:nvCxnSpPr>
        <p:spPr bwMode="auto">
          <a:xfrm flipV="1">
            <a:off x="5357813" y="2632075"/>
            <a:ext cx="252412" cy="7938"/>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33" name="Rectangle 32">
            <a:extLst>
              <a:ext uri="{FF2B5EF4-FFF2-40B4-BE49-F238E27FC236}">
                <a16:creationId xmlns:a16="http://schemas.microsoft.com/office/drawing/2014/main" id="{964E0015-7510-4A2F-8DF7-0196476731C4}"/>
              </a:ext>
            </a:extLst>
          </p:cNvPr>
          <p:cNvSpPr>
            <a:spLocks noChangeArrowheads="1"/>
          </p:cNvSpPr>
          <p:nvPr/>
        </p:nvSpPr>
        <p:spPr bwMode="auto">
          <a:xfrm>
            <a:off x="5662613" y="2922588"/>
            <a:ext cx="3127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4</a:t>
            </a:r>
          </a:p>
        </p:txBody>
      </p:sp>
      <p:cxnSp>
        <p:nvCxnSpPr>
          <p:cNvPr id="34" name="Straight Arrow Connector 33">
            <a:extLst>
              <a:ext uri="{FF2B5EF4-FFF2-40B4-BE49-F238E27FC236}">
                <a16:creationId xmlns:a16="http://schemas.microsoft.com/office/drawing/2014/main" id="{F99512E7-0F1C-49E7-8050-B969FC21A7EB}"/>
              </a:ext>
            </a:extLst>
          </p:cNvPr>
          <p:cNvCxnSpPr>
            <a:cxnSpLocks noChangeShapeType="1"/>
            <a:endCxn id="33" idx="1"/>
          </p:cNvCxnSpPr>
          <p:nvPr/>
        </p:nvCxnSpPr>
        <p:spPr bwMode="auto">
          <a:xfrm>
            <a:off x="5395913" y="3106738"/>
            <a:ext cx="266700" cy="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3569"/>
                                        </p:tgtEl>
                                        <p:attrNameLst>
                                          <p:attrName>style.visibility</p:attrName>
                                        </p:attrNameLst>
                                      </p:cBhvr>
                                      <p:to>
                                        <p:strVal val="visible"/>
                                      </p:to>
                                    </p:set>
                                    <p:animEffect transition="in" filter="box(in)">
                                      <p:cBhvr>
                                        <p:cTn id="7" dur="500"/>
                                        <p:tgtEl>
                                          <p:spTgt spid="23569"/>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23558"/>
                                        </p:tgtEl>
                                        <p:attrNameLst>
                                          <p:attrName>style.visibility</p:attrName>
                                        </p:attrNameLst>
                                      </p:cBhvr>
                                      <p:to>
                                        <p:strVal val="visible"/>
                                      </p:to>
                                    </p:set>
                                    <p:animEffect transition="in" filter="box(in)">
                                      <p:cBhvr>
                                        <p:cTn id="10" dur="500"/>
                                        <p:tgtEl>
                                          <p:spTgt spid="2355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23559"/>
                                        </p:tgtEl>
                                        <p:attrNameLst>
                                          <p:attrName>style.visibility</p:attrName>
                                        </p:attrNameLst>
                                      </p:cBhvr>
                                      <p:to>
                                        <p:strVal val="visible"/>
                                      </p:to>
                                    </p:set>
                                    <p:animEffect transition="in" filter="box(in)">
                                      <p:cBhvr>
                                        <p:cTn id="15" dur="500"/>
                                        <p:tgtEl>
                                          <p:spTgt spid="2355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30"/>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23570"/>
                                        </p:tgtEl>
                                        <p:attrNameLst>
                                          <p:attrName>style.visibility</p:attrName>
                                        </p:attrNameLst>
                                      </p:cBhvr>
                                      <p:to>
                                        <p:strVal val="visible"/>
                                      </p:to>
                                    </p:set>
                                    <p:animEffect transition="in" filter="box(in)">
                                      <p:cBhvr>
                                        <p:cTn id="26" dur="500"/>
                                        <p:tgtEl>
                                          <p:spTgt spid="2357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23560"/>
                                        </p:tgtEl>
                                        <p:attrNameLst>
                                          <p:attrName>style.visibility</p:attrName>
                                        </p:attrNameLst>
                                      </p:cBhvr>
                                      <p:to>
                                        <p:strVal val="visible"/>
                                      </p:to>
                                    </p:set>
                                    <p:animEffect transition="in" filter="box(in)">
                                      <p:cBhvr>
                                        <p:cTn id="31" dur="500"/>
                                        <p:tgtEl>
                                          <p:spTgt spid="2356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7"/>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28"/>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23571"/>
                                        </p:tgtEl>
                                        <p:attrNameLst>
                                          <p:attrName>style.visibility</p:attrName>
                                        </p:attrNameLst>
                                      </p:cBhvr>
                                      <p:to>
                                        <p:strVal val="visible"/>
                                      </p:to>
                                    </p:set>
                                    <p:animEffect transition="in" filter="box(in)">
                                      <p:cBhvr>
                                        <p:cTn id="42" dur="500"/>
                                        <p:tgtEl>
                                          <p:spTgt spid="2357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23561"/>
                                        </p:tgtEl>
                                        <p:attrNameLst>
                                          <p:attrName>style.visibility</p:attrName>
                                        </p:attrNameLst>
                                      </p:cBhvr>
                                      <p:to>
                                        <p:strVal val="visible"/>
                                      </p:to>
                                    </p:set>
                                    <p:animEffect transition="in" filter="box(in)">
                                      <p:cBhvr>
                                        <p:cTn id="47" dur="500"/>
                                        <p:tgtEl>
                                          <p:spTgt spid="2356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1"/>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32"/>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4" presetClass="entr" presetSubtype="16" fill="hold" grpId="0" nodeType="clickEffect">
                                  <p:stCondLst>
                                    <p:cond delay="0"/>
                                  </p:stCondLst>
                                  <p:childTnLst>
                                    <p:set>
                                      <p:cBhvr>
                                        <p:cTn id="57" dur="1" fill="hold">
                                          <p:stCondLst>
                                            <p:cond delay="0"/>
                                          </p:stCondLst>
                                        </p:cTn>
                                        <p:tgtEl>
                                          <p:spTgt spid="23572"/>
                                        </p:tgtEl>
                                        <p:attrNameLst>
                                          <p:attrName>style.visibility</p:attrName>
                                        </p:attrNameLst>
                                      </p:cBhvr>
                                      <p:to>
                                        <p:strVal val="visible"/>
                                      </p:to>
                                    </p:set>
                                    <p:animEffect transition="in" filter="box(in)">
                                      <p:cBhvr>
                                        <p:cTn id="58" dur="500"/>
                                        <p:tgtEl>
                                          <p:spTgt spid="2357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4" presetClass="entr" presetSubtype="16" fill="hold" grpId="0" nodeType="clickEffect">
                                  <p:stCondLst>
                                    <p:cond delay="0"/>
                                  </p:stCondLst>
                                  <p:childTnLst>
                                    <p:set>
                                      <p:cBhvr>
                                        <p:cTn id="62" dur="1" fill="hold">
                                          <p:stCondLst>
                                            <p:cond delay="0"/>
                                          </p:stCondLst>
                                        </p:cTn>
                                        <p:tgtEl>
                                          <p:spTgt spid="23562"/>
                                        </p:tgtEl>
                                        <p:attrNameLst>
                                          <p:attrName>style.visibility</p:attrName>
                                        </p:attrNameLst>
                                      </p:cBhvr>
                                      <p:to>
                                        <p:strVal val="visible"/>
                                      </p:to>
                                    </p:set>
                                    <p:animEffect transition="in" filter="box(in)">
                                      <p:cBhvr>
                                        <p:cTn id="63" dur="500"/>
                                        <p:tgtEl>
                                          <p:spTgt spid="23562"/>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33"/>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34"/>
                                        </p:tgtEl>
                                        <p:attrNameLst>
                                          <p:attrName>style.visibility</p:attrName>
                                        </p:attrNameLst>
                                      </p:cBhvr>
                                      <p:to>
                                        <p:strVal val="visible"/>
                                      </p:to>
                                    </p:set>
                                  </p:childTnLst>
                                </p:cTn>
                              </p:par>
                            </p:childTnLst>
                          </p:cTn>
                        </p:par>
                      </p:childTnLst>
                    </p:cTn>
                  </p:par>
                  <p:par>
                    <p:cTn id="70" fill="hold" nodeType="clickPar">
                      <p:stCondLst>
                        <p:cond delay="indefinite"/>
                      </p:stCondLst>
                      <p:childTnLst>
                        <p:par>
                          <p:cTn id="71" fill="hold" nodeType="withGroup">
                            <p:stCondLst>
                              <p:cond delay="0"/>
                            </p:stCondLst>
                            <p:childTnLst>
                              <p:par>
                                <p:cTn id="72" presetID="4" presetClass="entr" presetSubtype="16" fill="hold" nodeType="clickEffect">
                                  <p:stCondLst>
                                    <p:cond delay="0"/>
                                  </p:stCondLst>
                                  <p:childTnLst>
                                    <p:set>
                                      <p:cBhvr>
                                        <p:cTn id="73" dur="1" fill="hold">
                                          <p:stCondLst>
                                            <p:cond delay="0"/>
                                          </p:stCondLst>
                                        </p:cTn>
                                        <p:tgtEl>
                                          <p:spTgt spid="2"/>
                                        </p:tgtEl>
                                        <p:attrNameLst>
                                          <p:attrName>style.visibility</p:attrName>
                                        </p:attrNameLst>
                                      </p:cBhvr>
                                      <p:to>
                                        <p:strVal val="visible"/>
                                      </p:to>
                                    </p:set>
                                    <p:animEffect transition="in" filter="box(in)">
                                      <p:cBhvr>
                                        <p:cTn id="74" dur="500"/>
                                        <p:tgtEl>
                                          <p:spTgt spid="2"/>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nodeType="clickEffect">
                                  <p:stCondLst>
                                    <p:cond delay="0"/>
                                  </p:stCondLst>
                                  <p:childTnLst>
                                    <p:set>
                                      <p:cBhvr>
                                        <p:cTn id="78" dur="1" fill="hold">
                                          <p:stCondLst>
                                            <p:cond delay="0"/>
                                          </p:stCondLst>
                                        </p:cTn>
                                        <p:tgtEl>
                                          <p:spTgt spid="1843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9" grpId="0" animBg="1"/>
      <p:bldP spid="23570" grpId="0" animBg="1"/>
      <p:bldP spid="23571" grpId="0" animBg="1"/>
      <p:bldP spid="23572" grpId="0" animBg="1"/>
      <p:bldP spid="23558" grpId="0"/>
      <p:bldP spid="23559" grpId="0"/>
      <p:bldP spid="23560" grpId="0"/>
      <p:bldP spid="23561" grpId="0"/>
      <p:bldP spid="23562" grpId="0"/>
      <p:bldP spid="27" grpId="0"/>
      <p:bldP spid="29" grpId="0"/>
      <p:bldP spid="31" grpId="0"/>
      <p:bldP spid="3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6C662-A6C4-1943-CC3C-94D961356C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26C250-A448-247C-FA79-5AED5DFF6A30}"/>
              </a:ext>
            </a:extLst>
          </p:cNvPr>
          <p:cNvSpPr>
            <a:spLocks noGrp="1"/>
          </p:cNvSpPr>
          <p:nvPr>
            <p:ph type="title"/>
          </p:nvPr>
        </p:nvSpPr>
        <p:spPr/>
        <p:txBody>
          <a:bodyPr/>
          <a:lstStyle/>
          <a:p>
            <a:r>
              <a:rPr lang="en-US" dirty="0"/>
              <a:t>ExtraQ3 </a:t>
            </a:r>
            <a:r>
              <a:rPr lang="en-US" dirty="0" err="1"/>
              <a:t>Wooclap</a:t>
            </a:r>
            <a:r>
              <a:rPr lang="en-US" dirty="0"/>
              <a:t> Exercise</a:t>
            </a:r>
          </a:p>
        </p:txBody>
      </p:sp>
      <p:sp>
        <p:nvSpPr>
          <p:cNvPr id="4" name="Footer Placeholder 3">
            <a:extLst>
              <a:ext uri="{FF2B5EF4-FFF2-40B4-BE49-F238E27FC236}">
                <a16:creationId xmlns:a16="http://schemas.microsoft.com/office/drawing/2014/main" id="{573C38AC-FEAA-C8EE-1438-8341F1AC4E27}"/>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10" name="Content Placeholder 9">
                <a:extLst>
                  <a:ext uri="{FF2B5EF4-FFF2-40B4-BE49-F238E27FC236}">
                    <a16:creationId xmlns:a16="http://schemas.microsoft.com/office/drawing/2014/main" id="{2EEA00F4-AF65-E202-30FE-A8B4A6761132}"/>
                  </a:ext>
                </a:extLst>
              </p:cNvPr>
              <p:cNvGraphicFramePr>
                <a:graphicFrameLocks noGrp="1"/>
              </p:cNvGraphicFramePr>
              <p:nvPr>
                <p:ph idx="1"/>
              </p:nvPr>
            </p:nvGraphicFramePr>
            <p:xfrm>
              <a:off x="1047750" y="1724025"/>
              <a:ext cx="7029450" cy="41148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10" name="Content Placeholder 9">
                <a:extLst>
                  <a:ext uri="{FF2B5EF4-FFF2-40B4-BE49-F238E27FC236}">
                    <a16:creationId xmlns:a16="http://schemas.microsoft.com/office/drawing/2014/main" id="{2EEA00F4-AF65-E202-30FE-A8B4A6761132}"/>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1047750" y="1724025"/>
                <a:ext cx="7029450" cy="4114800"/>
              </a:xfrm>
              <a:prstGeom prst="rect">
                <a:avLst/>
              </a:prstGeom>
            </p:spPr>
          </p:pic>
        </mc:Fallback>
      </mc:AlternateContent>
    </p:spTree>
    <p:extLst>
      <p:ext uri="{BB962C8B-B14F-4D97-AF65-F5344CB8AC3E}">
        <p14:creationId xmlns:p14="http://schemas.microsoft.com/office/powerpoint/2010/main" val="11311071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Footer Placeholder 2">
            <a:extLst>
              <a:ext uri="{FF2B5EF4-FFF2-40B4-BE49-F238E27FC236}">
                <a16:creationId xmlns:a16="http://schemas.microsoft.com/office/drawing/2014/main" id="{88606374-439B-4368-A633-5765A8D8884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52226" name="Rectangle 1026">
            <a:extLst>
              <a:ext uri="{FF2B5EF4-FFF2-40B4-BE49-F238E27FC236}">
                <a16:creationId xmlns:a16="http://schemas.microsoft.com/office/drawing/2014/main" id="{93A2EB32-AABA-4609-852B-D43EFD349360}"/>
              </a:ext>
            </a:extLst>
          </p:cNvPr>
          <p:cNvSpPr>
            <a:spLocks noGrp="1" noChangeArrowheads="1"/>
          </p:cNvSpPr>
          <p:nvPr>
            <p:ph type="title"/>
          </p:nvPr>
        </p:nvSpPr>
        <p:spPr>
          <a:xfrm>
            <a:off x="307975" y="495300"/>
            <a:ext cx="8524875" cy="457200"/>
          </a:xfrm>
        </p:spPr>
        <p:txBody>
          <a:bodyPr/>
          <a:lstStyle/>
          <a:p>
            <a:r>
              <a:rPr lang="en-US" altLang="en-US" sz="2400"/>
              <a:t>Smaller Time Quantum Increases Context Switches</a:t>
            </a:r>
          </a:p>
        </p:txBody>
      </p:sp>
      <p:pic>
        <p:nvPicPr>
          <p:cNvPr id="52227" name="Picture 1029">
            <a:extLst>
              <a:ext uri="{FF2B5EF4-FFF2-40B4-BE49-F238E27FC236}">
                <a16:creationId xmlns:a16="http://schemas.microsoft.com/office/drawing/2014/main" id="{59796D73-6553-43B9-B230-D975C5241B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3292" t="23140" r="28781" b="55464"/>
          <a:stretch>
            <a:fillRect/>
          </a:stretch>
        </p:blipFill>
        <p:spPr bwMode="auto">
          <a:xfrm>
            <a:off x="242888" y="1570038"/>
            <a:ext cx="8616950" cy="412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Footer Placeholder 2">
            <a:extLst>
              <a:ext uri="{FF2B5EF4-FFF2-40B4-BE49-F238E27FC236}">
                <a16:creationId xmlns:a16="http://schemas.microsoft.com/office/drawing/2014/main" id="{A4428F39-8310-491C-AB67-8B5A004D664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54274" name="Rectangle 2">
            <a:extLst>
              <a:ext uri="{FF2B5EF4-FFF2-40B4-BE49-F238E27FC236}">
                <a16:creationId xmlns:a16="http://schemas.microsoft.com/office/drawing/2014/main" id="{44D132EF-A188-4F92-832A-60F5F0C877E3}"/>
              </a:ext>
            </a:extLst>
          </p:cNvPr>
          <p:cNvSpPr>
            <a:spLocks noGrp="1" noChangeArrowheads="1"/>
          </p:cNvSpPr>
          <p:nvPr>
            <p:ph type="title"/>
          </p:nvPr>
        </p:nvSpPr>
        <p:spPr>
          <a:xfrm>
            <a:off x="252413" y="495300"/>
            <a:ext cx="8567737" cy="457200"/>
          </a:xfrm>
        </p:spPr>
        <p:txBody>
          <a:bodyPr/>
          <a:lstStyle/>
          <a:p>
            <a:r>
              <a:rPr lang="en-US" altLang="en-US" sz="2600"/>
              <a:t>Turnaround Time Varies With Time Quantum</a:t>
            </a:r>
          </a:p>
        </p:txBody>
      </p:sp>
      <p:pic>
        <p:nvPicPr>
          <p:cNvPr id="54275" name="Picture 5">
            <a:extLst>
              <a:ext uri="{FF2B5EF4-FFF2-40B4-BE49-F238E27FC236}">
                <a16:creationId xmlns:a16="http://schemas.microsoft.com/office/drawing/2014/main" id="{55DD9972-C4E1-4BEE-A241-945AA80C11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073" t="676" r="2827" b="891"/>
          <a:stretch>
            <a:fillRect/>
          </a:stretch>
        </p:blipFill>
        <p:spPr bwMode="auto">
          <a:xfrm>
            <a:off x="587375" y="1200150"/>
            <a:ext cx="6076950" cy="508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5FEBA66-0D84-45DD-BA7B-149B7332A7C9}"/>
              </a:ext>
            </a:extLst>
          </p:cNvPr>
          <p:cNvSpPr txBox="1">
            <a:spLocks noChangeArrowheads="1"/>
          </p:cNvSpPr>
          <p:nvPr/>
        </p:nvSpPr>
        <p:spPr bwMode="auto">
          <a:xfrm>
            <a:off x="6638925" y="1860550"/>
            <a:ext cx="2360613"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114550" indent="-285750">
              <a:spcBef>
                <a:spcPct val="20000"/>
              </a:spcBef>
              <a:buChar char="»"/>
              <a:defRPr sz="1200">
                <a:solidFill>
                  <a:schemeClr val="tx1"/>
                </a:solidFill>
                <a:latin typeface="Helvetica" panose="020B0604020202020204" pitchFamily="34" charset="0"/>
              </a:defRPr>
            </a:lvl5pPr>
            <a:lvl6pPr marL="2571750" indent="-285750" eaLnBrk="0" fontAlgn="base" hangingPunct="0">
              <a:spcBef>
                <a:spcPct val="20000"/>
              </a:spcBef>
              <a:spcAft>
                <a:spcPct val="0"/>
              </a:spcAft>
              <a:buChar char="»"/>
              <a:defRPr sz="1200">
                <a:solidFill>
                  <a:schemeClr val="tx1"/>
                </a:solidFill>
                <a:latin typeface="Helvetica" panose="020B0604020202020204" pitchFamily="34" charset="0"/>
              </a:defRPr>
            </a:lvl6pPr>
            <a:lvl7pPr marL="3028950" indent="-285750" eaLnBrk="0" fontAlgn="base" hangingPunct="0">
              <a:spcBef>
                <a:spcPct val="20000"/>
              </a:spcBef>
              <a:spcAft>
                <a:spcPct val="0"/>
              </a:spcAft>
              <a:buChar char="»"/>
              <a:defRPr sz="1200">
                <a:solidFill>
                  <a:schemeClr val="tx1"/>
                </a:solidFill>
                <a:latin typeface="Helvetica" panose="020B0604020202020204" pitchFamily="34" charset="0"/>
              </a:defRPr>
            </a:lvl7pPr>
            <a:lvl8pPr marL="3486150" indent="-285750" eaLnBrk="0" fontAlgn="base" hangingPunct="0">
              <a:spcBef>
                <a:spcPct val="20000"/>
              </a:spcBef>
              <a:spcAft>
                <a:spcPct val="0"/>
              </a:spcAft>
              <a:buChar char="»"/>
              <a:defRPr sz="1200">
                <a:solidFill>
                  <a:schemeClr val="tx1"/>
                </a:solidFill>
                <a:latin typeface="Helvetica" panose="020B0604020202020204" pitchFamily="34" charset="0"/>
              </a:defRPr>
            </a:lvl8pPr>
            <a:lvl9pPr marL="3943350" indent="-28575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pPr>
            <a:r>
              <a:rPr lang="en-US" altLang="en-US">
                <a:solidFill>
                  <a:schemeClr val="accent2"/>
                </a:solidFill>
              </a:rPr>
              <a:t>No well-defined relationship between average turnaround time and quantum size</a:t>
            </a:r>
          </a:p>
          <a:p>
            <a:pPr lvl="4">
              <a:spcBef>
                <a:spcPct val="0"/>
              </a:spcBef>
              <a:buFont typeface="Arial" panose="020B0604020202020204" pitchFamily="34" charset="0"/>
              <a:buChar char="•"/>
            </a:pPr>
            <a:endParaRPr lang="en-US" altLang="en-US" sz="1800">
              <a:solidFill>
                <a:schemeClr val="accent2"/>
              </a:solidFill>
            </a:endParaRPr>
          </a:p>
          <a:p>
            <a:pPr>
              <a:spcBef>
                <a:spcPct val="0"/>
              </a:spcBef>
              <a:buSzTx/>
            </a:pPr>
            <a:r>
              <a:rPr lang="en-US" altLang="en-US">
                <a:solidFill>
                  <a:schemeClr val="accent2"/>
                </a:solidFill>
              </a:rPr>
              <a:t>Average turnaround time remains fixed once quantum size is larger than maximum CPU burst length</a:t>
            </a:r>
          </a:p>
        </p:txBody>
      </p:sp>
      <p:sp>
        <p:nvSpPr>
          <p:cNvPr id="54277" name="TextBox 5">
            <a:extLst>
              <a:ext uri="{FF2B5EF4-FFF2-40B4-BE49-F238E27FC236}">
                <a16:creationId xmlns:a16="http://schemas.microsoft.com/office/drawing/2014/main" id="{E4DA26B4-42AD-4B88-8E6A-BD183767128D}"/>
              </a:ext>
            </a:extLst>
          </p:cNvPr>
          <p:cNvSpPr txBox="1">
            <a:spLocks noChangeArrowheads="1"/>
          </p:cNvSpPr>
          <p:nvPr/>
        </p:nvSpPr>
        <p:spPr bwMode="auto">
          <a:xfrm>
            <a:off x="4475163" y="3122613"/>
            <a:ext cx="21177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Assume arrival order is P1, P2, P3, P4 all at time 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Footer Placeholder 3">
            <a:extLst>
              <a:ext uri="{FF2B5EF4-FFF2-40B4-BE49-F238E27FC236}">
                <a16:creationId xmlns:a16="http://schemas.microsoft.com/office/drawing/2014/main" id="{F86F583C-6158-4750-B7E2-8A486B597AF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56322" name="Rectangle 2">
            <a:extLst>
              <a:ext uri="{FF2B5EF4-FFF2-40B4-BE49-F238E27FC236}">
                <a16:creationId xmlns:a16="http://schemas.microsoft.com/office/drawing/2014/main" id="{2D6EF000-52D1-4214-969E-31C0A535CDEC}"/>
              </a:ext>
            </a:extLst>
          </p:cNvPr>
          <p:cNvSpPr>
            <a:spLocks noGrp="1" noChangeArrowheads="1"/>
          </p:cNvSpPr>
          <p:nvPr>
            <p:ph type="title"/>
          </p:nvPr>
        </p:nvSpPr>
        <p:spPr/>
        <p:txBody>
          <a:bodyPr/>
          <a:lstStyle/>
          <a:p>
            <a:r>
              <a:rPr lang="en-US" altLang="en-US"/>
              <a:t>Multilevel Queue Scheduling</a:t>
            </a:r>
          </a:p>
        </p:txBody>
      </p:sp>
      <p:sp>
        <p:nvSpPr>
          <p:cNvPr id="56323" name="Rectangle 3">
            <a:extLst>
              <a:ext uri="{FF2B5EF4-FFF2-40B4-BE49-F238E27FC236}">
                <a16:creationId xmlns:a16="http://schemas.microsoft.com/office/drawing/2014/main" id="{CB43DF80-8695-4886-8617-6C42802F556C}"/>
              </a:ext>
            </a:extLst>
          </p:cNvPr>
          <p:cNvSpPr>
            <a:spLocks noGrp="1" noChangeArrowheads="1"/>
          </p:cNvSpPr>
          <p:nvPr>
            <p:ph type="body" idx="1"/>
          </p:nvPr>
        </p:nvSpPr>
        <p:spPr>
          <a:xfrm>
            <a:off x="341313" y="1362075"/>
            <a:ext cx="8659812" cy="4838700"/>
          </a:xfrm>
        </p:spPr>
        <p:txBody>
          <a:bodyPr/>
          <a:lstStyle/>
          <a:p>
            <a:r>
              <a:rPr lang="en-US" altLang="en-US" sz="2800"/>
              <a:t>Different processes have different requirements</a:t>
            </a:r>
          </a:p>
          <a:p>
            <a:pPr lvl="1"/>
            <a:r>
              <a:rPr lang="en-US" altLang="en-US" sz="2800"/>
              <a:t>Foreground processes like those handling I/O need to be interactive (</a:t>
            </a:r>
            <a:r>
              <a:rPr lang="en-US" altLang="en-US" sz="2800">
                <a:solidFill>
                  <a:schemeClr val="accent2"/>
                </a:solidFill>
              </a:rPr>
              <a:t>RR is preferred</a:t>
            </a:r>
            <a:r>
              <a:rPr lang="en-US" altLang="en-US" sz="2800"/>
              <a:t>)</a:t>
            </a:r>
          </a:p>
          <a:p>
            <a:pPr lvl="1"/>
            <a:r>
              <a:rPr lang="en-US" altLang="en-US" sz="2800"/>
              <a:t>Background processes need NOT be interactive; scheduling overhead can be low (</a:t>
            </a:r>
            <a:r>
              <a:rPr lang="en-US" altLang="en-US" sz="2800">
                <a:solidFill>
                  <a:schemeClr val="accent2"/>
                </a:solidFill>
              </a:rPr>
              <a:t>FCFS</a:t>
            </a:r>
            <a:r>
              <a:rPr lang="en-US" altLang="en-US" sz="2800"/>
              <a:t>)</a:t>
            </a:r>
          </a:p>
          <a:p>
            <a:pPr lvl="4"/>
            <a:endParaRPr lang="en-US" altLang="en-US" sz="2200">
              <a:solidFill>
                <a:srgbClr val="FF0000"/>
              </a:solidFill>
            </a:endParaRPr>
          </a:p>
          <a:p>
            <a:r>
              <a:rPr lang="en-US" altLang="en-US" sz="2800">
                <a:solidFill>
                  <a:srgbClr val="FF0000"/>
                </a:solidFill>
              </a:rPr>
              <a:t>Solution: Multi-level Queue Scheduling</a:t>
            </a:r>
          </a:p>
          <a:p>
            <a:pPr lvl="1"/>
            <a:r>
              <a:rPr lang="en-US" altLang="en-US" sz="2800"/>
              <a:t>Ready queue is partitioned into several queues</a:t>
            </a:r>
          </a:p>
          <a:p>
            <a:pPr lvl="1"/>
            <a:r>
              <a:rPr lang="en-US" altLang="en-US" sz="2800"/>
              <a:t>Each queue has its </a:t>
            </a:r>
            <a:r>
              <a:rPr lang="en-US" altLang="en-US" sz="2800">
                <a:solidFill>
                  <a:schemeClr val="accent2"/>
                </a:solidFill>
              </a:rPr>
              <a:t>own scheduling algorithm</a:t>
            </a:r>
          </a:p>
          <a:p>
            <a:pPr lvl="1"/>
            <a:r>
              <a:rPr lang="en-US" altLang="en-US" sz="2800" b="1"/>
              <a:t>How to schedule among the queues?</a:t>
            </a:r>
          </a:p>
          <a:p>
            <a:endParaRPr lang="en-US" altLang="en-US" sz="2800">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63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Footer Placeholder 3">
            <a:extLst>
              <a:ext uri="{FF2B5EF4-FFF2-40B4-BE49-F238E27FC236}">
                <a16:creationId xmlns:a16="http://schemas.microsoft.com/office/drawing/2014/main" id="{FDA3FEB8-41CA-498E-AF0B-A6BAB674497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58370" name="Rectangle 2">
            <a:extLst>
              <a:ext uri="{FF2B5EF4-FFF2-40B4-BE49-F238E27FC236}">
                <a16:creationId xmlns:a16="http://schemas.microsoft.com/office/drawing/2014/main" id="{48AF2D6E-C66F-4434-B4F4-913EC9A0A4EA}"/>
              </a:ext>
            </a:extLst>
          </p:cNvPr>
          <p:cNvSpPr>
            <a:spLocks noGrp="1" noChangeArrowheads="1"/>
          </p:cNvSpPr>
          <p:nvPr>
            <p:ph type="title"/>
          </p:nvPr>
        </p:nvSpPr>
        <p:spPr/>
        <p:txBody>
          <a:bodyPr/>
          <a:lstStyle/>
          <a:p>
            <a:r>
              <a:rPr lang="en-US" altLang="en-US"/>
              <a:t>Multilevel Queue Scheduling (Cont.)</a:t>
            </a:r>
          </a:p>
        </p:txBody>
      </p:sp>
      <p:sp>
        <p:nvSpPr>
          <p:cNvPr id="58371" name="Rectangle 3">
            <a:extLst>
              <a:ext uri="{FF2B5EF4-FFF2-40B4-BE49-F238E27FC236}">
                <a16:creationId xmlns:a16="http://schemas.microsoft.com/office/drawing/2014/main" id="{68BB15A4-A6B0-4E0D-95FF-D0BB48202059}"/>
              </a:ext>
            </a:extLst>
          </p:cNvPr>
          <p:cNvSpPr>
            <a:spLocks noGrp="1" noChangeArrowheads="1"/>
          </p:cNvSpPr>
          <p:nvPr>
            <p:ph type="body" idx="1"/>
          </p:nvPr>
        </p:nvSpPr>
        <p:spPr>
          <a:xfrm>
            <a:off x="428625" y="1362075"/>
            <a:ext cx="8359775" cy="4838700"/>
          </a:xfrm>
        </p:spPr>
        <p:txBody>
          <a:bodyPr/>
          <a:lstStyle/>
          <a:p>
            <a:r>
              <a:rPr lang="en-US" altLang="en-US" sz="2800" dirty="0">
                <a:solidFill>
                  <a:schemeClr val="tx1">
                    <a:lumMod val="95000"/>
                    <a:lumOff val="5000"/>
                  </a:schemeClr>
                </a:solidFill>
              </a:rPr>
              <a:t>Two schemes for inter-queue scheduling</a:t>
            </a:r>
            <a:endParaRPr lang="en-US" altLang="en-US" sz="2800" dirty="0">
              <a:solidFill>
                <a:schemeClr val="tx1">
                  <a:lumMod val="95000"/>
                  <a:lumOff val="5000"/>
                </a:schemeClr>
              </a:solidFill>
              <a:cs typeface="Helvetica"/>
            </a:endParaRPr>
          </a:p>
          <a:p>
            <a:pPr lvl="4"/>
            <a:endParaRPr lang="en-US" altLang="en-US" sz="2200">
              <a:solidFill>
                <a:srgbClr val="FF0000"/>
              </a:solidFill>
            </a:endParaRPr>
          </a:p>
          <a:p>
            <a:pPr lvl="1"/>
            <a:r>
              <a:rPr lang="en-US" altLang="en-US" sz="2800" dirty="0">
                <a:solidFill>
                  <a:schemeClr val="accent2"/>
                </a:solidFill>
              </a:rPr>
              <a:t>Fixed priority scheduling</a:t>
            </a:r>
            <a:endParaRPr lang="en-US" altLang="en-US" sz="2800" dirty="0">
              <a:solidFill>
                <a:schemeClr val="accent2"/>
              </a:solidFill>
              <a:cs typeface="Helvetica"/>
            </a:endParaRPr>
          </a:p>
          <a:p>
            <a:pPr lvl="2">
              <a:buFont typeface="Arial" pitchFamily="2" charset="2"/>
              <a:buChar char="•"/>
            </a:pPr>
            <a:r>
              <a:rPr lang="en-US" altLang="en-US" sz="2800" i="0" dirty="0"/>
              <a:t>Queues served in priority order (e.g., foreground before background)</a:t>
            </a:r>
            <a:endParaRPr lang="en-US" altLang="en-US" sz="2800" i="0" dirty="0">
              <a:cs typeface="Helvetica"/>
            </a:endParaRPr>
          </a:p>
          <a:p>
            <a:pPr lvl="2">
              <a:buFont typeface="Arial" pitchFamily="2" charset="2"/>
              <a:buChar char="•"/>
            </a:pPr>
            <a:r>
              <a:rPr lang="en-US" altLang="en-US" sz="2800" i="0" dirty="0">
                <a:solidFill>
                  <a:srgbClr val="FF0000"/>
                </a:solidFill>
              </a:rPr>
              <a:t>Starvation for lower priority queues</a:t>
            </a:r>
            <a:endParaRPr lang="en-US" altLang="en-US" sz="2800" i="0" dirty="0">
              <a:solidFill>
                <a:srgbClr val="FF0000"/>
              </a:solidFill>
              <a:cs typeface="Helvetica"/>
            </a:endParaRPr>
          </a:p>
          <a:p>
            <a:pPr lvl="4">
              <a:buFont typeface="Arial"/>
              <a:buChar char="•"/>
            </a:pPr>
            <a:endParaRPr lang="en-US" altLang="en-US" sz="1600">
              <a:solidFill>
                <a:srgbClr val="FF0000"/>
              </a:solidFill>
              <a:cs typeface="Helvetica"/>
            </a:endParaRPr>
          </a:p>
          <a:p>
            <a:pPr lvl="1"/>
            <a:r>
              <a:rPr lang="en-US" altLang="en-US" sz="2800" dirty="0">
                <a:solidFill>
                  <a:schemeClr val="accent2"/>
                </a:solidFill>
              </a:rPr>
              <a:t>Time-slice based scheduling</a:t>
            </a:r>
            <a:endParaRPr lang="en-US" altLang="en-US" sz="2800" dirty="0">
              <a:solidFill>
                <a:schemeClr val="accent2"/>
              </a:solidFill>
              <a:cs typeface="Helvetica"/>
            </a:endParaRPr>
          </a:p>
          <a:p>
            <a:pPr lvl="2">
              <a:buFont typeface="Arial" pitchFamily="2" charset="2"/>
              <a:buChar char="•"/>
            </a:pPr>
            <a:r>
              <a:rPr lang="en-US" altLang="en-US" sz="2800" i="0" dirty="0"/>
              <a:t>Each queue gets a fixed time quantum on the CPU (e.g., 80ms for foreground, 20ms for background, and then repeat)</a:t>
            </a:r>
            <a:endParaRPr lang="en-US" altLang="en-US" sz="2800" i="0" dirty="0">
              <a:cs typeface="Helvetic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Footer Placeholder 3">
            <a:extLst>
              <a:ext uri="{FF2B5EF4-FFF2-40B4-BE49-F238E27FC236}">
                <a16:creationId xmlns:a16="http://schemas.microsoft.com/office/drawing/2014/main" id="{25410670-BA3D-4C08-9273-9FB8038DBC8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31746" name="Rectangle 2">
            <a:extLst>
              <a:ext uri="{FF2B5EF4-FFF2-40B4-BE49-F238E27FC236}">
                <a16:creationId xmlns:a16="http://schemas.microsoft.com/office/drawing/2014/main" id="{E34E2667-71AE-4CC0-A2DE-74763AAA0FA6}"/>
              </a:ext>
            </a:extLst>
          </p:cNvPr>
          <p:cNvSpPr>
            <a:spLocks noGrp="1" noChangeArrowheads="1"/>
          </p:cNvSpPr>
          <p:nvPr>
            <p:ph type="title"/>
          </p:nvPr>
        </p:nvSpPr>
        <p:spPr>
          <a:xfrm>
            <a:off x="1035830" y="495300"/>
            <a:ext cx="7237187" cy="457200"/>
          </a:xfrm>
        </p:spPr>
        <p:txBody>
          <a:bodyPr/>
          <a:lstStyle/>
          <a:p>
            <a:r>
              <a:rPr lang="en-US" altLang="en-US" sz="2400" dirty="0"/>
              <a:t>Scheduling Algorithms: Multiprocessor System</a:t>
            </a:r>
            <a:endParaRPr lang="en-US" altLang="en-US" sz="2400" dirty="0">
              <a:cs typeface="Helvetica"/>
            </a:endParaRPr>
          </a:p>
        </p:txBody>
      </p:sp>
      <p:sp>
        <p:nvSpPr>
          <p:cNvPr id="31747" name="Rectangle 3">
            <a:extLst>
              <a:ext uri="{FF2B5EF4-FFF2-40B4-BE49-F238E27FC236}">
                <a16:creationId xmlns:a16="http://schemas.microsoft.com/office/drawing/2014/main" id="{4F04040A-398C-4341-9C2C-C5F232BDABEA}"/>
              </a:ext>
            </a:extLst>
          </p:cNvPr>
          <p:cNvSpPr>
            <a:spLocks noGrp="1" noChangeArrowheads="1"/>
          </p:cNvSpPr>
          <p:nvPr>
            <p:ph type="body" idx="1"/>
          </p:nvPr>
        </p:nvSpPr>
        <p:spPr>
          <a:xfrm>
            <a:off x="354013" y="1474788"/>
            <a:ext cx="8447087" cy="4114800"/>
          </a:xfrm>
        </p:spPr>
        <p:txBody>
          <a:bodyPr/>
          <a:lstStyle/>
          <a:p>
            <a:pPr marL="514350" indent="-514350">
              <a:buFont typeface="+mj-lt"/>
              <a:buAutoNum type="arabicPeriod"/>
              <a:defRPr/>
            </a:pPr>
            <a:r>
              <a:rPr lang="en-US" altLang="en-US" sz="2800" dirty="0">
                <a:solidFill>
                  <a:schemeClr val="tx1">
                    <a:lumMod val="95000"/>
                    <a:lumOff val="5000"/>
                  </a:schemeClr>
                </a:solidFill>
              </a:rPr>
              <a:t>Partitioned Scheduling (Asymmetric Multiprocessing - AMP) </a:t>
            </a:r>
            <a:endParaRPr lang="en-US" altLang="en-US" sz="2800" dirty="0">
              <a:solidFill>
                <a:schemeClr val="tx1">
                  <a:lumMod val="95000"/>
                  <a:lumOff val="5000"/>
                </a:schemeClr>
              </a:solidFill>
              <a:cs typeface="Helvetica"/>
            </a:endParaRPr>
          </a:p>
          <a:p>
            <a:pPr marL="514350" indent="-514350">
              <a:buFont typeface="+mj-lt"/>
              <a:buAutoNum type="arabicPeriod"/>
              <a:defRPr/>
            </a:pPr>
            <a:r>
              <a:rPr lang="en-US" altLang="en-US" sz="2800" dirty="0">
                <a:solidFill>
                  <a:schemeClr val="tx1">
                    <a:lumMod val="95000"/>
                    <a:lumOff val="5000"/>
                  </a:schemeClr>
                </a:solidFill>
              </a:rPr>
              <a:t>Global Scheduling (Symmetric Multiprocessing - SMP)</a:t>
            </a:r>
            <a:endParaRPr lang="en-US" altLang="en-US" sz="2800" dirty="0">
              <a:solidFill>
                <a:schemeClr val="tx1">
                  <a:lumMod val="95000"/>
                  <a:lumOff val="5000"/>
                </a:schemeClr>
              </a:solidFill>
              <a:cs typeface="Helvetica"/>
            </a:endParaRPr>
          </a:p>
          <a:p>
            <a:pPr marL="2343150" lvl="4" indent="-514350">
              <a:buFont typeface="+mj-lt"/>
              <a:buAutoNum type="arabicPeriod"/>
              <a:defRPr/>
            </a:pPr>
            <a:endParaRPr lang="en-US" altLang="en-US" sz="2200" dirty="0">
              <a:solidFill>
                <a:srgbClr val="FF0000"/>
              </a:solidFill>
              <a:cs typeface="Helvetica"/>
            </a:endParaRPr>
          </a:p>
          <a:p>
            <a:pPr marL="0" indent="0">
              <a:buNone/>
              <a:defRPr/>
            </a:pPr>
            <a:r>
              <a:rPr lang="en-US" sz="2800" b="1" dirty="0"/>
              <a:t>We assume a multi-core CPU and that each process may only execute on one CPU core at </a:t>
            </a:r>
            <a:r>
              <a:rPr lang="en-US" sz="2800" b="1"/>
              <a:t>any time instant</a:t>
            </a:r>
            <a:endParaRPr lang="en-US" sz="2800" b="1">
              <a:cs typeface="Helvetica"/>
            </a:endParaRPr>
          </a:p>
        </p:txBody>
      </p:sp>
    </p:spTree>
    <p:extLst>
      <p:ext uri="{BB962C8B-B14F-4D97-AF65-F5344CB8AC3E}">
        <p14:creationId xmlns:p14="http://schemas.microsoft.com/office/powerpoint/2010/main" val="31620463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976F9-59BC-4639-AF51-CFD5E2CBEA76}"/>
              </a:ext>
            </a:extLst>
          </p:cNvPr>
          <p:cNvSpPr>
            <a:spLocks noGrp="1"/>
          </p:cNvSpPr>
          <p:nvPr>
            <p:ph type="title"/>
          </p:nvPr>
        </p:nvSpPr>
        <p:spPr/>
        <p:txBody>
          <a:bodyPr/>
          <a:lstStyle/>
          <a:p>
            <a:r>
              <a:rPr lang="en-US">
                <a:cs typeface="Helvetica"/>
              </a:rPr>
              <a:t>Partitioned Scheduling (AMP)</a:t>
            </a:r>
            <a:endParaRPr lang="en-US"/>
          </a:p>
        </p:txBody>
      </p:sp>
      <p:sp>
        <p:nvSpPr>
          <p:cNvPr id="4" name="Footer Placeholder 3">
            <a:extLst>
              <a:ext uri="{FF2B5EF4-FFF2-40B4-BE49-F238E27FC236}">
                <a16:creationId xmlns:a16="http://schemas.microsoft.com/office/drawing/2014/main" id="{147D2183-EDDE-4FDF-A9A6-164C71AC3ABC}"/>
              </a:ext>
            </a:extLst>
          </p:cNvPr>
          <p:cNvSpPr>
            <a:spLocks noGrp="1"/>
          </p:cNvSpPr>
          <p:nvPr>
            <p:ph type="ftr" sz="quarter" idx="10"/>
          </p:nvPr>
        </p:nvSpPr>
        <p:spPr/>
        <p:txBody>
          <a:bodyPr/>
          <a:lstStyle/>
          <a:p>
            <a:pPr>
              <a:defRPr/>
            </a:pPr>
            <a:r>
              <a:rPr lang="en-US"/>
              <a:t>Operating Systems</a:t>
            </a:r>
          </a:p>
          <a:p>
            <a:pPr>
              <a:defRPr/>
            </a:pPr>
            <a:endParaRPr lang="en-US"/>
          </a:p>
        </p:txBody>
      </p:sp>
      <p:sp>
        <p:nvSpPr>
          <p:cNvPr id="6" name="Rectangle 3">
            <a:extLst>
              <a:ext uri="{FF2B5EF4-FFF2-40B4-BE49-F238E27FC236}">
                <a16:creationId xmlns:a16="http://schemas.microsoft.com/office/drawing/2014/main" id="{CFE6D322-9D2F-4D5D-A2E1-B4199191FDE8}"/>
              </a:ext>
            </a:extLst>
          </p:cNvPr>
          <p:cNvSpPr txBox="1">
            <a:spLocks noChangeArrowheads="1"/>
          </p:cNvSpPr>
          <p:nvPr/>
        </p:nvSpPr>
        <p:spPr bwMode="auto">
          <a:xfrm>
            <a:off x="428625" y="1277928"/>
            <a:ext cx="8359775" cy="2377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i="1">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r>
              <a:rPr lang="en-US" altLang="en-US" sz="2800" kern="0">
                <a:solidFill>
                  <a:srgbClr val="FF0000"/>
                </a:solidFill>
                <a:cs typeface="Helvetica"/>
              </a:rPr>
              <a:t>Processes are partitioned apriori (at process creation time) among CPU </a:t>
            </a:r>
            <a:r>
              <a:rPr lang="en-US" altLang="en-US" sz="2800" kern="0" dirty="0">
                <a:solidFill>
                  <a:srgbClr val="FF0000"/>
                </a:solidFill>
                <a:cs typeface="Helvetica"/>
              </a:rPr>
              <a:t>cores</a:t>
            </a:r>
          </a:p>
          <a:p>
            <a:pPr lvl="1"/>
            <a:r>
              <a:rPr lang="en-US" altLang="en-US" sz="2800" kern="0">
                <a:solidFill>
                  <a:schemeClr val="tx1">
                    <a:lumMod val="95000"/>
                    <a:lumOff val="5000"/>
                  </a:schemeClr>
                </a:solidFill>
                <a:cs typeface="Helvetica"/>
              </a:rPr>
              <a:t>Each process is mapped to one core</a:t>
            </a:r>
            <a:endParaRPr lang="en-US" altLang="en-US" sz="2800" kern="0" dirty="0">
              <a:solidFill>
                <a:schemeClr val="tx1">
                  <a:lumMod val="95000"/>
                  <a:lumOff val="5000"/>
                </a:schemeClr>
              </a:solidFill>
              <a:cs typeface="Helvetica"/>
            </a:endParaRPr>
          </a:p>
          <a:p>
            <a:pPr lvl="1"/>
            <a:r>
              <a:rPr lang="en-US" altLang="en-US" sz="2800" kern="0">
                <a:solidFill>
                  <a:schemeClr val="tx1">
                    <a:lumMod val="95000"/>
                    <a:lumOff val="5000"/>
                  </a:schemeClr>
                </a:solidFill>
                <a:cs typeface="Helvetica"/>
              </a:rPr>
              <a:t>Separate uniprocessor CPU scheduling for each core (</a:t>
            </a:r>
            <a:r>
              <a:rPr lang="en-US" altLang="en-US" sz="2800" b="1" kern="0">
                <a:solidFill>
                  <a:schemeClr val="tx1">
                    <a:lumMod val="95000"/>
                    <a:lumOff val="5000"/>
                  </a:schemeClr>
                </a:solidFill>
                <a:cs typeface="Helvetica"/>
              </a:rPr>
              <a:t>asymmetric scheduling</a:t>
            </a:r>
            <a:r>
              <a:rPr lang="en-US" altLang="en-US" sz="2800" kern="0" dirty="0">
                <a:solidFill>
                  <a:schemeClr val="tx1">
                    <a:lumMod val="95000"/>
                    <a:lumOff val="5000"/>
                  </a:schemeClr>
                </a:solidFill>
                <a:cs typeface="Helvetica"/>
              </a:rPr>
              <a:t>)</a:t>
            </a:r>
          </a:p>
        </p:txBody>
      </p:sp>
      <p:sp>
        <p:nvSpPr>
          <p:cNvPr id="8" name="Rectangle 3">
            <a:extLst>
              <a:ext uri="{FF2B5EF4-FFF2-40B4-BE49-F238E27FC236}">
                <a16:creationId xmlns:a16="http://schemas.microsoft.com/office/drawing/2014/main" id="{7C9B9643-A689-42A0-B918-C3D4AF157937}"/>
              </a:ext>
            </a:extLst>
          </p:cNvPr>
          <p:cNvSpPr txBox="1">
            <a:spLocks noChangeArrowheads="1"/>
          </p:cNvSpPr>
          <p:nvPr/>
        </p:nvSpPr>
        <p:spPr bwMode="auto">
          <a:xfrm>
            <a:off x="428624" y="3655087"/>
            <a:ext cx="8359775" cy="2889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i="1">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r>
              <a:rPr lang="en-US" altLang="en-US" sz="2800" kern="0">
                <a:solidFill>
                  <a:schemeClr val="accent2"/>
                </a:solidFill>
                <a:cs typeface="Helvetica"/>
              </a:rPr>
              <a:t>Advantages</a:t>
            </a:r>
            <a:endParaRPr lang="en-US"/>
          </a:p>
          <a:p>
            <a:pPr lvl="1"/>
            <a:r>
              <a:rPr lang="en-US" altLang="en-US" sz="2800" kern="0">
                <a:solidFill>
                  <a:schemeClr val="tx1">
                    <a:lumMod val="95000"/>
                    <a:lumOff val="5000"/>
                  </a:schemeClr>
                </a:solidFill>
                <a:cs typeface="Helvetica"/>
              </a:rPr>
              <a:t>Core-specific scheduling strategy is feasible (FCFS, SJF, RR, multi-level, etc.)</a:t>
            </a:r>
          </a:p>
          <a:p>
            <a:pPr lvl="1"/>
            <a:r>
              <a:rPr lang="en-US" altLang="en-US" sz="2800" kern="0">
                <a:solidFill>
                  <a:schemeClr val="tx1">
                    <a:lumMod val="95000"/>
                    <a:lumOff val="5000"/>
                  </a:schemeClr>
                </a:solidFill>
                <a:cs typeface="Helvetica"/>
              </a:rPr>
              <a:t>Easy and simple extension of uniprocessor CPU scheduling to multiprocessor CPU scheduling</a:t>
            </a:r>
          </a:p>
        </p:txBody>
      </p:sp>
    </p:spTree>
    <p:extLst>
      <p:ext uri="{BB962C8B-B14F-4D97-AF65-F5344CB8AC3E}">
        <p14:creationId xmlns:p14="http://schemas.microsoft.com/office/powerpoint/2010/main" val="3074692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D4E83-0CF4-474A-965D-DF200C3BE63D}"/>
              </a:ext>
            </a:extLst>
          </p:cNvPr>
          <p:cNvSpPr>
            <a:spLocks noGrp="1"/>
          </p:cNvSpPr>
          <p:nvPr>
            <p:ph type="title"/>
          </p:nvPr>
        </p:nvSpPr>
        <p:spPr/>
        <p:txBody>
          <a:bodyPr/>
          <a:lstStyle/>
          <a:p>
            <a:r>
              <a:rPr lang="en-US">
                <a:cs typeface="Helvetica"/>
              </a:rPr>
              <a:t>Partitioned Scheduling: Issues</a:t>
            </a:r>
            <a:endParaRPr lang="en-US"/>
          </a:p>
        </p:txBody>
      </p:sp>
      <p:sp>
        <p:nvSpPr>
          <p:cNvPr id="4" name="Footer Placeholder 3">
            <a:extLst>
              <a:ext uri="{FF2B5EF4-FFF2-40B4-BE49-F238E27FC236}">
                <a16:creationId xmlns:a16="http://schemas.microsoft.com/office/drawing/2014/main" id="{3BEDECEA-7B24-40C5-AB68-12ABD2AB8FCB}"/>
              </a:ext>
            </a:extLst>
          </p:cNvPr>
          <p:cNvSpPr>
            <a:spLocks noGrp="1"/>
          </p:cNvSpPr>
          <p:nvPr>
            <p:ph type="ftr" sz="quarter" idx="10"/>
          </p:nvPr>
        </p:nvSpPr>
        <p:spPr/>
        <p:txBody>
          <a:bodyPr/>
          <a:lstStyle/>
          <a:p>
            <a:pPr>
              <a:defRPr/>
            </a:pPr>
            <a:r>
              <a:rPr lang="en-US"/>
              <a:t>Operating Systems</a:t>
            </a:r>
          </a:p>
          <a:p>
            <a:pPr>
              <a:defRPr/>
            </a:pPr>
            <a:endParaRPr lang="en-US"/>
          </a:p>
        </p:txBody>
      </p:sp>
      <p:sp>
        <p:nvSpPr>
          <p:cNvPr id="6" name="Rectangle 3">
            <a:extLst>
              <a:ext uri="{FF2B5EF4-FFF2-40B4-BE49-F238E27FC236}">
                <a16:creationId xmlns:a16="http://schemas.microsoft.com/office/drawing/2014/main" id="{0CD561DF-2158-489A-B1DC-F9700FCA5E4A}"/>
              </a:ext>
            </a:extLst>
          </p:cNvPr>
          <p:cNvSpPr txBox="1">
            <a:spLocks noChangeArrowheads="1"/>
          </p:cNvSpPr>
          <p:nvPr/>
        </p:nvSpPr>
        <p:spPr bwMode="auto">
          <a:xfrm>
            <a:off x="428625" y="1305977"/>
            <a:ext cx="8359775" cy="3296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i="1">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r>
              <a:rPr lang="en-US" altLang="en-US" sz="2800" kern="0">
                <a:solidFill>
                  <a:schemeClr val="accent2"/>
                </a:solidFill>
                <a:cs typeface="Helvetica"/>
              </a:rPr>
              <a:t>How to map cores to processes?</a:t>
            </a:r>
          </a:p>
          <a:p>
            <a:pPr lvl="1"/>
            <a:r>
              <a:rPr lang="en-US" altLang="en-US" sz="2800" kern="0">
                <a:solidFill>
                  <a:schemeClr val="tx1">
                    <a:lumMod val="95000"/>
                    <a:lumOff val="5000"/>
                  </a:schemeClr>
                </a:solidFill>
                <a:cs typeface="Helvetica"/>
              </a:rPr>
              <a:t>Poor mapping can lead to unequal loads: a core</a:t>
            </a:r>
            <a:r>
              <a:rPr lang="en-US" altLang="en-US" sz="2800" i="0" kern="0">
                <a:solidFill>
                  <a:schemeClr val="tx1">
                    <a:lumMod val="95000"/>
                    <a:lumOff val="5000"/>
                  </a:schemeClr>
                </a:solidFill>
                <a:cs typeface="Helvetica"/>
              </a:rPr>
              <a:t> is idling while another is overloaded</a:t>
            </a:r>
            <a:endParaRPr lang="en-US" i="0">
              <a:solidFill>
                <a:schemeClr val="tx1">
                  <a:lumMod val="95000"/>
                  <a:lumOff val="5000"/>
                </a:schemeClr>
              </a:solidFill>
              <a:cs typeface="Helvetica"/>
            </a:endParaRPr>
          </a:p>
          <a:p>
            <a:pPr lvl="2">
              <a:buFont typeface="Arial" pitchFamily="2" charset="2"/>
              <a:buChar char="•"/>
            </a:pPr>
            <a:r>
              <a:rPr lang="en-US" altLang="en-US" sz="2800" i="0" kern="0">
                <a:solidFill>
                  <a:srgbClr val="FF0000"/>
                </a:solidFill>
                <a:cs typeface="Helvetica"/>
              </a:rPr>
              <a:t>May reduce system/process performance</a:t>
            </a:r>
          </a:p>
          <a:p>
            <a:pPr lvl="2">
              <a:buFont typeface="Arial" pitchFamily="2" charset="2"/>
              <a:buChar char="•"/>
            </a:pPr>
            <a:r>
              <a:rPr lang="en-US" altLang="en-US" sz="2800" b="1" i="0" kern="0">
                <a:solidFill>
                  <a:schemeClr val="tx1">
                    <a:lumMod val="95000"/>
                    <a:lumOff val="5000"/>
                  </a:schemeClr>
                </a:solidFill>
                <a:cs typeface="Helvetica"/>
              </a:rPr>
              <a:t>NP-Hard problem</a:t>
            </a:r>
            <a:r>
              <a:rPr lang="en-US" altLang="en-US" sz="2800" i="0" kern="0">
                <a:solidFill>
                  <a:schemeClr val="tx1">
                    <a:lumMod val="95000"/>
                    <a:lumOff val="5000"/>
                  </a:schemeClr>
                </a:solidFill>
                <a:cs typeface="Helvetica"/>
              </a:rPr>
              <a:t>: Similar to the well-known knapsack problem!</a:t>
            </a:r>
          </a:p>
          <a:p>
            <a:pPr lvl="2">
              <a:buFont typeface="Arial" pitchFamily="2" charset="2"/>
              <a:buChar char="•"/>
            </a:pPr>
            <a:r>
              <a:rPr lang="en-US" altLang="en-US" sz="2800" i="0" kern="0">
                <a:solidFill>
                  <a:schemeClr val="tx1">
                    <a:lumMod val="95000"/>
                    <a:lumOff val="5000"/>
                  </a:schemeClr>
                </a:solidFill>
                <a:cs typeface="Helvetica"/>
              </a:rPr>
              <a:t>Heuristics such as best-fit could be used if CPU burst lengths are known</a:t>
            </a:r>
          </a:p>
        </p:txBody>
      </p:sp>
    </p:spTree>
    <p:extLst>
      <p:ext uri="{BB962C8B-B14F-4D97-AF65-F5344CB8AC3E}">
        <p14:creationId xmlns:p14="http://schemas.microsoft.com/office/powerpoint/2010/main" val="19262466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976F9-59BC-4639-AF51-CFD5E2CBEA76}"/>
              </a:ext>
            </a:extLst>
          </p:cNvPr>
          <p:cNvSpPr>
            <a:spLocks noGrp="1"/>
          </p:cNvSpPr>
          <p:nvPr>
            <p:ph type="title"/>
          </p:nvPr>
        </p:nvSpPr>
        <p:spPr/>
        <p:txBody>
          <a:bodyPr/>
          <a:lstStyle/>
          <a:p>
            <a:r>
              <a:rPr lang="en-US">
                <a:cs typeface="Helvetica"/>
              </a:rPr>
              <a:t>Global Scheduling (SMP)</a:t>
            </a:r>
            <a:endParaRPr lang="en-US"/>
          </a:p>
        </p:txBody>
      </p:sp>
      <p:sp>
        <p:nvSpPr>
          <p:cNvPr id="4" name="Footer Placeholder 3">
            <a:extLst>
              <a:ext uri="{FF2B5EF4-FFF2-40B4-BE49-F238E27FC236}">
                <a16:creationId xmlns:a16="http://schemas.microsoft.com/office/drawing/2014/main" id="{147D2183-EDDE-4FDF-A9A6-164C71AC3ABC}"/>
              </a:ext>
            </a:extLst>
          </p:cNvPr>
          <p:cNvSpPr>
            <a:spLocks noGrp="1"/>
          </p:cNvSpPr>
          <p:nvPr>
            <p:ph type="ftr" sz="quarter" idx="10"/>
          </p:nvPr>
        </p:nvSpPr>
        <p:spPr/>
        <p:txBody>
          <a:bodyPr/>
          <a:lstStyle/>
          <a:p>
            <a:pPr>
              <a:defRPr/>
            </a:pPr>
            <a:r>
              <a:rPr lang="en-US"/>
              <a:t>Operating Systems</a:t>
            </a:r>
          </a:p>
          <a:p>
            <a:pPr>
              <a:defRPr/>
            </a:pPr>
            <a:endParaRPr lang="en-US"/>
          </a:p>
        </p:txBody>
      </p:sp>
      <p:sp>
        <p:nvSpPr>
          <p:cNvPr id="6" name="Rectangle 3">
            <a:extLst>
              <a:ext uri="{FF2B5EF4-FFF2-40B4-BE49-F238E27FC236}">
                <a16:creationId xmlns:a16="http://schemas.microsoft.com/office/drawing/2014/main" id="{CFE6D322-9D2F-4D5D-A2E1-B4199191FDE8}"/>
              </a:ext>
            </a:extLst>
          </p:cNvPr>
          <p:cNvSpPr txBox="1">
            <a:spLocks noChangeArrowheads="1"/>
          </p:cNvSpPr>
          <p:nvPr/>
        </p:nvSpPr>
        <p:spPr bwMode="auto">
          <a:xfrm>
            <a:off x="428625" y="1277928"/>
            <a:ext cx="8359775" cy="2377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i="1">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r>
              <a:rPr lang="en-US" altLang="en-US" sz="2800" kern="0">
                <a:solidFill>
                  <a:srgbClr val="FF0000"/>
                </a:solidFill>
                <a:cs typeface="Helvetica"/>
              </a:rPr>
              <a:t>One or more ready queues for the entire system (no mapping of queues to CPU cores)</a:t>
            </a:r>
            <a:endParaRPr lang="en-US" altLang="en-US" sz="2800" kern="0" dirty="0">
              <a:solidFill>
                <a:srgbClr val="FF0000"/>
              </a:solidFill>
              <a:cs typeface="Helvetica"/>
            </a:endParaRPr>
          </a:p>
          <a:p>
            <a:pPr lvl="1"/>
            <a:r>
              <a:rPr lang="en-US" altLang="en-US" sz="2800" kern="0">
                <a:solidFill>
                  <a:schemeClr val="tx1">
                    <a:lumMod val="95000"/>
                    <a:lumOff val="5000"/>
                  </a:schemeClr>
                </a:solidFill>
                <a:cs typeface="Helvetica"/>
              </a:rPr>
              <a:t>When any core becomes idle, CPU scheduler runs and allocates the next process to execute</a:t>
            </a:r>
            <a:endParaRPr lang="en-US" altLang="en-US" sz="2800" kern="0" dirty="0">
              <a:solidFill>
                <a:schemeClr val="tx1">
                  <a:lumMod val="95000"/>
                  <a:lumOff val="5000"/>
                </a:schemeClr>
              </a:solidFill>
              <a:cs typeface="Helvetica"/>
            </a:endParaRPr>
          </a:p>
          <a:p>
            <a:pPr lvl="1"/>
            <a:r>
              <a:rPr lang="en-US" altLang="en-US" sz="2800" kern="0">
                <a:solidFill>
                  <a:schemeClr val="tx1">
                    <a:lumMod val="95000"/>
                    <a:lumOff val="5000"/>
                  </a:schemeClr>
                </a:solidFill>
                <a:cs typeface="Helvetica"/>
              </a:rPr>
              <a:t>Process selection based on strategy applied globally or </a:t>
            </a:r>
            <a:r>
              <a:rPr lang="en-US" altLang="en-US" sz="2800" b="1" kern="0">
                <a:solidFill>
                  <a:schemeClr val="tx1">
                    <a:lumMod val="95000"/>
                    <a:lumOff val="5000"/>
                  </a:schemeClr>
                </a:solidFill>
                <a:cs typeface="Helvetica"/>
              </a:rPr>
              <a:t>symmetrically</a:t>
            </a:r>
            <a:r>
              <a:rPr lang="en-US" altLang="en-US" sz="2800" kern="0">
                <a:solidFill>
                  <a:schemeClr val="tx1">
                    <a:lumMod val="95000"/>
                    <a:lumOff val="5000"/>
                  </a:schemeClr>
                </a:solidFill>
                <a:cs typeface="Helvetica"/>
              </a:rPr>
              <a:t> across all cores (FCFS, SJF, </a:t>
            </a:r>
            <a:r>
              <a:rPr lang="en-US" altLang="en-US" sz="2800" kern="0" dirty="0">
                <a:solidFill>
                  <a:schemeClr val="tx1">
                    <a:lumMod val="95000"/>
                    <a:lumOff val="5000"/>
                  </a:schemeClr>
                </a:solidFill>
                <a:cs typeface="Helvetica"/>
              </a:rPr>
              <a:t>etc.)</a:t>
            </a:r>
          </a:p>
          <a:p>
            <a:pPr lvl="1"/>
            <a:r>
              <a:rPr lang="en-US" altLang="en-US" sz="2800" kern="0">
                <a:solidFill>
                  <a:schemeClr val="tx1">
                    <a:lumMod val="95000"/>
                    <a:lumOff val="5000"/>
                  </a:schemeClr>
                </a:solidFill>
                <a:cs typeface="Helvetica"/>
              </a:rPr>
              <a:t>It is possible that the same process may execute on different cores at different times</a:t>
            </a:r>
          </a:p>
          <a:p>
            <a:pPr marL="457200" lvl="1" indent="0">
              <a:buNone/>
            </a:pPr>
            <a:endParaRPr lang="en-US" altLang="en-US" sz="2800" kern="0" dirty="0">
              <a:solidFill>
                <a:schemeClr val="tx1">
                  <a:lumMod val="95000"/>
                  <a:lumOff val="5000"/>
                </a:schemeClr>
              </a:solidFill>
              <a:cs typeface="Helvetica"/>
            </a:endParaRPr>
          </a:p>
          <a:p>
            <a:pPr marL="457200" lvl="1" indent="0" algn="ctr">
              <a:buNone/>
            </a:pPr>
            <a:r>
              <a:rPr lang="en-US" altLang="en-US" sz="2800" kern="0">
                <a:solidFill>
                  <a:schemeClr val="accent2">
                    <a:lumMod val="75000"/>
                  </a:schemeClr>
                </a:solidFill>
                <a:cs typeface="Helvetica"/>
              </a:rPr>
              <a:t>No core-process mapping problem!</a:t>
            </a:r>
          </a:p>
        </p:txBody>
      </p:sp>
    </p:spTree>
    <p:extLst>
      <p:ext uri="{BB962C8B-B14F-4D97-AF65-F5344CB8AC3E}">
        <p14:creationId xmlns:p14="http://schemas.microsoft.com/office/powerpoint/2010/main" val="6467771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669DA-6584-C3D3-95E4-017BA8CB1C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A07E08-3376-0754-4A29-62DEF24CDD5C}"/>
              </a:ext>
            </a:extLst>
          </p:cNvPr>
          <p:cNvSpPr>
            <a:spLocks noGrp="1"/>
          </p:cNvSpPr>
          <p:nvPr>
            <p:ph type="title"/>
          </p:nvPr>
        </p:nvSpPr>
        <p:spPr/>
        <p:txBody>
          <a:bodyPr/>
          <a:lstStyle/>
          <a:p>
            <a:r>
              <a:rPr lang="en-US" dirty="0"/>
              <a:t>ExtraQ4 </a:t>
            </a:r>
            <a:r>
              <a:rPr lang="en-US" dirty="0" err="1"/>
              <a:t>Wooclap</a:t>
            </a:r>
            <a:r>
              <a:rPr lang="en-US" dirty="0"/>
              <a:t> Exercise</a:t>
            </a:r>
          </a:p>
        </p:txBody>
      </p:sp>
      <p:sp>
        <p:nvSpPr>
          <p:cNvPr id="4" name="Footer Placeholder 3">
            <a:extLst>
              <a:ext uri="{FF2B5EF4-FFF2-40B4-BE49-F238E27FC236}">
                <a16:creationId xmlns:a16="http://schemas.microsoft.com/office/drawing/2014/main" id="{43628CCC-3BBC-0002-B6C4-7903DCC22CC2}"/>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10" name="Content Placeholder 9">
                <a:extLst>
                  <a:ext uri="{FF2B5EF4-FFF2-40B4-BE49-F238E27FC236}">
                    <a16:creationId xmlns:a16="http://schemas.microsoft.com/office/drawing/2014/main" id="{3A23C020-2B5A-BB1F-9B47-3389F0D292E4}"/>
                  </a:ext>
                </a:extLst>
              </p:cNvPr>
              <p:cNvGraphicFramePr>
                <a:graphicFrameLocks noGrp="1"/>
              </p:cNvGraphicFramePr>
              <p:nvPr>
                <p:ph idx="1"/>
              </p:nvPr>
            </p:nvGraphicFramePr>
            <p:xfrm>
              <a:off x="1047750" y="1724025"/>
              <a:ext cx="7029450" cy="41148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10" name="Content Placeholder 9">
                <a:extLst>
                  <a:ext uri="{FF2B5EF4-FFF2-40B4-BE49-F238E27FC236}">
                    <a16:creationId xmlns:a16="http://schemas.microsoft.com/office/drawing/2014/main" id="{3A23C020-2B5A-BB1F-9B47-3389F0D292E4}"/>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1047750" y="1724025"/>
                <a:ext cx="7029450" cy="4114800"/>
              </a:xfrm>
              <a:prstGeom prst="rect">
                <a:avLst/>
              </a:prstGeom>
            </p:spPr>
          </p:pic>
        </mc:Fallback>
      </mc:AlternateContent>
    </p:spTree>
    <p:extLst>
      <p:ext uri="{BB962C8B-B14F-4D97-AF65-F5344CB8AC3E}">
        <p14:creationId xmlns:p14="http://schemas.microsoft.com/office/powerpoint/2010/main" val="11451083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6">
            <a:extLst>
              <a:ext uri="{FF2B5EF4-FFF2-40B4-BE49-F238E27FC236}">
                <a16:creationId xmlns:a16="http://schemas.microsoft.com/office/drawing/2014/main" id="{21602163-A063-4CC7-96A6-88E83BBD4E13}"/>
              </a:ext>
            </a:extLst>
          </p:cNvPr>
          <p:cNvSpPr txBox="1">
            <a:spLocks noChangeArrowheads="1"/>
          </p:cNvSpPr>
          <p:nvPr/>
        </p:nvSpPr>
        <p:spPr bwMode="auto">
          <a:xfrm>
            <a:off x="1047750" y="1173163"/>
            <a:ext cx="7029450" cy="4114800"/>
          </a:xfrm>
          <a:prstGeom prst="rect">
            <a:avLst/>
          </a:prstGeom>
          <a:noFill/>
          <a:ln w="9525">
            <a:noFill/>
            <a:miter lim="800000"/>
            <a:headEnd/>
            <a:tailEnd/>
          </a:ln>
        </p:spPr>
        <p:txBody>
          <a:bodyPr lIns="91440" tIns="45720" rIns="91440" bIns="45720" anchor="t"/>
          <a:lstStyle/>
          <a:p>
            <a:pPr marL="228600" indent="-228600">
              <a:spcBef>
                <a:spcPct val="50000"/>
              </a:spcBef>
              <a:buSzPct val="140000"/>
              <a:tabLst>
                <a:tab pos="1603375" algn="ctr"/>
                <a:tab pos="3254375" algn="ctr"/>
                <a:tab pos="5143500" algn="ctr"/>
              </a:tabLst>
              <a:defRPr/>
            </a:pPr>
            <a:r>
              <a:rPr lang="en-US" kern="0" dirty="0">
                <a:latin typeface="+mn-lt"/>
              </a:rPr>
              <a:t>		</a:t>
            </a:r>
            <a:r>
              <a:rPr lang="en-US" u="sng" kern="0" dirty="0">
                <a:latin typeface="+mn-lt"/>
              </a:rPr>
              <a:t>Process</a:t>
            </a:r>
            <a:r>
              <a:rPr lang="en-US" kern="0" dirty="0">
                <a:latin typeface="+mn-lt"/>
              </a:rPr>
              <a:t>	</a:t>
            </a:r>
            <a:r>
              <a:rPr lang="en-US" u="sng" kern="0" dirty="0">
                <a:latin typeface="+mn-lt"/>
              </a:rPr>
              <a:t>Arrival Time</a:t>
            </a:r>
            <a:r>
              <a:rPr lang="en-US" kern="0" dirty="0">
                <a:latin typeface="+mn-lt"/>
              </a:rPr>
              <a:t>	</a:t>
            </a:r>
            <a:r>
              <a:rPr lang="en-US" u="sng" kern="0" dirty="0">
                <a:latin typeface="+mn-lt"/>
              </a:rPr>
              <a:t>Burst Time</a:t>
            </a:r>
            <a:endParaRPr lang="en-US" kern="0" dirty="0">
              <a:latin typeface="+mn-lt"/>
            </a:endParaRPr>
          </a:p>
          <a:p>
            <a:pPr marL="228600" indent="-228600">
              <a:spcBef>
                <a:spcPct val="50000"/>
              </a:spcBef>
              <a:buSzPct val="140000"/>
              <a:tabLst>
                <a:tab pos="1603375" algn="ctr"/>
                <a:tab pos="3254375" algn="ctr"/>
                <a:tab pos="5143500" algn="ctr"/>
              </a:tabLst>
              <a:defRPr/>
            </a:pPr>
            <a:r>
              <a:rPr lang="en-US" kern="0" dirty="0">
                <a:latin typeface="+mn-lt"/>
              </a:rPr>
              <a:t>		</a:t>
            </a:r>
            <a:r>
              <a:rPr lang="en-US" i="1" kern="0" dirty="0">
                <a:latin typeface="+mn-lt"/>
              </a:rPr>
              <a:t>P</a:t>
            </a:r>
            <a:r>
              <a:rPr lang="en-US" i="1" kern="0" baseline="-25000" dirty="0">
                <a:latin typeface="+mn-lt"/>
              </a:rPr>
              <a:t>1</a:t>
            </a:r>
            <a:r>
              <a:rPr lang="en-US" kern="0" dirty="0">
                <a:latin typeface="+mn-lt"/>
              </a:rPr>
              <a:t>	0.0	7</a:t>
            </a:r>
          </a:p>
          <a:p>
            <a:pPr marL="228600" indent="-228600">
              <a:spcBef>
                <a:spcPct val="50000"/>
              </a:spcBef>
              <a:buSzPct val="140000"/>
              <a:tabLst>
                <a:tab pos="1603375" algn="ctr"/>
                <a:tab pos="3254375" algn="ctr"/>
                <a:tab pos="5143500" algn="ctr"/>
              </a:tabLst>
              <a:defRPr/>
            </a:pPr>
            <a:r>
              <a:rPr lang="en-US" kern="0" dirty="0">
                <a:latin typeface="+mn-lt"/>
              </a:rPr>
              <a:t>		 </a:t>
            </a:r>
            <a:r>
              <a:rPr lang="en-US" i="1" kern="0" dirty="0">
                <a:latin typeface="+mn-lt"/>
              </a:rPr>
              <a:t>P</a:t>
            </a:r>
            <a:r>
              <a:rPr lang="en-US" i="1" kern="0" baseline="-25000" dirty="0">
                <a:latin typeface="+mn-lt"/>
              </a:rPr>
              <a:t>2	</a:t>
            </a:r>
            <a:r>
              <a:rPr lang="en-US" kern="0" dirty="0">
                <a:latin typeface="+mn-lt"/>
              </a:rPr>
              <a:t>2.0	4</a:t>
            </a:r>
          </a:p>
          <a:p>
            <a:pPr marL="228600" indent="-228600">
              <a:spcBef>
                <a:spcPct val="50000"/>
              </a:spcBef>
              <a:buSzPct val="140000"/>
              <a:tabLst>
                <a:tab pos="1603375" algn="ctr"/>
                <a:tab pos="3254375" algn="ctr"/>
                <a:tab pos="5143500" algn="ctr"/>
              </a:tabLst>
              <a:defRPr/>
            </a:pPr>
            <a:r>
              <a:rPr lang="en-US" kern="0" dirty="0">
                <a:latin typeface="+mn-lt"/>
              </a:rPr>
              <a:t>		 </a:t>
            </a:r>
            <a:r>
              <a:rPr lang="en-US" i="1" kern="0" dirty="0">
                <a:latin typeface="+mn-lt"/>
              </a:rPr>
              <a:t>P</a:t>
            </a:r>
            <a:r>
              <a:rPr lang="en-US" i="1" kern="0" baseline="-25000" dirty="0">
                <a:latin typeface="+mn-lt"/>
              </a:rPr>
              <a:t>3</a:t>
            </a:r>
            <a:r>
              <a:rPr lang="en-US" kern="0" dirty="0">
                <a:latin typeface="+mn-lt"/>
              </a:rPr>
              <a:t>	4.0	1</a:t>
            </a:r>
          </a:p>
          <a:p>
            <a:pPr marL="228600" indent="-228600">
              <a:spcBef>
                <a:spcPct val="50000"/>
              </a:spcBef>
              <a:buSzPct val="140000"/>
              <a:tabLst>
                <a:tab pos="1603375" algn="ctr"/>
                <a:tab pos="3254375" algn="ctr"/>
                <a:tab pos="5143500" algn="ctr"/>
              </a:tabLst>
              <a:defRPr/>
            </a:pPr>
            <a:r>
              <a:rPr lang="en-US" kern="0" dirty="0">
                <a:latin typeface="+mn-lt"/>
              </a:rPr>
              <a:t>		 </a:t>
            </a:r>
            <a:r>
              <a:rPr lang="en-US" i="1" kern="0">
                <a:latin typeface="+mn-lt"/>
              </a:rPr>
              <a:t>P</a:t>
            </a:r>
            <a:r>
              <a:rPr lang="en-US" i="1" kern="0" baseline="-25000">
                <a:latin typeface="+mn-lt"/>
              </a:rPr>
              <a:t>4</a:t>
            </a:r>
            <a:r>
              <a:rPr lang="en-US" kern="0">
                <a:latin typeface="+mn-lt"/>
              </a:rPr>
              <a:t>	5.0	4</a:t>
            </a:r>
            <a:endParaRPr lang="en-US" kern="0">
              <a:latin typeface="+mn-lt"/>
              <a:cs typeface="Helvetica"/>
            </a:endParaRPr>
          </a:p>
          <a:p>
            <a:pPr marL="228600" indent="-228600">
              <a:spcBef>
                <a:spcPct val="50000"/>
              </a:spcBef>
              <a:buSzPct val="140000"/>
              <a:buFontTx/>
              <a:buChar char="•"/>
              <a:tabLst>
                <a:tab pos="1603375" algn="ctr"/>
                <a:tab pos="3254375" algn="ctr"/>
                <a:tab pos="5143500" algn="ctr"/>
              </a:tabLst>
              <a:defRPr/>
            </a:pPr>
            <a:r>
              <a:rPr lang="en-US" b="1" kern="0">
                <a:solidFill>
                  <a:srgbClr val="FF0000"/>
                </a:solidFill>
                <a:latin typeface="+mn-lt"/>
              </a:rPr>
              <a:t>SJF (Preemptive) on dual-core Gantt Chart:</a:t>
            </a:r>
            <a:endParaRPr lang="en-US" b="1" kern="0">
              <a:solidFill>
                <a:srgbClr val="FF0000"/>
              </a:solidFill>
              <a:latin typeface="+mn-lt"/>
              <a:cs typeface="Helvetica"/>
            </a:endParaRPr>
          </a:p>
          <a:p>
            <a:pPr>
              <a:spcBef>
                <a:spcPct val="50000"/>
              </a:spcBef>
              <a:buSzPct val="140000"/>
              <a:tabLst>
                <a:tab pos="1603375" algn="ctr"/>
                <a:tab pos="3254375" algn="ctr"/>
                <a:tab pos="5143500" algn="ctr"/>
              </a:tabLst>
              <a:defRPr/>
            </a:pPr>
            <a:endParaRPr lang="en-US" kern="0" dirty="0">
              <a:solidFill>
                <a:srgbClr val="FF0000"/>
              </a:solidFill>
              <a:latin typeface="+mn-lt"/>
              <a:cs typeface="Helvetica"/>
            </a:endParaRPr>
          </a:p>
          <a:p>
            <a:pPr>
              <a:spcBef>
                <a:spcPct val="50000"/>
              </a:spcBef>
              <a:tabLst>
                <a:tab pos="1603375" algn="ctr"/>
                <a:tab pos="3254375" algn="ctr"/>
                <a:tab pos="5143500" algn="ctr"/>
              </a:tabLst>
              <a:defRPr/>
            </a:pPr>
            <a:endParaRPr lang="en-US" kern="0" dirty="0">
              <a:solidFill>
                <a:srgbClr val="FF0000"/>
              </a:solidFill>
              <a:latin typeface="+mn-lt"/>
              <a:cs typeface="Helvetica"/>
            </a:endParaRPr>
          </a:p>
          <a:p>
            <a:pPr marL="228600" indent="-228600">
              <a:spcBef>
                <a:spcPct val="50000"/>
              </a:spcBef>
              <a:buSzPct val="140000"/>
              <a:buFontTx/>
              <a:buChar char="•"/>
              <a:tabLst>
                <a:tab pos="1603375" algn="ctr"/>
                <a:tab pos="3254375" algn="ctr"/>
                <a:tab pos="5143500" algn="ctr"/>
              </a:tabLst>
              <a:defRPr/>
            </a:pPr>
            <a:endParaRPr lang="en-US" kern="0" dirty="0">
              <a:solidFill>
                <a:srgbClr val="FF0000"/>
              </a:solidFill>
              <a:latin typeface="+mn-lt"/>
            </a:endParaRPr>
          </a:p>
          <a:p>
            <a:pPr>
              <a:spcBef>
                <a:spcPct val="50000"/>
              </a:spcBef>
              <a:buSzPct val="140000"/>
              <a:tabLst>
                <a:tab pos="1603375" algn="ctr"/>
                <a:tab pos="3254375" algn="ctr"/>
                <a:tab pos="5143500" algn="ctr"/>
              </a:tabLst>
              <a:defRPr/>
            </a:pPr>
            <a:endParaRPr lang="en-US" kern="0" dirty="0">
              <a:solidFill>
                <a:srgbClr val="FF0000"/>
              </a:solidFill>
              <a:latin typeface="+mn-lt"/>
              <a:cs typeface="Helvetica"/>
            </a:endParaRPr>
          </a:p>
        </p:txBody>
      </p:sp>
      <p:sp>
        <p:nvSpPr>
          <p:cNvPr id="60" name="Rectangle 37">
            <a:extLst>
              <a:ext uri="{FF2B5EF4-FFF2-40B4-BE49-F238E27FC236}">
                <a16:creationId xmlns:a16="http://schemas.microsoft.com/office/drawing/2014/main" id="{AA8066A1-8492-4E75-90D9-6002B080C3EE}"/>
              </a:ext>
            </a:extLst>
          </p:cNvPr>
          <p:cNvSpPr>
            <a:spLocks noChangeArrowheads="1"/>
          </p:cNvSpPr>
          <p:nvPr/>
        </p:nvSpPr>
        <p:spPr bwMode="auto">
          <a:xfrm flipH="1">
            <a:off x="1519373" y="3765370"/>
            <a:ext cx="3133147" cy="604973"/>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44033" name="Footer Placeholder 3">
            <a:extLst>
              <a:ext uri="{FF2B5EF4-FFF2-40B4-BE49-F238E27FC236}">
                <a16:creationId xmlns:a16="http://schemas.microsoft.com/office/drawing/2014/main" id="{D6A90478-06FE-4A1E-84E0-0CA3A26FEE1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44034" name="Rectangle 2">
            <a:extLst>
              <a:ext uri="{FF2B5EF4-FFF2-40B4-BE49-F238E27FC236}">
                <a16:creationId xmlns:a16="http://schemas.microsoft.com/office/drawing/2014/main" id="{7F75A811-4DF7-49BD-8DBF-6930EF88ABDB}"/>
              </a:ext>
            </a:extLst>
          </p:cNvPr>
          <p:cNvSpPr>
            <a:spLocks noGrp="1" noChangeArrowheads="1"/>
          </p:cNvSpPr>
          <p:nvPr>
            <p:ph type="title"/>
          </p:nvPr>
        </p:nvSpPr>
        <p:spPr>
          <a:xfrm>
            <a:off x="806450" y="495300"/>
            <a:ext cx="7502525" cy="457200"/>
          </a:xfrm>
        </p:spPr>
        <p:txBody>
          <a:bodyPr/>
          <a:lstStyle/>
          <a:p>
            <a:r>
              <a:rPr lang="en-US" altLang="en-US"/>
              <a:t>Example of SRTF (dual-core)</a:t>
            </a:r>
          </a:p>
        </p:txBody>
      </p:sp>
      <p:sp>
        <p:nvSpPr>
          <p:cNvPr id="44036" name="Rectangle 37">
            <a:extLst>
              <a:ext uri="{FF2B5EF4-FFF2-40B4-BE49-F238E27FC236}">
                <a16:creationId xmlns:a16="http://schemas.microsoft.com/office/drawing/2014/main" id="{464B77F3-273B-434B-AD96-EB1873854DFF}"/>
              </a:ext>
            </a:extLst>
          </p:cNvPr>
          <p:cNvSpPr>
            <a:spLocks noChangeArrowheads="1"/>
          </p:cNvSpPr>
          <p:nvPr/>
        </p:nvSpPr>
        <p:spPr bwMode="auto">
          <a:xfrm flipH="1">
            <a:off x="1524000" y="4362321"/>
            <a:ext cx="3730098" cy="618855"/>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18440" name="Text Box 39">
            <a:extLst>
              <a:ext uri="{FF2B5EF4-FFF2-40B4-BE49-F238E27FC236}">
                <a16:creationId xmlns:a16="http://schemas.microsoft.com/office/drawing/2014/main" id="{DCC40818-389E-4B41-80E6-F806F3389DE6}"/>
              </a:ext>
            </a:extLst>
          </p:cNvPr>
          <p:cNvSpPr txBox="1">
            <a:spLocks noChangeArrowheads="1"/>
          </p:cNvSpPr>
          <p:nvPr/>
        </p:nvSpPr>
        <p:spPr bwMode="auto">
          <a:xfrm flipH="1">
            <a:off x="2877090" y="3850420"/>
            <a:ext cx="4206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P</a:t>
            </a:r>
            <a:r>
              <a:rPr lang="en-US" altLang="en-US" baseline="-25000"/>
              <a:t>3</a:t>
            </a:r>
            <a:endParaRPr lang="en-US" altLang="en-US"/>
          </a:p>
        </p:txBody>
      </p:sp>
      <p:sp>
        <p:nvSpPr>
          <p:cNvPr id="18441" name="Text Box 40">
            <a:extLst>
              <a:ext uri="{FF2B5EF4-FFF2-40B4-BE49-F238E27FC236}">
                <a16:creationId xmlns:a16="http://schemas.microsoft.com/office/drawing/2014/main" id="{5E0C36CD-8D65-4CA2-B9F0-632876D9BC97}"/>
              </a:ext>
            </a:extLst>
          </p:cNvPr>
          <p:cNvSpPr txBox="1">
            <a:spLocks noChangeArrowheads="1"/>
          </p:cNvSpPr>
          <p:nvPr/>
        </p:nvSpPr>
        <p:spPr bwMode="auto">
          <a:xfrm flipH="1">
            <a:off x="2777265" y="4469199"/>
            <a:ext cx="4235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latin typeface="Helvetica"/>
                <a:cs typeface="Helvetica"/>
              </a:rPr>
              <a:t>P</a:t>
            </a:r>
            <a:r>
              <a:rPr lang="en-US" altLang="en-US" baseline="-25000">
                <a:latin typeface="Helvetica"/>
                <a:cs typeface="Helvetica"/>
              </a:rPr>
              <a:t>2</a:t>
            </a:r>
            <a:endParaRPr lang="en-US" altLang="en-US">
              <a:latin typeface="Helvetica"/>
              <a:cs typeface="Helvetica"/>
            </a:endParaRPr>
          </a:p>
        </p:txBody>
      </p:sp>
      <p:sp>
        <p:nvSpPr>
          <p:cNvPr id="44041" name="Line 42">
            <a:extLst>
              <a:ext uri="{FF2B5EF4-FFF2-40B4-BE49-F238E27FC236}">
                <a16:creationId xmlns:a16="http://schemas.microsoft.com/office/drawing/2014/main" id="{F9F0D9C8-C296-4F58-9FBC-23DAA68C43AC}"/>
              </a:ext>
            </a:extLst>
          </p:cNvPr>
          <p:cNvSpPr>
            <a:spLocks noChangeShapeType="1"/>
          </p:cNvSpPr>
          <p:nvPr/>
        </p:nvSpPr>
        <p:spPr bwMode="auto">
          <a:xfrm flipH="1">
            <a:off x="1524000" y="4981176"/>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4" name="Line 43">
            <a:extLst>
              <a:ext uri="{FF2B5EF4-FFF2-40B4-BE49-F238E27FC236}">
                <a16:creationId xmlns:a16="http://schemas.microsoft.com/office/drawing/2014/main" id="{0A5CD2F1-5C25-42A1-81BC-D1D63D56F8AF}"/>
              </a:ext>
            </a:extLst>
          </p:cNvPr>
          <p:cNvSpPr>
            <a:spLocks noChangeShapeType="1"/>
          </p:cNvSpPr>
          <p:nvPr/>
        </p:nvSpPr>
        <p:spPr bwMode="auto">
          <a:xfrm flipH="1">
            <a:off x="3813702" y="4371576"/>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5" name="Line 44">
            <a:extLst>
              <a:ext uri="{FF2B5EF4-FFF2-40B4-BE49-F238E27FC236}">
                <a16:creationId xmlns:a16="http://schemas.microsoft.com/office/drawing/2014/main" id="{21ECA1D5-2123-4DD9-AB26-F44D3BB718FF}"/>
              </a:ext>
            </a:extLst>
          </p:cNvPr>
          <p:cNvSpPr>
            <a:spLocks noChangeShapeType="1"/>
          </p:cNvSpPr>
          <p:nvPr/>
        </p:nvSpPr>
        <p:spPr bwMode="auto">
          <a:xfrm flipH="1">
            <a:off x="2119718" y="4357289"/>
            <a:ext cx="0" cy="5997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44" name="Line 45">
            <a:extLst>
              <a:ext uri="{FF2B5EF4-FFF2-40B4-BE49-F238E27FC236}">
                <a16:creationId xmlns:a16="http://schemas.microsoft.com/office/drawing/2014/main" id="{3FB10F30-2912-460C-97DF-3DEC9C32A2B7}"/>
              </a:ext>
            </a:extLst>
          </p:cNvPr>
          <p:cNvSpPr>
            <a:spLocks noChangeShapeType="1"/>
          </p:cNvSpPr>
          <p:nvPr/>
        </p:nvSpPr>
        <p:spPr bwMode="auto">
          <a:xfrm flipH="1">
            <a:off x="3810000" y="4981176"/>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47" name="Text Box 47">
            <a:extLst>
              <a:ext uri="{FF2B5EF4-FFF2-40B4-BE49-F238E27FC236}">
                <a16:creationId xmlns:a16="http://schemas.microsoft.com/office/drawing/2014/main" id="{DB8C3D48-B809-4F1F-8908-261668AEDC2C}"/>
              </a:ext>
            </a:extLst>
          </p:cNvPr>
          <p:cNvSpPr txBox="1">
            <a:spLocks noChangeArrowheads="1"/>
          </p:cNvSpPr>
          <p:nvPr/>
        </p:nvSpPr>
        <p:spPr bwMode="auto">
          <a:xfrm flipH="1">
            <a:off x="2743009" y="5139959"/>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dirty="0"/>
              <a:t>4</a:t>
            </a:r>
          </a:p>
        </p:txBody>
      </p:sp>
      <p:sp>
        <p:nvSpPr>
          <p:cNvPr id="18448" name="Text Box 48">
            <a:extLst>
              <a:ext uri="{FF2B5EF4-FFF2-40B4-BE49-F238E27FC236}">
                <a16:creationId xmlns:a16="http://schemas.microsoft.com/office/drawing/2014/main" id="{1927E1A7-F78A-4B29-859E-01FCE1B71989}"/>
              </a:ext>
            </a:extLst>
          </p:cNvPr>
          <p:cNvSpPr txBox="1">
            <a:spLocks noChangeArrowheads="1"/>
          </p:cNvSpPr>
          <p:nvPr/>
        </p:nvSpPr>
        <p:spPr bwMode="auto">
          <a:xfrm flipH="1">
            <a:off x="1962557" y="5139959"/>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dirty="0"/>
              <a:t>2</a:t>
            </a:r>
          </a:p>
        </p:txBody>
      </p:sp>
      <p:sp>
        <p:nvSpPr>
          <p:cNvPr id="44047" name="Text Box 49">
            <a:extLst>
              <a:ext uri="{FF2B5EF4-FFF2-40B4-BE49-F238E27FC236}">
                <a16:creationId xmlns:a16="http://schemas.microsoft.com/office/drawing/2014/main" id="{0AF7FCEF-2F7F-4CA7-BCBF-3AF784509294}"/>
              </a:ext>
            </a:extLst>
          </p:cNvPr>
          <p:cNvSpPr txBox="1">
            <a:spLocks noChangeArrowheads="1"/>
          </p:cNvSpPr>
          <p:nvPr/>
        </p:nvSpPr>
        <p:spPr bwMode="auto">
          <a:xfrm flipH="1">
            <a:off x="5044763" y="5119289"/>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dirty="0">
                <a:latin typeface="Helvetica"/>
                <a:cs typeface="Helvetica"/>
              </a:rPr>
              <a:t>10</a:t>
            </a:r>
            <a:endParaRPr lang="en-US" altLang="en-US" dirty="0"/>
          </a:p>
        </p:txBody>
      </p:sp>
      <p:sp>
        <p:nvSpPr>
          <p:cNvPr id="44048" name="Text Box 50">
            <a:extLst>
              <a:ext uri="{FF2B5EF4-FFF2-40B4-BE49-F238E27FC236}">
                <a16:creationId xmlns:a16="http://schemas.microsoft.com/office/drawing/2014/main" id="{12B1AEBA-CFFB-4D06-9F64-85A00AACF8B9}"/>
              </a:ext>
            </a:extLst>
          </p:cNvPr>
          <p:cNvSpPr txBox="1">
            <a:spLocks noChangeArrowheads="1"/>
          </p:cNvSpPr>
          <p:nvPr/>
        </p:nvSpPr>
        <p:spPr bwMode="auto">
          <a:xfrm flipH="1">
            <a:off x="1316070" y="5133576"/>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0</a:t>
            </a:r>
          </a:p>
        </p:txBody>
      </p:sp>
      <p:sp>
        <p:nvSpPr>
          <p:cNvPr id="18451" name="Text Box 51">
            <a:extLst>
              <a:ext uri="{FF2B5EF4-FFF2-40B4-BE49-F238E27FC236}">
                <a16:creationId xmlns:a16="http://schemas.microsoft.com/office/drawing/2014/main" id="{928E909E-F749-4ADF-A2C2-B92EDE79D7F6}"/>
              </a:ext>
            </a:extLst>
          </p:cNvPr>
          <p:cNvSpPr txBox="1">
            <a:spLocks noChangeArrowheads="1"/>
          </p:cNvSpPr>
          <p:nvPr/>
        </p:nvSpPr>
        <p:spPr bwMode="auto">
          <a:xfrm flipH="1">
            <a:off x="4326432" y="4433489"/>
            <a:ext cx="4206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P</a:t>
            </a:r>
            <a:r>
              <a:rPr lang="en-US" altLang="en-US" baseline="-25000"/>
              <a:t>4</a:t>
            </a:r>
            <a:endParaRPr lang="en-US" altLang="en-US"/>
          </a:p>
        </p:txBody>
      </p:sp>
      <p:sp>
        <p:nvSpPr>
          <p:cNvPr id="18452" name="Line 52">
            <a:extLst>
              <a:ext uri="{FF2B5EF4-FFF2-40B4-BE49-F238E27FC236}">
                <a16:creationId xmlns:a16="http://schemas.microsoft.com/office/drawing/2014/main" id="{9BDBF214-2F27-4CA5-8129-075F7FC3DE4B}"/>
              </a:ext>
            </a:extLst>
          </p:cNvPr>
          <p:cNvSpPr>
            <a:spLocks noChangeShapeType="1"/>
          </p:cNvSpPr>
          <p:nvPr/>
        </p:nvSpPr>
        <p:spPr bwMode="auto">
          <a:xfrm flipH="1">
            <a:off x="5255023" y="4371576"/>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54" name="Text Box 59">
            <a:extLst>
              <a:ext uri="{FF2B5EF4-FFF2-40B4-BE49-F238E27FC236}">
                <a16:creationId xmlns:a16="http://schemas.microsoft.com/office/drawing/2014/main" id="{8D8253D2-82DB-4A9C-B861-166B3A5BEFBD}"/>
              </a:ext>
            </a:extLst>
          </p:cNvPr>
          <p:cNvSpPr txBox="1">
            <a:spLocks noChangeArrowheads="1"/>
          </p:cNvSpPr>
          <p:nvPr/>
        </p:nvSpPr>
        <p:spPr bwMode="auto">
          <a:xfrm flipH="1">
            <a:off x="3253319" y="5139959"/>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dirty="0"/>
              <a:t>5</a:t>
            </a:r>
          </a:p>
        </p:txBody>
      </p:sp>
      <p:sp>
        <p:nvSpPr>
          <p:cNvPr id="44055" name="Line 60">
            <a:extLst>
              <a:ext uri="{FF2B5EF4-FFF2-40B4-BE49-F238E27FC236}">
                <a16:creationId xmlns:a16="http://schemas.microsoft.com/office/drawing/2014/main" id="{122AF21D-0C15-4917-A4B8-4FE3A1956974}"/>
              </a:ext>
            </a:extLst>
          </p:cNvPr>
          <p:cNvSpPr>
            <a:spLocks noChangeShapeType="1"/>
          </p:cNvSpPr>
          <p:nvPr/>
        </p:nvSpPr>
        <p:spPr bwMode="auto">
          <a:xfrm flipH="1">
            <a:off x="4648200" y="4868464"/>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57" name="Line 62">
            <a:extLst>
              <a:ext uri="{FF2B5EF4-FFF2-40B4-BE49-F238E27FC236}">
                <a16:creationId xmlns:a16="http://schemas.microsoft.com/office/drawing/2014/main" id="{25C1101E-3C2D-4F8D-A0E1-20EF2E34E9A8}"/>
              </a:ext>
            </a:extLst>
          </p:cNvPr>
          <p:cNvSpPr>
            <a:spLocks noChangeShapeType="1"/>
          </p:cNvSpPr>
          <p:nvPr/>
        </p:nvSpPr>
        <p:spPr bwMode="auto">
          <a:xfrm flipH="1">
            <a:off x="5257800" y="4868464"/>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59" name="Text Box 64">
            <a:extLst>
              <a:ext uri="{FF2B5EF4-FFF2-40B4-BE49-F238E27FC236}">
                <a16:creationId xmlns:a16="http://schemas.microsoft.com/office/drawing/2014/main" id="{731EDB79-0620-40EB-B661-6177B392D576}"/>
              </a:ext>
            </a:extLst>
          </p:cNvPr>
          <p:cNvSpPr txBox="1">
            <a:spLocks noChangeArrowheads="1"/>
          </p:cNvSpPr>
          <p:nvPr/>
        </p:nvSpPr>
        <p:spPr bwMode="auto">
          <a:xfrm flipH="1">
            <a:off x="4494052" y="5139959"/>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dirty="0">
                <a:latin typeface="Helvetica"/>
                <a:cs typeface="Helvetica"/>
              </a:rPr>
              <a:t>8</a:t>
            </a:r>
            <a:endParaRPr lang="en-US" altLang="en-US" dirty="0">
              <a:cs typeface="Helvetica"/>
            </a:endParaRPr>
          </a:p>
        </p:txBody>
      </p:sp>
      <p:sp>
        <p:nvSpPr>
          <p:cNvPr id="18468" name="Text Box 71">
            <a:extLst>
              <a:ext uri="{FF2B5EF4-FFF2-40B4-BE49-F238E27FC236}">
                <a16:creationId xmlns:a16="http://schemas.microsoft.com/office/drawing/2014/main" id="{096C4516-544E-4BC1-98DC-FCD75D63DD07}"/>
              </a:ext>
            </a:extLst>
          </p:cNvPr>
          <p:cNvSpPr txBox="1">
            <a:spLocks noChangeArrowheads="1"/>
          </p:cNvSpPr>
          <p:nvPr/>
        </p:nvSpPr>
        <p:spPr bwMode="auto">
          <a:xfrm flipH="1">
            <a:off x="3749842" y="3841165"/>
            <a:ext cx="4206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P</a:t>
            </a:r>
            <a:r>
              <a:rPr lang="en-US" altLang="en-US" baseline="-25000"/>
              <a:t>1</a:t>
            </a:r>
            <a:endParaRPr lang="en-US" altLang="en-US"/>
          </a:p>
        </p:txBody>
      </p:sp>
      <p:sp>
        <p:nvSpPr>
          <p:cNvPr id="18471" name="Text Box 6">
            <a:extLst>
              <a:ext uri="{FF2B5EF4-FFF2-40B4-BE49-F238E27FC236}">
                <a16:creationId xmlns:a16="http://schemas.microsoft.com/office/drawing/2014/main" id="{FC9D455B-F9B3-4292-8152-8A71FB86BF37}"/>
              </a:ext>
            </a:extLst>
          </p:cNvPr>
          <p:cNvSpPr txBox="1">
            <a:spLocks noChangeArrowheads="1"/>
          </p:cNvSpPr>
          <p:nvPr/>
        </p:nvSpPr>
        <p:spPr bwMode="auto">
          <a:xfrm flipH="1">
            <a:off x="1262063" y="5481779"/>
            <a:ext cx="4206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P</a:t>
            </a:r>
            <a:r>
              <a:rPr lang="en-US" altLang="en-US" baseline="-25000">
                <a:solidFill>
                  <a:srgbClr val="FF0000"/>
                </a:solidFill>
              </a:rPr>
              <a:t>1</a:t>
            </a:r>
            <a:endParaRPr lang="en-US" altLang="en-US">
              <a:solidFill>
                <a:srgbClr val="FF0000"/>
              </a:solidFill>
            </a:endParaRPr>
          </a:p>
        </p:txBody>
      </p:sp>
      <p:sp>
        <p:nvSpPr>
          <p:cNvPr id="74" name="Rectangle 73">
            <a:extLst>
              <a:ext uri="{FF2B5EF4-FFF2-40B4-BE49-F238E27FC236}">
                <a16:creationId xmlns:a16="http://schemas.microsoft.com/office/drawing/2014/main" id="{4C449C90-15FF-41C4-9D72-14437DD013C7}"/>
              </a:ext>
            </a:extLst>
          </p:cNvPr>
          <p:cNvSpPr>
            <a:spLocks noChangeArrowheads="1"/>
          </p:cNvSpPr>
          <p:nvPr/>
        </p:nvSpPr>
        <p:spPr bwMode="auto">
          <a:xfrm>
            <a:off x="1997075" y="5469349"/>
            <a:ext cx="4238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P</a:t>
            </a:r>
            <a:r>
              <a:rPr lang="en-US" altLang="en-US" baseline="-25000">
                <a:solidFill>
                  <a:srgbClr val="FF0000"/>
                </a:solidFill>
              </a:rPr>
              <a:t>2</a:t>
            </a:r>
            <a:endParaRPr lang="en-US" altLang="en-US">
              <a:solidFill>
                <a:srgbClr val="FF0000"/>
              </a:solidFill>
            </a:endParaRPr>
          </a:p>
        </p:txBody>
      </p:sp>
      <p:sp>
        <p:nvSpPr>
          <p:cNvPr id="75" name="Rectangle 74">
            <a:extLst>
              <a:ext uri="{FF2B5EF4-FFF2-40B4-BE49-F238E27FC236}">
                <a16:creationId xmlns:a16="http://schemas.microsoft.com/office/drawing/2014/main" id="{D6CA9A1E-F0A0-4838-8A21-6DBEDAD770E9}"/>
              </a:ext>
            </a:extLst>
          </p:cNvPr>
          <p:cNvSpPr>
            <a:spLocks noChangeArrowheads="1"/>
          </p:cNvSpPr>
          <p:nvPr/>
        </p:nvSpPr>
        <p:spPr bwMode="auto">
          <a:xfrm>
            <a:off x="2760663" y="5484414"/>
            <a:ext cx="4222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P</a:t>
            </a:r>
            <a:r>
              <a:rPr lang="en-US" altLang="en-US" baseline="-25000">
                <a:solidFill>
                  <a:srgbClr val="FF0000"/>
                </a:solidFill>
              </a:rPr>
              <a:t>3</a:t>
            </a:r>
            <a:endParaRPr lang="en-US" altLang="en-US">
              <a:solidFill>
                <a:srgbClr val="FF0000"/>
              </a:solidFill>
            </a:endParaRPr>
          </a:p>
        </p:txBody>
      </p:sp>
      <p:sp>
        <p:nvSpPr>
          <p:cNvPr id="76" name="Rectangle 75">
            <a:extLst>
              <a:ext uri="{FF2B5EF4-FFF2-40B4-BE49-F238E27FC236}">
                <a16:creationId xmlns:a16="http://schemas.microsoft.com/office/drawing/2014/main" id="{24DBC12A-BC61-4D00-A96A-27E0A063A027}"/>
              </a:ext>
            </a:extLst>
          </p:cNvPr>
          <p:cNvSpPr>
            <a:spLocks noChangeArrowheads="1"/>
          </p:cNvSpPr>
          <p:nvPr/>
        </p:nvSpPr>
        <p:spPr bwMode="auto">
          <a:xfrm>
            <a:off x="3224213" y="5469349"/>
            <a:ext cx="4238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P</a:t>
            </a:r>
            <a:r>
              <a:rPr lang="en-US" altLang="en-US" baseline="-25000">
                <a:solidFill>
                  <a:srgbClr val="FF0000"/>
                </a:solidFill>
              </a:rPr>
              <a:t>4</a:t>
            </a:r>
            <a:endParaRPr lang="en-US" altLang="en-US">
              <a:solidFill>
                <a:srgbClr val="FF0000"/>
              </a:solidFill>
            </a:endParaRPr>
          </a:p>
        </p:txBody>
      </p:sp>
      <p:sp>
        <p:nvSpPr>
          <p:cNvPr id="77" name="Rectangle 76">
            <a:extLst>
              <a:ext uri="{FF2B5EF4-FFF2-40B4-BE49-F238E27FC236}">
                <a16:creationId xmlns:a16="http://schemas.microsoft.com/office/drawing/2014/main" id="{6E58FC73-C69F-4BEF-8F82-32B4B927F556}"/>
              </a:ext>
            </a:extLst>
          </p:cNvPr>
          <p:cNvSpPr>
            <a:spLocks noChangeArrowheads="1"/>
          </p:cNvSpPr>
          <p:nvPr/>
        </p:nvSpPr>
        <p:spPr bwMode="auto">
          <a:xfrm>
            <a:off x="6743615" y="1576388"/>
            <a:ext cx="3129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t">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cs typeface="Helvetica"/>
              </a:rPr>
              <a:t>3</a:t>
            </a:r>
            <a:endParaRPr lang="en-US" altLang="en-US" dirty="0">
              <a:solidFill>
                <a:srgbClr val="FF0000"/>
              </a:solidFill>
              <a:cs typeface="Helvetica"/>
            </a:endParaRPr>
          </a:p>
        </p:txBody>
      </p:sp>
      <p:cxnSp>
        <p:nvCxnSpPr>
          <p:cNvPr id="78" name="Straight Arrow Connector 77">
            <a:extLst>
              <a:ext uri="{FF2B5EF4-FFF2-40B4-BE49-F238E27FC236}">
                <a16:creationId xmlns:a16="http://schemas.microsoft.com/office/drawing/2014/main" id="{835E485C-6A0D-4BB0-9781-DF0ADBDE516C}"/>
              </a:ext>
            </a:extLst>
          </p:cNvPr>
          <p:cNvCxnSpPr>
            <a:cxnSpLocks noChangeShapeType="1"/>
            <a:endCxn id="77" idx="1"/>
          </p:cNvCxnSpPr>
          <p:nvPr/>
        </p:nvCxnSpPr>
        <p:spPr bwMode="auto">
          <a:xfrm flipV="1">
            <a:off x="6477000" y="1761054"/>
            <a:ext cx="266615" cy="1072"/>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79" name="Rectangle 78">
            <a:extLst>
              <a:ext uri="{FF2B5EF4-FFF2-40B4-BE49-F238E27FC236}">
                <a16:creationId xmlns:a16="http://schemas.microsoft.com/office/drawing/2014/main" id="{E49F3093-9EDD-43F2-B3E0-06D641969ED2}"/>
              </a:ext>
            </a:extLst>
          </p:cNvPr>
          <p:cNvSpPr>
            <a:spLocks noChangeArrowheads="1"/>
          </p:cNvSpPr>
          <p:nvPr/>
        </p:nvSpPr>
        <p:spPr bwMode="auto">
          <a:xfrm>
            <a:off x="6705008" y="2025650"/>
            <a:ext cx="3129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t">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cs typeface="Helvetica"/>
              </a:rPr>
              <a:t>0</a:t>
            </a:r>
            <a:endParaRPr lang="en-US" altLang="en-US" dirty="0">
              <a:solidFill>
                <a:srgbClr val="FF0000"/>
              </a:solidFill>
              <a:cs typeface="Helvetica"/>
            </a:endParaRPr>
          </a:p>
        </p:txBody>
      </p:sp>
      <p:cxnSp>
        <p:nvCxnSpPr>
          <p:cNvPr id="80" name="Straight Arrow Connector 79">
            <a:extLst>
              <a:ext uri="{FF2B5EF4-FFF2-40B4-BE49-F238E27FC236}">
                <a16:creationId xmlns:a16="http://schemas.microsoft.com/office/drawing/2014/main" id="{A1A82D82-0710-4F30-B82B-E62DACC807EA}"/>
              </a:ext>
            </a:extLst>
          </p:cNvPr>
          <p:cNvCxnSpPr>
            <a:cxnSpLocks noChangeShapeType="1"/>
            <a:endCxn id="79" idx="1"/>
          </p:cNvCxnSpPr>
          <p:nvPr/>
        </p:nvCxnSpPr>
        <p:spPr bwMode="auto">
          <a:xfrm>
            <a:off x="6438393" y="2209800"/>
            <a:ext cx="266615" cy="516"/>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44077" name="Line 53">
            <a:extLst>
              <a:ext uri="{FF2B5EF4-FFF2-40B4-BE49-F238E27FC236}">
                <a16:creationId xmlns:a16="http://schemas.microsoft.com/office/drawing/2014/main" id="{54C0BD6D-5060-42A3-8749-837D76BBAAD9}"/>
              </a:ext>
            </a:extLst>
          </p:cNvPr>
          <p:cNvSpPr>
            <a:spLocks noChangeShapeType="1"/>
          </p:cNvSpPr>
          <p:nvPr/>
        </p:nvSpPr>
        <p:spPr bwMode="auto">
          <a:xfrm flipH="1">
            <a:off x="2125663" y="4906564"/>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78" name="Line 53">
            <a:extLst>
              <a:ext uri="{FF2B5EF4-FFF2-40B4-BE49-F238E27FC236}">
                <a16:creationId xmlns:a16="http://schemas.microsoft.com/office/drawing/2014/main" id="{2A4D9B80-921F-4450-8C47-FC22BD11391A}"/>
              </a:ext>
            </a:extLst>
          </p:cNvPr>
          <p:cNvSpPr>
            <a:spLocks noChangeShapeType="1"/>
          </p:cNvSpPr>
          <p:nvPr/>
        </p:nvSpPr>
        <p:spPr bwMode="auto">
          <a:xfrm flipH="1">
            <a:off x="2903538" y="4876401"/>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79" name="Line 53">
            <a:extLst>
              <a:ext uri="{FF2B5EF4-FFF2-40B4-BE49-F238E27FC236}">
                <a16:creationId xmlns:a16="http://schemas.microsoft.com/office/drawing/2014/main" id="{D72B8EC9-66F7-49A9-A1AE-F390FCE087FC}"/>
              </a:ext>
            </a:extLst>
          </p:cNvPr>
          <p:cNvSpPr>
            <a:spLocks noChangeShapeType="1"/>
          </p:cNvSpPr>
          <p:nvPr/>
        </p:nvSpPr>
        <p:spPr bwMode="auto">
          <a:xfrm flipH="1">
            <a:off x="3421063" y="4879863"/>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 name="Rectangle 53">
            <a:extLst>
              <a:ext uri="{FF2B5EF4-FFF2-40B4-BE49-F238E27FC236}">
                <a16:creationId xmlns:a16="http://schemas.microsoft.com/office/drawing/2014/main" id="{80C6F718-9AB5-4F83-A3FB-F8950EB2B4CE}"/>
              </a:ext>
            </a:extLst>
          </p:cNvPr>
          <p:cNvSpPr>
            <a:spLocks noChangeArrowheads="1"/>
          </p:cNvSpPr>
          <p:nvPr/>
        </p:nvSpPr>
        <p:spPr bwMode="auto">
          <a:xfrm>
            <a:off x="6719888" y="2444750"/>
            <a:ext cx="312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0</a:t>
            </a:r>
          </a:p>
        </p:txBody>
      </p:sp>
      <p:cxnSp>
        <p:nvCxnSpPr>
          <p:cNvPr id="55" name="Straight Arrow Connector 54">
            <a:extLst>
              <a:ext uri="{FF2B5EF4-FFF2-40B4-BE49-F238E27FC236}">
                <a16:creationId xmlns:a16="http://schemas.microsoft.com/office/drawing/2014/main" id="{2E768CE2-F2C1-4731-8C9D-AD433C21E5A6}"/>
              </a:ext>
            </a:extLst>
          </p:cNvPr>
          <p:cNvCxnSpPr>
            <a:cxnSpLocks noChangeShapeType="1"/>
            <a:endCxn id="54" idx="1"/>
          </p:cNvCxnSpPr>
          <p:nvPr/>
        </p:nvCxnSpPr>
        <p:spPr bwMode="auto">
          <a:xfrm>
            <a:off x="6453188" y="2628900"/>
            <a:ext cx="266700" cy="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56" name="Rectangle 55">
            <a:extLst>
              <a:ext uri="{FF2B5EF4-FFF2-40B4-BE49-F238E27FC236}">
                <a16:creationId xmlns:a16="http://schemas.microsoft.com/office/drawing/2014/main" id="{BA06043D-4182-4A83-943B-F464F65C129C}"/>
              </a:ext>
            </a:extLst>
          </p:cNvPr>
          <p:cNvSpPr>
            <a:spLocks noChangeArrowheads="1"/>
          </p:cNvSpPr>
          <p:nvPr/>
        </p:nvSpPr>
        <p:spPr bwMode="auto">
          <a:xfrm>
            <a:off x="6725439" y="2794000"/>
            <a:ext cx="312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0</a:t>
            </a:r>
          </a:p>
        </p:txBody>
      </p:sp>
      <p:cxnSp>
        <p:nvCxnSpPr>
          <p:cNvPr id="57" name="Straight Arrow Connector 56">
            <a:extLst>
              <a:ext uri="{FF2B5EF4-FFF2-40B4-BE49-F238E27FC236}">
                <a16:creationId xmlns:a16="http://schemas.microsoft.com/office/drawing/2014/main" id="{56821C0F-BC3B-40E1-BFE3-919A53176857}"/>
              </a:ext>
            </a:extLst>
          </p:cNvPr>
          <p:cNvCxnSpPr>
            <a:cxnSpLocks noChangeShapeType="1"/>
          </p:cNvCxnSpPr>
          <p:nvPr/>
        </p:nvCxnSpPr>
        <p:spPr bwMode="auto">
          <a:xfrm>
            <a:off x="6448425" y="2978150"/>
            <a:ext cx="266700" cy="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58" name="Rectangle 57">
            <a:extLst>
              <a:ext uri="{FF2B5EF4-FFF2-40B4-BE49-F238E27FC236}">
                <a16:creationId xmlns:a16="http://schemas.microsoft.com/office/drawing/2014/main" id="{297D1981-D438-4307-8190-F44D6F8FC811}"/>
              </a:ext>
            </a:extLst>
          </p:cNvPr>
          <p:cNvSpPr>
            <a:spLocks noChangeArrowheads="1"/>
          </p:cNvSpPr>
          <p:nvPr/>
        </p:nvSpPr>
        <p:spPr bwMode="auto">
          <a:xfrm>
            <a:off x="7350168" y="1577975"/>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0</a:t>
            </a:r>
          </a:p>
        </p:txBody>
      </p:sp>
      <p:cxnSp>
        <p:nvCxnSpPr>
          <p:cNvPr id="59" name="Straight Arrow Connector 58">
            <a:extLst>
              <a:ext uri="{FF2B5EF4-FFF2-40B4-BE49-F238E27FC236}">
                <a16:creationId xmlns:a16="http://schemas.microsoft.com/office/drawing/2014/main" id="{D4EBAE86-BE3E-4937-B5C2-D8CA52E8C928}"/>
              </a:ext>
            </a:extLst>
          </p:cNvPr>
          <p:cNvCxnSpPr>
            <a:cxnSpLocks noChangeShapeType="1"/>
          </p:cNvCxnSpPr>
          <p:nvPr/>
        </p:nvCxnSpPr>
        <p:spPr bwMode="auto">
          <a:xfrm>
            <a:off x="7094547" y="1762125"/>
            <a:ext cx="266700" cy="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2" name="TextBox 1">
            <a:extLst>
              <a:ext uri="{FF2B5EF4-FFF2-40B4-BE49-F238E27FC236}">
                <a16:creationId xmlns:a16="http://schemas.microsoft.com/office/drawing/2014/main" id="{41846605-DE17-43B7-A441-EBCB74CD2126}"/>
              </a:ext>
            </a:extLst>
          </p:cNvPr>
          <p:cNvSpPr txBox="1"/>
          <p:nvPr/>
        </p:nvSpPr>
        <p:spPr>
          <a:xfrm>
            <a:off x="493295" y="3885274"/>
            <a:ext cx="89218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Helvetica"/>
                <a:cs typeface="Helvetica"/>
              </a:rPr>
              <a:t>Core 1</a:t>
            </a:r>
            <a:endParaRPr lang="en-US"/>
          </a:p>
        </p:txBody>
      </p:sp>
      <p:sp>
        <p:nvSpPr>
          <p:cNvPr id="61" name="TextBox 60">
            <a:extLst>
              <a:ext uri="{FF2B5EF4-FFF2-40B4-BE49-F238E27FC236}">
                <a16:creationId xmlns:a16="http://schemas.microsoft.com/office/drawing/2014/main" id="{B13723E1-0F5D-4E61-9802-248BD26CB222}"/>
              </a:ext>
            </a:extLst>
          </p:cNvPr>
          <p:cNvSpPr txBox="1"/>
          <p:nvPr/>
        </p:nvSpPr>
        <p:spPr>
          <a:xfrm>
            <a:off x="484040" y="4472970"/>
            <a:ext cx="89218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Helvetica"/>
                <a:cs typeface="Helvetica"/>
              </a:rPr>
              <a:t>Core 2</a:t>
            </a:r>
            <a:endParaRPr lang="en-US"/>
          </a:p>
        </p:txBody>
      </p:sp>
      <p:sp>
        <p:nvSpPr>
          <p:cNvPr id="4" name="Text Box 38">
            <a:extLst>
              <a:ext uri="{FF2B5EF4-FFF2-40B4-BE49-F238E27FC236}">
                <a16:creationId xmlns:a16="http://schemas.microsoft.com/office/drawing/2014/main" id="{71D4B517-FC26-4670-9055-886A4134D396}"/>
              </a:ext>
            </a:extLst>
          </p:cNvPr>
          <p:cNvSpPr txBox="1">
            <a:spLocks noChangeArrowheads="1"/>
          </p:cNvSpPr>
          <p:nvPr/>
        </p:nvSpPr>
        <p:spPr bwMode="auto">
          <a:xfrm flipH="1">
            <a:off x="1946956" y="3887132"/>
            <a:ext cx="4206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P</a:t>
            </a:r>
            <a:r>
              <a:rPr lang="en-US" altLang="en-US" baseline="-25000"/>
              <a:t>1</a:t>
            </a:r>
            <a:endParaRPr lang="en-US" altLang="en-US"/>
          </a:p>
        </p:txBody>
      </p:sp>
      <p:sp>
        <p:nvSpPr>
          <p:cNvPr id="15394" name="Line 69">
            <a:extLst>
              <a:ext uri="{FF2B5EF4-FFF2-40B4-BE49-F238E27FC236}">
                <a16:creationId xmlns:a16="http://schemas.microsoft.com/office/drawing/2014/main" id="{FC800C91-AACE-43A6-A27E-CC7E07A761F9}"/>
              </a:ext>
            </a:extLst>
          </p:cNvPr>
          <p:cNvSpPr>
            <a:spLocks noChangeShapeType="1"/>
          </p:cNvSpPr>
          <p:nvPr/>
        </p:nvSpPr>
        <p:spPr bwMode="auto">
          <a:xfrm flipH="1">
            <a:off x="3424373" y="3695551"/>
            <a:ext cx="0" cy="6783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 name="Text Box 59">
            <a:extLst>
              <a:ext uri="{FF2B5EF4-FFF2-40B4-BE49-F238E27FC236}">
                <a16:creationId xmlns:a16="http://schemas.microsoft.com/office/drawing/2014/main" id="{136A6C58-5033-4EB4-B09E-B6D4FB6783AB}"/>
              </a:ext>
            </a:extLst>
          </p:cNvPr>
          <p:cNvSpPr txBox="1">
            <a:spLocks noChangeArrowheads="1"/>
          </p:cNvSpPr>
          <p:nvPr/>
        </p:nvSpPr>
        <p:spPr bwMode="auto">
          <a:xfrm flipH="1">
            <a:off x="3599648" y="5138649"/>
            <a:ext cx="3129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cs typeface="Helvetica"/>
              </a:rPr>
              <a:t>6</a:t>
            </a:r>
            <a:endParaRPr lang="en-US" altLang="en-US" dirty="0">
              <a:cs typeface="Helvetica"/>
            </a:endParaRPr>
          </a:p>
        </p:txBody>
      </p:sp>
      <p:sp>
        <p:nvSpPr>
          <p:cNvPr id="8" name="Line 69">
            <a:extLst>
              <a:ext uri="{FF2B5EF4-FFF2-40B4-BE49-F238E27FC236}">
                <a16:creationId xmlns:a16="http://schemas.microsoft.com/office/drawing/2014/main" id="{336E5930-C9BE-4F67-8672-92E14D610B50}"/>
              </a:ext>
            </a:extLst>
          </p:cNvPr>
          <p:cNvSpPr>
            <a:spLocks noChangeShapeType="1"/>
          </p:cNvSpPr>
          <p:nvPr/>
        </p:nvSpPr>
        <p:spPr bwMode="auto">
          <a:xfrm flipH="1">
            <a:off x="2896526" y="3690615"/>
            <a:ext cx="0" cy="6783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 name="Rectangle 36">
            <a:extLst>
              <a:ext uri="{FF2B5EF4-FFF2-40B4-BE49-F238E27FC236}">
                <a16:creationId xmlns:a16="http://schemas.microsoft.com/office/drawing/2014/main" id="{AE0B5EB9-9961-41F0-8334-784B430005C9}"/>
              </a:ext>
            </a:extLst>
          </p:cNvPr>
          <p:cNvSpPr txBox="1">
            <a:spLocks noChangeArrowheads="1"/>
          </p:cNvSpPr>
          <p:nvPr/>
        </p:nvSpPr>
        <p:spPr bwMode="auto">
          <a:xfrm>
            <a:off x="1105160" y="6094847"/>
            <a:ext cx="7029450" cy="450938"/>
          </a:xfrm>
          <a:prstGeom prst="rect">
            <a:avLst/>
          </a:prstGeom>
          <a:noFill/>
          <a:ln w="9525">
            <a:noFill/>
            <a:miter lim="800000"/>
            <a:headEnd/>
            <a:tailEnd/>
          </a:ln>
        </p:spPr>
        <p:txBody>
          <a:bodyPr lIns="91440" tIns="45720" rIns="91440" bIns="45720" anchor="t"/>
          <a:lstStyle/>
          <a:p>
            <a:pPr marL="228600" indent="-228600">
              <a:spcBef>
                <a:spcPct val="50000"/>
              </a:spcBef>
              <a:buSzPct val="140000"/>
              <a:buFontTx/>
              <a:buChar char="•"/>
              <a:tabLst>
                <a:tab pos="1603375" algn="ctr"/>
                <a:tab pos="3254375" algn="ctr"/>
                <a:tab pos="5143500" algn="ctr"/>
              </a:tabLst>
              <a:defRPr/>
            </a:pPr>
            <a:r>
              <a:rPr lang="en-US" kern="0">
                <a:latin typeface="+mn-lt"/>
              </a:rPr>
              <a:t>Average waiting time = (1 + 0 + 0 + 1)/4 = 0.5</a:t>
            </a:r>
            <a:endParaRPr lang="en-US" i="1" kern="0" baseline="-25000">
              <a:latin typeface="+mn-lt"/>
            </a:endParaRPr>
          </a:p>
        </p:txBody>
      </p:sp>
    </p:spTree>
    <p:extLst>
      <p:ext uri="{BB962C8B-B14F-4D97-AF65-F5344CB8AC3E}">
        <p14:creationId xmlns:p14="http://schemas.microsoft.com/office/powerpoint/2010/main" val="21759143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8471"/>
                                        </p:tgtEl>
                                        <p:attrNameLst>
                                          <p:attrName>style.visibility</p:attrName>
                                        </p:attrNameLst>
                                      </p:cBhvr>
                                      <p:to>
                                        <p:strVal val="visible"/>
                                      </p:to>
                                    </p:set>
                                    <p:animEffect transition="in" filter="box(in)">
                                      <p:cBhvr>
                                        <p:cTn id="7" dur="2100"/>
                                        <p:tgtEl>
                                          <p:spTgt spid="18471"/>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ox(in)">
                                      <p:cBhvr>
                                        <p:cTn id="10" dur="2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74"/>
                                        </p:tgtEl>
                                        <p:attrNameLst>
                                          <p:attrName>style.visibility</p:attrName>
                                        </p:attrNameLst>
                                      </p:cBhvr>
                                      <p:to>
                                        <p:strVal val="visible"/>
                                      </p:to>
                                    </p:set>
                                    <p:animEffect transition="in" filter="box(in)">
                                      <p:cBhvr>
                                        <p:cTn id="15" dur="2000"/>
                                        <p:tgtEl>
                                          <p:spTgt spid="74"/>
                                        </p:tgtEl>
                                      </p:cBhvr>
                                    </p:animEffec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0"/>
                                          </p:stCondLst>
                                        </p:cTn>
                                        <p:tgtEl>
                                          <p:spTgt spid="18448">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445"/>
                                        </p:tgtEl>
                                        <p:attrNameLst>
                                          <p:attrName>style.visibility</p:attrName>
                                        </p:attrNameLst>
                                      </p:cBhvr>
                                      <p:to>
                                        <p:strVal val="visible"/>
                                      </p:to>
                                    </p:set>
                                  </p:childTnLst>
                                </p:cTn>
                              </p:par>
                            </p:childTnLst>
                          </p:cTn>
                        </p:par>
                        <p:par>
                          <p:cTn id="21" fill="hold">
                            <p:stCondLst>
                              <p:cond delay="2000"/>
                            </p:stCondLst>
                            <p:childTnLst>
                              <p:par>
                                <p:cTn id="22" presetID="1" presetClass="entr" presetSubtype="0" fill="hold" grpId="0" nodeType="afterEffect">
                                  <p:stCondLst>
                                    <p:cond delay="0"/>
                                  </p:stCondLst>
                                  <p:childTnLst>
                                    <p:set>
                                      <p:cBhvr>
                                        <p:cTn id="23" dur="1" fill="hold">
                                          <p:stCondLst>
                                            <p:cond delay="0"/>
                                          </p:stCondLst>
                                        </p:cTn>
                                        <p:tgtEl>
                                          <p:spTgt spid="1844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75"/>
                                        </p:tgtEl>
                                        <p:attrNameLst>
                                          <p:attrName>style.visibility</p:attrName>
                                        </p:attrNameLst>
                                      </p:cBhvr>
                                      <p:to>
                                        <p:strVal val="visible"/>
                                      </p:to>
                                    </p:set>
                                    <p:animEffect transition="in" filter="box(in)">
                                      <p:cBhvr>
                                        <p:cTn id="28" dur="2000"/>
                                        <p:tgtEl>
                                          <p:spTgt spid="75"/>
                                        </p:tgtEl>
                                      </p:cBhvr>
                                    </p:animEffect>
                                  </p:childTnLst>
                                </p:cTn>
                              </p:par>
                            </p:childTnLst>
                          </p:cTn>
                        </p:par>
                        <p:par>
                          <p:cTn id="29" fill="hold">
                            <p:stCondLst>
                              <p:cond delay="2000"/>
                            </p:stCondLst>
                            <p:childTnLst>
                              <p:par>
                                <p:cTn id="30" presetID="1" presetClass="entr" presetSubtype="0" fill="hold" grpId="0" nodeType="afterEffect">
                                  <p:stCondLst>
                                    <p:cond delay="0"/>
                                  </p:stCondLst>
                                  <p:childTnLst>
                                    <p:set>
                                      <p:cBhvr>
                                        <p:cTn id="31" dur="1" fill="hold">
                                          <p:stCondLst>
                                            <p:cond delay="0"/>
                                          </p:stCondLst>
                                        </p:cTn>
                                        <p:tgtEl>
                                          <p:spTgt spid="18447"/>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childTnLst>
                                </p:cTn>
                              </p:par>
                            </p:childTnLst>
                          </p:cTn>
                        </p:par>
                        <p:par>
                          <p:cTn id="34" fill="hold">
                            <p:stCondLst>
                              <p:cond delay="2000"/>
                            </p:stCondLst>
                            <p:childTnLst>
                              <p:par>
                                <p:cTn id="35" presetID="1" presetClass="entr" presetSubtype="0" fill="hold" nodeType="afterEffect">
                                  <p:stCondLst>
                                    <p:cond delay="0"/>
                                  </p:stCondLst>
                                  <p:childTnLst>
                                    <p:set>
                                      <p:cBhvr>
                                        <p:cTn id="36" dur="1" fill="hold">
                                          <p:stCondLst>
                                            <p:cond delay="0"/>
                                          </p:stCondLst>
                                        </p:cTn>
                                        <p:tgtEl>
                                          <p:spTgt spid="7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7"/>
                                        </p:tgtEl>
                                        <p:attrNameLst>
                                          <p:attrName>style.visibility</p:attrName>
                                        </p:attrNameLst>
                                      </p:cBhvr>
                                      <p:to>
                                        <p:strVal val="visible"/>
                                      </p:to>
                                    </p:set>
                                  </p:childTnLst>
                                </p:cTn>
                              </p:par>
                            </p:childTnLst>
                          </p:cTn>
                        </p:par>
                        <p:par>
                          <p:cTn id="39" fill="hold">
                            <p:stCondLst>
                              <p:cond delay="2000"/>
                            </p:stCondLst>
                            <p:childTnLst>
                              <p:par>
                                <p:cTn id="40" presetID="4" presetClass="entr" presetSubtype="16" fill="hold" grpId="0" nodeType="afterEffect">
                                  <p:stCondLst>
                                    <p:cond delay="0"/>
                                  </p:stCondLst>
                                  <p:childTnLst>
                                    <p:set>
                                      <p:cBhvr>
                                        <p:cTn id="41" dur="1" fill="hold">
                                          <p:stCondLst>
                                            <p:cond delay="0"/>
                                          </p:stCondLst>
                                        </p:cTn>
                                        <p:tgtEl>
                                          <p:spTgt spid="18440"/>
                                        </p:tgtEl>
                                        <p:attrNameLst>
                                          <p:attrName>style.visibility</p:attrName>
                                        </p:attrNameLst>
                                      </p:cBhvr>
                                      <p:to>
                                        <p:strVal val="visible"/>
                                      </p:to>
                                    </p:set>
                                    <p:animEffect transition="in" filter="box(in)">
                                      <p:cBhvr>
                                        <p:cTn id="42" dur="2000"/>
                                        <p:tgtEl>
                                          <p:spTgt spid="18440"/>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76"/>
                                        </p:tgtEl>
                                        <p:attrNameLst>
                                          <p:attrName>style.visibility</p:attrName>
                                        </p:attrNameLst>
                                      </p:cBhvr>
                                      <p:to>
                                        <p:strVal val="visible"/>
                                      </p:to>
                                    </p:set>
                                    <p:animEffect transition="in" filter="box(in)">
                                      <p:cBhvr>
                                        <p:cTn id="47" dur="2000"/>
                                        <p:tgtEl>
                                          <p:spTgt spid="76"/>
                                        </p:tgtEl>
                                      </p:cBhvr>
                                    </p:animEffect>
                                  </p:childTnLst>
                                </p:cTn>
                              </p:par>
                            </p:childTnLst>
                          </p:cTn>
                        </p:par>
                        <p:par>
                          <p:cTn id="48" fill="hold">
                            <p:stCondLst>
                              <p:cond delay="2000"/>
                            </p:stCondLst>
                            <p:childTnLst>
                              <p:par>
                                <p:cTn id="49" presetID="1" presetClass="entr" presetSubtype="0" fill="hold" grpId="0" nodeType="afterEffect">
                                  <p:stCondLst>
                                    <p:cond delay="0"/>
                                  </p:stCondLst>
                                  <p:childTnLst>
                                    <p:set>
                                      <p:cBhvr>
                                        <p:cTn id="50" dur="1" fill="hold">
                                          <p:stCondLst>
                                            <p:cond delay="0"/>
                                          </p:stCondLst>
                                        </p:cTn>
                                        <p:tgtEl>
                                          <p:spTgt spid="4405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5394"/>
                                        </p:tgtEl>
                                        <p:attrNameLst>
                                          <p:attrName>style.visibility</p:attrName>
                                        </p:attrNameLst>
                                      </p:cBhvr>
                                      <p:to>
                                        <p:strVal val="visible"/>
                                      </p:to>
                                    </p:set>
                                  </p:childTnLst>
                                </p:cTn>
                              </p:par>
                            </p:childTnLst>
                          </p:cTn>
                        </p:par>
                        <p:par>
                          <p:cTn id="53" fill="hold">
                            <p:stCondLst>
                              <p:cond delay="2000"/>
                            </p:stCondLst>
                            <p:childTnLst>
                              <p:par>
                                <p:cTn id="54" presetID="1" presetClass="entr" presetSubtype="0" fill="hold" nodeType="afterEffect">
                                  <p:stCondLst>
                                    <p:cond delay="0"/>
                                  </p:stCondLst>
                                  <p:childTnLst>
                                    <p:set>
                                      <p:cBhvr>
                                        <p:cTn id="55" dur="1" fill="hold">
                                          <p:stCondLst>
                                            <p:cond delay="0"/>
                                          </p:stCondLst>
                                        </p:cTn>
                                        <p:tgtEl>
                                          <p:spTgt spid="55"/>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54"/>
                                        </p:tgtEl>
                                        <p:attrNameLst>
                                          <p:attrName>style.visibility</p:attrName>
                                        </p:attrNameLst>
                                      </p:cBhvr>
                                      <p:to>
                                        <p:strVal val="visible"/>
                                      </p:to>
                                    </p:set>
                                  </p:childTnLst>
                                </p:cTn>
                              </p:par>
                            </p:childTnLst>
                          </p:cTn>
                        </p:par>
                        <p:par>
                          <p:cTn id="58" fill="hold">
                            <p:stCondLst>
                              <p:cond delay="2000"/>
                            </p:stCondLst>
                            <p:childTnLst>
                              <p:par>
                                <p:cTn id="59" presetID="6" presetClass="entr" presetSubtype="16" fill="hold" grpId="0" nodeType="afterEffect">
                                  <p:stCondLst>
                                    <p:cond delay="0"/>
                                  </p:stCondLst>
                                  <p:childTnLst>
                                    <p:set>
                                      <p:cBhvr>
                                        <p:cTn id="60" dur="1" fill="hold">
                                          <p:stCondLst>
                                            <p:cond delay="0"/>
                                          </p:stCondLst>
                                        </p:cTn>
                                        <p:tgtEl>
                                          <p:spTgt spid="18468"/>
                                        </p:tgtEl>
                                        <p:attrNameLst>
                                          <p:attrName>style.visibility</p:attrName>
                                        </p:attrNameLst>
                                      </p:cBhvr>
                                      <p:to>
                                        <p:strVal val="visible"/>
                                      </p:to>
                                    </p:set>
                                    <p:animEffect transition="in" filter="circle(in)">
                                      <p:cBhvr>
                                        <p:cTn id="61" dur="2000"/>
                                        <p:tgtEl>
                                          <p:spTgt spid="18468"/>
                                        </p:tgtEl>
                                      </p:cBhvr>
                                    </p:animEffect>
                                  </p:childTnLst>
                                </p:cTn>
                              </p:par>
                            </p:childTnLst>
                          </p:cTn>
                        </p:par>
                      </p:childTnLst>
                    </p:cTn>
                  </p:par>
                  <p:par>
                    <p:cTn id="62" fill="hold">
                      <p:stCondLst>
                        <p:cond delay="indefinite"/>
                      </p:stCondLst>
                      <p:childTnLst>
                        <p:par>
                          <p:cTn id="63" fill="hold">
                            <p:stCondLst>
                              <p:cond delay="0"/>
                            </p:stCondLst>
                            <p:childTnLst>
                              <p:par>
                                <p:cTn id="64" presetID="4" presetClass="entr" presetSubtype="16" fill="hold" grpId="0" nodeType="clickEffect">
                                  <p:stCondLst>
                                    <p:cond delay="0"/>
                                  </p:stCondLst>
                                  <p:childTnLst>
                                    <p:set>
                                      <p:cBhvr>
                                        <p:cTn id="65" dur="1" fill="hold">
                                          <p:stCondLst>
                                            <p:cond delay="0"/>
                                          </p:stCondLst>
                                        </p:cTn>
                                        <p:tgtEl>
                                          <p:spTgt spid="66"/>
                                        </p:tgtEl>
                                        <p:attrNameLst>
                                          <p:attrName>style.visibility</p:attrName>
                                        </p:attrNameLst>
                                      </p:cBhvr>
                                      <p:to>
                                        <p:strVal val="visible"/>
                                      </p:to>
                                    </p:set>
                                    <p:animEffect transition="in" filter="box(in)">
                                      <p:cBhvr>
                                        <p:cTn id="66" dur="2000"/>
                                        <p:tgtEl>
                                          <p:spTgt spid="66"/>
                                        </p:tgtEl>
                                      </p:cBhvr>
                                    </p:animEffect>
                                  </p:childTnLst>
                                </p:cTn>
                              </p:par>
                              <p:par>
                                <p:cTn id="67" presetID="1" presetClass="entr" presetSubtype="0" fill="hold" grpId="0" nodeType="withEffect">
                                  <p:stCondLst>
                                    <p:cond delay="0"/>
                                  </p:stCondLst>
                                  <p:childTnLst>
                                    <p:set>
                                      <p:cBhvr>
                                        <p:cTn id="68" dur="1" fill="hold">
                                          <p:stCondLst>
                                            <p:cond delay="0"/>
                                          </p:stCondLst>
                                        </p:cTn>
                                        <p:tgtEl>
                                          <p:spTgt spid="18444"/>
                                        </p:tgtEl>
                                        <p:attrNameLst>
                                          <p:attrName>style.visibility</p:attrName>
                                        </p:attrNameLst>
                                      </p:cBhvr>
                                      <p:to>
                                        <p:strVal val="visible"/>
                                      </p:to>
                                    </p:set>
                                  </p:childTnLst>
                                </p:cTn>
                              </p:par>
                            </p:childTnLst>
                          </p:cTn>
                        </p:par>
                        <p:par>
                          <p:cTn id="69" fill="hold">
                            <p:stCondLst>
                              <p:cond delay="2000"/>
                            </p:stCondLst>
                            <p:childTnLst>
                              <p:par>
                                <p:cTn id="70" presetID="1" presetClass="entr" presetSubtype="0" fill="hold" nodeType="afterEffect">
                                  <p:stCondLst>
                                    <p:cond delay="0"/>
                                  </p:stCondLst>
                                  <p:childTnLst>
                                    <p:set>
                                      <p:cBhvr>
                                        <p:cTn id="71" dur="1" fill="hold">
                                          <p:stCondLst>
                                            <p:cond delay="0"/>
                                          </p:stCondLst>
                                        </p:cTn>
                                        <p:tgtEl>
                                          <p:spTgt spid="80"/>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79"/>
                                        </p:tgtEl>
                                        <p:attrNameLst>
                                          <p:attrName>style.visibility</p:attrName>
                                        </p:attrNameLst>
                                      </p:cBhvr>
                                      <p:to>
                                        <p:strVal val="visible"/>
                                      </p:to>
                                    </p:set>
                                  </p:childTnLst>
                                </p:cTn>
                              </p:par>
                            </p:childTnLst>
                          </p:cTn>
                        </p:par>
                        <p:par>
                          <p:cTn id="74" fill="hold">
                            <p:stCondLst>
                              <p:cond delay="2000"/>
                            </p:stCondLst>
                            <p:childTnLst>
                              <p:par>
                                <p:cTn id="75" presetID="6" presetClass="entr" presetSubtype="16" fill="hold" grpId="0" nodeType="afterEffect">
                                  <p:stCondLst>
                                    <p:cond delay="0"/>
                                  </p:stCondLst>
                                  <p:childTnLst>
                                    <p:set>
                                      <p:cBhvr>
                                        <p:cTn id="76" dur="1" fill="hold">
                                          <p:stCondLst>
                                            <p:cond delay="0"/>
                                          </p:stCondLst>
                                        </p:cTn>
                                        <p:tgtEl>
                                          <p:spTgt spid="18451"/>
                                        </p:tgtEl>
                                        <p:attrNameLst>
                                          <p:attrName>style.visibility</p:attrName>
                                        </p:attrNameLst>
                                      </p:cBhvr>
                                      <p:to>
                                        <p:strVal val="visible"/>
                                      </p:to>
                                    </p:set>
                                    <p:animEffect transition="in" filter="circle(in)">
                                      <p:cBhvr>
                                        <p:cTn id="77" dur="2000"/>
                                        <p:tgtEl>
                                          <p:spTgt spid="18451"/>
                                        </p:tgtEl>
                                      </p:cBhvr>
                                    </p:animEffect>
                                  </p:childTnLst>
                                </p:cTn>
                              </p:par>
                            </p:childTnLst>
                          </p:cTn>
                        </p:par>
                      </p:childTnLst>
                    </p:cTn>
                  </p:par>
                  <p:par>
                    <p:cTn id="78" fill="hold">
                      <p:stCondLst>
                        <p:cond delay="indefinite"/>
                      </p:stCondLst>
                      <p:childTnLst>
                        <p:par>
                          <p:cTn id="79" fill="hold">
                            <p:stCondLst>
                              <p:cond delay="0"/>
                            </p:stCondLst>
                            <p:childTnLst>
                              <p:par>
                                <p:cTn id="80" presetID="6" presetClass="entr" presetSubtype="16" fill="hold" grpId="0" nodeType="clickEffect">
                                  <p:stCondLst>
                                    <p:cond delay="0"/>
                                  </p:stCondLst>
                                  <p:childTnLst>
                                    <p:set>
                                      <p:cBhvr>
                                        <p:cTn id="81" dur="1" fill="hold">
                                          <p:stCondLst>
                                            <p:cond delay="0"/>
                                          </p:stCondLst>
                                        </p:cTn>
                                        <p:tgtEl>
                                          <p:spTgt spid="44059"/>
                                        </p:tgtEl>
                                        <p:attrNameLst>
                                          <p:attrName>style.visibility</p:attrName>
                                        </p:attrNameLst>
                                      </p:cBhvr>
                                      <p:to>
                                        <p:strVal val="visible"/>
                                      </p:to>
                                    </p:set>
                                    <p:animEffect transition="in" filter="circle(in)">
                                      <p:cBhvr>
                                        <p:cTn id="82" dur="2000"/>
                                        <p:tgtEl>
                                          <p:spTgt spid="44059"/>
                                        </p:tgtEl>
                                      </p:cBhvr>
                                    </p:animEffect>
                                  </p:childTnLst>
                                </p:cTn>
                              </p:par>
                            </p:childTnLst>
                          </p:cTn>
                        </p:par>
                        <p:par>
                          <p:cTn id="83" fill="hold">
                            <p:stCondLst>
                              <p:cond delay="2000"/>
                            </p:stCondLst>
                            <p:childTnLst>
                              <p:par>
                                <p:cTn id="84" presetID="1" presetClass="entr" presetSubtype="0" fill="hold" nodeType="afterEffect">
                                  <p:stCondLst>
                                    <p:cond delay="0"/>
                                  </p:stCondLst>
                                  <p:childTnLst>
                                    <p:set>
                                      <p:cBhvr>
                                        <p:cTn id="85" dur="1" fill="hold">
                                          <p:stCondLst>
                                            <p:cond delay="0"/>
                                          </p:stCondLst>
                                        </p:cTn>
                                        <p:tgtEl>
                                          <p:spTgt spid="59"/>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58"/>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6" presetClass="entr" presetSubtype="16" fill="hold" grpId="0" nodeType="clickEffect">
                                  <p:stCondLst>
                                    <p:cond delay="0"/>
                                  </p:stCondLst>
                                  <p:childTnLst>
                                    <p:set>
                                      <p:cBhvr>
                                        <p:cTn id="91" dur="1" fill="hold">
                                          <p:stCondLst>
                                            <p:cond delay="0"/>
                                          </p:stCondLst>
                                        </p:cTn>
                                        <p:tgtEl>
                                          <p:spTgt spid="44047"/>
                                        </p:tgtEl>
                                        <p:attrNameLst>
                                          <p:attrName>style.visibility</p:attrName>
                                        </p:attrNameLst>
                                      </p:cBhvr>
                                      <p:to>
                                        <p:strVal val="visible"/>
                                      </p:to>
                                    </p:set>
                                    <p:animEffect transition="in" filter="circle(in)">
                                      <p:cBhvr>
                                        <p:cTn id="92" dur="2000"/>
                                        <p:tgtEl>
                                          <p:spTgt spid="44047"/>
                                        </p:tgtEl>
                                      </p:cBhvr>
                                    </p:animEffect>
                                  </p:childTnLst>
                                </p:cTn>
                              </p:par>
                            </p:childTnLst>
                          </p:cTn>
                        </p:par>
                        <p:par>
                          <p:cTn id="93" fill="hold">
                            <p:stCondLst>
                              <p:cond delay="2000"/>
                            </p:stCondLst>
                            <p:childTnLst>
                              <p:par>
                                <p:cTn id="94" presetID="1" presetClass="entr" presetSubtype="0" fill="hold" nodeType="afterEffect">
                                  <p:stCondLst>
                                    <p:cond delay="0"/>
                                  </p:stCondLst>
                                  <p:childTnLst>
                                    <p:set>
                                      <p:cBhvr>
                                        <p:cTn id="95" dur="1" fill="hold">
                                          <p:stCondLst>
                                            <p:cond delay="0"/>
                                          </p:stCondLst>
                                        </p:cTn>
                                        <p:tgtEl>
                                          <p:spTgt spid="57"/>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56"/>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4" presetClass="entr" presetSubtype="16" fill="hold" grpId="0" nodeType="clickEffect">
                                  <p:stCondLst>
                                    <p:cond delay="0"/>
                                  </p:stCondLst>
                                  <p:childTnLst>
                                    <p:set>
                                      <p:cBhvr>
                                        <p:cTn id="101" dur="1" fill="hold">
                                          <p:stCondLst>
                                            <p:cond delay="0"/>
                                          </p:stCondLst>
                                        </p:cTn>
                                        <p:tgtEl>
                                          <p:spTgt spid="82"/>
                                        </p:tgtEl>
                                        <p:attrNameLst>
                                          <p:attrName>style.visibility</p:attrName>
                                        </p:attrNameLst>
                                      </p:cBhvr>
                                      <p:to>
                                        <p:strVal val="visible"/>
                                      </p:to>
                                    </p:set>
                                    <p:animEffect transition="in" filter="box(in)">
                                      <p:cBhvr>
                                        <p:cTn id="102" dur="20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0" grpId="0"/>
      <p:bldP spid="18441" grpId="0"/>
      <p:bldP spid="18444" grpId="0" animBg="1"/>
      <p:bldP spid="18445" grpId="0" animBg="1"/>
      <p:bldP spid="18447" grpId="0"/>
      <p:bldP spid="18448" grpId="0" build="allAtOnce"/>
      <p:bldP spid="44047" grpId="0"/>
      <p:bldP spid="18451" grpId="0"/>
      <p:bldP spid="44054" grpId="0"/>
      <p:bldP spid="44059" grpId="0"/>
      <p:bldP spid="18468" grpId="0"/>
      <p:bldP spid="18471" grpId="0"/>
      <p:bldP spid="74" grpId="0"/>
      <p:bldP spid="75" grpId="0"/>
      <p:bldP spid="76" grpId="0"/>
      <p:bldP spid="77" grpId="0"/>
      <p:bldP spid="79" grpId="0"/>
      <p:bldP spid="54" grpId="0"/>
      <p:bldP spid="56" grpId="0"/>
      <p:bldP spid="58" grpId="0"/>
      <p:bldP spid="4" grpId="0"/>
      <p:bldP spid="15394" grpId="0" animBg="1"/>
      <p:bldP spid="66" grpId="0"/>
      <p:bldP spid="8" grpId="0" animBg="1"/>
      <p:bldP spid="8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Footer Placeholder 3">
            <a:extLst>
              <a:ext uri="{FF2B5EF4-FFF2-40B4-BE49-F238E27FC236}">
                <a16:creationId xmlns:a16="http://schemas.microsoft.com/office/drawing/2014/main" id="{23C91058-35FB-4D36-BF88-9471B911EE8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50178" name="Rectangle 2">
            <a:extLst>
              <a:ext uri="{FF2B5EF4-FFF2-40B4-BE49-F238E27FC236}">
                <a16:creationId xmlns:a16="http://schemas.microsoft.com/office/drawing/2014/main" id="{C90D970F-71FF-4EA4-8EF4-43ABAABF0FCF}"/>
              </a:ext>
            </a:extLst>
          </p:cNvPr>
          <p:cNvSpPr>
            <a:spLocks noGrp="1" noChangeArrowheads="1"/>
          </p:cNvSpPr>
          <p:nvPr>
            <p:ph type="title"/>
          </p:nvPr>
        </p:nvSpPr>
        <p:spPr>
          <a:xfrm>
            <a:off x="974725" y="495300"/>
            <a:ext cx="7204075" cy="457200"/>
          </a:xfrm>
        </p:spPr>
        <p:txBody>
          <a:bodyPr/>
          <a:lstStyle/>
          <a:p>
            <a:r>
              <a:rPr lang="en-US" altLang="en-US"/>
              <a:t>Example of RR with q = 20 (dual-core)</a:t>
            </a:r>
            <a:endParaRPr lang="en-US" altLang="en-US" dirty="0"/>
          </a:p>
        </p:txBody>
      </p:sp>
      <p:sp>
        <p:nvSpPr>
          <p:cNvPr id="18436" name="Rectangle 3">
            <a:extLst>
              <a:ext uri="{FF2B5EF4-FFF2-40B4-BE49-F238E27FC236}">
                <a16:creationId xmlns:a16="http://schemas.microsoft.com/office/drawing/2014/main" id="{F5E2B910-B8B0-4F82-BD4C-8FC7B923912C}"/>
              </a:ext>
            </a:extLst>
          </p:cNvPr>
          <p:cNvSpPr>
            <a:spLocks noGrp="1" noChangeArrowheads="1"/>
          </p:cNvSpPr>
          <p:nvPr>
            <p:ph type="body" idx="1"/>
          </p:nvPr>
        </p:nvSpPr>
        <p:spPr>
          <a:xfrm>
            <a:off x="1066800" y="1073150"/>
            <a:ext cx="7029450" cy="4114800"/>
          </a:xfrm>
        </p:spPr>
        <p:txBody>
          <a:bodyPr/>
          <a:lstStyle/>
          <a:p>
            <a:pPr>
              <a:buFontTx/>
              <a:buNone/>
              <a:tabLst>
                <a:tab pos="2222500" algn="ctr"/>
                <a:tab pos="3997325" algn="ctr"/>
              </a:tabLst>
            </a:pPr>
            <a:r>
              <a:rPr lang="en-US" altLang="en-US" sz="2000" dirty="0"/>
              <a:t>		</a:t>
            </a:r>
            <a:r>
              <a:rPr lang="en-US" altLang="en-US" sz="2000" u="sng" dirty="0"/>
              <a:t>Process</a:t>
            </a:r>
            <a:r>
              <a:rPr lang="en-US" altLang="en-US" sz="2000" dirty="0"/>
              <a:t>	</a:t>
            </a:r>
            <a:r>
              <a:rPr lang="en-US" altLang="en-US" sz="2000" u="sng" dirty="0"/>
              <a:t>Burst Time</a:t>
            </a:r>
          </a:p>
          <a:p>
            <a:pPr>
              <a:buFontTx/>
              <a:buNone/>
              <a:tabLst>
                <a:tab pos="2222500" algn="ctr"/>
                <a:tab pos="3997325" algn="ctr"/>
              </a:tabLst>
            </a:pPr>
            <a:r>
              <a:rPr lang="en-US" altLang="en-US" sz="2000" i="1" dirty="0"/>
              <a:t>		P</a:t>
            </a:r>
            <a:r>
              <a:rPr lang="en-US" altLang="en-US" sz="2000" i="1" baseline="-25000" dirty="0"/>
              <a:t>1	</a:t>
            </a:r>
            <a:r>
              <a:rPr lang="en-US" altLang="en-US" sz="2000" dirty="0"/>
              <a:t>53</a:t>
            </a:r>
          </a:p>
          <a:p>
            <a:pPr>
              <a:buFontTx/>
              <a:buNone/>
              <a:tabLst>
                <a:tab pos="2222500" algn="ctr"/>
                <a:tab pos="3997325" algn="ctr"/>
              </a:tabLst>
            </a:pPr>
            <a:r>
              <a:rPr lang="en-US" altLang="en-US" sz="2000" dirty="0"/>
              <a:t>		 </a:t>
            </a:r>
            <a:r>
              <a:rPr lang="en-US" altLang="en-US" sz="2000" i="1" dirty="0"/>
              <a:t>P</a:t>
            </a:r>
            <a:r>
              <a:rPr lang="en-US" altLang="en-US" sz="2000" i="1" baseline="-25000" dirty="0"/>
              <a:t>2	 </a:t>
            </a:r>
            <a:r>
              <a:rPr lang="en-US" altLang="en-US" sz="2000" dirty="0"/>
              <a:t>17</a:t>
            </a:r>
          </a:p>
          <a:p>
            <a:pPr>
              <a:buFontTx/>
              <a:buNone/>
              <a:tabLst>
                <a:tab pos="2222500" algn="ctr"/>
                <a:tab pos="3997325" algn="ctr"/>
              </a:tabLst>
            </a:pPr>
            <a:r>
              <a:rPr lang="en-US" altLang="en-US" sz="2000" dirty="0"/>
              <a:t>		 </a:t>
            </a:r>
            <a:r>
              <a:rPr lang="en-US" altLang="en-US" sz="2000" i="1" dirty="0"/>
              <a:t>P</a:t>
            </a:r>
            <a:r>
              <a:rPr lang="en-US" altLang="en-US" sz="2000" i="1" baseline="-25000" dirty="0"/>
              <a:t>3	</a:t>
            </a:r>
            <a:r>
              <a:rPr lang="en-US" altLang="en-US" sz="2000" dirty="0"/>
              <a:t>68</a:t>
            </a:r>
          </a:p>
          <a:p>
            <a:pPr>
              <a:buFontTx/>
              <a:buNone/>
              <a:tabLst>
                <a:tab pos="2222500" algn="ctr"/>
                <a:tab pos="3997325" algn="ctr"/>
              </a:tabLst>
            </a:pPr>
            <a:r>
              <a:rPr lang="en-US" altLang="en-US" sz="2000" dirty="0"/>
              <a:t>		 </a:t>
            </a:r>
            <a:r>
              <a:rPr lang="en-US" altLang="en-US" sz="2000" i="1" dirty="0"/>
              <a:t>P</a:t>
            </a:r>
            <a:r>
              <a:rPr lang="en-US" altLang="en-US" sz="2000" i="1" baseline="-25000" dirty="0"/>
              <a:t>4	 </a:t>
            </a:r>
            <a:r>
              <a:rPr lang="en-US" altLang="en-US" sz="2000" dirty="0"/>
              <a:t>24</a:t>
            </a:r>
          </a:p>
          <a:p>
            <a:pPr>
              <a:tabLst>
                <a:tab pos="2222500" algn="ctr"/>
                <a:tab pos="3997325" algn="ctr"/>
              </a:tabLst>
            </a:pPr>
            <a:r>
              <a:rPr lang="en-US" altLang="en-US" sz="2000" dirty="0"/>
              <a:t>All processes come at time 0 in the order of P1, P2, P3, P4</a:t>
            </a:r>
          </a:p>
          <a:p>
            <a:pPr lvl="4">
              <a:tabLst>
                <a:tab pos="2222500" algn="ctr"/>
                <a:tab pos="3997325" algn="ctr"/>
              </a:tabLst>
            </a:pPr>
            <a:endParaRPr lang="en-US" altLang="en-US" sz="1400" dirty="0"/>
          </a:p>
          <a:p>
            <a:pPr>
              <a:tabLst>
                <a:tab pos="2222500" algn="ctr"/>
                <a:tab pos="3997325" algn="ctr"/>
              </a:tabLst>
            </a:pPr>
            <a:r>
              <a:rPr lang="en-US" altLang="en-US" sz="2000" b="1" dirty="0">
                <a:solidFill>
                  <a:srgbClr val="FF0000"/>
                </a:solidFill>
              </a:rPr>
              <a:t>RR scheduling dual-core Gantt Chart: </a:t>
            </a:r>
            <a:br>
              <a:rPr lang="en-US" altLang="en-US" sz="2000" b="1" dirty="0"/>
            </a:br>
            <a:br>
              <a:rPr lang="en-US" altLang="en-US" dirty="0"/>
            </a:br>
            <a:br>
              <a:rPr lang="en-US" altLang="en-US" dirty="0"/>
            </a:br>
            <a:br>
              <a:rPr lang="en-US" altLang="en-US" dirty="0"/>
            </a:br>
            <a:r>
              <a:rPr lang="en-US" altLang="en-US" dirty="0"/>
              <a:t>	</a:t>
            </a:r>
            <a:endParaRPr lang="en-US" altLang="en-US" sz="2000" dirty="0">
              <a:solidFill>
                <a:srgbClr val="FF0000"/>
              </a:solidFill>
            </a:endParaRPr>
          </a:p>
        </p:txBody>
      </p:sp>
      <p:sp>
        <p:nvSpPr>
          <p:cNvPr id="23569" name="Rectangle 4">
            <a:extLst>
              <a:ext uri="{FF2B5EF4-FFF2-40B4-BE49-F238E27FC236}">
                <a16:creationId xmlns:a16="http://schemas.microsoft.com/office/drawing/2014/main" id="{7A82F241-00B7-4E91-B9C8-D0B9FFEC72E1}"/>
              </a:ext>
            </a:extLst>
          </p:cNvPr>
          <p:cNvSpPr>
            <a:spLocks noChangeArrowheads="1"/>
          </p:cNvSpPr>
          <p:nvPr/>
        </p:nvSpPr>
        <p:spPr bwMode="auto">
          <a:xfrm>
            <a:off x="1834019" y="4726118"/>
            <a:ext cx="834959" cy="614819"/>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P</a:t>
            </a:r>
            <a:r>
              <a:rPr lang="en-US" altLang="en-US" baseline="-25000"/>
              <a:t>1</a:t>
            </a:r>
            <a:endParaRPr lang="en-US" altLang="en-US"/>
          </a:p>
        </p:txBody>
      </p:sp>
      <p:sp>
        <p:nvSpPr>
          <p:cNvPr id="23558" name="Text Box 15">
            <a:extLst>
              <a:ext uri="{FF2B5EF4-FFF2-40B4-BE49-F238E27FC236}">
                <a16:creationId xmlns:a16="http://schemas.microsoft.com/office/drawing/2014/main" id="{9FFB3E77-2CF1-4E9A-B7C4-BAB5A0BF02EB}"/>
              </a:ext>
            </a:extLst>
          </p:cNvPr>
          <p:cNvSpPr txBox="1">
            <a:spLocks noChangeArrowheads="1"/>
          </p:cNvSpPr>
          <p:nvPr/>
        </p:nvSpPr>
        <p:spPr bwMode="auto">
          <a:xfrm>
            <a:off x="1593276" y="6087280"/>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dirty="0"/>
              <a:t>0</a:t>
            </a:r>
          </a:p>
        </p:txBody>
      </p:sp>
      <p:sp>
        <p:nvSpPr>
          <p:cNvPr id="23559" name="Text Box 16">
            <a:extLst>
              <a:ext uri="{FF2B5EF4-FFF2-40B4-BE49-F238E27FC236}">
                <a16:creationId xmlns:a16="http://schemas.microsoft.com/office/drawing/2014/main" id="{222A2398-5292-4808-8714-35EF5E43645F}"/>
              </a:ext>
            </a:extLst>
          </p:cNvPr>
          <p:cNvSpPr txBox="1">
            <a:spLocks noChangeArrowheads="1"/>
          </p:cNvSpPr>
          <p:nvPr/>
        </p:nvSpPr>
        <p:spPr bwMode="auto">
          <a:xfrm>
            <a:off x="2446416" y="4385827"/>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dirty="0"/>
              <a:t>20</a:t>
            </a:r>
          </a:p>
        </p:txBody>
      </p:sp>
      <p:sp>
        <p:nvSpPr>
          <p:cNvPr id="23560" name="Text Box 17">
            <a:extLst>
              <a:ext uri="{FF2B5EF4-FFF2-40B4-BE49-F238E27FC236}">
                <a16:creationId xmlns:a16="http://schemas.microsoft.com/office/drawing/2014/main" id="{1C3D9C22-0D3D-4747-AD53-57B6FDF26E62}"/>
              </a:ext>
            </a:extLst>
          </p:cNvPr>
          <p:cNvSpPr txBox="1">
            <a:spLocks noChangeArrowheads="1"/>
          </p:cNvSpPr>
          <p:nvPr/>
        </p:nvSpPr>
        <p:spPr bwMode="auto">
          <a:xfrm>
            <a:off x="2150084" y="6080751"/>
            <a:ext cx="4411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dirty="0">
                <a:latin typeface="Helvetica"/>
                <a:cs typeface="Helvetica"/>
              </a:rPr>
              <a:t>17</a:t>
            </a:r>
            <a:endParaRPr lang="en-US" altLang="en-US" dirty="0"/>
          </a:p>
        </p:txBody>
      </p:sp>
      <p:sp>
        <p:nvSpPr>
          <p:cNvPr id="23561" name="Text Box 18">
            <a:extLst>
              <a:ext uri="{FF2B5EF4-FFF2-40B4-BE49-F238E27FC236}">
                <a16:creationId xmlns:a16="http://schemas.microsoft.com/office/drawing/2014/main" id="{D39F1ABA-2FA2-4CD2-AFE7-96CBB4DA8F3E}"/>
              </a:ext>
            </a:extLst>
          </p:cNvPr>
          <p:cNvSpPr txBox="1">
            <a:spLocks noChangeArrowheads="1"/>
          </p:cNvSpPr>
          <p:nvPr/>
        </p:nvSpPr>
        <p:spPr bwMode="auto">
          <a:xfrm>
            <a:off x="3003853" y="6085970"/>
            <a:ext cx="4411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dirty="0">
                <a:latin typeface="Helvetica"/>
                <a:cs typeface="Helvetica"/>
              </a:rPr>
              <a:t>37</a:t>
            </a:r>
            <a:endParaRPr lang="en-US" altLang="en-US" dirty="0"/>
          </a:p>
        </p:txBody>
      </p:sp>
      <p:sp>
        <p:nvSpPr>
          <p:cNvPr id="23562" name="Text Box 19">
            <a:extLst>
              <a:ext uri="{FF2B5EF4-FFF2-40B4-BE49-F238E27FC236}">
                <a16:creationId xmlns:a16="http://schemas.microsoft.com/office/drawing/2014/main" id="{5A8F7BAF-6605-46C2-B8CB-87C9D6C534AD}"/>
              </a:ext>
            </a:extLst>
          </p:cNvPr>
          <p:cNvSpPr txBox="1">
            <a:spLocks noChangeArrowheads="1"/>
          </p:cNvSpPr>
          <p:nvPr/>
        </p:nvSpPr>
        <p:spPr bwMode="auto">
          <a:xfrm>
            <a:off x="3845125" y="6087280"/>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dirty="0">
                <a:latin typeface="Helvetica"/>
                <a:cs typeface="Helvetica"/>
              </a:rPr>
              <a:t>57</a:t>
            </a:r>
            <a:endParaRPr lang="en-US" altLang="en-US" dirty="0"/>
          </a:p>
        </p:txBody>
      </p:sp>
      <p:sp>
        <p:nvSpPr>
          <p:cNvPr id="50204" name="Text Box 20">
            <a:extLst>
              <a:ext uri="{FF2B5EF4-FFF2-40B4-BE49-F238E27FC236}">
                <a16:creationId xmlns:a16="http://schemas.microsoft.com/office/drawing/2014/main" id="{547C7561-8128-4463-83B6-023A8D98B329}"/>
              </a:ext>
            </a:extLst>
          </p:cNvPr>
          <p:cNvSpPr txBox="1">
            <a:spLocks noChangeArrowheads="1"/>
          </p:cNvSpPr>
          <p:nvPr/>
        </p:nvSpPr>
        <p:spPr bwMode="auto">
          <a:xfrm>
            <a:off x="4108302" y="4389736"/>
            <a:ext cx="4411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dirty="0">
                <a:latin typeface="Helvetica"/>
                <a:cs typeface="Helvetica"/>
              </a:rPr>
              <a:t>60</a:t>
            </a:r>
            <a:endParaRPr lang="en-US" altLang="en-US" dirty="0">
              <a:cs typeface="Helvetica"/>
            </a:endParaRPr>
          </a:p>
        </p:txBody>
      </p:sp>
      <p:sp>
        <p:nvSpPr>
          <p:cNvPr id="50205" name="Text Box 21">
            <a:extLst>
              <a:ext uri="{FF2B5EF4-FFF2-40B4-BE49-F238E27FC236}">
                <a16:creationId xmlns:a16="http://schemas.microsoft.com/office/drawing/2014/main" id="{1E643715-113C-46C8-BF20-8B7EA811B408}"/>
              </a:ext>
            </a:extLst>
          </p:cNvPr>
          <p:cNvSpPr txBox="1">
            <a:spLocks noChangeArrowheads="1"/>
          </p:cNvSpPr>
          <p:nvPr/>
        </p:nvSpPr>
        <p:spPr bwMode="auto">
          <a:xfrm>
            <a:off x="4244999" y="6085970"/>
            <a:ext cx="4411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dirty="0">
                <a:cs typeface="Helvetica"/>
              </a:rPr>
              <a:t>61</a:t>
            </a:r>
          </a:p>
        </p:txBody>
      </p:sp>
      <p:sp>
        <p:nvSpPr>
          <p:cNvPr id="50206" name="Text Box 22">
            <a:extLst>
              <a:ext uri="{FF2B5EF4-FFF2-40B4-BE49-F238E27FC236}">
                <a16:creationId xmlns:a16="http://schemas.microsoft.com/office/drawing/2014/main" id="{11AB5A4D-D189-453D-9B8E-F0828B4A4079}"/>
              </a:ext>
            </a:extLst>
          </p:cNvPr>
          <p:cNvSpPr txBox="1">
            <a:spLocks noChangeArrowheads="1"/>
          </p:cNvSpPr>
          <p:nvPr/>
        </p:nvSpPr>
        <p:spPr bwMode="auto">
          <a:xfrm>
            <a:off x="4638756" y="4374080"/>
            <a:ext cx="4411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None/>
            </a:pPr>
            <a:r>
              <a:rPr lang="en-US" altLang="en-US" dirty="0">
                <a:latin typeface="Helvetica"/>
                <a:cs typeface="Helvetica"/>
              </a:rPr>
              <a:t>73</a:t>
            </a:r>
            <a:endParaRPr lang="en-US" dirty="0">
              <a:cs typeface="Helvetica" panose="020B0604020202020204" pitchFamily="34" charset="0"/>
            </a:endParaRPr>
          </a:p>
        </p:txBody>
      </p:sp>
      <p:sp>
        <p:nvSpPr>
          <p:cNvPr id="50207" name="Text Box 24">
            <a:extLst>
              <a:ext uri="{FF2B5EF4-FFF2-40B4-BE49-F238E27FC236}">
                <a16:creationId xmlns:a16="http://schemas.microsoft.com/office/drawing/2014/main" id="{798AD26E-F081-4F29-A758-ACEAC8432EBF}"/>
              </a:ext>
            </a:extLst>
          </p:cNvPr>
          <p:cNvSpPr txBox="1">
            <a:spLocks noChangeArrowheads="1"/>
          </p:cNvSpPr>
          <p:nvPr/>
        </p:nvSpPr>
        <p:spPr bwMode="auto">
          <a:xfrm>
            <a:off x="5350352" y="6085970"/>
            <a:ext cx="441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dirty="0">
                <a:latin typeface="Helvetica"/>
                <a:cs typeface="Helvetica"/>
              </a:rPr>
              <a:t>89</a:t>
            </a:r>
            <a:endParaRPr lang="en-US" altLang="en-US" dirty="0"/>
          </a:p>
        </p:txBody>
      </p:sp>
      <p:sp>
        <p:nvSpPr>
          <p:cNvPr id="27" name="Rectangle 26">
            <a:extLst>
              <a:ext uri="{FF2B5EF4-FFF2-40B4-BE49-F238E27FC236}">
                <a16:creationId xmlns:a16="http://schemas.microsoft.com/office/drawing/2014/main" id="{14C72A2A-0C03-4100-AD25-15F00E5BD5F1}"/>
              </a:ext>
            </a:extLst>
          </p:cNvPr>
          <p:cNvSpPr>
            <a:spLocks noChangeArrowheads="1"/>
          </p:cNvSpPr>
          <p:nvPr/>
        </p:nvSpPr>
        <p:spPr bwMode="auto">
          <a:xfrm>
            <a:off x="5624513" y="1957388"/>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0</a:t>
            </a:r>
          </a:p>
        </p:txBody>
      </p:sp>
      <p:cxnSp>
        <p:nvCxnSpPr>
          <p:cNvPr id="28" name="Straight Arrow Connector 27">
            <a:extLst>
              <a:ext uri="{FF2B5EF4-FFF2-40B4-BE49-F238E27FC236}">
                <a16:creationId xmlns:a16="http://schemas.microsoft.com/office/drawing/2014/main" id="{8CA2D1CA-7C87-4A72-A715-360B7B22B21A}"/>
              </a:ext>
            </a:extLst>
          </p:cNvPr>
          <p:cNvCxnSpPr>
            <a:cxnSpLocks noChangeShapeType="1"/>
            <a:endCxn id="27" idx="1"/>
          </p:cNvCxnSpPr>
          <p:nvPr/>
        </p:nvCxnSpPr>
        <p:spPr bwMode="auto">
          <a:xfrm>
            <a:off x="5357813" y="2141538"/>
            <a:ext cx="266700" cy="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29" name="Rectangle 28">
            <a:extLst>
              <a:ext uri="{FF2B5EF4-FFF2-40B4-BE49-F238E27FC236}">
                <a16:creationId xmlns:a16="http://schemas.microsoft.com/office/drawing/2014/main" id="{E644EF78-74AD-465E-8B00-4EB39FEA9100}"/>
              </a:ext>
            </a:extLst>
          </p:cNvPr>
          <p:cNvSpPr>
            <a:spLocks noChangeArrowheads="1"/>
          </p:cNvSpPr>
          <p:nvPr/>
        </p:nvSpPr>
        <p:spPr bwMode="auto">
          <a:xfrm>
            <a:off x="5573713" y="1543050"/>
            <a:ext cx="441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dirty="0">
                <a:solidFill>
                  <a:srgbClr val="FF0000"/>
                </a:solidFill>
              </a:rPr>
              <a:t>33</a:t>
            </a:r>
          </a:p>
        </p:txBody>
      </p:sp>
      <p:cxnSp>
        <p:nvCxnSpPr>
          <p:cNvPr id="30" name="Straight Arrow Connector 29">
            <a:extLst>
              <a:ext uri="{FF2B5EF4-FFF2-40B4-BE49-F238E27FC236}">
                <a16:creationId xmlns:a16="http://schemas.microsoft.com/office/drawing/2014/main" id="{8FE41273-B1FC-43DA-A71E-FFEF1FD29BAC}"/>
              </a:ext>
            </a:extLst>
          </p:cNvPr>
          <p:cNvCxnSpPr>
            <a:cxnSpLocks noChangeShapeType="1"/>
            <a:endCxn id="29" idx="1"/>
          </p:cNvCxnSpPr>
          <p:nvPr/>
        </p:nvCxnSpPr>
        <p:spPr bwMode="auto">
          <a:xfrm>
            <a:off x="5370513" y="1727200"/>
            <a:ext cx="203200" cy="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31" name="Rectangle 30">
            <a:extLst>
              <a:ext uri="{FF2B5EF4-FFF2-40B4-BE49-F238E27FC236}">
                <a16:creationId xmlns:a16="http://schemas.microsoft.com/office/drawing/2014/main" id="{F453E527-954F-4688-9551-AFC5E66B4640}"/>
              </a:ext>
            </a:extLst>
          </p:cNvPr>
          <p:cNvSpPr>
            <a:spLocks noChangeArrowheads="1"/>
          </p:cNvSpPr>
          <p:nvPr/>
        </p:nvSpPr>
        <p:spPr bwMode="auto">
          <a:xfrm>
            <a:off x="5610225" y="2447925"/>
            <a:ext cx="441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48</a:t>
            </a:r>
          </a:p>
        </p:txBody>
      </p:sp>
      <p:cxnSp>
        <p:nvCxnSpPr>
          <p:cNvPr id="32" name="Straight Arrow Connector 31">
            <a:extLst>
              <a:ext uri="{FF2B5EF4-FFF2-40B4-BE49-F238E27FC236}">
                <a16:creationId xmlns:a16="http://schemas.microsoft.com/office/drawing/2014/main" id="{37FC1159-3FBB-4F16-9A0E-80479562F90B}"/>
              </a:ext>
            </a:extLst>
          </p:cNvPr>
          <p:cNvCxnSpPr>
            <a:cxnSpLocks noChangeShapeType="1"/>
            <a:endCxn id="31" idx="1"/>
          </p:cNvCxnSpPr>
          <p:nvPr/>
        </p:nvCxnSpPr>
        <p:spPr bwMode="auto">
          <a:xfrm flipV="1">
            <a:off x="5357813" y="2632075"/>
            <a:ext cx="252412" cy="7938"/>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33" name="Rectangle 32">
            <a:extLst>
              <a:ext uri="{FF2B5EF4-FFF2-40B4-BE49-F238E27FC236}">
                <a16:creationId xmlns:a16="http://schemas.microsoft.com/office/drawing/2014/main" id="{964E0015-7510-4A2F-8DF7-0196476731C4}"/>
              </a:ext>
            </a:extLst>
          </p:cNvPr>
          <p:cNvSpPr>
            <a:spLocks noChangeArrowheads="1"/>
          </p:cNvSpPr>
          <p:nvPr/>
        </p:nvSpPr>
        <p:spPr bwMode="auto">
          <a:xfrm>
            <a:off x="5662613" y="2922588"/>
            <a:ext cx="3127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rPr>
              <a:t>4</a:t>
            </a:r>
          </a:p>
        </p:txBody>
      </p:sp>
      <p:cxnSp>
        <p:nvCxnSpPr>
          <p:cNvPr id="34" name="Straight Arrow Connector 33">
            <a:extLst>
              <a:ext uri="{FF2B5EF4-FFF2-40B4-BE49-F238E27FC236}">
                <a16:creationId xmlns:a16="http://schemas.microsoft.com/office/drawing/2014/main" id="{F99512E7-0F1C-49E7-8050-B969FC21A7EB}"/>
              </a:ext>
            </a:extLst>
          </p:cNvPr>
          <p:cNvCxnSpPr>
            <a:cxnSpLocks noChangeShapeType="1"/>
            <a:endCxn id="33" idx="1"/>
          </p:cNvCxnSpPr>
          <p:nvPr/>
        </p:nvCxnSpPr>
        <p:spPr bwMode="auto">
          <a:xfrm>
            <a:off x="5395913" y="3106738"/>
            <a:ext cx="266700" cy="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3" name="TextBox 2">
            <a:extLst>
              <a:ext uri="{FF2B5EF4-FFF2-40B4-BE49-F238E27FC236}">
                <a16:creationId xmlns:a16="http://schemas.microsoft.com/office/drawing/2014/main" id="{18C1332C-585C-4ED3-8193-0929CC7BA9D7}"/>
              </a:ext>
            </a:extLst>
          </p:cNvPr>
          <p:cNvSpPr txBox="1"/>
          <p:nvPr/>
        </p:nvSpPr>
        <p:spPr>
          <a:xfrm>
            <a:off x="493295" y="5002178"/>
            <a:ext cx="89218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Helvetica"/>
                <a:cs typeface="Helvetica"/>
              </a:rPr>
              <a:t>Core 1</a:t>
            </a:r>
            <a:endParaRPr lang="en-US"/>
          </a:p>
        </p:txBody>
      </p:sp>
      <p:sp>
        <p:nvSpPr>
          <p:cNvPr id="4" name="TextBox 3">
            <a:extLst>
              <a:ext uri="{FF2B5EF4-FFF2-40B4-BE49-F238E27FC236}">
                <a16:creationId xmlns:a16="http://schemas.microsoft.com/office/drawing/2014/main" id="{7C757236-6ED3-4F6C-8DCB-75D9BDA1DD77}"/>
              </a:ext>
            </a:extLst>
          </p:cNvPr>
          <p:cNvSpPr txBox="1"/>
          <p:nvPr/>
        </p:nvSpPr>
        <p:spPr>
          <a:xfrm>
            <a:off x="484040" y="5683819"/>
            <a:ext cx="89218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Helvetica"/>
                <a:cs typeface="Helvetica"/>
              </a:rPr>
              <a:t>Core 2</a:t>
            </a:r>
            <a:endParaRPr lang="en-US"/>
          </a:p>
        </p:txBody>
      </p:sp>
      <p:sp>
        <p:nvSpPr>
          <p:cNvPr id="5" name="Rectangle 4">
            <a:extLst>
              <a:ext uri="{FF2B5EF4-FFF2-40B4-BE49-F238E27FC236}">
                <a16:creationId xmlns:a16="http://schemas.microsoft.com/office/drawing/2014/main" id="{9B6285CD-FF73-4B9F-A86E-406109324946}"/>
              </a:ext>
            </a:extLst>
          </p:cNvPr>
          <p:cNvSpPr>
            <a:spLocks noChangeArrowheads="1"/>
          </p:cNvSpPr>
          <p:nvPr/>
        </p:nvSpPr>
        <p:spPr bwMode="auto">
          <a:xfrm>
            <a:off x="2398734" y="5473505"/>
            <a:ext cx="834959" cy="614819"/>
          </a:xfrm>
          <a:prstGeom prst="rect">
            <a:avLst/>
          </a:prstGeom>
          <a:solidFill>
            <a:schemeClr val="bg1"/>
          </a:solidFill>
          <a:ln w="9525">
            <a:solidFill>
              <a:schemeClr val="tx1"/>
            </a:solidFill>
            <a:miter lim="800000"/>
            <a:headEnd/>
            <a:tailEnd/>
          </a:ln>
        </p:spPr>
        <p:txBody>
          <a:bodyPr wrap="none" lIns="91440" tIns="45720" rIns="91440" bIns="45720"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latin typeface="Helvetica"/>
                <a:cs typeface="Helvetica"/>
              </a:rPr>
              <a:t>P</a:t>
            </a:r>
            <a:r>
              <a:rPr lang="en-US" altLang="en-US" baseline="-25000">
                <a:latin typeface="Helvetica"/>
                <a:cs typeface="Helvetica"/>
              </a:rPr>
              <a:t>3</a:t>
            </a:r>
            <a:endParaRPr lang="en-US" altLang="en-US">
              <a:cs typeface="Helvetica"/>
            </a:endParaRPr>
          </a:p>
        </p:txBody>
      </p:sp>
      <p:sp>
        <p:nvSpPr>
          <p:cNvPr id="6" name="Rectangle 4">
            <a:extLst>
              <a:ext uri="{FF2B5EF4-FFF2-40B4-BE49-F238E27FC236}">
                <a16:creationId xmlns:a16="http://schemas.microsoft.com/office/drawing/2014/main" id="{8AA8CDFD-8301-48C9-AC9B-F8C955A743F7}"/>
              </a:ext>
            </a:extLst>
          </p:cNvPr>
          <p:cNvSpPr>
            <a:spLocks noChangeArrowheads="1"/>
          </p:cNvSpPr>
          <p:nvPr/>
        </p:nvSpPr>
        <p:spPr bwMode="auto">
          <a:xfrm>
            <a:off x="1829844" y="5473505"/>
            <a:ext cx="563562" cy="614819"/>
          </a:xfrm>
          <a:prstGeom prst="rect">
            <a:avLst/>
          </a:prstGeom>
          <a:solidFill>
            <a:schemeClr val="bg1"/>
          </a:solidFill>
          <a:ln w="9525">
            <a:solidFill>
              <a:schemeClr val="tx1"/>
            </a:solidFill>
            <a:miter lim="800000"/>
            <a:headEnd/>
            <a:tailEnd/>
          </a:ln>
        </p:spPr>
        <p:txBody>
          <a:bodyPr wrap="none" lIns="91440" tIns="45720" rIns="91440" bIns="45720"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latin typeface="Helvetica"/>
                <a:cs typeface="Helvetica"/>
              </a:rPr>
              <a:t>P</a:t>
            </a:r>
            <a:r>
              <a:rPr lang="en-US" altLang="en-US" baseline="-25000">
                <a:latin typeface="Helvetica"/>
                <a:cs typeface="Helvetica"/>
              </a:rPr>
              <a:t>2</a:t>
            </a:r>
            <a:endParaRPr lang="en-US" altLang="en-US"/>
          </a:p>
        </p:txBody>
      </p:sp>
      <p:sp>
        <p:nvSpPr>
          <p:cNvPr id="7" name="Rectangle 4">
            <a:extLst>
              <a:ext uri="{FF2B5EF4-FFF2-40B4-BE49-F238E27FC236}">
                <a16:creationId xmlns:a16="http://schemas.microsoft.com/office/drawing/2014/main" id="{42673F00-FDDD-4B2C-A413-FF0AC5BCF843}"/>
              </a:ext>
            </a:extLst>
          </p:cNvPr>
          <p:cNvSpPr>
            <a:spLocks noChangeArrowheads="1"/>
          </p:cNvSpPr>
          <p:nvPr/>
        </p:nvSpPr>
        <p:spPr bwMode="auto">
          <a:xfrm>
            <a:off x="2670131" y="4721943"/>
            <a:ext cx="834959" cy="614819"/>
          </a:xfrm>
          <a:prstGeom prst="rect">
            <a:avLst/>
          </a:prstGeom>
          <a:solidFill>
            <a:schemeClr val="bg1"/>
          </a:solidFill>
          <a:ln w="9525">
            <a:solidFill>
              <a:schemeClr val="tx1"/>
            </a:solidFill>
            <a:miter lim="800000"/>
            <a:headEnd/>
            <a:tailEnd/>
          </a:ln>
        </p:spPr>
        <p:txBody>
          <a:bodyPr wrap="none" lIns="91440" tIns="45720" rIns="91440" bIns="45720"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latin typeface="Helvetica"/>
                <a:cs typeface="Helvetica"/>
              </a:rPr>
              <a:t>P</a:t>
            </a:r>
            <a:r>
              <a:rPr lang="en-US" altLang="en-US" baseline="-25000">
                <a:latin typeface="Helvetica"/>
                <a:cs typeface="Helvetica"/>
              </a:rPr>
              <a:t>4</a:t>
            </a:r>
            <a:endParaRPr lang="en-US" altLang="en-US"/>
          </a:p>
        </p:txBody>
      </p:sp>
      <p:sp>
        <p:nvSpPr>
          <p:cNvPr id="8" name="Text Box 16">
            <a:extLst>
              <a:ext uri="{FF2B5EF4-FFF2-40B4-BE49-F238E27FC236}">
                <a16:creationId xmlns:a16="http://schemas.microsoft.com/office/drawing/2014/main" id="{F5DE98D5-09CE-48E0-B50E-BB15907AF691}"/>
              </a:ext>
            </a:extLst>
          </p:cNvPr>
          <p:cNvSpPr txBox="1">
            <a:spLocks noChangeArrowheads="1"/>
          </p:cNvSpPr>
          <p:nvPr/>
        </p:nvSpPr>
        <p:spPr bwMode="auto">
          <a:xfrm>
            <a:off x="3274495" y="4381653"/>
            <a:ext cx="438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dirty="0">
                <a:latin typeface="Helvetica"/>
                <a:cs typeface="Helvetica"/>
              </a:rPr>
              <a:t>40</a:t>
            </a:r>
            <a:endParaRPr lang="en-US" altLang="en-US" dirty="0"/>
          </a:p>
        </p:txBody>
      </p:sp>
      <p:sp>
        <p:nvSpPr>
          <p:cNvPr id="9" name="Rectangle 4">
            <a:extLst>
              <a:ext uri="{FF2B5EF4-FFF2-40B4-BE49-F238E27FC236}">
                <a16:creationId xmlns:a16="http://schemas.microsoft.com/office/drawing/2014/main" id="{EC1259B7-ED69-4624-A31B-9B80C6F73AF7}"/>
              </a:ext>
            </a:extLst>
          </p:cNvPr>
          <p:cNvSpPr>
            <a:spLocks noChangeArrowheads="1"/>
          </p:cNvSpPr>
          <p:nvPr/>
        </p:nvSpPr>
        <p:spPr bwMode="auto">
          <a:xfrm>
            <a:off x="3233803" y="5473505"/>
            <a:ext cx="834959" cy="614819"/>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P</a:t>
            </a:r>
            <a:r>
              <a:rPr lang="en-US" altLang="en-US" baseline="-25000"/>
              <a:t>1</a:t>
            </a:r>
            <a:endParaRPr lang="en-US" altLang="en-US"/>
          </a:p>
        </p:txBody>
      </p:sp>
      <p:sp>
        <p:nvSpPr>
          <p:cNvPr id="10" name="Rectangle 9">
            <a:extLst>
              <a:ext uri="{FF2B5EF4-FFF2-40B4-BE49-F238E27FC236}">
                <a16:creationId xmlns:a16="http://schemas.microsoft.com/office/drawing/2014/main" id="{F9539915-A5F5-4C27-8588-3EAC07825714}"/>
              </a:ext>
            </a:extLst>
          </p:cNvPr>
          <p:cNvSpPr>
            <a:spLocks noChangeArrowheads="1"/>
          </p:cNvSpPr>
          <p:nvPr/>
        </p:nvSpPr>
        <p:spPr bwMode="auto">
          <a:xfrm>
            <a:off x="3506244" y="4722987"/>
            <a:ext cx="834959" cy="614819"/>
          </a:xfrm>
          <a:prstGeom prst="rect">
            <a:avLst/>
          </a:prstGeom>
          <a:solidFill>
            <a:schemeClr val="bg1"/>
          </a:solidFill>
          <a:ln w="9525">
            <a:solidFill>
              <a:schemeClr val="tx1"/>
            </a:solidFill>
            <a:miter lim="800000"/>
            <a:headEnd/>
            <a:tailEnd/>
          </a:ln>
        </p:spPr>
        <p:txBody>
          <a:bodyPr wrap="none" lIns="91440" tIns="45720" rIns="91440" bIns="45720"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latin typeface="Helvetica"/>
                <a:cs typeface="Helvetica"/>
              </a:rPr>
              <a:t>P</a:t>
            </a:r>
            <a:r>
              <a:rPr lang="en-US" altLang="en-US" baseline="-25000">
                <a:latin typeface="Helvetica"/>
                <a:cs typeface="Helvetica"/>
              </a:rPr>
              <a:t>3</a:t>
            </a:r>
            <a:endParaRPr lang="en-US" altLang="en-US">
              <a:cs typeface="Helvetica"/>
            </a:endParaRPr>
          </a:p>
        </p:txBody>
      </p:sp>
      <p:sp>
        <p:nvSpPr>
          <p:cNvPr id="11" name="Rectangle 4">
            <a:extLst>
              <a:ext uri="{FF2B5EF4-FFF2-40B4-BE49-F238E27FC236}">
                <a16:creationId xmlns:a16="http://schemas.microsoft.com/office/drawing/2014/main" id="{A0741BDD-D6C9-453C-9E6B-7AE7590E6ECD}"/>
              </a:ext>
            </a:extLst>
          </p:cNvPr>
          <p:cNvSpPr>
            <a:spLocks noChangeArrowheads="1"/>
          </p:cNvSpPr>
          <p:nvPr/>
        </p:nvSpPr>
        <p:spPr bwMode="auto">
          <a:xfrm>
            <a:off x="4069915" y="5474549"/>
            <a:ext cx="386110" cy="614819"/>
          </a:xfrm>
          <a:prstGeom prst="rect">
            <a:avLst/>
          </a:prstGeom>
          <a:solidFill>
            <a:schemeClr val="bg1"/>
          </a:solidFill>
          <a:ln w="9525">
            <a:solidFill>
              <a:schemeClr val="tx1"/>
            </a:solidFill>
            <a:miter lim="800000"/>
            <a:headEnd/>
            <a:tailEnd/>
          </a:ln>
        </p:spPr>
        <p:txBody>
          <a:bodyPr wrap="none" lIns="91440" tIns="45720" rIns="91440" bIns="45720"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latin typeface="Helvetica"/>
                <a:cs typeface="Helvetica"/>
              </a:rPr>
              <a:t>P</a:t>
            </a:r>
            <a:r>
              <a:rPr lang="en-US" altLang="en-US" baseline="-25000">
                <a:latin typeface="Helvetica"/>
                <a:cs typeface="Helvetica"/>
              </a:rPr>
              <a:t>4</a:t>
            </a:r>
            <a:endParaRPr lang="en-US" altLang="en-US"/>
          </a:p>
        </p:txBody>
      </p:sp>
      <p:sp>
        <p:nvSpPr>
          <p:cNvPr id="12" name="Rectangle 4">
            <a:extLst>
              <a:ext uri="{FF2B5EF4-FFF2-40B4-BE49-F238E27FC236}">
                <a16:creationId xmlns:a16="http://schemas.microsoft.com/office/drawing/2014/main" id="{8BBF093B-4866-42A5-9C01-FEE1385DBEAB}"/>
              </a:ext>
            </a:extLst>
          </p:cNvPr>
          <p:cNvSpPr>
            <a:spLocks noChangeArrowheads="1"/>
          </p:cNvSpPr>
          <p:nvPr/>
        </p:nvSpPr>
        <p:spPr bwMode="auto">
          <a:xfrm>
            <a:off x="4341313" y="4722987"/>
            <a:ext cx="521809" cy="614819"/>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P</a:t>
            </a:r>
            <a:r>
              <a:rPr lang="en-US" altLang="en-US" baseline="-25000"/>
              <a:t>1</a:t>
            </a:r>
            <a:endParaRPr lang="en-US" altLang="en-US"/>
          </a:p>
        </p:txBody>
      </p:sp>
      <p:sp>
        <p:nvSpPr>
          <p:cNvPr id="13" name="Rectangle 12">
            <a:extLst>
              <a:ext uri="{FF2B5EF4-FFF2-40B4-BE49-F238E27FC236}">
                <a16:creationId xmlns:a16="http://schemas.microsoft.com/office/drawing/2014/main" id="{5E89F26D-0BC8-4CC8-ACF6-C95ED7535CA3}"/>
              </a:ext>
            </a:extLst>
          </p:cNvPr>
          <p:cNvSpPr>
            <a:spLocks noChangeArrowheads="1"/>
          </p:cNvSpPr>
          <p:nvPr/>
        </p:nvSpPr>
        <p:spPr bwMode="auto">
          <a:xfrm>
            <a:off x="4457178" y="5475593"/>
            <a:ext cx="1122013" cy="614819"/>
          </a:xfrm>
          <a:prstGeom prst="rect">
            <a:avLst/>
          </a:prstGeom>
          <a:solidFill>
            <a:schemeClr val="bg1"/>
          </a:solidFill>
          <a:ln w="9525">
            <a:solidFill>
              <a:schemeClr val="tx1"/>
            </a:solidFill>
            <a:miter lim="800000"/>
            <a:headEnd/>
            <a:tailEnd/>
          </a:ln>
        </p:spPr>
        <p:txBody>
          <a:bodyPr wrap="none" lIns="91440" tIns="45720" rIns="91440" bIns="45720"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latin typeface="Helvetica"/>
                <a:cs typeface="Helvetica"/>
              </a:rPr>
              <a:t>P</a:t>
            </a:r>
            <a:r>
              <a:rPr lang="en-US" altLang="en-US" baseline="-25000">
                <a:latin typeface="Helvetica"/>
                <a:cs typeface="Helvetica"/>
              </a:rPr>
              <a:t>3</a:t>
            </a:r>
            <a:endParaRPr lang="en-US" altLang="en-US">
              <a:cs typeface="Helvetica"/>
            </a:endParaRPr>
          </a:p>
        </p:txBody>
      </p:sp>
      <p:sp>
        <p:nvSpPr>
          <p:cNvPr id="14" name="Text Box 15">
            <a:extLst>
              <a:ext uri="{FF2B5EF4-FFF2-40B4-BE49-F238E27FC236}">
                <a16:creationId xmlns:a16="http://schemas.microsoft.com/office/drawing/2014/main" id="{2F0B5930-0719-4F83-A5AA-A2C64215267A}"/>
              </a:ext>
            </a:extLst>
          </p:cNvPr>
          <p:cNvSpPr txBox="1">
            <a:spLocks noChangeArrowheads="1"/>
          </p:cNvSpPr>
          <p:nvPr/>
        </p:nvSpPr>
        <p:spPr bwMode="auto">
          <a:xfrm>
            <a:off x="1599156" y="437643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0</a:t>
            </a:r>
          </a:p>
        </p:txBody>
      </p:sp>
      <p:sp>
        <p:nvSpPr>
          <p:cNvPr id="15" name="Rectangle 14">
            <a:extLst>
              <a:ext uri="{FF2B5EF4-FFF2-40B4-BE49-F238E27FC236}">
                <a16:creationId xmlns:a16="http://schemas.microsoft.com/office/drawing/2014/main" id="{C691DD67-3D07-450D-A7A1-FA2D21E98244}"/>
              </a:ext>
            </a:extLst>
          </p:cNvPr>
          <p:cNvSpPr>
            <a:spLocks noChangeArrowheads="1"/>
          </p:cNvSpPr>
          <p:nvPr/>
        </p:nvSpPr>
        <p:spPr bwMode="auto">
          <a:xfrm>
            <a:off x="6321099" y="1549313"/>
            <a:ext cx="441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t">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dirty="0">
                <a:solidFill>
                  <a:srgbClr val="FF0000"/>
                </a:solidFill>
                <a:latin typeface="Helvetica"/>
                <a:cs typeface="Helvetica"/>
              </a:rPr>
              <a:t>13</a:t>
            </a:r>
            <a:endParaRPr lang="en-US" altLang="en-US" dirty="0">
              <a:solidFill>
                <a:srgbClr val="FF0000"/>
              </a:solidFill>
            </a:endParaRPr>
          </a:p>
        </p:txBody>
      </p:sp>
      <p:cxnSp>
        <p:nvCxnSpPr>
          <p:cNvPr id="16" name="Straight Arrow Connector 15">
            <a:extLst>
              <a:ext uri="{FF2B5EF4-FFF2-40B4-BE49-F238E27FC236}">
                <a16:creationId xmlns:a16="http://schemas.microsoft.com/office/drawing/2014/main" id="{536B6E3E-B181-4609-8C45-3063A3A48B2A}"/>
              </a:ext>
            </a:extLst>
          </p:cNvPr>
          <p:cNvCxnSpPr>
            <a:cxnSpLocks noChangeShapeType="1"/>
          </p:cNvCxnSpPr>
          <p:nvPr/>
        </p:nvCxnSpPr>
        <p:spPr bwMode="auto">
          <a:xfrm>
            <a:off x="6117899" y="1733463"/>
            <a:ext cx="203200" cy="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17" name="Rectangle 16">
            <a:extLst>
              <a:ext uri="{FF2B5EF4-FFF2-40B4-BE49-F238E27FC236}">
                <a16:creationId xmlns:a16="http://schemas.microsoft.com/office/drawing/2014/main" id="{F4676A78-134C-47A2-976F-34D501C4F0FC}"/>
              </a:ext>
            </a:extLst>
          </p:cNvPr>
          <p:cNvSpPr>
            <a:spLocks noChangeArrowheads="1"/>
          </p:cNvSpPr>
          <p:nvPr/>
        </p:nvSpPr>
        <p:spPr bwMode="auto">
          <a:xfrm>
            <a:off x="7142089" y="1554532"/>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t">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latin typeface="Helvetica"/>
                <a:cs typeface="Helvetica"/>
              </a:rPr>
              <a:t>0</a:t>
            </a:r>
            <a:endParaRPr lang="en-US" altLang="en-US">
              <a:solidFill>
                <a:srgbClr val="FF0000"/>
              </a:solidFill>
              <a:cs typeface="Helvetica"/>
            </a:endParaRPr>
          </a:p>
        </p:txBody>
      </p:sp>
      <p:cxnSp>
        <p:nvCxnSpPr>
          <p:cNvPr id="18" name="Straight Arrow Connector 17">
            <a:extLst>
              <a:ext uri="{FF2B5EF4-FFF2-40B4-BE49-F238E27FC236}">
                <a16:creationId xmlns:a16="http://schemas.microsoft.com/office/drawing/2014/main" id="{0EC6D9B4-C6BF-4B5F-91F9-508DC09D23BA}"/>
              </a:ext>
            </a:extLst>
          </p:cNvPr>
          <p:cNvCxnSpPr>
            <a:cxnSpLocks noChangeShapeType="1"/>
          </p:cNvCxnSpPr>
          <p:nvPr/>
        </p:nvCxnSpPr>
        <p:spPr bwMode="auto">
          <a:xfrm>
            <a:off x="6874680" y="1738682"/>
            <a:ext cx="203200" cy="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67" name="Rectangle 66">
            <a:extLst>
              <a:ext uri="{FF2B5EF4-FFF2-40B4-BE49-F238E27FC236}">
                <a16:creationId xmlns:a16="http://schemas.microsoft.com/office/drawing/2014/main" id="{229ADAF6-A325-4C46-BB57-F928705A5B37}"/>
              </a:ext>
            </a:extLst>
          </p:cNvPr>
          <p:cNvSpPr>
            <a:spLocks noChangeArrowheads="1"/>
          </p:cNvSpPr>
          <p:nvPr/>
        </p:nvSpPr>
        <p:spPr bwMode="auto">
          <a:xfrm>
            <a:off x="6347194" y="2452230"/>
            <a:ext cx="441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t">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dirty="0">
                <a:solidFill>
                  <a:srgbClr val="FF0000"/>
                </a:solidFill>
                <a:latin typeface="Helvetica"/>
                <a:cs typeface="Helvetica"/>
              </a:rPr>
              <a:t>28</a:t>
            </a:r>
            <a:endParaRPr lang="en-US" altLang="en-US" dirty="0">
              <a:solidFill>
                <a:srgbClr val="FF0000"/>
              </a:solidFill>
            </a:endParaRPr>
          </a:p>
        </p:txBody>
      </p:sp>
      <p:cxnSp>
        <p:nvCxnSpPr>
          <p:cNvPr id="68" name="Straight Arrow Connector 67">
            <a:extLst>
              <a:ext uri="{FF2B5EF4-FFF2-40B4-BE49-F238E27FC236}">
                <a16:creationId xmlns:a16="http://schemas.microsoft.com/office/drawing/2014/main" id="{5E066E7A-20A8-4373-B110-193C43D7C048}"/>
              </a:ext>
            </a:extLst>
          </p:cNvPr>
          <p:cNvCxnSpPr>
            <a:cxnSpLocks noChangeShapeType="1"/>
          </p:cNvCxnSpPr>
          <p:nvPr/>
        </p:nvCxnSpPr>
        <p:spPr bwMode="auto">
          <a:xfrm>
            <a:off x="6143994" y="2636380"/>
            <a:ext cx="203200" cy="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69" name="Rectangle 68">
            <a:extLst>
              <a:ext uri="{FF2B5EF4-FFF2-40B4-BE49-F238E27FC236}">
                <a16:creationId xmlns:a16="http://schemas.microsoft.com/office/drawing/2014/main" id="{A30B2D70-81A6-4ED6-8EB2-1860773894E8}"/>
              </a:ext>
            </a:extLst>
          </p:cNvPr>
          <p:cNvSpPr>
            <a:spLocks noChangeArrowheads="1"/>
          </p:cNvSpPr>
          <p:nvPr/>
        </p:nvSpPr>
        <p:spPr bwMode="auto">
          <a:xfrm>
            <a:off x="7168184" y="2457449"/>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t">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solidFill>
                  <a:srgbClr val="FF0000"/>
                </a:solidFill>
                <a:latin typeface="Helvetica"/>
                <a:cs typeface="Helvetica"/>
              </a:rPr>
              <a:t>0</a:t>
            </a:r>
            <a:endParaRPr lang="en-US" altLang="en-US">
              <a:solidFill>
                <a:srgbClr val="FF0000"/>
              </a:solidFill>
              <a:cs typeface="Helvetica"/>
            </a:endParaRPr>
          </a:p>
        </p:txBody>
      </p:sp>
      <p:cxnSp>
        <p:nvCxnSpPr>
          <p:cNvPr id="70" name="Straight Arrow Connector 69">
            <a:extLst>
              <a:ext uri="{FF2B5EF4-FFF2-40B4-BE49-F238E27FC236}">
                <a16:creationId xmlns:a16="http://schemas.microsoft.com/office/drawing/2014/main" id="{A9806CD8-07CB-4AC9-8CF7-DE3B7935B772}"/>
              </a:ext>
            </a:extLst>
          </p:cNvPr>
          <p:cNvCxnSpPr>
            <a:cxnSpLocks noChangeShapeType="1"/>
          </p:cNvCxnSpPr>
          <p:nvPr/>
        </p:nvCxnSpPr>
        <p:spPr bwMode="auto">
          <a:xfrm>
            <a:off x="6900775" y="2641599"/>
            <a:ext cx="203200" cy="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71" name="Rectangle 70">
            <a:extLst>
              <a:ext uri="{FF2B5EF4-FFF2-40B4-BE49-F238E27FC236}">
                <a16:creationId xmlns:a16="http://schemas.microsoft.com/office/drawing/2014/main" id="{DE74ED5D-2D83-4EDA-B4C2-9A646515D617}"/>
              </a:ext>
            </a:extLst>
          </p:cNvPr>
          <p:cNvSpPr>
            <a:spLocks noChangeArrowheads="1"/>
          </p:cNvSpPr>
          <p:nvPr/>
        </p:nvSpPr>
        <p:spPr bwMode="auto">
          <a:xfrm>
            <a:off x="6411402" y="2911517"/>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t">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i="1">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dirty="0">
                <a:solidFill>
                  <a:srgbClr val="FF0000"/>
                </a:solidFill>
                <a:latin typeface="Helvetica"/>
                <a:cs typeface="Helvetica"/>
              </a:rPr>
              <a:t>0</a:t>
            </a:r>
            <a:endParaRPr lang="en-US" altLang="en-US" dirty="0">
              <a:solidFill>
                <a:srgbClr val="FF0000"/>
              </a:solidFill>
              <a:cs typeface="Helvetica"/>
            </a:endParaRPr>
          </a:p>
        </p:txBody>
      </p:sp>
      <p:cxnSp>
        <p:nvCxnSpPr>
          <p:cNvPr id="72" name="Straight Arrow Connector 71">
            <a:extLst>
              <a:ext uri="{FF2B5EF4-FFF2-40B4-BE49-F238E27FC236}">
                <a16:creationId xmlns:a16="http://schemas.microsoft.com/office/drawing/2014/main" id="{21DEDE85-578B-4CE8-9F29-0A0B6B0DE6B8}"/>
              </a:ext>
            </a:extLst>
          </p:cNvPr>
          <p:cNvCxnSpPr>
            <a:cxnSpLocks noChangeShapeType="1"/>
          </p:cNvCxnSpPr>
          <p:nvPr/>
        </p:nvCxnSpPr>
        <p:spPr bwMode="auto">
          <a:xfrm>
            <a:off x="6143993" y="3095667"/>
            <a:ext cx="203200" cy="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277381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3569"/>
                                        </p:tgtEl>
                                        <p:attrNameLst>
                                          <p:attrName>style.visibility</p:attrName>
                                        </p:attrNameLst>
                                      </p:cBhvr>
                                      <p:to>
                                        <p:strVal val="visible"/>
                                      </p:to>
                                    </p:set>
                                    <p:animEffect transition="in" filter="box(in)">
                                      <p:cBhvr>
                                        <p:cTn id="7" dur="2500"/>
                                        <p:tgtEl>
                                          <p:spTgt spid="23569"/>
                                        </p:tgtEl>
                                      </p:cBhvr>
                                    </p:animEffect>
                                  </p:childTnLst>
                                </p:cTn>
                              </p:par>
                            </p:childTnLst>
                          </p:cTn>
                        </p:par>
                        <p:par>
                          <p:cTn id="8" fill="hold">
                            <p:stCondLst>
                              <p:cond delay="2500"/>
                            </p:stCondLst>
                            <p:childTnLst>
                              <p:par>
                                <p:cTn id="9" presetID="4"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ox(in)">
                                      <p:cBhvr>
                                        <p:cTn id="11" dur="2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23560"/>
                                        </p:tgtEl>
                                        <p:attrNameLst>
                                          <p:attrName>style.visibility</p:attrName>
                                        </p:attrNameLst>
                                      </p:cBhvr>
                                      <p:to>
                                        <p:strVal val="visible"/>
                                      </p:to>
                                    </p:set>
                                    <p:animEffect transition="in" filter="box(in)">
                                      <p:cBhvr>
                                        <p:cTn id="16" dur="2300"/>
                                        <p:tgtEl>
                                          <p:spTgt spid="23560"/>
                                        </p:tgtEl>
                                      </p:cBhvr>
                                    </p:animEffect>
                                  </p:childTnLst>
                                </p:cTn>
                              </p:par>
                            </p:childTnLst>
                          </p:cTn>
                        </p:par>
                        <p:par>
                          <p:cTn id="17" fill="hold">
                            <p:stCondLst>
                              <p:cond delay="2300"/>
                            </p:stCondLst>
                            <p:childTnLst>
                              <p:par>
                                <p:cTn id="18" presetID="1" presetClass="entr" presetSubtype="0" fill="hold" nodeType="afterEffect">
                                  <p:stCondLst>
                                    <p:cond delay="0"/>
                                  </p:stCondLst>
                                  <p:childTnLst>
                                    <p:set>
                                      <p:cBhvr>
                                        <p:cTn id="19" dur="1" fill="hold">
                                          <p:stCondLst>
                                            <p:cond delay="0"/>
                                          </p:stCondLst>
                                        </p:cTn>
                                        <p:tgtEl>
                                          <p:spTgt spid="28"/>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childTnLst>
                                </p:cTn>
                              </p:par>
                            </p:childTnLst>
                          </p:cTn>
                        </p:par>
                        <p:par>
                          <p:cTn id="22" fill="hold">
                            <p:stCondLst>
                              <p:cond delay="2300"/>
                            </p:stCondLst>
                            <p:childTnLst>
                              <p:par>
                                <p:cTn id="23" presetID="4" presetClass="entr" presetSubtype="16"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box(in)">
                                      <p:cBhvr>
                                        <p:cTn id="25" dur="26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23559"/>
                                        </p:tgtEl>
                                        <p:attrNameLst>
                                          <p:attrName>style.visibility</p:attrName>
                                        </p:attrNameLst>
                                      </p:cBhvr>
                                      <p:to>
                                        <p:strVal val="visible"/>
                                      </p:to>
                                    </p:set>
                                    <p:animEffect transition="in" filter="box(in)">
                                      <p:cBhvr>
                                        <p:cTn id="30" dur="2600"/>
                                        <p:tgtEl>
                                          <p:spTgt spid="23559"/>
                                        </p:tgtEl>
                                      </p:cBhvr>
                                    </p:animEffect>
                                  </p:childTnLst>
                                </p:cTn>
                              </p:par>
                            </p:childTnLst>
                          </p:cTn>
                        </p:par>
                        <p:par>
                          <p:cTn id="31" fill="hold">
                            <p:stCondLst>
                              <p:cond delay="2600"/>
                            </p:stCondLst>
                            <p:childTnLst>
                              <p:par>
                                <p:cTn id="32" presetID="1" presetClass="entr" presetSubtype="0" fill="hold" nodeType="afterEffect">
                                  <p:stCondLst>
                                    <p:cond delay="0"/>
                                  </p:stCondLst>
                                  <p:childTnLst>
                                    <p:set>
                                      <p:cBhvr>
                                        <p:cTn id="33" dur="1" fill="hold">
                                          <p:stCondLst>
                                            <p:cond delay="0"/>
                                          </p:stCondLst>
                                        </p:cTn>
                                        <p:tgtEl>
                                          <p:spTgt spid="30"/>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29"/>
                                        </p:tgtEl>
                                        <p:attrNameLst>
                                          <p:attrName>style.visibility</p:attrName>
                                        </p:attrNameLst>
                                      </p:cBhvr>
                                      <p:to>
                                        <p:strVal val="visible"/>
                                      </p:to>
                                    </p:set>
                                  </p:childTnLst>
                                </p:cTn>
                              </p:par>
                            </p:childTnLst>
                          </p:cTn>
                        </p:par>
                        <p:par>
                          <p:cTn id="36" fill="hold">
                            <p:stCondLst>
                              <p:cond delay="2600"/>
                            </p:stCondLst>
                            <p:childTnLst>
                              <p:par>
                                <p:cTn id="37" presetID="4" presetClass="entr" presetSubtype="16" fill="hold" grpId="0" nodeType="after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box(in)">
                                      <p:cBhvr>
                                        <p:cTn id="39" dur="2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16" fill="hold" grpId="0" nodeType="clickEffect">
                                  <p:stCondLst>
                                    <p:cond delay="0"/>
                                  </p:stCondLst>
                                  <p:childTnLst>
                                    <p:set>
                                      <p:cBhvr>
                                        <p:cTn id="43" dur="1" fill="hold">
                                          <p:stCondLst>
                                            <p:cond delay="0"/>
                                          </p:stCondLst>
                                        </p:cTn>
                                        <p:tgtEl>
                                          <p:spTgt spid="23561"/>
                                        </p:tgtEl>
                                        <p:attrNameLst>
                                          <p:attrName>style.visibility</p:attrName>
                                        </p:attrNameLst>
                                      </p:cBhvr>
                                      <p:to>
                                        <p:strVal val="visible"/>
                                      </p:to>
                                    </p:set>
                                    <p:animEffect transition="in" filter="box(in)">
                                      <p:cBhvr>
                                        <p:cTn id="44" dur="2300"/>
                                        <p:tgtEl>
                                          <p:spTgt spid="23561"/>
                                        </p:tgtEl>
                                      </p:cBhvr>
                                    </p:animEffect>
                                  </p:childTnLst>
                                </p:cTn>
                              </p:par>
                            </p:childTnLst>
                          </p:cTn>
                        </p:par>
                        <p:par>
                          <p:cTn id="45" fill="hold">
                            <p:stCondLst>
                              <p:cond delay="2300"/>
                            </p:stCondLst>
                            <p:childTnLst>
                              <p:par>
                                <p:cTn id="46" presetID="1" presetClass="entr" presetSubtype="0" fill="hold" nodeType="afterEffect">
                                  <p:stCondLst>
                                    <p:cond delay="0"/>
                                  </p:stCondLst>
                                  <p:childTnLst>
                                    <p:set>
                                      <p:cBhvr>
                                        <p:cTn id="47" dur="1" fill="hold">
                                          <p:stCondLst>
                                            <p:cond delay="0"/>
                                          </p:stCondLst>
                                        </p:cTn>
                                        <p:tgtEl>
                                          <p:spTgt spid="32"/>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childTnLst>
                                </p:cTn>
                              </p:par>
                            </p:childTnLst>
                          </p:cTn>
                        </p:par>
                        <p:par>
                          <p:cTn id="50" fill="hold">
                            <p:stCondLst>
                              <p:cond delay="2300"/>
                            </p:stCondLst>
                            <p:childTnLst>
                              <p:par>
                                <p:cTn id="51" presetID="4" presetClass="entr" presetSubtype="16" fill="hold" grpId="0" nodeType="after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box(in)">
                                      <p:cBhvr>
                                        <p:cTn id="53" dur="2500"/>
                                        <p:tgtEl>
                                          <p:spTgt spid="9"/>
                                        </p:tgtEl>
                                      </p:cBhvr>
                                    </p:animEffect>
                                  </p:childTnLst>
                                </p:cTn>
                              </p:par>
                            </p:childTnLst>
                          </p:cTn>
                        </p:par>
                      </p:childTnLst>
                    </p:cTn>
                  </p:par>
                  <p:par>
                    <p:cTn id="54" fill="hold">
                      <p:stCondLst>
                        <p:cond delay="indefinite"/>
                      </p:stCondLst>
                      <p:childTnLst>
                        <p:par>
                          <p:cTn id="55" fill="hold">
                            <p:stCondLst>
                              <p:cond delay="0"/>
                            </p:stCondLst>
                            <p:childTnLst>
                              <p:par>
                                <p:cTn id="56" presetID="4" presetClass="entr" presetSubtype="16" fill="hold" grpId="0" nodeType="click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box(in)">
                                      <p:cBhvr>
                                        <p:cTn id="58" dur="2300"/>
                                        <p:tgtEl>
                                          <p:spTgt spid="8"/>
                                        </p:tgtEl>
                                      </p:cBhvr>
                                    </p:animEffect>
                                  </p:childTnLst>
                                </p:cTn>
                              </p:par>
                            </p:childTnLst>
                          </p:cTn>
                        </p:par>
                        <p:par>
                          <p:cTn id="59" fill="hold">
                            <p:stCondLst>
                              <p:cond delay="2300"/>
                            </p:stCondLst>
                            <p:childTnLst>
                              <p:par>
                                <p:cTn id="60" presetID="1" presetClass="entr" presetSubtype="0" fill="hold" nodeType="afterEffect">
                                  <p:stCondLst>
                                    <p:cond delay="0"/>
                                  </p:stCondLst>
                                  <p:childTnLst>
                                    <p:set>
                                      <p:cBhvr>
                                        <p:cTn id="61" dur="1" fill="hold">
                                          <p:stCondLst>
                                            <p:cond delay="0"/>
                                          </p:stCondLst>
                                        </p:cTn>
                                        <p:tgtEl>
                                          <p:spTgt spid="34"/>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33"/>
                                        </p:tgtEl>
                                        <p:attrNameLst>
                                          <p:attrName>style.visibility</p:attrName>
                                        </p:attrNameLst>
                                      </p:cBhvr>
                                      <p:to>
                                        <p:strVal val="visible"/>
                                      </p:to>
                                    </p:set>
                                  </p:childTnLst>
                                </p:cTn>
                              </p:par>
                            </p:childTnLst>
                          </p:cTn>
                        </p:par>
                        <p:par>
                          <p:cTn id="64" fill="hold">
                            <p:stCondLst>
                              <p:cond delay="2300"/>
                            </p:stCondLst>
                            <p:childTnLst>
                              <p:par>
                                <p:cTn id="65" presetID="4" presetClass="entr" presetSubtype="16" fill="hold" grpId="0" nodeType="afterEffect">
                                  <p:stCondLst>
                                    <p:cond delay="0"/>
                                  </p:stCondLst>
                                  <p:childTnLst>
                                    <p:set>
                                      <p:cBhvr>
                                        <p:cTn id="66" dur="1" fill="hold">
                                          <p:stCondLst>
                                            <p:cond delay="0"/>
                                          </p:stCondLst>
                                        </p:cTn>
                                        <p:tgtEl>
                                          <p:spTgt spid="10"/>
                                        </p:tgtEl>
                                        <p:attrNameLst>
                                          <p:attrName>style.visibility</p:attrName>
                                        </p:attrNameLst>
                                      </p:cBhvr>
                                      <p:to>
                                        <p:strVal val="visible"/>
                                      </p:to>
                                    </p:set>
                                    <p:animEffect transition="in" filter="box(in)">
                                      <p:cBhvr>
                                        <p:cTn id="67" dur="2300"/>
                                        <p:tgtEl>
                                          <p:spTgt spid="10"/>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16" fill="hold" grpId="0" nodeType="clickEffect">
                                  <p:stCondLst>
                                    <p:cond delay="0"/>
                                  </p:stCondLst>
                                  <p:childTnLst>
                                    <p:set>
                                      <p:cBhvr>
                                        <p:cTn id="71" dur="1" fill="hold">
                                          <p:stCondLst>
                                            <p:cond delay="0"/>
                                          </p:stCondLst>
                                        </p:cTn>
                                        <p:tgtEl>
                                          <p:spTgt spid="23562"/>
                                        </p:tgtEl>
                                        <p:attrNameLst>
                                          <p:attrName>style.visibility</p:attrName>
                                        </p:attrNameLst>
                                      </p:cBhvr>
                                      <p:to>
                                        <p:strVal val="visible"/>
                                      </p:to>
                                    </p:set>
                                    <p:animEffect transition="in" filter="box(in)">
                                      <p:cBhvr>
                                        <p:cTn id="72" dur="2500"/>
                                        <p:tgtEl>
                                          <p:spTgt spid="23562"/>
                                        </p:tgtEl>
                                      </p:cBhvr>
                                    </p:animEffect>
                                  </p:childTnLst>
                                </p:cTn>
                              </p:par>
                            </p:childTnLst>
                          </p:cTn>
                        </p:par>
                        <p:par>
                          <p:cTn id="73" fill="hold">
                            <p:stCondLst>
                              <p:cond delay="2500"/>
                            </p:stCondLst>
                            <p:childTnLst>
                              <p:par>
                                <p:cTn id="74" presetID="1" presetClass="entr" presetSubtype="0" fill="hold" nodeType="afterEffect">
                                  <p:stCondLst>
                                    <p:cond delay="0"/>
                                  </p:stCondLst>
                                  <p:childTnLst>
                                    <p:set>
                                      <p:cBhvr>
                                        <p:cTn id="75" dur="1" fill="hold">
                                          <p:stCondLst>
                                            <p:cond delay="0"/>
                                          </p:stCondLst>
                                        </p:cTn>
                                        <p:tgtEl>
                                          <p:spTgt spid="16"/>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15"/>
                                        </p:tgtEl>
                                        <p:attrNameLst>
                                          <p:attrName>style.visibility</p:attrName>
                                        </p:attrNameLst>
                                      </p:cBhvr>
                                      <p:to>
                                        <p:strVal val="visible"/>
                                      </p:to>
                                    </p:set>
                                  </p:childTnLst>
                                </p:cTn>
                              </p:par>
                            </p:childTnLst>
                          </p:cTn>
                        </p:par>
                        <p:par>
                          <p:cTn id="78" fill="hold">
                            <p:stCondLst>
                              <p:cond delay="2500"/>
                            </p:stCondLst>
                            <p:childTnLst>
                              <p:par>
                                <p:cTn id="79" presetID="4" presetClass="entr" presetSubtype="16" fill="hold" grpId="0" nodeType="afterEffect">
                                  <p:stCondLst>
                                    <p:cond delay="0"/>
                                  </p:stCondLst>
                                  <p:childTnLst>
                                    <p:set>
                                      <p:cBhvr>
                                        <p:cTn id="80" dur="1" fill="hold">
                                          <p:stCondLst>
                                            <p:cond delay="0"/>
                                          </p:stCondLst>
                                        </p:cTn>
                                        <p:tgtEl>
                                          <p:spTgt spid="11"/>
                                        </p:tgtEl>
                                        <p:attrNameLst>
                                          <p:attrName>style.visibility</p:attrName>
                                        </p:attrNameLst>
                                      </p:cBhvr>
                                      <p:to>
                                        <p:strVal val="visible"/>
                                      </p:to>
                                    </p:set>
                                    <p:animEffect transition="in" filter="box(in)">
                                      <p:cBhvr>
                                        <p:cTn id="81" dur="2200"/>
                                        <p:tgtEl>
                                          <p:spTgt spid="11"/>
                                        </p:tgtEl>
                                      </p:cBhvr>
                                    </p:animEffect>
                                  </p:childTnLst>
                                </p:cTn>
                              </p:par>
                            </p:childTnLst>
                          </p:cTn>
                        </p:par>
                      </p:childTnLst>
                    </p:cTn>
                  </p:par>
                  <p:par>
                    <p:cTn id="82" fill="hold">
                      <p:stCondLst>
                        <p:cond delay="indefinite"/>
                      </p:stCondLst>
                      <p:childTnLst>
                        <p:par>
                          <p:cTn id="83" fill="hold">
                            <p:stCondLst>
                              <p:cond delay="0"/>
                            </p:stCondLst>
                            <p:childTnLst>
                              <p:par>
                                <p:cTn id="84" presetID="4" presetClass="entr" presetSubtype="16" fill="hold" grpId="0" nodeType="clickEffect">
                                  <p:stCondLst>
                                    <p:cond delay="0"/>
                                  </p:stCondLst>
                                  <p:childTnLst>
                                    <p:set>
                                      <p:cBhvr>
                                        <p:cTn id="85" dur="1" fill="hold">
                                          <p:stCondLst>
                                            <p:cond delay="0"/>
                                          </p:stCondLst>
                                        </p:cTn>
                                        <p:tgtEl>
                                          <p:spTgt spid="50204"/>
                                        </p:tgtEl>
                                        <p:attrNameLst>
                                          <p:attrName>style.visibility</p:attrName>
                                        </p:attrNameLst>
                                      </p:cBhvr>
                                      <p:to>
                                        <p:strVal val="visible"/>
                                      </p:to>
                                    </p:set>
                                    <p:animEffect transition="in" filter="box(in)">
                                      <p:cBhvr>
                                        <p:cTn id="86" dur="2000"/>
                                        <p:tgtEl>
                                          <p:spTgt spid="50204"/>
                                        </p:tgtEl>
                                      </p:cBhvr>
                                    </p:animEffect>
                                  </p:childTnLst>
                                </p:cTn>
                              </p:par>
                            </p:childTnLst>
                          </p:cTn>
                        </p:par>
                        <p:par>
                          <p:cTn id="87" fill="hold">
                            <p:stCondLst>
                              <p:cond delay="2000"/>
                            </p:stCondLst>
                            <p:childTnLst>
                              <p:par>
                                <p:cTn id="88" presetID="1" presetClass="entr" presetSubtype="0" fill="hold" nodeType="afterEffect">
                                  <p:stCondLst>
                                    <p:cond delay="0"/>
                                  </p:stCondLst>
                                  <p:childTnLst>
                                    <p:set>
                                      <p:cBhvr>
                                        <p:cTn id="89" dur="1" fill="hold">
                                          <p:stCondLst>
                                            <p:cond delay="0"/>
                                          </p:stCondLst>
                                        </p:cTn>
                                        <p:tgtEl>
                                          <p:spTgt spid="68"/>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67"/>
                                        </p:tgtEl>
                                        <p:attrNameLst>
                                          <p:attrName>style.visibility</p:attrName>
                                        </p:attrNameLst>
                                      </p:cBhvr>
                                      <p:to>
                                        <p:strVal val="visible"/>
                                      </p:to>
                                    </p:set>
                                  </p:childTnLst>
                                </p:cTn>
                              </p:par>
                            </p:childTnLst>
                          </p:cTn>
                        </p:par>
                        <p:par>
                          <p:cTn id="92" fill="hold">
                            <p:stCondLst>
                              <p:cond delay="2000"/>
                            </p:stCondLst>
                            <p:childTnLst>
                              <p:par>
                                <p:cTn id="93" presetID="4" presetClass="entr" presetSubtype="16" fill="hold" grpId="0" nodeType="afterEffect">
                                  <p:stCondLst>
                                    <p:cond delay="0"/>
                                  </p:stCondLst>
                                  <p:childTnLst>
                                    <p:set>
                                      <p:cBhvr>
                                        <p:cTn id="94" dur="1" fill="hold">
                                          <p:stCondLst>
                                            <p:cond delay="0"/>
                                          </p:stCondLst>
                                        </p:cTn>
                                        <p:tgtEl>
                                          <p:spTgt spid="12"/>
                                        </p:tgtEl>
                                        <p:attrNameLst>
                                          <p:attrName>style.visibility</p:attrName>
                                        </p:attrNameLst>
                                      </p:cBhvr>
                                      <p:to>
                                        <p:strVal val="visible"/>
                                      </p:to>
                                    </p:set>
                                    <p:animEffect transition="in" filter="box(in)">
                                      <p:cBhvr>
                                        <p:cTn id="95" dur="2200"/>
                                        <p:tgtEl>
                                          <p:spTgt spid="12"/>
                                        </p:tgtEl>
                                      </p:cBhvr>
                                    </p:animEffect>
                                  </p:childTnLst>
                                </p:cTn>
                              </p:par>
                            </p:childTnLst>
                          </p:cTn>
                        </p:par>
                      </p:childTnLst>
                    </p:cTn>
                  </p:par>
                  <p:par>
                    <p:cTn id="96" fill="hold">
                      <p:stCondLst>
                        <p:cond delay="indefinite"/>
                      </p:stCondLst>
                      <p:childTnLst>
                        <p:par>
                          <p:cTn id="97" fill="hold">
                            <p:stCondLst>
                              <p:cond delay="0"/>
                            </p:stCondLst>
                            <p:childTnLst>
                              <p:par>
                                <p:cTn id="98" presetID="4" presetClass="entr" presetSubtype="16" fill="hold" grpId="0" nodeType="clickEffect">
                                  <p:stCondLst>
                                    <p:cond delay="0"/>
                                  </p:stCondLst>
                                  <p:childTnLst>
                                    <p:set>
                                      <p:cBhvr>
                                        <p:cTn id="99" dur="1" fill="hold">
                                          <p:stCondLst>
                                            <p:cond delay="0"/>
                                          </p:stCondLst>
                                        </p:cTn>
                                        <p:tgtEl>
                                          <p:spTgt spid="50205"/>
                                        </p:tgtEl>
                                        <p:attrNameLst>
                                          <p:attrName>style.visibility</p:attrName>
                                        </p:attrNameLst>
                                      </p:cBhvr>
                                      <p:to>
                                        <p:strVal val="visible"/>
                                      </p:to>
                                    </p:set>
                                    <p:animEffect transition="in" filter="box(in)">
                                      <p:cBhvr>
                                        <p:cTn id="100" dur="2000"/>
                                        <p:tgtEl>
                                          <p:spTgt spid="50205"/>
                                        </p:tgtEl>
                                      </p:cBhvr>
                                    </p:animEffect>
                                  </p:childTnLst>
                                </p:cTn>
                              </p:par>
                            </p:childTnLst>
                          </p:cTn>
                        </p:par>
                        <p:par>
                          <p:cTn id="101" fill="hold">
                            <p:stCondLst>
                              <p:cond delay="2000"/>
                            </p:stCondLst>
                            <p:childTnLst>
                              <p:par>
                                <p:cTn id="102" presetID="1" presetClass="entr" presetSubtype="0" fill="hold" nodeType="afterEffect">
                                  <p:stCondLst>
                                    <p:cond delay="0"/>
                                  </p:stCondLst>
                                  <p:childTnLst>
                                    <p:set>
                                      <p:cBhvr>
                                        <p:cTn id="103" dur="1" fill="hold">
                                          <p:stCondLst>
                                            <p:cond delay="0"/>
                                          </p:stCondLst>
                                        </p:cTn>
                                        <p:tgtEl>
                                          <p:spTgt spid="72"/>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71"/>
                                        </p:tgtEl>
                                        <p:attrNameLst>
                                          <p:attrName>style.visibility</p:attrName>
                                        </p:attrNameLst>
                                      </p:cBhvr>
                                      <p:to>
                                        <p:strVal val="visible"/>
                                      </p:to>
                                    </p:set>
                                  </p:childTnLst>
                                </p:cTn>
                              </p:par>
                            </p:childTnLst>
                          </p:cTn>
                        </p:par>
                        <p:par>
                          <p:cTn id="106" fill="hold">
                            <p:stCondLst>
                              <p:cond delay="2000"/>
                            </p:stCondLst>
                            <p:childTnLst>
                              <p:par>
                                <p:cTn id="107" presetID="4" presetClass="entr" presetSubtype="16" fill="hold" grpId="0" nodeType="afterEffect">
                                  <p:stCondLst>
                                    <p:cond delay="0"/>
                                  </p:stCondLst>
                                  <p:childTnLst>
                                    <p:set>
                                      <p:cBhvr>
                                        <p:cTn id="108" dur="1" fill="hold">
                                          <p:stCondLst>
                                            <p:cond delay="0"/>
                                          </p:stCondLst>
                                        </p:cTn>
                                        <p:tgtEl>
                                          <p:spTgt spid="13"/>
                                        </p:tgtEl>
                                        <p:attrNameLst>
                                          <p:attrName>style.visibility</p:attrName>
                                        </p:attrNameLst>
                                      </p:cBhvr>
                                      <p:to>
                                        <p:strVal val="visible"/>
                                      </p:to>
                                    </p:set>
                                    <p:animEffect transition="in" filter="box(in)">
                                      <p:cBhvr>
                                        <p:cTn id="109" dur="2000"/>
                                        <p:tgtEl>
                                          <p:spTgt spid="13"/>
                                        </p:tgtEl>
                                      </p:cBhvr>
                                    </p:animEffect>
                                  </p:childTnLst>
                                </p:cTn>
                              </p:par>
                            </p:childTnLst>
                          </p:cTn>
                        </p:par>
                      </p:childTnLst>
                    </p:cTn>
                  </p:par>
                  <p:par>
                    <p:cTn id="110" fill="hold">
                      <p:stCondLst>
                        <p:cond delay="indefinite"/>
                      </p:stCondLst>
                      <p:childTnLst>
                        <p:par>
                          <p:cTn id="111" fill="hold">
                            <p:stCondLst>
                              <p:cond delay="0"/>
                            </p:stCondLst>
                            <p:childTnLst>
                              <p:par>
                                <p:cTn id="112" presetID="4" presetClass="entr" presetSubtype="16" fill="hold" grpId="0" nodeType="clickEffect">
                                  <p:stCondLst>
                                    <p:cond delay="0"/>
                                  </p:stCondLst>
                                  <p:childTnLst>
                                    <p:set>
                                      <p:cBhvr>
                                        <p:cTn id="113" dur="1" fill="hold">
                                          <p:stCondLst>
                                            <p:cond delay="0"/>
                                          </p:stCondLst>
                                        </p:cTn>
                                        <p:tgtEl>
                                          <p:spTgt spid="50206"/>
                                        </p:tgtEl>
                                        <p:attrNameLst>
                                          <p:attrName>style.visibility</p:attrName>
                                        </p:attrNameLst>
                                      </p:cBhvr>
                                      <p:to>
                                        <p:strVal val="visible"/>
                                      </p:to>
                                    </p:set>
                                    <p:animEffect transition="in" filter="box(in)">
                                      <p:cBhvr>
                                        <p:cTn id="114" dur="2000"/>
                                        <p:tgtEl>
                                          <p:spTgt spid="50206"/>
                                        </p:tgtEl>
                                      </p:cBhvr>
                                    </p:animEffect>
                                  </p:childTnLst>
                                </p:cTn>
                              </p:par>
                            </p:childTnLst>
                          </p:cTn>
                        </p:par>
                        <p:par>
                          <p:cTn id="115" fill="hold">
                            <p:stCondLst>
                              <p:cond delay="2000"/>
                            </p:stCondLst>
                            <p:childTnLst>
                              <p:par>
                                <p:cTn id="116" presetID="1" presetClass="entr" presetSubtype="0" fill="hold" nodeType="afterEffect">
                                  <p:stCondLst>
                                    <p:cond delay="0"/>
                                  </p:stCondLst>
                                  <p:childTnLst>
                                    <p:set>
                                      <p:cBhvr>
                                        <p:cTn id="117" dur="1" fill="hold">
                                          <p:stCondLst>
                                            <p:cond delay="0"/>
                                          </p:stCondLst>
                                        </p:cTn>
                                        <p:tgtEl>
                                          <p:spTgt spid="18"/>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17"/>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4" presetClass="entr" presetSubtype="16" fill="hold" grpId="0" nodeType="clickEffect">
                                  <p:stCondLst>
                                    <p:cond delay="0"/>
                                  </p:stCondLst>
                                  <p:childTnLst>
                                    <p:set>
                                      <p:cBhvr>
                                        <p:cTn id="123" dur="1" fill="hold">
                                          <p:stCondLst>
                                            <p:cond delay="0"/>
                                          </p:stCondLst>
                                        </p:cTn>
                                        <p:tgtEl>
                                          <p:spTgt spid="50207"/>
                                        </p:tgtEl>
                                        <p:attrNameLst>
                                          <p:attrName>style.visibility</p:attrName>
                                        </p:attrNameLst>
                                      </p:cBhvr>
                                      <p:to>
                                        <p:strVal val="visible"/>
                                      </p:to>
                                    </p:set>
                                    <p:animEffect transition="in" filter="box(in)">
                                      <p:cBhvr>
                                        <p:cTn id="124" dur="2000"/>
                                        <p:tgtEl>
                                          <p:spTgt spid="50207"/>
                                        </p:tgtEl>
                                      </p:cBhvr>
                                    </p:animEffect>
                                  </p:childTnLst>
                                </p:cTn>
                              </p:par>
                            </p:childTnLst>
                          </p:cTn>
                        </p:par>
                        <p:par>
                          <p:cTn id="125" fill="hold">
                            <p:stCondLst>
                              <p:cond delay="2000"/>
                            </p:stCondLst>
                            <p:childTnLst>
                              <p:par>
                                <p:cTn id="126" presetID="1" presetClass="entr" presetSubtype="0" fill="hold" nodeType="afterEffect">
                                  <p:stCondLst>
                                    <p:cond delay="0"/>
                                  </p:stCondLst>
                                  <p:childTnLst>
                                    <p:set>
                                      <p:cBhvr>
                                        <p:cTn id="127" dur="1" fill="hold">
                                          <p:stCondLst>
                                            <p:cond delay="0"/>
                                          </p:stCondLst>
                                        </p:cTn>
                                        <p:tgtEl>
                                          <p:spTgt spid="70"/>
                                        </p:tgtEl>
                                        <p:attrNameLst>
                                          <p:attrName>style.visibility</p:attrName>
                                        </p:attrNameLst>
                                      </p:cBhvr>
                                      <p:to>
                                        <p:strVal val="visible"/>
                                      </p:to>
                                    </p:set>
                                  </p:childTnLst>
                                </p:cTn>
                              </p:par>
                              <p:par>
                                <p:cTn id="128" presetID="1" presetClass="entr" presetSubtype="0" fill="hold" grpId="0" nodeType="withEffect">
                                  <p:stCondLst>
                                    <p:cond delay="0"/>
                                  </p:stCondLst>
                                  <p:childTnLst>
                                    <p:set>
                                      <p:cBhvr>
                                        <p:cTn id="129"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9" grpId="0" animBg="1"/>
      <p:bldP spid="23559" grpId="0"/>
      <p:bldP spid="23560" grpId="0"/>
      <p:bldP spid="23561" grpId="0"/>
      <p:bldP spid="23562" grpId="0"/>
      <p:bldP spid="50204" grpId="0"/>
      <p:bldP spid="50205" grpId="0"/>
      <p:bldP spid="50206" grpId="0"/>
      <p:bldP spid="50207" grpId="0"/>
      <p:bldP spid="27" grpId="0"/>
      <p:bldP spid="29" grpId="0"/>
      <p:bldP spid="31" grpId="0"/>
      <p:bldP spid="33" grpId="0"/>
      <p:bldP spid="5" grpId="0" animBg="1"/>
      <p:bldP spid="6" grpId="0" animBg="1"/>
      <p:bldP spid="7" grpId="0" animBg="1"/>
      <p:bldP spid="8" grpId="0"/>
      <p:bldP spid="9" grpId="0" animBg="1"/>
      <p:bldP spid="10" grpId="0" animBg="1"/>
      <p:bldP spid="11" grpId="0" animBg="1"/>
      <p:bldP spid="12" grpId="0" animBg="1"/>
      <p:bldP spid="13" grpId="0" animBg="1"/>
      <p:bldP spid="15" grpId="0"/>
      <p:bldP spid="17" grpId="0"/>
      <p:bldP spid="67" grpId="0"/>
      <p:bldP spid="69" grpId="0"/>
      <p:bldP spid="7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976F9-59BC-4639-AF51-CFD5E2CBEA76}"/>
              </a:ext>
            </a:extLst>
          </p:cNvPr>
          <p:cNvSpPr>
            <a:spLocks noGrp="1"/>
          </p:cNvSpPr>
          <p:nvPr>
            <p:ph type="title"/>
          </p:nvPr>
        </p:nvSpPr>
        <p:spPr/>
        <p:txBody>
          <a:bodyPr/>
          <a:lstStyle/>
          <a:p>
            <a:r>
              <a:rPr lang="en-US">
                <a:cs typeface="Helvetica"/>
              </a:rPr>
              <a:t>Global Scheduling: Issues</a:t>
            </a:r>
            <a:endParaRPr lang="en-US"/>
          </a:p>
        </p:txBody>
      </p:sp>
      <p:sp>
        <p:nvSpPr>
          <p:cNvPr id="4" name="Footer Placeholder 3">
            <a:extLst>
              <a:ext uri="{FF2B5EF4-FFF2-40B4-BE49-F238E27FC236}">
                <a16:creationId xmlns:a16="http://schemas.microsoft.com/office/drawing/2014/main" id="{147D2183-EDDE-4FDF-A9A6-164C71AC3ABC}"/>
              </a:ext>
            </a:extLst>
          </p:cNvPr>
          <p:cNvSpPr>
            <a:spLocks noGrp="1"/>
          </p:cNvSpPr>
          <p:nvPr>
            <p:ph type="ftr" sz="quarter" idx="10"/>
          </p:nvPr>
        </p:nvSpPr>
        <p:spPr/>
        <p:txBody>
          <a:bodyPr/>
          <a:lstStyle/>
          <a:p>
            <a:pPr>
              <a:defRPr/>
            </a:pPr>
            <a:r>
              <a:rPr lang="en-US"/>
              <a:t>Operating Systems</a:t>
            </a:r>
          </a:p>
          <a:p>
            <a:pPr>
              <a:defRPr/>
            </a:pPr>
            <a:endParaRPr lang="en-US"/>
          </a:p>
        </p:txBody>
      </p:sp>
      <p:sp>
        <p:nvSpPr>
          <p:cNvPr id="6" name="Rectangle 3">
            <a:extLst>
              <a:ext uri="{FF2B5EF4-FFF2-40B4-BE49-F238E27FC236}">
                <a16:creationId xmlns:a16="http://schemas.microsoft.com/office/drawing/2014/main" id="{CFE6D322-9D2F-4D5D-A2E1-B4199191FDE8}"/>
              </a:ext>
            </a:extLst>
          </p:cNvPr>
          <p:cNvSpPr txBox="1">
            <a:spLocks noChangeArrowheads="1"/>
          </p:cNvSpPr>
          <p:nvPr/>
        </p:nvSpPr>
        <p:spPr bwMode="auto">
          <a:xfrm>
            <a:off x="428625" y="1277928"/>
            <a:ext cx="8359775" cy="2377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i="1">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r>
              <a:rPr lang="en-US" altLang="en-US" sz="2800" kern="0">
                <a:solidFill>
                  <a:schemeClr val="tx1">
                    <a:lumMod val="95000"/>
                    <a:lumOff val="5000"/>
                  </a:schemeClr>
                </a:solidFill>
                <a:cs typeface="Helvetica"/>
              </a:rPr>
              <a:t>Implementation </a:t>
            </a:r>
            <a:r>
              <a:rPr lang="en-US" altLang="en-US" sz="2800" b="1" kern="0">
                <a:solidFill>
                  <a:schemeClr val="tx1">
                    <a:lumMod val="95000"/>
                    <a:lumOff val="5000"/>
                  </a:schemeClr>
                </a:solidFill>
                <a:cs typeface="Helvetica"/>
              </a:rPr>
              <a:t>complexity </a:t>
            </a:r>
            <a:r>
              <a:rPr lang="en-US" altLang="en-US" sz="2800" kern="0">
                <a:solidFill>
                  <a:schemeClr val="tx1">
                    <a:lumMod val="95000"/>
                    <a:lumOff val="5000"/>
                  </a:schemeClr>
                </a:solidFill>
                <a:cs typeface="Helvetica"/>
              </a:rPr>
              <a:t>is high when compared to partitioned scheduling</a:t>
            </a:r>
            <a:endParaRPr lang="en-US" altLang="en-US" sz="2800" kern="0" dirty="0">
              <a:solidFill>
                <a:schemeClr val="tx1">
                  <a:lumMod val="95000"/>
                  <a:lumOff val="5000"/>
                </a:schemeClr>
              </a:solidFill>
              <a:cs typeface="Helvetica"/>
            </a:endParaRPr>
          </a:p>
          <a:p>
            <a:pPr lvl="1"/>
            <a:r>
              <a:rPr lang="en-US" altLang="en-US" sz="2800" kern="0">
                <a:solidFill>
                  <a:srgbClr val="FF0000"/>
                </a:solidFill>
                <a:cs typeface="Helvetica"/>
              </a:rPr>
              <a:t>Need to synchronize clocks across cores</a:t>
            </a:r>
          </a:p>
          <a:p>
            <a:pPr lvl="1"/>
            <a:r>
              <a:rPr lang="en-US" altLang="en-US" sz="2800" kern="0">
                <a:solidFill>
                  <a:schemeClr val="tx1">
                    <a:lumMod val="95000"/>
                    <a:lumOff val="5000"/>
                  </a:schemeClr>
                </a:solidFill>
                <a:cs typeface="Helvetica"/>
              </a:rPr>
              <a:t>Global strategy for process selection combining all the </a:t>
            </a:r>
            <a:r>
              <a:rPr lang="en-US" altLang="en-US" sz="2800" kern="0">
                <a:solidFill>
                  <a:schemeClr val="tx1">
                    <a:lumMod val="95000"/>
                    <a:lumOff val="5000"/>
                  </a:schemeClr>
                </a:solidFill>
                <a:ea typeface="+mn-lt"/>
                <a:cs typeface="+mn-lt"/>
              </a:rPr>
              <a:t>cores</a:t>
            </a:r>
          </a:p>
          <a:p>
            <a:r>
              <a:rPr lang="en-US" sz="2800" kern="0">
                <a:solidFill>
                  <a:schemeClr val="tx1">
                    <a:lumMod val="95000"/>
                    <a:lumOff val="5000"/>
                  </a:schemeClr>
                </a:solidFill>
                <a:ea typeface="+mn-lt"/>
                <a:cs typeface="+mn-lt"/>
              </a:rPr>
              <a:t>Implementation </a:t>
            </a:r>
            <a:r>
              <a:rPr lang="en-US" sz="2800" b="1" kern="0">
                <a:solidFill>
                  <a:schemeClr val="tx1">
                    <a:lumMod val="95000"/>
                    <a:lumOff val="5000"/>
                  </a:schemeClr>
                </a:solidFill>
                <a:ea typeface="+mn-lt"/>
                <a:cs typeface="+mn-lt"/>
              </a:rPr>
              <a:t>overhead </a:t>
            </a:r>
            <a:r>
              <a:rPr lang="en-US" sz="2800" kern="0">
                <a:solidFill>
                  <a:schemeClr val="tx1">
                    <a:lumMod val="95000"/>
                    <a:lumOff val="5000"/>
                  </a:schemeClr>
                </a:solidFill>
                <a:ea typeface="+mn-lt"/>
                <a:cs typeface="+mn-lt"/>
              </a:rPr>
              <a:t>is high when compared to partitioned scheduling</a:t>
            </a:r>
            <a:endParaRPr lang="en-US">
              <a:solidFill>
                <a:schemeClr val="tx1">
                  <a:lumMod val="95000"/>
                  <a:lumOff val="5000"/>
                </a:schemeClr>
              </a:solidFill>
              <a:cs typeface="Helvetica"/>
            </a:endParaRPr>
          </a:p>
          <a:p>
            <a:pPr lvl="1"/>
            <a:r>
              <a:rPr lang="en-US" sz="2800" kern="0">
                <a:solidFill>
                  <a:srgbClr val="FF0000"/>
                </a:solidFill>
                <a:ea typeface="+mn-lt"/>
                <a:cs typeface="+mn-lt"/>
              </a:rPr>
              <a:t>Process could context switch from one core and be scheduled on another (private core-specific cache data needs to be migrated)</a:t>
            </a:r>
            <a:endParaRPr lang="en-US" sz="2800" kern="0" dirty="0">
              <a:solidFill>
                <a:srgbClr val="FF0000"/>
              </a:solidFill>
              <a:ea typeface="+mn-lt"/>
              <a:cs typeface="+mn-lt"/>
            </a:endParaRPr>
          </a:p>
          <a:p>
            <a:pPr lvl="1"/>
            <a:endParaRPr lang="en-US" altLang="en-US" sz="2800" kern="0" dirty="0">
              <a:solidFill>
                <a:schemeClr val="tx1">
                  <a:lumMod val="95000"/>
                  <a:lumOff val="5000"/>
                </a:schemeClr>
              </a:solidFill>
              <a:cs typeface="Helvetica"/>
            </a:endParaRPr>
          </a:p>
        </p:txBody>
      </p:sp>
    </p:spTree>
    <p:extLst>
      <p:ext uri="{BB962C8B-B14F-4D97-AF65-F5344CB8AC3E}">
        <p14:creationId xmlns:p14="http://schemas.microsoft.com/office/powerpoint/2010/main" val="21888108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E6907-54D6-A3FE-FD06-1EDA19731C4D}"/>
              </a:ext>
            </a:extLst>
          </p:cNvPr>
          <p:cNvSpPr>
            <a:spLocks noGrp="1"/>
          </p:cNvSpPr>
          <p:nvPr>
            <p:ph type="title"/>
          </p:nvPr>
        </p:nvSpPr>
        <p:spPr/>
        <p:txBody>
          <a:bodyPr/>
          <a:lstStyle/>
          <a:p>
            <a:r>
              <a:rPr lang="en-US" dirty="0"/>
              <a:t>Recap: Scheduling Dimensions</a:t>
            </a:r>
          </a:p>
        </p:txBody>
      </p:sp>
      <p:sp>
        <p:nvSpPr>
          <p:cNvPr id="3" name="Content Placeholder 2">
            <a:extLst>
              <a:ext uri="{FF2B5EF4-FFF2-40B4-BE49-F238E27FC236}">
                <a16:creationId xmlns:a16="http://schemas.microsoft.com/office/drawing/2014/main" id="{CAE40C9B-AAD4-1231-097E-F03385C51F03}"/>
              </a:ext>
            </a:extLst>
          </p:cNvPr>
          <p:cNvSpPr>
            <a:spLocks noGrp="1"/>
          </p:cNvSpPr>
          <p:nvPr>
            <p:ph idx="1"/>
          </p:nvPr>
        </p:nvSpPr>
        <p:spPr/>
        <p:txBody>
          <a:bodyPr/>
          <a:lstStyle/>
          <a:p>
            <a:r>
              <a:rPr lang="en-US" sz="3200" dirty="0"/>
              <a:t>Global vs. partitioned</a:t>
            </a:r>
          </a:p>
          <a:p>
            <a:r>
              <a:rPr lang="en-US" sz="3200" dirty="0"/>
              <a:t>Preemptive vs. non-preemptive</a:t>
            </a:r>
          </a:p>
          <a:p>
            <a:r>
              <a:rPr lang="en-US" sz="3200" dirty="0"/>
              <a:t>Priority vs. arrival time</a:t>
            </a:r>
          </a:p>
          <a:p>
            <a:r>
              <a:rPr lang="en-US" sz="3200" dirty="0"/>
              <a:t>Context switch</a:t>
            </a:r>
          </a:p>
          <a:p>
            <a:pPr lvl="1"/>
            <a:r>
              <a:rPr lang="en-US" sz="3200" dirty="0"/>
              <a:t>Quantum size</a:t>
            </a:r>
          </a:p>
          <a:p>
            <a:pPr lvl="1"/>
            <a:r>
              <a:rPr lang="en-US" sz="3200" dirty="0"/>
              <a:t>Context switch time</a:t>
            </a:r>
          </a:p>
        </p:txBody>
      </p:sp>
      <p:sp>
        <p:nvSpPr>
          <p:cNvPr id="4" name="Footer Placeholder 3">
            <a:extLst>
              <a:ext uri="{FF2B5EF4-FFF2-40B4-BE49-F238E27FC236}">
                <a16:creationId xmlns:a16="http://schemas.microsoft.com/office/drawing/2014/main" id="{CA60C272-D60E-6F3E-DC6B-9543DCC0EEAE}"/>
              </a:ext>
            </a:extLst>
          </p:cNvPr>
          <p:cNvSpPr>
            <a:spLocks noGrp="1"/>
          </p:cNvSpPr>
          <p:nvPr>
            <p:ph type="ftr" sz="quarter" idx="10"/>
          </p:nvPr>
        </p:nvSpPr>
        <p:spPr/>
        <p:txBody>
          <a:bodyPr/>
          <a:lstStyle/>
          <a:p>
            <a:pPr>
              <a:defRPr/>
            </a:pPr>
            <a:r>
              <a:rPr lang="en-US"/>
              <a:t>Operating Systems</a:t>
            </a:r>
          </a:p>
          <a:p>
            <a:pPr>
              <a:defRPr/>
            </a:pPr>
            <a:endParaRPr lang="en-US"/>
          </a:p>
        </p:txBody>
      </p:sp>
      <p:pic>
        <p:nvPicPr>
          <p:cNvPr id="6" name="Picture 7">
            <a:extLst>
              <a:ext uri="{FF2B5EF4-FFF2-40B4-BE49-F238E27FC236}">
                <a16:creationId xmlns:a16="http://schemas.microsoft.com/office/drawing/2014/main" id="{0B30F10A-84EF-2FAB-98B6-889DD7F74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66" t="25691" r="592" b="25531"/>
          <a:stretch>
            <a:fillRect/>
          </a:stretch>
        </p:blipFill>
        <p:spPr bwMode="auto">
          <a:xfrm>
            <a:off x="5603965" y="3912645"/>
            <a:ext cx="3257141" cy="1612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76174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D7D26-82A9-38DA-0800-57B1647270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9BBE58-7A32-7D5D-39A0-88A239934AF2}"/>
              </a:ext>
            </a:extLst>
          </p:cNvPr>
          <p:cNvSpPr>
            <a:spLocks noGrp="1"/>
          </p:cNvSpPr>
          <p:nvPr>
            <p:ph type="title"/>
          </p:nvPr>
        </p:nvSpPr>
        <p:spPr/>
        <p:txBody>
          <a:bodyPr/>
          <a:lstStyle/>
          <a:p>
            <a:r>
              <a:rPr lang="en-US" dirty="0"/>
              <a:t>ExtraQ5 </a:t>
            </a:r>
            <a:r>
              <a:rPr lang="en-US" dirty="0" err="1"/>
              <a:t>Wooclap</a:t>
            </a:r>
            <a:r>
              <a:rPr lang="en-US" dirty="0"/>
              <a:t> Exercise</a:t>
            </a:r>
          </a:p>
        </p:txBody>
      </p:sp>
      <p:sp>
        <p:nvSpPr>
          <p:cNvPr id="4" name="Footer Placeholder 3">
            <a:extLst>
              <a:ext uri="{FF2B5EF4-FFF2-40B4-BE49-F238E27FC236}">
                <a16:creationId xmlns:a16="http://schemas.microsoft.com/office/drawing/2014/main" id="{06004352-885D-4D8A-07AF-A41565614106}"/>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10" name="Content Placeholder 9">
                <a:extLst>
                  <a:ext uri="{FF2B5EF4-FFF2-40B4-BE49-F238E27FC236}">
                    <a16:creationId xmlns:a16="http://schemas.microsoft.com/office/drawing/2014/main" id="{920E0596-EC6A-7B68-A477-1A27F7214FC4}"/>
                  </a:ext>
                </a:extLst>
              </p:cNvPr>
              <p:cNvGraphicFramePr>
                <a:graphicFrameLocks noGrp="1"/>
              </p:cNvGraphicFramePr>
              <p:nvPr>
                <p:ph idx="1"/>
              </p:nvPr>
            </p:nvGraphicFramePr>
            <p:xfrm>
              <a:off x="1047750" y="1724025"/>
              <a:ext cx="7029450" cy="41148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10" name="Content Placeholder 9">
                <a:extLst>
                  <a:ext uri="{FF2B5EF4-FFF2-40B4-BE49-F238E27FC236}">
                    <a16:creationId xmlns:a16="http://schemas.microsoft.com/office/drawing/2014/main" id="{920E0596-EC6A-7B68-A477-1A27F7214FC4}"/>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1047750" y="1724025"/>
                <a:ext cx="7029450" cy="4114800"/>
              </a:xfrm>
              <a:prstGeom prst="rect">
                <a:avLst/>
              </a:prstGeom>
            </p:spPr>
          </p:pic>
        </mc:Fallback>
      </mc:AlternateContent>
    </p:spTree>
    <p:extLst>
      <p:ext uri="{BB962C8B-B14F-4D97-AF65-F5344CB8AC3E}">
        <p14:creationId xmlns:p14="http://schemas.microsoft.com/office/powerpoint/2010/main" val="22681111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2825-94CC-8FAE-8B7D-FB32C7DB37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7CA87D-C8FA-8021-F378-245501E14CCE}"/>
              </a:ext>
            </a:extLst>
          </p:cNvPr>
          <p:cNvSpPr>
            <a:spLocks noGrp="1"/>
          </p:cNvSpPr>
          <p:nvPr>
            <p:ph type="title"/>
          </p:nvPr>
        </p:nvSpPr>
        <p:spPr/>
        <p:txBody>
          <a:bodyPr/>
          <a:lstStyle/>
          <a:p>
            <a:r>
              <a:rPr lang="en-US" dirty="0"/>
              <a:t>ExtraQ6 </a:t>
            </a:r>
            <a:r>
              <a:rPr lang="en-US" dirty="0" err="1"/>
              <a:t>Wooclap</a:t>
            </a:r>
            <a:r>
              <a:rPr lang="en-US" dirty="0"/>
              <a:t> Exercise</a:t>
            </a:r>
          </a:p>
        </p:txBody>
      </p:sp>
      <p:sp>
        <p:nvSpPr>
          <p:cNvPr id="4" name="Footer Placeholder 3">
            <a:extLst>
              <a:ext uri="{FF2B5EF4-FFF2-40B4-BE49-F238E27FC236}">
                <a16:creationId xmlns:a16="http://schemas.microsoft.com/office/drawing/2014/main" id="{6C5E4FF8-BC1D-051D-40B1-8D1EF8FFCFBF}"/>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10" name="Content Placeholder 9">
                <a:extLst>
                  <a:ext uri="{FF2B5EF4-FFF2-40B4-BE49-F238E27FC236}">
                    <a16:creationId xmlns:a16="http://schemas.microsoft.com/office/drawing/2014/main" id="{D0D1CA6C-C9A5-BE61-251F-ADA528221F57}"/>
                  </a:ext>
                </a:extLst>
              </p:cNvPr>
              <p:cNvGraphicFramePr>
                <a:graphicFrameLocks noGrp="1"/>
              </p:cNvGraphicFramePr>
              <p:nvPr>
                <p:ph idx="1"/>
              </p:nvPr>
            </p:nvGraphicFramePr>
            <p:xfrm>
              <a:off x="1047750" y="1724025"/>
              <a:ext cx="7029450" cy="41148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10" name="Content Placeholder 9">
                <a:extLst>
                  <a:ext uri="{FF2B5EF4-FFF2-40B4-BE49-F238E27FC236}">
                    <a16:creationId xmlns:a16="http://schemas.microsoft.com/office/drawing/2014/main" id="{D0D1CA6C-C9A5-BE61-251F-ADA528221F57}"/>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1047750" y="1724025"/>
                <a:ext cx="7029450" cy="4114800"/>
              </a:xfrm>
              <a:prstGeom prst="rect">
                <a:avLst/>
              </a:prstGeom>
            </p:spPr>
          </p:pic>
        </mc:Fallback>
      </mc:AlternateContent>
    </p:spTree>
    <p:extLst>
      <p:ext uri="{BB962C8B-B14F-4D97-AF65-F5344CB8AC3E}">
        <p14:creationId xmlns:p14="http://schemas.microsoft.com/office/powerpoint/2010/main" val="3407907164"/>
      </p:ext>
    </p:extLst>
  </p:cSld>
  <p:clrMapOvr>
    <a:masterClrMapping/>
  </p:clrMapOvr>
</p:sld>
</file>

<file path=ppt/theme/theme1.xml><?xml version="1.0" encoding="utf-8"?>
<a:theme xmlns:a="http://schemas.openxmlformats.org/drawingml/2006/main" name="avi">
  <a:themeElements>
    <a:clrScheme name="avi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vi">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Helvetica" pitchFamily="34"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Helvetica" pitchFamily="34" charset="0"/>
          </a:defRPr>
        </a:defPPr>
      </a:lstStyle>
    </a:lnDef>
  </a:objectDefaults>
  <a:extraClrSchemeLst>
    <a:extraClrScheme>
      <a:clrScheme name="avi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avi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avi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avi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avi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avi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avi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3.png"/></Relationships>
</file>

<file path=ppt/webextensions/_rels/webextension4.xml.rels><?xml version="1.0" encoding="UTF-8" standalone="yes"?>
<Relationships xmlns="http://schemas.openxmlformats.org/package/2006/relationships"><Relationship Id="rId1" Type="http://schemas.openxmlformats.org/officeDocument/2006/relationships/image" Target="../media/image5.png"/></Relationships>
</file>

<file path=ppt/webextensions/_rels/webextension5.xml.rels><?xml version="1.0" encoding="UTF-8" standalone="yes"?>
<Relationships xmlns="http://schemas.openxmlformats.org/package/2006/relationships"><Relationship Id="rId1" Type="http://schemas.openxmlformats.org/officeDocument/2006/relationships/image" Target="../media/image6.png"/></Relationships>
</file>

<file path=ppt/webextensions/webextension1.xml><?xml version="1.0" encoding="utf-8"?>
<we:webextension xmlns:we="http://schemas.microsoft.com/office/webextensions/webextension/2010/11" id="{E5A20CA2-FD3B-9845-B598-9F5C1B6F600C}">
  <we:reference id="71a1a0ed-6cd0-4a6e-ad2d-015b8a8b43cb" version="1.0.0.8" store="EXCatalog" storeType="EXCatalog"/>
  <we:alternateReferences>
    <we:reference id="WA104381682" version="1.0.0.8" store="en-SG" storeType="OMEX"/>
  </we:alternateReferences>
  <we:properties>
    <we:property name="addinSlideId" value="414"/>
    <we:property name="selectedSlug" value="&quot;LCRCYN&quot;"/>
    <we:property name="selectedQuestionId" value="&quot;66cf26e8a1feb08deae89631&quot;"/>
  </we:properties>
  <we:bindings/>
  <we:snapshot xmlns:r="http://schemas.openxmlformats.org/officeDocument/2006/relationships" r:embed="rId1"/>
</we:webextension>
</file>

<file path=ppt/webextensions/webextension2.xml><?xml version="1.0" encoding="utf-8"?>
<we:webextension xmlns:we="http://schemas.microsoft.com/office/webextensions/webextension/2010/11" id="{D02BF513-BCCB-9F49-8CA7-B1CD165C68FF}">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LCRCYN&quot;"/>
    <we:property name="selectedQuestionId" value="&quot;66cf26e8a1feb08deae8963c&quot;"/>
    <we:property name="LCRCYN:66cf26e8a1feb08deae8963c:SlideId" value="429"/>
  </we:properties>
  <we:bindings/>
  <we:snapshot xmlns:r="http://schemas.openxmlformats.org/officeDocument/2006/relationships"/>
</we:webextension>
</file>

<file path=ppt/webextensions/webextension3.xml><?xml version="1.0" encoding="utf-8"?>
<we:webextension xmlns:we="http://schemas.microsoft.com/office/webextensions/webextension/2010/11" id="{D02BF513-BCCB-9F49-8CA7-B1CD165C68FF}">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LCRCYN&quot;"/>
    <we:property name="selectedQuestionId" value="&quot;66cf26e8a1feb08deae89641&quot;"/>
    <we:property name="LCRCYN:66cf26e8a1feb08deae89641:SlideId" value="430"/>
  </we:properties>
  <we:bindings/>
  <we:snapshot xmlns:r="http://schemas.openxmlformats.org/officeDocument/2006/relationships"/>
</we:webextension>
</file>

<file path=ppt/webextensions/webextension4.xml><?xml version="1.0" encoding="utf-8"?>
<we:webextension xmlns:we="http://schemas.microsoft.com/office/webextensions/webextension/2010/11" id="{E5A20CA2-FD3B-9845-B598-9F5C1B6F600C}">
  <we:reference id="71a1a0ed-6cd0-4a6e-ad2d-015b8a8b43cb" version="1.0.0.8" store="EXCatalog" storeType="EXCatalog"/>
  <we:alternateReferences>
    <we:reference id="WA104381682" version="1.0.0.8" store="en-SG" storeType="OMEX"/>
  </we:alternateReferences>
  <we:properties>
    <we:property name="addinSlideId" value="414"/>
    <we:property name="selectedSlug" value="&quot;LCRCYN&quot;"/>
    <we:property name="selectedQuestionId" value="&quot;66cf2a68eee18c2cc3f4a8bc&quot;"/>
  </we:properties>
  <we:bindings/>
  <we:snapshot xmlns:r="http://schemas.openxmlformats.org/officeDocument/2006/relationships" r:embed="rId1"/>
</we:webextension>
</file>

<file path=ppt/webextensions/webextension5.xml><?xml version="1.0" encoding="utf-8"?>
<we:webextension xmlns:we="http://schemas.microsoft.com/office/webextensions/webextension/2010/11" id="{E5A20CA2-FD3B-9845-B598-9F5C1B6F600C}">
  <we:reference id="71a1a0ed-6cd0-4a6e-ad2d-015b8a8b43cb" version="1.0.0.8" store="EXCatalog" storeType="EXCatalog"/>
  <we:alternateReferences>
    <we:reference id="WA104381682" version="1.0.0.8" store="en-SG" storeType="OMEX"/>
  </we:alternateReferences>
  <we:properties>
    <we:property name="addinSlideId" value="414"/>
    <we:property name="selectedSlug" value="&quot;LCRCYN&quot;"/>
    <we:property name="selectedQuestionId" value="&quot;66cf26e8a1feb08deae89637&quot;"/>
  </we:properties>
  <we:bindings/>
  <we:snapshot xmlns:r="http://schemas.openxmlformats.org/officeDocument/2006/relationships" r:embed="rId1"/>
</we:webextension>
</file>

<file path=ppt/webextensions/webextension6.xml><?xml version="1.0" encoding="utf-8"?>
<we:webextension xmlns:we="http://schemas.microsoft.com/office/webextensions/webextension/2010/11" id="{D02BF513-BCCB-9F49-8CA7-B1CD165C68FF}">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LCRCYN&quot;"/>
    <we:property name="selectedQuestionId" value="&quot;66cf26e8a1feb08deae89646&quot;"/>
    <we:property name="LCRCYN:66cf26e8a1feb08deae89646:SlideId" value="431"/>
  </we:properties>
  <we:bindings/>
  <we:snapshot xmlns:r="http://schemas.openxmlformats.org/officeDocument/2006/relationships"/>
</we:webextension>
</file>

<file path=ppt/webextensions/webextension7.xml><?xml version="1.0" encoding="utf-8"?>
<we:webextension xmlns:we="http://schemas.microsoft.com/office/webextensions/webextension/2010/11" id="{D02BF513-BCCB-9F49-8CA7-B1CD165C68FF}">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LCRCYN&quot;"/>
    <we:property name="selectedQuestionId" value="&quot;66cf26e8a1feb08deae8964b&quot;"/>
    <we:property name="LCRCYN:66cf26e8a1feb08deae8964b:SlideId" value="432"/>
  </we:properties>
  <we:bindings/>
  <we:snapshot xmlns:r="http://schemas.openxmlformats.org/officeDocument/2006/relationships"/>
</we:webextension>
</file>

<file path=ppt/webextensions/webextension8.xml><?xml version="1.0" encoding="utf-8"?>
<we:webextension xmlns:we="http://schemas.microsoft.com/office/webextensions/webextension/2010/11" id="{D02BF513-BCCB-9F49-8CA7-B1CD165C68FF}">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LCRCYN&quot;"/>
    <we:property name="selectedQuestionId" value="&quot;66cf28deac095f4b04da680c&quot;"/>
    <we:property name="LCRCYN:66cf28deac095f4b04da680c:SlideId" value="433"/>
  </we:properties>
  <we:bindings/>
  <we:snapshot xmlns:r="http://schemas.openxmlformats.org/officeDocument/2006/relationships"/>
</we:webextension>
</file>

<file path=ppt/webextensions/webextension9.xml><?xml version="1.0" encoding="utf-8"?>
<we:webextension xmlns:we="http://schemas.microsoft.com/office/webextensions/webextension/2010/11" id="{D02BF513-BCCB-9F49-8CA7-B1CD165C68FF}">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LCRCYN&quot;"/>
    <we:property name="selectedQuestionId" value="&quot;66cf2e0bb4c86784b7514999&quot;"/>
    <we:property name="LCRCYN:66cf2e0bb4c86784b7514999:SlideId" value="434"/>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C:\Apps\Microsoft Office\Templates\Presentations\avi.pot</Template>
  <TotalTime>12077</TotalTime>
  <Words>5685</Words>
  <Application>Microsoft Macintosh PowerPoint</Application>
  <PresentationFormat>On-screen Show (4:3)</PresentationFormat>
  <Paragraphs>578</Paragraphs>
  <Slides>40</Slides>
  <Notes>32</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Helvetica</vt:lpstr>
      <vt:lpstr>Monotype Sorts</vt:lpstr>
      <vt:lpstr>Symbol</vt:lpstr>
      <vt:lpstr>Times New Roman</vt:lpstr>
      <vt:lpstr>avi</vt:lpstr>
      <vt:lpstr>Course Overview</vt:lpstr>
      <vt:lpstr>Part 3:  Process Scheduling</vt:lpstr>
      <vt:lpstr>Basic Concepts</vt:lpstr>
      <vt:lpstr>Alternating Sequence of CPU And I/O Bursts</vt:lpstr>
      <vt:lpstr>CPU Scheduler (Short-Term)</vt:lpstr>
      <vt:lpstr>Types of CPU Schedulers</vt:lpstr>
      <vt:lpstr>Exercise</vt:lpstr>
      <vt:lpstr>Scheduling Objectives</vt:lpstr>
      <vt:lpstr>Scheduling Objectives (Cont.)</vt:lpstr>
      <vt:lpstr>Scheduling Objectives (Cont.)</vt:lpstr>
      <vt:lpstr>Scheduling Algorithms: Uniprocessor System</vt:lpstr>
      <vt:lpstr>First-Come, First-Served (FCFS) Scheduling</vt:lpstr>
      <vt:lpstr>FCFS Scheduling (Cont.)</vt:lpstr>
      <vt:lpstr>FCFS Scheduling: Properties</vt:lpstr>
      <vt:lpstr>ExtraQ1 Wooclap Exercise</vt:lpstr>
      <vt:lpstr>Shortest-Job-First (SJF) Scheduling</vt:lpstr>
      <vt:lpstr>Example of Nonpreemptive SJF</vt:lpstr>
      <vt:lpstr>Example of Preemptive SJF (SRTF)</vt:lpstr>
      <vt:lpstr>ExtraQ2 Wooclap Exercise</vt:lpstr>
      <vt:lpstr>Exercise</vt:lpstr>
      <vt:lpstr>Priority-based Scheduling</vt:lpstr>
      <vt:lpstr>Exercise</vt:lpstr>
      <vt:lpstr>Round Robin (RR) Scheduling</vt:lpstr>
      <vt:lpstr>Example:  RR with Time Quantum = 20</vt:lpstr>
      <vt:lpstr>ExtraQ3 Wooclap Exercise</vt:lpstr>
      <vt:lpstr>Smaller Time Quantum Increases Context Switches</vt:lpstr>
      <vt:lpstr>Turnaround Time Varies With Time Quantum</vt:lpstr>
      <vt:lpstr>Multilevel Queue Scheduling</vt:lpstr>
      <vt:lpstr>Multilevel Queue Scheduling (Cont.)</vt:lpstr>
      <vt:lpstr>Scheduling Algorithms: Multiprocessor System</vt:lpstr>
      <vt:lpstr>Partitioned Scheduling (AMP)</vt:lpstr>
      <vt:lpstr>Partitioned Scheduling: Issues</vt:lpstr>
      <vt:lpstr>Global Scheduling (SMP)</vt:lpstr>
      <vt:lpstr>ExtraQ4 Wooclap Exercise</vt:lpstr>
      <vt:lpstr>Example of SRTF (dual-core)</vt:lpstr>
      <vt:lpstr>Example of RR with q = 20 (dual-core)</vt:lpstr>
      <vt:lpstr>Global Scheduling: Issues</vt:lpstr>
      <vt:lpstr>Recap: Scheduling Dimensions</vt:lpstr>
      <vt:lpstr>ExtraQ5 Wooclap Exercise</vt:lpstr>
      <vt:lpstr>ExtraQ6 Wooclap 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3:  Process Scheduling</dc:title>
  <dc:creator>Arvind Easwaran</dc:creator>
  <cp:lastModifiedBy>Arvind Easwaran</cp:lastModifiedBy>
  <cp:revision>850</cp:revision>
  <cp:lastPrinted>2017-08-01T10:03:58Z</cp:lastPrinted>
  <dcterms:created xsi:type="dcterms:W3CDTF">2018-06-19T06:36:25Z</dcterms:created>
  <dcterms:modified xsi:type="dcterms:W3CDTF">2025-01-09T08:01:14Z</dcterms:modified>
</cp:coreProperties>
</file>