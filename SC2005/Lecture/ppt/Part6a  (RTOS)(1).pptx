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webextensions/webextension4.xml" ContentType="application/vnd.ms-office.webextension+xml"/>
  <Override PartName="/ppt/notesSlides/notesSlide7.xml" ContentType="application/vnd.openxmlformats-officedocument.presentationml.notesSlide+xml"/>
  <Override PartName="/ppt/notesSlides/notesSlide8.xml" ContentType="application/vnd.openxmlformats-officedocument.presentationml.notesSlide+xml"/>
  <Override PartName="/ppt/webextensions/webextension5.xml" ContentType="application/vnd.ms-office.webextension+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webextensions/webextension6.xml" ContentType="application/vnd.ms-office.webextension+xml"/>
  <Override PartName="/ppt/notesSlides/notesSlide21.xml" ContentType="application/vnd.openxmlformats-officedocument.presentationml.notesSlide+xml"/>
  <Override PartName="/ppt/comments/modernComment_116_B7D7F897.xml" ContentType="application/vnd.ms-powerpoint.comments+xml"/>
  <Override PartName="/ppt/notesSlides/notesSlide22.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8"/>
  </p:notesMasterIdLst>
  <p:handoutMasterIdLst>
    <p:handoutMasterId r:id="rId29"/>
  </p:handoutMasterIdLst>
  <p:sldIdLst>
    <p:sldId id="344" r:id="rId2"/>
    <p:sldId id="347" r:id="rId3"/>
    <p:sldId id="345" r:id="rId4"/>
    <p:sldId id="346" r:id="rId5"/>
    <p:sldId id="257" r:id="rId6"/>
    <p:sldId id="258" r:id="rId7"/>
    <p:sldId id="259" r:id="rId8"/>
    <p:sldId id="260" r:id="rId9"/>
    <p:sldId id="261" r:id="rId10"/>
    <p:sldId id="295" r:id="rId11"/>
    <p:sldId id="263" r:id="rId12"/>
    <p:sldId id="289" r:id="rId13"/>
    <p:sldId id="262" r:id="rId14"/>
    <p:sldId id="264" r:id="rId15"/>
    <p:sldId id="265" r:id="rId16"/>
    <p:sldId id="266" r:id="rId17"/>
    <p:sldId id="268" r:id="rId18"/>
    <p:sldId id="269" r:id="rId19"/>
    <p:sldId id="270" r:id="rId20"/>
    <p:sldId id="271" r:id="rId21"/>
    <p:sldId id="272" r:id="rId22"/>
    <p:sldId id="273" r:id="rId23"/>
    <p:sldId id="277" r:id="rId24"/>
    <p:sldId id="294" r:id="rId25"/>
    <p:sldId id="278" r:id="rId26"/>
    <p:sldId id="280" r:id="rId27"/>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p:defaultTextStyle>
  <p:extLst>
    <p:ext uri="{EFAFB233-063F-42B5-8137-9DF3F51BA10A}">
      <p15:sldGuideLst xmlns:p15="http://schemas.microsoft.com/office/powerpoint/2012/main">
        <p15:guide id="1" orient="horz" pos="2278">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B17142-43BA-003F-0D69-754CD8E7FBCB}" name="Dmitrii Ustiugov" initials="DU" userId="S::dmitrii.ustiugov@staff.main.ntu.edu.sg::fee3c4a0-c40b-4de8-8e1d-1d3cf97580e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ECCD2"/>
    <a:srgbClr val="F0F1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986"/>
    <p:restoredTop sz="94830"/>
  </p:normalViewPr>
  <p:slideViewPr>
    <p:cSldViewPr snapToGrid="0">
      <p:cViewPr varScale="1">
        <p:scale>
          <a:sx n="121" d="100"/>
          <a:sy n="121" d="100"/>
        </p:scale>
        <p:origin x="2072" y="176"/>
      </p:cViewPr>
      <p:guideLst>
        <p:guide orient="horz" pos="2278"/>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3224"/>
        <p:guide pos="2236"/>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35" Type="http://schemas.microsoft.com/office/2018/10/relationships/authors" Target="author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vind Easwaran" userId="6059df8d-17bf-4148-9f7c-190b13d86f35" providerId="ADAL" clId="{91D5C683-29A8-8A41-B01A-D3A0057A177A}"/>
    <pc:docChg chg="custSel modSld">
      <pc:chgData name="Arvind Easwaran" userId="6059df8d-17bf-4148-9f7c-190b13d86f35" providerId="ADAL" clId="{91D5C683-29A8-8A41-B01A-D3A0057A177A}" dt="2025-01-09T08:18:01.667" v="5" actId="478"/>
      <pc:docMkLst>
        <pc:docMk/>
      </pc:docMkLst>
      <pc:sldChg chg="delSp mod">
        <pc:chgData name="Arvind Easwaran" userId="6059df8d-17bf-4148-9f7c-190b13d86f35" providerId="ADAL" clId="{91D5C683-29A8-8A41-B01A-D3A0057A177A}" dt="2025-01-09T08:17:48.046" v="4" actId="478"/>
        <pc:sldMkLst>
          <pc:docMk/>
          <pc:sldMk cId="1460167461" sldId="289"/>
        </pc:sldMkLst>
        <pc:spChg chg="del">
          <ac:chgData name="Arvind Easwaran" userId="6059df8d-17bf-4148-9f7c-190b13d86f35" providerId="ADAL" clId="{91D5C683-29A8-8A41-B01A-D3A0057A177A}" dt="2025-01-09T08:17:48.046" v="4" actId="478"/>
          <ac:spMkLst>
            <pc:docMk/>
            <pc:sldMk cId="1460167461" sldId="289"/>
            <ac:spMk id="8" creationId="{AD104121-B6D1-DB58-5569-B1DC252D5CAC}"/>
          </ac:spMkLst>
        </pc:spChg>
      </pc:sldChg>
      <pc:sldChg chg="delSp mod">
        <pc:chgData name="Arvind Easwaran" userId="6059df8d-17bf-4148-9f7c-190b13d86f35" providerId="ADAL" clId="{91D5C683-29A8-8A41-B01A-D3A0057A177A}" dt="2025-01-09T08:18:01.667" v="5" actId="478"/>
        <pc:sldMkLst>
          <pc:docMk/>
          <pc:sldMk cId="2003194879" sldId="294"/>
        </pc:sldMkLst>
        <pc:spChg chg="del">
          <ac:chgData name="Arvind Easwaran" userId="6059df8d-17bf-4148-9f7c-190b13d86f35" providerId="ADAL" clId="{91D5C683-29A8-8A41-B01A-D3A0057A177A}" dt="2025-01-09T08:18:01.667" v="5" actId="478"/>
          <ac:spMkLst>
            <pc:docMk/>
            <pc:sldMk cId="2003194879" sldId="294"/>
            <ac:spMk id="5" creationId="{76444175-A0DA-7D2F-F50E-1EE4D08A792C}"/>
          </ac:spMkLst>
        </pc:spChg>
      </pc:sldChg>
      <pc:sldChg chg="delSp mod">
        <pc:chgData name="Arvind Easwaran" userId="6059df8d-17bf-4148-9f7c-190b13d86f35" providerId="ADAL" clId="{91D5C683-29A8-8A41-B01A-D3A0057A177A}" dt="2025-01-09T08:17:37.050" v="3" actId="478"/>
        <pc:sldMkLst>
          <pc:docMk/>
          <pc:sldMk cId="546118352" sldId="295"/>
        </pc:sldMkLst>
        <pc:spChg chg="del">
          <ac:chgData name="Arvind Easwaran" userId="6059df8d-17bf-4148-9f7c-190b13d86f35" providerId="ADAL" clId="{91D5C683-29A8-8A41-B01A-D3A0057A177A}" dt="2025-01-09T08:17:37.050" v="3" actId="478"/>
          <ac:spMkLst>
            <pc:docMk/>
            <pc:sldMk cId="546118352" sldId="295"/>
            <ac:spMk id="3" creationId="{057AAF72-746B-5990-A520-C63FC38C11C5}"/>
          </ac:spMkLst>
        </pc:spChg>
      </pc:sldChg>
      <pc:sldChg chg="mod modShow">
        <pc:chgData name="Arvind Easwaran" userId="6059df8d-17bf-4148-9f7c-190b13d86f35" providerId="ADAL" clId="{91D5C683-29A8-8A41-B01A-D3A0057A177A}" dt="2025-01-09T08:17:10.185" v="1" actId="729"/>
        <pc:sldMkLst>
          <pc:docMk/>
          <pc:sldMk cId="2211262298" sldId="345"/>
        </pc:sldMkLst>
      </pc:sldChg>
      <pc:sldChg chg="mod modShow">
        <pc:chgData name="Arvind Easwaran" userId="6059df8d-17bf-4148-9f7c-190b13d86f35" providerId="ADAL" clId="{91D5C683-29A8-8A41-B01A-D3A0057A177A}" dt="2025-01-09T08:17:19.725" v="2" actId="729"/>
        <pc:sldMkLst>
          <pc:docMk/>
          <pc:sldMk cId="3228916769" sldId="346"/>
        </pc:sldMkLst>
      </pc:sldChg>
      <pc:sldChg chg="mod modShow">
        <pc:chgData name="Arvind Easwaran" userId="6059df8d-17bf-4148-9f7c-190b13d86f35" providerId="ADAL" clId="{91D5C683-29A8-8A41-B01A-D3A0057A177A}" dt="2025-01-09T08:17:01.143" v="0" actId="729"/>
        <pc:sldMkLst>
          <pc:docMk/>
          <pc:sldMk cId="2266526119" sldId="347"/>
        </pc:sldMkLst>
      </pc:sldChg>
    </pc:docChg>
  </pc:docChgLst>
  <pc:docChgLst>
    <pc:chgData name="Dmitrii Ustiugov" userId="fee3c4a0-c40b-4de8-8e1d-1d3cf97580eb" providerId="ADAL" clId="{F5FEBDFC-8DFB-F94E-8CD9-81910384B231}"/>
    <pc:docChg chg="undo redo custSel addSld delSld modSld sldOrd">
      <pc:chgData name="Dmitrii Ustiugov" userId="fee3c4a0-c40b-4de8-8e1d-1d3cf97580eb" providerId="ADAL" clId="{F5FEBDFC-8DFB-F94E-8CD9-81910384B231}" dt="2024-09-26T11:15:15.919" v="55" actId="20577"/>
      <pc:docMkLst>
        <pc:docMk/>
      </pc:docMkLst>
      <pc:sldChg chg="modSp">
        <pc:chgData name="Dmitrii Ustiugov" userId="fee3c4a0-c40b-4de8-8e1d-1d3cf97580eb" providerId="ADAL" clId="{F5FEBDFC-8DFB-F94E-8CD9-81910384B231}" dt="2024-09-26T11:15:15.919" v="55" actId="20577"/>
        <pc:sldMkLst>
          <pc:docMk/>
          <pc:sldMk cId="1739787124" sldId="277"/>
        </pc:sldMkLst>
        <pc:spChg chg="mod">
          <ac:chgData name="Dmitrii Ustiugov" userId="fee3c4a0-c40b-4de8-8e1d-1d3cf97580eb" providerId="ADAL" clId="{F5FEBDFC-8DFB-F94E-8CD9-81910384B231}" dt="2024-09-26T11:15:15.919" v="55" actId="20577"/>
          <ac:spMkLst>
            <pc:docMk/>
            <pc:sldMk cId="1739787124" sldId="277"/>
            <ac:spMk id="5" creationId="{262D85BB-C21B-4469-BE55-796C23EE5E2E}"/>
          </ac:spMkLst>
        </pc:spChg>
      </pc:sldChg>
      <pc:sldChg chg="ord">
        <pc:chgData name="Dmitrii Ustiugov" userId="fee3c4a0-c40b-4de8-8e1d-1d3cf97580eb" providerId="ADAL" clId="{F5FEBDFC-8DFB-F94E-8CD9-81910384B231}" dt="2024-09-26T02:11:10.902" v="0" actId="20578"/>
        <pc:sldMkLst>
          <pc:docMk/>
          <pc:sldMk cId="2003194879" sldId="294"/>
        </pc:sldMkLst>
      </pc:sldChg>
      <pc:sldChg chg="new del">
        <pc:chgData name="Dmitrii Ustiugov" userId="fee3c4a0-c40b-4de8-8e1d-1d3cf97580eb" providerId="ADAL" clId="{F5FEBDFC-8DFB-F94E-8CD9-81910384B231}" dt="2024-09-26T02:16:56.264" v="2" actId="680"/>
        <pc:sldMkLst>
          <pc:docMk/>
          <pc:sldMk cId="1288235245" sldId="296"/>
        </pc:sldMkLst>
      </pc:sldChg>
      <pc:sldChg chg="new del ord">
        <pc:chgData name="Dmitrii Ustiugov" userId="fee3c4a0-c40b-4de8-8e1d-1d3cf97580eb" providerId="ADAL" clId="{F5FEBDFC-8DFB-F94E-8CD9-81910384B231}" dt="2024-09-26T02:25:33.269" v="6" actId="2696"/>
        <pc:sldMkLst>
          <pc:docMk/>
          <pc:sldMk cId="3482952982" sldId="296"/>
        </pc:sldMkLst>
      </pc:sldChg>
      <pc:sldChg chg="add">
        <pc:chgData name="Dmitrii Ustiugov" userId="fee3c4a0-c40b-4de8-8e1d-1d3cf97580eb" providerId="ADAL" clId="{F5FEBDFC-8DFB-F94E-8CD9-81910384B231}" dt="2024-09-26T02:25:29.363" v="5"/>
        <pc:sldMkLst>
          <pc:docMk/>
          <pc:sldMk cId="172071730" sldId="344"/>
        </pc:sldMkLst>
      </pc:sldChg>
      <pc:sldChg chg="addSp delSp modSp new mod">
        <pc:chgData name="Dmitrii Ustiugov" userId="fee3c4a0-c40b-4de8-8e1d-1d3cf97580eb" providerId="ADAL" clId="{F5FEBDFC-8DFB-F94E-8CD9-81910384B231}" dt="2024-09-26T02:33:16.646" v="48" actId="1036"/>
        <pc:sldMkLst>
          <pc:docMk/>
          <pc:sldMk cId="2211262298" sldId="345"/>
        </pc:sldMkLst>
        <pc:spChg chg="mod">
          <ac:chgData name="Dmitrii Ustiugov" userId="fee3c4a0-c40b-4de8-8e1d-1d3cf97580eb" providerId="ADAL" clId="{F5FEBDFC-8DFB-F94E-8CD9-81910384B231}" dt="2024-09-26T02:31:08.919" v="27" actId="20577"/>
          <ac:spMkLst>
            <pc:docMk/>
            <pc:sldMk cId="2211262298" sldId="345"/>
            <ac:spMk id="2" creationId="{5489A977-2B09-205E-A8F4-68877B952103}"/>
          </ac:spMkLst>
        </pc:spChg>
        <pc:spChg chg="del">
          <ac:chgData name="Dmitrii Ustiugov" userId="fee3c4a0-c40b-4de8-8e1d-1d3cf97580eb" providerId="ADAL" clId="{F5FEBDFC-8DFB-F94E-8CD9-81910384B231}" dt="2024-09-26T02:31:13.168" v="28" actId="478"/>
          <ac:spMkLst>
            <pc:docMk/>
            <pc:sldMk cId="2211262298" sldId="345"/>
            <ac:spMk id="3" creationId="{3FBD52E9-6A1D-83C8-8D9A-3597B17833D4}"/>
          </ac:spMkLst>
        </pc:spChg>
        <pc:graphicFrameChg chg="add del mod">
          <ac:chgData name="Dmitrii Ustiugov" userId="fee3c4a0-c40b-4de8-8e1d-1d3cf97580eb" providerId="ADAL" clId="{F5FEBDFC-8DFB-F94E-8CD9-81910384B231}" dt="2024-09-26T02:32:41.273" v="39" actId="478"/>
          <ac:graphicFrameMkLst>
            <pc:docMk/>
            <pc:sldMk cId="2211262298" sldId="345"/>
            <ac:graphicFrameMk id="5" creationId="{A4C6AE15-A1ED-644C-26C5-C3A353173ACE}"/>
          </ac:graphicFrameMkLst>
        </pc:graphicFrameChg>
        <pc:graphicFrameChg chg="add del mod">
          <ac:chgData name="Dmitrii Ustiugov" userId="fee3c4a0-c40b-4de8-8e1d-1d3cf97580eb" providerId="ADAL" clId="{F5FEBDFC-8DFB-F94E-8CD9-81910384B231}" dt="2024-09-26T02:32:39.110" v="38" actId="478"/>
          <ac:graphicFrameMkLst>
            <pc:docMk/>
            <pc:sldMk cId="2211262298" sldId="345"/>
            <ac:graphicFrameMk id="6" creationId="{94858987-2B53-042E-BF53-6DBD7ABC8413}"/>
          </ac:graphicFrameMkLst>
        </pc:graphicFrameChg>
        <pc:graphicFrameChg chg="add mod">
          <ac:chgData name="Dmitrii Ustiugov" userId="fee3c4a0-c40b-4de8-8e1d-1d3cf97580eb" providerId="ADAL" clId="{F5FEBDFC-8DFB-F94E-8CD9-81910384B231}" dt="2024-09-26T02:33:16.646" v="48" actId="1036"/>
          <ac:graphicFrameMkLst>
            <pc:docMk/>
            <pc:sldMk cId="2211262298" sldId="345"/>
            <ac:graphicFrameMk id="7" creationId="{CF3D7829-748C-CAE3-3C82-A9D063888E1E}"/>
          </ac:graphicFrameMkLst>
        </pc:graphicFrameChg>
      </pc:sldChg>
      <pc:sldChg chg="add">
        <pc:chgData name="Dmitrii Ustiugov" userId="fee3c4a0-c40b-4de8-8e1d-1d3cf97580eb" providerId="ADAL" clId="{F5FEBDFC-8DFB-F94E-8CD9-81910384B231}" dt="2024-09-26T02:33:19.338" v="49"/>
        <pc:sldMkLst>
          <pc:docMk/>
          <pc:sldMk cId="3228916769" sldId="346"/>
        </pc:sldMkLst>
      </pc:sldChg>
      <pc:sldChg chg="add">
        <pc:chgData name="Dmitrii Ustiugov" userId="fee3c4a0-c40b-4de8-8e1d-1d3cf97580eb" providerId="ADAL" clId="{F5FEBDFC-8DFB-F94E-8CD9-81910384B231}" dt="2024-09-26T02:34:15.347" v="50"/>
        <pc:sldMkLst>
          <pc:docMk/>
          <pc:sldMk cId="2266526119" sldId="347"/>
        </pc:sldMkLst>
      </pc:sldChg>
    </pc:docChg>
  </pc:docChgLst>
</pc:chgInfo>
</file>

<file path=ppt/comments/modernComment_116_B7D7F897.xml><?xml version="1.0" encoding="utf-8"?>
<p188:cmLst xmlns:a="http://schemas.openxmlformats.org/drawingml/2006/main" xmlns:r="http://schemas.openxmlformats.org/officeDocument/2006/relationships" xmlns:p188="http://schemas.microsoft.com/office/powerpoint/2018/8/main">
  <p188:cm id="{472DC209-C7F9-3642-B973-F43D0F28757F}" authorId="{F6B17142-43BA-003F-0D69-754CD8E7FBCB}" status="resolved" created="2024-09-23T11:10:07.851" complete="100000">
    <ac:txMkLst xmlns:ac="http://schemas.microsoft.com/office/drawing/2013/main/command">
      <pc:docMk xmlns:pc="http://schemas.microsoft.com/office/powerpoint/2013/main/command"/>
      <pc:sldMk xmlns:pc="http://schemas.microsoft.com/office/powerpoint/2013/main/command" cId="3084384407" sldId="278"/>
      <ac:spMk id="2" creationId="{45012FB2-AAA9-4B69-89A6-E6FC79BAF5A3}"/>
      <ac:txMk cp="0" len="6">
        <ac:context len="17" hash="3118570691"/>
      </ac:txMk>
    </ac:txMkLst>
    <p188:pos x="3157401" y="323306"/>
    <p188:txBody>
      <a:bodyPr/>
      <a:lstStyle/>
      <a:p>
        <a:r>
          <a:rPr lang="en-US"/>
          <a:t>Remove DM</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58E73B5B-33B0-434B-B231-25F1BA7B6FE4}"/>
              </a:ext>
            </a:extLst>
          </p:cNvPr>
          <p:cNvSpPr>
            <a:spLocks noGrp="1" noChangeArrowheads="1"/>
          </p:cNvSpPr>
          <p:nvPr>
            <p:ph type="hdr" sz="quarter"/>
          </p:nvPr>
        </p:nvSpPr>
        <p:spPr bwMode="auto">
          <a:xfrm>
            <a:off x="0" y="0"/>
            <a:ext cx="3116263" cy="550863"/>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41987" name="Rectangle 3">
            <a:extLst>
              <a:ext uri="{FF2B5EF4-FFF2-40B4-BE49-F238E27FC236}">
                <a16:creationId xmlns:a16="http://schemas.microsoft.com/office/drawing/2014/main" id="{84A98F87-9D72-4D6D-A68D-BBBC3B810E04}"/>
              </a:ext>
            </a:extLst>
          </p:cNvPr>
          <p:cNvSpPr>
            <a:spLocks noGrp="1" noChangeArrowheads="1"/>
          </p:cNvSpPr>
          <p:nvPr>
            <p:ph type="dt" sz="quarter" idx="1"/>
          </p:nvPr>
        </p:nvSpPr>
        <p:spPr bwMode="auto">
          <a:xfrm>
            <a:off x="3995738" y="0"/>
            <a:ext cx="3116262" cy="550863"/>
          </a:xfrm>
          <a:prstGeom prst="rect">
            <a:avLst/>
          </a:prstGeom>
          <a:noFill/>
          <a:ln w="9525">
            <a:noFill/>
            <a:miter lim="800000"/>
            <a:headEnd/>
            <a:tailEnd/>
          </a:ln>
          <a:effectLst/>
        </p:spPr>
        <p:txBody>
          <a:bodyPr vert="horz" wrap="square" lIns="95052" tIns="47526" rIns="95052" bIns="47526" numCol="1" anchor="t" anchorCtr="0" compatLnSpc="1">
            <a:prstTxWarp prst="textNoShape">
              <a:avLst/>
            </a:prstTxWarp>
          </a:bodyPr>
          <a:lstStyle>
            <a:lvl1pPr algn="r" defTabSz="950913">
              <a:defRPr sz="1200">
                <a:latin typeface="Helvetica" pitchFamily="34" charset="0"/>
              </a:defRPr>
            </a:lvl1pPr>
          </a:lstStyle>
          <a:p>
            <a:pPr>
              <a:defRPr/>
            </a:pPr>
            <a:endParaRPr lang="en-US"/>
          </a:p>
        </p:txBody>
      </p:sp>
      <p:sp>
        <p:nvSpPr>
          <p:cNvPr id="41988" name="Rectangle 4">
            <a:extLst>
              <a:ext uri="{FF2B5EF4-FFF2-40B4-BE49-F238E27FC236}">
                <a16:creationId xmlns:a16="http://schemas.microsoft.com/office/drawing/2014/main" id="{84FCD90F-4860-4FD9-815C-43CDC05AD4D3}"/>
              </a:ext>
            </a:extLst>
          </p:cNvPr>
          <p:cNvSpPr>
            <a:spLocks noGrp="1" noChangeArrowheads="1"/>
          </p:cNvSpPr>
          <p:nvPr>
            <p:ph type="ftr" sz="quarter" idx="2"/>
          </p:nvPr>
        </p:nvSpPr>
        <p:spPr bwMode="auto">
          <a:xfrm>
            <a:off x="0" y="9683750"/>
            <a:ext cx="3116263" cy="550863"/>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l" defTabSz="950913">
              <a:defRPr sz="1200">
                <a:latin typeface="Helvetica" pitchFamily="34" charset="0"/>
              </a:defRPr>
            </a:lvl1pPr>
          </a:lstStyle>
          <a:p>
            <a:pPr>
              <a:defRPr/>
            </a:pPr>
            <a:endParaRPr lang="en-US"/>
          </a:p>
        </p:txBody>
      </p:sp>
      <p:sp>
        <p:nvSpPr>
          <p:cNvPr id="41989" name="Rectangle 5">
            <a:extLst>
              <a:ext uri="{FF2B5EF4-FFF2-40B4-BE49-F238E27FC236}">
                <a16:creationId xmlns:a16="http://schemas.microsoft.com/office/drawing/2014/main" id="{49935F7A-8775-4E1F-9FAB-4B3C0E98BB75}"/>
              </a:ext>
            </a:extLst>
          </p:cNvPr>
          <p:cNvSpPr>
            <a:spLocks noGrp="1" noChangeArrowheads="1"/>
          </p:cNvSpPr>
          <p:nvPr>
            <p:ph type="sldNum" sz="quarter" idx="3"/>
          </p:nvPr>
        </p:nvSpPr>
        <p:spPr bwMode="auto">
          <a:xfrm>
            <a:off x="3995738" y="9683750"/>
            <a:ext cx="3116262" cy="550863"/>
          </a:xfrm>
          <a:prstGeom prst="rect">
            <a:avLst/>
          </a:prstGeom>
          <a:noFill/>
          <a:ln w="9525">
            <a:noFill/>
            <a:miter lim="800000"/>
            <a:headEnd/>
            <a:tailEnd/>
          </a:ln>
          <a:effectLst/>
        </p:spPr>
        <p:txBody>
          <a:bodyPr vert="horz" wrap="square" lIns="95052" tIns="47526" rIns="95052" bIns="47526" numCol="1" anchor="b" anchorCtr="0" compatLnSpc="1">
            <a:prstTxWarp prst="textNoShape">
              <a:avLst/>
            </a:prstTxWarp>
          </a:bodyPr>
          <a:lstStyle>
            <a:lvl1pPr algn="r" defTabSz="950913">
              <a:defRPr sz="1200"/>
            </a:lvl1pPr>
          </a:lstStyle>
          <a:p>
            <a:fld id="{6F3CC5ED-59E4-4A3B-AC93-EF7CE66C99CF}"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86FC574-1862-4BEE-82DD-0915D2CC465E}"/>
              </a:ext>
            </a:extLst>
          </p:cNvPr>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47" name="Rectangle 3">
            <a:extLst>
              <a:ext uri="{FF2B5EF4-FFF2-40B4-BE49-F238E27FC236}">
                <a16:creationId xmlns:a16="http://schemas.microsoft.com/office/drawing/2014/main" id="{63C49672-8AB7-452D-81EE-EE505D29FE4E}"/>
              </a:ext>
            </a:extLst>
          </p:cNvPr>
          <p:cNvSpPr>
            <a:spLocks noGrp="1" noChangeArrowheads="1"/>
          </p:cNvSpPr>
          <p:nvPr>
            <p:ph type="dt" idx="1"/>
          </p:nvPr>
        </p:nvSpPr>
        <p:spPr bwMode="auto">
          <a:xfrm>
            <a:off x="4022725" y="0"/>
            <a:ext cx="3076575" cy="511175"/>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lvl1pPr algn="r" defTabSz="966788">
              <a:defRPr sz="1200">
                <a:latin typeface="Times New Roman" pitchFamily="18" charset="0"/>
              </a:defRPr>
            </a:lvl1pPr>
          </a:lstStyle>
          <a:p>
            <a:pPr>
              <a:defRPr/>
            </a:pPr>
            <a:endParaRPr lang="en-US"/>
          </a:p>
        </p:txBody>
      </p:sp>
      <p:sp>
        <p:nvSpPr>
          <p:cNvPr id="13316" name="Rectangle 4">
            <a:extLst>
              <a:ext uri="{FF2B5EF4-FFF2-40B4-BE49-F238E27FC236}">
                <a16:creationId xmlns:a16="http://schemas.microsoft.com/office/drawing/2014/main" id="{0B44E762-985F-48B6-8FD4-6A8E03745CD2}"/>
              </a:ext>
            </a:extLst>
          </p:cNvPr>
          <p:cNvSpPr>
            <a:spLocks noGrp="1" noRot="1" noChangeAspect="1" noChangeArrowheads="1" noTextEdit="1"/>
          </p:cNvSpPr>
          <p:nvPr>
            <p:ph type="sldImg" idx="2"/>
          </p:nvPr>
        </p:nvSpPr>
        <p:spPr bwMode="auto">
          <a:xfrm>
            <a:off x="992188" y="768350"/>
            <a:ext cx="5116512"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2DD7E898-FFD5-49E2-9A12-E07DF628E4C0}"/>
              </a:ext>
            </a:extLst>
          </p:cNvPr>
          <p:cNvSpPr>
            <a:spLocks noGrp="1" noChangeArrowheads="1"/>
          </p:cNvSpPr>
          <p:nvPr>
            <p:ph type="body" sz="quarter" idx="3"/>
          </p:nvPr>
        </p:nvSpPr>
        <p:spPr bwMode="auto">
          <a:xfrm>
            <a:off x="947738" y="4860925"/>
            <a:ext cx="5203825" cy="4605338"/>
          </a:xfrm>
          <a:prstGeom prst="rect">
            <a:avLst/>
          </a:prstGeom>
          <a:noFill/>
          <a:ln w="9525">
            <a:noFill/>
            <a:miter lim="800000"/>
            <a:headEnd/>
            <a:tailEnd/>
          </a:ln>
          <a:effectLst/>
        </p:spPr>
        <p:txBody>
          <a:bodyPr vert="horz" wrap="none" lIns="96782" tIns="48391" rIns="96782" bIns="48391"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2A58D116-280B-4E14-992E-C41CF5A624B0}"/>
              </a:ext>
            </a:extLst>
          </p:cNvPr>
          <p:cNvSpPr>
            <a:spLocks noGrp="1" noChangeArrowheads="1"/>
          </p:cNvSpPr>
          <p:nvPr>
            <p:ph type="ftr" sz="quarter" idx="4"/>
          </p:nvPr>
        </p:nvSpPr>
        <p:spPr bwMode="auto">
          <a:xfrm>
            <a:off x="0" y="9723438"/>
            <a:ext cx="3076575" cy="51117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l" defTabSz="966788">
              <a:defRPr sz="1200">
                <a:latin typeface="Times New Roman" pitchFamily="18" charset="0"/>
              </a:defRPr>
            </a:lvl1pPr>
          </a:lstStyle>
          <a:p>
            <a:pPr>
              <a:defRPr/>
            </a:pPr>
            <a:endParaRPr lang="en-US"/>
          </a:p>
        </p:txBody>
      </p:sp>
      <p:sp>
        <p:nvSpPr>
          <p:cNvPr id="6151" name="Rectangle 7">
            <a:extLst>
              <a:ext uri="{FF2B5EF4-FFF2-40B4-BE49-F238E27FC236}">
                <a16:creationId xmlns:a16="http://schemas.microsoft.com/office/drawing/2014/main" id="{96BCCD20-FA8E-4E3C-A7DD-2089036B2B05}"/>
              </a:ext>
            </a:extLst>
          </p:cNvPr>
          <p:cNvSpPr>
            <a:spLocks noGrp="1" noChangeArrowheads="1"/>
          </p:cNvSpPr>
          <p:nvPr>
            <p:ph type="sldNum" sz="quarter" idx="5"/>
          </p:nvPr>
        </p:nvSpPr>
        <p:spPr bwMode="auto">
          <a:xfrm>
            <a:off x="4022725" y="9723438"/>
            <a:ext cx="3076575" cy="511175"/>
          </a:xfrm>
          <a:prstGeom prst="rect">
            <a:avLst/>
          </a:prstGeom>
          <a:noFill/>
          <a:ln w="9525">
            <a:noFill/>
            <a:miter lim="800000"/>
            <a:headEnd/>
            <a:tailEnd/>
          </a:ln>
          <a:effectLst/>
        </p:spPr>
        <p:txBody>
          <a:bodyPr vert="horz" wrap="none" lIns="96782" tIns="48391" rIns="96782" bIns="48391" numCol="1" anchor="b" anchorCtr="0" compatLnSpc="1">
            <a:prstTxWarp prst="textNoShape">
              <a:avLst/>
            </a:prstTxWarp>
          </a:bodyPr>
          <a:lstStyle>
            <a:lvl1pPr algn="r" defTabSz="966788">
              <a:defRPr sz="1200">
                <a:latin typeface="Times New Roman" panose="02020603050405020304" pitchFamily="18" charset="0"/>
              </a:defRPr>
            </a:lvl1pPr>
          </a:lstStyle>
          <a:p>
            <a:fld id="{94971001-0765-4275-A0AB-CEBA9F47F0D7}"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8BC5D52B-96D7-48F4-967C-F98A9ED702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970547D-FFCD-4DA9-A2DC-AE164CCE7230}"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16386" name="Rectangle 1026">
            <a:extLst>
              <a:ext uri="{FF2B5EF4-FFF2-40B4-BE49-F238E27FC236}">
                <a16:creationId xmlns:a16="http://schemas.microsoft.com/office/drawing/2014/main" id="{8C1E6934-0A97-4621-8CDD-4384A4091BA5}"/>
              </a:ext>
            </a:extLst>
          </p:cNvPr>
          <p:cNvSpPr>
            <a:spLocks noGrp="1" noRot="1" noChangeAspect="1" noChangeArrowheads="1" noTextEdit="1"/>
          </p:cNvSpPr>
          <p:nvPr>
            <p:ph type="sldImg"/>
          </p:nvPr>
        </p:nvSpPr>
        <p:spPr>
          <a:ln/>
        </p:spPr>
      </p:sp>
      <p:sp>
        <p:nvSpPr>
          <p:cNvPr id="16387" name="Rectangle 1027">
            <a:extLst>
              <a:ext uri="{FF2B5EF4-FFF2-40B4-BE49-F238E27FC236}">
                <a16:creationId xmlns:a16="http://schemas.microsoft.com/office/drawing/2014/main" id="{52F3FEE8-52C7-47F7-924F-821B276E8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In this part, we take a closer look at Real-Time Operating Systems (RTOS). We understand the applications and their requirements for which a RTOS is appropriate. We then look at some of the key features and functions of a RTOS, over and above the services in a standard OS.</a:t>
            </a:r>
          </a:p>
          <a:p>
            <a:endParaRPr lang="en-US" altLang="en-US" dirty="0"/>
          </a:p>
          <a:p>
            <a:r>
              <a:rPr lang="en-US" altLang="en-US" dirty="0"/>
              <a:t>We then look at some examples of CPU scheduling algorithms that are specific to RTOS and provide the appropriate functions essential to meet application requirements.</a:t>
            </a:r>
          </a:p>
          <a:p>
            <a:endParaRPr lang="en-US" altLang="en-US" dirty="0"/>
          </a:p>
          <a:p>
            <a:r>
              <a:rPr lang="en-US" altLang="en-US" dirty="0"/>
              <a:t>Finally, we take a look at some of the techniques for hardware virtualization, understand what virtualization means, as well as list some popular examples.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D8B29D0-911E-4C98-982B-38C3085A774F}"/>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8CCC0196-BB84-484E-BFCC-DF3C82BD0F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SG" altLang="en-US"/>
              <a:t>Trend 1: Proliferation of sensor devices. As these devices include embedded processors that are increasingly becoming smaller and also more powerful and plentiful; that is, they are everywhere and can support complex functionalities. They range from simple environmental monitoring, to medical devices, to cargo ships, to factories, to smart spaces that are for assisted living for elderly or disabled.</a:t>
            </a:r>
          </a:p>
          <a:p>
            <a:endParaRPr lang="en-SG" altLang="en-US"/>
          </a:p>
          <a:p>
            <a:r>
              <a:rPr lang="en-SG" altLang="en-US"/>
              <a:t>Trend 2: The second trend is that these systems are increasingly being integrated as system of systems. These integrations can range from simple interconnection to exchange sensor data, to inter-operations to support remote command and control, to total integration to serve as a coherent, large-scale complex system.</a:t>
            </a:r>
            <a:endParaRPr lang="en-US" altLang="en-US"/>
          </a:p>
        </p:txBody>
      </p:sp>
      <p:sp>
        <p:nvSpPr>
          <p:cNvPr id="18435" name="Slide Number Placeholder 3">
            <a:extLst>
              <a:ext uri="{FF2B5EF4-FFF2-40B4-BE49-F238E27FC236}">
                <a16:creationId xmlns:a16="http://schemas.microsoft.com/office/drawing/2014/main" id="{1C131BC4-BBE5-4E1B-8144-346847E0F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A8BBD1D-5459-49DB-BD97-B272C0767387}" type="slidenum">
              <a:rPr lang="en-US" altLang="en-US">
                <a:latin typeface="Times New Roman" panose="02020603050405020304" pitchFamily="18" charset="0"/>
              </a:rPr>
              <a:pPr/>
              <a:t>6</a:t>
            </a:fld>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D8B29D0-911E-4C98-982B-38C3085A774F}"/>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8CCC0196-BB84-484E-BFCC-DF3C82BD0F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Common requirements among several of the CPS applications is that of real-time. Meaning the applications are required to process inputs and generate outputs within a pre-defined amount of time. We can call this time the application deadline. Not only does the application have to produce a functionally correct output, but it must do so within this deadline. So, for such applications, both functional/logical correctness as well as temporal correctness or timeliness are equally important.</a:t>
            </a:r>
          </a:p>
          <a:p>
            <a:endParaRPr lang="en-US" altLang="en-US" dirty="0"/>
          </a:p>
          <a:p>
            <a:r>
              <a:rPr lang="en-US" altLang="en-US" dirty="0"/>
              <a:t>Couple of examples of such real-time CPS applications are given here. One is that of a pace-maker, which is a medical device embedded in a human body. It monitors the electrical pulses generated by the brain to stimulate the heart muscles. Whenever the electrical pulses do not arrive in time from the brain, the pace-maker provides a replacement pulse to stimulate the appropriate chamber of the heart. This is a very critical device with some extremely precise real-time requirements, usually in the high milliseconds range.</a:t>
            </a:r>
          </a:p>
          <a:p>
            <a:endParaRPr lang="en-US" altLang="en-US" dirty="0"/>
          </a:p>
          <a:p>
            <a:r>
              <a:rPr lang="en-US" altLang="en-US" dirty="0"/>
              <a:t>Another example is that of a collision detection and avoidance system in autonomous driving. Sensors, usually cameras and lidars, provide information about the environment. This data must be perceived and a decision taken to control the speed of the ego vehicle depending on whether its path is clear or has other objects which can lead to potential collisions. Again a very critical system with real-time requirements, and depending on the speed of the vehicles involved, the real-time requirements can be below 100 milliseconds.</a:t>
            </a:r>
          </a:p>
        </p:txBody>
      </p:sp>
      <p:sp>
        <p:nvSpPr>
          <p:cNvPr id="18435" name="Slide Number Placeholder 3">
            <a:extLst>
              <a:ext uri="{FF2B5EF4-FFF2-40B4-BE49-F238E27FC236}">
                <a16:creationId xmlns:a16="http://schemas.microsoft.com/office/drawing/2014/main" id="{1C131BC4-BBE5-4E1B-8144-346847E0F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A8BBD1D-5459-49DB-BD97-B272C0767387}" type="slidenum">
              <a:rPr lang="en-US" altLang="en-US">
                <a:latin typeface="Times New Roman" panose="02020603050405020304" pitchFamily="18" charset="0"/>
              </a:rPr>
              <a:pPr/>
              <a:t>7</a:t>
            </a:fld>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D8B29D0-911E-4C98-982B-38C3085A774F}"/>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8CCC0196-BB84-484E-BFCC-DF3C82BD0F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Although several CPS applications have hard real-time requirements (deadlines), the notion of these requirements are dependent on various factors. </a:t>
            </a:r>
          </a:p>
          <a:p>
            <a:endParaRPr lang="en-US" altLang="en-US"/>
          </a:p>
          <a:p>
            <a:r>
              <a:rPr lang="en-US" altLang="en-US"/>
              <a:t>It depends on the type of functionality. The notion of real-time could range from a few milliseconds to potentially even few minutes. Longer time durations would usually then not be considered as real-time requirements, but instead would be regarded as design-time planning.</a:t>
            </a:r>
          </a:p>
          <a:p>
            <a:endParaRPr lang="en-US" altLang="en-US"/>
          </a:p>
          <a:p>
            <a:r>
              <a:rPr lang="en-US" altLang="en-US"/>
              <a:t>It also depends on the constraints imposed by the surrounding environment, such as available computing and communication resources, the timing characteristics of the mechanical devices and processes, etc.</a:t>
            </a:r>
          </a:p>
          <a:p>
            <a:endParaRPr lang="en-US" altLang="en-US"/>
          </a:p>
          <a:p>
            <a:r>
              <a:rPr lang="en-US" altLang="en-US"/>
              <a:t>Finally, it can also depend on some design considerations such as techniques for failure mitigation. This may need to consider the timing overhead of strategies for detecting and recovering from failures. An example could replication of computation for redundancy.</a:t>
            </a:r>
          </a:p>
          <a:p>
            <a:r>
              <a:rPr lang="en-US" altLang="en-US"/>
              <a:t> </a:t>
            </a:r>
          </a:p>
        </p:txBody>
      </p:sp>
      <p:sp>
        <p:nvSpPr>
          <p:cNvPr id="18435" name="Slide Number Placeholder 3">
            <a:extLst>
              <a:ext uri="{FF2B5EF4-FFF2-40B4-BE49-F238E27FC236}">
                <a16:creationId xmlns:a16="http://schemas.microsoft.com/office/drawing/2014/main" id="{1C131BC4-BBE5-4E1B-8144-346847E0F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A8BBD1D-5459-49DB-BD97-B272C0767387}" type="slidenum">
              <a:rPr lang="en-US" altLang="en-US">
                <a:latin typeface="Times New Roman" panose="02020603050405020304" pitchFamily="18" charset="0"/>
              </a:rPr>
              <a:pPr/>
              <a:t>8</a:t>
            </a:fld>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ED8B29D0-911E-4C98-982B-38C3085A774F}"/>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8CCC0196-BB84-484E-BFCC-DF3C82BD0F87}"/>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A common misconception is that real-time requirements imply fast execution on an average or simply fast response times. This is not true at all.</a:t>
            </a:r>
            <a:br>
              <a:rPr lang="en-US" altLang="en-US"/>
            </a:br>
            <a:endParaRPr lang="en-US" altLang="en-US"/>
          </a:p>
          <a:p>
            <a:r>
              <a:rPr lang="en-US" altLang="en-US"/>
              <a:t>Real-time requirements imply guarantees on the worst-case response times, AND NOT average case response times. So, in the worst-case, the execution of the application must be completed within the pre-specified deadline.</a:t>
            </a:r>
          </a:p>
        </p:txBody>
      </p:sp>
      <p:sp>
        <p:nvSpPr>
          <p:cNvPr id="18435" name="Slide Number Placeholder 3">
            <a:extLst>
              <a:ext uri="{FF2B5EF4-FFF2-40B4-BE49-F238E27FC236}">
                <a16:creationId xmlns:a16="http://schemas.microsoft.com/office/drawing/2014/main" id="{1C131BC4-BBE5-4E1B-8144-346847E0FE4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6A8BBD1D-5459-49DB-BD97-B272C0767387}"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604803-4034-FB1B-CCCF-8E031E843A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35E88-F88E-F4CB-7AC2-D56C9C336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8CB9A-A4E9-7615-815B-FA62641E91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E6E6DC-FC30-5CF4-4A3A-C18C3B82C8CC}"/>
              </a:ext>
            </a:extLst>
          </p:cNvPr>
          <p:cNvSpPr>
            <a:spLocks noGrp="1"/>
          </p:cNvSpPr>
          <p:nvPr>
            <p:ph type="sldNum" sz="quarter" idx="5"/>
          </p:nvPr>
        </p:nvSpPr>
        <p:spPr/>
        <p:txBody>
          <a:bodyPr/>
          <a:lstStyle/>
          <a:p>
            <a:fld id="{94971001-0765-4275-A0AB-CEBA9F47F0D7}" type="slidenum">
              <a:rPr lang="en-US" altLang="en-US" smtClean="0"/>
              <a:pPr/>
              <a:t>10</a:t>
            </a:fld>
            <a:endParaRPr lang="en-US" altLang="en-US"/>
          </a:p>
        </p:txBody>
      </p:sp>
    </p:spTree>
    <p:extLst>
      <p:ext uri="{BB962C8B-B14F-4D97-AF65-F5344CB8AC3E}">
        <p14:creationId xmlns:p14="http://schemas.microsoft.com/office/powerpoint/2010/main" val="26686578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In summary, the key focus of real-time CPS, and hence real-time OS, is that of ensuring predictability over the timing constraints. In the worst-case, the timing requirements of the application must be met. This worst-case must take into account the impact from mechanical devices, computation (both software and hardware), communication, etc. </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11</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12</a:t>
            </a:fld>
            <a:endParaRPr lang="en-US" altLang="en-US"/>
          </a:p>
        </p:txBody>
      </p:sp>
    </p:spTree>
    <p:extLst>
      <p:ext uri="{BB962C8B-B14F-4D97-AF65-F5344CB8AC3E}">
        <p14:creationId xmlns:p14="http://schemas.microsoft.com/office/powerpoint/2010/main" val="30290567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8BC5D52B-96D7-48F4-967C-F98A9ED702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970547D-FFCD-4DA9-A2DC-AE164CCE7230}" type="slidenum">
              <a:rPr lang="en-US" altLang="en-US">
                <a:latin typeface="Times New Roman" panose="02020603050405020304" pitchFamily="18" charset="0"/>
              </a:rPr>
              <a:pPr/>
              <a:t>13</a:t>
            </a:fld>
            <a:endParaRPr lang="en-US" altLang="en-US">
              <a:latin typeface="Times New Roman" panose="02020603050405020304" pitchFamily="18" charset="0"/>
            </a:endParaRPr>
          </a:p>
        </p:txBody>
      </p:sp>
      <p:sp>
        <p:nvSpPr>
          <p:cNvPr id="16386" name="Rectangle 1026">
            <a:extLst>
              <a:ext uri="{FF2B5EF4-FFF2-40B4-BE49-F238E27FC236}">
                <a16:creationId xmlns:a16="http://schemas.microsoft.com/office/drawing/2014/main" id="{8C1E6934-0A97-4621-8CDD-4384A4091BA5}"/>
              </a:ext>
            </a:extLst>
          </p:cNvPr>
          <p:cNvSpPr>
            <a:spLocks noGrp="1" noRot="1" noChangeAspect="1" noChangeArrowheads="1" noTextEdit="1"/>
          </p:cNvSpPr>
          <p:nvPr>
            <p:ph type="sldImg"/>
          </p:nvPr>
        </p:nvSpPr>
        <p:spPr>
          <a:ln/>
        </p:spPr>
      </p:sp>
      <p:sp>
        <p:nvSpPr>
          <p:cNvPr id="16387" name="Rectangle 1027">
            <a:extLst>
              <a:ext uri="{FF2B5EF4-FFF2-40B4-BE49-F238E27FC236}">
                <a16:creationId xmlns:a16="http://schemas.microsoft.com/office/drawing/2014/main" id="{52F3FEE8-52C7-47F7-924F-821B276E8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We now consider how to model a real-time RTOS process. We need to know when the process is released for execution in the system. We need to know how much CPU cycles it needs in the worst-case. We also need to know by when it requires these CPU cycles. Only with these parameters can the RTOS manage the processes to ensure that their real-time requirements (deadlines) can be met.</a:t>
            </a:r>
          </a:p>
          <a:p>
            <a:endParaRPr lang="en-SG"/>
          </a:p>
          <a:p>
            <a:r>
              <a:rPr lang="en-SG"/>
              <a:t>It is an interesting question to understand how one could determine these process parameters. R and D are straightforward. Usually they are derived depending on the application requirements. How often or when the application needs to run and by when should it complete. However, C is challenging to determine. It is the worst-case execution requirement, meaning the maximum CPU cycles that the process will ever require. This is usually very hard to determine.</a:t>
            </a:r>
          </a:p>
          <a:p>
            <a:endParaRPr lang="en-SG"/>
          </a:p>
          <a:p>
            <a:r>
              <a:rPr lang="en-SG"/>
              <a:t>In this lecture, to keep things simple, we ignore I/O bursts and assume that all processes only have a single CPU burst.</a:t>
            </a:r>
          </a:p>
          <a:p>
            <a:endParaRPr lang="en-SG"/>
          </a:p>
          <a:p>
            <a:endParaRPr lang="en-SG"/>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14</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G"/>
          </a:p>
          <a:p>
            <a:r>
              <a:rPr lang="en-SG"/>
              <a:t>In many real-time applications, the nature of a real-time process is repetitive. Meaning it needs to execute the real-time function repeatedly over time. Each instance of such a recurrent real-time process is a real-time process with parameters &lt;R,C,D&gt;.</a:t>
            </a:r>
          </a:p>
          <a:p>
            <a:endParaRPr lang="en-SG"/>
          </a:p>
          <a:p>
            <a:r>
              <a:rPr lang="en-SG"/>
              <a:t>Depending on the nature of repetition, there are two broad types of recurrent real-time processes. We will look at these in the next couple of slides.</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15</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One type of recurrence is the periodic recurrence, in which real-time processes are released in the system periodically at fixed time intervals. Several time-triggered functions fall in this category.</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16</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8BC5D52B-96D7-48F4-967C-F98A9ED702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970547D-FFCD-4DA9-A2DC-AE164CCE7230}" type="slidenum">
              <a:rPr lang="en-US" altLang="en-US">
                <a:latin typeface="Times New Roman" panose="02020603050405020304" pitchFamily="18" charset="0"/>
              </a:rPr>
              <a:pPr/>
              <a:t>17</a:t>
            </a:fld>
            <a:endParaRPr lang="en-US" altLang="en-US">
              <a:latin typeface="Times New Roman" panose="02020603050405020304" pitchFamily="18" charset="0"/>
            </a:endParaRPr>
          </a:p>
        </p:txBody>
      </p:sp>
      <p:sp>
        <p:nvSpPr>
          <p:cNvPr id="16386" name="Rectangle 1026">
            <a:extLst>
              <a:ext uri="{FF2B5EF4-FFF2-40B4-BE49-F238E27FC236}">
                <a16:creationId xmlns:a16="http://schemas.microsoft.com/office/drawing/2014/main" id="{8C1E6934-0A97-4621-8CDD-4384A4091BA5}"/>
              </a:ext>
            </a:extLst>
          </p:cNvPr>
          <p:cNvSpPr>
            <a:spLocks noGrp="1" noRot="1" noChangeAspect="1" noChangeArrowheads="1" noTextEdit="1"/>
          </p:cNvSpPr>
          <p:nvPr>
            <p:ph type="sldImg"/>
          </p:nvPr>
        </p:nvSpPr>
        <p:spPr>
          <a:ln/>
        </p:spPr>
      </p:sp>
      <p:sp>
        <p:nvSpPr>
          <p:cNvPr id="16387" name="Rectangle 1027">
            <a:extLst>
              <a:ext uri="{FF2B5EF4-FFF2-40B4-BE49-F238E27FC236}">
                <a16:creationId xmlns:a16="http://schemas.microsoft.com/office/drawing/2014/main" id="{52F3FEE8-52C7-47F7-924F-821B276E8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section we focus on the problem of CPU scheduling, that is the short-term scheduler from Week 3. We see how the algorithms we studied in Week 3 perform for real-time processes and what new algorithms we can consider for this specific application domain.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Lets take a closer look at how the classic CPU scheduling algorithms that we learned in Week 3 fair for the real-time process scheduling problem. Are they effective in meeting process deadlines?</a:t>
            </a:r>
          </a:p>
          <a:p>
            <a:endParaRPr lang="en-SG"/>
          </a:p>
          <a:p>
            <a:r>
              <a:rPr lang="en-SG"/>
              <a:t>None of them do well in terms of the performance measure for real-time processes, that is meeting deadlines. This is expected, because none of them focus/prioritize on deadlines.</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18</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In this section we will focus on the short-term CPU scheduler (ready queue scheduler) for a set of periodic real-time processes scheduled on a </a:t>
            </a:r>
            <a:r>
              <a:rPr lang="en-SG" err="1"/>
              <a:t>uni</a:t>
            </a:r>
            <a:r>
              <a:rPr lang="en-SG"/>
              <a:t>-processor CPU. Although example focuses on periodic processes, the same techniques can be applied to sporadic processes as well.</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19</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Fixed-priority CPU scheduling is a class of schedulers in which priorities are fixed at the level of each periodic/sporadic process. So priorities don’t change across process instances.</a:t>
            </a:r>
          </a:p>
          <a:p>
            <a:endParaRPr lang="en-SG"/>
          </a:p>
          <a:p>
            <a:r>
              <a:rPr lang="en-SG"/>
              <a:t>We will look at two examples of this class of schedulers.</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20</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Under RM scheduling, priorities are assigned based on the process periods or minimum release-separation times. Smaller this value, higher is the priority. Ties are broken arbitrarily.</a:t>
            </a:r>
          </a:p>
          <a:p>
            <a:endParaRPr lang="en-SG"/>
          </a:p>
          <a:p>
            <a:r>
              <a:rPr lang="en-SG"/>
              <a:t>RM is a popular choice in the real-time CPS industry. For high-priority periodic/sporadic processes it gives a very predictable schedule. So important processes can be given high priority under RM.</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21</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Since RM ignores the relative deadline parameter D, it can potentially miss deadlines for some process sets as shown in this slide.</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22</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EDF is a dynamic-priority scheduler that changes priorities across process instances based on their actual deadlines. This allows a lot of flexibility to EDF and hence it is able to perform really well in terms of meeting deadlines.</a:t>
            </a:r>
          </a:p>
          <a:p>
            <a:endParaRPr lang="en-SG"/>
          </a:p>
          <a:p>
            <a:r>
              <a:rPr lang="en-SG"/>
              <a:t>Then, why is RM more popular in the real-time CPS industry? Lets take a closer look at the advantages and dis-advantages of these two classes of schedulers.</a:t>
            </a:r>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23</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58F1D-848C-A072-0C69-DAD9EF2BED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0622F2-A485-3E48-0181-49196F3F5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9252D-D5FF-9DB7-F4B5-0ACFA85DA6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80F73DE-4108-A394-6D83-0519931D3034}"/>
              </a:ext>
            </a:extLst>
          </p:cNvPr>
          <p:cNvSpPr>
            <a:spLocks noGrp="1"/>
          </p:cNvSpPr>
          <p:nvPr>
            <p:ph type="sldNum" sz="quarter" idx="5"/>
          </p:nvPr>
        </p:nvSpPr>
        <p:spPr/>
        <p:txBody>
          <a:bodyPr/>
          <a:lstStyle/>
          <a:p>
            <a:fld id="{94971001-0765-4275-A0AB-CEBA9F47F0D7}" type="slidenum">
              <a:rPr lang="en-US" altLang="en-US" smtClean="0"/>
              <a:pPr/>
              <a:t>24</a:t>
            </a:fld>
            <a:endParaRPr lang="en-US" altLang="en-US"/>
          </a:p>
        </p:txBody>
      </p:sp>
    </p:spTree>
    <p:extLst>
      <p:ext uri="{BB962C8B-B14F-4D97-AF65-F5344CB8AC3E}">
        <p14:creationId xmlns:p14="http://schemas.microsoft.com/office/powerpoint/2010/main" val="31572578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dirty="0"/>
              <a:t>RM/DM are easy to implement. A simple priority-based queue data structure would suffice. There can be one queue per recurrent process. In fact, efficient O(1) time complexity implementations are available for RM/DM using bitmaps.</a:t>
            </a:r>
          </a:p>
          <a:p>
            <a:endParaRPr lang="en-SG" dirty="0"/>
          </a:p>
          <a:p>
            <a:r>
              <a:rPr lang="en-SG" dirty="0"/>
              <a:t>EDF implementation requires an online sorting strategy, because process instance deadlines are only known once the processes are released in the system (true for sporadic processes). Further it is not possible to separate the instances into separate queues offline, like in RM/DM. The best known time complexity for implementation of EDF is O(log n), where n is the number of periodic/sporadic processes in the system.</a:t>
            </a:r>
          </a:p>
          <a:p>
            <a:endParaRPr lang="en-SG" dirty="0"/>
          </a:p>
          <a:p>
            <a:r>
              <a:rPr lang="en-SG" dirty="0"/>
              <a:t>Besides, RM/DM has better predictability for high-priority processes, even when there is overload. Lets see this in the next slide.</a:t>
            </a:r>
          </a:p>
          <a:p>
            <a:endParaRPr lang="en-SG" dirty="0"/>
          </a:p>
          <a:p>
            <a:pPr algn="l"/>
            <a:r>
              <a:rPr lang="en-SG" dirty="0"/>
              <a:t>If you are further interested in this topic, I would encourage you to read this paper: </a:t>
            </a:r>
            <a:r>
              <a:rPr lang="en-SG" sz="1800" b="0" i="0" u="none" strike="noStrike" baseline="0" dirty="0">
                <a:solidFill>
                  <a:srgbClr val="BD1A1A"/>
                </a:solidFill>
                <a:latin typeface="NimbusSanL-Regu"/>
              </a:rPr>
              <a:t>G. </a:t>
            </a:r>
            <a:r>
              <a:rPr lang="en-SG" sz="1800" b="0" i="0" u="none" strike="noStrike" baseline="0" dirty="0" err="1">
                <a:solidFill>
                  <a:srgbClr val="BD1A1A"/>
                </a:solidFill>
                <a:latin typeface="NimbusSanL-Regu"/>
              </a:rPr>
              <a:t>Buttazzo</a:t>
            </a:r>
            <a:r>
              <a:rPr lang="en-SG" sz="1800" b="0" i="0" u="none" strike="noStrike" baseline="0" dirty="0">
                <a:solidFill>
                  <a:srgbClr val="BD1A1A"/>
                </a:solidFill>
                <a:latin typeface="NimbusSanL-Regu"/>
              </a:rPr>
              <a:t>, “Rate monotonic vs. EDF: Judgement Day", Real-Time Systems Journal, 2005.</a:t>
            </a:r>
            <a:endParaRPr lang="en-SG" dirty="0"/>
          </a:p>
        </p:txBody>
      </p:sp>
      <p:sp>
        <p:nvSpPr>
          <p:cNvPr id="4" name="Slide Number Placeholder 3"/>
          <p:cNvSpPr>
            <a:spLocks noGrp="1"/>
          </p:cNvSpPr>
          <p:nvPr>
            <p:ph type="sldNum" sz="quarter" idx="5"/>
          </p:nvPr>
        </p:nvSpPr>
        <p:spPr/>
        <p:txBody>
          <a:bodyPr/>
          <a:lstStyle/>
          <a:p>
            <a:fld id="{94971001-0765-4275-A0AB-CEBA9F47F0D7}" type="slidenum">
              <a:rPr lang="en-US" altLang="en-US" smtClean="0"/>
              <a:pPr/>
              <a:t>25</a:t>
            </a:fld>
            <a:endParaRPr lang="en-US" altLang="en-US"/>
          </a:p>
        </p:txBody>
      </p:sp>
    </p:spTree>
    <p:extLst>
      <p:ext uri="{BB962C8B-B14F-4D97-AF65-F5344CB8AC3E}">
        <p14:creationId xmlns:p14="http://schemas.microsoft.com/office/powerpoint/2010/main" val="1472426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7">
            <a:extLst>
              <a:ext uri="{FF2B5EF4-FFF2-40B4-BE49-F238E27FC236}">
                <a16:creationId xmlns:a16="http://schemas.microsoft.com/office/drawing/2014/main" id="{8BC5D52B-96D7-48F4-967C-F98A9ED7024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a:solidFill>
                  <a:schemeClr val="tx1"/>
                </a:solidFill>
                <a:latin typeface="Helvetica" panose="020B0604020202020204" pitchFamily="34" charset="0"/>
              </a:defRPr>
            </a:lvl1pPr>
            <a:lvl2pPr marL="742950" indent="-285750" defTabSz="966788">
              <a:defRPr>
                <a:solidFill>
                  <a:schemeClr val="tx1"/>
                </a:solidFill>
                <a:latin typeface="Helvetica" panose="020B0604020202020204" pitchFamily="34" charset="0"/>
              </a:defRPr>
            </a:lvl2pPr>
            <a:lvl3pPr marL="1143000" indent="-228600" defTabSz="966788">
              <a:defRPr>
                <a:solidFill>
                  <a:schemeClr val="tx1"/>
                </a:solidFill>
                <a:latin typeface="Helvetica" panose="020B0604020202020204" pitchFamily="34" charset="0"/>
              </a:defRPr>
            </a:lvl3pPr>
            <a:lvl4pPr marL="1600200" indent="-228600" defTabSz="966788">
              <a:defRPr>
                <a:solidFill>
                  <a:schemeClr val="tx1"/>
                </a:solidFill>
                <a:latin typeface="Helvetica" panose="020B0604020202020204" pitchFamily="34" charset="0"/>
              </a:defRPr>
            </a:lvl4pPr>
            <a:lvl5pPr marL="2057400" indent="-228600" defTabSz="966788">
              <a:defRPr>
                <a:solidFill>
                  <a:schemeClr val="tx1"/>
                </a:solidFill>
                <a:latin typeface="Helvetica" panose="020B0604020202020204" pitchFamily="34" charset="0"/>
              </a:defRPr>
            </a:lvl5pPr>
            <a:lvl6pPr marL="2514600" indent="-228600" defTabSz="966788" eaLnBrk="0" fontAlgn="base" hangingPunct="0">
              <a:spcBef>
                <a:spcPct val="0"/>
              </a:spcBef>
              <a:spcAft>
                <a:spcPct val="0"/>
              </a:spcAft>
              <a:defRPr>
                <a:solidFill>
                  <a:schemeClr val="tx1"/>
                </a:solidFill>
                <a:latin typeface="Helvetica" panose="020B0604020202020204" pitchFamily="34" charset="0"/>
              </a:defRPr>
            </a:lvl6pPr>
            <a:lvl7pPr marL="2971800" indent="-228600" defTabSz="966788" eaLnBrk="0" fontAlgn="base" hangingPunct="0">
              <a:spcBef>
                <a:spcPct val="0"/>
              </a:spcBef>
              <a:spcAft>
                <a:spcPct val="0"/>
              </a:spcAft>
              <a:defRPr>
                <a:solidFill>
                  <a:schemeClr val="tx1"/>
                </a:solidFill>
                <a:latin typeface="Helvetica" panose="020B0604020202020204" pitchFamily="34" charset="0"/>
              </a:defRPr>
            </a:lvl7pPr>
            <a:lvl8pPr marL="3429000" indent="-228600" defTabSz="966788" eaLnBrk="0" fontAlgn="base" hangingPunct="0">
              <a:spcBef>
                <a:spcPct val="0"/>
              </a:spcBef>
              <a:spcAft>
                <a:spcPct val="0"/>
              </a:spcAft>
              <a:defRPr>
                <a:solidFill>
                  <a:schemeClr val="tx1"/>
                </a:solidFill>
                <a:latin typeface="Helvetica" panose="020B0604020202020204" pitchFamily="34" charset="0"/>
              </a:defRPr>
            </a:lvl8pPr>
            <a:lvl9pPr marL="3886200" indent="-228600" defTabSz="966788" eaLnBrk="0" fontAlgn="base" hangingPunct="0">
              <a:spcBef>
                <a:spcPct val="0"/>
              </a:spcBef>
              <a:spcAft>
                <a:spcPct val="0"/>
              </a:spcAft>
              <a:defRPr>
                <a:solidFill>
                  <a:schemeClr val="tx1"/>
                </a:solidFill>
                <a:latin typeface="Helvetica" panose="020B0604020202020204" pitchFamily="34" charset="0"/>
              </a:defRPr>
            </a:lvl9pPr>
          </a:lstStyle>
          <a:p>
            <a:fld id="{4970547D-FFCD-4DA9-A2DC-AE164CCE7230}"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16386" name="Rectangle 1026">
            <a:extLst>
              <a:ext uri="{FF2B5EF4-FFF2-40B4-BE49-F238E27FC236}">
                <a16:creationId xmlns:a16="http://schemas.microsoft.com/office/drawing/2014/main" id="{8C1E6934-0A97-4621-8CDD-4384A4091BA5}"/>
              </a:ext>
            </a:extLst>
          </p:cNvPr>
          <p:cNvSpPr>
            <a:spLocks noGrp="1" noRot="1" noChangeAspect="1" noChangeArrowheads="1" noTextEdit="1"/>
          </p:cNvSpPr>
          <p:nvPr>
            <p:ph type="sldImg"/>
          </p:nvPr>
        </p:nvSpPr>
        <p:spPr>
          <a:ln/>
        </p:spPr>
      </p:sp>
      <p:sp>
        <p:nvSpPr>
          <p:cNvPr id="16387" name="Rectangle 1027">
            <a:extLst>
              <a:ext uri="{FF2B5EF4-FFF2-40B4-BE49-F238E27FC236}">
                <a16:creationId xmlns:a16="http://schemas.microsoft.com/office/drawing/2014/main" id="{52F3FEE8-52C7-47F7-924F-821B276E82F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In this section we focus on the concept of virtualization. We understand what this concept means, what are the different types of virtualization, and some examples from the real-world for such virtualization techniques. Note virtualization is a very important concept in edge/cloud computing, which is very popular as of today.</a:t>
            </a:r>
          </a:p>
          <a:p>
            <a:endParaRPr lang="en-US" altLang="en-US"/>
          </a:p>
          <a:p>
            <a:r>
              <a:rPr lang="en-US" altLang="en-US"/>
              <a:t>For an excellent overview of virtualization, please have a look here: https://www.ibm.com/sg-en/cloud/learn/virtualization-a-complete-guide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a:extLst>
              <a:ext uri="{FF2B5EF4-FFF2-40B4-BE49-F238E27FC236}">
                <a16:creationId xmlns:a16="http://schemas.microsoft.com/office/drawing/2014/main" id="{C4747914-2FCE-4DE7-9F02-5C163D9D9721}"/>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244532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7026B3BE-F393-4773-88FF-3DAF7208F344}"/>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91147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A7916BE9-DBFA-48C1-8B70-E33326E0F265}"/>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75150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47750"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38675" y="1724025"/>
            <a:ext cx="3438525"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57290C49-5804-46E7-9CE2-2D7335B4C099}"/>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5858861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6C10C05D-6260-4775-AE34-281BEFD08FF8}"/>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188751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18809C70-4F37-4BBB-A239-0870C892C399}"/>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8174153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14C62CD-7790-4AEF-A3AC-62B3E71F5C24}"/>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910525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F31766C4-38C0-408E-B9CE-A360BD27F87E}"/>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44953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C378CEA-6ED8-47F1-A5F2-0C7FEFFF603F}"/>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1895023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9F35611F-106C-4969-A1E6-DE7C79C31A1D}"/>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3489592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19838" y="495300"/>
            <a:ext cx="1757362" cy="5343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47750" y="495300"/>
            <a:ext cx="5119688" cy="5343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F8D26A71-37A5-47D1-9328-2A9A4ABACE1B}"/>
              </a:ext>
            </a:extLst>
          </p:cNvPr>
          <p:cNvSpPr>
            <a:spLocks noGrp="1" noChangeArrowheads="1"/>
          </p:cNvSpPr>
          <p:nvPr>
            <p:ph type="ftr" sz="quarter" idx="10"/>
          </p:nvPr>
        </p:nvSpPr>
        <p:spPr>
          <a:ln/>
        </p:spPr>
        <p:txBody>
          <a:bodyPr/>
          <a:lstStyle>
            <a:lvl1pPr>
              <a:defRPr/>
            </a:lvl1pPr>
          </a:lstStyle>
          <a:p>
            <a:pPr>
              <a:defRPr/>
            </a:pPr>
            <a:r>
              <a:rPr lang="en-US"/>
              <a:t>Operating Systems</a:t>
            </a:r>
          </a:p>
        </p:txBody>
      </p:sp>
    </p:spTree>
    <p:extLst>
      <p:ext uri="{BB962C8B-B14F-4D97-AF65-F5344CB8AC3E}">
        <p14:creationId xmlns:p14="http://schemas.microsoft.com/office/powerpoint/2010/main" val="2159555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a:extLst>
              <a:ext uri="{FF2B5EF4-FFF2-40B4-BE49-F238E27FC236}">
                <a16:creationId xmlns:a16="http://schemas.microsoft.com/office/drawing/2014/main" id="{52823D37-FF75-4B2A-8E8A-C85FC3172232}"/>
              </a:ext>
            </a:extLst>
          </p:cNvPr>
          <p:cNvSpPr>
            <a:spLocks noChangeArrowheads="1"/>
          </p:cNvSpPr>
          <p:nvPr/>
        </p:nvSpPr>
        <p:spPr bwMode="auto">
          <a:xfrm>
            <a:off x="684213" y="342900"/>
            <a:ext cx="7831137" cy="685800"/>
          </a:xfrm>
          <a:prstGeom prst="rect">
            <a:avLst/>
          </a:prstGeom>
          <a:solidFill>
            <a:schemeClr val="bg1"/>
          </a:solidFill>
          <a:ln w="9525">
            <a:solidFill>
              <a:schemeClr val="tx1"/>
            </a:solidFill>
            <a:miter lim="800000"/>
            <a:headEnd/>
            <a:tailEnd/>
          </a:ln>
          <a:effectLst>
            <a:outerShdw dist="107763" dir="2700000" algn="ctr" rotWithShape="0">
              <a:schemeClr val="tx1"/>
            </a:outerShdw>
          </a:effectLst>
        </p:spPr>
        <p:txBody>
          <a:bodyPr wrap="none" anchor="ctr"/>
          <a:lstStyle>
            <a:lvl1pPr>
              <a:defRPr>
                <a:solidFill>
                  <a:schemeClr val="tx1"/>
                </a:solidFill>
                <a:latin typeface="Helvetica" pitchFamily="2" charset="0"/>
              </a:defRPr>
            </a:lvl1pPr>
            <a:lvl2pPr marL="742950" indent="-285750">
              <a:defRPr>
                <a:solidFill>
                  <a:schemeClr val="tx1"/>
                </a:solidFill>
                <a:latin typeface="Helvetica" pitchFamily="2" charset="0"/>
              </a:defRPr>
            </a:lvl2pPr>
            <a:lvl3pPr marL="1143000" indent="-228600">
              <a:defRPr>
                <a:solidFill>
                  <a:schemeClr val="tx1"/>
                </a:solidFill>
                <a:latin typeface="Helvetica" pitchFamily="2" charset="0"/>
              </a:defRPr>
            </a:lvl3pPr>
            <a:lvl4pPr marL="1600200" indent="-228600">
              <a:defRPr>
                <a:solidFill>
                  <a:schemeClr val="tx1"/>
                </a:solidFill>
                <a:latin typeface="Helvetica" pitchFamily="2" charset="0"/>
              </a:defRPr>
            </a:lvl4pPr>
            <a:lvl5pPr marL="2057400" indent="-228600">
              <a:defRPr>
                <a:solidFill>
                  <a:schemeClr val="tx1"/>
                </a:solidFill>
                <a:latin typeface="Helvetica" pitchFamily="2" charset="0"/>
              </a:defRPr>
            </a:lvl5pPr>
            <a:lvl6pPr marL="2514600" indent="-228600" eaLnBrk="0" fontAlgn="base" hangingPunct="0">
              <a:spcBef>
                <a:spcPct val="0"/>
              </a:spcBef>
              <a:spcAft>
                <a:spcPct val="0"/>
              </a:spcAft>
              <a:defRPr>
                <a:solidFill>
                  <a:schemeClr val="tx1"/>
                </a:solidFill>
                <a:latin typeface="Helvetica" pitchFamily="2" charset="0"/>
              </a:defRPr>
            </a:lvl6pPr>
            <a:lvl7pPr marL="2971800" indent="-228600" eaLnBrk="0" fontAlgn="base" hangingPunct="0">
              <a:spcBef>
                <a:spcPct val="0"/>
              </a:spcBef>
              <a:spcAft>
                <a:spcPct val="0"/>
              </a:spcAft>
              <a:defRPr>
                <a:solidFill>
                  <a:schemeClr val="tx1"/>
                </a:solidFill>
                <a:latin typeface="Helvetica" pitchFamily="2" charset="0"/>
              </a:defRPr>
            </a:lvl7pPr>
            <a:lvl8pPr marL="3429000" indent="-228600" eaLnBrk="0" fontAlgn="base" hangingPunct="0">
              <a:spcBef>
                <a:spcPct val="0"/>
              </a:spcBef>
              <a:spcAft>
                <a:spcPct val="0"/>
              </a:spcAft>
              <a:defRPr>
                <a:solidFill>
                  <a:schemeClr val="tx1"/>
                </a:solidFill>
                <a:latin typeface="Helvetica" pitchFamily="2" charset="0"/>
              </a:defRPr>
            </a:lvl8pPr>
            <a:lvl9pPr marL="3886200" indent="-228600" eaLnBrk="0" fontAlgn="base" hangingPunct="0">
              <a:spcBef>
                <a:spcPct val="0"/>
              </a:spcBef>
              <a:spcAft>
                <a:spcPct val="0"/>
              </a:spcAft>
              <a:defRPr>
                <a:solidFill>
                  <a:schemeClr val="tx1"/>
                </a:solidFill>
                <a:latin typeface="Helvetica" pitchFamily="2" charset="0"/>
              </a:defRPr>
            </a:lvl9pPr>
          </a:lstStyle>
          <a:p>
            <a:pPr algn="ctr">
              <a:defRPr/>
            </a:pPr>
            <a:endParaRPr lang="en-US" altLang="en-US"/>
          </a:p>
        </p:txBody>
      </p:sp>
      <p:sp>
        <p:nvSpPr>
          <p:cNvPr id="1027" name="Rectangle 2">
            <a:extLst>
              <a:ext uri="{FF2B5EF4-FFF2-40B4-BE49-F238E27FC236}">
                <a16:creationId xmlns:a16="http://schemas.microsoft.com/office/drawing/2014/main" id="{3DA4DC78-4243-4C93-9994-227A177D5EFF}"/>
              </a:ext>
            </a:extLst>
          </p:cNvPr>
          <p:cNvSpPr>
            <a:spLocks noGrp="1" noChangeArrowheads="1"/>
          </p:cNvSpPr>
          <p:nvPr>
            <p:ph type="title"/>
          </p:nvPr>
        </p:nvSpPr>
        <p:spPr bwMode="auto">
          <a:xfrm>
            <a:off x="1162050" y="495300"/>
            <a:ext cx="688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A2902811-F545-45CE-9950-F9322EBB6ABA}"/>
              </a:ext>
            </a:extLst>
          </p:cNvPr>
          <p:cNvSpPr>
            <a:spLocks noGrp="1" noChangeArrowheads="1"/>
          </p:cNvSpPr>
          <p:nvPr>
            <p:ph type="body" idx="1"/>
          </p:nvPr>
        </p:nvSpPr>
        <p:spPr bwMode="auto">
          <a:xfrm>
            <a:off x="1047750" y="1724025"/>
            <a:ext cx="70294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9" name="Rectangle 5">
            <a:extLst>
              <a:ext uri="{FF2B5EF4-FFF2-40B4-BE49-F238E27FC236}">
                <a16:creationId xmlns:a16="http://schemas.microsoft.com/office/drawing/2014/main" id="{8AB829B6-038F-48A9-A90B-D51CD2917645}"/>
              </a:ext>
            </a:extLst>
          </p:cNvPr>
          <p:cNvSpPr>
            <a:spLocks noGrp="1" noChangeArrowheads="1"/>
          </p:cNvSpPr>
          <p:nvPr>
            <p:ph type="ftr" sz="quarter" idx="3"/>
          </p:nvPr>
        </p:nvSpPr>
        <p:spPr bwMode="auto">
          <a:xfrm>
            <a:off x="0" y="6561138"/>
            <a:ext cx="3654425" cy="2952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000">
                <a:latin typeface="Helvetica" pitchFamily="34" charset="0"/>
              </a:defRPr>
            </a:lvl1pPr>
          </a:lstStyle>
          <a:p>
            <a:pPr>
              <a:defRPr/>
            </a:pPr>
            <a:r>
              <a:rPr lang="en-US"/>
              <a:t>Operating Systems</a:t>
            </a:r>
          </a:p>
        </p:txBody>
      </p:sp>
      <p:sp>
        <p:nvSpPr>
          <p:cNvPr id="1030" name="Rectangle 8">
            <a:extLst>
              <a:ext uri="{FF2B5EF4-FFF2-40B4-BE49-F238E27FC236}">
                <a16:creationId xmlns:a16="http://schemas.microsoft.com/office/drawing/2014/main" id="{974ACFE6-5CD6-4F94-B0D6-0A5F3918B410}"/>
              </a:ext>
            </a:extLst>
          </p:cNvPr>
          <p:cNvSpPr>
            <a:spLocks noChangeArrowheads="1"/>
          </p:cNvSpPr>
          <p:nvPr/>
        </p:nvSpPr>
        <p:spPr bwMode="auto">
          <a:xfrm>
            <a:off x="6248400" y="6561138"/>
            <a:ext cx="2895600" cy="296862"/>
          </a:xfrm>
          <a:prstGeom prst="rect">
            <a:avLst/>
          </a:prstGeom>
          <a:noFill/>
          <a:ln>
            <a:noFill/>
          </a:ln>
        </p:spPr>
        <p:txBody>
          <a:bodyP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r">
              <a:defRPr/>
            </a:pPr>
            <a:r>
              <a:rPr lang="en-US" altLang="en-US" sz="1000"/>
              <a:t>Part 6 RTOS and Virtualization</a:t>
            </a:r>
            <a:endParaRPr lang="en-US" altLang="en-US" sz="1400">
              <a:latin typeface="Times New Roman" pitchFamily="18" charset="0"/>
            </a:endParaRPr>
          </a:p>
        </p:txBody>
      </p:sp>
      <p:sp>
        <p:nvSpPr>
          <p:cNvPr id="1031" name="AutoShape 9">
            <a:extLst>
              <a:ext uri="{FF2B5EF4-FFF2-40B4-BE49-F238E27FC236}">
                <a16:creationId xmlns:a16="http://schemas.microsoft.com/office/drawing/2014/main" id="{CB859A80-6131-4494-895B-641A420388C7}"/>
              </a:ext>
            </a:extLst>
          </p:cNvPr>
          <p:cNvSpPr>
            <a:spLocks noChangeArrowheads="1"/>
          </p:cNvSpPr>
          <p:nvPr/>
        </p:nvSpPr>
        <p:spPr bwMode="auto">
          <a:xfrm>
            <a:off x="117475" y="112713"/>
            <a:ext cx="8909050" cy="6448425"/>
          </a:xfrm>
          <a:prstGeom prst="roundRect">
            <a:avLst>
              <a:gd name="adj" fmla="val 17278"/>
            </a:avLst>
          </a:prstGeom>
          <a:noFill/>
          <a:ln w="9525">
            <a:solidFill>
              <a:schemeClr val="tx1"/>
            </a:solidFill>
            <a:round/>
            <a:headEnd/>
            <a:tailEnd/>
          </a:ln>
        </p:spPr>
        <p:txBody>
          <a:bodyPr wrap="none" anchor="ctr"/>
          <a:lstStyle>
            <a:lvl1pPr>
              <a:defRPr>
                <a:solidFill>
                  <a:schemeClr val="tx1"/>
                </a:solidFill>
                <a:latin typeface="Helvetica" pitchFamily="34" charset="0"/>
              </a:defRPr>
            </a:lvl1pPr>
            <a:lvl2pPr marL="742950" indent="-285750">
              <a:defRPr>
                <a:solidFill>
                  <a:schemeClr val="tx1"/>
                </a:solidFill>
                <a:latin typeface="Helvetica" pitchFamily="34" charset="0"/>
              </a:defRPr>
            </a:lvl2pPr>
            <a:lvl3pPr marL="1143000" indent="-228600">
              <a:defRPr>
                <a:solidFill>
                  <a:schemeClr val="tx1"/>
                </a:solidFill>
                <a:latin typeface="Helvetica" pitchFamily="34" charset="0"/>
              </a:defRPr>
            </a:lvl3pPr>
            <a:lvl4pPr marL="1600200" indent="-228600">
              <a:defRPr>
                <a:solidFill>
                  <a:schemeClr val="tx1"/>
                </a:solidFill>
                <a:latin typeface="Helvetica" pitchFamily="34" charset="0"/>
              </a:defRPr>
            </a:lvl4pPr>
            <a:lvl5pPr marL="2057400" indent="-228600">
              <a:defRPr>
                <a:solidFill>
                  <a:schemeClr val="tx1"/>
                </a:solidFill>
                <a:latin typeface="Helvetica" pitchFamily="34" charset="0"/>
              </a:defRPr>
            </a:lvl5pPr>
            <a:lvl6pPr marL="2514600" indent="-228600" algn="ctr" eaLnBrk="0" fontAlgn="base" hangingPunct="0">
              <a:spcBef>
                <a:spcPct val="0"/>
              </a:spcBef>
              <a:spcAft>
                <a:spcPct val="0"/>
              </a:spcAft>
              <a:defRPr>
                <a:solidFill>
                  <a:schemeClr val="tx1"/>
                </a:solidFill>
                <a:latin typeface="Helvetica" pitchFamily="34" charset="0"/>
              </a:defRPr>
            </a:lvl6pPr>
            <a:lvl7pPr marL="2971800" indent="-228600" algn="ctr" eaLnBrk="0" fontAlgn="base" hangingPunct="0">
              <a:spcBef>
                <a:spcPct val="0"/>
              </a:spcBef>
              <a:spcAft>
                <a:spcPct val="0"/>
              </a:spcAft>
              <a:defRPr>
                <a:solidFill>
                  <a:schemeClr val="tx1"/>
                </a:solidFill>
                <a:latin typeface="Helvetica" pitchFamily="34" charset="0"/>
              </a:defRPr>
            </a:lvl7pPr>
            <a:lvl8pPr marL="3429000" indent="-228600" algn="ctr" eaLnBrk="0" fontAlgn="base" hangingPunct="0">
              <a:spcBef>
                <a:spcPct val="0"/>
              </a:spcBef>
              <a:spcAft>
                <a:spcPct val="0"/>
              </a:spcAft>
              <a:defRPr>
                <a:solidFill>
                  <a:schemeClr val="tx1"/>
                </a:solidFill>
                <a:latin typeface="Helvetica" pitchFamily="34" charset="0"/>
              </a:defRPr>
            </a:lvl8pPr>
            <a:lvl9pPr marL="3886200" indent="-228600" algn="ctr" eaLnBrk="0" fontAlgn="base" hangingPunct="0">
              <a:spcBef>
                <a:spcPct val="0"/>
              </a:spcBef>
              <a:spcAft>
                <a:spcPct val="0"/>
              </a:spcAft>
              <a:defRPr>
                <a:solidFill>
                  <a:schemeClr val="tx1"/>
                </a:solidFill>
                <a:latin typeface="Helvetica" pitchFamily="34" charset="0"/>
              </a:defRPr>
            </a:lvl9pPr>
          </a:lstStyle>
          <a:p>
            <a:pPr algn="ctr">
              <a:defRPr/>
            </a:pPr>
            <a:endParaRPr lang="en-US" altLang="en-US"/>
          </a:p>
        </p:txBody>
      </p:sp>
      <p:sp>
        <p:nvSpPr>
          <p:cNvPr id="1032" name="Text Box 10">
            <a:extLst>
              <a:ext uri="{FF2B5EF4-FFF2-40B4-BE49-F238E27FC236}">
                <a16:creationId xmlns:a16="http://schemas.microsoft.com/office/drawing/2014/main" id="{248DCD1D-AB62-41D8-8599-32C44008318E}"/>
              </a:ext>
            </a:extLst>
          </p:cNvPr>
          <p:cNvSpPr txBox="1">
            <a:spLocks noChangeArrowheads="1"/>
          </p:cNvSpPr>
          <p:nvPr/>
        </p:nvSpPr>
        <p:spPr bwMode="auto">
          <a:xfrm>
            <a:off x="4033838" y="6440488"/>
            <a:ext cx="811212" cy="457200"/>
          </a:xfrm>
          <a:prstGeom prst="rect">
            <a:avLst/>
          </a:prstGeom>
          <a:noFill/>
          <a:ln>
            <a:noFill/>
          </a:ln>
        </p:spPr>
        <p:txBody>
          <a:bodyPr wrap="none" anchor="ctr">
            <a:spAutoFit/>
          </a:bodyPr>
          <a:lstStyle>
            <a:lvl1pPr>
              <a:defRPr>
                <a:solidFill>
                  <a:schemeClr val="tx1"/>
                </a:solidFill>
                <a:latin typeface="Helvetica" panose="020B0604020202020204" pitchFamily="34" charset="0"/>
              </a:defRPr>
            </a:lvl1pPr>
            <a:lvl2pPr marL="742950" indent="-285750">
              <a:defRPr>
                <a:solidFill>
                  <a:schemeClr val="tx1"/>
                </a:solidFill>
                <a:latin typeface="Helvetica" panose="020B0604020202020204" pitchFamily="34" charset="0"/>
              </a:defRPr>
            </a:lvl2pPr>
            <a:lvl3pPr marL="1143000" indent="-228600">
              <a:defRPr>
                <a:solidFill>
                  <a:schemeClr val="tx1"/>
                </a:solidFill>
                <a:latin typeface="Helvetica" panose="020B0604020202020204" pitchFamily="34" charset="0"/>
              </a:defRPr>
            </a:lvl3pPr>
            <a:lvl4pPr marL="1600200" indent="-228600">
              <a:defRPr>
                <a:solidFill>
                  <a:schemeClr val="tx1"/>
                </a:solidFill>
                <a:latin typeface="Helvetica" panose="020B0604020202020204" pitchFamily="34" charset="0"/>
              </a:defRPr>
            </a:lvl4pPr>
            <a:lvl5pPr marL="2057400" indent="-228600">
              <a:defRPr>
                <a:solidFill>
                  <a:schemeClr val="tx1"/>
                </a:solidFill>
                <a:latin typeface="Helvetica" panose="020B0604020202020204" pitchFamily="34" charset="0"/>
              </a:defRPr>
            </a:lvl5pPr>
            <a:lvl6pPr marL="2514600" indent="-228600" eaLnBrk="0" fontAlgn="base" hangingPunct="0">
              <a:spcBef>
                <a:spcPct val="0"/>
              </a:spcBef>
              <a:spcAft>
                <a:spcPct val="0"/>
              </a:spcAft>
              <a:defRPr>
                <a:solidFill>
                  <a:schemeClr val="tx1"/>
                </a:solidFill>
                <a:latin typeface="Helvetica" panose="020B0604020202020204" pitchFamily="34" charset="0"/>
              </a:defRPr>
            </a:lvl6pPr>
            <a:lvl7pPr marL="2971800" indent="-228600" eaLnBrk="0" fontAlgn="base" hangingPunct="0">
              <a:spcBef>
                <a:spcPct val="0"/>
              </a:spcBef>
              <a:spcAft>
                <a:spcPct val="0"/>
              </a:spcAft>
              <a:defRPr>
                <a:solidFill>
                  <a:schemeClr val="tx1"/>
                </a:solidFill>
                <a:latin typeface="Helvetica" panose="020B0604020202020204" pitchFamily="34" charset="0"/>
              </a:defRPr>
            </a:lvl7pPr>
            <a:lvl8pPr marL="3429000" indent="-228600" eaLnBrk="0" fontAlgn="base" hangingPunct="0">
              <a:spcBef>
                <a:spcPct val="0"/>
              </a:spcBef>
              <a:spcAft>
                <a:spcPct val="0"/>
              </a:spcAft>
              <a:defRPr>
                <a:solidFill>
                  <a:schemeClr val="tx1"/>
                </a:solidFill>
                <a:latin typeface="Helvetica" panose="020B0604020202020204" pitchFamily="34" charset="0"/>
              </a:defRPr>
            </a:lvl8pPr>
            <a:lvl9pPr marL="3886200" indent="-228600" eaLnBrk="0" fontAlgn="base" hangingPunct="0">
              <a:spcBef>
                <a:spcPct val="0"/>
              </a:spcBef>
              <a:spcAft>
                <a:spcPct val="0"/>
              </a:spcAft>
              <a:defRPr>
                <a:solidFill>
                  <a:schemeClr val="tx1"/>
                </a:solidFill>
                <a:latin typeface="Helvetica" panose="020B0604020202020204" pitchFamily="34" charset="0"/>
              </a:defRPr>
            </a:lvl9pPr>
          </a:lstStyle>
          <a:p>
            <a:pPr algn="ctr">
              <a:spcBef>
                <a:spcPct val="50000"/>
              </a:spcBef>
            </a:pPr>
            <a:r>
              <a:rPr lang="en-US" altLang="en-US" sz="2400"/>
              <a:t>1.</a:t>
            </a:r>
            <a:fld id="{39A88988-6A28-4F16-8E8A-3C259F9E22D2}" type="slidenum">
              <a:rPr lang="en-US" altLang="en-US" sz="2400"/>
              <a:pPr algn="ctr">
                <a:spcBef>
                  <a:spcPct val="50000"/>
                </a:spcBef>
              </a:pPr>
              <a:t>‹#›</a:t>
            </a:fld>
            <a:endParaRPr lang="en-US" altLang="en-US" sz="24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rtl="0" eaLnBrk="0" fontAlgn="base" hangingPunct="0">
        <a:spcBef>
          <a:spcPct val="0"/>
        </a:spcBef>
        <a:spcAft>
          <a:spcPct val="0"/>
        </a:spcAft>
        <a:defRPr sz="3000" b="1">
          <a:solidFill>
            <a:schemeClr val="tx2"/>
          </a:solidFill>
          <a:latin typeface="+mj-lt"/>
          <a:ea typeface="+mj-ea"/>
          <a:cs typeface="+mj-cs"/>
        </a:defRPr>
      </a:lvl1pPr>
      <a:lvl2pPr algn="ctr" rtl="0" eaLnBrk="0" fontAlgn="base" hangingPunct="0">
        <a:spcBef>
          <a:spcPct val="0"/>
        </a:spcBef>
        <a:spcAft>
          <a:spcPct val="0"/>
        </a:spcAft>
        <a:defRPr sz="3000" b="1">
          <a:solidFill>
            <a:schemeClr val="tx2"/>
          </a:solidFill>
          <a:latin typeface="Helvetica" pitchFamily="34" charset="0"/>
        </a:defRPr>
      </a:lvl2pPr>
      <a:lvl3pPr algn="ctr" rtl="0" eaLnBrk="0" fontAlgn="base" hangingPunct="0">
        <a:spcBef>
          <a:spcPct val="0"/>
        </a:spcBef>
        <a:spcAft>
          <a:spcPct val="0"/>
        </a:spcAft>
        <a:defRPr sz="3000" b="1">
          <a:solidFill>
            <a:schemeClr val="tx2"/>
          </a:solidFill>
          <a:latin typeface="Helvetica" pitchFamily="34" charset="0"/>
        </a:defRPr>
      </a:lvl3pPr>
      <a:lvl4pPr algn="ctr" rtl="0" eaLnBrk="0" fontAlgn="base" hangingPunct="0">
        <a:spcBef>
          <a:spcPct val="0"/>
        </a:spcBef>
        <a:spcAft>
          <a:spcPct val="0"/>
        </a:spcAft>
        <a:defRPr sz="3000" b="1">
          <a:solidFill>
            <a:schemeClr val="tx2"/>
          </a:solidFill>
          <a:latin typeface="Helvetica" pitchFamily="34" charset="0"/>
        </a:defRPr>
      </a:lvl4pPr>
      <a:lvl5pPr algn="ctr" rtl="0" eaLnBrk="0" fontAlgn="base" hangingPunct="0">
        <a:spcBef>
          <a:spcPct val="0"/>
        </a:spcBef>
        <a:spcAft>
          <a:spcPct val="0"/>
        </a:spcAft>
        <a:defRPr sz="3000" b="1">
          <a:solidFill>
            <a:schemeClr val="tx2"/>
          </a:solidFill>
          <a:latin typeface="Helvetica" pitchFamily="34" charset="0"/>
        </a:defRPr>
      </a:lvl5pPr>
      <a:lvl6pPr marL="457200" algn="ctr" rtl="0" eaLnBrk="0" fontAlgn="base" hangingPunct="0">
        <a:spcBef>
          <a:spcPct val="0"/>
        </a:spcBef>
        <a:spcAft>
          <a:spcPct val="0"/>
        </a:spcAft>
        <a:defRPr sz="3000" b="1">
          <a:solidFill>
            <a:schemeClr val="tx2"/>
          </a:solidFill>
          <a:latin typeface="Helvetica" pitchFamily="34" charset="0"/>
        </a:defRPr>
      </a:lvl6pPr>
      <a:lvl7pPr marL="914400" algn="ctr" rtl="0" eaLnBrk="0" fontAlgn="base" hangingPunct="0">
        <a:spcBef>
          <a:spcPct val="0"/>
        </a:spcBef>
        <a:spcAft>
          <a:spcPct val="0"/>
        </a:spcAft>
        <a:defRPr sz="3000" b="1">
          <a:solidFill>
            <a:schemeClr val="tx2"/>
          </a:solidFill>
          <a:latin typeface="Helvetica" pitchFamily="34" charset="0"/>
        </a:defRPr>
      </a:lvl7pPr>
      <a:lvl8pPr marL="1371600" algn="ctr" rtl="0" eaLnBrk="0" fontAlgn="base" hangingPunct="0">
        <a:spcBef>
          <a:spcPct val="0"/>
        </a:spcBef>
        <a:spcAft>
          <a:spcPct val="0"/>
        </a:spcAft>
        <a:defRPr sz="3000" b="1">
          <a:solidFill>
            <a:schemeClr val="tx2"/>
          </a:solidFill>
          <a:latin typeface="Helvetica" pitchFamily="34" charset="0"/>
        </a:defRPr>
      </a:lvl8pPr>
      <a:lvl9pPr marL="1828800" algn="ctr" rtl="0" eaLnBrk="0" fontAlgn="base" hangingPunct="0">
        <a:spcBef>
          <a:spcPct val="0"/>
        </a:spcBef>
        <a:spcAft>
          <a:spcPct val="0"/>
        </a:spcAft>
        <a:defRPr sz="3000" b="1">
          <a:solidFill>
            <a:schemeClr val="tx2"/>
          </a:solidFill>
          <a:latin typeface="Helvetica" pitchFamily="34" charset="0"/>
        </a:defRPr>
      </a:lvl9pPr>
    </p:titleStyle>
    <p:body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microsoft.com/office/2011/relationships/webextension" Target="../webextensions/webextension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11/relationships/webextension" Target="../webextensions/webextension4.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11/relationships/webextension" Target="../webextensions/webextension5.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microsoft.com/office/2018/10/relationships/comments" Target="../comments/modernComment_116_B7D7F897.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E2E37C-D648-62AB-79DD-BE12C60273D7}"/>
              </a:ext>
            </a:extLst>
          </p:cNvPr>
          <p:cNvSpPr>
            <a:spLocks noGrp="1"/>
          </p:cNvSpPr>
          <p:nvPr>
            <p:ph type="title"/>
          </p:nvPr>
        </p:nvSpPr>
        <p:spPr/>
        <p:txBody>
          <a:bodyPr/>
          <a:lstStyle/>
          <a:p>
            <a:r>
              <a:rPr lang="en-US" dirty="0"/>
              <a:t>Course Overview</a:t>
            </a:r>
          </a:p>
        </p:txBody>
      </p:sp>
      <p:sp>
        <p:nvSpPr>
          <p:cNvPr id="4" name="Footer Placeholder 3">
            <a:extLst>
              <a:ext uri="{FF2B5EF4-FFF2-40B4-BE49-F238E27FC236}">
                <a16:creationId xmlns:a16="http://schemas.microsoft.com/office/drawing/2014/main" id="{2AB58029-CCA3-2962-F8C9-30EEC52B4DA1}"/>
              </a:ext>
            </a:extLst>
          </p:cNvPr>
          <p:cNvSpPr>
            <a:spLocks noGrp="1"/>
          </p:cNvSpPr>
          <p:nvPr>
            <p:ph type="ftr" sz="quarter" idx="10"/>
          </p:nvPr>
        </p:nvSpPr>
        <p:spPr bwMode="auto">
          <a:xfrm>
            <a:off x="38100" y="8302625"/>
            <a:ext cx="35941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eaLnBrk="0" fontAlgn="base" hangingPunct="0">
              <a:spcBef>
                <a:spcPct val="0"/>
              </a:spcBef>
              <a:spcAft>
                <a:spcPct val="0"/>
              </a:spcAft>
              <a:defRPr sz="1000" kern="1200">
                <a:solidFill>
                  <a:schemeClr val="tx1"/>
                </a:solidFill>
                <a:latin typeface="Helvetica" pitchFamily="34" charset="0"/>
                <a:ea typeface="+mn-ea"/>
                <a:cs typeface="+mn-cs"/>
              </a:defRPr>
            </a:lvl1pPr>
            <a:lvl2pPr marL="4572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Helvetica" panose="020B0604020202020204" pitchFamily="34" charset="0"/>
                <a:ea typeface="+mn-ea"/>
                <a:cs typeface="+mn-cs"/>
              </a:defRPr>
            </a:lvl5pPr>
            <a:lvl6pPr marL="2286000" algn="l" defTabSz="914400" rtl="0" eaLnBrk="1" latinLnBrk="0" hangingPunct="1">
              <a:defRPr kern="1200">
                <a:solidFill>
                  <a:schemeClr val="tx1"/>
                </a:solidFill>
                <a:latin typeface="Helvetica" panose="020B0604020202020204" pitchFamily="34" charset="0"/>
                <a:ea typeface="+mn-ea"/>
                <a:cs typeface="+mn-cs"/>
              </a:defRPr>
            </a:lvl6pPr>
            <a:lvl7pPr marL="2743200" algn="l" defTabSz="914400" rtl="0" eaLnBrk="1" latinLnBrk="0" hangingPunct="1">
              <a:defRPr kern="1200">
                <a:solidFill>
                  <a:schemeClr val="tx1"/>
                </a:solidFill>
                <a:latin typeface="Helvetica" panose="020B0604020202020204" pitchFamily="34" charset="0"/>
                <a:ea typeface="+mn-ea"/>
                <a:cs typeface="+mn-cs"/>
              </a:defRPr>
            </a:lvl7pPr>
            <a:lvl8pPr marL="3200400" algn="l" defTabSz="914400" rtl="0" eaLnBrk="1" latinLnBrk="0" hangingPunct="1">
              <a:defRPr kern="1200">
                <a:solidFill>
                  <a:schemeClr val="tx1"/>
                </a:solidFill>
                <a:latin typeface="Helvetica" panose="020B0604020202020204" pitchFamily="34" charset="0"/>
                <a:ea typeface="+mn-ea"/>
                <a:cs typeface="+mn-cs"/>
              </a:defRPr>
            </a:lvl8pPr>
            <a:lvl9pPr marL="3657600" algn="l" defTabSz="914400" rtl="0" eaLnBrk="1" latinLnBrk="0" hangingPunct="1">
              <a:defRPr kern="1200">
                <a:solidFill>
                  <a:schemeClr val="tx1"/>
                </a:solidFill>
                <a:latin typeface="Helvetica" panose="020B0604020202020204" pitchFamily="34" charset="0"/>
                <a:ea typeface="+mn-ea"/>
                <a:cs typeface="+mn-cs"/>
              </a:defRPr>
            </a:lvl9pPr>
          </a:lstStyle>
          <a:p>
            <a:pPr>
              <a:defRPr/>
            </a:pPr>
            <a:r>
              <a:rPr lang="en-US"/>
              <a:t>Operating Systems</a:t>
            </a:r>
          </a:p>
        </p:txBody>
      </p:sp>
      <p:sp>
        <p:nvSpPr>
          <p:cNvPr id="5" name="TextBox 4">
            <a:extLst>
              <a:ext uri="{FF2B5EF4-FFF2-40B4-BE49-F238E27FC236}">
                <a16:creationId xmlns:a16="http://schemas.microsoft.com/office/drawing/2014/main" id="{E8CDAB8E-895E-6DF4-D571-864BCF9B761D}"/>
              </a:ext>
            </a:extLst>
          </p:cNvPr>
          <p:cNvSpPr txBox="1"/>
          <p:nvPr/>
        </p:nvSpPr>
        <p:spPr>
          <a:xfrm>
            <a:off x="3623153" y="1693364"/>
            <a:ext cx="2057400" cy="507831"/>
          </a:xfrm>
          <a:prstGeom prst="rect">
            <a:avLst/>
          </a:prstGeom>
          <a:noFill/>
        </p:spPr>
        <p:txBody>
          <a:bodyPr wrap="square" rtlCol="0">
            <a:spAutoFit/>
          </a:bodyPr>
          <a:lstStyle/>
          <a:p>
            <a:pPr algn="ctr"/>
            <a:r>
              <a:rPr lang="en-US" sz="2700" u="sng" dirty="0"/>
              <a:t>OS goals</a:t>
            </a:r>
          </a:p>
        </p:txBody>
      </p:sp>
      <p:sp>
        <p:nvSpPr>
          <p:cNvPr id="6" name="TextBox 5">
            <a:extLst>
              <a:ext uri="{FF2B5EF4-FFF2-40B4-BE49-F238E27FC236}">
                <a16:creationId xmlns:a16="http://schemas.microsoft.com/office/drawing/2014/main" id="{AFFAA270-F49D-B5B6-6624-06718A29A0F4}"/>
              </a:ext>
            </a:extLst>
          </p:cNvPr>
          <p:cNvSpPr txBox="1"/>
          <p:nvPr/>
        </p:nvSpPr>
        <p:spPr>
          <a:xfrm>
            <a:off x="1597182" y="2499822"/>
            <a:ext cx="1869314" cy="738664"/>
          </a:xfrm>
          <a:prstGeom prst="rect">
            <a:avLst/>
          </a:prstGeom>
          <a:noFill/>
        </p:spPr>
        <p:txBody>
          <a:bodyPr wrap="square" rtlCol="0">
            <a:spAutoFit/>
          </a:bodyPr>
          <a:lstStyle/>
          <a:p>
            <a:pPr algn="ctr"/>
            <a:r>
              <a:rPr lang="en-US" sz="2100" dirty="0"/>
              <a:t>CPU management</a:t>
            </a:r>
          </a:p>
        </p:txBody>
      </p:sp>
      <p:sp>
        <p:nvSpPr>
          <p:cNvPr id="7" name="TextBox 6">
            <a:extLst>
              <a:ext uri="{FF2B5EF4-FFF2-40B4-BE49-F238E27FC236}">
                <a16:creationId xmlns:a16="http://schemas.microsoft.com/office/drawing/2014/main" id="{B2A68BF2-6C5D-82BB-1EBD-4B22D672B24D}"/>
              </a:ext>
            </a:extLst>
          </p:cNvPr>
          <p:cNvSpPr txBox="1"/>
          <p:nvPr/>
        </p:nvSpPr>
        <p:spPr>
          <a:xfrm>
            <a:off x="3719560" y="2517269"/>
            <a:ext cx="1869314" cy="738664"/>
          </a:xfrm>
          <a:prstGeom prst="rect">
            <a:avLst/>
          </a:prstGeom>
          <a:noFill/>
        </p:spPr>
        <p:txBody>
          <a:bodyPr wrap="square" rtlCol="0">
            <a:spAutoFit/>
          </a:bodyPr>
          <a:lstStyle/>
          <a:p>
            <a:pPr algn="ctr"/>
            <a:r>
              <a:rPr lang="en-US" sz="2100" dirty="0"/>
              <a:t>Memory management</a:t>
            </a:r>
          </a:p>
        </p:txBody>
      </p:sp>
      <p:sp>
        <p:nvSpPr>
          <p:cNvPr id="8" name="TextBox 7">
            <a:extLst>
              <a:ext uri="{FF2B5EF4-FFF2-40B4-BE49-F238E27FC236}">
                <a16:creationId xmlns:a16="http://schemas.microsoft.com/office/drawing/2014/main" id="{7026B318-0276-D407-BE2C-5323F61FBA41}"/>
              </a:ext>
            </a:extLst>
          </p:cNvPr>
          <p:cNvSpPr txBox="1"/>
          <p:nvPr/>
        </p:nvSpPr>
        <p:spPr>
          <a:xfrm>
            <a:off x="5772459" y="2514483"/>
            <a:ext cx="1869314" cy="738664"/>
          </a:xfrm>
          <a:prstGeom prst="rect">
            <a:avLst/>
          </a:prstGeom>
          <a:noFill/>
        </p:spPr>
        <p:txBody>
          <a:bodyPr wrap="square" rtlCol="0">
            <a:spAutoFit/>
          </a:bodyPr>
          <a:lstStyle/>
          <a:p>
            <a:pPr algn="ctr"/>
            <a:r>
              <a:rPr lang="en-US" sz="2100" dirty="0"/>
              <a:t>Filesystem management</a:t>
            </a:r>
          </a:p>
        </p:txBody>
      </p:sp>
      <p:cxnSp>
        <p:nvCxnSpPr>
          <p:cNvPr id="10" name="Straight Arrow Connector 9">
            <a:extLst>
              <a:ext uri="{FF2B5EF4-FFF2-40B4-BE49-F238E27FC236}">
                <a16:creationId xmlns:a16="http://schemas.microsoft.com/office/drawing/2014/main" id="{F8E28BDE-592A-9B76-0302-3CDC54E9D09C}"/>
              </a:ext>
            </a:extLst>
          </p:cNvPr>
          <p:cNvCxnSpPr>
            <a:cxnSpLocks/>
            <a:stCxn id="5" idx="2"/>
            <a:endCxn id="6" idx="0"/>
          </p:cNvCxnSpPr>
          <p:nvPr/>
        </p:nvCxnSpPr>
        <p:spPr bwMode="auto">
          <a:xfrm flipH="1">
            <a:off x="2531839" y="2201194"/>
            <a:ext cx="2120014" cy="298628"/>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1" name="Straight Arrow Connector 10">
            <a:extLst>
              <a:ext uri="{FF2B5EF4-FFF2-40B4-BE49-F238E27FC236}">
                <a16:creationId xmlns:a16="http://schemas.microsoft.com/office/drawing/2014/main" id="{FDE19395-CD15-FACE-5D91-BCF380D788CE}"/>
              </a:ext>
            </a:extLst>
          </p:cNvPr>
          <p:cNvCxnSpPr>
            <a:cxnSpLocks/>
            <a:stCxn id="5" idx="2"/>
            <a:endCxn id="8" idx="0"/>
          </p:cNvCxnSpPr>
          <p:nvPr/>
        </p:nvCxnSpPr>
        <p:spPr bwMode="auto">
          <a:xfrm>
            <a:off x="4651854" y="2201195"/>
            <a:ext cx="2055263" cy="31328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F5F8C69-32F4-BD16-93F7-BD56CF2CBACC}"/>
              </a:ext>
            </a:extLst>
          </p:cNvPr>
          <p:cNvCxnSpPr>
            <a:cxnSpLocks/>
            <a:stCxn id="5" idx="2"/>
            <a:endCxn id="7" idx="0"/>
          </p:cNvCxnSpPr>
          <p:nvPr/>
        </p:nvCxnSpPr>
        <p:spPr bwMode="auto">
          <a:xfrm>
            <a:off x="4651853" y="2201195"/>
            <a:ext cx="2364" cy="316075"/>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0" name="TextBox 19">
            <a:extLst>
              <a:ext uri="{FF2B5EF4-FFF2-40B4-BE49-F238E27FC236}">
                <a16:creationId xmlns:a16="http://schemas.microsoft.com/office/drawing/2014/main" id="{712DE5A6-DBDF-51BE-DB3A-6FC80529063D}"/>
              </a:ext>
            </a:extLst>
          </p:cNvPr>
          <p:cNvSpPr txBox="1"/>
          <p:nvPr/>
        </p:nvSpPr>
        <p:spPr>
          <a:xfrm>
            <a:off x="2014538" y="4778071"/>
            <a:ext cx="2474478" cy="415498"/>
          </a:xfrm>
          <a:prstGeom prst="rect">
            <a:avLst/>
          </a:prstGeom>
          <a:noFill/>
          <a:ln>
            <a:solidFill>
              <a:schemeClr val="tx1"/>
            </a:solidFill>
          </a:ln>
        </p:spPr>
        <p:txBody>
          <a:bodyPr wrap="square" rtlCol="0">
            <a:spAutoFit/>
          </a:bodyPr>
          <a:lstStyle/>
          <a:p>
            <a:pPr marL="257175" indent="-257175">
              <a:buFontTx/>
              <a:buChar char="-"/>
            </a:pPr>
            <a:r>
              <a:rPr lang="en-US" sz="1050" i="1" dirty="0"/>
              <a:t>Synchronization (L4-5)</a:t>
            </a:r>
          </a:p>
          <a:p>
            <a:pPr marL="257175" indent="-257175">
              <a:buFontTx/>
              <a:buChar char="-"/>
            </a:pPr>
            <a:r>
              <a:rPr lang="en-US" sz="1050" i="1" dirty="0"/>
              <a:t>Deadlocks (L6)</a:t>
            </a:r>
          </a:p>
        </p:txBody>
      </p:sp>
      <p:sp>
        <p:nvSpPr>
          <p:cNvPr id="22" name="TextBox 21">
            <a:extLst>
              <a:ext uri="{FF2B5EF4-FFF2-40B4-BE49-F238E27FC236}">
                <a16:creationId xmlns:a16="http://schemas.microsoft.com/office/drawing/2014/main" id="{7A2D67A4-22D5-2C0F-632D-A2011031AC69}"/>
              </a:ext>
            </a:extLst>
          </p:cNvPr>
          <p:cNvSpPr txBox="1"/>
          <p:nvPr/>
        </p:nvSpPr>
        <p:spPr>
          <a:xfrm>
            <a:off x="4900614" y="4881945"/>
            <a:ext cx="2662955" cy="253916"/>
          </a:xfrm>
          <a:prstGeom prst="rect">
            <a:avLst/>
          </a:prstGeom>
          <a:noFill/>
          <a:ln>
            <a:solidFill>
              <a:schemeClr val="tx1"/>
            </a:solidFill>
          </a:ln>
        </p:spPr>
        <p:txBody>
          <a:bodyPr wrap="square" rtlCol="0">
            <a:spAutoFit/>
          </a:bodyPr>
          <a:lstStyle/>
          <a:p>
            <a:pPr algn="ctr"/>
            <a:r>
              <a:rPr lang="en-US" sz="1050" i="1" dirty="0"/>
              <a:t>I/O &amp; disk (L12)</a:t>
            </a:r>
          </a:p>
        </p:txBody>
      </p:sp>
      <p:cxnSp>
        <p:nvCxnSpPr>
          <p:cNvPr id="24" name="Straight Arrow Connector 23">
            <a:extLst>
              <a:ext uri="{FF2B5EF4-FFF2-40B4-BE49-F238E27FC236}">
                <a16:creationId xmlns:a16="http://schemas.microsoft.com/office/drawing/2014/main" id="{E26D7182-418D-1A8C-CA35-2C4EACD615A6}"/>
              </a:ext>
            </a:extLst>
          </p:cNvPr>
          <p:cNvCxnSpPr>
            <a:cxnSpLocks/>
            <a:stCxn id="6" idx="2"/>
            <a:endCxn id="19" idx="0"/>
          </p:cNvCxnSpPr>
          <p:nvPr/>
        </p:nvCxnSpPr>
        <p:spPr bwMode="auto">
          <a:xfrm flipH="1">
            <a:off x="2455591" y="3238487"/>
            <a:ext cx="76248" cy="312291"/>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06D2220-1B46-51FF-93B7-FEB0BDD1F037}"/>
              </a:ext>
            </a:extLst>
          </p:cNvPr>
          <p:cNvCxnSpPr>
            <a:cxnSpLocks/>
            <a:stCxn id="7" idx="2"/>
            <a:endCxn id="21" idx="0"/>
          </p:cNvCxnSpPr>
          <p:nvPr/>
        </p:nvCxnSpPr>
        <p:spPr bwMode="auto">
          <a:xfrm flipH="1">
            <a:off x="4649701" y="3255933"/>
            <a:ext cx="4516" cy="284354"/>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0" name="Straight Arrow Connector 29">
            <a:extLst>
              <a:ext uri="{FF2B5EF4-FFF2-40B4-BE49-F238E27FC236}">
                <a16:creationId xmlns:a16="http://schemas.microsoft.com/office/drawing/2014/main" id="{9CFAA15E-7F5B-D6D8-3A81-99F3D2AA0269}"/>
              </a:ext>
            </a:extLst>
          </p:cNvPr>
          <p:cNvCxnSpPr>
            <a:cxnSpLocks/>
            <a:stCxn id="8" idx="2"/>
            <a:endCxn id="23" idx="0"/>
          </p:cNvCxnSpPr>
          <p:nvPr/>
        </p:nvCxnSpPr>
        <p:spPr bwMode="auto">
          <a:xfrm>
            <a:off x="6707117" y="3253147"/>
            <a:ext cx="81501" cy="39115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33" name="Straight Arrow Connector 32">
            <a:extLst>
              <a:ext uri="{FF2B5EF4-FFF2-40B4-BE49-F238E27FC236}">
                <a16:creationId xmlns:a16="http://schemas.microsoft.com/office/drawing/2014/main" id="{9958DD35-66CB-1CDC-983C-BA2E67A9DC7F}"/>
              </a:ext>
            </a:extLst>
          </p:cNvPr>
          <p:cNvCxnSpPr>
            <a:cxnSpLocks/>
            <a:stCxn id="6" idx="2"/>
          </p:cNvCxnSpPr>
          <p:nvPr/>
        </p:nvCxnSpPr>
        <p:spPr bwMode="auto">
          <a:xfrm>
            <a:off x="2531840" y="3238486"/>
            <a:ext cx="587649" cy="1404756"/>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19" name="TextBox 18">
            <a:extLst>
              <a:ext uri="{FF2B5EF4-FFF2-40B4-BE49-F238E27FC236}">
                <a16:creationId xmlns:a16="http://schemas.microsoft.com/office/drawing/2014/main" id="{FB5EA5D8-7888-BD95-FFE7-60608354B022}"/>
              </a:ext>
            </a:extLst>
          </p:cNvPr>
          <p:cNvSpPr txBox="1"/>
          <p:nvPr/>
        </p:nvSpPr>
        <p:spPr>
          <a:xfrm>
            <a:off x="1522891" y="3550777"/>
            <a:ext cx="1865400" cy="415498"/>
          </a:xfrm>
          <a:prstGeom prst="rect">
            <a:avLst/>
          </a:prstGeom>
          <a:solidFill>
            <a:srgbClr val="FFFFFF">
              <a:alpha val="77647"/>
            </a:srgbClr>
          </a:solidFill>
          <a:ln>
            <a:solidFill>
              <a:schemeClr val="tx1"/>
            </a:solidFill>
          </a:ln>
        </p:spPr>
        <p:txBody>
          <a:bodyPr wrap="square" rtlCol="0">
            <a:spAutoFit/>
          </a:bodyPr>
          <a:lstStyle/>
          <a:p>
            <a:pPr marL="257175" indent="-257175">
              <a:buFontTx/>
              <a:buChar char="-"/>
            </a:pPr>
            <a:r>
              <a:rPr lang="en-US" sz="1050" i="1" dirty="0"/>
              <a:t>Processes (L2)</a:t>
            </a:r>
          </a:p>
          <a:p>
            <a:pPr marL="257175" indent="-257175">
              <a:buFontTx/>
              <a:buChar char="-"/>
            </a:pPr>
            <a:r>
              <a:rPr lang="en-US" sz="1050" i="1" dirty="0"/>
              <a:t>Scheduling (L3)</a:t>
            </a:r>
          </a:p>
        </p:txBody>
      </p:sp>
      <p:cxnSp>
        <p:nvCxnSpPr>
          <p:cNvPr id="37" name="Straight Arrow Connector 36">
            <a:extLst>
              <a:ext uri="{FF2B5EF4-FFF2-40B4-BE49-F238E27FC236}">
                <a16:creationId xmlns:a16="http://schemas.microsoft.com/office/drawing/2014/main" id="{661EAEBD-F3E4-1FBA-78D2-8582F33AA6EB}"/>
              </a:ext>
            </a:extLst>
          </p:cNvPr>
          <p:cNvCxnSpPr>
            <a:cxnSpLocks/>
            <a:stCxn id="7" idx="2"/>
          </p:cNvCxnSpPr>
          <p:nvPr/>
        </p:nvCxnSpPr>
        <p:spPr bwMode="auto">
          <a:xfrm flipH="1">
            <a:off x="3329885" y="3255934"/>
            <a:ext cx="1324333" cy="1387309"/>
          </a:xfrm>
          <a:prstGeom prst="straightConnector1">
            <a:avLst/>
          </a:prstGeom>
          <a:solidFill>
            <a:schemeClr val="bg1"/>
          </a:solidFill>
          <a:ln w="28575" cap="flat" cmpd="sng" algn="ctr">
            <a:solidFill>
              <a:schemeClr val="tx1"/>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12F746E9-2FFA-042B-E36D-854D03D7AE4F}"/>
              </a:ext>
            </a:extLst>
          </p:cNvPr>
          <p:cNvCxnSpPr>
            <a:cxnSpLocks/>
            <a:stCxn id="8" idx="2"/>
          </p:cNvCxnSpPr>
          <p:nvPr/>
        </p:nvCxnSpPr>
        <p:spPr bwMode="auto">
          <a:xfrm flipH="1">
            <a:off x="6227312" y="3253147"/>
            <a:ext cx="479805" cy="1524924"/>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3" name="TextBox 22">
            <a:extLst>
              <a:ext uri="{FF2B5EF4-FFF2-40B4-BE49-F238E27FC236}">
                <a16:creationId xmlns:a16="http://schemas.microsoft.com/office/drawing/2014/main" id="{8DF748DE-F3BD-1F2A-F532-C6421E95CAA8}"/>
              </a:ext>
            </a:extLst>
          </p:cNvPr>
          <p:cNvSpPr txBox="1"/>
          <p:nvPr/>
        </p:nvSpPr>
        <p:spPr>
          <a:xfrm>
            <a:off x="6031281" y="3644303"/>
            <a:ext cx="1514673" cy="253916"/>
          </a:xfrm>
          <a:prstGeom prst="rect">
            <a:avLst/>
          </a:prstGeom>
          <a:solidFill>
            <a:srgbClr val="FFFFFF">
              <a:alpha val="77647"/>
            </a:srgbClr>
          </a:solidFill>
          <a:ln>
            <a:solidFill>
              <a:schemeClr val="tx1"/>
            </a:solidFill>
          </a:ln>
        </p:spPr>
        <p:txBody>
          <a:bodyPr wrap="square" rtlCol="0">
            <a:spAutoFit/>
          </a:bodyPr>
          <a:lstStyle/>
          <a:p>
            <a:pPr algn="ctr"/>
            <a:r>
              <a:rPr lang="en-US" sz="1050" i="1" dirty="0"/>
              <a:t>Filesystems (L11) </a:t>
            </a:r>
          </a:p>
        </p:txBody>
      </p:sp>
      <p:cxnSp>
        <p:nvCxnSpPr>
          <p:cNvPr id="46" name="Straight Arrow Connector 45">
            <a:extLst>
              <a:ext uri="{FF2B5EF4-FFF2-40B4-BE49-F238E27FC236}">
                <a16:creationId xmlns:a16="http://schemas.microsoft.com/office/drawing/2014/main" id="{EB7CD25E-AD72-4834-0D85-402FD2876148}"/>
              </a:ext>
            </a:extLst>
          </p:cNvPr>
          <p:cNvCxnSpPr>
            <a:cxnSpLocks/>
            <a:stCxn id="6" idx="2"/>
          </p:cNvCxnSpPr>
          <p:nvPr/>
        </p:nvCxnSpPr>
        <p:spPr bwMode="auto">
          <a:xfrm>
            <a:off x="2531839" y="3238487"/>
            <a:ext cx="3626774" cy="1539585"/>
          </a:xfrm>
          <a:prstGeom prst="straightConnector1">
            <a:avLst/>
          </a:prstGeom>
          <a:solidFill>
            <a:schemeClr val="bg1"/>
          </a:solidFill>
          <a:ln w="28575" cap="flat" cmpd="sng" algn="ctr">
            <a:solidFill>
              <a:schemeClr val="tx1"/>
            </a:solidFill>
            <a:prstDash val="solid"/>
            <a:round/>
            <a:headEnd type="none" w="med" len="med"/>
            <a:tailEnd type="triangle"/>
          </a:ln>
          <a:effectLst/>
        </p:spPr>
      </p:cxnSp>
      <p:sp>
        <p:nvSpPr>
          <p:cNvPr id="21" name="TextBox 20">
            <a:extLst>
              <a:ext uri="{FF2B5EF4-FFF2-40B4-BE49-F238E27FC236}">
                <a16:creationId xmlns:a16="http://schemas.microsoft.com/office/drawing/2014/main" id="{CDA502AC-AB7B-E936-0F17-B35C2FF86E07}"/>
              </a:ext>
            </a:extLst>
          </p:cNvPr>
          <p:cNvSpPr txBox="1"/>
          <p:nvPr/>
        </p:nvSpPr>
        <p:spPr>
          <a:xfrm>
            <a:off x="3468536" y="3540287"/>
            <a:ext cx="2362331" cy="415498"/>
          </a:xfrm>
          <a:prstGeom prst="rect">
            <a:avLst/>
          </a:prstGeom>
          <a:solidFill>
            <a:srgbClr val="FFFFFF">
              <a:alpha val="77647"/>
            </a:srgbClr>
          </a:solidFill>
          <a:ln>
            <a:solidFill>
              <a:schemeClr val="tx1"/>
            </a:solidFill>
          </a:ln>
        </p:spPr>
        <p:txBody>
          <a:bodyPr wrap="square" rtlCol="0">
            <a:spAutoFit/>
          </a:bodyPr>
          <a:lstStyle/>
          <a:p>
            <a:pPr marL="257175" indent="-257175">
              <a:buFontTx/>
              <a:buChar char="-"/>
            </a:pPr>
            <a:r>
              <a:rPr lang="en-US" sz="1050" i="1" dirty="0"/>
              <a:t>Memory organization (L8)</a:t>
            </a:r>
          </a:p>
          <a:p>
            <a:pPr marL="257175" indent="-257175">
              <a:buFontTx/>
              <a:buChar char="-"/>
            </a:pPr>
            <a:r>
              <a:rPr lang="en-US" sz="1050" i="1" dirty="0"/>
              <a:t>Virtual memory (L9-10)</a:t>
            </a:r>
          </a:p>
        </p:txBody>
      </p:sp>
      <p:sp>
        <p:nvSpPr>
          <p:cNvPr id="50" name="TextBox 49">
            <a:extLst>
              <a:ext uri="{FF2B5EF4-FFF2-40B4-BE49-F238E27FC236}">
                <a16:creationId xmlns:a16="http://schemas.microsoft.com/office/drawing/2014/main" id="{20C2B103-1BEA-0854-1B6D-4C522BA63A93}"/>
              </a:ext>
            </a:extLst>
          </p:cNvPr>
          <p:cNvSpPr txBox="1"/>
          <p:nvPr/>
        </p:nvSpPr>
        <p:spPr>
          <a:xfrm>
            <a:off x="3085514" y="5382117"/>
            <a:ext cx="3128375" cy="253916"/>
          </a:xfrm>
          <a:prstGeom prst="rect">
            <a:avLst/>
          </a:prstGeom>
          <a:noFill/>
          <a:ln>
            <a:solidFill>
              <a:schemeClr val="tx1"/>
            </a:solidFill>
          </a:ln>
        </p:spPr>
        <p:txBody>
          <a:bodyPr wrap="square" rtlCol="0">
            <a:spAutoFit/>
          </a:bodyPr>
          <a:lstStyle/>
          <a:p>
            <a:pPr algn="ctr"/>
            <a:r>
              <a:rPr lang="en-US" sz="1050" b="1" i="1" dirty="0">
                <a:solidFill>
                  <a:srgbClr val="FF0000"/>
                </a:solidFill>
              </a:rPr>
              <a:t>Special: Real-time OS &amp; virtualization (L7)</a:t>
            </a:r>
          </a:p>
        </p:txBody>
      </p:sp>
    </p:spTree>
    <p:extLst>
      <p:ext uri="{BB962C8B-B14F-4D97-AF65-F5344CB8AC3E}">
        <p14:creationId xmlns:p14="http://schemas.microsoft.com/office/powerpoint/2010/main" val="172071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9D50BD3-0679-73D1-84B9-04CB5BC08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F8C0D3-1F87-6D27-9AA6-AC2B775229F6}"/>
              </a:ext>
            </a:extLst>
          </p:cNvPr>
          <p:cNvSpPr>
            <a:spLocks noGrp="1"/>
          </p:cNvSpPr>
          <p:nvPr>
            <p:ph type="title"/>
          </p:nvPr>
        </p:nvSpPr>
        <p:spPr/>
        <p:txBody>
          <a:bodyPr/>
          <a:lstStyle/>
          <a:p>
            <a:r>
              <a:rPr lang="en-US" dirty="0"/>
              <a:t>Concepts &amp; Questions</a:t>
            </a:r>
          </a:p>
        </p:txBody>
      </p:sp>
      <p:sp>
        <p:nvSpPr>
          <p:cNvPr id="4" name="Footer Placeholder 3">
            <a:extLst>
              <a:ext uri="{FF2B5EF4-FFF2-40B4-BE49-F238E27FC236}">
                <a16:creationId xmlns:a16="http://schemas.microsoft.com/office/drawing/2014/main" id="{E3DE43AF-4F0C-C14F-1095-1D6BF0BBD080}"/>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F291E972-7E0C-6560-FD96-5DECF25783FD}"/>
                  </a:ext>
                </a:extLst>
              </p:cNvPr>
              <p:cNvGraphicFramePr>
                <a:graphicFrameLocks noGrp="1"/>
              </p:cNvGraphicFramePr>
              <p:nvPr/>
            </p:nvGraphicFramePr>
            <p:xfrm>
              <a:off x="0" y="1209673"/>
              <a:ext cx="9144000" cy="475798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Add-in 6">
                <a:extLst>
                  <a:ext uri="{FF2B5EF4-FFF2-40B4-BE49-F238E27FC236}">
                    <a16:creationId xmlns:a16="http://schemas.microsoft.com/office/drawing/2014/main" id="{F291E972-7E0C-6560-FD96-5DECF25783FD}"/>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0" y="1209673"/>
                <a:ext cx="9144000" cy="4757980"/>
              </a:xfrm>
              <a:prstGeom prst="rect">
                <a:avLst/>
              </a:prstGeom>
            </p:spPr>
          </p:pic>
        </mc:Fallback>
      </mc:AlternateContent>
    </p:spTree>
    <p:extLst>
      <p:ext uri="{BB962C8B-B14F-4D97-AF65-F5344CB8AC3E}">
        <p14:creationId xmlns:p14="http://schemas.microsoft.com/office/powerpoint/2010/main" val="2266526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A977-2B09-205E-A8F4-68877B952103}"/>
              </a:ext>
            </a:extLst>
          </p:cNvPr>
          <p:cNvSpPr>
            <a:spLocks noGrp="1"/>
          </p:cNvSpPr>
          <p:nvPr>
            <p:ph type="title"/>
          </p:nvPr>
        </p:nvSpPr>
        <p:spPr/>
        <p:txBody>
          <a:bodyPr/>
          <a:lstStyle/>
          <a:p>
            <a:r>
              <a:rPr lang="en-US" dirty="0"/>
              <a:t>Concepts &amp; Questions</a:t>
            </a:r>
          </a:p>
        </p:txBody>
      </p:sp>
      <p:sp>
        <p:nvSpPr>
          <p:cNvPr id="4" name="Footer Placeholder 3">
            <a:extLst>
              <a:ext uri="{FF2B5EF4-FFF2-40B4-BE49-F238E27FC236}">
                <a16:creationId xmlns:a16="http://schemas.microsoft.com/office/drawing/2014/main" id="{851D5C95-9E62-3628-CC50-3D5FCBDF104E}"/>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CF3D7829-748C-CAE3-3C82-A9D063888E1E}"/>
                  </a:ext>
                </a:extLst>
              </p:cNvPr>
              <p:cNvGraphicFramePr>
                <a:graphicFrameLocks noGrp="1"/>
              </p:cNvGraphicFramePr>
              <p:nvPr>
                <p:extLst>
                  <p:ext uri="{D42A27DB-BD31-4B8C-83A1-F6EECF244321}">
                    <p14:modId xmlns:p14="http://schemas.microsoft.com/office/powerpoint/2010/main" val="3868064217"/>
                  </p:ext>
                </p:extLst>
              </p:nvPr>
            </p:nvGraphicFramePr>
            <p:xfrm>
              <a:off x="0" y="1209673"/>
              <a:ext cx="9144000" cy="475798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Add-in 6">
                <a:extLst>
                  <a:ext uri="{FF2B5EF4-FFF2-40B4-BE49-F238E27FC236}">
                    <a16:creationId xmlns:a16="http://schemas.microsoft.com/office/drawing/2014/main" id="{CF3D7829-748C-CAE3-3C82-A9D063888E1E}"/>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0" y="1209673"/>
                <a:ext cx="9144000" cy="4757980"/>
              </a:xfrm>
              <a:prstGeom prst="rect">
                <a:avLst/>
              </a:prstGeom>
            </p:spPr>
          </p:pic>
        </mc:Fallback>
      </mc:AlternateContent>
    </p:spTree>
    <p:extLst>
      <p:ext uri="{BB962C8B-B14F-4D97-AF65-F5344CB8AC3E}">
        <p14:creationId xmlns:p14="http://schemas.microsoft.com/office/powerpoint/2010/main" val="2211262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6506F25-EAD6-7228-F3DC-C7C79B3276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D4A748-4E34-3C95-7101-F9EA15DB3FB4}"/>
              </a:ext>
            </a:extLst>
          </p:cNvPr>
          <p:cNvSpPr>
            <a:spLocks noGrp="1"/>
          </p:cNvSpPr>
          <p:nvPr>
            <p:ph type="title"/>
          </p:nvPr>
        </p:nvSpPr>
        <p:spPr/>
        <p:txBody>
          <a:bodyPr/>
          <a:lstStyle/>
          <a:p>
            <a:r>
              <a:rPr lang="en-US" dirty="0"/>
              <a:t>Concepts &amp; Questions</a:t>
            </a:r>
          </a:p>
        </p:txBody>
      </p:sp>
      <p:sp>
        <p:nvSpPr>
          <p:cNvPr id="4" name="Footer Placeholder 3">
            <a:extLst>
              <a:ext uri="{FF2B5EF4-FFF2-40B4-BE49-F238E27FC236}">
                <a16:creationId xmlns:a16="http://schemas.microsoft.com/office/drawing/2014/main" id="{9677D251-FBC3-84E0-6482-AEFC09080D35}"/>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6B4D51BC-70A9-AFB3-CB07-DB016A2F0C20}"/>
                  </a:ext>
                </a:extLst>
              </p:cNvPr>
              <p:cNvGraphicFramePr>
                <a:graphicFrameLocks noGrp="1"/>
              </p:cNvGraphicFramePr>
              <p:nvPr/>
            </p:nvGraphicFramePr>
            <p:xfrm>
              <a:off x="0" y="1209673"/>
              <a:ext cx="9144000" cy="475798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7" name="Add-in 6">
                <a:extLst>
                  <a:ext uri="{FF2B5EF4-FFF2-40B4-BE49-F238E27FC236}">
                    <a16:creationId xmlns:a16="http://schemas.microsoft.com/office/drawing/2014/main" id="{6B4D51BC-70A9-AFB3-CB07-DB016A2F0C20}"/>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0" y="1209673"/>
                <a:ext cx="9144000" cy="4757980"/>
              </a:xfrm>
              <a:prstGeom prst="rect">
                <a:avLst/>
              </a:prstGeom>
            </p:spPr>
          </p:pic>
        </mc:Fallback>
      </mc:AlternateContent>
    </p:spTree>
    <p:extLst>
      <p:ext uri="{BB962C8B-B14F-4D97-AF65-F5344CB8AC3E}">
        <p14:creationId xmlns:p14="http://schemas.microsoft.com/office/powerpoint/2010/main" val="3228916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69AC5585-0885-4B44-96D6-B34E7745B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EBBB09CD-D3E6-4E6F-A7F3-E9470C3AF080}"/>
              </a:ext>
            </a:extLst>
          </p:cNvPr>
          <p:cNvSpPr>
            <a:spLocks noGrp="1" noChangeArrowheads="1"/>
          </p:cNvSpPr>
          <p:nvPr>
            <p:ph type="title"/>
          </p:nvPr>
        </p:nvSpPr>
        <p:spPr/>
        <p:txBody>
          <a:bodyPr/>
          <a:lstStyle/>
          <a:p>
            <a:r>
              <a:rPr lang="en-US" altLang="en-US"/>
              <a:t>Part 6: Real-Time OS &amp; Virtualization</a:t>
            </a:r>
          </a:p>
        </p:txBody>
      </p:sp>
      <p:sp>
        <p:nvSpPr>
          <p:cNvPr id="15363" name="Rectangle 3">
            <a:extLst>
              <a:ext uri="{FF2B5EF4-FFF2-40B4-BE49-F238E27FC236}">
                <a16:creationId xmlns:a16="http://schemas.microsoft.com/office/drawing/2014/main" id="{5D2A2987-961C-49DA-8FC7-96ED0A735442}"/>
              </a:ext>
            </a:extLst>
          </p:cNvPr>
          <p:cNvSpPr>
            <a:spLocks noGrp="1" noChangeArrowheads="1"/>
          </p:cNvSpPr>
          <p:nvPr>
            <p:ph type="body" idx="1"/>
          </p:nvPr>
        </p:nvSpPr>
        <p:spPr>
          <a:xfrm>
            <a:off x="1047750" y="1371600"/>
            <a:ext cx="7029450" cy="4484688"/>
          </a:xfrm>
        </p:spPr>
        <p:txBody>
          <a:bodyPr/>
          <a:lstStyle/>
          <a:p>
            <a:r>
              <a:rPr lang="en-US" altLang="en-US" sz="2800" b="1"/>
              <a:t>What is a Real-Time OS (RTOS)?</a:t>
            </a:r>
          </a:p>
          <a:p>
            <a:r>
              <a:rPr lang="en-US" altLang="en-US" sz="2800"/>
              <a:t>Real-Time Process Specification</a:t>
            </a:r>
          </a:p>
          <a:p>
            <a:r>
              <a:rPr lang="en-US" altLang="en-US" sz="2800"/>
              <a:t>Real-Time CPU Scheduling</a:t>
            </a:r>
          </a:p>
          <a:p>
            <a:r>
              <a:rPr lang="en-US" altLang="en-US" sz="2800"/>
              <a:t>Virtualization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ECD22A1B-BF26-4192-9078-E04195E91B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829DD57C-31F0-46ED-9ED2-79A8C2FDDC17}"/>
              </a:ext>
            </a:extLst>
          </p:cNvPr>
          <p:cNvSpPr>
            <a:spLocks noGrp="1" noChangeArrowheads="1"/>
          </p:cNvSpPr>
          <p:nvPr>
            <p:ph type="title"/>
          </p:nvPr>
        </p:nvSpPr>
        <p:spPr/>
        <p:txBody>
          <a:bodyPr/>
          <a:lstStyle/>
          <a:p>
            <a:r>
              <a:rPr lang="en-US" altLang="en-US"/>
              <a:t>Cyber-Physical Systems</a:t>
            </a:r>
          </a:p>
        </p:txBody>
      </p:sp>
      <p:sp>
        <p:nvSpPr>
          <p:cNvPr id="3076" name="Rectangle 3">
            <a:extLst>
              <a:ext uri="{FF2B5EF4-FFF2-40B4-BE49-F238E27FC236}">
                <a16:creationId xmlns:a16="http://schemas.microsoft.com/office/drawing/2014/main" id="{55517EF8-D863-4403-BE01-376B9F03F603}"/>
              </a:ext>
            </a:extLst>
          </p:cNvPr>
          <p:cNvSpPr>
            <a:spLocks noGrp="1" noChangeArrowheads="1"/>
          </p:cNvSpPr>
          <p:nvPr>
            <p:ph type="body" idx="1"/>
          </p:nvPr>
        </p:nvSpPr>
        <p:spPr>
          <a:xfrm>
            <a:off x="468313" y="1289050"/>
            <a:ext cx="8335962" cy="1423377"/>
          </a:xfrm>
        </p:spPr>
        <p:txBody>
          <a:bodyPr/>
          <a:lstStyle/>
          <a:p>
            <a:r>
              <a:rPr lang="en-SG" altLang="en-US" sz="2800">
                <a:solidFill>
                  <a:schemeClr val="accent2"/>
                </a:solidFill>
              </a:rPr>
              <a:t>Physical/Engineered systems whose operations are monitored, coordinated and controlled by a reliable computing and communication core</a:t>
            </a:r>
          </a:p>
          <a:p>
            <a:pPr lvl="1"/>
            <a:r>
              <a:rPr lang="en-SG" altLang="en-US" sz="2800"/>
              <a:t>Automotive Systems (Autonomous driving, Parking assist, Airbag controls)</a:t>
            </a:r>
          </a:p>
          <a:p>
            <a:pPr lvl="1"/>
            <a:r>
              <a:rPr lang="en-SG" altLang="en-US" sz="2800"/>
              <a:t>Avionics (Flight navigation &amp; control)</a:t>
            </a:r>
          </a:p>
          <a:p>
            <a:pPr lvl="1"/>
            <a:r>
              <a:rPr lang="en-SG" altLang="en-US" sz="2800"/>
              <a:t>Manufacturing Systems (Robotics, Process controls)</a:t>
            </a:r>
          </a:p>
          <a:p>
            <a:pPr lvl="1"/>
            <a:r>
              <a:rPr lang="en-SG" altLang="en-US" sz="2800"/>
              <a:t>Medical Systems (Robotic surgery, devices)</a:t>
            </a:r>
          </a:p>
          <a:p>
            <a:pPr lvl="1"/>
            <a:r>
              <a:rPr lang="en-SG" altLang="en-US" sz="2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7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7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ECD22A1B-BF26-4192-9078-E04195E91B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829DD57C-31F0-46ED-9ED2-79A8C2FDDC17}"/>
              </a:ext>
            </a:extLst>
          </p:cNvPr>
          <p:cNvSpPr>
            <a:spLocks noGrp="1" noChangeArrowheads="1"/>
          </p:cNvSpPr>
          <p:nvPr>
            <p:ph type="title"/>
          </p:nvPr>
        </p:nvSpPr>
        <p:spPr/>
        <p:txBody>
          <a:bodyPr/>
          <a:lstStyle/>
          <a:p>
            <a:r>
              <a:rPr lang="en-US" altLang="en-US"/>
              <a:t>Relevance of Real-Time</a:t>
            </a:r>
          </a:p>
        </p:txBody>
      </p:sp>
      <p:sp>
        <p:nvSpPr>
          <p:cNvPr id="3076" name="Rectangle 3">
            <a:extLst>
              <a:ext uri="{FF2B5EF4-FFF2-40B4-BE49-F238E27FC236}">
                <a16:creationId xmlns:a16="http://schemas.microsoft.com/office/drawing/2014/main" id="{55517EF8-D863-4403-BE01-376B9F03F603}"/>
              </a:ext>
            </a:extLst>
          </p:cNvPr>
          <p:cNvSpPr>
            <a:spLocks noGrp="1" noChangeArrowheads="1"/>
          </p:cNvSpPr>
          <p:nvPr>
            <p:ph type="body" idx="1"/>
          </p:nvPr>
        </p:nvSpPr>
        <p:spPr>
          <a:xfrm>
            <a:off x="468313" y="1289050"/>
            <a:ext cx="8335962" cy="4581525"/>
          </a:xfrm>
        </p:spPr>
        <p:txBody>
          <a:bodyPr/>
          <a:lstStyle/>
          <a:p>
            <a:r>
              <a:rPr lang="en-SG" altLang="en-US" sz="2800"/>
              <a:t>Common to many application examples we saw in the previous slide:</a:t>
            </a:r>
          </a:p>
          <a:p>
            <a:pPr lvl="1"/>
            <a:r>
              <a:rPr lang="en-SG" altLang="en-US" sz="2800">
                <a:solidFill>
                  <a:srgbClr val="FF0000"/>
                </a:solidFill>
              </a:rPr>
              <a:t>Collect data</a:t>
            </a:r>
            <a:r>
              <a:rPr lang="en-SG" altLang="en-US" sz="2800"/>
              <a:t> from various sensing devices</a:t>
            </a:r>
          </a:p>
          <a:p>
            <a:pPr lvl="1"/>
            <a:r>
              <a:rPr lang="en-SG" altLang="en-US" sz="2800">
                <a:solidFill>
                  <a:srgbClr val="FF0000"/>
                </a:solidFill>
              </a:rPr>
              <a:t>Execute control law(s)</a:t>
            </a:r>
            <a:r>
              <a:rPr lang="en-SG" altLang="en-US" sz="2800"/>
              <a:t> to determine response</a:t>
            </a:r>
          </a:p>
          <a:p>
            <a:pPr lvl="1"/>
            <a:r>
              <a:rPr lang="en-SG" altLang="en-US" sz="2800">
                <a:solidFill>
                  <a:srgbClr val="FF0000"/>
                </a:solidFill>
              </a:rPr>
              <a:t>Send actuator commands</a:t>
            </a:r>
            <a:r>
              <a:rPr lang="en-SG" altLang="en-US" sz="2800"/>
              <a:t> in a </a:t>
            </a:r>
            <a:r>
              <a:rPr lang="en-SG" altLang="en-US" sz="2800" b="1"/>
              <a:t>reasonable amount of time</a:t>
            </a:r>
          </a:p>
        </p:txBody>
      </p:sp>
      <p:pic>
        <p:nvPicPr>
          <p:cNvPr id="3" name="Picture 2" descr="A screenshot of a computer&#10;&#10;Description automatically generated with low confidence">
            <a:extLst>
              <a:ext uri="{FF2B5EF4-FFF2-40B4-BE49-F238E27FC236}">
                <a16:creationId xmlns:a16="http://schemas.microsoft.com/office/drawing/2014/main" id="{0D54D8CE-8817-4AA2-960A-5A04D7CF64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253" y="4724845"/>
            <a:ext cx="3644856" cy="1469333"/>
          </a:xfrm>
          <a:prstGeom prst="rect">
            <a:avLst/>
          </a:prstGeom>
        </p:spPr>
      </p:pic>
      <p:pic>
        <p:nvPicPr>
          <p:cNvPr id="5" name="Picture 4" descr="A picture containing sky, road, car, tarmac&#10;&#10;Description automatically generated">
            <a:extLst>
              <a:ext uri="{FF2B5EF4-FFF2-40B4-BE49-F238E27FC236}">
                <a16:creationId xmlns:a16="http://schemas.microsoft.com/office/drawing/2014/main" id="{58BADEF7-7B2C-4B08-A399-6110E0319F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5386" y="4605249"/>
            <a:ext cx="2900546" cy="1887621"/>
          </a:xfrm>
          <a:prstGeom prst="rect">
            <a:avLst/>
          </a:prstGeom>
        </p:spPr>
      </p:pic>
      <p:sp>
        <p:nvSpPr>
          <p:cNvPr id="6" name="TextBox 5">
            <a:extLst>
              <a:ext uri="{FF2B5EF4-FFF2-40B4-BE49-F238E27FC236}">
                <a16:creationId xmlns:a16="http://schemas.microsoft.com/office/drawing/2014/main" id="{7145B685-4113-4992-963B-8D949D2AB54B}"/>
              </a:ext>
            </a:extLst>
          </p:cNvPr>
          <p:cNvSpPr txBox="1"/>
          <p:nvPr/>
        </p:nvSpPr>
        <p:spPr>
          <a:xfrm>
            <a:off x="5004675" y="4205144"/>
            <a:ext cx="3441968" cy="369332"/>
          </a:xfrm>
          <a:prstGeom prst="rect">
            <a:avLst/>
          </a:prstGeom>
          <a:noFill/>
        </p:spPr>
        <p:txBody>
          <a:bodyPr wrap="none" rtlCol="0">
            <a:spAutoFit/>
          </a:bodyPr>
          <a:lstStyle/>
          <a:p>
            <a:r>
              <a:rPr lang="en-SG"/>
              <a:t>Collision avoidance and braking</a:t>
            </a:r>
          </a:p>
        </p:txBody>
      </p:sp>
      <p:sp>
        <p:nvSpPr>
          <p:cNvPr id="7" name="TextBox 6">
            <a:extLst>
              <a:ext uri="{FF2B5EF4-FFF2-40B4-BE49-F238E27FC236}">
                <a16:creationId xmlns:a16="http://schemas.microsoft.com/office/drawing/2014/main" id="{77E84173-956B-4314-9281-E9D15298DBC8}"/>
              </a:ext>
            </a:extLst>
          </p:cNvPr>
          <p:cNvSpPr txBox="1"/>
          <p:nvPr/>
        </p:nvSpPr>
        <p:spPr>
          <a:xfrm>
            <a:off x="1125177" y="4317023"/>
            <a:ext cx="2929007" cy="369332"/>
          </a:xfrm>
          <a:prstGeom prst="rect">
            <a:avLst/>
          </a:prstGeom>
          <a:noFill/>
        </p:spPr>
        <p:txBody>
          <a:bodyPr wrap="none" rtlCol="0">
            <a:spAutoFit/>
          </a:bodyPr>
          <a:lstStyle/>
          <a:p>
            <a:r>
              <a:rPr lang="en-SG"/>
              <a:t>Pacemaker timing diagram</a:t>
            </a:r>
          </a:p>
        </p:txBody>
      </p:sp>
    </p:spTree>
    <p:extLst>
      <p:ext uri="{BB962C8B-B14F-4D97-AF65-F5344CB8AC3E}">
        <p14:creationId xmlns:p14="http://schemas.microsoft.com/office/powerpoint/2010/main" val="92535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par>
                                <p:cTn id="8" presetID="6" presetClass="entr" presetSubtype="16"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ircle(in)">
                                      <p:cBhvr>
                                        <p:cTn id="10" dur="2000"/>
                                        <p:tgtEl>
                                          <p:spTgt spid="5"/>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ircle(in)">
                                      <p:cBhvr>
                                        <p:cTn id="13" dur="2000"/>
                                        <p:tgtEl>
                                          <p:spTgt spid="6"/>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circle(in)">
                                      <p:cBhvr>
                                        <p:cTn id="16"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ECD22A1B-BF26-4192-9078-E04195E91B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829DD57C-31F0-46ED-9ED2-79A8C2FDDC17}"/>
              </a:ext>
            </a:extLst>
          </p:cNvPr>
          <p:cNvSpPr>
            <a:spLocks noGrp="1" noChangeArrowheads="1"/>
          </p:cNvSpPr>
          <p:nvPr>
            <p:ph type="title"/>
          </p:nvPr>
        </p:nvSpPr>
        <p:spPr/>
        <p:txBody>
          <a:bodyPr/>
          <a:lstStyle/>
          <a:p>
            <a:r>
              <a:rPr lang="en-US" altLang="en-US"/>
              <a:t>What is a Reasonable Time?</a:t>
            </a:r>
          </a:p>
        </p:txBody>
      </p:sp>
      <p:sp>
        <p:nvSpPr>
          <p:cNvPr id="3076" name="Rectangle 3">
            <a:extLst>
              <a:ext uri="{FF2B5EF4-FFF2-40B4-BE49-F238E27FC236}">
                <a16:creationId xmlns:a16="http://schemas.microsoft.com/office/drawing/2014/main" id="{55517EF8-D863-4403-BE01-376B9F03F603}"/>
              </a:ext>
            </a:extLst>
          </p:cNvPr>
          <p:cNvSpPr>
            <a:spLocks noGrp="1" noChangeArrowheads="1"/>
          </p:cNvSpPr>
          <p:nvPr>
            <p:ph type="body" idx="1"/>
          </p:nvPr>
        </p:nvSpPr>
        <p:spPr>
          <a:xfrm>
            <a:off x="468313" y="1289050"/>
            <a:ext cx="8335962" cy="4581525"/>
          </a:xfrm>
        </p:spPr>
        <p:txBody>
          <a:bodyPr/>
          <a:lstStyle/>
          <a:p>
            <a:r>
              <a:rPr lang="en-SG" altLang="en-US" sz="2800">
                <a:solidFill>
                  <a:schemeClr val="accent2"/>
                </a:solidFill>
              </a:rPr>
              <a:t>What is the functionality?</a:t>
            </a:r>
          </a:p>
          <a:p>
            <a:pPr lvl="1"/>
            <a:r>
              <a:rPr lang="en-SG" altLang="en-US" sz="2400"/>
              <a:t>Collision avoidance in automotive (milliseconds)</a:t>
            </a:r>
          </a:p>
          <a:p>
            <a:pPr lvl="1"/>
            <a:r>
              <a:rPr lang="en-SG" altLang="en-US" sz="2400"/>
              <a:t>Pacemaker (up to a second)</a:t>
            </a:r>
          </a:p>
          <a:p>
            <a:pPr lvl="1"/>
            <a:r>
              <a:rPr lang="en-SG" altLang="en-US" sz="2400"/>
              <a:t>Robotic surgery (varies greatly depending on the target)</a:t>
            </a:r>
          </a:p>
          <a:p>
            <a:r>
              <a:rPr lang="en-SG" altLang="en-US" sz="2800">
                <a:solidFill>
                  <a:schemeClr val="accent2"/>
                </a:solidFill>
              </a:rPr>
              <a:t>What are the environment constraints?</a:t>
            </a:r>
          </a:p>
          <a:p>
            <a:pPr lvl="1"/>
            <a:r>
              <a:rPr lang="en-SG" altLang="en-US" sz="2400"/>
              <a:t>Available computing and communication resources</a:t>
            </a:r>
          </a:p>
          <a:p>
            <a:pPr lvl="1"/>
            <a:r>
              <a:rPr lang="en-SG" altLang="en-US" sz="2400"/>
              <a:t>Timing characteristics of sensors/actuators/operations</a:t>
            </a:r>
          </a:p>
          <a:p>
            <a:r>
              <a:rPr lang="en-SG" altLang="en-US" sz="2800">
                <a:solidFill>
                  <a:schemeClr val="accent2"/>
                </a:solidFill>
              </a:rPr>
              <a:t>Failure-mitigation strategies?</a:t>
            </a:r>
          </a:p>
          <a:p>
            <a:pPr lvl="1"/>
            <a:r>
              <a:rPr lang="en-SG" altLang="en-US" sz="2400"/>
              <a:t>Time to detect and recover from failures</a:t>
            </a:r>
          </a:p>
          <a:p>
            <a:pPr lvl="1"/>
            <a:r>
              <a:rPr lang="en-SG" altLang="en-US" sz="2400"/>
              <a:t>Example: execution replication for redundancy </a:t>
            </a:r>
            <a:endParaRPr lang="en-SG" altLang="en-US" sz="2400" b="1"/>
          </a:p>
        </p:txBody>
      </p:sp>
    </p:spTree>
    <p:extLst>
      <p:ext uri="{BB962C8B-B14F-4D97-AF65-F5344CB8AC3E}">
        <p14:creationId xmlns:p14="http://schemas.microsoft.com/office/powerpoint/2010/main" val="841531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076">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76">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076">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07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Footer Placeholder 3">
            <a:extLst>
              <a:ext uri="{FF2B5EF4-FFF2-40B4-BE49-F238E27FC236}">
                <a16:creationId xmlns:a16="http://schemas.microsoft.com/office/drawing/2014/main" id="{ECD22A1B-BF26-4192-9078-E04195E91BB8}"/>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7410" name="Rectangle 2">
            <a:extLst>
              <a:ext uri="{FF2B5EF4-FFF2-40B4-BE49-F238E27FC236}">
                <a16:creationId xmlns:a16="http://schemas.microsoft.com/office/drawing/2014/main" id="{829DD57C-31F0-46ED-9ED2-79A8C2FDDC17}"/>
              </a:ext>
            </a:extLst>
          </p:cNvPr>
          <p:cNvSpPr>
            <a:spLocks noGrp="1" noChangeArrowheads="1"/>
          </p:cNvSpPr>
          <p:nvPr>
            <p:ph type="title"/>
          </p:nvPr>
        </p:nvSpPr>
        <p:spPr/>
        <p:txBody>
          <a:bodyPr/>
          <a:lstStyle/>
          <a:p>
            <a:r>
              <a:rPr lang="en-US" altLang="en-US"/>
              <a:t>Common Misconception</a:t>
            </a:r>
          </a:p>
        </p:txBody>
      </p:sp>
      <p:sp>
        <p:nvSpPr>
          <p:cNvPr id="3076" name="Rectangle 3">
            <a:extLst>
              <a:ext uri="{FF2B5EF4-FFF2-40B4-BE49-F238E27FC236}">
                <a16:creationId xmlns:a16="http://schemas.microsoft.com/office/drawing/2014/main" id="{55517EF8-D863-4403-BE01-376B9F03F603}"/>
              </a:ext>
            </a:extLst>
          </p:cNvPr>
          <p:cNvSpPr>
            <a:spLocks noGrp="1" noChangeArrowheads="1"/>
          </p:cNvSpPr>
          <p:nvPr>
            <p:ph type="body" idx="1"/>
          </p:nvPr>
        </p:nvSpPr>
        <p:spPr>
          <a:xfrm>
            <a:off x="468313" y="1289050"/>
            <a:ext cx="8335962" cy="4581525"/>
          </a:xfrm>
        </p:spPr>
        <p:txBody>
          <a:bodyPr/>
          <a:lstStyle/>
          <a:p>
            <a:r>
              <a:rPr lang="en-SG" altLang="en-US" sz="2800">
                <a:solidFill>
                  <a:srgbClr val="FF0000"/>
                </a:solidFill>
              </a:rPr>
              <a:t>Real-Time ≠ Fast</a:t>
            </a:r>
          </a:p>
          <a:p>
            <a:r>
              <a:rPr lang="en-SG" altLang="en-US" sz="2800">
                <a:solidFill>
                  <a:srgbClr val="FF0000"/>
                </a:solidFill>
              </a:rPr>
              <a:t>Real-Time = Predictable even in the worst-case</a:t>
            </a:r>
          </a:p>
          <a:p>
            <a:endParaRPr lang="en-SG" altLang="en-US" sz="2800">
              <a:solidFill>
                <a:srgbClr val="FF0000"/>
              </a:solidFill>
            </a:endParaRPr>
          </a:p>
          <a:p>
            <a:endParaRPr lang="en-SG" altLang="en-US" sz="2800">
              <a:solidFill>
                <a:srgbClr val="FF0000"/>
              </a:solidFill>
            </a:endParaRPr>
          </a:p>
          <a:p>
            <a:endParaRPr lang="en-SG" altLang="en-US" sz="2800">
              <a:solidFill>
                <a:srgbClr val="FF0000"/>
              </a:solidFill>
            </a:endParaRPr>
          </a:p>
          <a:p>
            <a:pPr marL="0" indent="0">
              <a:buNone/>
            </a:pPr>
            <a:endParaRPr lang="en-SG" altLang="en-US" sz="2800">
              <a:solidFill>
                <a:srgbClr val="FF0000"/>
              </a:solidFill>
            </a:endParaRPr>
          </a:p>
          <a:p>
            <a:pPr marL="0" indent="0">
              <a:buNone/>
            </a:pPr>
            <a:endParaRPr lang="en-SG" altLang="en-US">
              <a:solidFill>
                <a:srgbClr val="FF0000"/>
              </a:solidFill>
            </a:endParaRPr>
          </a:p>
          <a:p>
            <a:pPr marL="0" indent="0" algn="ctr">
              <a:buNone/>
            </a:pPr>
            <a:r>
              <a:rPr lang="en-SG" altLang="en-US" sz="2400"/>
              <a:t>“Man drowned in a river with average depth 20 </a:t>
            </a:r>
            <a:r>
              <a:rPr lang="en-SG" altLang="en-US" sz="2400" err="1"/>
              <a:t>cms</a:t>
            </a:r>
            <a:r>
              <a:rPr lang="en-SG" altLang="en-US" sz="2400"/>
              <a:t>”</a:t>
            </a:r>
          </a:p>
        </p:txBody>
      </p:sp>
      <p:pic>
        <p:nvPicPr>
          <p:cNvPr id="3" name="Picture 2">
            <a:extLst>
              <a:ext uri="{FF2B5EF4-FFF2-40B4-BE49-F238E27FC236}">
                <a16:creationId xmlns:a16="http://schemas.microsoft.com/office/drawing/2014/main" id="{4248C628-8164-43E7-B1CC-62D8761A9F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63885" y="2722686"/>
            <a:ext cx="4508500" cy="2705100"/>
          </a:xfrm>
          <a:prstGeom prst="rect">
            <a:avLst/>
          </a:prstGeom>
        </p:spPr>
      </p:pic>
    </p:spTree>
    <p:extLst>
      <p:ext uri="{BB962C8B-B14F-4D97-AF65-F5344CB8AC3E}">
        <p14:creationId xmlns:p14="http://schemas.microsoft.com/office/powerpoint/2010/main" val="3801787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000"/>
                                        <p:tgtEl>
                                          <p:spTgt spid="3"/>
                                        </p:tgtEl>
                                      </p:cBhvr>
                                    </p:animEffect>
                                  </p:childTnLst>
                                </p:cTn>
                              </p:par>
                            </p:childTnLst>
                          </p:cTn>
                        </p:par>
                        <p:par>
                          <p:cTn id="8" fill="hold">
                            <p:stCondLst>
                              <p:cond delay="2000"/>
                            </p:stCondLst>
                            <p:childTnLst>
                              <p:par>
                                <p:cTn id="9" presetID="1" presetClass="entr" presetSubtype="0" fill="hold" nodeType="afterEffect">
                                  <p:stCondLst>
                                    <p:cond delay="0"/>
                                  </p:stCondLst>
                                  <p:childTnLst>
                                    <p:set>
                                      <p:cBhvr>
                                        <p:cTn id="10" dur="1" fill="hold">
                                          <p:stCondLst>
                                            <p:cond delay="0"/>
                                          </p:stCondLst>
                                        </p:cTn>
                                        <p:tgtEl>
                                          <p:spTgt spid="307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F52BE-D1B2-3609-B65D-65C3735099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C964A5-532E-FA12-0ECF-B90601D8CA82}"/>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B35F7B52-92B7-A040-358A-0869C0A91BBF}"/>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15C62CB6-E660-DCA8-B8A2-CFF8B89BDB46}"/>
                  </a:ext>
                </a:extLst>
              </p:cNvPr>
              <p:cNvGraphicFramePr>
                <a:graphicFrameLocks noGrp="1"/>
              </p:cNvGraphicFramePr>
              <p:nvPr/>
            </p:nvGraphicFramePr>
            <p:xfrm>
              <a:off x="1" y="1445623"/>
              <a:ext cx="9144000" cy="465960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15C62CB6-E660-DCA8-B8A2-CFF8B89BDB46}"/>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1" y="1445623"/>
                <a:ext cx="9144000" cy="4659607"/>
              </a:xfrm>
              <a:prstGeom prst="rect">
                <a:avLst/>
              </a:prstGeom>
            </p:spPr>
          </p:pic>
        </mc:Fallback>
      </mc:AlternateContent>
    </p:spTree>
    <p:extLst>
      <p:ext uri="{BB962C8B-B14F-4D97-AF65-F5344CB8AC3E}">
        <p14:creationId xmlns:p14="http://schemas.microsoft.com/office/powerpoint/2010/main" val="5461183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Real-Time CPS / Real-Time OS</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8313" y="1289050"/>
            <a:ext cx="8335962"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rgbClr val="FF0000"/>
                </a:solidFill>
              </a:rPr>
              <a:t>Definition:</a:t>
            </a:r>
            <a:r>
              <a:rPr lang="en-SG" altLang="en-US" sz="2400" kern="0"/>
              <a:t> </a:t>
            </a:r>
            <a:r>
              <a:rPr lang="en-SG" altLang="en-US" sz="2800" kern="0"/>
              <a:t>System whose correctness depends not only on the </a:t>
            </a:r>
            <a:r>
              <a:rPr lang="en-SG" altLang="en-US" sz="2800" kern="0">
                <a:solidFill>
                  <a:schemeClr val="accent2"/>
                </a:solidFill>
              </a:rPr>
              <a:t>logical/functional aspects</a:t>
            </a:r>
            <a:r>
              <a:rPr lang="en-SG" altLang="en-US" sz="2800" kern="0"/>
              <a:t>, but also on the </a:t>
            </a:r>
            <a:r>
              <a:rPr lang="en-SG" altLang="en-US" sz="2800" kern="0">
                <a:solidFill>
                  <a:schemeClr val="accent2"/>
                </a:solidFill>
              </a:rPr>
              <a:t>temporal aspects</a:t>
            </a:r>
          </a:p>
          <a:p>
            <a:pPr lvl="1"/>
            <a:r>
              <a:rPr lang="en-SG" altLang="en-US" sz="2400" kern="0"/>
              <a:t>Application has deadlines that must be met</a:t>
            </a:r>
          </a:p>
          <a:p>
            <a:pPr lvl="1"/>
            <a:r>
              <a:rPr lang="en-SG" altLang="en-US" sz="2400" b="1" kern="0"/>
              <a:t>A real-time OS (RTOS) provides OS services to such systems (e.g., </a:t>
            </a:r>
            <a:r>
              <a:rPr lang="en-SG" altLang="en-US" sz="2400" b="1" kern="0" err="1"/>
              <a:t>FreeRTOS</a:t>
            </a:r>
            <a:r>
              <a:rPr lang="en-SG" altLang="en-US" sz="2400" b="1" kern="0"/>
              <a:t>, </a:t>
            </a:r>
            <a:r>
              <a:rPr lang="en-SG" altLang="en-US" sz="2400" b="1" kern="0" err="1"/>
              <a:t>MicriumOS</a:t>
            </a:r>
            <a:r>
              <a:rPr lang="en-SG" altLang="en-US" sz="2400" b="1" kern="0"/>
              <a:t>, …)</a:t>
            </a:r>
          </a:p>
          <a:p>
            <a:r>
              <a:rPr lang="en-SG" altLang="en-US" sz="2800" kern="0">
                <a:solidFill>
                  <a:srgbClr val="FF0000"/>
                </a:solidFill>
              </a:rPr>
              <a:t>Key performance measure for RTOS</a:t>
            </a:r>
          </a:p>
          <a:p>
            <a:pPr lvl="1"/>
            <a:r>
              <a:rPr lang="en-SG" altLang="en-US" sz="2400" kern="0"/>
              <a:t>Timeliness/Predictability on timing constraints (</a:t>
            </a:r>
            <a:r>
              <a:rPr lang="en-SG" altLang="en-US" sz="2400" kern="0">
                <a:solidFill>
                  <a:schemeClr val="accent2"/>
                </a:solidFill>
              </a:rPr>
              <a:t>deadlines</a:t>
            </a:r>
            <a:r>
              <a:rPr lang="en-SG" altLang="en-US" sz="2400" kern="0"/>
              <a:t>)</a:t>
            </a:r>
          </a:p>
          <a:p>
            <a:pPr lvl="1"/>
            <a:r>
              <a:rPr lang="en-SG" altLang="en-US" sz="2400" kern="0"/>
              <a:t>Significance of </a:t>
            </a:r>
            <a:r>
              <a:rPr lang="en-SG" altLang="en-US" sz="2400" kern="0">
                <a:solidFill>
                  <a:schemeClr val="accent2"/>
                </a:solidFill>
              </a:rPr>
              <a:t>worst-case</a:t>
            </a:r>
            <a:r>
              <a:rPr lang="en-SG" altLang="en-US" sz="2400" kern="0"/>
              <a:t> over average-case</a:t>
            </a:r>
          </a:p>
          <a:p>
            <a:pPr lvl="1"/>
            <a:r>
              <a:rPr lang="en-SG" altLang="en-US" sz="2400" kern="0"/>
              <a:t>Deadlines are a function of application requirements</a:t>
            </a:r>
          </a:p>
        </p:txBody>
      </p:sp>
    </p:spTree>
    <p:extLst>
      <p:ext uri="{BB962C8B-B14F-4D97-AF65-F5344CB8AC3E}">
        <p14:creationId xmlns:p14="http://schemas.microsoft.com/office/powerpoint/2010/main" val="33376869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A123F-EF0C-B9BA-1D06-5F77F003E234}"/>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F00F6D12-EA02-4282-23E8-EF91C46CAAF3}"/>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D2406C9E-98F2-0E69-30D0-126F1C779298}"/>
                  </a:ext>
                </a:extLst>
              </p:cNvPr>
              <p:cNvGraphicFramePr>
                <a:graphicFrameLocks noGrp="1"/>
              </p:cNvGraphicFramePr>
              <p:nvPr>
                <p:extLst>
                  <p:ext uri="{D42A27DB-BD31-4B8C-83A1-F6EECF244321}">
                    <p14:modId xmlns:p14="http://schemas.microsoft.com/office/powerpoint/2010/main" val="1684298101"/>
                  </p:ext>
                </p:extLst>
              </p:nvPr>
            </p:nvGraphicFramePr>
            <p:xfrm>
              <a:off x="1" y="1445623"/>
              <a:ext cx="9144000" cy="465960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D2406C9E-98F2-0E69-30D0-126F1C779298}"/>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1" y="1445623"/>
                <a:ext cx="9144000" cy="4659607"/>
              </a:xfrm>
              <a:prstGeom prst="rect">
                <a:avLst/>
              </a:prstGeom>
            </p:spPr>
          </p:pic>
        </mc:Fallback>
      </mc:AlternateContent>
    </p:spTree>
    <p:extLst>
      <p:ext uri="{BB962C8B-B14F-4D97-AF65-F5344CB8AC3E}">
        <p14:creationId xmlns:p14="http://schemas.microsoft.com/office/powerpoint/2010/main" val="1460167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69AC5585-0885-4B44-96D6-B34E7745B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EBBB09CD-D3E6-4E6F-A7F3-E9470C3AF080}"/>
              </a:ext>
            </a:extLst>
          </p:cNvPr>
          <p:cNvSpPr>
            <a:spLocks noGrp="1" noChangeArrowheads="1"/>
          </p:cNvSpPr>
          <p:nvPr>
            <p:ph type="title"/>
          </p:nvPr>
        </p:nvSpPr>
        <p:spPr/>
        <p:txBody>
          <a:bodyPr/>
          <a:lstStyle/>
          <a:p>
            <a:r>
              <a:rPr lang="en-US" altLang="en-US"/>
              <a:t>Part 5: Real-Time OS &amp; Virtualization</a:t>
            </a:r>
          </a:p>
        </p:txBody>
      </p:sp>
      <p:sp>
        <p:nvSpPr>
          <p:cNvPr id="15363" name="Rectangle 3">
            <a:extLst>
              <a:ext uri="{FF2B5EF4-FFF2-40B4-BE49-F238E27FC236}">
                <a16:creationId xmlns:a16="http://schemas.microsoft.com/office/drawing/2014/main" id="{5D2A2987-961C-49DA-8FC7-96ED0A735442}"/>
              </a:ext>
            </a:extLst>
          </p:cNvPr>
          <p:cNvSpPr>
            <a:spLocks noGrp="1" noChangeArrowheads="1"/>
          </p:cNvSpPr>
          <p:nvPr>
            <p:ph type="body" idx="1"/>
          </p:nvPr>
        </p:nvSpPr>
        <p:spPr>
          <a:xfrm>
            <a:off x="1047750" y="1371600"/>
            <a:ext cx="7029450" cy="4484688"/>
          </a:xfrm>
        </p:spPr>
        <p:txBody>
          <a:bodyPr/>
          <a:lstStyle/>
          <a:p>
            <a:r>
              <a:rPr lang="en-US" altLang="en-US" sz="2800"/>
              <a:t>What is a Real-Time OS (RTOS)?</a:t>
            </a:r>
          </a:p>
          <a:p>
            <a:r>
              <a:rPr lang="en-US" altLang="en-US" sz="2800" b="1"/>
              <a:t>Real-Time Process Specification</a:t>
            </a:r>
          </a:p>
          <a:p>
            <a:r>
              <a:rPr lang="en-US" altLang="en-US" sz="2800"/>
              <a:t>Real-Time CPU Scheduling</a:t>
            </a:r>
          </a:p>
          <a:p>
            <a:r>
              <a:rPr lang="en-US" altLang="en-US" sz="2800"/>
              <a:t>Virtualization</a:t>
            </a:r>
          </a:p>
        </p:txBody>
      </p:sp>
    </p:spTree>
    <p:extLst>
      <p:ext uri="{BB962C8B-B14F-4D97-AF65-F5344CB8AC3E}">
        <p14:creationId xmlns:p14="http://schemas.microsoft.com/office/powerpoint/2010/main" val="1508224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RTOS (Real-Time) Process</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8313" y="1289050"/>
            <a:ext cx="8335962"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rgbClr val="FF0000"/>
                </a:solidFill>
              </a:rPr>
              <a:t>Definition: </a:t>
            </a:r>
            <a:r>
              <a:rPr lang="en-SG" altLang="en-US" sz="2800" kern="0"/>
              <a:t>A real-time process is specified as &lt;R,C,D&gt;, where R is process release time, C is execution requirement and D is relative deadline</a:t>
            </a:r>
          </a:p>
          <a:p>
            <a:pPr lvl="1"/>
            <a:r>
              <a:rPr lang="en-SG" altLang="en-US" sz="2400" kern="0">
                <a:solidFill>
                  <a:schemeClr val="accent2"/>
                </a:solidFill>
              </a:rPr>
              <a:t>Requires C time units of CPU in the interval [R, R+D)</a:t>
            </a:r>
          </a:p>
          <a:p>
            <a:pPr lvl="1"/>
            <a:r>
              <a:rPr lang="en-SG" altLang="en-US" sz="2400" b="1" kern="0"/>
              <a:t>How does one determine these parameters?</a:t>
            </a:r>
          </a:p>
          <a:p>
            <a:r>
              <a:rPr lang="en-SG" altLang="en-US" sz="2800" kern="0"/>
              <a:t>Example: P</a:t>
            </a:r>
            <a:r>
              <a:rPr lang="en-SG" altLang="en-US" sz="2800" kern="0" baseline="-25000"/>
              <a:t>1</a:t>
            </a:r>
            <a:r>
              <a:rPr lang="en-SG" altLang="en-US" sz="2800" kern="0"/>
              <a:t>&lt;0,5,10&gt;, P</a:t>
            </a:r>
            <a:r>
              <a:rPr lang="en-SG" altLang="en-US" sz="2800" kern="0" baseline="-25000"/>
              <a:t>2</a:t>
            </a:r>
            <a:r>
              <a:rPr lang="en-SG" altLang="en-US" sz="2800" kern="0"/>
              <a:t>&lt;5,10,35&gt;, P</a:t>
            </a:r>
            <a:r>
              <a:rPr lang="en-SG" altLang="en-US" sz="2800" kern="0" baseline="-25000"/>
              <a:t>3</a:t>
            </a:r>
            <a:r>
              <a:rPr lang="en-SG" altLang="en-US" sz="2800" kern="0"/>
              <a:t>&lt;20,10,30&gt;</a:t>
            </a:r>
          </a:p>
          <a:p>
            <a:pPr lvl="1"/>
            <a:endParaRPr lang="en-SG" altLang="en-US" sz="2400" kern="0"/>
          </a:p>
          <a:p>
            <a:pPr lvl="1"/>
            <a:endParaRPr lang="en-SG" altLang="en-US" sz="2400" kern="0"/>
          </a:p>
          <a:p>
            <a:pPr lvl="1"/>
            <a:endParaRPr lang="en-SG" altLang="en-US" sz="2400" kern="0"/>
          </a:p>
          <a:p>
            <a:pPr lvl="1"/>
            <a:endParaRPr lang="en-SG" altLang="en-US" sz="1200" kern="0"/>
          </a:p>
          <a:p>
            <a:pPr marL="457200" lvl="1" indent="0">
              <a:buNone/>
            </a:pPr>
            <a:r>
              <a:rPr lang="en-SG" altLang="en-US" sz="2400" kern="0">
                <a:solidFill>
                  <a:srgbClr val="FF0000"/>
                </a:solidFill>
              </a:rPr>
              <a:t>In this lecture, we assume processes only have a single CPU burst; C is the duration of this burst</a:t>
            </a:r>
          </a:p>
        </p:txBody>
      </p:sp>
      <p:grpSp>
        <p:nvGrpSpPr>
          <p:cNvPr id="24" name="Group 23">
            <a:extLst>
              <a:ext uri="{FF2B5EF4-FFF2-40B4-BE49-F238E27FC236}">
                <a16:creationId xmlns:a16="http://schemas.microsoft.com/office/drawing/2014/main" id="{EBE5770A-0FA4-4D03-9B5B-2F4411E94C7A}"/>
              </a:ext>
            </a:extLst>
          </p:cNvPr>
          <p:cNvGrpSpPr/>
          <p:nvPr/>
        </p:nvGrpSpPr>
        <p:grpSpPr>
          <a:xfrm>
            <a:off x="315187" y="4341907"/>
            <a:ext cx="8208958" cy="1274362"/>
            <a:chOff x="315187" y="4341907"/>
            <a:chExt cx="8208958" cy="1274362"/>
          </a:xfrm>
        </p:grpSpPr>
        <p:cxnSp>
          <p:nvCxnSpPr>
            <p:cNvPr id="6" name="Straight Arrow Connector 5">
              <a:extLst>
                <a:ext uri="{FF2B5EF4-FFF2-40B4-BE49-F238E27FC236}">
                  <a16:creationId xmlns:a16="http://schemas.microsoft.com/office/drawing/2014/main" id="{61C6CFDB-4B87-4187-91C4-2C0B0051D2C1}"/>
                </a:ext>
              </a:extLst>
            </p:cNvPr>
            <p:cNvCxnSpPr/>
            <p:nvPr/>
          </p:nvCxnSpPr>
          <p:spPr bwMode="auto">
            <a:xfrm>
              <a:off x="659426" y="5270990"/>
              <a:ext cx="786471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8" name="Straight Connector 7">
              <a:extLst>
                <a:ext uri="{FF2B5EF4-FFF2-40B4-BE49-F238E27FC236}">
                  <a16:creationId xmlns:a16="http://schemas.microsoft.com/office/drawing/2014/main" id="{F4622B30-20B8-4071-96F7-6DC28D26CAD6}"/>
                </a:ext>
              </a:extLst>
            </p:cNvPr>
            <p:cNvCxnSpPr>
              <a:cxnSpLocks/>
            </p:cNvCxnSpPr>
            <p:nvPr/>
          </p:nvCxnSpPr>
          <p:spPr bwMode="auto">
            <a:xfrm>
              <a:off x="659423" y="4813788"/>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9" name="TextBox 8">
              <a:extLst>
                <a:ext uri="{FF2B5EF4-FFF2-40B4-BE49-F238E27FC236}">
                  <a16:creationId xmlns:a16="http://schemas.microsoft.com/office/drawing/2014/main" id="{E04349FF-BC32-418E-AAFD-11C7DE2D6AF1}"/>
                </a:ext>
              </a:extLst>
            </p:cNvPr>
            <p:cNvSpPr txBox="1"/>
            <p:nvPr/>
          </p:nvSpPr>
          <p:spPr>
            <a:xfrm>
              <a:off x="502973" y="5246937"/>
              <a:ext cx="7301999" cy="369332"/>
            </a:xfrm>
            <a:prstGeom prst="rect">
              <a:avLst/>
            </a:prstGeom>
            <a:noFill/>
          </p:spPr>
          <p:txBody>
            <a:bodyPr wrap="none" rtlCol="0">
              <a:spAutoFit/>
            </a:bodyPr>
            <a:lstStyle/>
            <a:p>
              <a:r>
                <a:rPr lang="en-SG"/>
                <a:t>0         5       10      15      20      25       30       35       40        45        50</a:t>
              </a:r>
            </a:p>
          </p:txBody>
        </p:sp>
        <p:cxnSp>
          <p:nvCxnSpPr>
            <p:cNvPr id="10" name="Straight Connector 9">
              <a:extLst>
                <a:ext uri="{FF2B5EF4-FFF2-40B4-BE49-F238E27FC236}">
                  <a16:creationId xmlns:a16="http://schemas.microsoft.com/office/drawing/2014/main" id="{76A77D8B-9518-474C-905B-42E0E364298C}"/>
                </a:ext>
              </a:extLst>
            </p:cNvPr>
            <p:cNvCxnSpPr/>
            <p:nvPr/>
          </p:nvCxnSpPr>
          <p:spPr bwMode="auto">
            <a:xfrm>
              <a:off x="1339361" y="4809392"/>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11" name="Straight Connector 10">
              <a:extLst>
                <a:ext uri="{FF2B5EF4-FFF2-40B4-BE49-F238E27FC236}">
                  <a16:creationId xmlns:a16="http://schemas.microsoft.com/office/drawing/2014/main" id="{C56E4495-5A6A-4911-8C18-F1EB1215B84C}"/>
                </a:ext>
              </a:extLst>
            </p:cNvPr>
            <p:cNvCxnSpPr/>
            <p:nvPr/>
          </p:nvCxnSpPr>
          <p:spPr bwMode="auto">
            <a:xfrm>
              <a:off x="3237034" y="4809392"/>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12" name="Straight Connector 11">
              <a:extLst>
                <a:ext uri="{FF2B5EF4-FFF2-40B4-BE49-F238E27FC236}">
                  <a16:creationId xmlns:a16="http://schemas.microsoft.com/office/drawing/2014/main" id="{FBD3A0B5-91F4-48DF-9CCF-D24560F1B83E}"/>
                </a:ext>
              </a:extLst>
            </p:cNvPr>
            <p:cNvCxnSpPr>
              <a:cxnSpLocks/>
            </p:cNvCxnSpPr>
            <p:nvPr/>
          </p:nvCxnSpPr>
          <p:spPr bwMode="auto">
            <a:xfrm>
              <a:off x="1994389" y="4813788"/>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3" name="Straight Connector 12">
              <a:extLst>
                <a:ext uri="{FF2B5EF4-FFF2-40B4-BE49-F238E27FC236}">
                  <a16:creationId xmlns:a16="http://schemas.microsoft.com/office/drawing/2014/main" id="{EECE9436-600E-4E9A-9CC1-C9A46A311979}"/>
                </a:ext>
              </a:extLst>
            </p:cNvPr>
            <p:cNvCxnSpPr/>
            <p:nvPr/>
          </p:nvCxnSpPr>
          <p:spPr bwMode="auto">
            <a:xfrm>
              <a:off x="7488117" y="4809392"/>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4" name="Straight Connector 13">
              <a:extLst>
                <a:ext uri="{FF2B5EF4-FFF2-40B4-BE49-F238E27FC236}">
                  <a16:creationId xmlns:a16="http://schemas.microsoft.com/office/drawing/2014/main" id="{ABBF77E5-CA83-4854-9BF5-08CA53ABDE8A}"/>
                </a:ext>
              </a:extLst>
            </p:cNvPr>
            <p:cNvCxnSpPr/>
            <p:nvPr/>
          </p:nvCxnSpPr>
          <p:spPr bwMode="auto">
            <a:xfrm>
              <a:off x="5987561" y="4809392"/>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15" name="TextBox 14">
              <a:extLst>
                <a:ext uri="{FF2B5EF4-FFF2-40B4-BE49-F238E27FC236}">
                  <a16:creationId xmlns:a16="http://schemas.microsoft.com/office/drawing/2014/main" id="{D7264676-3056-47F5-8BD3-5FFFDFEBCC51}"/>
                </a:ext>
              </a:extLst>
            </p:cNvPr>
            <p:cNvSpPr txBox="1"/>
            <p:nvPr/>
          </p:nvSpPr>
          <p:spPr>
            <a:xfrm>
              <a:off x="315187" y="4366325"/>
              <a:ext cx="686406" cy="461665"/>
            </a:xfrm>
            <a:prstGeom prst="rect">
              <a:avLst/>
            </a:prstGeom>
            <a:noFill/>
          </p:spPr>
          <p:txBody>
            <a:bodyPr wrap="none" rtlCol="0">
              <a:spAutoFit/>
            </a:bodyPr>
            <a:lstStyle/>
            <a:p>
              <a:pPr algn="ctr"/>
              <a:r>
                <a:rPr lang="en-SG" sz="1200"/>
                <a:t>P</a:t>
              </a:r>
              <a:r>
                <a:rPr lang="en-SG" sz="1200" baseline="-25000"/>
                <a:t>1</a:t>
              </a:r>
              <a:r>
                <a:rPr lang="en-SG" sz="1200"/>
                <a:t> </a:t>
              </a:r>
            </a:p>
            <a:p>
              <a:pPr algn="ctr"/>
              <a:r>
                <a:rPr lang="en-SG" sz="1200"/>
                <a:t>release</a:t>
              </a:r>
            </a:p>
          </p:txBody>
        </p:sp>
        <p:sp>
          <p:nvSpPr>
            <p:cNvPr id="16" name="TextBox 15">
              <a:extLst>
                <a:ext uri="{FF2B5EF4-FFF2-40B4-BE49-F238E27FC236}">
                  <a16:creationId xmlns:a16="http://schemas.microsoft.com/office/drawing/2014/main" id="{E1EAB7A4-DE17-4B87-A03D-441B2B9B50D7}"/>
                </a:ext>
              </a:extLst>
            </p:cNvPr>
            <p:cNvSpPr txBox="1"/>
            <p:nvPr/>
          </p:nvSpPr>
          <p:spPr>
            <a:xfrm>
              <a:off x="999092" y="4341907"/>
              <a:ext cx="686406" cy="461665"/>
            </a:xfrm>
            <a:prstGeom prst="rect">
              <a:avLst/>
            </a:prstGeom>
            <a:noFill/>
          </p:spPr>
          <p:txBody>
            <a:bodyPr wrap="none" rtlCol="0">
              <a:spAutoFit/>
            </a:bodyPr>
            <a:lstStyle/>
            <a:p>
              <a:pPr algn="ctr"/>
              <a:r>
                <a:rPr lang="en-SG" sz="1200"/>
                <a:t>P</a:t>
              </a:r>
              <a:r>
                <a:rPr lang="en-SG" sz="1200" baseline="-25000"/>
                <a:t>2</a:t>
              </a:r>
              <a:r>
                <a:rPr lang="en-SG" sz="1200"/>
                <a:t> </a:t>
              </a:r>
            </a:p>
            <a:p>
              <a:pPr algn="ctr"/>
              <a:r>
                <a:rPr lang="en-SG" sz="1200"/>
                <a:t>release</a:t>
              </a:r>
            </a:p>
          </p:txBody>
        </p:sp>
        <p:sp>
          <p:nvSpPr>
            <p:cNvPr id="17" name="TextBox 16">
              <a:extLst>
                <a:ext uri="{FF2B5EF4-FFF2-40B4-BE49-F238E27FC236}">
                  <a16:creationId xmlns:a16="http://schemas.microsoft.com/office/drawing/2014/main" id="{3E49CBF7-5876-41EC-AECC-FA9570AC888A}"/>
                </a:ext>
              </a:extLst>
            </p:cNvPr>
            <p:cNvSpPr txBox="1"/>
            <p:nvPr/>
          </p:nvSpPr>
          <p:spPr>
            <a:xfrm>
              <a:off x="2893831" y="4346304"/>
              <a:ext cx="686406" cy="461665"/>
            </a:xfrm>
            <a:prstGeom prst="rect">
              <a:avLst/>
            </a:prstGeom>
            <a:noFill/>
          </p:spPr>
          <p:txBody>
            <a:bodyPr wrap="none" rtlCol="0">
              <a:spAutoFit/>
            </a:bodyPr>
            <a:lstStyle/>
            <a:p>
              <a:pPr algn="ctr"/>
              <a:r>
                <a:rPr lang="en-SG" sz="1200"/>
                <a:t>P</a:t>
              </a:r>
              <a:r>
                <a:rPr lang="en-SG" sz="1200" baseline="-25000"/>
                <a:t>3</a:t>
              </a:r>
              <a:r>
                <a:rPr lang="en-SG" sz="1200"/>
                <a:t> </a:t>
              </a:r>
            </a:p>
            <a:p>
              <a:pPr algn="ctr"/>
              <a:r>
                <a:rPr lang="en-SG" sz="1200"/>
                <a:t>release</a:t>
              </a:r>
            </a:p>
          </p:txBody>
        </p:sp>
        <p:sp>
          <p:nvSpPr>
            <p:cNvPr id="18" name="TextBox 17">
              <a:extLst>
                <a:ext uri="{FF2B5EF4-FFF2-40B4-BE49-F238E27FC236}">
                  <a16:creationId xmlns:a16="http://schemas.microsoft.com/office/drawing/2014/main" id="{61AB956F-1F5E-4FF3-9F4B-5772826E2DB0}"/>
                </a:ext>
              </a:extLst>
            </p:cNvPr>
            <p:cNvSpPr txBox="1"/>
            <p:nvPr/>
          </p:nvSpPr>
          <p:spPr>
            <a:xfrm>
              <a:off x="1613515" y="4366258"/>
              <a:ext cx="761747" cy="461665"/>
            </a:xfrm>
            <a:prstGeom prst="rect">
              <a:avLst/>
            </a:prstGeom>
            <a:noFill/>
          </p:spPr>
          <p:txBody>
            <a:bodyPr wrap="none" rtlCol="0">
              <a:spAutoFit/>
            </a:bodyPr>
            <a:lstStyle/>
            <a:p>
              <a:pPr algn="ctr"/>
              <a:r>
                <a:rPr lang="en-SG" sz="1200"/>
                <a:t>P</a:t>
              </a:r>
              <a:r>
                <a:rPr lang="en-SG" sz="1200" baseline="-25000"/>
                <a:t>1</a:t>
              </a:r>
              <a:r>
                <a:rPr lang="en-SG" sz="1200"/>
                <a:t> </a:t>
              </a:r>
            </a:p>
            <a:p>
              <a:pPr algn="ctr"/>
              <a:r>
                <a:rPr lang="en-SG" sz="1200"/>
                <a:t>deadline</a:t>
              </a:r>
            </a:p>
          </p:txBody>
        </p:sp>
        <p:sp>
          <p:nvSpPr>
            <p:cNvPr id="19" name="TextBox 18">
              <a:extLst>
                <a:ext uri="{FF2B5EF4-FFF2-40B4-BE49-F238E27FC236}">
                  <a16:creationId xmlns:a16="http://schemas.microsoft.com/office/drawing/2014/main" id="{77B9E3B7-0412-454C-AA6B-7D112397AEAE}"/>
                </a:ext>
              </a:extLst>
            </p:cNvPr>
            <p:cNvSpPr txBox="1"/>
            <p:nvPr/>
          </p:nvSpPr>
          <p:spPr>
            <a:xfrm>
              <a:off x="5606687" y="4345946"/>
              <a:ext cx="761747" cy="461665"/>
            </a:xfrm>
            <a:prstGeom prst="rect">
              <a:avLst/>
            </a:prstGeom>
            <a:noFill/>
          </p:spPr>
          <p:txBody>
            <a:bodyPr wrap="none" rtlCol="0">
              <a:spAutoFit/>
            </a:bodyPr>
            <a:lstStyle/>
            <a:p>
              <a:pPr algn="ctr"/>
              <a:r>
                <a:rPr lang="en-SG" sz="1200"/>
                <a:t>P</a:t>
              </a:r>
              <a:r>
                <a:rPr lang="en-SG" sz="1200" baseline="-25000"/>
                <a:t>2</a:t>
              </a:r>
              <a:r>
                <a:rPr lang="en-SG" sz="1200"/>
                <a:t> </a:t>
              </a:r>
            </a:p>
            <a:p>
              <a:pPr algn="ctr"/>
              <a:r>
                <a:rPr lang="en-SG" sz="1200"/>
                <a:t>deadline</a:t>
              </a:r>
            </a:p>
          </p:txBody>
        </p:sp>
        <p:sp>
          <p:nvSpPr>
            <p:cNvPr id="20" name="TextBox 19">
              <a:extLst>
                <a:ext uri="{FF2B5EF4-FFF2-40B4-BE49-F238E27FC236}">
                  <a16:creationId xmlns:a16="http://schemas.microsoft.com/office/drawing/2014/main" id="{C0A0832B-531A-4707-A890-2A51F4A5BE3F}"/>
                </a:ext>
              </a:extLst>
            </p:cNvPr>
            <p:cNvSpPr txBox="1"/>
            <p:nvPr/>
          </p:nvSpPr>
          <p:spPr>
            <a:xfrm>
              <a:off x="7107243" y="4349091"/>
              <a:ext cx="761747" cy="461665"/>
            </a:xfrm>
            <a:prstGeom prst="rect">
              <a:avLst/>
            </a:prstGeom>
            <a:noFill/>
          </p:spPr>
          <p:txBody>
            <a:bodyPr wrap="none" rtlCol="0">
              <a:spAutoFit/>
            </a:bodyPr>
            <a:lstStyle/>
            <a:p>
              <a:pPr algn="ctr"/>
              <a:r>
                <a:rPr lang="en-SG" sz="1200"/>
                <a:t>P</a:t>
              </a:r>
              <a:r>
                <a:rPr lang="en-SG" sz="1200" baseline="-25000"/>
                <a:t>3</a:t>
              </a:r>
              <a:r>
                <a:rPr lang="en-SG" sz="1200"/>
                <a:t> </a:t>
              </a:r>
            </a:p>
            <a:p>
              <a:pPr algn="ctr"/>
              <a:r>
                <a:rPr lang="en-SG" sz="1200"/>
                <a:t>deadline</a:t>
              </a:r>
            </a:p>
          </p:txBody>
        </p:sp>
      </p:grpSp>
    </p:spTree>
    <p:extLst>
      <p:ext uri="{BB962C8B-B14F-4D97-AF65-F5344CB8AC3E}">
        <p14:creationId xmlns:p14="http://schemas.microsoft.com/office/powerpoint/2010/main" val="157380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circle(in)">
                                      <p:cBhvr>
                                        <p:cTn id="7" dur="2000"/>
                                        <p:tgtEl>
                                          <p:spTgt spid="5">
                                            <p:txEl>
                                              <p:pRg st="3" end="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
                                            <p:txEl>
                                              <p:pRg st="8" end="8"/>
                                            </p:txEl>
                                          </p:spTgt>
                                        </p:tgtEl>
                                        <p:attrNameLst>
                                          <p:attrName>style.visibility</p:attrName>
                                        </p:attrNameLst>
                                      </p:cBhvr>
                                      <p:to>
                                        <p:strVal val="visible"/>
                                      </p:to>
                                    </p:set>
                                    <p:animEffect transition="in" filter="circle(in)">
                                      <p:cBhvr>
                                        <p:cTn id="10" dur="2000"/>
                                        <p:tgtEl>
                                          <p:spTgt spid="5">
                                            <p:txEl>
                                              <p:pRg st="8" end="8"/>
                                            </p:txEl>
                                          </p:spTgt>
                                        </p:tgtEl>
                                      </p:cBhvr>
                                    </p:animEffect>
                                  </p:childTnLst>
                                </p:cTn>
                              </p:par>
                            </p:childTnLst>
                          </p:cTn>
                        </p:par>
                        <p:par>
                          <p:cTn id="11" fill="hold">
                            <p:stCondLst>
                              <p:cond delay="2000"/>
                            </p:stCondLst>
                            <p:childTnLst>
                              <p:par>
                                <p:cTn id="12" presetID="1" presetClass="entr" presetSubtype="0" fill="hold" nodeType="afterEffect">
                                  <p:stCondLst>
                                    <p:cond delay="0"/>
                                  </p:stCondLst>
                                  <p:childTnLst>
                                    <p:set>
                                      <p:cBhvr>
                                        <p:cTn id="13"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Recurrent Real-Time Process</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3917" y="1289050"/>
            <a:ext cx="8335962"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rgbClr val="FF0000"/>
                </a:solidFill>
              </a:rPr>
              <a:t>Nature of real-time processes</a:t>
            </a:r>
          </a:p>
          <a:p>
            <a:pPr lvl="1"/>
            <a:r>
              <a:rPr lang="en-SG" altLang="en-US" sz="2400" kern="0"/>
              <a:t>Collect data from sensing devices, execute control laws to determine responses, and send actuator commands in reasonable time</a:t>
            </a:r>
          </a:p>
          <a:p>
            <a:pPr lvl="1"/>
            <a:r>
              <a:rPr lang="en-SG" altLang="en-US" sz="2400" b="1" kern="0"/>
              <a:t>Repeat the above steps regularly</a:t>
            </a:r>
          </a:p>
          <a:p>
            <a:pPr lvl="2"/>
            <a:r>
              <a:rPr lang="en-SG" altLang="en-US" sz="2400" kern="0"/>
              <a:t>Examples: </a:t>
            </a:r>
            <a:r>
              <a:rPr lang="en-US" altLang="zh-CN" sz="2400" kern="0"/>
              <a:t>airbag control, flight control, collision avoidance, pacemaker, etc. </a:t>
            </a:r>
          </a:p>
          <a:p>
            <a:r>
              <a:rPr lang="en-SG" altLang="en-US" sz="2800" kern="0">
                <a:solidFill>
                  <a:srgbClr val="FF0000"/>
                </a:solidFill>
              </a:rPr>
              <a:t>A recurrent real-time process</a:t>
            </a:r>
          </a:p>
          <a:p>
            <a:pPr lvl="1"/>
            <a:r>
              <a:rPr lang="en-SG" altLang="en-US" sz="2400" b="1" kern="0"/>
              <a:t>Executes some function repeatedly over time</a:t>
            </a:r>
          </a:p>
          <a:p>
            <a:pPr lvl="1"/>
            <a:r>
              <a:rPr lang="en-SG" altLang="en-US" sz="2400" kern="0"/>
              <a:t>Each instance of execution is a real-time process &lt;R,C,D&gt;</a:t>
            </a:r>
          </a:p>
        </p:txBody>
      </p:sp>
    </p:spTree>
    <p:extLst>
      <p:ext uri="{BB962C8B-B14F-4D97-AF65-F5344CB8AC3E}">
        <p14:creationId xmlns:p14="http://schemas.microsoft.com/office/powerpoint/2010/main" val="2380091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Periodic Real-Time Process</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3917" y="1289050"/>
            <a:ext cx="8335962"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rgbClr val="FF0000"/>
                </a:solidFill>
              </a:rPr>
              <a:t>Definition: </a:t>
            </a:r>
            <a:r>
              <a:rPr lang="en-SG" altLang="en-US" sz="2800" kern="0"/>
              <a:t>A process that </a:t>
            </a:r>
            <a:r>
              <a:rPr lang="en-SG" altLang="en-US" sz="2800" b="1" kern="0"/>
              <a:t>repeats periodically</a:t>
            </a:r>
          </a:p>
          <a:p>
            <a:pPr lvl="1"/>
            <a:r>
              <a:rPr lang="en-SG" altLang="en-US" sz="2400" kern="0"/>
              <a:t>Processes generated by a </a:t>
            </a:r>
            <a:r>
              <a:rPr lang="en-SG" altLang="en-US" sz="2400" kern="0">
                <a:solidFill>
                  <a:schemeClr val="accent2"/>
                </a:solidFill>
              </a:rPr>
              <a:t>time-triggered phenomena </a:t>
            </a:r>
            <a:r>
              <a:rPr lang="en-SG" altLang="en-US" sz="2400" kern="0"/>
              <a:t>(sensor sending data periodically)</a:t>
            </a:r>
          </a:p>
          <a:p>
            <a:pPr lvl="1"/>
            <a:r>
              <a:rPr lang="en-SG" altLang="en-US" sz="2400" kern="0"/>
              <a:t>Example: Perception function for collision detection</a:t>
            </a:r>
          </a:p>
          <a:p>
            <a:r>
              <a:rPr lang="en-SG" altLang="en-US" sz="2800" kern="0"/>
              <a:t>A periodic process is specified as &lt;T,C,D&gt;, where T is process period, C &amp; D are as defined earlier</a:t>
            </a:r>
          </a:p>
          <a:p>
            <a:pPr lvl="1"/>
            <a:r>
              <a:rPr lang="en-SG" altLang="en-US" sz="2400" kern="0"/>
              <a:t>Real-time processes are released at R=0, T, 2T, …</a:t>
            </a:r>
          </a:p>
          <a:p>
            <a:pPr lvl="1"/>
            <a:r>
              <a:rPr lang="en-SG" altLang="en-US" sz="2400" kern="0"/>
              <a:t>Example: Periodic process P&lt;10, 5, 7&gt;</a:t>
            </a:r>
          </a:p>
        </p:txBody>
      </p:sp>
      <p:grpSp>
        <p:nvGrpSpPr>
          <p:cNvPr id="30" name="Group 29">
            <a:extLst>
              <a:ext uri="{FF2B5EF4-FFF2-40B4-BE49-F238E27FC236}">
                <a16:creationId xmlns:a16="http://schemas.microsoft.com/office/drawing/2014/main" id="{3A99122A-000A-4DFB-B4EA-C6E9E566D9AB}"/>
              </a:ext>
            </a:extLst>
          </p:cNvPr>
          <p:cNvGrpSpPr/>
          <p:nvPr/>
        </p:nvGrpSpPr>
        <p:grpSpPr>
          <a:xfrm>
            <a:off x="407506" y="5106447"/>
            <a:ext cx="8208958" cy="1256253"/>
            <a:chOff x="407506" y="5106447"/>
            <a:chExt cx="8208958" cy="1256253"/>
          </a:xfrm>
        </p:grpSpPr>
        <p:cxnSp>
          <p:nvCxnSpPr>
            <p:cNvPr id="8" name="Straight Arrow Connector 7">
              <a:extLst>
                <a:ext uri="{FF2B5EF4-FFF2-40B4-BE49-F238E27FC236}">
                  <a16:creationId xmlns:a16="http://schemas.microsoft.com/office/drawing/2014/main" id="{AC3D4723-911A-4EB5-BAD3-59E3EF57DF46}"/>
                </a:ext>
              </a:extLst>
            </p:cNvPr>
            <p:cNvCxnSpPr/>
            <p:nvPr/>
          </p:nvCxnSpPr>
          <p:spPr bwMode="auto">
            <a:xfrm>
              <a:off x="751745" y="6017421"/>
              <a:ext cx="786471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9" name="Straight Connector 8">
              <a:extLst>
                <a:ext uri="{FF2B5EF4-FFF2-40B4-BE49-F238E27FC236}">
                  <a16:creationId xmlns:a16="http://schemas.microsoft.com/office/drawing/2014/main" id="{E85B41D4-C604-411E-81C7-544047B5D7AF}"/>
                </a:ext>
              </a:extLst>
            </p:cNvPr>
            <p:cNvCxnSpPr>
              <a:cxnSpLocks/>
            </p:cNvCxnSpPr>
            <p:nvPr/>
          </p:nvCxnSpPr>
          <p:spPr bwMode="auto">
            <a:xfrm>
              <a:off x="751742" y="556021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10" name="TextBox 9">
              <a:extLst>
                <a:ext uri="{FF2B5EF4-FFF2-40B4-BE49-F238E27FC236}">
                  <a16:creationId xmlns:a16="http://schemas.microsoft.com/office/drawing/2014/main" id="{17957906-56DB-4037-8C7B-16CDEA1A152B}"/>
                </a:ext>
              </a:extLst>
            </p:cNvPr>
            <p:cNvSpPr txBox="1"/>
            <p:nvPr/>
          </p:nvSpPr>
          <p:spPr>
            <a:xfrm>
              <a:off x="595292" y="5993368"/>
              <a:ext cx="7814960" cy="369332"/>
            </a:xfrm>
            <a:prstGeom prst="rect">
              <a:avLst/>
            </a:prstGeom>
            <a:noFill/>
          </p:spPr>
          <p:txBody>
            <a:bodyPr wrap="none" rtlCol="0">
              <a:spAutoFit/>
            </a:bodyPr>
            <a:lstStyle/>
            <a:p>
              <a:r>
                <a:rPr lang="en-SG"/>
                <a:t>0                   7        10                 17       20                 27      30                 37</a:t>
              </a:r>
            </a:p>
          </p:txBody>
        </p:sp>
        <p:cxnSp>
          <p:nvCxnSpPr>
            <p:cNvPr id="11" name="Straight Connector 10">
              <a:extLst>
                <a:ext uri="{FF2B5EF4-FFF2-40B4-BE49-F238E27FC236}">
                  <a16:creationId xmlns:a16="http://schemas.microsoft.com/office/drawing/2014/main" id="{2A999696-062D-4722-95D5-3EB00381E458}"/>
                </a:ext>
              </a:extLst>
            </p:cNvPr>
            <p:cNvCxnSpPr/>
            <p:nvPr/>
          </p:nvCxnSpPr>
          <p:spPr bwMode="auto">
            <a:xfrm>
              <a:off x="2772507" y="5574354"/>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12" name="Straight Connector 11">
              <a:extLst>
                <a:ext uri="{FF2B5EF4-FFF2-40B4-BE49-F238E27FC236}">
                  <a16:creationId xmlns:a16="http://schemas.microsoft.com/office/drawing/2014/main" id="{BB2ECBB6-71E7-4D0C-A6C0-BA997A21D09D}"/>
                </a:ext>
              </a:extLst>
            </p:cNvPr>
            <p:cNvCxnSpPr/>
            <p:nvPr/>
          </p:nvCxnSpPr>
          <p:spPr bwMode="auto">
            <a:xfrm>
              <a:off x="4793272" y="556257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13" name="Straight Connector 12">
              <a:extLst>
                <a:ext uri="{FF2B5EF4-FFF2-40B4-BE49-F238E27FC236}">
                  <a16:creationId xmlns:a16="http://schemas.microsoft.com/office/drawing/2014/main" id="{DFDC9E31-EE61-478B-947B-CBF7AE2208AF}"/>
                </a:ext>
              </a:extLst>
            </p:cNvPr>
            <p:cNvCxnSpPr>
              <a:cxnSpLocks/>
            </p:cNvCxnSpPr>
            <p:nvPr/>
          </p:nvCxnSpPr>
          <p:spPr bwMode="auto">
            <a:xfrm>
              <a:off x="2086708" y="556021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4" name="Straight Connector 13">
              <a:extLst>
                <a:ext uri="{FF2B5EF4-FFF2-40B4-BE49-F238E27FC236}">
                  <a16:creationId xmlns:a16="http://schemas.microsoft.com/office/drawing/2014/main" id="{165ECD16-0086-4A03-B55E-AABEF2973823}"/>
                </a:ext>
              </a:extLst>
            </p:cNvPr>
            <p:cNvCxnSpPr/>
            <p:nvPr/>
          </p:nvCxnSpPr>
          <p:spPr bwMode="auto">
            <a:xfrm>
              <a:off x="8075001" y="556257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5" name="Straight Connector 14">
              <a:extLst>
                <a:ext uri="{FF2B5EF4-FFF2-40B4-BE49-F238E27FC236}">
                  <a16:creationId xmlns:a16="http://schemas.microsoft.com/office/drawing/2014/main" id="{2D993148-CFD7-4689-BAA4-0C5DAA11556E}"/>
                </a:ext>
              </a:extLst>
            </p:cNvPr>
            <p:cNvCxnSpPr/>
            <p:nvPr/>
          </p:nvCxnSpPr>
          <p:spPr bwMode="auto">
            <a:xfrm>
              <a:off x="4114800" y="5555823"/>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16" name="TextBox 15">
              <a:extLst>
                <a:ext uri="{FF2B5EF4-FFF2-40B4-BE49-F238E27FC236}">
                  <a16:creationId xmlns:a16="http://schemas.microsoft.com/office/drawing/2014/main" id="{5DB5CED8-FAA1-4B1C-B59D-BFBB4B80239F}"/>
                </a:ext>
              </a:extLst>
            </p:cNvPr>
            <p:cNvSpPr txBox="1"/>
            <p:nvPr/>
          </p:nvSpPr>
          <p:spPr>
            <a:xfrm>
              <a:off x="407506" y="5112756"/>
              <a:ext cx="686406" cy="461665"/>
            </a:xfrm>
            <a:prstGeom prst="rect">
              <a:avLst/>
            </a:prstGeom>
            <a:noFill/>
          </p:spPr>
          <p:txBody>
            <a:bodyPr wrap="none" rtlCol="0">
              <a:spAutoFit/>
            </a:bodyPr>
            <a:lstStyle/>
            <a:p>
              <a:pPr algn="ctr"/>
              <a:r>
                <a:rPr lang="en-SG" sz="1200"/>
                <a:t>P </a:t>
              </a:r>
            </a:p>
            <a:p>
              <a:pPr algn="ctr"/>
              <a:r>
                <a:rPr lang="en-SG" sz="1200"/>
                <a:t>release</a:t>
              </a:r>
            </a:p>
          </p:txBody>
        </p:sp>
        <p:sp>
          <p:nvSpPr>
            <p:cNvPr id="19" name="TextBox 18">
              <a:extLst>
                <a:ext uri="{FF2B5EF4-FFF2-40B4-BE49-F238E27FC236}">
                  <a16:creationId xmlns:a16="http://schemas.microsoft.com/office/drawing/2014/main" id="{DC879E6A-8D91-4FFF-9424-CC30D306C999}"/>
                </a:ext>
              </a:extLst>
            </p:cNvPr>
            <p:cNvSpPr txBox="1"/>
            <p:nvPr/>
          </p:nvSpPr>
          <p:spPr>
            <a:xfrm>
              <a:off x="1705834" y="5112689"/>
              <a:ext cx="761747" cy="461665"/>
            </a:xfrm>
            <a:prstGeom prst="rect">
              <a:avLst/>
            </a:prstGeom>
            <a:noFill/>
          </p:spPr>
          <p:txBody>
            <a:bodyPr wrap="none" rtlCol="0">
              <a:spAutoFit/>
            </a:bodyPr>
            <a:lstStyle/>
            <a:p>
              <a:pPr algn="ctr"/>
              <a:r>
                <a:rPr lang="en-SG" sz="1200"/>
                <a:t>P </a:t>
              </a:r>
            </a:p>
            <a:p>
              <a:pPr algn="ctr"/>
              <a:r>
                <a:rPr lang="en-SG" sz="1200"/>
                <a:t>deadline</a:t>
              </a:r>
            </a:p>
          </p:txBody>
        </p:sp>
        <p:cxnSp>
          <p:nvCxnSpPr>
            <p:cNvPr id="22" name="Straight Connector 21">
              <a:extLst>
                <a:ext uri="{FF2B5EF4-FFF2-40B4-BE49-F238E27FC236}">
                  <a16:creationId xmlns:a16="http://schemas.microsoft.com/office/drawing/2014/main" id="{184A42A9-F702-43AC-B38A-8657E82C4013}"/>
                </a:ext>
              </a:extLst>
            </p:cNvPr>
            <p:cNvCxnSpPr/>
            <p:nvPr/>
          </p:nvCxnSpPr>
          <p:spPr bwMode="auto">
            <a:xfrm>
              <a:off x="6761284" y="556257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23" name="Straight Connector 22">
              <a:extLst>
                <a:ext uri="{FF2B5EF4-FFF2-40B4-BE49-F238E27FC236}">
                  <a16:creationId xmlns:a16="http://schemas.microsoft.com/office/drawing/2014/main" id="{3DBA7C4E-28E9-46A6-B79B-9BAE6D3F420A}"/>
                </a:ext>
              </a:extLst>
            </p:cNvPr>
            <p:cNvCxnSpPr/>
            <p:nvPr/>
          </p:nvCxnSpPr>
          <p:spPr bwMode="auto">
            <a:xfrm>
              <a:off x="6131171" y="5557187"/>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00742266-7BDD-4D17-B89B-320A323462F7}"/>
                </a:ext>
              </a:extLst>
            </p:cNvPr>
            <p:cNvSpPr txBox="1"/>
            <p:nvPr/>
          </p:nvSpPr>
          <p:spPr>
            <a:xfrm>
              <a:off x="2433284" y="5106514"/>
              <a:ext cx="686406" cy="461665"/>
            </a:xfrm>
            <a:prstGeom prst="rect">
              <a:avLst/>
            </a:prstGeom>
            <a:noFill/>
          </p:spPr>
          <p:txBody>
            <a:bodyPr wrap="none" rtlCol="0">
              <a:spAutoFit/>
            </a:bodyPr>
            <a:lstStyle/>
            <a:p>
              <a:pPr algn="ctr"/>
              <a:r>
                <a:rPr lang="en-SG" sz="1200"/>
                <a:t>P </a:t>
              </a:r>
            </a:p>
            <a:p>
              <a:pPr algn="ctr"/>
              <a:r>
                <a:rPr lang="en-SG" sz="1200"/>
                <a:t>release</a:t>
              </a:r>
            </a:p>
          </p:txBody>
        </p:sp>
        <p:sp>
          <p:nvSpPr>
            <p:cNvPr id="25" name="TextBox 24">
              <a:extLst>
                <a:ext uri="{FF2B5EF4-FFF2-40B4-BE49-F238E27FC236}">
                  <a16:creationId xmlns:a16="http://schemas.microsoft.com/office/drawing/2014/main" id="{8AA563EE-03D0-41D7-B46F-02B5B03E1AFB}"/>
                </a:ext>
              </a:extLst>
            </p:cNvPr>
            <p:cNvSpPr txBox="1"/>
            <p:nvPr/>
          </p:nvSpPr>
          <p:spPr>
            <a:xfrm>
              <a:off x="3731612" y="5106447"/>
              <a:ext cx="761747" cy="461665"/>
            </a:xfrm>
            <a:prstGeom prst="rect">
              <a:avLst/>
            </a:prstGeom>
            <a:noFill/>
          </p:spPr>
          <p:txBody>
            <a:bodyPr wrap="none" rtlCol="0">
              <a:spAutoFit/>
            </a:bodyPr>
            <a:lstStyle/>
            <a:p>
              <a:pPr algn="ctr"/>
              <a:r>
                <a:rPr lang="en-SG" sz="1200"/>
                <a:t>P </a:t>
              </a:r>
            </a:p>
            <a:p>
              <a:pPr algn="ctr"/>
              <a:r>
                <a:rPr lang="en-SG" sz="1200"/>
                <a:t>deadline</a:t>
              </a:r>
            </a:p>
          </p:txBody>
        </p:sp>
        <p:sp>
          <p:nvSpPr>
            <p:cNvPr id="26" name="TextBox 25">
              <a:extLst>
                <a:ext uri="{FF2B5EF4-FFF2-40B4-BE49-F238E27FC236}">
                  <a16:creationId xmlns:a16="http://schemas.microsoft.com/office/drawing/2014/main" id="{EC025A23-D6C1-4D3C-9D12-156FA5D1249E}"/>
                </a:ext>
              </a:extLst>
            </p:cNvPr>
            <p:cNvSpPr txBox="1"/>
            <p:nvPr/>
          </p:nvSpPr>
          <p:spPr>
            <a:xfrm>
              <a:off x="4454532" y="5114233"/>
              <a:ext cx="686406" cy="461665"/>
            </a:xfrm>
            <a:prstGeom prst="rect">
              <a:avLst/>
            </a:prstGeom>
            <a:noFill/>
          </p:spPr>
          <p:txBody>
            <a:bodyPr wrap="none" rtlCol="0">
              <a:spAutoFit/>
            </a:bodyPr>
            <a:lstStyle/>
            <a:p>
              <a:pPr algn="ctr"/>
              <a:r>
                <a:rPr lang="en-SG" sz="1200"/>
                <a:t>P </a:t>
              </a:r>
            </a:p>
            <a:p>
              <a:pPr algn="ctr"/>
              <a:r>
                <a:rPr lang="en-SG" sz="1200"/>
                <a:t>release</a:t>
              </a:r>
            </a:p>
          </p:txBody>
        </p:sp>
        <p:sp>
          <p:nvSpPr>
            <p:cNvPr id="27" name="TextBox 26">
              <a:extLst>
                <a:ext uri="{FF2B5EF4-FFF2-40B4-BE49-F238E27FC236}">
                  <a16:creationId xmlns:a16="http://schemas.microsoft.com/office/drawing/2014/main" id="{7141AE9B-53E5-4EAC-8C05-5147708A00B1}"/>
                </a:ext>
              </a:extLst>
            </p:cNvPr>
            <p:cNvSpPr txBox="1"/>
            <p:nvPr/>
          </p:nvSpPr>
          <p:spPr>
            <a:xfrm>
              <a:off x="5752860" y="5114166"/>
              <a:ext cx="761747" cy="461665"/>
            </a:xfrm>
            <a:prstGeom prst="rect">
              <a:avLst/>
            </a:prstGeom>
            <a:noFill/>
          </p:spPr>
          <p:txBody>
            <a:bodyPr wrap="none" rtlCol="0">
              <a:spAutoFit/>
            </a:bodyPr>
            <a:lstStyle/>
            <a:p>
              <a:pPr algn="ctr"/>
              <a:r>
                <a:rPr lang="en-SG" sz="1200"/>
                <a:t>P </a:t>
              </a:r>
            </a:p>
            <a:p>
              <a:pPr algn="ctr"/>
              <a:r>
                <a:rPr lang="en-SG" sz="1200"/>
                <a:t>deadline</a:t>
              </a:r>
            </a:p>
          </p:txBody>
        </p:sp>
        <p:sp>
          <p:nvSpPr>
            <p:cNvPr id="28" name="TextBox 27">
              <a:extLst>
                <a:ext uri="{FF2B5EF4-FFF2-40B4-BE49-F238E27FC236}">
                  <a16:creationId xmlns:a16="http://schemas.microsoft.com/office/drawing/2014/main" id="{7809CF94-0ED1-49FA-A9BE-275ABEE4F62E}"/>
                </a:ext>
              </a:extLst>
            </p:cNvPr>
            <p:cNvSpPr txBox="1"/>
            <p:nvPr/>
          </p:nvSpPr>
          <p:spPr>
            <a:xfrm>
              <a:off x="6418023" y="5108655"/>
              <a:ext cx="686406" cy="461665"/>
            </a:xfrm>
            <a:prstGeom prst="rect">
              <a:avLst/>
            </a:prstGeom>
            <a:noFill/>
          </p:spPr>
          <p:txBody>
            <a:bodyPr wrap="none" rtlCol="0">
              <a:spAutoFit/>
            </a:bodyPr>
            <a:lstStyle/>
            <a:p>
              <a:pPr algn="ctr"/>
              <a:r>
                <a:rPr lang="en-SG" sz="1200"/>
                <a:t>P </a:t>
              </a:r>
            </a:p>
            <a:p>
              <a:pPr algn="ctr"/>
              <a:r>
                <a:rPr lang="en-SG" sz="1200"/>
                <a:t>release</a:t>
              </a:r>
            </a:p>
          </p:txBody>
        </p:sp>
        <p:sp>
          <p:nvSpPr>
            <p:cNvPr id="29" name="TextBox 28">
              <a:extLst>
                <a:ext uri="{FF2B5EF4-FFF2-40B4-BE49-F238E27FC236}">
                  <a16:creationId xmlns:a16="http://schemas.microsoft.com/office/drawing/2014/main" id="{84837E10-7551-478A-B636-638179124F5E}"/>
                </a:ext>
              </a:extLst>
            </p:cNvPr>
            <p:cNvSpPr txBox="1"/>
            <p:nvPr/>
          </p:nvSpPr>
          <p:spPr>
            <a:xfrm>
              <a:off x="7716351" y="5108588"/>
              <a:ext cx="761747" cy="461665"/>
            </a:xfrm>
            <a:prstGeom prst="rect">
              <a:avLst/>
            </a:prstGeom>
            <a:noFill/>
          </p:spPr>
          <p:txBody>
            <a:bodyPr wrap="none" rtlCol="0">
              <a:spAutoFit/>
            </a:bodyPr>
            <a:lstStyle/>
            <a:p>
              <a:pPr algn="ctr"/>
              <a:r>
                <a:rPr lang="en-SG" sz="1200"/>
                <a:t>P </a:t>
              </a:r>
            </a:p>
            <a:p>
              <a:pPr algn="ctr"/>
              <a:r>
                <a:rPr lang="en-SG" sz="1200"/>
                <a:t>deadline</a:t>
              </a:r>
            </a:p>
          </p:txBody>
        </p:sp>
      </p:grpSp>
    </p:spTree>
    <p:extLst>
      <p:ext uri="{BB962C8B-B14F-4D97-AF65-F5344CB8AC3E}">
        <p14:creationId xmlns:p14="http://schemas.microsoft.com/office/powerpoint/2010/main" val="3475014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animEffect transition="in" filter="circle(in)">
                                      <p:cBhvr>
                                        <p:cTn id="7" dur="2000"/>
                                        <p:tgtEl>
                                          <p:spTgt spid="5">
                                            <p:txEl>
                                              <p:pRg st="3" end="3"/>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5">
                                            <p:txEl>
                                              <p:pRg st="4" end="4"/>
                                            </p:txEl>
                                          </p:spTgt>
                                        </p:tgtEl>
                                        <p:attrNameLst>
                                          <p:attrName>style.visibility</p:attrName>
                                        </p:attrNameLst>
                                      </p:cBhvr>
                                      <p:to>
                                        <p:strVal val="visible"/>
                                      </p:to>
                                    </p:set>
                                    <p:animEffect transition="in" filter="circle(in)">
                                      <p:cBhvr>
                                        <p:cTn id="10" dur="2000"/>
                                        <p:tgtEl>
                                          <p:spTgt spid="5">
                                            <p:txEl>
                                              <p:pRg st="4" end="4"/>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5">
                                            <p:txEl>
                                              <p:pRg st="5" end="5"/>
                                            </p:txEl>
                                          </p:spTgt>
                                        </p:tgtEl>
                                        <p:attrNameLst>
                                          <p:attrName>style.visibility</p:attrName>
                                        </p:attrNameLst>
                                      </p:cBhvr>
                                      <p:to>
                                        <p:strVal val="visible"/>
                                      </p:to>
                                    </p:set>
                                    <p:animEffect transition="in" filter="circle(in)">
                                      <p:cBhvr>
                                        <p:cTn id="13" dur="2000"/>
                                        <p:tgtEl>
                                          <p:spTgt spid="5">
                                            <p:txEl>
                                              <p:pRg st="5" end="5"/>
                                            </p:txEl>
                                          </p:spTgt>
                                        </p:tgtEl>
                                      </p:cBhvr>
                                    </p:animEffect>
                                  </p:childTnLst>
                                </p:cTn>
                              </p:par>
                            </p:childTnLst>
                          </p:cTn>
                        </p:par>
                        <p:par>
                          <p:cTn id="14" fill="hold">
                            <p:stCondLst>
                              <p:cond delay="2000"/>
                            </p:stCondLst>
                            <p:childTnLst>
                              <p:par>
                                <p:cTn id="15" presetID="1" presetClass="entr" presetSubtype="0" fill="hold" nodeType="afterEffect">
                                  <p:stCondLst>
                                    <p:cond delay="0"/>
                                  </p:stCondLst>
                                  <p:childTnLst>
                                    <p:set>
                                      <p:cBhvr>
                                        <p:cTn id="1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69AC5585-0885-4B44-96D6-B34E7745B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EBBB09CD-D3E6-4E6F-A7F3-E9470C3AF080}"/>
              </a:ext>
            </a:extLst>
          </p:cNvPr>
          <p:cNvSpPr>
            <a:spLocks noGrp="1" noChangeArrowheads="1"/>
          </p:cNvSpPr>
          <p:nvPr>
            <p:ph type="title"/>
          </p:nvPr>
        </p:nvSpPr>
        <p:spPr/>
        <p:txBody>
          <a:bodyPr/>
          <a:lstStyle/>
          <a:p>
            <a:r>
              <a:rPr lang="en-US" altLang="en-US"/>
              <a:t>Part 5: Real-Time OS &amp; Virtualization</a:t>
            </a:r>
          </a:p>
        </p:txBody>
      </p:sp>
      <p:sp>
        <p:nvSpPr>
          <p:cNvPr id="15363" name="Rectangle 3">
            <a:extLst>
              <a:ext uri="{FF2B5EF4-FFF2-40B4-BE49-F238E27FC236}">
                <a16:creationId xmlns:a16="http://schemas.microsoft.com/office/drawing/2014/main" id="{5D2A2987-961C-49DA-8FC7-96ED0A735442}"/>
              </a:ext>
            </a:extLst>
          </p:cNvPr>
          <p:cNvSpPr>
            <a:spLocks noGrp="1" noChangeArrowheads="1"/>
          </p:cNvSpPr>
          <p:nvPr>
            <p:ph type="body" idx="1"/>
          </p:nvPr>
        </p:nvSpPr>
        <p:spPr>
          <a:xfrm>
            <a:off x="1047750" y="1371600"/>
            <a:ext cx="7029450" cy="4484688"/>
          </a:xfrm>
        </p:spPr>
        <p:txBody>
          <a:bodyPr/>
          <a:lstStyle/>
          <a:p>
            <a:r>
              <a:rPr lang="en-US" altLang="en-US" sz="2800"/>
              <a:t>What is a Real-Time OS (RTOS)?</a:t>
            </a:r>
          </a:p>
          <a:p>
            <a:r>
              <a:rPr lang="en-US" altLang="en-US" sz="2800"/>
              <a:t>Real-Time Process Specification</a:t>
            </a:r>
          </a:p>
          <a:p>
            <a:r>
              <a:rPr lang="en-US" altLang="en-US" sz="2800" b="1"/>
              <a:t>Real-Time CPU Scheduling (short-term scheduler)</a:t>
            </a:r>
          </a:p>
          <a:p>
            <a:pPr lvl="1"/>
            <a:r>
              <a:rPr lang="en-US" altLang="en-US" sz="2800" b="1"/>
              <a:t>Fixed-priority scheduling</a:t>
            </a:r>
          </a:p>
          <a:p>
            <a:pPr lvl="1"/>
            <a:r>
              <a:rPr lang="en-US" altLang="en-US" sz="2800" b="1"/>
              <a:t>Dynamic-priority scheduling </a:t>
            </a:r>
          </a:p>
          <a:p>
            <a:r>
              <a:rPr lang="en-US" altLang="en-US" sz="2800"/>
              <a:t>Virtualization</a:t>
            </a:r>
          </a:p>
        </p:txBody>
      </p:sp>
    </p:spTree>
    <p:extLst>
      <p:ext uri="{BB962C8B-B14F-4D97-AF65-F5344CB8AC3E}">
        <p14:creationId xmlns:p14="http://schemas.microsoft.com/office/powerpoint/2010/main" val="11309252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 Why Classic Algorithms Fail?</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3916" y="1289050"/>
            <a:ext cx="8504237" cy="458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a:t>Consider real-time processes (non-recurring): </a:t>
            </a:r>
            <a:r>
              <a:rPr lang="en-SG" altLang="en-US" kern="0"/>
              <a:t>P</a:t>
            </a:r>
            <a:r>
              <a:rPr lang="en-SG" altLang="en-US" kern="0" baseline="-25000"/>
              <a:t>1</a:t>
            </a:r>
            <a:r>
              <a:rPr lang="en-SG" altLang="en-US" kern="0"/>
              <a:t>&lt;0,20,30&gt;, P</a:t>
            </a:r>
            <a:r>
              <a:rPr lang="en-SG" altLang="en-US" kern="0" baseline="-25000"/>
              <a:t>2</a:t>
            </a:r>
            <a:r>
              <a:rPr lang="en-SG" altLang="en-US" kern="0"/>
              <a:t>&lt;0,5,10&gt;, P</a:t>
            </a:r>
            <a:r>
              <a:rPr lang="en-SG" altLang="en-US" kern="0" baseline="-25000"/>
              <a:t>3</a:t>
            </a:r>
            <a:r>
              <a:rPr lang="en-SG" altLang="en-US" kern="0"/>
              <a:t>&lt;5,10,35&gt;, P</a:t>
            </a:r>
            <a:r>
              <a:rPr lang="en-SG" altLang="en-US" kern="0" baseline="-25000"/>
              <a:t>4</a:t>
            </a:r>
            <a:r>
              <a:rPr lang="en-SG" altLang="en-US" kern="0"/>
              <a:t>&lt;20,10,30&gt;, P</a:t>
            </a:r>
            <a:r>
              <a:rPr lang="en-SG" altLang="en-US" kern="0" baseline="-25000"/>
              <a:t>5</a:t>
            </a:r>
            <a:r>
              <a:rPr lang="en-SG" altLang="en-US" kern="0"/>
              <a:t>&lt;25,5,10&gt;</a:t>
            </a:r>
          </a:p>
          <a:p>
            <a:endParaRPr lang="en-SG" altLang="en-US" kern="0"/>
          </a:p>
          <a:p>
            <a:endParaRPr lang="en-SG" altLang="en-US" kern="0"/>
          </a:p>
          <a:p>
            <a:endParaRPr lang="en-SG" altLang="en-US" kern="0"/>
          </a:p>
          <a:p>
            <a:endParaRPr lang="en-SG" altLang="en-US" kern="0"/>
          </a:p>
          <a:p>
            <a:endParaRPr lang="en-SG" altLang="en-US" kern="0"/>
          </a:p>
          <a:p>
            <a:endParaRPr lang="en-SG" altLang="en-US" kern="0"/>
          </a:p>
          <a:p>
            <a:endParaRPr lang="en-SG" altLang="en-US" kern="0"/>
          </a:p>
          <a:p>
            <a:endParaRPr lang="en-SG" altLang="en-US" kern="0"/>
          </a:p>
          <a:p>
            <a:endParaRPr lang="en-SG" altLang="en-US" kern="0"/>
          </a:p>
          <a:p>
            <a:endParaRPr lang="en-SG" altLang="en-US" sz="1400" kern="0"/>
          </a:p>
          <a:p>
            <a:pPr marL="0" indent="0">
              <a:buNone/>
            </a:pPr>
            <a:r>
              <a:rPr lang="en-SG" altLang="en-US" sz="2400" kern="0">
                <a:solidFill>
                  <a:srgbClr val="FF0000"/>
                </a:solidFill>
              </a:rPr>
              <a:t>  They don’t prioritize deadlines and hence perform poorly</a:t>
            </a:r>
          </a:p>
        </p:txBody>
      </p:sp>
      <p:grpSp>
        <p:nvGrpSpPr>
          <p:cNvPr id="7" name="Group 6">
            <a:extLst>
              <a:ext uri="{FF2B5EF4-FFF2-40B4-BE49-F238E27FC236}">
                <a16:creationId xmlns:a16="http://schemas.microsoft.com/office/drawing/2014/main" id="{35BB4988-69E8-4A98-AABC-DD369410396F}"/>
              </a:ext>
            </a:extLst>
          </p:cNvPr>
          <p:cNvGrpSpPr/>
          <p:nvPr/>
        </p:nvGrpSpPr>
        <p:grpSpPr>
          <a:xfrm>
            <a:off x="2480024" y="1985433"/>
            <a:ext cx="6141429" cy="1275300"/>
            <a:chOff x="2730012" y="2735458"/>
            <a:chExt cx="6141429" cy="1275300"/>
          </a:xfrm>
        </p:grpSpPr>
        <p:cxnSp>
          <p:nvCxnSpPr>
            <p:cNvPr id="8" name="Straight Arrow Connector 7">
              <a:extLst>
                <a:ext uri="{FF2B5EF4-FFF2-40B4-BE49-F238E27FC236}">
                  <a16:creationId xmlns:a16="http://schemas.microsoft.com/office/drawing/2014/main" id="{AC3D4723-911A-4EB5-BAD3-59E3EF57DF46}"/>
                </a:ext>
              </a:extLst>
            </p:cNvPr>
            <p:cNvCxnSpPr>
              <a:cxnSpLocks/>
            </p:cNvCxnSpPr>
            <p:nvPr/>
          </p:nvCxnSpPr>
          <p:spPr bwMode="auto">
            <a:xfrm flipV="1">
              <a:off x="2730012" y="3665479"/>
              <a:ext cx="614142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9" name="Straight Connector 8">
              <a:extLst>
                <a:ext uri="{FF2B5EF4-FFF2-40B4-BE49-F238E27FC236}">
                  <a16:creationId xmlns:a16="http://schemas.microsoft.com/office/drawing/2014/main" id="{E85B41D4-C604-411E-81C7-544047B5D7AF}"/>
                </a:ext>
              </a:extLst>
            </p:cNvPr>
            <p:cNvCxnSpPr>
              <a:cxnSpLocks/>
            </p:cNvCxnSpPr>
            <p:nvPr/>
          </p:nvCxnSpPr>
          <p:spPr bwMode="auto">
            <a:xfrm>
              <a:off x="2914649"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10" name="TextBox 9">
              <a:extLst>
                <a:ext uri="{FF2B5EF4-FFF2-40B4-BE49-F238E27FC236}">
                  <a16:creationId xmlns:a16="http://schemas.microsoft.com/office/drawing/2014/main" id="{17957906-56DB-4037-8C7B-16CDEA1A152B}"/>
                </a:ext>
              </a:extLst>
            </p:cNvPr>
            <p:cNvSpPr txBox="1"/>
            <p:nvPr/>
          </p:nvSpPr>
          <p:spPr>
            <a:xfrm>
              <a:off x="2773972" y="3641426"/>
              <a:ext cx="5666043" cy="369332"/>
            </a:xfrm>
            <a:prstGeom prst="rect">
              <a:avLst/>
            </a:prstGeom>
            <a:noFill/>
          </p:spPr>
          <p:txBody>
            <a:bodyPr wrap="square" rtlCol="0">
              <a:spAutoFit/>
            </a:bodyPr>
            <a:lstStyle/>
            <a:p>
              <a:r>
                <a:rPr lang="en-SG"/>
                <a:t>0      5     10            20    25     30    35    40     45    50</a:t>
              </a:r>
            </a:p>
          </p:txBody>
        </p:sp>
        <p:cxnSp>
          <p:nvCxnSpPr>
            <p:cNvPr id="11" name="Straight Connector 10">
              <a:extLst>
                <a:ext uri="{FF2B5EF4-FFF2-40B4-BE49-F238E27FC236}">
                  <a16:creationId xmlns:a16="http://schemas.microsoft.com/office/drawing/2014/main" id="{2A999696-062D-4722-95D5-3EB00381E458}"/>
                </a:ext>
              </a:extLst>
            </p:cNvPr>
            <p:cNvCxnSpPr/>
            <p:nvPr/>
          </p:nvCxnSpPr>
          <p:spPr bwMode="auto">
            <a:xfrm>
              <a:off x="3431931"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13" name="Straight Connector 12">
              <a:extLst>
                <a:ext uri="{FF2B5EF4-FFF2-40B4-BE49-F238E27FC236}">
                  <a16:creationId xmlns:a16="http://schemas.microsoft.com/office/drawing/2014/main" id="{DFDC9E31-EE61-478B-947B-CBF7AE2208AF}"/>
                </a:ext>
              </a:extLst>
            </p:cNvPr>
            <p:cNvCxnSpPr>
              <a:cxnSpLocks/>
            </p:cNvCxnSpPr>
            <p:nvPr/>
          </p:nvCxnSpPr>
          <p:spPr bwMode="auto">
            <a:xfrm>
              <a:off x="3933092" y="320040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4" name="Straight Connector 13">
              <a:extLst>
                <a:ext uri="{FF2B5EF4-FFF2-40B4-BE49-F238E27FC236}">
                  <a16:creationId xmlns:a16="http://schemas.microsoft.com/office/drawing/2014/main" id="{165ECD16-0086-4A03-B55E-AABEF2973823}"/>
                </a:ext>
              </a:extLst>
            </p:cNvPr>
            <p:cNvCxnSpPr/>
            <p:nvPr/>
          </p:nvCxnSpPr>
          <p:spPr bwMode="auto">
            <a:xfrm>
              <a:off x="8123355"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5" name="Straight Connector 14">
              <a:extLst>
                <a:ext uri="{FF2B5EF4-FFF2-40B4-BE49-F238E27FC236}">
                  <a16:creationId xmlns:a16="http://schemas.microsoft.com/office/drawing/2014/main" id="{2D993148-CFD7-4689-BAA4-0C5DAA11556E}"/>
                </a:ext>
              </a:extLst>
            </p:cNvPr>
            <p:cNvCxnSpPr/>
            <p:nvPr/>
          </p:nvCxnSpPr>
          <p:spPr bwMode="auto">
            <a:xfrm>
              <a:off x="6012233"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16" name="TextBox 15">
              <a:extLst>
                <a:ext uri="{FF2B5EF4-FFF2-40B4-BE49-F238E27FC236}">
                  <a16:creationId xmlns:a16="http://schemas.microsoft.com/office/drawing/2014/main" id="{5DB5CED8-FAA1-4B1C-B59D-BFBB4B80239F}"/>
                </a:ext>
              </a:extLst>
            </p:cNvPr>
            <p:cNvSpPr txBox="1"/>
            <p:nvPr/>
          </p:nvSpPr>
          <p:spPr>
            <a:xfrm>
              <a:off x="2744737" y="2735458"/>
              <a:ext cx="344966" cy="461665"/>
            </a:xfrm>
            <a:prstGeom prst="rect">
              <a:avLst/>
            </a:prstGeom>
            <a:noFill/>
          </p:spPr>
          <p:txBody>
            <a:bodyPr wrap="none" rtlCol="0">
              <a:spAutoFit/>
            </a:bodyPr>
            <a:lstStyle/>
            <a:p>
              <a:pPr algn="ctr"/>
              <a:r>
                <a:rPr lang="en-SG" sz="1200"/>
                <a:t>P</a:t>
              </a:r>
              <a:r>
                <a:rPr lang="en-SG" sz="1200" baseline="-25000"/>
                <a:t>1</a:t>
              </a:r>
            </a:p>
            <a:p>
              <a:pPr algn="ctr"/>
              <a:r>
                <a:rPr lang="en-SG" sz="1200"/>
                <a:t>P</a:t>
              </a:r>
              <a:r>
                <a:rPr lang="en-SG" sz="1200" baseline="-25000"/>
                <a:t>2</a:t>
              </a:r>
            </a:p>
          </p:txBody>
        </p:sp>
        <p:cxnSp>
          <p:nvCxnSpPr>
            <p:cNvPr id="22" name="Straight Connector 21">
              <a:extLst>
                <a:ext uri="{FF2B5EF4-FFF2-40B4-BE49-F238E27FC236}">
                  <a16:creationId xmlns:a16="http://schemas.microsoft.com/office/drawing/2014/main" id="{184A42A9-F702-43AC-B38A-8657E82C4013}"/>
                </a:ext>
              </a:extLst>
            </p:cNvPr>
            <p:cNvCxnSpPr/>
            <p:nvPr/>
          </p:nvCxnSpPr>
          <p:spPr bwMode="auto">
            <a:xfrm>
              <a:off x="4927726" y="320827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7" name="TextBox 26">
              <a:extLst>
                <a:ext uri="{FF2B5EF4-FFF2-40B4-BE49-F238E27FC236}">
                  <a16:creationId xmlns:a16="http://schemas.microsoft.com/office/drawing/2014/main" id="{7141AE9B-53E5-4EAC-8C05-5147708A00B1}"/>
                </a:ext>
              </a:extLst>
            </p:cNvPr>
            <p:cNvSpPr txBox="1"/>
            <p:nvPr/>
          </p:nvSpPr>
          <p:spPr>
            <a:xfrm>
              <a:off x="5839750" y="2908127"/>
              <a:ext cx="344966" cy="276999"/>
            </a:xfrm>
            <a:prstGeom prst="rect">
              <a:avLst/>
            </a:prstGeom>
            <a:noFill/>
          </p:spPr>
          <p:txBody>
            <a:bodyPr wrap="none" rtlCol="0">
              <a:spAutoFit/>
            </a:bodyPr>
            <a:lstStyle/>
            <a:p>
              <a:pPr algn="ctr"/>
              <a:r>
                <a:rPr lang="en-SG" sz="1200"/>
                <a:t>P</a:t>
              </a:r>
              <a:r>
                <a:rPr lang="en-SG" sz="1200" baseline="-25000"/>
                <a:t>1</a:t>
              </a:r>
            </a:p>
          </p:txBody>
        </p:sp>
        <p:sp>
          <p:nvSpPr>
            <p:cNvPr id="21" name="TextBox 20">
              <a:extLst>
                <a:ext uri="{FF2B5EF4-FFF2-40B4-BE49-F238E27FC236}">
                  <a16:creationId xmlns:a16="http://schemas.microsoft.com/office/drawing/2014/main" id="{71486583-C894-4C05-9EC2-C02968AE7A66}"/>
                </a:ext>
              </a:extLst>
            </p:cNvPr>
            <p:cNvSpPr txBox="1"/>
            <p:nvPr/>
          </p:nvSpPr>
          <p:spPr>
            <a:xfrm>
              <a:off x="3269677" y="2924306"/>
              <a:ext cx="344966" cy="276999"/>
            </a:xfrm>
            <a:prstGeom prst="rect">
              <a:avLst/>
            </a:prstGeom>
            <a:noFill/>
          </p:spPr>
          <p:txBody>
            <a:bodyPr wrap="none" rtlCol="0">
              <a:spAutoFit/>
            </a:bodyPr>
            <a:lstStyle/>
            <a:p>
              <a:pPr algn="ctr"/>
              <a:r>
                <a:rPr lang="en-SG" sz="1200"/>
                <a:t>P</a:t>
              </a:r>
              <a:r>
                <a:rPr lang="en-SG" sz="1200" baseline="-25000"/>
                <a:t>3</a:t>
              </a:r>
            </a:p>
          </p:txBody>
        </p:sp>
        <p:sp>
          <p:nvSpPr>
            <p:cNvPr id="23" name="TextBox 22">
              <a:extLst>
                <a:ext uri="{FF2B5EF4-FFF2-40B4-BE49-F238E27FC236}">
                  <a16:creationId xmlns:a16="http://schemas.microsoft.com/office/drawing/2014/main" id="{68F3EC6F-AB75-4618-A796-01D3BCA1A7B4}"/>
                </a:ext>
              </a:extLst>
            </p:cNvPr>
            <p:cNvSpPr txBox="1"/>
            <p:nvPr/>
          </p:nvSpPr>
          <p:spPr>
            <a:xfrm>
              <a:off x="3760609" y="2925170"/>
              <a:ext cx="344966" cy="276999"/>
            </a:xfrm>
            <a:prstGeom prst="rect">
              <a:avLst/>
            </a:prstGeom>
            <a:noFill/>
          </p:spPr>
          <p:txBody>
            <a:bodyPr wrap="none" rtlCol="0">
              <a:spAutoFit/>
            </a:bodyPr>
            <a:lstStyle/>
            <a:p>
              <a:pPr algn="ctr"/>
              <a:r>
                <a:rPr lang="en-SG" sz="1200"/>
                <a:t>P</a:t>
              </a:r>
              <a:r>
                <a:rPr lang="en-SG" sz="1200" baseline="-25000"/>
                <a:t>2</a:t>
              </a:r>
            </a:p>
          </p:txBody>
        </p:sp>
        <p:cxnSp>
          <p:nvCxnSpPr>
            <p:cNvPr id="24" name="Straight Connector 23">
              <a:extLst>
                <a:ext uri="{FF2B5EF4-FFF2-40B4-BE49-F238E27FC236}">
                  <a16:creationId xmlns:a16="http://schemas.microsoft.com/office/drawing/2014/main" id="{2FA0B66F-A8F2-4B8D-9A9D-DA926869997B}"/>
                </a:ext>
              </a:extLst>
            </p:cNvPr>
            <p:cNvCxnSpPr/>
            <p:nvPr/>
          </p:nvCxnSpPr>
          <p:spPr bwMode="auto">
            <a:xfrm>
              <a:off x="7030675" y="318512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25" name="TextBox 24">
              <a:extLst>
                <a:ext uri="{FF2B5EF4-FFF2-40B4-BE49-F238E27FC236}">
                  <a16:creationId xmlns:a16="http://schemas.microsoft.com/office/drawing/2014/main" id="{77183B9F-6773-4DF0-B79F-AD8E6E3AE911}"/>
                </a:ext>
              </a:extLst>
            </p:cNvPr>
            <p:cNvSpPr txBox="1"/>
            <p:nvPr/>
          </p:nvSpPr>
          <p:spPr>
            <a:xfrm>
              <a:off x="6858192" y="2884974"/>
              <a:ext cx="344966" cy="276999"/>
            </a:xfrm>
            <a:prstGeom prst="rect">
              <a:avLst/>
            </a:prstGeom>
            <a:noFill/>
          </p:spPr>
          <p:txBody>
            <a:bodyPr wrap="none" rtlCol="0">
              <a:spAutoFit/>
            </a:bodyPr>
            <a:lstStyle/>
            <a:p>
              <a:pPr algn="ctr"/>
              <a:r>
                <a:rPr lang="en-SG" sz="1200"/>
                <a:t>P</a:t>
              </a:r>
              <a:r>
                <a:rPr lang="en-SG" sz="1200" baseline="-25000"/>
                <a:t>3</a:t>
              </a:r>
            </a:p>
          </p:txBody>
        </p:sp>
        <p:sp>
          <p:nvSpPr>
            <p:cNvPr id="30" name="TextBox 29">
              <a:extLst>
                <a:ext uri="{FF2B5EF4-FFF2-40B4-BE49-F238E27FC236}">
                  <a16:creationId xmlns:a16="http://schemas.microsoft.com/office/drawing/2014/main" id="{157803AE-7604-4C94-99AC-EA0DD2F7E992}"/>
                </a:ext>
              </a:extLst>
            </p:cNvPr>
            <p:cNvSpPr txBox="1"/>
            <p:nvPr/>
          </p:nvSpPr>
          <p:spPr>
            <a:xfrm>
              <a:off x="4755243" y="2918810"/>
              <a:ext cx="344967" cy="276999"/>
            </a:xfrm>
            <a:prstGeom prst="rect">
              <a:avLst/>
            </a:prstGeom>
            <a:noFill/>
          </p:spPr>
          <p:txBody>
            <a:bodyPr wrap="none" rtlCol="0">
              <a:spAutoFit/>
            </a:bodyPr>
            <a:lstStyle/>
            <a:p>
              <a:pPr algn="ctr"/>
              <a:r>
                <a:rPr lang="en-SG" sz="1200"/>
                <a:t>P</a:t>
              </a:r>
              <a:r>
                <a:rPr lang="en-SG" sz="1200" baseline="-25000"/>
                <a:t>4</a:t>
              </a:r>
            </a:p>
          </p:txBody>
        </p:sp>
        <p:sp>
          <p:nvSpPr>
            <p:cNvPr id="31" name="TextBox 30">
              <a:extLst>
                <a:ext uri="{FF2B5EF4-FFF2-40B4-BE49-F238E27FC236}">
                  <a16:creationId xmlns:a16="http://schemas.microsoft.com/office/drawing/2014/main" id="{09100FE7-B499-4681-A58F-6DA6A273FC6B}"/>
                </a:ext>
              </a:extLst>
            </p:cNvPr>
            <p:cNvSpPr txBox="1"/>
            <p:nvPr/>
          </p:nvSpPr>
          <p:spPr>
            <a:xfrm>
              <a:off x="7950871" y="2908127"/>
              <a:ext cx="344967" cy="276999"/>
            </a:xfrm>
            <a:prstGeom prst="rect">
              <a:avLst/>
            </a:prstGeom>
            <a:noFill/>
          </p:spPr>
          <p:txBody>
            <a:bodyPr wrap="none" rtlCol="0">
              <a:spAutoFit/>
            </a:bodyPr>
            <a:lstStyle/>
            <a:p>
              <a:pPr algn="ctr"/>
              <a:r>
                <a:rPr lang="en-SG" sz="1200"/>
                <a:t>P</a:t>
              </a:r>
              <a:r>
                <a:rPr lang="en-SG" sz="1200" baseline="-25000"/>
                <a:t>4</a:t>
              </a:r>
            </a:p>
          </p:txBody>
        </p:sp>
        <p:cxnSp>
          <p:nvCxnSpPr>
            <p:cNvPr id="32" name="Straight Connector 31">
              <a:extLst>
                <a:ext uri="{FF2B5EF4-FFF2-40B4-BE49-F238E27FC236}">
                  <a16:creationId xmlns:a16="http://schemas.microsoft.com/office/drawing/2014/main" id="{DF314E30-2E55-4706-B530-4EB3F8CE024C}"/>
                </a:ext>
              </a:extLst>
            </p:cNvPr>
            <p:cNvCxnSpPr/>
            <p:nvPr/>
          </p:nvCxnSpPr>
          <p:spPr bwMode="auto">
            <a:xfrm>
              <a:off x="5449403" y="319580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33" name="Straight Connector 32">
              <a:extLst>
                <a:ext uri="{FF2B5EF4-FFF2-40B4-BE49-F238E27FC236}">
                  <a16:creationId xmlns:a16="http://schemas.microsoft.com/office/drawing/2014/main" id="{DA913655-A431-495C-AD6B-0AA4315FF290}"/>
                </a:ext>
              </a:extLst>
            </p:cNvPr>
            <p:cNvCxnSpPr/>
            <p:nvPr/>
          </p:nvCxnSpPr>
          <p:spPr bwMode="auto">
            <a:xfrm>
              <a:off x="6525118"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4" name="TextBox 33">
              <a:extLst>
                <a:ext uri="{FF2B5EF4-FFF2-40B4-BE49-F238E27FC236}">
                  <a16:creationId xmlns:a16="http://schemas.microsoft.com/office/drawing/2014/main" id="{3500CFDE-9D54-40D9-802B-1C6B1C94677A}"/>
                </a:ext>
              </a:extLst>
            </p:cNvPr>
            <p:cNvSpPr txBox="1"/>
            <p:nvPr/>
          </p:nvSpPr>
          <p:spPr>
            <a:xfrm>
              <a:off x="5276919" y="2906340"/>
              <a:ext cx="344966" cy="276999"/>
            </a:xfrm>
            <a:prstGeom prst="rect">
              <a:avLst/>
            </a:prstGeom>
            <a:noFill/>
          </p:spPr>
          <p:txBody>
            <a:bodyPr wrap="none" rtlCol="0">
              <a:spAutoFit/>
            </a:bodyPr>
            <a:lstStyle/>
            <a:p>
              <a:pPr algn="ctr"/>
              <a:r>
                <a:rPr lang="en-SG" sz="1200"/>
                <a:t>P</a:t>
              </a:r>
              <a:r>
                <a:rPr lang="en-SG" sz="1200" baseline="-25000"/>
                <a:t>5</a:t>
              </a:r>
            </a:p>
          </p:txBody>
        </p:sp>
        <p:sp>
          <p:nvSpPr>
            <p:cNvPr id="35" name="TextBox 34">
              <a:extLst>
                <a:ext uri="{FF2B5EF4-FFF2-40B4-BE49-F238E27FC236}">
                  <a16:creationId xmlns:a16="http://schemas.microsoft.com/office/drawing/2014/main" id="{6AFE1EC8-3C7D-49D5-B19A-A8723F68FD8A}"/>
                </a:ext>
              </a:extLst>
            </p:cNvPr>
            <p:cNvSpPr txBox="1"/>
            <p:nvPr/>
          </p:nvSpPr>
          <p:spPr>
            <a:xfrm>
              <a:off x="6352635" y="2916219"/>
              <a:ext cx="344966" cy="276999"/>
            </a:xfrm>
            <a:prstGeom prst="rect">
              <a:avLst/>
            </a:prstGeom>
            <a:noFill/>
          </p:spPr>
          <p:txBody>
            <a:bodyPr wrap="none" rtlCol="0">
              <a:spAutoFit/>
            </a:bodyPr>
            <a:lstStyle/>
            <a:p>
              <a:pPr algn="ctr"/>
              <a:r>
                <a:rPr lang="en-SG" sz="1200"/>
                <a:t>P</a:t>
              </a:r>
              <a:r>
                <a:rPr lang="en-SG" sz="1200" baseline="-25000"/>
                <a:t>5</a:t>
              </a:r>
            </a:p>
          </p:txBody>
        </p:sp>
      </p:grpSp>
      <p:grpSp>
        <p:nvGrpSpPr>
          <p:cNvPr id="36" name="Group 35">
            <a:extLst>
              <a:ext uri="{FF2B5EF4-FFF2-40B4-BE49-F238E27FC236}">
                <a16:creationId xmlns:a16="http://schemas.microsoft.com/office/drawing/2014/main" id="{97E2652C-AC4D-495A-925D-7B28353038B1}"/>
              </a:ext>
            </a:extLst>
          </p:cNvPr>
          <p:cNvGrpSpPr/>
          <p:nvPr/>
        </p:nvGrpSpPr>
        <p:grpSpPr>
          <a:xfrm>
            <a:off x="2480025" y="3401133"/>
            <a:ext cx="6141429" cy="1275300"/>
            <a:chOff x="2730012" y="2735458"/>
            <a:chExt cx="6141429" cy="1275300"/>
          </a:xfrm>
        </p:grpSpPr>
        <p:cxnSp>
          <p:nvCxnSpPr>
            <p:cNvPr id="37" name="Straight Arrow Connector 36">
              <a:extLst>
                <a:ext uri="{FF2B5EF4-FFF2-40B4-BE49-F238E27FC236}">
                  <a16:creationId xmlns:a16="http://schemas.microsoft.com/office/drawing/2014/main" id="{7BEEAF3B-4EC5-4C01-8990-8A43D37ED8E0}"/>
                </a:ext>
              </a:extLst>
            </p:cNvPr>
            <p:cNvCxnSpPr>
              <a:cxnSpLocks/>
            </p:cNvCxnSpPr>
            <p:nvPr/>
          </p:nvCxnSpPr>
          <p:spPr bwMode="auto">
            <a:xfrm flipV="1">
              <a:off x="2730012" y="3665479"/>
              <a:ext cx="614142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38" name="Straight Connector 37">
              <a:extLst>
                <a:ext uri="{FF2B5EF4-FFF2-40B4-BE49-F238E27FC236}">
                  <a16:creationId xmlns:a16="http://schemas.microsoft.com/office/drawing/2014/main" id="{C1DFAC58-B286-421C-95F4-4CEA168FA3D6}"/>
                </a:ext>
              </a:extLst>
            </p:cNvPr>
            <p:cNvCxnSpPr>
              <a:cxnSpLocks/>
            </p:cNvCxnSpPr>
            <p:nvPr/>
          </p:nvCxnSpPr>
          <p:spPr bwMode="auto">
            <a:xfrm>
              <a:off x="2914649"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39" name="TextBox 38">
              <a:extLst>
                <a:ext uri="{FF2B5EF4-FFF2-40B4-BE49-F238E27FC236}">
                  <a16:creationId xmlns:a16="http://schemas.microsoft.com/office/drawing/2014/main" id="{26953A36-9EB3-498E-AC54-C02E95840D52}"/>
                </a:ext>
              </a:extLst>
            </p:cNvPr>
            <p:cNvSpPr txBox="1"/>
            <p:nvPr/>
          </p:nvSpPr>
          <p:spPr>
            <a:xfrm>
              <a:off x="2773972" y="3641426"/>
              <a:ext cx="5666041" cy="369332"/>
            </a:xfrm>
            <a:prstGeom prst="rect">
              <a:avLst/>
            </a:prstGeom>
            <a:noFill/>
          </p:spPr>
          <p:txBody>
            <a:bodyPr wrap="square" rtlCol="0">
              <a:spAutoFit/>
            </a:bodyPr>
            <a:lstStyle/>
            <a:p>
              <a:r>
                <a:rPr lang="en-SG"/>
                <a:t>0      5     10     15   20    25     30    35    40             50   </a:t>
              </a:r>
            </a:p>
          </p:txBody>
        </p:sp>
        <p:cxnSp>
          <p:nvCxnSpPr>
            <p:cNvPr id="40" name="Straight Connector 39">
              <a:extLst>
                <a:ext uri="{FF2B5EF4-FFF2-40B4-BE49-F238E27FC236}">
                  <a16:creationId xmlns:a16="http://schemas.microsoft.com/office/drawing/2014/main" id="{5D2A8164-0BB9-4ED2-AC1A-8B47E3A9ADA7}"/>
                </a:ext>
              </a:extLst>
            </p:cNvPr>
            <p:cNvCxnSpPr/>
            <p:nvPr/>
          </p:nvCxnSpPr>
          <p:spPr bwMode="auto">
            <a:xfrm>
              <a:off x="3431931"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1" name="Straight Connector 40">
              <a:extLst>
                <a:ext uri="{FF2B5EF4-FFF2-40B4-BE49-F238E27FC236}">
                  <a16:creationId xmlns:a16="http://schemas.microsoft.com/office/drawing/2014/main" id="{42CE32DF-841C-496F-996D-7A30170D6EED}"/>
                </a:ext>
              </a:extLst>
            </p:cNvPr>
            <p:cNvCxnSpPr>
              <a:cxnSpLocks/>
            </p:cNvCxnSpPr>
            <p:nvPr/>
          </p:nvCxnSpPr>
          <p:spPr bwMode="auto">
            <a:xfrm>
              <a:off x="3933092" y="320040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2" name="Straight Connector 41">
              <a:extLst>
                <a:ext uri="{FF2B5EF4-FFF2-40B4-BE49-F238E27FC236}">
                  <a16:creationId xmlns:a16="http://schemas.microsoft.com/office/drawing/2014/main" id="{18038ED5-7B01-48F2-8884-17D1C74A7A7E}"/>
                </a:ext>
              </a:extLst>
            </p:cNvPr>
            <p:cNvCxnSpPr/>
            <p:nvPr/>
          </p:nvCxnSpPr>
          <p:spPr bwMode="auto">
            <a:xfrm>
              <a:off x="8110173"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6B4CD2AE-5404-4B45-A813-18F41A414C50}"/>
                </a:ext>
              </a:extLst>
            </p:cNvPr>
            <p:cNvCxnSpPr/>
            <p:nvPr/>
          </p:nvCxnSpPr>
          <p:spPr bwMode="auto">
            <a:xfrm>
              <a:off x="6012233"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44" name="TextBox 43">
              <a:extLst>
                <a:ext uri="{FF2B5EF4-FFF2-40B4-BE49-F238E27FC236}">
                  <a16:creationId xmlns:a16="http://schemas.microsoft.com/office/drawing/2014/main" id="{4C64FBAC-318C-4B05-BC17-63A3BBF8EF4D}"/>
                </a:ext>
              </a:extLst>
            </p:cNvPr>
            <p:cNvSpPr txBox="1"/>
            <p:nvPr/>
          </p:nvSpPr>
          <p:spPr>
            <a:xfrm>
              <a:off x="2744737" y="2735458"/>
              <a:ext cx="344966" cy="461665"/>
            </a:xfrm>
            <a:prstGeom prst="rect">
              <a:avLst/>
            </a:prstGeom>
            <a:noFill/>
          </p:spPr>
          <p:txBody>
            <a:bodyPr wrap="none" rtlCol="0">
              <a:spAutoFit/>
            </a:bodyPr>
            <a:lstStyle/>
            <a:p>
              <a:pPr algn="ctr"/>
              <a:r>
                <a:rPr lang="en-SG" sz="1200"/>
                <a:t>P</a:t>
              </a:r>
              <a:r>
                <a:rPr lang="en-SG" sz="1200" baseline="-25000"/>
                <a:t>1</a:t>
              </a:r>
            </a:p>
            <a:p>
              <a:pPr algn="ctr"/>
              <a:r>
                <a:rPr lang="en-SG" sz="1200"/>
                <a:t>P</a:t>
              </a:r>
              <a:r>
                <a:rPr lang="en-SG" sz="1200" baseline="-25000"/>
                <a:t>2</a:t>
              </a:r>
            </a:p>
          </p:txBody>
        </p:sp>
        <p:cxnSp>
          <p:nvCxnSpPr>
            <p:cNvPr id="45" name="Straight Connector 44">
              <a:extLst>
                <a:ext uri="{FF2B5EF4-FFF2-40B4-BE49-F238E27FC236}">
                  <a16:creationId xmlns:a16="http://schemas.microsoft.com/office/drawing/2014/main" id="{B4F5FB85-67EC-477F-8D83-956B0C7AF8DB}"/>
                </a:ext>
              </a:extLst>
            </p:cNvPr>
            <p:cNvCxnSpPr/>
            <p:nvPr/>
          </p:nvCxnSpPr>
          <p:spPr bwMode="auto">
            <a:xfrm>
              <a:off x="4927726" y="320827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46" name="TextBox 45">
              <a:extLst>
                <a:ext uri="{FF2B5EF4-FFF2-40B4-BE49-F238E27FC236}">
                  <a16:creationId xmlns:a16="http://schemas.microsoft.com/office/drawing/2014/main" id="{14D36D2B-C1F8-4AC3-9968-247709B213C1}"/>
                </a:ext>
              </a:extLst>
            </p:cNvPr>
            <p:cNvSpPr txBox="1"/>
            <p:nvPr/>
          </p:nvSpPr>
          <p:spPr>
            <a:xfrm>
              <a:off x="5839750" y="2908127"/>
              <a:ext cx="344966" cy="276999"/>
            </a:xfrm>
            <a:prstGeom prst="rect">
              <a:avLst/>
            </a:prstGeom>
            <a:noFill/>
          </p:spPr>
          <p:txBody>
            <a:bodyPr wrap="none" rtlCol="0">
              <a:spAutoFit/>
            </a:bodyPr>
            <a:lstStyle/>
            <a:p>
              <a:pPr algn="ctr"/>
              <a:r>
                <a:rPr lang="en-SG" sz="1200"/>
                <a:t>P</a:t>
              </a:r>
              <a:r>
                <a:rPr lang="en-SG" sz="1200" baseline="-25000"/>
                <a:t>1</a:t>
              </a:r>
            </a:p>
          </p:txBody>
        </p:sp>
        <p:sp>
          <p:nvSpPr>
            <p:cNvPr id="47" name="TextBox 46">
              <a:extLst>
                <a:ext uri="{FF2B5EF4-FFF2-40B4-BE49-F238E27FC236}">
                  <a16:creationId xmlns:a16="http://schemas.microsoft.com/office/drawing/2014/main" id="{1522BF4A-9D6D-4F3F-9952-1CEF5BB89C00}"/>
                </a:ext>
              </a:extLst>
            </p:cNvPr>
            <p:cNvSpPr txBox="1"/>
            <p:nvPr/>
          </p:nvSpPr>
          <p:spPr>
            <a:xfrm>
              <a:off x="3269677" y="2924306"/>
              <a:ext cx="344966" cy="276999"/>
            </a:xfrm>
            <a:prstGeom prst="rect">
              <a:avLst/>
            </a:prstGeom>
            <a:noFill/>
          </p:spPr>
          <p:txBody>
            <a:bodyPr wrap="none" rtlCol="0">
              <a:spAutoFit/>
            </a:bodyPr>
            <a:lstStyle/>
            <a:p>
              <a:pPr algn="ctr"/>
              <a:r>
                <a:rPr lang="en-SG" sz="1200"/>
                <a:t>P</a:t>
              </a:r>
              <a:r>
                <a:rPr lang="en-SG" sz="1200" baseline="-25000"/>
                <a:t>3</a:t>
              </a:r>
            </a:p>
          </p:txBody>
        </p:sp>
        <p:sp>
          <p:nvSpPr>
            <p:cNvPr id="48" name="TextBox 47">
              <a:extLst>
                <a:ext uri="{FF2B5EF4-FFF2-40B4-BE49-F238E27FC236}">
                  <a16:creationId xmlns:a16="http://schemas.microsoft.com/office/drawing/2014/main" id="{381B4834-3100-4CA1-8D8B-2F3ED9446E32}"/>
                </a:ext>
              </a:extLst>
            </p:cNvPr>
            <p:cNvSpPr txBox="1"/>
            <p:nvPr/>
          </p:nvSpPr>
          <p:spPr>
            <a:xfrm>
              <a:off x="3760609" y="2925170"/>
              <a:ext cx="344966" cy="276999"/>
            </a:xfrm>
            <a:prstGeom prst="rect">
              <a:avLst/>
            </a:prstGeom>
            <a:noFill/>
          </p:spPr>
          <p:txBody>
            <a:bodyPr wrap="none" rtlCol="0">
              <a:spAutoFit/>
            </a:bodyPr>
            <a:lstStyle/>
            <a:p>
              <a:pPr algn="ctr"/>
              <a:r>
                <a:rPr lang="en-SG" sz="1200"/>
                <a:t>P</a:t>
              </a:r>
              <a:r>
                <a:rPr lang="en-SG" sz="1200" baseline="-25000"/>
                <a:t>2</a:t>
              </a:r>
            </a:p>
          </p:txBody>
        </p:sp>
        <p:cxnSp>
          <p:nvCxnSpPr>
            <p:cNvPr id="49" name="Straight Connector 48">
              <a:extLst>
                <a:ext uri="{FF2B5EF4-FFF2-40B4-BE49-F238E27FC236}">
                  <a16:creationId xmlns:a16="http://schemas.microsoft.com/office/drawing/2014/main" id="{7F34216E-3031-42F5-8872-9C844CDCF46C}"/>
                </a:ext>
              </a:extLst>
            </p:cNvPr>
            <p:cNvCxnSpPr/>
            <p:nvPr/>
          </p:nvCxnSpPr>
          <p:spPr bwMode="auto">
            <a:xfrm>
              <a:off x="7030675" y="318512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50" name="TextBox 49">
              <a:extLst>
                <a:ext uri="{FF2B5EF4-FFF2-40B4-BE49-F238E27FC236}">
                  <a16:creationId xmlns:a16="http://schemas.microsoft.com/office/drawing/2014/main" id="{31D99127-A43B-4386-84E6-DE9F3ACFA02B}"/>
                </a:ext>
              </a:extLst>
            </p:cNvPr>
            <p:cNvSpPr txBox="1"/>
            <p:nvPr/>
          </p:nvSpPr>
          <p:spPr>
            <a:xfrm>
              <a:off x="6858192" y="2884974"/>
              <a:ext cx="344966" cy="276999"/>
            </a:xfrm>
            <a:prstGeom prst="rect">
              <a:avLst/>
            </a:prstGeom>
            <a:noFill/>
          </p:spPr>
          <p:txBody>
            <a:bodyPr wrap="none" rtlCol="0">
              <a:spAutoFit/>
            </a:bodyPr>
            <a:lstStyle/>
            <a:p>
              <a:pPr algn="ctr"/>
              <a:r>
                <a:rPr lang="en-SG" sz="1200"/>
                <a:t>P</a:t>
              </a:r>
              <a:r>
                <a:rPr lang="en-SG" sz="1200" baseline="-25000"/>
                <a:t>3</a:t>
              </a:r>
            </a:p>
          </p:txBody>
        </p:sp>
        <p:sp>
          <p:nvSpPr>
            <p:cNvPr id="51" name="TextBox 50">
              <a:extLst>
                <a:ext uri="{FF2B5EF4-FFF2-40B4-BE49-F238E27FC236}">
                  <a16:creationId xmlns:a16="http://schemas.microsoft.com/office/drawing/2014/main" id="{2CFFD683-B2A6-44B4-B09F-20F2602A0413}"/>
                </a:ext>
              </a:extLst>
            </p:cNvPr>
            <p:cNvSpPr txBox="1"/>
            <p:nvPr/>
          </p:nvSpPr>
          <p:spPr>
            <a:xfrm>
              <a:off x="4755243" y="2918810"/>
              <a:ext cx="344967" cy="276999"/>
            </a:xfrm>
            <a:prstGeom prst="rect">
              <a:avLst/>
            </a:prstGeom>
            <a:noFill/>
          </p:spPr>
          <p:txBody>
            <a:bodyPr wrap="none" rtlCol="0">
              <a:spAutoFit/>
            </a:bodyPr>
            <a:lstStyle/>
            <a:p>
              <a:pPr algn="ctr"/>
              <a:r>
                <a:rPr lang="en-SG" sz="1200"/>
                <a:t>P</a:t>
              </a:r>
              <a:r>
                <a:rPr lang="en-SG" sz="1200" baseline="-25000"/>
                <a:t>4</a:t>
              </a:r>
            </a:p>
          </p:txBody>
        </p:sp>
        <p:sp>
          <p:nvSpPr>
            <p:cNvPr id="52" name="TextBox 51">
              <a:extLst>
                <a:ext uri="{FF2B5EF4-FFF2-40B4-BE49-F238E27FC236}">
                  <a16:creationId xmlns:a16="http://schemas.microsoft.com/office/drawing/2014/main" id="{BEAFE420-2D00-4616-A289-BEE1AED578E6}"/>
                </a:ext>
              </a:extLst>
            </p:cNvPr>
            <p:cNvSpPr txBox="1"/>
            <p:nvPr/>
          </p:nvSpPr>
          <p:spPr>
            <a:xfrm>
              <a:off x="7937689" y="2908127"/>
              <a:ext cx="344967" cy="276999"/>
            </a:xfrm>
            <a:prstGeom prst="rect">
              <a:avLst/>
            </a:prstGeom>
            <a:noFill/>
          </p:spPr>
          <p:txBody>
            <a:bodyPr wrap="none" rtlCol="0">
              <a:spAutoFit/>
            </a:bodyPr>
            <a:lstStyle/>
            <a:p>
              <a:pPr algn="ctr"/>
              <a:r>
                <a:rPr lang="en-SG" sz="1200"/>
                <a:t>P</a:t>
              </a:r>
              <a:r>
                <a:rPr lang="en-SG" sz="1200" baseline="-25000"/>
                <a:t>4</a:t>
              </a:r>
            </a:p>
          </p:txBody>
        </p:sp>
        <p:cxnSp>
          <p:nvCxnSpPr>
            <p:cNvPr id="53" name="Straight Connector 52">
              <a:extLst>
                <a:ext uri="{FF2B5EF4-FFF2-40B4-BE49-F238E27FC236}">
                  <a16:creationId xmlns:a16="http://schemas.microsoft.com/office/drawing/2014/main" id="{74346736-B4A7-42E0-88BB-AC0B52DE5BD1}"/>
                </a:ext>
              </a:extLst>
            </p:cNvPr>
            <p:cNvCxnSpPr/>
            <p:nvPr/>
          </p:nvCxnSpPr>
          <p:spPr bwMode="auto">
            <a:xfrm>
              <a:off x="5449403" y="319580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54" name="Straight Connector 53">
              <a:extLst>
                <a:ext uri="{FF2B5EF4-FFF2-40B4-BE49-F238E27FC236}">
                  <a16:creationId xmlns:a16="http://schemas.microsoft.com/office/drawing/2014/main" id="{B15880E5-1163-4B36-A7CA-D61F9B0D0352}"/>
                </a:ext>
              </a:extLst>
            </p:cNvPr>
            <p:cNvCxnSpPr/>
            <p:nvPr/>
          </p:nvCxnSpPr>
          <p:spPr bwMode="auto">
            <a:xfrm>
              <a:off x="6525118"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55" name="TextBox 54">
              <a:extLst>
                <a:ext uri="{FF2B5EF4-FFF2-40B4-BE49-F238E27FC236}">
                  <a16:creationId xmlns:a16="http://schemas.microsoft.com/office/drawing/2014/main" id="{86A7A1BE-3E98-4F35-B6C9-28630F443978}"/>
                </a:ext>
              </a:extLst>
            </p:cNvPr>
            <p:cNvSpPr txBox="1"/>
            <p:nvPr/>
          </p:nvSpPr>
          <p:spPr>
            <a:xfrm>
              <a:off x="5276919" y="2906340"/>
              <a:ext cx="344966" cy="276999"/>
            </a:xfrm>
            <a:prstGeom prst="rect">
              <a:avLst/>
            </a:prstGeom>
            <a:noFill/>
          </p:spPr>
          <p:txBody>
            <a:bodyPr wrap="none" rtlCol="0">
              <a:spAutoFit/>
            </a:bodyPr>
            <a:lstStyle/>
            <a:p>
              <a:pPr algn="ctr"/>
              <a:r>
                <a:rPr lang="en-SG" sz="1200"/>
                <a:t>P</a:t>
              </a:r>
              <a:r>
                <a:rPr lang="en-SG" sz="1200" baseline="-25000"/>
                <a:t>5</a:t>
              </a:r>
            </a:p>
          </p:txBody>
        </p:sp>
        <p:sp>
          <p:nvSpPr>
            <p:cNvPr id="56" name="TextBox 55">
              <a:extLst>
                <a:ext uri="{FF2B5EF4-FFF2-40B4-BE49-F238E27FC236}">
                  <a16:creationId xmlns:a16="http://schemas.microsoft.com/office/drawing/2014/main" id="{C479B185-18D4-4F0F-BFD6-36F70B969D2A}"/>
                </a:ext>
              </a:extLst>
            </p:cNvPr>
            <p:cNvSpPr txBox="1"/>
            <p:nvPr/>
          </p:nvSpPr>
          <p:spPr>
            <a:xfrm>
              <a:off x="6352635" y="2916219"/>
              <a:ext cx="344966" cy="276999"/>
            </a:xfrm>
            <a:prstGeom prst="rect">
              <a:avLst/>
            </a:prstGeom>
            <a:noFill/>
          </p:spPr>
          <p:txBody>
            <a:bodyPr wrap="none" rtlCol="0">
              <a:spAutoFit/>
            </a:bodyPr>
            <a:lstStyle/>
            <a:p>
              <a:pPr algn="ctr"/>
              <a:r>
                <a:rPr lang="en-SG" sz="1200"/>
                <a:t>P</a:t>
              </a:r>
              <a:r>
                <a:rPr lang="en-SG" sz="1200" baseline="-25000"/>
                <a:t>5</a:t>
              </a:r>
            </a:p>
          </p:txBody>
        </p:sp>
      </p:grpSp>
      <p:grpSp>
        <p:nvGrpSpPr>
          <p:cNvPr id="57" name="Group 56">
            <a:extLst>
              <a:ext uri="{FF2B5EF4-FFF2-40B4-BE49-F238E27FC236}">
                <a16:creationId xmlns:a16="http://schemas.microsoft.com/office/drawing/2014/main" id="{80A39F05-E8C4-4245-A8EC-DF612886C636}"/>
              </a:ext>
            </a:extLst>
          </p:cNvPr>
          <p:cNvGrpSpPr/>
          <p:nvPr/>
        </p:nvGrpSpPr>
        <p:grpSpPr>
          <a:xfrm>
            <a:off x="2480026" y="4801115"/>
            <a:ext cx="6141429" cy="1275300"/>
            <a:chOff x="2730012" y="2735458"/>
            <a:chExt cx="6141429" cy="1275300"/>
          </a:xfrm>
        </p:grpSpPr>
        <p:cxnSp>
          <p:nvCxnSpPr>
            <p:cNvPr id="58" name="Straight Arrow Connector 57">
              <a:extLst>
                <a:ext uri="{FF2B5EF4-FFF2-40B4-BE49-F238E27FC236}">
                  <a16:creationId xmlns:a16="http://schemas.microsoft.com/office/drawing/2014/main" id="{077A4C38-ADCD-4E03-A559-FA6F12ADCD90}"/>
                </a:ext>
              </a:extLst>
            </p:cNvPr>
            <p:cNvCxnSpPr>
              <a:cxnSpLocks/>
            </p:cNvCxnSpPr>
            <p:nvPr/>
          </p:nvCxnSpPr>
          <p:spPr bwMode="auto">
            <a:xfrm flipV="1">
              <a:off x="2730012" y="3665479"/>
              <a:ext cx="614142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59" name="Straight Connector 58">
              <a:extLst>
                <a:ext uri="{FF2B5EF4-FFF2-40B4-BE49-F238E27FC236}">
                  <a16:creationId xmlns:a16="http://schemas.microsoft.com/office/drawing/2014/main" id="{DEFE085D-01C3-4B4B-82EE-1CDE3255A55D}"/>
                </a:ext>
              </a:extLst>
            </p:cNvPr>
            <p:cNvCxnSpPr>
              <a:cxnSpLocks/>
            </p:cNvCxnSpPr>
            <p:nvPr/>
          </p:nvCxnSpPr>
          <p:spPr bwMode="auto">
            <a:xfrm>
              <a:off x="2914649"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60" name="TextBox 59">
              <a:extLst>
                <a:ext uri="{FF2B5EF4-FFF2-40B4-BE49-F238E27FC236}">
                  <a16:creationId xmlns:a16="http://schemas.microsoft.com/office/drawing/2014/main" id="{F8C7E613-039B-4FB7-8F66-0C2822CE169E}"/>
                </a:ext>
              </a:extLst>
            </p:cNvPr>
            <p:cNvSpPr txBox="1"/>
            <p:nvPr/>
          </p:nvSpPr>
          <p:spPr>
            <a:xfrm>
              <a:off x="2773973" y="3641426"/>
              <a:ext cx="5793536" cy="369332"/>
            </a:xfrm>
            <a:prstGeom prst="rect">
              <a:avLst/>
            </a:prstGeom>
            <a:noFill/>
          </p:spPr>
          <p:txBody>
            <a:bodyPr wrap="square" rtlCol="0">
              <a:spAutoFit/>
            </a:bodyPr>
            <a:lstStyle/>
            <a:p>
              <a:r>
                <a:rPr lang="en-SG"/>
                <a:t>0      5     10    15    20    25     30    35    40     45    50</a:t>
              </a:r>
            </a:p>
          </p:txBody>
        </p:sp>
        <p:cxnSp>
          <p:nvCxnSpPr>
            <p:cNvPr id="61" name="Straight Connector 60">
              <a:extLst>
                <a:ext uri="{FF2B5EF4-FFF2-40B4-BE49-F238E27FC236}">
                  <a16:creationId xmlns:a16="http://schemas.microsoft.com/office/drawing/2014/main" id="{B7ADBAFA-199C-4218-BC0E-4048048CC978}"/>
                </a:ext>
              </a:extLst>
            </p:cNvPr>
            <p:cNvCxnSpPr/>
            <p:nvPr/>
          </p:nvCxnSpPr>
          <p:spPr bwMode="auto">
            <a:xfrm>
              <a:off x="3431931" y="3205245"/>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2" name="Straight Connector 61">
              <a:extLst>
                <a:ext uri="{FF2B5EF4-FFF2-40B4-BE49-F238E27FC236}">
                  <a16:creationId xmlns:a16="http://schemas.microsoft.com/office/drawing/2014/main" id="{FA7B566E-E803-4DDF-95DC-5E86A2F76198}"/>
                </a:ext>
              </a:extLst>
            </p:cNvPr>
            <p:cNvCxnSpPr>
              <a:cxnSpLocks/>
            </p:cNvCxnSpPr>
            <p:nvPr/>
          </p:nvCxnSpPr>
          <p:spPr bwMode="auto">
            <a:xfrm>
              <a:off x="3933092" y="320040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63" name="Straight Connector 62">
              <a:extLst>
                <a:ext uri="{FF2B5EF4-FFF2-40B4-BE49-F238E27FC236}">
                  <a16:creationId xmlns:a16="http://schemas.microsoft.com/office/drawing/2014/main" id="{425D15B4-4678-4647-B2B4-E1D781024991}"/>
                </a:ext>
              </a:extLst>
            </p:cNvPr>
            <p:cNvCxnSpPr/>
            <p:nvPr/>
          </p:nvCxnSpPr>
          <p:spPr bwMode="auto">
            <a:xfrm>
              <a:off x="8118961"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64" name="Straight Connector 63">
              <a:extLst>
                <a:ext uri="{FF2B5EF4-FFF2-40B4-BE49-F238E27FC236}">
                  <a16:creationId xmlns:a16="http://schemas.microsoft.com/office/drawing/2014/main" id="{A057D18C-E609-4A7F-8660-C02F1B2E4C14}"/>
                </a:ext>
              </a:extLst>
            </p:cNvPr>
            <p:cNvCxnSpPr/>
            <p:nvPr/>
          </p:nvCxnSpPr>
          <p:spPr bwMode="auto">
            <a:xfrm>
              <a:off x="6012233"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65" name="TextBox 64">
              <a:extLst>
                <a:ext uri="{FF2B5EF4-FFF2-40B4-BE49-F238E27FC236}">
                  <a16:creationId xmlns:a16="http://schemas.microsoft.com/office/drawing/2014/main" id="{B565AE99-12BA-418D-A027-465AD0378D79}"/>
                </a:ext>
              </a:extLst>
            </p:cNvPr>
            <p:cNvSpPr txBox="1"/>
            <p:nvPr/>
          </p:nvSpPr>
          <p:spPr>
            <a:xfrm>
              <a:off x="2744737" y="2735458"/>
              <a:ext cx="344966" cy="461665"/>
            </a:xfrm>
            <a:prstGeom prst="rect">
              <a:avLst/>
            </a:prstGeom>
            <a:noFill/>
          </p:spPr>
          <p:txBody>
            <a:bodyPr wrap="none" rtlCol="0">
              <a:spAutoFit/>
            </a:bodyPr>
            <a:lstStyle/>
            <a:p>
              <a:pPr algn="ctr"/>
              <a:r>
                <a:rPr lang="en-SG" sz="1200"/>
                <a:t>P</a:t>
              </a:r>
              <a:r>
                <a:rPr lang="en-SG" sz="1200" baseline="-25000"/>
                <a:t>1</a:t>
              </a:r>
            </a:p>
            <a:p>
              <a:pPr algn="ctr"/>
              <a:r>
                <a:rPr lang="en-SG" sz="1200"/>
                <a:t>P</a:t>
              </a:r>
              <a:r>
                <a:rPr lang="en-SG" sz="1200" baseline="-25000"/>
                <a:t>2</a:t>
              </a:r>
            </a:p>
          </p:txBody>
        </p:sp>
        <p:cxnSp>
          <p:nvCxnSpPr>
            <p:cNvPr id="66" name="Straight Connector 65">
              <a:extLst>
                <a:ext uri="{FF2B5EF4-FFF2-40B4-BE49-F238E27FC236}">
                  <a16:creationId xmlns:a16="http://schemas.microsoft.com/office/drawing/2014/main" id="{7CEF0469-6B81-4E4D-86E5-4A42B4FE7A09}"/>
                </a:ext>
              </a:extLst>
            </p:cNvPr>
            <p:cNvCxnSpPr/>
            <p:nvPr/>
          </p:nvCxnSpPr>
          <p:spPr bwMode="auto">
            <a:xfrm>
              <a:off x="4927726" y="320827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67" name="TextBox 66">
              <a:extLst>
                <a:ext uri="{FF2B5EF4-FFF2-40B4-BE49-F238E27FC236}">
                  <a16:creationId xmlns:a16="http://schemas.microsoft.com/office/drawing/2014/main" id="{E5CC8AFD-CF40-4AD6-9B56-2D3421D48ED0}"/>
                </a:ext>
              </a:extLst>
            </p:cNvPr>
            <p:cNvSpPr txBox="1"/>
            <p:nvPr/>
          </p:nvSpPr>
          <p:spPr>
            <a:xfrm>
              <a:off x="5839750" y="2908127"/>
              <a:ext cx="344966" cy="276999"/>
            </a:xfrm>
            <a:prstGeom prst="rect">
              <a:avLst/>
            </a:prstGeom>
            <a:noFill/>
          </p:spPr>
          <p:txBody>
            <a:bodyPr wrap="none" rtlCol="0">
              <a:spAutoFit/>
            </a:bodyPr>
            <a:lstStyle/>
            <a:p>
              <a:pPr algn="ctr"/>
              <a:r>
                <a:rPr lang="en-SG" sz="1200"/>
                <a:t>P</a:t>
              </a:r>
              <a:r>
                <a:rPr lang="en-SG" sz="1200" baseline="-25000"/>
                <a:t>1</a:t>
              </a:r>
            </a:p>
          </p:txBody>
        </p:sp>
        <p:sp>
          <p:nvSpPr>
            <p:cNvPr id="68" name="TextBox 67">
              <a:extLst>
                <a:ext uri="{FF2B5EF4-FFF2-40B4-BE49-F238E27FC236}">
                  <a16:creationId xmlns:a16="http://schemas.microsoft.com/office/drawing/2014/main" id="{0143534C-71BB-4537-AE8C-BA73AAACAFB7}"/>
                </a:ext>
              </a:extLst>
            </p:cNvPr>
            <p:cNvSpPr txBox="1"/>
            <p:nvPr/>
          </p:nvSpPr>
          <p:spPr>
            <a:xfrm>
              <a:off x="3269677" y="2924306"/>
              <a:ext cx="344966" cy="276999"/>
            </a:xfrm>
            <a:prstGeom prst="rect">
              <a:avLst/>
            </a:prstGeom>
            <a:noFill/>
          </p:spPr>
          <p:txBody>
            <a:bodyPr wrap="none" rtlCol="0">
              <a:spAutoFit/>
            </a:bodyPr>
            <a:lstStyle/>
            <a:p>
              <a:pPr algn="ctr"/>
              <a:r>
                <a:rPr lang="en-SG" sz="1200"/>
                <a:t>P</a:t>
              </a:r>
              <a:r>
                <a:rPr lang="en-SG" sz="1200" baseline="-25000"/>
                <a:t>3</a:t>
              </a:r>
            </a:p>
          </p:txBody>
        </p:sp>
        <p:sp>
          <p:nvSpPr>
            <p:cNvPr id="69" name="TextBox 68">
              <a:extLst>
                <a:ext uri="{FF2B5EF4-FFF2-40B4-BE49-F238E27FC236}">
                  <a16:creationId xmlns:a16="http://schemas.microsoft.com/office/drawing/2014/main" id="{15AC4B27-7125-4741-A138-F4B3C6C1C2DD}"/>
                </a:ext>
              </a:extLst>
            </p:cNvPr>
            <p:cNvSpPr txBox="1"/>
            <p:nvPr/>
          </p:nvSpPr>
          <p:spPr>
            <a:xfrm>
              <a:off x="3760609" y="2925170"/>
              <a:ext cx="344966" cy="276999"/>
            </a:xfrm>
            <a:prstGeom prst="rect">
              <a:avLst/>
            </a:prstGeom>
            <a:noFill/>
          </p:spPr>
          <p:txBody>
            <a:bodyPr wrap="none" rtlCol="0">
              <a:spAutoFit/>
            </a:bodyPr>
            <a:lstStyle/>
            <a:p>
              <a:pPr algn="ctr"/>
              <a:r>
                <a:rPr lang="en-SG" sz="1200"/>
                <a:t>P</a:t>
              </a:r>
              <a:r>
                <a:rPr lang="en-SG" sz="1200" baseline="-25000"/>
                <a:t>2</a:t>
              </a:r>
            </a:p>
          </p:txBody>
        </p:sp>
        <p:cxnSp>
          <p:nvCxnSpPr>
            <p:cNvPr id="70" name="Straight Connector 69">
              <a:extLst>
                <a:ext uri="{FF2B5EF4-FFF2-40B4-BE49-F238E27FC236}">
                  <a16:creationId xmlns:a16="http://schemas.microsoft.com/office/drawing/2014/main" id="{B20E6AAE-C909-48E2-8F28-AA8444855395}"/>
                </a:ext>
              </a:extLst>
            </p:cNvPr>
            <p:cNvCxnSpPr/>
            <p:nvPr/>
          </p:nvCxnSpPr>
          <p:spPr bwMode="auto">
            <a:xfrm>
              <a:off x="7030675" y="318512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71" name="TextBox 70">
              <a:extLst>
                <a:ext uri="{FF2B5EF4-FFF2-40B4-BE49-F238E27FC236}">
                  <a16:creationId xmlns:a16="http://schemas.microsoft.com/office/drawing/2014/main" id="{52584708-11F0-4015-AA18-E04B3D6CE633}"/>
                </a:ext>
              </a:extLst>
            </p:cNvPr>
            <p:cNvSpPr txBox="1"/>
            <p:nvPr/>
          </p:nvSpPr>
          <p:spPr>
            <a:xfrm>
              <a:off x="6858192" y="2884974"/>
              <a:ext cx="344966" cy="276999"/>
            </a:xfrm>
            <a:prstGeom prst="rect">
              <a:avLst/>
            </a:prstGeom>
            <a:noFill/>
          </p:spPr>
          <p:txBody>
            <a:bodyPr wrap="none" rtlCol="0">
              <a:spAutoFit/>
            </a:bodyPr>
            <a:lstStyle/>
            <a:p>
              <a:pPr algn="ctr"/>
              <a:r>
                <a:rPr lang="en-SG" sz="1200"/>
                <a:t>P</a:t>
              </a:r>
              <a:r>
                <a:rPr lang="en-SG" sz="1200" baseline="-25000"/>
                <a:t>3</a:t>
              </a:r>
            </a:p>
          </p:txBody>
        </p:sp>
        <p:sp>
          <p:nvSpPr>
            <p:cNvPr id="72" name="TextBox 71">
              <a:extLst>
                <a:ext uri="{FF2B5EF4-FFF2-40B4-BE49-F238E27FC236}">
                  <a16:creationId xmlns:a16="http://schemas.microsoft.com/office/drawing/2014/main" id="{2DA309D4-3794-404D-8FBA-DF1A1DF821E5}"/>
                </a:ext>
              </a:extLst>
            </p:cNvPr>
            <p:cNvSpPr txBox="1"/>
            <p:nvPr/>
          </p:nvSpPr>
          <p:spPr>
            <a:xfrm>
              <a:off x="4755243" y="2918810"/>
              <a:ext cx="344967" cy="276999"/>
            </a:xfrm>
            <a:prstGeom prst="rect">
              <a:avLst/>
            </a:prstGeom>
            <a:noFill/>
          </p:spPr>
          <p:txBody>
            <a:bodyPr wrap="none" rtlCol="0">
              <a:spAutoFit/>
            </a:bodyPr>
            <a:lstStyle/>
            <a:p>
              <a:pPr algn="ctr"/>
              <a:r>
                <a:rPr lang="en-SG" sz="1200"/>
                <a:t>P</a:t>
              </a:r>
              <a:r>
                <a:rPr lang="en-SG" sz="1200" baseline="-25000"/>
                <a:t>4</a:t>
              </a:r>
            </a:p>
          </p:txBody>
        </p:sp>
        <p:sp>
          <p:nvSpPr>
            <p:cNvPr id="73" name="TextBox 72">
              <a:extLst>
                <a:ext uri="{FF2B5EF4-FFF2-40B4-BE49-F238E27FC236}">
                  <a16:creationId xmlns:a16="http://schemas.microsoft.com/office/drawing/2014/main" id="{69389BC9-3488-4B72-B1BD-955FADBA4072}"/>
                </a:ext>
              </a:extLst>
            </p:cNvPr>
            <p:cNvSpPr txBox="1"/>
            <p:nvPr/>
          </p:nvSpPr>
          <p:spPr>
            <a:xfrm>
              <a:off x="7946477" y="2908127"/>
              <a:ext cx="344967" cy="276999"/>
            </a:xfrm>
            <a:prstGeom prst="rect">
              <a:avLst/>
            </a:prstGeom>
            <a:noFill/>
          </p:spPr>
          <p:txBody>
            <a:bodyPr wrap="none" rtlCol="0">
              <a:spAutoFit/>
            </a:bodyPr>
            <a:lstStyle/>
            <a:p>
              <a:pPr algn="ctr"/>
              <a:r>
                <a:rPr lang="en-SG" sz="1200"/>
                <a:t>P</a:t>
              </a:r>
              <a:r>
                <a:rPr lang="en-SG" sz="1200" baseline="-25000"/>
                <a:t>4</a:t>
              </a:r>
            </a:p>
          </p:txBody>
        </p:sp>
        <p:cxnSp>
          <p:nvCxnSpPr>
            <p:cNvPr id="74" name="Straight Connector 73">
              <a:extLst>
                <a:ext uri="{FF2B5EF4-FFF2-40B4-BE49-F238E27FC236}">
                  <a16:creationId xmlns:a16="http://schemas.microsoft.com/office/drawing/2014/main" id="{98EEAC66-8072-46CF-A694-F3D07744A35D}"/>
                </a:ext>
              </a:extLst>
            </p:cNvPr>
            <p:cNvCxnSpPr/>
            <p:nvPr/>
          </p:nvCxnSpPr>
          <p:spPr bwMode="auto">
            <a:xfrm>
              <a:off x="5449403" y="319580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75" name="Straight Connector 74">
              <a:extLst>
                <a:ext uri="{FF2B5EF4-FFF2-40B4-BE49-F238E27FC236}">
                  <a16:creationId xmlns:a16="http://schemas.microsoft.com/office/drawing/2014/main" id="{842D504D-51B1-4556-B263-55A0FCBBCB9A}"/>
                </a:ext>
              </a:extLst>
            </p:cNvPr>
            <p:cNvCxnSpPr/>
            <p:nvPr/>
          </p:nvCxnSpPr>
          <p:spPr bwMode="auto">
            <a:xfrm>
              <a:off x="6525118" y="320524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76" name="TextBox 75">
              <a:extLst>
                <a:ext uri="{FF2B5EF4-FFF2-40B4-BE49-F238E27FC236}">
                  <a16:creationId xmlns:a16="http://schemas.microsoft.com/office/drawing/2014/main" id="{2FD8A48F-C3E7-4449-BF76-582E433A3A53}"/>
                </a:ext>
              </a:extLst>
            </p:cNvPr>
            <p:cNvSpPr txBox="1"/>
            <p:nvPr/>
          </p:nvSpPr>
          <p:spPr>
            <a:xfrm>
              <a:off x="5276919" y="2906340"/>
              <a:ext cx="344966" cy="276999"/>
            </a:xfrm>
            <a:prstGeom prst="rect">
              <a:avLst/>
            </a:prstGeom>
            <a:noFill/>
          </p:spPr>
          <p:txBody>
            <a:bodyPr wrap="none" rtlCol="0">
              <a:spAutoFit/>
            </a:bodyPr>
            <a:lstStyle/>
            <a:p>
              <a:pPr algn="ctr"/>
              <a:r>
                <a:rPr lang="en-SG" sz="1200"/>
                <a:t>P</a:t>
              </a:r>
              <a:r>
                <a:rPr lang="en-SG" sz="1200" baseline="-25000"/>
                <a:t>5</a:t>
              </a:r>
            </a:p>
          </p:txBody>
        </p:sp>
        <p:sp>
          <p:nvSpPr>
            <p:cNvPr id="77" name="TextBox 76">
              <a:extLst>
                <a:ext uri="{FF2B5EF4-FFF2-40B4-BE49-F238E27FC236}">
                  <a16:creationId xmlns:a16="http://schemas.microsoft.com/office/drawing/2014/main" id="{A81D2A0A-B297-47B0-82C7-07DC10937330}"/>
                </a:ext>
              </a:extLst>
            </p:cNvPr>
            <p:cNvSpPr txBox="1"/>
            <p:nvPr/>
          </p:nvSpPr>
          <p:spPr>
            <a:xfrm>
              <a:off x="6352635" y="2916219"/>
              <a:ext cx="344966" cy="276999"/>
            </a:xfrm>
            <a:prstGeom prst="rect">
              <a:avLst/>
            </a:prstGeom>
            <a:noFill/>
          </p:spPr>
          <p:txBody>
            <a:bodyPr wrap="none" rtlCol="0">
              <a:spAutoFit/>
            </a:bodyPr>
            <a:lstStyle/>
            <a:p>
              <a:pPr algn="ctr"/>
              <a:r>
                <a:rPr lang="en-SG" sz="1200"/>
                <a:t>P</a:t>
              </a:r>
              <a:r>
                <a:rPr lang="en-SG" sz="1200" baseline="-25000"/>
                <a:t>5</a:t>
              </a:r>
            </a:p>
          </p:txBody>
        </p:sp>
      </p:grpSp>
      <p:sp>
        <p:nvSpPr>
          <p:cNvPr id="12" name="TextBox 11">
            <a:extLst>
              <a:ext uri="{FF2B5EF4-FFF2-40B4-BE49-F238E27FC236}">
                <a16:creationId xmlns:a16="http://schemas.microsoft.com/office/drawing/2014/main" id="{F1465667-FEA0-44D5-8FEB-F3DB4293CF63}"/>
              </a:ext>
            </a:extLst>
          </p:cNvPr>
          <p:cNvSpPr txBox="1"/>
          <p:nvPr/>
        </p:nvSpPr>
        <p:spPr>
          <a:xfrm>
            <a:off x="253842" y="2489718"/>
            <a:ext cx="1774845" cy="369332"/>
          </a:xfrm>
          <a:prstGeom prst="rect">
            <a:avLst/>
          </a:prstGeom>
          <a:noFill/>
        </p:spPr>
        <p:txBody>
          <a:bodyPr wrap="none" rtlCol="0">
            <a:spAutoFit/>
          </a:bodyPr>
          <a:lstStyle/>
          <a:p>
            <a:r>
              <a:rPr lang="en-SG"/>
              <a:t>FCFS schedule</a:t>
            </a:r>
          </a:p>
        </p:txBody>
      </p:sp>
      <p:sp>
        <p:nvSpPr>
          <p:cNvPr id="78" name="TextBox 77">
            <a:extLst>
              <a:ext uri="{FF2B5EF4-FFF2-40B4-BE49-F238E27FC236}">
                <a16:creationId xmlns:a16="http://schemas.microsoft.com/office/drawing/2014/main" id="{FA66EB23-A7FE-40D8-B900-94C0232EEBD9}"/>
              </a:ext>
            </a:extLst>
          </p:cNvPr>
          <p:cNvSpPr txBox="1"/>
          <p:nvPr/>
        </p:nvSpPr>
        <p:spPr>
          <a:xfrm>
            <a:off x="267444" y="3894735"/>
            <a:ext cx="1582484" cy="369332"/>
          </a:xfrm>
          <a:prstGeom prst="rect">
            <a:avLst/>
          </a:prstGeom>
          <a:noFill/>
        </p:spPr>
        <p:txBody>
          <a:bodyPr wrap="none" rtlCol="0">
            <a:spAutoFit/>
          </a:bodyPr>
          <a:lstStyle/>
          <a:p>
            <a:r>
              <a:rPr lang="en-SG"/>
              <a:t>SJF schedule</a:t>
            </a:r>
          </a:p>
        </p:txBody>
      </p:sp>
      <p:sp>
        <p:nvSpPr>
          <p:cNvPr id="79" name="TextBox 78">
            <a:extLst>
              <a:ext uri="{FF2B5EF4-FFF2-40B4-BE49-F238E27FC236}">
                <a16:creationId xmlns:a16="http://schemas.microsoft.com/office/drawing/2014/main" id="{3560AEDA-BA2B-4733-B76D-65A9A78CA34F}"/>
              </a:ext>
            </a:extLst>
          </p:cNvPr>
          <p:cNvSpPr txBox="1"/>
          <p:nvPr/>
        </p:nvSpPr>
        <p:spPr>
          <a:xfrm>
            <a:off x="338983" y="5314836"/>
            <a:ext cx="2050561" cy="369332"/>
          </a:xfrm>
          <a:prstGeom prst="rect">
            <a:avLst/>
          </a:prstGeom>
          <a:noFill/>
        </p:spPr>
        <p:txBody>
          <a:bodyPr wrap="none" rtlCol="0">
            <a:spAutoFit/>
          </a:bodyPr>
          <a:lstStyle/>
          <a:p>
            <a:r>
              <a:rPr lang="en-SG"/>
              <a:t>RR(q=5) schedule</a:t>
            </a:r>
          </a:p>
        </p:txBody>
      </p:sp>
      <p:sp>
        <p:nvSpPr>
          <p:cNvPr id="17" name="Rectangle: Rounded Corners 16">
            <a:extLst>
              <a:ext uri="{FF2B5EF4-FFF2-40B4-BE49-F238E27FC236}">
                <a16:creationId xmlns:a16="http://schemas.microsoft.com/office/drawing/2014/main" id="{22AC903A-F539-4D8F-A568-9C6267BB3659}"/>
              </a:ext>
            </a:extLst>
          </p:cNvPr>
          <p:cNvSpPr/>
          <p:nvPr/>
        </p:nvSpPr>
        <p:spPr bwMode="auto">
          <a:xfrm>
            <a:off x="2664661" y="2626402"/>
            <a:ext cx="2013076"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80" name="Rectangle: Rounded Corners 79">
            <a:extLst>
              <a:ext uri="{FF2B5EF4-FFF2-40B4-BE49-F238E27FC236}">
                <a16:creationId xmlns:a16="http://schemas.microsoft.com/office/drawing/2014/main" id="{779711D4-71D6-4021-BA70-825E61FDDD6E}"/>
              </a:ext>
            </a:extLst>
          </p:cNvPr>
          <p:cNvSpPr/>
          <p:nvPr/>
        </p:nvSpPr>
        <p:spPr bwMode="auto">
          <a:xfrm>
            <a:off x="4682043" y="2624551"/>
            <a:ext cx="517370"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81" name="Rectangle: Rounded Corners 80">
            <a:extLst>
              <a:ext uri="{FF2B5EF4-FFF2-40B4-BE49-F238E27FC236}">
                <a16:creationId xmlns:a16="http://schemas.microsoft.com/office/drawing/2014/main" id="{092CB8CA-2624-4405-A296-B768C6C929D1}"/>
              </a:ext>
            </a:extLst>
          </p:cNvPr>
          <p:cNvSpPr/>
          <p:nvPr/>
        </p:nvSpPr>
        <p:spPr bwMode="auto">
          <a:xfrm>
            <a:off x="7355999" y="2622569"/>
            <a:ext cx="517370" cy="280493"/>
          </a:xfrm>
          <a:prstGeom prst="round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5</a:t>
            </a:r>
          </a:p>
        </p:txBody>
      </p:sp>
      <p:sp>
        <p:nvSpPr>
          <p:cNvPr id="82" name="Rectangle: Rounded Corners 81">
            <a:extLst>
              <a:ext uri="{FF2B5EF4-FFF2-40B4-BE49-F238E27FC236}">
                <a16:creationId xmlns:a16="http://schemas.microsoft.com/office/drawing/2014/main" id="{945D9A5B-90C2-47A7-B708-198590F59CCE}"/>
              </a:ext>
            </a:extLst>
          </p:cNvPr>
          <p:cNvSpPr/>
          <p:nvPr/>
        </p:nvSpPr>
        <p:spPr bwMode="auto">
          <a:xfrm>
            <a:off x="5198923" y="2630840"/>
            <a:ext cx="1076197" cy="280493"/>
          </a:xfrm>
          <a:prstGeom prst="roundRect">
            <a:avLst/>
          </a:prstGeom>
          <a:solidFill>
            <a:srgbClr val="F0F1C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3</a:t>
            </a:r>
          </a:p>
        </p:txBody>
      </p:sp>
      <p:sp>
        <p:nvSpPr>
          <p:cNvPr id="83" name="Rectangle: Rounded Corners 82">
            <a:extLst>
              <a:ext uri="{FF2B5EF4-FFF2-40B4-BE49-F238E27FC236}">
                <a16:creationId xmlns:a16="http://schemas.microsoft.com/office/drawing/2014/main" id="{F446E03E-C45E-4E28-88E9-54ABE16EB1DC}"/>
              </a:ext>
            </a:extLst>
          </p:cNvPr>
          <p:cNvSpPr/>
          <p:nvPr/>
        </p:nvSpPr>
        <p:spPr bwMode="auto">
          <a:xfrm>
            <a:off x="6274879" y="2628582"/>
            <a:ext cx="1076197"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4</a:t>
            </a:r>
            <a:endParaRPr kumimoji="0" lang="en-SG" sz="1400" b="0" i="0" u="none" strike="noStrike" cap="none" normalizeH="0" baseline="-25000">
              <a:ln>
                <a:noFill/>
              </a:ln>
              <a:solidFill>
                <a:schemeClr val="tx1"/>
              </a:solidFill>
              <a:effectLst/>
              <a:latin typeface="Helvetica" pitchFamily="34" charset="0"/>
            </a:endParaRPr>
          </a:p>
        </p:txBody>
      </p:sp>
      <p:sp>
        <p:nvSpPr>
          <p:cNvPr id="84" name="Rectangle: Rounded Corners 83">
            <a:extLst>
              <a:ext uri="{FF2B5EF4-FFF2-40B4-BE49-F238E27FC236}">
                <a16:creationId xmlns:a16="http://schemas.microsoft.com/office/drawing/2014/main" id="{5DAA86FF-8CD6-4862-B73F-958681373747}"/>
              </a:ext>
            </a:extLst>
          </p:cNvPr>
          <p:cNvSpPr/>
          <p:nvPr/>
        </p:nvSpPr>
        <p:spPr bwMode="auto">
          <a:xfrm>
            <a:off x="2661888" y="4039246"/>
            <a:ext cx="517370"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85" name="Rectangle: Rounded Corners 84">
            <a:extLst>
              <a:ext uri="{FF2B5EF4-FFF2-40B4-BE49-F238E27FC236}">
                <a16:creationId xmlns:a16="http://schemas.microsoft.com/office/drawing/2014/main" id="{B098FD94-E7B8-4B44-90D5-8E045488186A}"/>
              </a:ext>
            </a:extLst>
          </p:cNvPr>
          <p:cNvSpPr/>
          <p:nvPr/>
        </p:nvSpPr>
        <p:spPr bwMode="auto">
          <a:xfrm>
            <a:off x="3192693" y="4044426"/>
            <a:ext cx="1076197" cy="280493"/>
          </a:xfrm>
          <a:prstGeom prst="roundRect">
            <a:avLst/>
          </a:prstGeom>
          <a:solidFill>
            <a:srgbClr val="F0F1C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3</a:t>
            </a:r>
          </a:p>
        </p:txBody>
      </p:sp>
      <p:sp>
        <p:nvSpPr>
          <p:cNvPr id="86" name="Rectangle: Rounded Corners 85">
            <a:extLst>
              <a:ext uri="{FF2B5EF4-FFF2-40B4-BE49-F238E27FC236}">
                <a16:creationId xmlns:a16="http://schemas.microsoft.com/office/drawing/2014/main" id="{B5C3542D-B4BD-4329-83A0-DCF98C974288}"/>
              </a:ext>
            </a:extLst>
          </p:cNvPr>
          <p:cNvSpPr/>
          <p:nvPr/>
        </p:nvSpPr>
        <p:spPr bwMode="auto">
          <a:xfrm>
            <a:off x="4265233" y="4041225"/>
            <a:ext cx="2013076"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87" name="Rectangle: Rounded Corners 86">
            <a:extLst>
              <a:ext uri="{FF2B5EF4-FFF2-40B4-BE49-F238E27FC236}">
                <a16:creationId xmlns:a16="http://schemas.microsoft.com/office/drawing/2014/main" id="{3528AAF7-55B8-41A7-816C-F251424B09AC}"/>
              </a:ext>
            </a:extLst>
          </p:cNvPr>
          <p:cNvSpPr/>
          <p:nvPr/>
        </p:nvSpPr>
        <p:spPr bwMode="auto">
          <a:xfrm>
            <a:off x="6264854" y="4041885"/>
            <a:ext cx="517370" cy="280493"/>
          </a:xfrm>
          <a:prstGeom prst="round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5</a:t>
            </a:r>
          </a:p>
        </p:txBody>
      </p:sp>
      <p:sp>
        <p:nvSpPr>
          <p:cNvPr id="88" name="Rectangle: Rounded Corners 87">
            <a:extLst>
              <a:ext uri="{FF2B5EF4-FFF2-40B4-BE49-F238E27FC236}">
                <a16:creationId xmlns:a16="http://schemas.microsoft.com/office/drawing/2014/main" id="{6E8D78E4-90F8-455B-8540-985FED2A7AF7}"/>
              </a:ext>
            </a:extLst>
          </p:cNvPr>
          <p:cNvSpPr/>
          <p:nvPr/>
        </p:nvSpPr>
        <p:spPr bwMode="auto">
          <a:xfrm>
            <a:off x="6783340" y="4041225"/>
            <a:ext cx="1076197"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4</a:t>
            </a:r>
            <a:endParaRPr kumimoji="0" lang="en-SG" sz="1400" b="0" i="0" u="none" strike="noStrike" cap="none" normalizeH="0" baseline="-25000">
              <a:ln>
                <a:noFill/>
              </a:ln>
              <a:solidFill>
                <a:schemeClr val="tx1"/>
              </a:solidFill>
              <a:effectLst/>
              <a:latin typeface="Helvetica" pitchFamily="34" charset="0"/>
            </a:endParaRPr>
          </a:p>
        </p:txBody>
      </p:sp>
      <p:sp>
        <p:nvSpPr>
          <p:cNvPr id="89" name="Rectangle: Rounded Corners 88">
            <a:extLst>
              <a:ext uri="{FF2B5EF4-FFF2-40B4-BE49-F238E27FC236}">
                <a16:creationId xmlns:a16="http://schemas.microsoft.com/office/drawing/2014/main" id="{AE6BB8F5-664C-4CC4-BC86-98123D6C486B}"/>
              </a:ext>
            </a:extLst>
          </p:cNvPr>
          <p:cNvSpPr/>
          <p:nvPr/>
        </p:nvSpPr>
        <p:spPr bwMode="auto">
          <a:xfrm>
            <a:off x="2664661" y="5447870"/>
            <a:ext cx="51288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90" name="Rectangle: Rounded Corners 89">
            <a:extLst>
              <a:ext uri="{FF2B5EF4-FFF2-40B4-BE49-F238E27FC236}">
                <a16:creationId xmlns:a16="http://schemas.microsoft.com/office/drawing/2014/main" id="{1D5078B7-17B6-4A56-9415-0A42A9DB4771}"/>
              </a:ext>
            </a:extLst>
          </p:cNvPr>
          <p:cNvSpPr/>
          <p:nvPr/>
        </p:nvSpPr>
        <p:spPr bwMode="auto">
          <a:xfrm>
            <a:off x="3687501" y="5446364"/>
            <a:ext cx="51288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91" name="Rectangle: Rounded Corners 90">
            <a:extLst>
              <a:ext uri="{FF2B5EF4-FFF2-40B4-BE49-F238E27FC236}">
                <a16:creationId xmlns:a16="http://schemas.microsoft.com/office/drawing/2014/main" id="{B28849C0-355E-4BE4-A08D-7D0B4B2DEAB6}"/>
              </a:ext>
            </a:extLst>
          </p:cNvPr>
          <p:cNvSpPr/>
          <p:nvPr/>
        </p:nvSpPr>
        <p:spPr bwMode="auto">
          <a:xfrm>
            <a:off x="4679708" y="5444767"/>
            <a:ext cx="51288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92" name="Rectangle: Rounded Corners 91">
            <a:extLst>
              <a:ext uri="{FF2B5EF4-FFF2-40B4-BE49-F238E27FC236}">
                <a16:creationId xmlns:a16="http://schemas.microsoft.com/office/drawing/2014/main" id="{AF862F23-86ED-4951-8E00-0EA0CAE86BE4}"/>
              </a:ext>
            </a:extLst>
          </p:cNvPr>
          <p:cNvSpPr/>
          <p:nvPr/>
        </p:nvSpPr>
        <p:spPr bwMode="auto">
          <a:xfrm>
            <a:off x="6270693" y="5446364"/>
            <a:ext cx="51288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93" name="Rectangle: Rounded Corners 92">
            <a:extLst>
              <a:ext uri="{FF2B5EF4-FFF2-40B4-BE49-F238E27FC236}">
                <a16:creationId xmlns:a16="http://schemas.microsoft.com/office/drawing/2014/main" id="{DA4DFC6F-9961-452F-B605-9DF3E038B313}"/>
              </a:ext>
            </a:extLst>
          </p:cNvPr>
          <p:cNvSpPr/>
          <p:nvPr/>
        </p:nvSpPr>
        <p:spPr bwMode="auto">
          <a:xfrm>
            <a:off x="3172983" y="5448734"/>
            <a:ext cx="517370"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94" name="Rectangle: Rounded Corners 93">
            <a:extLst>
              <a:ext uri="{FF2B5EF4-FFF2-40B4-BE49-F238E27FC236}">
                <a16:creationId xmlns:a16="http://schemas.microsoft.com/office/drawing/2014/main" id="{DCD8AB88-3EC5-4BC3-8A31-8D84D6BF606A}"/>
              </a:ext>
            </a:extLst>
          </p:cNvPr>
          <p:cNvSpPr/>
          <p:nvPr/>
        </p:nvSpPr>
        <p:spPr bwMode="auto">
          <a:xfrm>
            <a:off x="6787381" y="5444767"/>
            <a:ext cx="553244" cy="280493"/>
          </a:xfrm>
          <a:prstGeom prst="roundRect">
            <a:avLst/>
          </a:prstGeom>
          <a:solidFill>
            <a:schemeClr val="bg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5</a:t>
            </a:r>
          </a:p>
        </p:txBody>
      </p:sp>
      <p:sp>
        <p:nvSpPr>
          <p:cNvPr id="95" name="Rectangle: Rounded Corners 94">
            <a:extLst>
              <a:ext uri="{FF2B5EF4-FFF2-40B4-BE49-F238E27FC236}">
                <a16:creationId xmlns:a16="http://schemas.microsoft.com/office/drawing/2014/main" id="{86ACBE2F-AFE9-45DE-BFCF-01029B62B96F}"/>
              </a:ext>
            </a:extLst>
          </p:cNvPr>
          <p:cNvSpPr/>
          <p:nvPr/>
        </p:nvSpPr>
        <p:spPr bwMode="auto">
          <a:xfrm>
            <a:off x="7343518" y="5443170"/>
            <a:ext cx="522565"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4</a:t>
            </a:r>
            <a:endParaRPr kumimoji="0" lang="en-SG" sz="1400" b="0" i="0" u="none" strike="noStrike" cap="none" normalizeH="0" baseline="-25000">
              <a:ln>
                <a:noFill/>
              </a:ln>
              <a:solidFill>
                <a:schemeClr val="tx1"/>
              </a:solidFill>
              <a:effectLst/>
              <a:latin typeface="Helvetica" pitchFamily="34" charset="0"/>
            </a:endParaRPr>
          </a:p>
        </p:txBody>
      </p:sp>
      <p:sp>
        <p:nvSpPr>
          <p:cNvPr id="96" name="Rectangle: Rounded Corners 95">
            <a:extLst>
              <a:ext uri="{FF2B5EF4-FFF2-40B4-BE49-F238E27FC236}">
                <a16:creationId xmlns:a16="http://schemas.microsoft.com/office/drawing/2014/main" id="{FE0BE219-6BC9-45FC-9325-A3099114DD6C}"/>
              </a:ext>
            </a:extLst>
          </p:cNvPr>
          <p:cNvSpPr/>
          <p:nvPr/>
        </p:nvSpPr>
        <p:spPr bwMode="auto">
          <a:xfrm>
            <a:off x="5771801" y="5446897"/>
            <a:ext cx="512123"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4</a:t>
            </a:r>
            <a:endParaRPr kumimoji="0" lang="en-SG" sz="1400" b="0" i="0" u="none" strike="noStrike" cap="none" normalizeH="0" baseline="-25000">
              <a:ln>
                <a:noFill/>
              </a:ln>
              <a:solidFill>
                <a:schemeClr val="tx1"/>
              </a:solidFill>
              <a:effectLst/>
              <a:latin typeface="Helvetica" pitchFamily="34" charset="0"/>
            </a:endParaRPr>
          </a:p>
        </p:txBody>
      </p:sp>
      <p:sp>
        <p:nvSpPr>
          <p:cNvPr id="97" name="Rectangle: Rounded Corners 96">
            <a:extLst>
              <a:ext uri="{FF2B5EF4-FFF2-40B4-BE49-F238E27FC236}">
                <a16:creationId xmlns:a16="http://schemas.microsoft.com/office/drawing/2014/main" id="{16FBAC1F-1AAE-4D6C-86C0-DDC3C9025FD2}"/>
              </a:ext>
            </a:extLst>
          </p:cNvPr>
          <p:cNvSpPr/>
          <p:nvPr/>
        </p:nvSpPr>
        <p:spPr bwMode="auto">
          <a:xfrm>
            <a:off x="4206433" y="5449185"/>
            <a:ext cx="477083" cy="280493"/>
          </a:xfrm>
          <a:prstGeom prst="roundRect">
            <a:avLst/>
          </a:prstGeom>
          <a:solidFill>
            <a:srgbClr val="F0F1C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3</a:t>
            </a:r>
          </a:p>
        </p:txBody>
      </p:sp>
      <p:sp>
        <p:nvSpPr>
          <p:cNvPr id="98" name="Rectangle: Rounded Corners 97">
            <a:extLst>
              <a:ext uri="{FF2B5EF4-FFF2-40B4-BE49-F238E27FC236}">
                <a16:creationId xmlns:a16="http://schemas.microsoft.com/office/drawing/2014/main" id="{8C6D0DF7-E031-4310-AC42-B7AC578349F1}"/>
              </a:ext>
            </a:extLst>
          </p:cNvPr>
          <p:cNvSpPr/>
          <p:nvPr/>
        </p:nvSpPr>
        <p:spPr bwMode="auto">
          <a:xfrm>
            <a:off x="5207394" y="5443170"/>
            <a:ext cx="558631" cy="280493"/>
          </a:xfrm>
          <a:prstGeom prst="roundRect">
            <a:avLst/>
          </a:prstGeom>
          <a:solidFill>
            <a:srgbClr val="F0F1C9"/>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3</a:t>
            </a:r>
          </a:p>
        </p:txBody>
      </p:sp>
    </p:spTree>
    <p:extLst>
      <p:ext uri="{BB962C8B-B14F-4D97-AF65-F5344CB8AC3E}">
        <p14:creationId xmlns:p14="http://schemas.microsoft.com/office/powerpoint/2010/main" val="670853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2000"/>
                                        <p:tgtEl>
                                          <p:spTgt spid="7"/>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ircle(in)">
                                      <p:cBhvr>
                                        <p:cTn id="10" dur="2000"/>
                                        <p:tgtEl>
                                          <p:spTgt spid="12"/>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circle(in)">
                                      <p:cBhvr>
                                        <p:cTn id="13" dur="2000"/>
                                        <p:tgtEl>
                                          <p:spTgt spid="17"/>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80"/>
                                        </p:tgtEl>
                                        <p:attrNameLst>
                                          <p:attrName>style.visibility</p:attrName>
                                        </p:attrNameLst>
                                      </p:cBhvr>
                                      <p:to>
                                        <p:strVal val="visible"/>
                                      </p:to>
                                    </p:set>
                                    <p:animEffect transition="in" filter="circle(in)">
                                      <p:cBhvr>
                                        <p:cTn id="16" dur="2000"/>
                                        <p:tgtEl>
                                          <p:spTgt spid="80"/>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81"/>
                                        </p:tgtEl>
                                        <p:attrNameLst>
                                          <p:attrName>style.visibility</p:attrName>
                                        </p:attrNameLst>
                                      </p:cBhvr>
                                      <p:to>
                                        <p:strVal val="visible"/>
                                      </p:to>
                                    </p:set>
                                    <p:animEffect transition="in" filter="circle(in)">
                                      <p:cBhvr>
                                        <p:cTn id="19" dur="2000"/>
                                        <p:tgtEl>
                                          <p:spTgt spid="81"/>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82"/>
                                        </p:tgtEl>
                                        <p:attrNameLst>
                                          <p:attrName>style.visibility</p:attrName>
                                        </p:attrNameLst>
                                      </p:cBhvr>
                                      <p:to>
                                        <p:strVal val="visible"/>
                                      </p:to>
                                    </p:set>
                                    <p:animEffect transition="in" filter="circle(in)">
                                      <p:cBhvr>
                                        <p:cTn id="22" dur="2000"/>
                                        <p:tgtEl>
                                          <p:spTgt spid="82"/>
                                        </p:tgtEl>
                                      </p:cBhvr>
                                    </p:animEffect>
                                  </p:childTnLst>
                                </p:cTn>
                              </p:par>
                              <p:par>
                                <p:cTn id="23" presetID="6" presetClass="entr" presetSubtype="16" fill="hold" grpId="0" nodeType="withEffect">
                                  <p:stCondLst>
                                    <p:cond delay="0"/>
                                  </p:stCondLst>
                                  <p:childTnLst>
                                    <p:set>
                                      <p:cBhvr>
                                        <p:cTn id="24" dur="1" fill="hold">
                                          <p:stCondLst>
                                            <p:cond delay="0"/>
                                          </p:stCondLst>
                                        </p:cTn>
                                        <p:tgtEl>
                                          <p:spTgt spid="83"/>
                                        </p:tgtEl>
                                        <p:attrNameLst>
                                          <p:attrName>style.visibility</p:attrName>
                                        </p:attrNameLst>
                                      </p:cBhvr>
                                      <p:to>
                                        <p:strVal val="visible"/>
                                      </p:to>
                                    </p:set>
                                    <p:animEffect transition="in" filter="circle(in)">
                                      <p:cBhvr>
                                        <p:cTn id="25" dur="2000"/>
                                        <p:tgtEl>
                                          <p:spTgt spid="83"/>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circle(in)">
                                      <p:cBhvr>
                                        <p:cTn id="30" dur="2000"/>
                                        <p:tgtEl>
                                          <p:spTgt spid="36"/>
                                        </p:tgtEl>
                                      </p:cBhvr>
                                    </p:animEffect>
                                  </p:childTnLst>
                                </p:cTn>
                              </p:par>
                              <p:par>
                                <p:cTn id="31" presetID="6" presetClass="entr" presetSubtype="16" fill="hold" grpId="0" nodeType="withEffect">
                                  <p:stCondLst>
                                    <p:cond delay="0"/>
                                  </p:stCondLst>
                                  <p:childTnLst>
                                    <p:set>
                                      <p:cBhvr>
                                        <p:cTn id="32" dur="1" fill="hold">
                                          <p:stCondLst>
                                            <p:cond delay="0"/>
                                          </p:stCondLst>
                                        </p:cTn>
                                        <p:tgtEl>
                                          <p:spTgt spid="78"/>
                                        </p:tgtEl>
                                        <p:attrNameLst>
                                          <p:attrName>style.visibility</p:attrName>
                                        </p:attrNameLst>
                                      </p:cBhvr>
                                      <p:to>
                                        <p:strVal val="visible"/>
                                      </p:to>
                                    </p:set>
                                    <p:animEffect transition="in" filter="circle(in)">
                                      <p:cBhvr>
                                        <p:cTn id="33" dur="2000"/>
                                        <p:tgtEl>
                                          <p:spTgt spid="78"/>
                                        </p:tgtEl>
                                      </p:cBhvr>
                                    </p:animEffect>
                                  </p:childTnLst>
                                </p:cTn>
                              </p:par>
                              <p:par>
                                <p:cTn id="34" presetID="6" presetClass="entr" presetSubtype="16" fill="hold" grpId="0" nodeType="withEffect">
                                  <p:stCondLst>
                                    <p:cond delay="0"/>
                                  </p:stCondLst>
                                  <p:childTnLst>
                                    <p:set>
                                      <p:cBhvr>
                                        <p:cTn id="35" dur="1" fill="hold">
                                          <p:stCondLst>
                                            <p:cond delay="0"/>
                                          </p:stCondLst>
                                        </p:cTn>
                                        <p:tgtEl>
                                          <p:spTgt spid="84"/>
                                        </p:tgtEl>
                                        <p:attrNameLst>
                                          <p:attrName>style.visibility</p:attrName>
                                        </p:attrNameLst>
                                      </p:cBhvr>
                                      <p:to>
                                        <p:strVal val="visible"/>
                                      </p:to>
                                    </p:set>
                                    <p:animEffect transition="in" filter="circle(in)">
                                      <p:cBhvr>
                                        <p:cTn id="36" dur="2000"/>
                                        <p:tgtEl>
                                          <p:spTgt spid="84"/>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85"/>
                                        </p:tgtEl>
                                        <p:attrNameLst>
                                          <p:attrName>style.visibility</p:attrName>
                                        </p:attrNameLst>
                                      </p:cBhvr>
                                      <p:to>
                                        <p:strVal val="visible"/>
                                      </p:to>
                                    </p:set>
                                    <p:animEffect transition="in" filter="circle(in)">
                                      <p:cBhvr>
                                        <p:cTn id="39" dur="2000"/>
                                        <p:tgtEl>
                                          <p:spTgt spid="85"/>
                                        </p:tgtEl>
                                      </p:cBhvr>
                                    </p:animEffect>
                                  </p:childTnLst>
                                </p:cTn>
                              </p:par>
                              <p:par>
                                <p:cTn id="40" presetID="6" presetClass="entr" presetSubtype="16" fill="hold" grpId="0" nodeType="withEffect">
                                  <p:stCondLst>
                                    <p:cond delay="0"/>
                                  </p:stCondLst>
                                  <p:childTnLst>
                                    <p:set>
                                      <p:cBhvr>
                                        <p:cTn id="41" dur="1" fill="hold">
                                          <p:stCondLst>
                                            <p:cond delay="0"/>
                                          </p:stCondLst>
                                        </p:cTn>
                                        <p:tgtEl>
                                          <p:spTgt spid="86"/>
                                        </p:tgtEl>
                                        <p:attrNameLst>
                                          <p:attrName>style.visibility</p:attrName>
                                        </p:attrNameLst>
                                      </p:cBhvr>
                                      <p:to>
                                        <p:strVal val="visible"/>
                                      </p:to>
                                    </p:set>
                                    <p:animEffect transition="in" filter="circle(in)">
                                      <p:cBhvr>
                                        <p:cTn id="42" dur="2000"/>
                                        <p:tgtEl>
                                          <p:spTgt spid="86"/>
                                        </p:tgtEl>
                                      </p:cBhvr>
                                    </p:animEffect>
                                  </p:childTnLst>
                                </p:cTn>
                              </p:par>
                              <p:par>
                                <p:cTn id="43" presetID="6" presetClass="entr" presetSubtype="16" fill="hold" grpId="0" nodeType="withEffect">
                                  <p:stCondLst>
                                    <p:cond delay="0"/>
                                  </p:stCondLst>
                                  <p:childTnLst>
                                    <p:set>
                                      <p:cBhvr>
                                        <p:cTn id="44" dur="1" fill="hold">
                                          <p:stCondLst>
                                            <p:cond delay="0"/>
                                          </p:stCondLst>
                                        </p:cTn>
                                        <p:tgtEl>
                                          <p:spTgt spid="87"/>
                                        </p:tgtEl>
                                        <p:attrNameLst>
                                          <p:attrName>style.visibility</p:attrName>
                                        </p:attrNameLst>
                                      </p:cBhvr>
                                      <p:to>
                                        <p:strVal val="visible"/>
                                      </p:to>
                                    </p:set>
                                    <p:animEffect transition="in" filter="circle(in)">
                                      <p:cBhvr>
                                        <p:cTn id="45" dur="2000"/>
                                        <p:tgtEl>
                                          <p:spTgt spid="87"/>
                                        </p:tgtEl>
                                      </p:cBhvr>
                                    </p:animEffect>
                                  </p:childTnLst>
                                </p:cTn>
                              </p:par>
                              <p:par>
                                <p:cTn id="46" presetID="6" presetClass="entr" presetSubtype="16" fill="hold" grpId="0" nodeType="withEffect">
                                  <p:stCondLst>
                                    <p:cond delay="0"/>
                                  </p:stCondLst>
                                  <p:childTnLst>
                                    <p:set>
                                      <p:cBhvr>
                                        <p:cTn id="47" dur="1" fill="hold">
                                          <p:stCondLst>
                                            <p:cond delay="0"/>
                                          </p:stCondLst>
                                        </p:cTn>
                                        <p:tgtEl>
                                          <p:spTgt spid="88"/>
                                        </p:tgtEl>
                                        <p:attrNameLst>
                                          <p:attrName>style.visibility</p:attrName>
                                        </p:attrNameLst>
                                      </p:cBhvr>
                                      <p:to>
                                        <p:strVal val="visible"/>
                                      </p:to>
                                    </p:set>
                                    <p:animEffect transition="in" filter="circle(in)">
                                      <p:cBhvr>
                                        <p:cTn id="48" dur="2000"/>
                                        <p:tgtEl>
                                          <p:spTgt spid="88"/>
                                        </p:tgtEl>
                                      </p:cBhvr>
                                    </p:animEffect>
                                  </p:childTnLst>
                                </p:cTn>
                              </p:par>
                            </p:childTnLst>
                          </p:cTn>
                        </p:par>
                      </p:childTnLst>
                    </p:cTn>
                  </p:par>
                  <p:par>
                    <p:cTn id="49" fill="hold">
                      <p:stCondLst>
                        <p:cond delay="indefinite"/>
                      </p:stCondLst>
                      <p:childTnLst>
                        <p:par>
                          <p:cTn id="50" fill="hold">
                            <p:stCondLst>
                              <p:cond delay="0"/>
                            </p:stCondLst>
                            <p:childTnLst>
                              <p:par>
                                <p:cTn id="51" presetID="6" presetClass="entr" presetSubtype="16" fill="hold" nodeType="clickEffect">
                                  <p:stCondLst>
                                    <p:cond delay="0"/>
                                  </p:stCondLst>
                                  <p:childTnLst>
                                    <p:set>
                                      <p:cBhvr>
                                        <p:cTn id="52" dur="1" fill="hold">
                                          <p:stCondLst>
                                            <p:cond delay="0"/>
                                          </p:stCondLst>
                                        </p:cTn>
                                        <p:tgtEl>
                                          <p:spTgt spid="57"/>
                                        </p:tgtEl>
                                        <p:attrNameLst>
                                          <p:attrName>style.visibility</p:attrName>
                                        </p:attrNameLst>
                                      </p:cBhvr>
                                      <p:to>
                                        <p:strVal val="visible"/>
                                      </p:to>
                                    </p:set>
                                    <p:animEffect transition="in" filter="circle(in)">
                                      <p:cBhvr>
                                        <p:cTn id="53" dur="2000"/>
                                        <p:tgtEl>
                                          <p:spTgt spid="57"/>
                                        </p:tgtEl>
                                      </p:cBhvr>
                                    </p:animEffect>
                                  </p:childTnLst>
                                </p:cTn>
                              </p:par>
                              <p:par>
                                <p:cTn id="54" presetID="6" presetClass="entr" presetSubtype="16" fill="hold" grpId="0" nodeType="withEffect">
                                  <p:stCondLst>
                                    <p:cond delay="0"/>
                                  </p:stCondLst>
                                  <p:childTnLst>
                                    <p:set>
                                      <p:cBhvr>
                                        <p:cTn id="55" dur="1" fill="hold">
                                          <p:stCondLst>
                                            <p:cond delay="0"/>
                                          </p:stCondLst>
                                        </p:cTn>
                                        <p:tgtEl>
                                          <p:spTgt spid="79"/>
                                        </p:tgtEl>
                                        <p:attrNameLst>
                                          <p:attrName>style.visibility</p:attrName>
                                        </p:attrNameLst>
                                      </p:cBhvr>
                                      <p:to>
                                        <p:strVal val="visible"/>
                                      </p:to>
                                    </p:set>
                                    <p:animEffect transition="in" filter="circle(in)">
                                      <p:cBhvr>
                                        <p:cTn id="56" dur="2000"/>
                                        <p:tgtEl>
                                          <p:spTgt spid="79"/>
                                        </p:tgtEl>
                                      </p:cBhvr>
                                    </p:animEffect>
                                  </p:childTnLst>
                                </p:cTn>
                              </p:par>
                              <p:par>
                                <p:cTn id="57" presetID="6" presetClass="entr" presetSubtype="16" fill="hold" grpId="0" nodeType="withEffect">
                                  <p:stCondLst>
                                    <p:cond delay="0"/>
                                  </p:stCondLst>
                                  <p:childTnLst>
                                    <p:set>
                                      <p:cBhvr>
                                        <p:cTn id="58" dur="1" fill="hold">
                                          <p:stCondLst>
                                            <p:cond delay="0"/>
                                          </p:stCondLst>
                                        </p:cTn>
                                        <p:tgtEl>
                                          <p:spTgt spid="89"/>
                                        </p:tgtEl>
                                        <p:attrNameLst>
                                          <p:attrName>style.visibility</p:attrName>
                                        </p:attrNameLst>
                                      </p:cBhvr>
                                      <p:to>
                                        <p:strVal val="visible"/>
                                      </p:to>
                                    </p:set>
                                    <p:animEffect transition="in" filter="circle(in)">
                                      <p:cBhvr>
                                        <p:cTn id="59" dur="2000"/>
                                        <p:tgtEl>
                                          <p:spTgt spid="89"/>
                                        </p:tgtEl>
                                      </p:cBhvr>
                                    </p:animEffect>
                                  </p:childTnLst>
                                </p:cTn>
                              </p:par>
                              <p:par>
                                <p:cTn id="60" presetID="6" presetClass="entr" presetSubtype="16" fill="hold" grpId="0" nodeType="withEffect">
                                  <p:stCondLst>
                                    <p:cond delay="0"/>
                                  </p:stCondLst>
                                  <p:childTnLst>
                                    <p:set>
                                      <p:cBhvr>
                                        <p:cTn id="61" dur="1" fill="hold">
                                          <p:stCondLst>
                                            <p:cond delay="0"/>
                                          </p:stCondLst>
                                        </p:cTn>
                                        <p:tgtEl>
                                          <p:spTgt spid="90"/>
                                        </p:tgtEl>
                                        <p:attrNameLst>
                                          <p:attrName>style.visibility</p:attrName>
                                        </p:attrNameLst>
                                      </p:cBhvr>
                                      <p:to>
                                        <p:strVal val="visible"/>
                                      </p:to>
                                    </p:set>
                                    <p:animEffect transition="in" filter="circle(in)">
                                      <p:cBhvr>
                                        <p:cTn id="62" dur="2000"/>
                                        <p:tgtEl>
                                          <p:spTgt spid="90"/>
                                        </p:tgtEl>
                                      </p:cBhvr>
                                    </p:animEffect>
                                  </p:childTnLst>
                                </p:cTn>
                              </p:par>
                              <p:par>
                                <p:cTn id="63" presetID="6" presetClass="entr" presetSubtype="16" fill="hold" grpId="0" nodeType="withEffect">
                                  <p:stCondLst>
                                    <p:cond delay="0"/>
                                  </p:stCondLst>
                                  <p:childTnLst>
                                    <p:set>
                                      <p:cBhvr>
                                        <p:cTn id="64" dur="1" fill="hold">
                                          <p:stCondLst>
                                            <p:cond delay="0"/>
                                          </p:stCondLst>
                                        </p:cTn>
                                        <p:tgtEl>
                                          <p:spTgt spid="91"/>
                                        </p:tgtEl>
                                        <p:attrNameLst>
                                          <p:attrName>style.visibility</p:attrName>
                                        </p:attrNameLst>
                                      </p:cBhvr>
                                      <p:to>
                                        <p:strVal val="visible"/>
                                      </p:to>
                                    </p:set>
                                    <p:animEffect transition="in" filter="circle(in)">
                                      <p:cBhvr>
                                        <p:cTn id="65" dur="2000"/>
                                        <p:tgtEl>
                                          <p:spTgt spid="91"/>
                                        </p:tgtEl>
                                      </p:cBhvr>
                                    </p:animEffect>
                                  </p:childTnLst>
                                </p:cTn>
                              </p:par>
                              <p:par>
                                <p:cTn id="66" presetID="6" presetClass="entr" presetSubtype="16" fill="hold" grpId="0" nodeType="withEffect">
                                  <p:stCondLst>
                                    <p:cond delay="0"/>
                                  </p:stCondLst>
                                  <p:childTnLst>
                                    <p:set>
                                      <p:cBhvr>
                                        <p:cTn id="67" dur="1" fill="hold">
                                          <p:stCondLst>
                                            <p:cond delay="0"/>
                                          </p:stCondLst>
                                        </p:cTn>
                                        <p:tgtEl>
                                          <p:spTgt spid="92"/>
                                        </p:tgtEl>
                                        <p:attrNameLst>
                                          <p:attrName>style.visibility</p:attrName>
                                        </p:attrNameLst>
                                      </p:cBhvr>
                                      <p:to>
                                        <p:strVal val="visible"/>
                                      </p:to>
                                    </p:set>
                                    <p:animEffect transition="in" filter="circle(in)">
                                      <p:cBhvr>
                                        <p:cTn id="68" dur="2000"/>
                                        <p:tgtEl>
                                          <p:spTgt spid="92"/>
                                        </p:tgtEl>
                                      </p:cBhvr>
                                    </p:animEffect>
                                  </p:childTnLst>
                                </p:cTn>
                              </p:par>
                              <p:par>
                                <p:cTn id="69" presetID="6" presetClass="entr" presetSubtype="16" fill="hold" grpId="0" nodeType="withEffect">
                                  <p:stCondLst>
                                    <p:cond delay="0"/>
                                  </p:stCondLst>
                                  <p:childTnLst>
                                    <p:set>
                                      <p:cBhvr>
                                        <p:cTn id="70" dur="1" fill="hold">
                                          <p:stCondLst>
                                            <p:cond delay="0"/>
                                          </p:stCondLst>
                                        </p:cTn>
                                        <p:tgtEl>
                                          <p:spTgt spid="93"/>
                                        </p:tgtEl>
                                        <p:attrNameLst>
                                          <p:attrName>style.visibility</p:attrName>
                                        </p:attrNameLst>
                                      </p:cBhvr>
                                      <p:to>
                                        <p:strVal val="visible"/>
                                      </p:to>
                                    </p:set>
                                    <p:animEffect transition="in" filter="circle(in)">
                                      <p:cBhvr>
                                        <p:cTn id="71" dur="2000"/>
                                        <p:tgtEl>
                                          <p:spTgt spid="93"/>
                                        </p:tgtEl>
                                      </p:cBhvr>
                                    </p:animEffect>
                                  </p:childTnLst>
                                </p:cTn>
                              </p:par>
                              <p:par>
                                <p:cTn id="72" presetID="6" presetClass="entr" presetSubtype="16" fill="hold" grpId="0" nodeType="withEffect">
                                  <p:stCondLst>
                                    <p:cond delay="0"/>
                                  </p:stCondLst>
                                  <p:childTnLst>
                                    <p:set>
                                      <p:cBhvr>
                                        <p:cTn id="73" dur="1" fill="hold">
                                          <p:stCondLst>
                                            <p:cond delay="0"/>
                                          </p:stCondLst>
                                        </p:cTn>
                                        <p:tgtEl>
                                          <p:spTgt spid="94"/>
                                        </p:tgtEl>
                                        <p:attrNameLst>
                                          <p:attrName>style.visibility</p:attrName>
                                        </p:attrNameLst>
                                      </p:cBhvr>
                                      <p:to>
                                        <p:strVal val="visible"/>
                                      </p:to>
                                    </p:set>
                                    <p:animEffect transition="in" filter="circle(in)">
                                      <p:cBhvr>
                                        <p:cTn id="74" dur="2000"/>
                                        <p:tgtEl>
                                          <p:spTgt spid="94"/>
                                        </p:tgtEl>
                                      </p:cBhvr>
                                    </p:animEffect>
                                  </p:childTnLst>
                                </p:cTn>
                              </p:par>
                              <p:par>
                                <p:cTn id="75" presetID="6" presetClass="entr" presetSubtype="16" fill="hold" grpId="0" nodeType="withEffect">
                                  <p:stCondLst>
                                    <p:cond delay="0"/>
                                  </p:stCondLst>
                                  <p:childTnLst>
                                    <p:set>
                                      <p:cBhvr>
                                        <p:cTn id="76" dur="1" fill="hold">
                                          <p:stCondLst>
                                            <p:cond delay="0"/>
                                          </p:stCondLst>
                                        </p:cTn>
                                        <p:tgtEl>
                                          <p:spTgt spid="95"/>
                                        </p:tgtEl>
                                        <p:attrNameLst>
                                          <p:attrName>style.visibility</p:attrName>
                                        </p:attrNameLst>
                                      </p:cBhvr>
                                      <p:to>
                                        <p:strVal val="visible"/>
                                      </p:to>
                                    </p:set>
                                    <p:animEffect transition="in" filter="circle(in)">
                                      <p:cBhvr>
                                        <p:cTn id="77" dur="2000"/>
                                        <p:tgtEl>
                                          <p:spTgt spid="95"/>
                                        </p:tgtEl>
                                      </p:cBhvr>
                                    </p:animEffect>
                                  </p:childTnLst>
                                </p:cTn>
                              </p:par>
                              <p:par>
                                <p:cTn id="78" presetID="6" presetClass="entr" presetSubtype="16" fill="hold" grpId="0" nodeType="withEffect">
                                  <p:stCondLst>
                                    <p:cond delay="0"/>
                                  </p:stCondLst>
                                  <p:childTnLst>
                                    <p:set>
                                      <p:cBhvr>
                                        <p:cTn id="79" dur="1" fill="hold">
                                          <p:stCondLst>
                                            <p:cond delay="0"/>
                                          </p:stCondLst>
                                        </p:cTn>
                                        <p:tgtEl>
                                          <p:spTgt spid="96"/>
                                        </p:tgtEl>
                                        <p:attrNameLst>
                                          <p:attrName>style.visibility</p:attrName>
                                        </p:attrNameLst>
                                      </p:cBhvr>
                                      <p:to>
                                        <p:strVal val="visible"/>
                                      </p:to>
                                    </p:set>
                                    <p:animEffect transition="in" filter="circle(in)">
                                      <p:cBhvr>
                                        <p:cTn id="80" dur="2000"/>
                                        <p:tgtEl>
                                          <p:spTgt spid="96"/>
                                        </p:tgtEl>
                                      </p:cBhvr>
                                    </p:animEffect>
                                  </p:childTnLst>
                                </p:cTn>
                              </p:par>
                              <p:par>
                                <p:cTn id="81" presetID="6" presetClass="entr" presetSubtype="16" fill="hold" grpId="0" nodeType="withEffect">
                                  <p:stCondLst>
                                    <p:cond delay="0"/>
                                  </p:stCondLst>
                                  <p:childTnLst>
                                    <p:set>
                                      <p:cBhvr>
                                        <p:cTn id="82" dur="1" fill="hold">
                                          <p:stCondLst>
                                            <p:cond delay="0"/>
                                          </p:stCondLst>
                                        </p:cTn>
                                        <p:tgtEl>
                                          <p:spTgt spid="97"/>
                                        </p:tgtEl>
                                        <p:attrNameLst>
                                          <p:attrName>style.visibility</p:attrName>
                                        </p:attrNameLst>
                                      </p:cBhvr>
                                      <p:to>
                                        <p:strVal val="visible"/>
                                      </p:to>
                                    </p:set>
                                    <p:animEffect transition="in" filter="circle(in)">
                                      <p:cBhvr>
                                        <p:cTn id="83" dur="2000"/>
                                        <p:tgtEl>
                                          <p:spTgt spid="97"/>
                                        </p:tgtEl>
                                      </p:cBhvr>
                                    </p:animEffect>
                                  </p:childTnLst>
                                </p:cTn>
                              </p:par>
                              <p:par>
                                <p:cTn id="84" presetID="6" presetClass="entr" presetSubtype="16" fill="hold" grpId="0" nodeType="withEffect">
                                  <p:stCondLst>
                                    <p:cond delay="0"/>
                                  </p:stCondLst>
                                  <p:childTnLst>
                                    <p:set>
                                      <p:cBhvr>
                                        <p:cTn id="85" dur="1" fill="hold">
                                          <p:stCondLst>
                                            <p:cond delay="0"/>
                                          </p:stCondLst>
                                        </p:cTn>
                                        <p:tgtEl>
                                          <p:spTgt spid="98"/>
                                        </p:tgtEl>
                                        <p:attrNameLst>
                                          <p:attrName>style.visibility</p:attrName>
                                        </p:attrNameLst>
                                      </p:cBhvr>
                                      <p:to>
                                        <p:strVal val="visible"/>
                                      </p:to>
                                    </p:set>
                                    <p:animEffect transition="in" filter="circle(in)">
                                      <p:cBhvr>
                                        <p:cTn id="86" dur="2000"/>
                                        <p:tgtEl>
                                          <p:spTgt spid="98"/>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78" grpId="0"/>
      <p:bldP spid="79" grpId="0"/>
      <p:bldP spid="17"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P spid="9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8" name="Straight Connector 57">
            <a:extLst>
              <a:ext uri="{FF2B5EF4-FFF2-40B4-BE49-F238E27FC236}">
                <a16:creationId xmlns:a16="http://schemas.microsoft.com/office/drawing/2014/main" id="{1CC03821-9786-47FA-AA5D-7B40E942C85E}"/>
              </a:ext>
            </a:extLst>
          </p:cNvPr>
          <p:cNvCxnSpPr>
            <a:cxnSpLocks/>
          </p:cNvCxnSpPr>
          <p:nvPr/>
        </p:nvCxnSpPr>
        <p:spPr bwMode="auto">
          <a:xfrm>
            <a:off x="3546122" y="492245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59" name="Straight Connector 58">
            <a:extLst>
              <a:ext uri="{FF2B5EF4-FFF2-40B4-BE49-F238E27FC236}">
                <a16:creationId xmlns:a16="http://schemas.microsoft.com/office/drawing/2014/main" id="{C8464184-0D5E-4450-87AD-E91BFFBD88F1}"/>
              </a:ext>
            </a:extLst>
          </p:cNvPr>
          <p:cNvCxnSpPr>
            <a:cxnSpLocks/>
          </p:cNvCxnSpPr>
          <p:nvPr/>
        </p:nvCxnSpPr>
        <p:spPr bwMode="auto">
          <a:xfrm>
            <a:off x="5357699" y="493820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0" name="Straight Connector 59">
            <a:extLst>
              <a:ext uri="{FF2B5EF4-FFF2-40B4-BE49-F238E27FC236}">
                <a16:creationId xmlns:a16="http://schemas.microsoft.com/office/drawing/2014/main" id="{161FA3BD-BE5C-4144-8E65-DE16F31011FA}"/>
              </a:ext>
            </a:extLst>
          </p:cNvPr>
          <p:cNvCxnSpPr>
            <a:cxnSpLocks/>
          </p:cNvCxnSpPr>
          <p:nvPr/>
        </p:nvCxnSpPr>
        <p:spPr bwMode="auto">
          <a:xfrm>
            <a:off x="7190533" y="492245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1" name="Straight Connector 60">
            <a:extLst>
              <a:ext uri="{FF2B5EF4-FFF2-40B4-BE49-F238E27FC236}">
                <a16:creationId xmlns:a16="http://schemas.microsoft.com/office/drawing/2014/main" id="{5A3E8303-E206-4613-8AF2-7F8F9A8CF9C8}"/>
              </a:ext>
            </a:extLst>
          </p:cNvPr>
          <p:cNvCxnSpPr>
            <a:cxnSpLocks/>
          </p:cNvCxnSpPr>
          <p:nvPr/>
        </p:nvCxnSpPr>
        <p:spPr bwMode="auto">
          <a:xfrm>
            <a:off x="5159401" y="438454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2" name="Straight Connector 61">
            <a:extLst>
              <a:ext uri="{FF2B5EF4-FFF2-40B4-BE49-F238E27FC236}">
                <a16:creationId xmlns:a16="http://schemas.microsoft.com/office/drawing/2014/main" id="{78E2BC1C-8F9E-40E3-BCE8-D1DE1552E058}"/>
              </a:ext>
            </a:extLst>
          </p:cNvPr>
          <p:cNvCxnSpPr>
            <a:cxnSpLocks/>
          </p:cNvCxnSpPr>
          <p:nvPr/>
        </p:nvCxnSpPr>
        <p:spPr bwMode="auto">
          <a:xfrm>
            <a:off x="5358946" y="383985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3" name="Straight Connector 62">
            <a:extLst>
              <a:ext uri="{FF2B5EF4-FFF2-40B4-BE49-F238E27FC236}">
                <a16:creationId xmlns:a16="http://schemas.microsoft.com/office/drawing/2014/main" id="{B90567E1-6E65-42F8-82BF-8870D59BC3BB}"/>
              </a:ext>
            </a:extLst>
          </p:cNvPr>
          <p:cNvCxnSpPr>
            <a:cxnSpLocks/>
          </p:cNvCxnSpPr>
          <p:nvPr/>
        </p:nvCxnSpPr>
        <p:spPr bwMode="auto">
          <a:xfrm>
            <a:off x="8638330" y="438454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Real-Time CPU Scheduling Problem</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463916" y="1289051"/>
            <a:ext cx="8504237" cy="235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marL="0" indent="0">
              <a:buNone/>
            </a:pPr>
            <a:r>
              <a:rPr lang="en-SG" altLang="en-US" sz="2800" kern="0">
                <a:solidFill>
                  <a:schemeClr val="accent2"/>
                </a:solidFill>
              </a:rPr>
              <a:t>Given a set of periodic/sporadic real-time processes, find a </a:t>
            </a:r>
            <a:r>
              <a:rPr lang="en-SG" altLang="en-US" sz="2800" kern="0" err="1">
                <a:solidFill>
                  <a:schemeClr val="accent2"/>
                </a:solidFill>
              </a:rPr>
              <a:t>uni</a:t>
            </a:r>
            <a:r>
              <a:rPr lang="en-SG" altLang="en-US" sz="2800" kern="0">
                <a:solidFill>
                  <a:schemeClr val="accent2"/>
                </a:solidFill>
              </a:rPr>
              <a:t>-processor CPU scheduling algorithm that can meet process deadlines</a:t>
            </a:r>
          </a:p>
          <a:p>
            <a:pPr lvl="1"/>
            <a:r>
              <a:rPr lang="en-SG" altLang="en-US" sz="2400" kern="0"/>
              <a:t>We will use a running example (periodic real-time process set): P</a:t>
            </a:r>
            <a:r>
              <a:rPr lang="en-SG" altLang="en-US" sz="2400" kern="0" baseline="-25000"/>
              <a:t>1</a:t>
            </a:r>
            <a:r>
              <a:rPr lang="en-SG" altLang="en-US" sz="2400" kern="0"/>
              <a:t>&lt;10,6,10&gt;, P</a:t>
            </a:r>
            <a:r>
              <a:rPr lang="en-SG" altLang="en-US" sz="2400" kern="0" baseline="-25000"/>
              <a:t>2</a:t>
            </a:r>
            <a:r>
              <a:rPr lang="en-SG" altLang="en-US" sz="2400" kern="0"/>
              <a:t>&lt;19,4,19&gt;, P</a:t>
            </a:r>
            <a:r>
              <a:rPr lang="en-SG" altLang="en-US" sz="2400" kern="0" baseline="-25000"/>
              <a:t>3</a:t>
            </a:r>
            <a:r>
              <a:rPr lang="en-SG" altLang="en-US" sz="2400" kern="0"/>
              <a:t>&lt;20,2,20&gt;</a:t>
            </a:r>
          </a:p>
        </p:txBody>
      </p:sp>
      <p:cxnSp>
        <p:nvCxnSpPr>
          <p:cNvPr id="21" name="Straight Arrow Connector 20">
            <a:extLst>
              <a:ext uri="{FF2B5EF4-FFF2-40B4-BE49-F238E27FC236}">
                <a16:creationId xmlns:a16="http://schemas.microsoft.com/office/drawing/2014/main" id="{5E3A7125-828D-4D5A-AF15-5E86B61D92B8}"/>
              </a:ext>
            </a:extLst>
          </p:cNvPr>
          <p:cNvCxnSpPr>
            <a:cxnSpLocks/>
          </p:cNvCxnSpPr>
          <p:nvPr/>
        </p:nvCxnSpPr>
        <p:spPr bwMode="auto">
          <a:xfrm flipV="1">
            <a:off x="1679331" y="5379656"/>
            <a:ext cx="7152542" cy="10581"/>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23" name="Straight Connector 22">
            <a:extLst>
              <a:ext uri="{FF2B5EF4-FFF2-40B4-BE49-F238E27FC236}">
                <a16:creationId xmlns:a16="http://schemas.microsoft.com/office/drawing/2014/main" id="{A9F07EB7-14AE-4533-ACD4-68D070F41945}"/>
              </a:ext>
            </a:extLst>
          </p:cNvPr>
          <p:cNvCxnSpPr>
            <a:cxnSpLocks/>
          </p:cNvCxnSpPr>
          <p:nvPr/>
        </p:nvCxnSpPr>
        <p:spPr bwMode="auto">
          <a:xfrm>
            <a:off x="1679331" y="383986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33D29040-B326-4E86-AF31-9BEEFA9D089D}"/>
              </a:ext>
            </a:extLst>
          </p:cNvPr>
          <p:cNvSpPr txBox="1"/>
          <p:nvPr/>
        </p:nvSpPr>
        <p:spPr>
          <a:xfrm>
            <a:off x="1529862" y="5417500"/>
            <a:ext cx="7438289" cy="369332"/>
          </a:xfrm>
          <a:prstGeom prst="rect">
            <a:avLst/>
          </a:prstGeom>
          <a:noFill/>
        </p:spPr>
        <p:txBody>
          <a:bodyPr wrap="square" rtlCol="0">
            <a:spAutoFit/>
          </a:bodyPr>
          <a:lstStyle/>
          <a:p>
            <a:r>
              <a:rPr lang="en-SG"/>
              <a:t>0		10	          19 20		30	        38</a:t>
            </a:r>
          </a:p>
        </p:txBody>
      </p:sp>
      <p:cxnSp>
        <p:nvCxnSpPr>
          <p:cNvPr id="25" name="Straight Connector 24">
            <a:extLst>
              <a:ext uri="{FF2B5EF4-FFF2-40B4-BE49-F238E27FC236}">
                <a16:creationId xmlns:a16="http://schemas.microsoft.com/office/drawing/2014/main" id="{7570D38C-4B19-4BC7-887A-E96A9305F59C}"/>
              </a:ext>
            </a:extLst>
          </p:cNvPr>
          <p:cNvCxnSpPr/>
          <p:nvPr/>
        </p:nvCxnSpPr>
        <p:spPr bwMode="auto">
          <a:xfrm>
            <a:off x="5384075" y="493303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3" name="TextBox 32">
            <a:extLst>
              <a:ext uri="{FF2B5EF4-FFF2-40B4-BE49-F238E27FC236}">
                <a16:creationId xmlns:a16="http://schemas.microsoft.com/office/drawing/2014/main" id="{1D048180-2CD5-4569-863A-68FCB8CEA54D}"/>
              </a:ext>
            </a:extLst>
          </p:cNvPr>
          <p:cNvSpPr txBox="1"/>
          <p:nvPr/>
        </p:nvSpPr>
        <p:spPr>
          <a:xfrm>
            <a:off x="321239" y="5023136"/>
            <a:ext cx="1035861" cy="276999"/>
          </a:xfrm>
          <a:prstGeom prst="rect">
            <a:avLst/>
          </a:prstGeom>
          <a:noFill/>
        </p:spPr>
        <p:txBody>
          <a:bodyPr wrap="none" rtlCol="0">
            <a:spAutoFit/>
          </a:bodyPr>
          <a:lstStyle/>
          <a:p>
            <a:pPr algn="ctr"/>
            <a:r>
              <a:rPr lang="en-SG" altLang="en-US" sz="1200" kern="0"/>
              <a:t>P</a:t>
            </a:r>
            <a:r>
              <a:rPr lang="en-SG" altLang="en-US" sz="1200" kern="0" baseline="-25000"/>
              <a:t>1</a:t>
            </a:r>
            <a:r>
              <a:rPr lang="en-SG" altLang="en-US" sz="1200" kern="0"/>
              <a:t>&lt;10,6,10&gt;</a:t>
            </a:r>
            <a:endParaRPr lang="en-SG" sz="1200"/>
          </a:p>
        </p:txBody>
      </p:sp>
      <p:sp>
        <p:nvSpPr>
          <p:cNvPr id="34" name="TextBox 33">
            <a:extLst>
              <a:ext uri="{FF2B5EF4-FFF2-40B4-BE49-F238E27FC236}">
                <a16:creationId xmlns:a16="http://schemas.microsoft.com/office/drawing/2014/main" id="{1484B114-B7FC-4720-834C-BD4144E107B9}"/>
              </a:ext>
            </a:extLst>
          </p:cNvPr>
          <p:cNvSpPr txBox="1"/>
          <p:nvPr/>
        </p:nvSpPr>
        <p:spPr>
          <a:xfrm>
            <a:off x="321241" y="4515299"/>
            <a:ext cx="1035861" cy="276999"/>
          </a:xfrm>
          <a:prstGeom prst="rect">
            <a:avLst/>
          </a:prstGeom>
          <a:noFill/>
        </p:spPr>
        <p:txBody>
          <a:bodyPr wrap="none" rtlCol="0">
            <a:spAutoFit/>
          </a:bodyPr>
          <a:lstStyle/>
          <a:p>
            <a:pPr algn="ctr"/>
            <a:r>
              <a:rPr lang="en-SG" altLang="en-US" sz="1200" kern="0"/>
              <a:t>P</a:t>
            </a:r>
            <a:r>
              <a:rPr lang="en-SG" altLang="en-US" sz="1200" kern="0" baseline="-25000"/>
              <a:t>2</a:t>
            </a:r>
            <a:r>
              <a:rPr lang="en-SG" altLang="en-US" sz="1200" kern="0"/>
              <a:t>&lt;19,4,19&gt;</a:t>
            </a:r>
            <a:endParaRPr lang="en-SG" sz="1200"/>
          </a:p>
        </p:txBody>
      </p:sp>
      <p:cxnSp>
        <p:nvCxnSpPr>
          <p:cNvPr id="35" name="Straight Connector 34">
            <a:extLst>
              <a:ext uri="{FF2B5EF4-FFF2-40B4-BE49-F238E27FC236}">
                <a16:creationId xmlns:a16="http://schemas.microsoft.com/office/drawing/2014/main" id="{C553BE87-1092-475A-94AB-FBC03FD23C8A}"/>
              </a:ext>
            </a:extLst>
          </p:cNvPr>
          <p:cNvCxnSpPr/>
          <p:nvPr/>
        </p:nvCxnSpPr>
        <p:spPr bwMode="auto">
          <a:xfrm>
            <a:off x="3573963" y="492245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6" name="TextBox 35">
            <a:extLst>
              <a:ext uri="{FF2B5EF4-FFF2-40B4-BE49-F238E27FC236}">
                <a16:creationId xmlns:a16="http://schemas.microsoft.com/office/drawing/2014/main" id="{55E0DA9A-303F-47E7-ACD7-AB947480B788}"/>
              </a:ext>
            </a:extLst>
          </p:cNvPr>
          <p:cNvSpPr txBox="1"/>
          <p:nvPr/>
        </p:nvSpPr>
        <p:spPr>
          <a:xfrm>
            <a:off x="321239" y="3929960"/>
            <a:ext cx="1035861" cy="276999"/>
          </a:xfrm>
          <a:prstGeom prst="rect">
            <a:avLst/>
          </a:prstGeom>
          <a:noFill/>
        </p:spPr>
        <p:txBody>
          <a:bodyPr wrap="none" rtlCol="0">
            <a:spAutoFit/>
          </a:bodyPr>
          <a:lstStyle/>
          <a:p>
            <a:pPr algn="ctr"/>
            <a:r>
              <a:rPr lang="en-SG" altLang="en-US" sz="1200" kern="0"/>
              <a:t>P</a:t>
            </a:r>
            <a:r>
              <a:rPr lang="en-SG" altLang="en-US" sz="1200" kern="0" baseline="-25000"/>
              <a:t>3</a:t>
            </a:r>
            <a:r>
              <a:rPr lang="en-SG" altLang="en-US" sz="1200" kern="0"/>
              <a:t>&lt;20,2,20&gt;</a:t>
            </a:r>
            <a:endParaRPr lang="en-SG" sz="1200"/>
          </a:p>
        </p:txBody>
      </p:sp>
      <p:cxnSp>
        <p:nvCxnSpPr>
          <p:cNvPr id="40" name="Straight Arrow Connector 39">
            <a:extLst>
              <a:ext uri="{FF2B5EF4-FFF2-40B4-BE49-F238E27FC236}">
                <a16:creationId xmlns:a16="http://schemas.microsoft.com/office/drawing/2014/main" id="{574323D1-1668-4F95-BD83-9C0D41F2E48D}"/>
              </a:ext>
            </a:extLst>
          </p:cNvPr>
          <p:cNvCxnSpPr>
            <a:cxnSpLocks/>
          </p:cNvCxnSpPr>
          <p:nvPr/>
        </p:nvCxnSpPr>
        <p:spPr bwMode="auto">
          <a:xfrm flipV="1">
            <a:off x="1679331" y="4831160"/>
            <a:ext cx="7152542" cy="12489"/>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42352416-E597-48C4-A8AB-C1E139E7BA6D}"/>
              </a:ext>
            </a:extLst>
          </p:cNvPr>
          <p:cNvCxnSpPr>
            <a:cxnSpLocks/>
          </p:cNvCxnSpPr>
          <p:nvPr/>
        </p:nvCxnSpPr>
        <p:spPr bwMode="auto">
          <a:xfrm>
            <a:off x="1679331" y="4297060"/>
            <a:ext cx="7152542"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EE014136-C110-4D09-817D-CFD59904B02C}"/>
              </a:ext>
            </a:extLst>
          </p:cNvPr>
          <p:cNvCxnSpPr>
            <a:cxnSpLocks/>
          </p:cNvCxnSpPr>
          <p:nvPr/>
        </p:nvCxnSpPr>
        <p:spPr bwMode="auto">
          <a:xfrm>
            <a:off x="1679331" y="438644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646EDDF7-D6C8-474E-ACAB-26EF6D45388B}"/>
              </a:ext>
            </a:extLst>
          </p:cNvPr>
          <p:cNvCxnSpPr>
            <a:cxnSpLocks/>
          </p:cNvCxnSpPr>
          <p:nvPr/>
        </p:nvCxnSpPr>
        <p:spPr bwMode="auto">
          <a:xfrm>
            <a:off x="1679331" y="4933037"/>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4" name="Straight Connector 43">
            <a:extLst>
              <a:ext uri="{FF2B5EF4-FFF2-40B4-BE49-F238E27FC236}">
                <a16:creationId xmlns:a16="http://schemas.microsoft.com/office/drawing/2014/main" id="{1370E95A-CB35-4436-94E1-477EC8DF61F2}"/>
              </a:ext>
            </a:extLst>
          </p:cNvPr>
          <p:cNvCxnSpPr/>
          <p:nvPr/>
        </p:nvCxnSpPr>
        <p:spPr bwMode="auto">
          <a:xfrm>
            <a:off x="7216909" y="492245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5" name="Straight Connector 44">
            <a:extLst>
              <a:ext uri="{FF2B5EF4-FFF2-40B4-BE49-F238E27FC236}">
                <a16:creationId xmlns:a16="http://schemas.microsoft.com/office/drawing/2014/main" id="{2D48E54B-D544-48AC-8118-9B9C85F3FDF4}"/>
              </a:ext>
            </a:extLst>
          </p:cNvPr>
          <p:cNvCxnSpPr/>
          <p:nvPr/>
        </p:nvCxnSpPr>
        <p:spPr bwMode="auto">
          <a:xfrm>
            <a:off x="5188817" y="438644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6" name="Straight Connector 45">
            <a:extLst>
              <a:ext uri="{FF2B5EF4-FFF2-40B4-BE49-F238E27FC236}">
                <a16:creationId xmlns:a16="http://schemas.microsoft.com/office/drawing/2014/main" id="{DF6581E0-84A7-47E1-B8C6-7CC5E1CFBC0C}"/>
              </a:ext>
            </a:extLst>
          </p:cNvPr>
          <p:cNvCxnSpPr/>
          <p:nvPr/>
        </p:nvCxnSpPr>
        <p:spPr bwMode="auto">
          <a:xfrm>
            <a:off x="8664706" y="438644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7" name="Straight Connector 46">
            <a:extLst>
              <a:ext uri="{FF2B5EF4-FFF2-40B4-BE49-F238E27FC236}">
                <a16:creationId xmlns:a16="http://schemas.microsoft.com/office/drawing/2014/main" id="{912870F9-170F-4C12-861A-1A57D733EB6C}"/>
              </a:ext>
            </a:extLst>
          </p:cNvPr>
          <p:cNvCxnSpPr/>
          <p:nvPr/>
        </p:nvCxnSpPr>
        <p:spPr bwMode="auto">
          <a:xfrm>
            <a:off x="5384075" y="383985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48" name="Rectangle: Rounded Corners 47">
            <a:extLst>
              <a:ext uri="{FF2B5EF4-FFF2-40B4-BE49-F238E27FC236}">
                <a16:creationId xmlns:a16="http://schemas.microsoft.com/office/drawing/2014/main" id="{09C19724-D588-44A1-8938-A1EF1B287AE0}"/>
              </a:ext>
            </a:extLst>
          </p:cNvPr>
          <p:cNvSpPr/>
          <p:nvPr/>
        </p:nvSpPr>
        <p:spPr bwMode="auto">
          <a:xfrm>
            <a:off x="2007253" y="5099163"/>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49" name="Rectangle: Rounded Corners 48">
            <a:extLst>
              <a:ext uri="{FF2B5EF4-FFF2-40B4-BE49-F238E27FC236}">
                <a16:creationId xmlns:a16="http://schemas.microsoft.com/office/drawing/2014/main" id="{5CAF581E-BA4F-4F1F-815C-ABFB369E1B42}"/>
              </a:ext>
            </a:extLst>
          </p:cNvPr>
          <p:cNvSpPr/>
          <p:nvPr/>
        </p:nvSpPr>
        <p:spPr bwMode="auto">
          <a:xfrm>
            <a:off x="3382915" y="4552194"/>
            <a:ext cx="646095"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50" name="Rectangle: Rounded Corners 49">
            <a:extLst>
              <a:ext uri="{FF2B5EF4-FFF2-40B4-BE49-F238E27FC236}">
                <a16:creationId xmlns:a16="http://schemas.microsoft.com/office/drawing/2014/main" id="{75220B0E-4E57-44FA-B9C3-26D868A6949E}"/>
              </a:ext>
            </a:extLst>
          </p:cNvPr>
          <p:cNvSpPr/>
          <p:nvPr/>
        </p:nvSpPr>
        <p:spPr bwMode="auto">
          <a:xfrm>
            <a:off x="2993885" y="4002935"/>
            <a:ext cx="380897"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sp>
        <p:nvSpPr>
          <p:cNvPr id="51" name="Rectangle: Rounded Corners 50">
            <a:extLst>
              <a:ext uri="{FF2B5EF4-FFF2-40B4-BE49-F238E27FC236}">
                <a16:creationId xmlns:a16="http://schemas.microsoft.com/office/drawing/2014/main" id="{03180616-A262-4D01-9E6B-9F6898D72847}"/>
              </a:ext>
            </a:extLst>
          </p:cNvPr>
          <p:cNvSpPr/>
          <p:nvPr/>
        </p:nvSpPr>
        <p:spPr bwMode="auto">
          <a:xfrm>
            <a:off x="3991276" y="5099163"/>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52" name="Rectangle: Rounded Corners 51">
            <a:extLst>
              <a:ext uri="{FF2B5EF4-FFF2-40B4-BE49-F238E27FC236}">
                <a16:creationId xmlns:a16="http://schemas.microsoft.com/office/drawing/2014/main" id="{CF4BA2A5-A0A6-40D8-AC15-CC3437F99C72}"/>
              </a:ext>
            </a:extLst>
          </p:cNvPr>
          <p:cNvSpPr/>
          <p:nvPr/>
        </p:nvSpPr>
        <p:spPr bwMode="auto">
          <a:xfrm>
            <a:off x="5815486" y="5102508"/>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54" name="Rectangle: Rounded Corners 53">
            <a:extLst>
              <a:ext uri="{FF2B5EF4-FFF2-40B4-BE49-F238E27FC236}">
                <a16:creationId xmlns:a16="http://schemas.microsoft.com/office/drawing/2014/main" id="{5EB0DC2C-9AFF-4672-81B3-A721E7732994}"/>
              </a:ext>
            </a:extLst>
          </p:cNvPr>
          <p:cNvSpPr/>
          <p:nvPr/>
        </p:nvSpPr>
        <p:spPr bwMode="auto">
          <a:xfrm>
            <a:off x="6840554" y="4550667"/>
            <a:ext cx="646095"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cxnSp>
        <p:nvCxnSpPr>
          <p:cNvPr id="12" name="Straight Connector 11">
            <a:extLst>
              <a:ext uri="{FF2B5EF4-FFF2-40B4-BE49-F238E27FC236}">
                <a16:creationId xmlns:a16="http://schemas.microsoft.com/office/drawing/2014/main" id="{4C72B14B-014E-4239-A5B6-945E8190492E}"/>
              </a:ext>
            </a:extLst>
          </p:cNvPr>
          <p:cNvCxnSpPr>
            <a:cxnSpLocks/>
          </p:cNvCxnSpPr>
          <p:nvPr/>
        </p:nvCxnSpPr>
        <p:spPr bwMode="auto">
          <a:xfrm>
            <a:off x="5179578" y="4843649"/>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6" name="Straight Connector 55">
            <a:extLst>
              <a:ext uri="{FF2B5EF4-FFF2-40B4-BE49-F238E27FC236}">
                <a16:creationId xmlns:a16="http://schemas.microsoft.com/office/drawing/2014/main" id="{1A94C2F8-334F-4B62-A7D1-C474F49A16F2}"/>
              </a:ext>
            </a:extLst>
          </p:cNvPr>
          <p:cNvCxnSpPr>
            <a:cxnSpLocks/>
          </p:cNvCxnSpPr>
          <p:nvPr/>
        </p:nvCxnSpPr>
        <p:spPr bwMode="auto">
          <a:xfrm>
            <a:off x="8655914" y="4841740"/>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7" name="Straight Connector 56">
            <a:extLst>
              <a:ext uri="{FF2B5EF4-FFF2-40B4-BE49-F238E27FC236}">
                <a16:creationId xmlns:a16="http://schemas.microsoft.com/office/drawing/2014/main" id="{FEA0FC3B-8656-4544-8F68-59F372324C18}"/>
              </a:ext>
            </a:extLst>
          </p:cNvPr>
          <p:cNvCxnSpPr>
            <a:cxnSpLocks/>
          </p:cNvCxnSpPr>
          <p:nvPr/>
        </p:nvCxnSpPr>
        <p:spPr bwMode="auto">
          <a:xfrm>
            <a:off x="5370887" y="4308789"/>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3474535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withEffect">
                                  <p:stCondLst>
                                    <p:cond delay="0"/>
                                  </p:stCondLst>
                                  <p:childTnLst>
                                    <p:set>
                                      <p:cBhvr>
                                        <p:cTn id="6" dur="1" fill="hold">
                                          <p:stCondLst>
                                            <p:cond delay="0"/>
                                          </p:stCondLst>
                                        </p:cTn>
                                        <p:tgtEl>
                                          <p:spTgt spid="48"/>
                                        </p:tgtEl>
                                        <p:attrNameLst>
                                          <p:attrName>style.visibility</p:attrName>
                                        </p:attrNameLst>
                                      </p:cBhvr>
                                      <p:to>
                                        <p:strVal val="visible"/>
                                      </p:to>
                                    </p:set>
                                    <p:animEffect transition="in" filter="circle(in)">
                                      <p:cBhvr>
                                        <p:cTn id="7" dur="2000"/>
                                        <p:tgtEl>
                                          <p:spTgt spid="48"/>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49"/>
                                        </p:tgtEl>
                                        <p:attrNameLst>
                                          <p:attrName>style.visibility</p:attrName>
                                        </p:attrNameLst>
                                      </p:cBhvr>
                                      <p:to>
                                        <p:strVal val="visible"/>
                                      </p:to>
                                    </p:set>
                                    <p:animEffect transition="in" filter="circle(in)">
                                      <p:cBhvr>
                                        <p:cTn id="10" dur="2000"/>
                                        <p:tgtEl>
                                          <p:spTgt spid="49"/>
                                        </p:tgtEl>
                                      </p:cBhvr>
                                    </p:animEffect>
                                  </p:childTnLst>
                                </p:cTn>
                              </p:par>
                              <p:par>
                                <p:cTn id="11" presetID="6" presetClass="entr" presetSubtype="16" fill="hold" grpId="0" nodeType="withEffect">
                                  <p:stCondLst>
                                    <p:cond delay="0"/>
                                  </p:stCondLst>
                                  <p:childTnLst>
                                    <p:set>
                                      <p:cBhvr>
                                        <p:cTn id="12" dur="1" fill="hold">
                                          <p:stCondLst>
                                            <p:cond delay="0"/>
                                          </p:stCondLst>
                                        </p:cTn>
                                        <p:tgtEl>
                                          <p:spTgt spid="50"/>
                                        </p:tgtEl>
                                        <p:attrNameLst>
                                          <p:attrName>style.visibility</p:attrName>
                                        </p:attrNameLst>
                                      </p:cBhvr>
                                      <p:to>
                                        <p:strVal val="visible"/>
                                      </p:to>
                                    </p:set>
                                    <p:animEffect transition="in" filter="circle(in)">
                                      <p:cBhvr>
                                        <p:cTn id="13" dur="2000"/>
                                        <p:tgtEl>
                                          <p:spTgt spid="50"/>
                                        </p:tgtEl>
                                      </p:cBhvr>
                                    </p:animEffect>
                                  </p:childTnLst>
                                </p:cTn>
                              </p:par>
                              <p:par>
                                <p:cTn id="14" presetID="6" presetClass="entr" presetSubtype="16" fill="hold" grpId="0" nodeType="withEffect">
                                  <p:stCondLst>
                                    <p:cond delay="0"/>
                                  </p:stCondLst>
                                  <p:childTnLst>
                                    <p:set>
                                      <p:cBhvr>
                                        <p:cTn id="15" dur="1" fill="hold">
                                          <p:stCondLst>
                                            <p:cond delay="0"/>
                                          </p:stCondLst>
                                        </p:cTn>
                                        <p:tgtEl>
                                          <p:spTgt spid="51"/>
                                        </p:tgtEl>
                                        <p:attrNameLst>
                                          <p:attrName>style.visibility</p:attrName>
                                        </p:attrNameLst>
                                      </p:cBhvr>
                                      <p:to>
                                        <p:strVal val="visible"/>
                                      </p:to>
                                    </p:set>
                                    <p:animEffect transition="in" filter="circle(in)">
                                      <p:cBhvr>
                                        <p:cTn id="16" dur="2000"/>
                                        <p:tgtEl>
                                          <p:spTgt spid="51"/>
                                        </p:tgtEl>
                                      </p:cBhvr>
                                    </p:animEffect>
                                  </p:childTnLst>
                                </p:cTn>
                              </p:par>
                              <p:par>
                                <p:cTn id="17" presetID="6" presetClass="entr" presetSubtype="16" fill="hold" grpId="0" nodeType="with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circle(in)">
                                      <p:cBhvr>
                                        <p:cTn id="19" dur="2000"/>
                                        <p:tgtEl>
                                          <p:spTgt spid="52"/>
                                        </p:tgtEl>
                                      </p:cBhvr>
                                    </p:animEffect>
                                  </p:childTnLst>
                                </p:cTn>
                              </p:par>
                              <p:par>
                                <p:cTn id="20" presetID="6" presetClass="entr" presetSubtype="16" fill="hold" grpId="0" nodeType="withEffect">
                                  <p:stCondLst>
                                    <p:cond delay="0"/>
                                  </p:stCondLst>
                                  <p:childTnLst>
                                    <p:set>
                                      <p:cBhvr>
                                        <p:cTn id="21" dur="1" fill="hold">
                                          <p:stCondLst>
                                            <p:cond delay="0"/>
                                          </p:stCondLst>
                                        </p:cTn>
                                        <p:tgtEl>
                                          <p:spTgt spid="54"/>
                                        </p:tgtEl>
                                        <p:attrNameLst>
                                          <p:attrName>style.visibility</p:attrName>
                                        </p:attrNameLst>
                                      </p:cBhvr>
                                      <p:to>
                                        <p:strVal val="visible"/>
                                      </p:to>
                                    </p:set>
                                    <p:animEffect transition="in" filter="circle(in)">
                                      <p:cBhvr>
                                        <p:cTn id="22" dur="20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49" grpId="0" animBg="1"/>
      <p:bldP spid="50" grpId="0" animBg="1"/>
      <p:bldP spid="51" grpId="0" animBg="1"/>
      <p:bldP spid="52" grpId="0" animBg="1"/>
      <p:bldP spid="5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Fixed-Priority CPU Scheduling</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353218" y="3719079"/>
            <a:ext cx="8504237" cy="2355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pPr marL="0" indent="0">
              <a:buNone/>
            </a:pPr>
            <a:r>
              <a:rPr lang="en-SG" altLang="en-US" sz="2800" kern="0">
                <a:solidFill>
                  <a:srgbClr val="FF0000"/>
                </a:solidFill>
              </a:rPr>
              <a:t>Priorities are fixed for each recurrent process</a:t>
            </a:r>
          </a:p>
          <a:p>
            <a:pPr lvl="1"/>
            <a:r>
              <a:rPr lang="en-SG" altLang="en-US" sz="2000" b="1" kern="0"/>
              <a:t>Priorities are fixed across instances of recurrent processes</a:t>
            </a:r>
          </a:p>
          <a:p>
            <a:pPr lvl="1"/>
            <a:r>
              <a:rPr lang="en-SG" altLang="en-US" sz="2000" kern="0"/>
              <a:t>Suppose instance of P</a:t>
            </a:r>
            <a:r>
              <a:rPr lang="en-SG" altLang="en-US" sz="2000" kern="0" baseline="-25000"/>
              <a:t>1</a:t>
            </a:r>
            <a:r>
              <a:rPr lang="en-SG" altLang="en-US" sz="2000" kern="0"/>
              <a:t>(R=0) has higher priority than instance of P</a:t>
            </a:r>
            <a:r>
              <a:rPr lang="en-SG" altLang="en-US" sz="2000" kern="0" baseline="-25000"/>
              <a:t>2</a:t>
            </a:r>
            <a:r>
              <a:rPr lang="en-SG" altLang="en-US" sz="2000" kern="0"/>
              <a:t>(R=0). Then,</a:t>
            </a:r>
          </a:p>
          <a:p>
            <a:pPr lvl="2"/>
            <a:r>
              <a:rPr lang="en-SG" altLang="en-US" sz="2000" kern="0"/>
              <a:t>P</a:t>
            </a:r>
            <a:r>
              <a:rPr lang="en-SG" altLang="en-US" sz="2000" kern="0" baseline="-25000"/>
              <a:t>1</a:t>
            </a:r>
            <a:r>
              <a:rPr lang="en-SG" altLang="en-US" sz="2000" kern="0"/>
              <a:t>(R=10) has higher priority than P</a:t>
            </a:r>
            <a:r>
              <a:rPr lang="en-SG" altLang="en-US" sz="2000" kern="0" baseline="-25000"/>
              <a:t>2</a:t>
            </a:r>
            <a:r>
              <a:rPr lang="en-SG" altLang="en-US" sz="2000" kern="0"/>
              <a:t>(R=0)</a:t>
            </a:r>
          </a:p>
          <a:p>
            <a:pPr lvl="2"/>
            <a:r>
              <a:rPr lang="en-SG" altLang="en-US" sz="2000" kern="0"/>
              <a:t>P</a:t>
            </a:r>
            <a:r>
              <a:rPr lang="en-SG" altLang="en-US" sz="2000" kern="0" baseline="-25000"/>
              <a:t>1</a:t>
            </a:r>
            <a:r>
              <a:rPr lang="en-SG" altLang="en-US" sz="2000" kern="0"/>
              <a:t>(R=10) has higher priority than P</a:t>
            </a:r>
            <a:r>
              <a:rPr lang="en-SG" altLang="en-US" sz="2000" kern="0" baseline="-25000"/>
              <a:t>2</a:t>
            </a:r>
            <a:r>
              <a:rPr lang="en-SG" altLang="en-US" sz="2000" kern="0"/>
              <a:t>(R=19)</a:t>
            </a:r>
          </a:p>
          <a:p>
            <a:pPr lvl="2"/>
            <a:r>
              <a:rPr lang="en-SG" altLang="en-US" sz="2000" kern="0"/>
              <a:t>P</a:t>
            </a:r>
            <a:r>
              <a:rPr lang="en-SG" altLang="en-US" sz="2000" kern="0" baseline="-25000"/>
              <a:t>1</a:t>
            </a:r>
            <a:r>
              <a:rPr lang="en-SG" altLang="en-US" sz="2000" kern="0"/>
              <a:t>(R=20) has higher priority than P</a:t>
            </a:r>
            <a:r>
              <a:rPr lang="en-SG" altLang="en-US" sz="2000" kern="0" baseline="-25000"/>
              <a:t>2</a:t>
            </a:r>
            <a:r>
              <a:rPr lang="en-SG" altLang="en-US" sz="2000" kern="0"/>
              <a:t>(R=19) …</a:t>
            </a:r>
          </a:p>
        </p:txBody>
      </p:sp>
      <p:grpSp>
        <p:nvGrpSpPr>
          <p:cNvPr id="3" name="Group 2">
            <a:extLst>
              <a:ext uri="{FF2B5EF4-FFF2-40B4-BE49-F238E27FC236}">
                <a16:creationId xmlns:a16="http://schemas.microsoft.com/office/drawing/2014/main" id="{0CB663F5-9BE3-4913-ADFC-9C8707AF13C6}"/>
              </a:ext>
            </a:extLst>
          </p:cNvPr>
          <p:cNvGrpSpPr/>
          <p:nvPr/>
        </p:nvGrpSpPr>
        <p:grpSpPr>
          <a:xfrm>
            <a:off x="289395" y="1536274"/>
            <a:ext cx="8678758" cy="1946973"/>
            <a:chOff x="321239" y="3839859"/>
            <a:chExt cx="8678758" cy="1946973"/>
          </a:xfrm>
        </p:grpSpPr>
        <p:cxnSp>
          <p:nvCxnSpPr>
            <p:cNvPr id="58" name="Straight Connector 57">
              <a:extLst>
                <a:ext uri="{FF2B5EF4-FFF2-40B4-BE49-F238E27FC236}">
                  <a16:creationId xmlns:a16="http://schemas.microsoft.com/office/drawing/2014/main" id="{1CC03821-9786-47FA-AA5D-7B40E942C85E}"/>
                </a:ext>
              </a:extLst>
            </p:cNvPr>
            <p:cNvCxnSpPr>
              <a:cxnSpLocks/>
            </p:cNvCxnSpPr>
            <p:nvPr/>
          </p:nvCxnSpPr>
          <p:spPr bwMode="auto">
            <a:xfrm>
              <a:off x="3546122" y="492245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59" name="Straight Connector 58">
              <a:extLst>
                <a:ext uri="{FF2B5EF4-FFF2-40B4-BE49-F238E27FC236}">
                  <a16:creationId xmlns:a16="http://schemas.microsoft.com/office/drawing/2014/main" id="{C8464184-0D5E-4450-87AD-E91BFFBD88F1}"/>
                </a:ext>
              </a:extLst>
            </p:cNvPr>
            <p:cNvCxnSpPr>
              <a:cxnSpLocks/>
            </p:cNvCxnSpPr>
            <p:nvPr/>
          </p:nvCxnSpPr>
          <p:spPr bwMode="auto">
            <a:xfrm>
              <a:off x="5357699" y="493820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0" name="Straight Connector 59">
              <a:extLst>
                <a:ext uri="{FF2B5EF4-FFF2-40B4-BE49-F238E27FC236}">
                  <a16:creationId xmlns:a16="http://schemas.microsoft.com/office/drawing/2014/main" id="{161FA3BD-BE5C-4144-8E65-DE16F31011FA}"/>
                </a:ext>
              </a:extLst>
            </p:cNvPr>
            <p:cNvCxnSpPr>
              <a:cxnSpLocks/>
            </p:cNvCxnSpPr>
            <p:nvPr/>
          </p:nvCxnSpPr>
          <p:spPr bwMode="auto">
            <a:xfrm>
              <a:off x="7190533" y="4922456"/>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1" name="Straight Connector 60">
              <a:extLst>
                <a:ext uri="{FF2B5EF4-FFF2-40B4-BE49-F238E27FC236}">
                  <a16:creationId xmlns:a16="http://schemas.microsoft.com/office/drawing/2014/main" id="{5A3E8303-E206-4613-8AF2-7F8F9A8CF9C8}"/>
                </a:ext>
              </a:extLst>
            </p:cNvPr>
            <p:cNvCxnSpPr>
              <a:cxnSpLocks/>
            </p:cNvCxnSpPr>
            <p:nvPr/>
          </p:nvCxnSpPr>
          <p:spPr bwMode="auto">
            <a:xfrm>
              <a:off x="5159401" y="438454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2" name="Straight Connector 61">
              <a:extLst>
                <a:ext uri="{FF2B5EF4-FFF2-40B4-BE49-F238E27FC236}">
                  <a16:creationId xmlns:a16="http://schemas.microsoft.com/office/drawing/2014/main" id="{78E2BC1C-8F9E-40E3-BCE8-D1DE1552E058}"/>
                </a:ext>
              </a:extLst>
            </p:cNvPr>
            <p:cNvCxnSpPr>
              <a:cxnSpLocks/>
            </p:cNvCxnSpPr>
            <p:nvPr/>
          </p:nvCxnSpPr>
          <p:spPr bwMode="auto">
            <a:xfrm>
              <a:off x="5358946" y="383985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3" name="Straight Connector 62">
              <a:extLst>
                <a:ext uri="{FF2B5EF4-FFF2-40B4-BE49-F238E27FC236}">
                  <a16:creationId xmlns:a16="http://schemas.microsoft.com/office/drawing/2014/main" id="{B90567E1-6E65-42F8-82BF-8870D59BC3BB}"/>
                </a:ext>
              </a:extLst>
            </p:cNvPr>
            <p:cNvCxnSpPr>
              <a:cxnSpLocks/>
            </p:cNvCxnSpPr>
            <p:nvPr/>
          </p:nvCxnSpPr>
          <p:spPr bwMode="auto">
            <a:xfrm>
              <a:off x="8660314" y="438454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21" name="Straight Arrow Connector 20">
              <a:extLst>
                <a:ext uri="{FF2B5EF4-FFF2-40B4-BE49-F238E27FC236}">
                  <a16:creationId xmlns:a16="http://schemas.microsoft.com/office/drawing/2014/main" id="{5E3A7125-828D-4D5A-AF15-5E86B61D92B8}"/>
                </a:ext>
              </a:extLst>
            </p:cNvPr>
            <p:cNvCxnSpPr>
              <a:cxnSpLocks/>
            </p:cNvCxnSpPr>
            <p:nvPr/>
          </p:nvCxnSpPr>
          <p:spPr bwMode="auto">
            <a:xfrm>
              <a:off x="1679331" y="5390237"/>
              <a:ext cx="715800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23" name="Straight Connector 22">
              <a:extLst>
                <a:ext uri="{FF2B5EF4-FFF2-40B4-BE49-F238E27FC236}">
                  <a16:creationId xmlns:a16="http://schemas.microsoft.com/office/drawing/2014/main" id="{A9F07EB7-14AE-4533-ACD4-68D070F41945}"/>
                </a:ext>
              </a:extLst>
            </p:cNvPr>
            <p:cNvCxnSpPr>
              <a:cxnSpLocks/>
            </p:cNvCxnSpPr>
            <p:nvPr/>
          </p:nvCxnSpPr>
          <p:spPr bwMode="auto">
            <a:xfrm>
              <a:off x="1679331" y="383986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33D29040-B326-4E86-AF31-9BEEFA9D089D}"/>
                </a:ext>
              </a:extLst>
            </p:cNvPr>
            <p:cNvSpPr txBox="1"/>
            <p:nvPr/>
          </p:nvSpPr>
          <p:spPr>
            <a:xfrm>
              <a:off x="1529862" y="5417500"/>
              <a:ext cx="7470135" cy="369332"/>
            </a:xfrm>
            <a:prstGeom prst="rect">
              <a:avLst/>
            </a:prstGeom>
            <a:noFill/>
          </p:spPr>
          <p:txBody>
            <a:bodyPr wrap="square" rtlCol="0">
              <a:spAutoFit/>
            </a:bodyPr>
            <a:lstStyle/>
            <a:p>
              <a:r>
                <a:rPr lang="en-SG"/>
                <a:t>0		10	          19 20		30	        38</a:t>
              </a:r>
            </a:p>
          </p:txBody>
        </p:sp>
        <p:cxnSp>
          <p:nvCxnSpPr>
            <p:cNvPr id="25" name="Straight Connector 24">
              <a:extLst>
                <a:ext uri="{FF2B5EF4-FFF2-40B4-BE49-F238E27FC236}">
                  <a16:creationId xmlns:a16="http://schemas.microsoft.com/office/drawing/2014/main" id="{7570D38C-4B19-4BC7-887A-E96A9305F59C}"/>
                </a:ext>
              </a:extLst>
            </p:cNvPr>
            <p:cNvCxnSpPr/>
            <p:nvPr/>
          </p:nvCxnSpPr>
          <p:spPr bwMode="auto">
            <a:xfrm>
              <a:off x="5384075" y="493303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3" name="TextBox 32">
              <a:extLst>
                <a:ext uri="{FF2B5EF4-FFF2-40B4-BE49-F238E27FC236}">
                  <a16:creationId xmlns:a16="http://schemas.microsoft.com/office/drawing/2014/main" id="{1D048180-2CD5-4569-863A-68FCB8CEA54D}"/>
                </a:ext>
              </a:extLst>
            </p:cNvPr>
            <p:cNvSpPr txBox="1"/>
            <p:nvPr/>
          </p:nvSpPr>
          <p:spPr>
            <a:xfrm>
              <a:off x="321239" y="5023136"/>
              <a:ext cx="1035861" cy="276999"/>
            </a:xfrm>
            <a:prstGeom prst="rect">
              <a:avLst/>
            </a:prstGeom>
            <a:noFill/>
          </p:spPr>
          <p:txBody>
            <a:bodyPr wrap="none" rtlCol="0">
              <a:spAutoFit/>
            </a:bodyPr>
            <a:lstStyle/>
            <a:p>
              <a:pPr algn="ctr"/>
              <a:r>
                <a:rPr lang="en-SG" altLang="en-US" sz="1200" kern="0"/>
                <a:t>P</a:t>
              </a:r>
              <a:r>
                <a:rPr lang="en-SG" altLang="en-US" sz="1200" kern="0" baseline="-25000"/>
                <a:t>1</a:t>
              </a:r>
              <a:r>
                <a:rPr lang="en-SG" altLang="en-US" sz="1200" kern="0"/>
                <a:t>&lt;10,6,10&gt;</a:t>
              </a:r>
              <a:endParaRPr lang="en-SG" sz="1200"/>
            </a:p>
          </p:txBody>
        </p:sp>
        <p:sp>
          <p:nvSpPr>
            <p:cNvPr id="34" name="TextBox 33">
              <a:extLst>
                <a:ext uri="{FF2B5EF4-FFF2-40B4-BE49-F238E27FC236}">
                  <a16:creationId xmlns:a16="http://schemas.microsoft.com/office/drawing/2014/main" id="{1484B114-B7FC-4720-834C-BD4144E107B9}"/>
                </a:ext>
              </a:extLst>
            </p:cNvPr>
            <p:cNvSpPr txBox="1"/>
            <p:nvPr/>
          </p:nvSpPr>
          <p:spPr>
            <a:xfrm>
              <a:off x="321241" y="4515299"/>
              <a:ext cx="1035861" cy="276999"/>
            </a:xfrm>
            <a:prstGeom prst="rect">
              <a:avLst/>
            </a:prstGeom>
            <a:noFill/>
          </p:spPr>
          <p:txBody>
            <a:bodyPr wrap="none" rtlCol="0">
              <a:spAutoFit/>
            </a:bodyPr>
            <a:lstStyle/>
            <a:p>
              <a:pPr algn="ctr"/>
              <a:r>
                <a:rPr lang="en-SG" altLang="en-US" sz="1200" kern="0"/>
                <a:t>P</a:t>
              </a:r>
              <a:r>
                <a:rPr lang="en-SG" altLang="en-US" sz="1200" kern="0" baseline="-25000"/>
                <a:t>2</a:t>
              </a:r>
              <a:r>
                <a:rPr lang="en-SG" altLang="en-US" sz="1200" kern="0"/>
                <a:t>&lt;19,4,19&gt;</a:t>
              </a:r>
              <a:endParaRPr lang="en-SG" sz="1200"/>
            </a:p>
          </p:txBody>
        </p:sp>
        <p:cxnSp>
          <p:nvCxnSpPr>
            <p:cNvPr id="35" name="Straight Connector 34">
              <a:extLst>
                <a:ext uri="{FF2B5EF4-FFF2-40B4-BE49-F238E27FC236}">
                  <a16:creationId xmlns:a16="http://schemas.microsoft.com/office/drawing/2014/main" id="{C553BE87-1092-475A-94AB-FBC03FD23C8A}"/>
                </a:ext>
              </a:extLst>
            </p:cNvPr>
            <p:cNvCxnSpPr/>
            <p:nvPr/>
          </p:nvCxnSpPr>
          <p:spPr bwMode="auto">
            <a:xfrm>
              <a:off x="3569567" y="492245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6" name="TextBox 35">
              <a:extLst>
                <a:ext uri="{FF2B5EF4-FFF2-40B4-BE49-F238E27FC236}">
                  <a16:creationId xmlns:a16="http://schemas.microsoft.com/office/drawing/2014/main" id="{55E0DA9A-303F-47E7-ACD7-AB947480B788}"/>
                </a:ext>
              </a:extLst>
            </p:cNvPr>
            <p:cNvSpPr txBox="1"/>
            <p:nvPr/>
          </p:nvSpPr>
          <p:spPr>
            <a:xfrm>
              <a:off x="321239" y="3929960"/>
              <a:ext cx="1035861" cy="276999"/>
            </a:xfrm>
            <a:prstGeom prst="rect">
              <a:avLst/>
            </a:prstGeom>
            <a:noFill/>
          </p:spPr>
          <p:txBody>
            <a:bodyPr wrap="none" rtlCol="0">
              <a:spAutoFit/>
            </a:bodyPr>
            <a:lstStyle/>
            <a:p>
              <a:pPr algn="ctr"/>
              <a:r>
                <a:rPr lang="en-SG" altLang="en-US" sz="1200" kern="0"/>
                <a:t>P</a:t>
              </a:r>
              <a:r>
                <a:rPr lang="en-SG" altLang="en-US" sz="1200" kern="0" baseline="-25000"/>
                <a:t>3</a:t>
              </a:r>
              <a:r>
                <a:rPr lang="en-SG" altLang="en-US" sz="1200" kern="0"/>
                <a:t>&lt;20,2,20&gt;</a:t>
              </a:r>
              <a:endParaRPr lang="en-SG" sz="1200"/>
            </a:p>
          </p:txBody>
        </p:sp>
        <p:cxnSp>
          <p:nvCxnSpPr>
            <p:cNvPr id="40" name="Straight Arrow Connector 39">
              <a:extLst>
                <a:ext uri="{FF2B5EF4-FFF2-40B4-BE49-F238E27FC236}">
                  <a16:creationId xmlns:a16="http://schemas.microsoft.com/office/drawing/2014/main" id="{574323D1-1668-4F95-BD83-9C0D41F2E48D}"/>
                </a:ext>
              </a:extLst>
            </p:cNvPr>
            <p:cNvCxnSpPr>
              <a:cxnSpLocks/>
            </p:cNvCxnSpPr>
            <p:nvPr/>
          </p:nvCxnSpPr>
          <p:spPr bwMode="auto">
            <a:xfrm>
              <a:off x="1679331" y="4843649"/>
              <a:ext cx="7158009" cy="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42352416-E597-48C4-A8AB-C1E139E7BA6D}"/>
                </a:ext>
              </a:extLst>
            </p:cNvPr>
            <p:cNvCxnSpPr>
              <a:cxnSpLocks/>
            </p:cNvCxnSpPr>
            <p:nvPr/>
          </p:nvCxnSpPr>
          <p:spPr bwMode="auto">
            <a:xfrm flipV="1">
              <a:off x="1679331" y="4283428"/>
              <a:ext cx="7158009" cy="13632"/>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EE014136-C110-4D09-817D-CFD59904B02C}"/>
                </a:ext>
              </a:extLst>
            </p:cNvPr>
            <p:cNvCxnSpPr>
              <a:cxnSpLocks/>
            </p:cNvCxnSpPr>
            <p:nvPr/>
          </p:nvCxnSpPr>
          <p:spPr bwMode="auto">
            <a:xfrm>
              <a:off x="1679331" y="438644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646EDDF7-D6C8-474E-ACAB-26EF6D45388B}"/>
                </a:ext>
              </a:extLst>
            </p:cNvPr>
            <p:cNvCxnSpPr>
              <a:cxnSpLocks/>
            </p:cNvCxnSpPr>
            <p:nvPr/>
          </p:nvCxnSpPr>
          <p:spPr bwMode="auto">
            <a:xfrm>
              <a:off x="1679331" y="4933037"/>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4" name="Straight Connector 43">
              <a:extLst>
                <a:ext uri="{FF2B5EF4-FFF2-40B4-BE49-F238E27FC236}">
                  <a16:creationId xmlns:a16="http://schemas.microsoft.com/office/drawing/2014/main" id="{1370E95A-CB35-4436-94E1-477EC8DF61F2}"/>
                </a:ext>
              </a:extLst>
            </p:cNvPr>
            <p:cNvCxnSpPr/>
            <p:nvPr/>
          </p:nvCxnSpPr>
          <p:spPr bwMode="auto">
            <a:xfrm>
              <a:off x="7216909" y="4922456"/>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5" name="Straight Connector 44">
              <a:extLst>
                <a:ext uri="{FF2B5EF4-FFF2-40B4-BE49-F238E27FC236}">
                  <a16:creationId xmlns:a16="http://schemas.microsoft.com/office/drawing/2014/main" id="{2D48E54B-D544-48AC-8118-9B9C85F3FDF4}"/>
                </a:ext>
              </a:extLst>
            </p:cNvPr>
            <p:cNvCxnSpPr/>
            <p:nvPr/>
          </p:nvCxnSpPr>
          <p:spPr bwMode="auto">
            <a:xfrm>
              <a:off x="5184421" y="438644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6" name="Straight Connector 45">
              <a:extLst>
                <a:ext uri="{FF2B5EF4-FFF2-40B4-BE49-F238E27FC236}">
                  <a16:creationId xmlns:a16="http://schemas.microsoft.com/office/drawing/2014/main" id="{DF6581E0-84A7-47E1-B8C6-7CC5E1CFBC0C}"/>
                </a:ext>
              </a:extLst>
            </p:cNvPr>
            <p:cNvCxnSpPr/>
            <p:nvPr/>
          </p:nvCxnSpPr>
          <p:spPr bwMode="auto">
            <a:xfrm>
              <a:off x="8686690" y="438644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7" name="Straight Connector 46">
              <a:extLst>
                <a:ext uri="{FF2B5EF4-FFF2-40B4-BE49-F238E27FC236}">
                  <a16:creationId xmlns:a16="http://schemas.microsoft.com/office/drawing/2014/main" id="{912870F9-170F-4C12-861A-1A57D733EB6C}"/>
                </a:ext>
              </a:extLst>
            </p:cNvPr>
            <p:cNvCxnSpPr/>
            <p:nvPr/>
          </p:nvCxnSpPr>
          <p:spPr bwMode="auto">
            <a:xfrm>
              <a:off x="5384075" y="383985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48" name="Rectangle: Rounded Corners 47">
              <a:extLst>
                <a:ext uri="{FF2B5EF4-FFF2-40B4-BE49-F238E27FC236}">
                  <a16:creationId xmlns:a16="http://schemas.microsoft.com/office/drawing/2014/main" id="{09C19724-D588-44A1-8938-A1EF1B287AE0}"/>
                </a:ext>
              </a:extLst>
            </p:cNvPr>
            <p:cNvSpPr/>
            <p:nvPr/>
          </p:nvSpPr>
          <p:spPr bwMode="auto">
            <a:xfrm>
              <a:off x="2007253" y="5099163"/>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49" name="Rectangle: Rounded Corners 48">
              <a:extLst>
                <a:ext uri="{FF2B5EF4-FFF2-40B4-BE49-F238E27FC236}">
                  <a16:creationId xmlns:a16="http://schemas.microsoft.com/office/drawing/2014/main" id="{5CAF581E-BA4F-4F1F-815C-ABFB369E1B42}"/>
                </a:ext>
              </a:extLst>
            </p:cNvPr>
            <p:cNvSpPr/>
            <p:nvPr/>
          </p:nvSpPr>
          <p:spPr bwMode="auto">
            <a:xfrm>
              <a:off x="3382915" y="4552194"/>
              <a:ext cx="646095"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50" name="Rectangle: Rounded Corners 49">
              <a:extLst>
                <a:ext uri="{FF2B5EF4-FFF2-40B4-BE49-F238E27FC236}">
                  <a16:creationId xmlns:a16="http://schemas.microsoft.com/office/drawing/2014/main" id="{75220B0E-4E57-44FA-B9C3-26D868A6949E}"/>
                </a:ext>
              </a:extLst>
            </p:cNvPr>
            <p:cNvSpPr/>
            <p:nvPr/>
          </p:nvSpPr>
          <p:spPr bwMode="auto">
            <a:xfrm>
              <a:off x="2993885" y="4002935"/>
              <a:ext cx="380897"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sp>
          <p:nvSpPr>
            <p:cNvPr id="51" name="Rectangle: Rounded Corners 50">
              <a:extLst>
                <a:ext uri="{FF2B5EF4-FFF2-40B4-BE49-F238E27FC236}">
                  <a16:creationId xmlns:a16="http://schemas.microsoft.com/office/drawing/2014/main" id="{03180616-A262-4D01-9E6B-9F6898D72847}"/>
                </a:ext>
              </a:extLst>
            </p:cNvPr>
            <p:cNvSpPr/>
            <p:nvPr/>
          </p:nvSpPr>
          <p:spPr bwMode="auto">
            <a:xfrm>
              <a:off x="3991276" y="5099163"/>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52" name="Rectangle: Rounded Corners 51">
              <a:extLst>
                <a:ext uri="{FF2B5EF4-FFF2-40B4-BE49-F238E27FC236}">
                  <a16:creationId xmlns:a16="http://schemas.microsoft.com/office/drawing/2014/main" id="{CF4BA2A5-A0A6-40D8-AC15-CC3437F99C72}"/>
                </a:ext>
              </a:extLst>
            </p:cNvPr>
            <p:cNvSpPr/>
            <p:nvPr/>
          </p:nvSpPr>
          <p:spPr bwMode="auto">
            <a:xfrm>
              <a:off x="5815486" y="5102508"/>
              <a:ext cx="1028108"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54" name="Rectangle: Rounded Corners 53">
              <a:extLst>
                <a:ext uri="{FF2B5EF4-FFF2-40B4-BE49-F238E27FC236}">
                  <a16:creationId xmlns:a16="http://schemas.microsoft.com/office/drawing/2014/main" id="{5EB0DC2C-9AFF-4672-81B3-A721E7732994}"/>
                </a:ext>
              </a:extLst>
            </p:cNvPr>
            <p:cNvSpPr/>
            <p:nvPr/>
          </p:nvSpPr>
          <p:spPr bwMode="auto">
            <a:xfrm>
              <a:off x="6840554" y="4550667"/>
              <a:ext cx="646095"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cxnSp>
          <p:nvCxnSpPr>
            <p:cNvPr id="12" name="Straight Connector 11">
              <a:extLst>
                <a:ext uri="{FF2B5EF4-FFF2-40B4-BE49-F238E27FC236}">
                  <a16:creationId xmlns:a16="http://schemas.microsoft.com/office/drawing/2014/main" id="{4C72B14B-014E-4239-A5B6-945E8190492E}"/>
                </a:ext>
              </a:extLst>
            </p:cNvPr>
            <p:cNvCxnSpPr>
              <a:cxnSpLocks/>
            </p:cNvCxnSpPr>
            <p:nvPr/>
          </p:nvCxnSpPr>
          <p:spPr bwMode="auto">
            <a:xfrm>
              <a:off x="5179578" y="4843649"/>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6" name="Straight Connector 55">
              <a:extLst>
                <a:ext uri="{FF2B5EF4-FFF2-40B4-BE49-F238E27FC236}">
                  <a16:creationId xmlns:a16="http://schemas.microsoft.com/office/drawing/2014/main" id="{1A94C2F8-334F-4B62-A7D1-C474F49A16F2}"/>
                </a:ext>
              </a:extLst>
            </p:cNvPr>
            <p:cNvCxnSpPr>
              <a:cxnSpLocks/>
            </p:cNvCxnSpPr>
            <p:nvPr/>
          </p:nvCxnSpPr>
          <p:spPr bwMode="auto">
            <a:xfrm>
              <a:off x="8677898" y="4841740"/>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7" name="Straight Connector 56">
              <a:extLst>
                <a:ext uri="{FF2B5EF4-FFF2-40B4-BE49-F238E27FC236}">
                  <a16:creationId xmlns:a16="http://schemas.microsoft.com/office/drawing/2014/main" id="{FEA0FC3B-8656-4544-8F68-59F372324C18}"/>
                </a:ext>
              </a:extLst>
            </p:cNvPr>
            <p:cNvCxnSpPr>
              <a:cxnSpLocks/>
            </p:cNvCxnSpPr>
            <p:nvPr/>
          </p:nvCxnSpPr>
          <p:spPr bwMode="auto">
            <a:xfrm>
              <a:off x="5370887" y="4308789"/>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grpSp>
    </p:spTree>
    <p:extLst>
      <p:ext uri="{BB962C8B-B14F-4D97-AF65-F5344CB8AC3E}">
        <p14:creationId xmlns:p14="http://schemas.microsoft.com/office/powerpoint/2010/main" val="3662977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Rate Monotonic (RM) Scheduler</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319881" y="1225834"/>
            <a:ext cx="8504237" cy="162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chemeClr val="accent2"/>
                </a:solidFill>
              </a:rPr>
              <a:t>Assign priorities based on process periods / minimum release-separation time (T)</a:t>
            </a:r>
          </a:p>
          <a:p>
            <a:pPr lvl="1"/>
            <a:r>
              <a:rPr lang="en-SG" altLang="en-US" sz="2400" kern="0"/>
              <a:t>Shorter T implies higher priority</a:t>
            </a:r>
          </a:p>
          <a:p>
            <a:pPr lvl="1"/>
            <a:r>
              <a:rPr lang="en-SG" altLang="en-US" sz="2400" kern="0"/>
              <a:t>Ties are broken arbitrarily</a:t>
            </a:r>
          </a:p>
          <a:p>
            <a:pPr lvl="1"/>
            <a:endParaRPr lang="en-SG" altLang="en-US" sz="2400" kern="0"/>
          </a:p>
          <a:p>
            <a:pPr lvl="1"/>
            <a:endParaRPr lang="en-SG" altLang="en-US" sz="2400" kern="0"/>
          </a:p>
          <a:p>
            <a:pPr lvl="1"/>
            <a:endParaRPr lang="en-SG" altLang="en-US" sz="2400" kern="0"/>
          </a:p>
          <a:p>
            <a:pPr lvl="1"/>
            <a:endParaRPr lang="en-SG" altLang="en-US" sz="2400" kern="0"/>
          </a:p>
          <a:p>
            <a:pPr marL="457200" lvl="1" indent="0">
              <a:buNone/>
            </a:pPr>
            <a:endParaRPr lang="en-SG" altLang="en-US" sz="2400" kern="0"/>
          </a:p>
          <a:p>
            <a:pPr marL="457200" lvl="1" indent="0">
              <a:buNone/>
            </a:pPr>
            <a:endParaRPr lang="en-SG" altLang="en-US" sz="2000" kern="0"/>
          </a:p>
          <a:p>
            <a:pPr marL="457200" lvl="1" indent="0">
              <a:buNone/>
            </a:pPr>
            <a:r>
              <a:rPr lang="en-SG" altLang="en-US" sz="2400" kern="0">
                <a:solidFill>
                  <a:srgbClr val="FF0000"/>
                </a:solidFill>
              </a:rPr>
              <a:t>RM is a very popular short-term CPU scheduler in the real-time CPS industry. Why?</a:t>
            </a:r>
          </a:p>
        </p:txBody>
      </p:sp>
      <p:cxnSp>
        <p:nvCxnSpPr>
          <p:cNvPr id="58" name="Straight Connector 57">
            <a:extLst>
              <a:ext uri="{FF2B5EF4-FFF2-40B4-BE49-F238E27FC236}">
                <a16:creationId xmlns:a16="http://schemas.microsoft.com/office/drawing/2014/main" id="{1CC03821-9786-47FA-AA5D-7B40E942C85E}"/>
              </a:ext>
            </a:extLst>
          </p:cNvPr>
          <p:cNvCxnSpPr>
            <a:cxnSpLocks/>
          </p:cNvCxnSpPr>
          <p:nvPr/>
        </p:nvCxnSpPr>
        <p:spPr bwMode="auto">
          <a:xfrm>
            <a:off x="3457912" y="439305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59" name="Straight Connector 58">
            <a:extLst>
              <a:ext uri="{FF2B5EF4-FFF2-40B4-BE49-F238E27FC236}">
                <a16:creationId xmlns:a16="http://schemas.microsoft.com/office/drawing/2014/main" id="{C8464184-0D5E-4450-87AD-E91BFFBD88F1}"/>
              </a:ext>
            </a:extLst>
          </p:cNvPr>
          <p:cNvCxnSpPr>
            <a:cxnSpLocks/>
          </p:cNvCxnSpPr>
          <p:nvPr/>
        </p:nvCxnSpPr>
        <p:spPr bwMode="auto">
          <a:xfrm>
            <a:off x="5269489" y="4408794"/>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0" name="Straight Connector 59">
            <a:extLst>
              <a:ext uri="{FF2B5EF4-FFF2-40B4-BE49-F238E27FC236}">
                <a16:creationId xmlns:a16="http://schemas.microsoft.com/office/drawing/2014/main" id="{161FA3BD-BE5C-4144-8E65-DE16F31011FA}"/>
              </a:ext>
            </a:extLst>
          </p:cNvPr>
          <p:cNvCxnSpPr>
            <a:cxnSpLocks/>
          </p:cNvCxnSpPr>
          <p:nvPr/>
        </p:nvCxnSpPr>
        <p:spPr bwMode="auto">
          <a:xfrm>
            <a:off x="7102323" y="439305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1" name="Straight Connector 60">
            <a:extLst>
              <a:ext uri="{FF2B5EF4-FFF2-40B4-BE49-F238E27FC236}">
                <a16:creationId xmlns:a16="http://schemas.microsoft.com/office/drawing/2014/main" id="{5A3E8303-E206-4613-8AF2-7F8F9A8CF9C8}"/>
              </a:ext>
            </a:extLst>
          </p:cNvPr>
          <p:cNvCxnSpPr>
            <a:cxnSpLocks/>
          </p:cNvCxnSpPr>
          <p:nvPr/>
        </p:nvCxnSpPr>
        <p:spPr bwMode="auto">
          <a:xfrm>
            <a:off x="5071191" y="3855134"/>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2" name="Straight Connector 61">
            <a:extLst>
              <a:ext uri="{FF2B5EF4-FFF2-40B4-BE49-F238E27FC236}">
                <a16:creationId xmlns:a16="http://schemas.microsoft.com/office/drawing/2014/main" id="{78E2BC1C-8F9E-40E3-BCE8-D1DE1552E058}"/>
              </a:ext>
            </a:extLst>
          </p:cNvPr>
          <p:cNvCxnSpPr>
            <a:cxnSpLocks/>
          </p:cNvCxnSpPr>
          <p:nvPr/>
        </p:nvCxnSpPr>
        <p:spPr bwMode="auto">
          <a:xfrm>
            <a:off x="5270736" y="331045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3" name="Straight Connector 62">
            <a:extLst>
              <a:ext uri="{FF2B5EF4-FFF2-40B4-BE49-F238E27FC236}">
                <a16:creationId xmlns:a16="http://schemas.microsoft.com/office/drawing/2014/main" id="{B90567E1-6E65-42F8-82BF-8870D59BC3BB}"/>
              </a:ext>
            </a:extLst>
          </p:cNvPr>
          <p:cNvCxnSpPr>
            <a:cxnSpLocks/>
          </p:cNvCxnSpPr>
          <p:nvPr/>
        </p:nvCxnSpPr>
        <p:spPr bwMode="auto">
          <a:xfrm>
            <a:off x="8594082" y="3855134"/>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21" name="Straight Arrow Connector 20">
            <a:extLst>
              <a:ext uri="{FF2B5EF4-FFF2-40B4-BE49-F238E27FC236}">
                <a16:creationId xmlns:a16="http://schemas.microsoft.com/office/drawing/2014/main" id="{5E3A7125-828D-4D5A-AF15-5E86B61D92B8}"/>
              </a:ext>
            </a:extLst>
          </p:cNvPr>
          <p:cNvCxnSpPr>
            <a:cxnSpLocks/>
          </p:cNvCxnSpPr>
          <p:nvPr/>
        </p:nvCxnSpPr>
        <p:spPr bwMode="auto">
          <a:xfrm flipV="1">
            <a:off x="1591121" y="4860830"/>
            <a:ext cx="7192394" cy="1"/>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23" name="Straight Connector 22">
            <a:extLst>
              <a:ext uri="{FF2B5EF4-FFF2-40B4-BE49-F238E27FC236}">
                <a16:creationId xmlns:a16="http://schemas.microsoft.com/office/drawing/2014/main" id="{A9F07EB7-14AE-4533-ACD4-68D070F41945}"/>
              </a:ext>
            </a:extLst>
          </p:cNvPr>
          <p:cNvCxnSpPr>
            <a:cxnSpLocks/>
          </p:cNvCxnSpPr>
          <p:nvPr/>
        </p:nvCxnSpPr>
        <p:spPr bwMode="auto">
          <a:xfrm>
            <a:off x="1591121" y="3310454"/>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33D29040-B326-4E86-AF31-9BEEFA9D089D}"/>
              </a:ext>
            </a:extLst>
          </p:cNvPr>
          <p:cNvSpPr txBox="1"/>
          <p:nvPr/>
        </p:nvSpPr>
        <p:spPr>
          <a:xfrm>
            <a:off x="1441652" y="4888094"/>
            <a:ext cx="7478142" cy="369332"/>
          </a:xfrm>
          <a:prstGeom prst="rect">
            <a:avLst/>
          </a:prstGeom>
          <a:noFill/>
        </p:spPr>
        <p:txBody>
          <a:bodyPr wrap="square" rtlCol="0">
            <a:spAutoFit/>
          </a:bodyPr>
          <a:lstStyle/>
          <a:p>
            <a:r>
              <a:rPr lang="en-SG"/>
              <a:t>0	    6 	10	   16   19 20	    26 	30	         38</a:t>
            </a:r>
          </a:p>
        </p:txBody>
      </p:sp>
      <p:cxnSp>
        <p:nvCxnSpPr>
          <p:cNvPr id="25" name="Straight Connector 24">
            <a:extLst>
              <a:ext uri="{FF2B5EF4-FFF2-40B4-BE49-F238E27FC236}">
                <a16:creationId xmlns:a16="http://schemas.microsoft.com/office/drawing/2014/main" id="{7570D38C-4B19-4BC7-887A-E96A9305F59C}"/>
              </a:ext>
            </a:extLst>
          </p:cNvPr>
          <p:cNvCxnSpPr/>
          <p:nvPr/>
        </p:nvCxnSpPr>
        <p:spPr bwMode="auto">
          <a:xfrm>
            <a:off x="5295865" y="440363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3" name="TextBox 32">
            <a:extLst>
              <a:ext uri="{FF2B5EF4-FFF2-40B4-BE49-F238E27FC236}">
                <a16:creationId xmlns:a16="http://schemas.microsoft.com/office/drawing/2014/main" id="{1D048180-2CD5-4569-863A-68FCB8CEA54D}"/>
              </a:ext>
            </a:extLst>
          </p:cNvPr>
          <p:cNvSpPr txBox="1"/>
          <p:nvPr/>
        </p:nvSpPr>
        <p:spPr>
          <a:xfrm>
            <a:off x="233029" y="4493730"/>
            <a:ext cx="1035861" cy="276999"/>
          </a:xfrm>
          <a:prstGeom prst="rect">
            <a:avLst/>
          </a:prstGeom>
          <a:noFill/>
        </p:spPr>
        <p:txBody>
          <a:bodyPr wrap="none" rtlCol="0">
            <a:spAutoFit/>
          </a:bodyPr>
          <a:lstStyle/>
          <a:p>
            <a:pPr algn="ctr"/>
            <a:r>
              <a:rPr lang="en-SG" altLang="en-US" sz="1200" kern="0"/>
              <a:t>P</a:t>
            </a:r>
            <a:r>
              <a:rPr lang="en-SG" altLang="en-US" sz="1200" kern="0" baseline="-25000"/>
              <a:t>1</a:t>
            </a:r>
            <a:r>
              <a:rPr lang="en-SG" altLang="en-US" sz="1200" kern="0"/>
              <a:t>&lt;10,6,10&gt;</a:t>
            </a:r>
            <a:endParaRPr lang="en-SG" sz="1200"/>
          </a:p>
        </p:txBody>
      </p:sp>
      <p:sp>
        <p:nvSpPr>
          <p:cNvPr id="34" name="TextBox 33">
            <a:extLst>
              <a:ext uri="{FF2B5EF4-FFF2-40B4-BE49-F238E27FC236}">
                <a16:creationId xmlns:a16="http://schemas.microsoft.com/office/drawing/2014/main" id="{1484B114-B7FC-4720-834C-BD4144E107B9}"/>
              </a:ext>
            </a:extLst>
          </p:cNvPr>
          <p:cNvSpPr txBox="1"/>
          <p:nvPr/>
        </p:nvSpPr>
        <p:spPr>
          <a:xfrm>
            <a:off x="233031" y="3985893"/>
            <a:ext cx="1035861" cy="276999"/>
          </a:xfrm>
          <a:prstGeom prst="rect">
            <a:avLst/>
          </a:prstGeom>
          <a:noFill/>
        </p:spPr>
        <p:txBody>
          <a:bodyPr wrap="none" rtlCol="0">
            <a:spAutoFit/>
          </a:bodyPr>
          <a:lstStyle/>
          <a:p>
            <a:pPr algn="ctr"/>
            <a:r>
              <a:rPr lang="en-SG" altLang="en-US" sz="1200" kern="0"/>
              <a:t>P</a:t>
            </a:r>
            <a:r>
              <a:rPr lang="en-SG" altLang="en-US" sz="1200" kern="0" baseline="-25000"/>
              <a:t>2</a:t>
            </a:r>
            <a:r>
              <a:rPr lang="en-SG" altLang="en-US" sz="1200" kern="0"/>
              <a:t>&lt;19,4,19&gt;</a:t>
            </a:r>
            <a:endParaRPr lang="en-SG" sz="1200"/>
          </a:p>
        </p:txBody>
      </p:sp>
      <p:cxnSp>
        <p:nvCxnSpPr>
          <p:cNvPr id="35" name="Straight Connector 34">
            <a:extLst>
              <a:ext uri="{FF2B5EF4-FFF2-40B4-BE49-F238E27FC236}">
                <a16:creationId xmlns:a16="http://schemas.microsoft.com/office/drawing/2014/main" id="{C553BE87-1092-475A-94AB-FBC03FD23C8A}"/>
              </a:ext>
            </a:extLst>
          </p:cNvPr>
          <p:cNvCxnSpPr/>
          <p:nvPr/>
        </p:nvCxnSpPr>
        <p:spPr bwMode="auto">
          <a:xfrm>
            <a:off x="3481357" y="439305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6" name="TextBox 35">
            <a:extLst>
              <a:ext uri="{FF2B5EF4-FFF2-40B4-BE49-F238E27FC236}">
                <a16:creationId xmlns:a16="http://schemas.microsoft.com/office/drawing/2014/main" id="{55E0DA9A-303F-47E7-ACD7-AB947480B788}"/>
              </a:ext>
            </a:extLst>
          </p:cNvPr>
          <p:cNvSpPr txBox="1"/>
          <p:nvPr/>
        </p:nvSpPr>
        <p:spPr>
          <a:xfrm>
            <a:off x="233029" y="3400554"/>
            <a:ext cx="1035861" cy="276999"/>
          </a:xfrm>
          <a:prstGeom prst="rect">
            <a:avLst/>
          </a:prstGeom>
          <a:noFill/>
        </p:spPr>
        <p:txBody>
          <a:bodyPr wrap="none" rtlCol="0">
            <a:spAutoFit/>
          </a:bodyPr>
          <a:lstStyle/>
          <a:p>
            <a:pPr algn="ctr"/>
            <a:r>
              <a:rPr lang="en-SG" altLang="en-US" sz="1200" kern="0"/>
              <a:t>P</a:t>
            </a:r>
            <a:r>
              <a:rPr lang="en-SG" altLang="en-US" sz="1200" kern="0" baseline="-25000"/>
              <a:t>3</a:t>
            </a:r>
            <a:r>
              <a:rPr lang="en-SG" altLang="en-US" sz="1200" kern="0"/>
              <a:t>&lt;20,2,20&gt;</a:t>
            </a:r>
            <a:endParaRPr lang="en-SG" sz="1200"/>
          </a:p>
        </p:txBody>
      </p:sp>
      <p:cxnSp>
        <p:nvCxnSpPr>
          <p:cNvPr id="40" name="Straight Arrow Connector 39">
            <a:extLst>
              <a:ext uri="{FF2B5EF4-FFF2-40B4-BE49-F238E27FC236}">
                <a16:creationId xmlns:a16="http://schemas.microsoft.com/office/drawing/2014/main" id="{574323D1-1668-4F95-BD83-9C0D41F2E48D}"/>
              </a:ext>
            </a:extLst>
          </p:cNvPr>
          <p:cNvCxnSpPr>
            <a:cxnSpLocks/>
          </p:cNvCxnSpPr>
          <p:nvPr/>
        </p:nvCxnSpPr>
        <p:spPr bwMode="auto">
          <a:xfrm flipV="1">
            <a:off x="1591121" y="4312334"/>
            <a:ext cx="7192394" cy="1909"/>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42352416-E597-48C4-A8AB-C1E139E7BA6D}"/>
              </a:ext>
            </a:extLst>
          </p:cNvPr>
          <p:cNvCxnSpPr>
            <a:cxnSpLocks/>
          </p:cNvCxnSpPr>
          <p:nvPr/>
        </p:nvCxnSpPr>
        <p:spPr bwMode="auto">
          <a:xfrm>
            <a:off x="1591121" y="3767654"/>
            <a:ext cx="7192394" cy="11729"/>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EE014136-C110-4D09-817D-CFD59904B02C}"/>
              </a:ext>
            </a:extLst>
          </p:cNvPr>
          <p:cNvCxnSpPr>
            <a:cxnSpLocks/>
          </p:cNvCxnSpPr>
          <p:nvPr/>
        </p:nvCxnSpPr>
        <p:spPr bwMode="auto">
          <a:xfrm>
            <a:off x="1591121" y="385704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646EDDF7-D6C8-474E-ACAB-26EF6D45388B}"/>
              </a:ext>
            </a:extLst>
          </p:cNvPr>
          <p:cNvCxnSpPr>
            <a:cxnSpLocks/>
          </p:cNvCxnSpPr>
          <p:nvPr/>
        </p:nvCxnSpPr>
        <p:spPr bwMode="auto">
          <a:xfrm>
            <a:off x="1591121" y="4403631"/>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4" name="Straight Connector 43">
            <a:extLst>
              <a:ext uri="{FF2B5EF4-FFF2-40B4-BE49-F238E27FC236}">
                <a16:creationId xmlns:a16="http://schemas.microsoft.com/office/drawing/2014/main" id="{1370E95A-CB35-4436-94E1-477EC8DF61F2}"/>
              </a:ext>
            </a:extLst>
          </p:cNvPr>
          <p:cNvCxnSpPr/>
          <p:nvPr/>
        </p:nvCxnSpPr>
        <p:spPr bwMode="auto">
          <a:xfrm>
            <a:off x="7128699" y="439305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5" name="Straight Connector 44">
            <a:extLst>
              <a:ext uri="{FF2B5EF4-FFF2-40B4-BE49-F238E27FC236}">
                <a16:creationId xmlns:a16="http://schemas.microsoft.com/office/drawing/2014/main" id="{2D48E54B-D544-48AC-8118-9B9C85F3FDF4}"/>
              </a:ext>
            </a:extLst>
          </p:cNvPr>
          <p:cNvCxnSpPr/>
          <p:nvPr/>
        </p:nvCxnSpPr>
        <p:spPr bwMode="auto">
          <a:xfrm>
            <a:off x="5096211" y="3857043"/>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6" name="Straight Connector 45">
            <a:extLst>
              <a:ext uri="{FF2B5EF4-FFF2-40B4-BE49-F238E27FC236}">
                <a16:creationId xmlns:a16="http://schemas.microsoft.com/office/drawing/2014/main" id="{DF6581E0-84A7-47E1-B8C6-7CC5E1CFBC0C}"/>
              </a:ext>
            </a:extLst>
          </p:cNvPr>
          <p:cNvCxnSpPr/>
          <p:nvPr/>
        </p:nvCxnSpPr>
        <p:spPr bwMode="auto">
          <a:xfrm>
            <a:off x="8620458" y="3857043"/>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7" name="Straight Connector 46">
            <a:extLst>
              <a:ext uri="{FF2B5EF4-FFF2-40B4-BE49-F238E27FC236}">
                <a16:creationId xmlns:a16="http://schemas.microsoft.com/office/drawing/2014/main" id="{912870F9-170F-4C12-861A-1A57D733EB6C}"/>
              </a:ext>
            </a:extLst>
          </p:cNvPr>
          <p:cNvCxnSpPr/>
          <p:nvPr/>
        </p:nvCxnSpPr>
        <p:spPr bwMode="auto">
          <a:xfrm>
            <a:off x="5295865" y="3310453"/>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48" name="Rectangle: Rounded Corners 47">
            <a:extLst>
              <a:ext uri="{FF2B5EF4-FFF2-40B4-BE49-F238E27FC236}">
                <a16:creationId xmlns:a16="http://schemas.microsoft.com/office/drawing/2014/main" id="{09C19724-D588-44A1-8938-A1EF1B287AE0}"/>
              </a:ext>
            </a:extLst>
          </p:cNvPr>
          <p:cNvSpPr/>
          <p:nvPr/>
        </p:nvSpPr>
        <p:spPr bwMode="auto">
          <a:xfrm>
            <a:off x="1591223" y="4569757"/>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49" name="Rectangle: Rounded Corners 48">
            <a:extLst>
              <a:ext uri="{FF2B5EF4-FFF2-40B4-BE49-F238E27FC236}">
                <a16:creationId xmlns:a16="http://schemas.microsoft.com/office/drawing/2014/main" id="{5CAF581E-BA4F-4F1F-815C-ABFB369E1B42}"/>
              </a:ext>
            </a:extLst>
          </p:cNvPr>
          <p:cNvSpPr/>
          <p:nvPr/>
        </p:nvSpPr>
        <p:spPr bwMode="auto">
          <a:xfrm>
            <a:off x="2768683" y="4021261"/>
            <a:ext cx="712673"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50" name="Rectangle: Rounded Corners 49">
            <a:extLst>
              <a:ext uri="{FF2B5EF4-FFF2-40B4-BE49-F238E27FC236}">
                <a16:creationId xmlns:a16="http://schemas.microsoft.com/office/drawing/2014/main" id="{75220B0E-4E57-44FA-B9C3-26D868A6949E}"/>
              </a:ext>
            </a:extLst>
          </p:cNvPr>
          <p:cNvSpPr/>
          <p:nvPr/>
        </p:nvSpPr>
        <p:spPr bwMode="auto">
          <a:xfrm>
            <a:off x="4632781" y="3473529"/>
            <a:ext cx="315723"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sp>
        <p:nvSpPr>
          <p:cNvPr id="54" name="Rectangle: Rounded Corners 53">
            <a:extLst>
              <a:ext uri="{FF2B5EF4-FFF2-40B4-BE49-F238E27FC236}">
                <a16:creationId xmlns:a16="http://schemas.microsoft.com/office/drawing/2014/main" id="{5EB0DC2C-9AFF-4672-81B3-A721E7732994}"/>
              </a:ext>
            </a:extLst>
          </p:cNvPr>
          <p:cNvSpPr/>
          <p:nvPr/>
        </p:nvSpPr>
        <p:spPr bwMode="auto">
          <a:xfrm>
            <a:off x="6468611" y="4022022"/>
            <a:ext cx="512482"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cxnSp>
        <p:nvCxnSpPr>
          <p:cNvPr id="12" name="Straight Connector 11">
            <a:extLst>
              <a:ext uri="{FF2B5EF4-FFF2-40B4-BE49-F238E27FC236}">
                <a16:creationId xmlns:a16="http://schemas.microsoft.com/office/drawing/2014/main" id="{4C72B14B-014E-4239-A5B6-945E8190492E}"/>
              </a:ext>
            </a:extLst>
          </p:cNvPr>
          <p:cNvCxnSpPr>
            <a:cxnSpLocks/>
          </p:cNvCxnSpPr>
          <p:nvPr/>
        </p:nvCxnSpPr>
        <p:spPr bwMode="auto">
          <a:xfrm>
            <a:off x="5091368" y="4314243"/>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6" name="Straight Connector 55">
            <a:extLst>
              <a:ext uri="{FF2B5EF4-FFF2-40B4-BE49-F238E27FC236}">
                <a16:creationId xmlns:a16="http://schemas.microsoft.com/office/drawing/2014/main" id="{1A94C2F8-334F-4B62-A7D1-C474F49A16F2}"/>
              </a:ext>
            </a:extLst>
          </p:cNvPr>
          <p:cNvCxnSpPr>
            <a:cxnSpLocks/>
          </p:cNvCxnSpPr>
          <p:nvPr/>
        </p:nvCxnSpPr>
        <p:spPr bwMode="auto">
          <a:xfrm>
            <a:off x="8611666" y="4312334"/>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7" name="Straight Connector 56">
            <a:extLst>
              <a:ext uri="{FF2B5EF4-FFF2-40B4-BE49-F238E27FC236}">
                <a16:creationId xmlns:a16="http://schemas.microsoft.com/office/drawing/2014/main" id="{FEA0FC3B-8656-4544-8F68-59F372324C18}"/>
              </a:ext>
            </a:extLst>
          </p:cNvPr>
          <p:cNvCxnSpPr>
            <a:cxnSpLocks/>
          </p:cNvCxnSpPr>
          <p:nvPr/>
        </p:nvCxnSpPr>
        <p:spPr bwMode="auto">
          <a:xfrm>
            <a:off x="5282677" y="3779383"/>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37" name="Straight Connector 36">
            <a:extLst>
              <a:ext uri="{FF2B5EF4-FFF2-40B4-BE49-F238E27FC236}">
                <a16:creationId xmlns:a16="http://schemas.microsoft.com/office/drawing/2014/main" id="{AA4D10F5-44EB-4E75-8352-BA5DD4B1F0E6}"/>
              </a:ext>
            </a:extLst>
          </p:cNvPr>
          <p:cNvCxnSpPr>
            <a:cxnSpLocks/>
          </p:cNvCxnSpPr>
          <p:nvPr/>
        </p:nvCxnSpPr>
        <p:spPr bwMode="auto">
          <a:xfrm>
            <a:off x="2768683" y="4295509"/>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38" name="Rectangle: Rounded Corners 37">
            <a:extLst>
              <a:ext uri="{FF2B5EF4-FFF2-40B4-BE49-F238E27FC236}">
                <a16:creationId xmlns:a16="http://schemas.microsoft.com/office/drawing/2014/main" id="{AFAD188F-88CE-41A6-B1C7-2FBA53219ECB}"/>
              </a:ext>
            </a:extLst>
          </p:cNvPr>
          <p:cNvSpPr/>
          <p:nvPr/>
        </p:nvSpPr>
        <p:spPr bwMode="auto">
          <a:xfrm>
            <a:off x="3475496" y="4569288"/>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39" name="Rectangle: Rounded Corners 38">
            <a:extLst>
              <a:ext uri="{FF2B5EF4-FFF2-40B4-BE49-F238E27FC236}">
                <a16:creationId xmlns:a16="http://schemas.microsoft.com/office/drawing/2014/main" id="{E6E5DC81-CD9A-4E0D-8C44-B0D7A3C32739}"/>
              </a:ext>
            </a:extLst>
          </p:cNvPr>
          <p:cNvSpPr/>
          <p:nvPr/>
        </p:nvSpPr>
        <p:spPr bwMode="auto">
          <a:xfrm>
            <a:off x="5290746" y="4566594"/>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cxnSp>
        <p:nvCxnSpPr>
          <p:cNvPr id="53" name="Straight Connector 52">
            <a:extLst>
              <a:ext uri="{FF2B5EF4-FFF2-40B4-BE49-F238E27FC236}">
                <a16:creationId xmlns:a16="http://schemas.microsoft.com/office/drawing/2014/main" id="{94FF47B6-E12E-46D2-B4BE-7CEBBFCEDE40}"/>
              </a:ext>
            </a:extLst>
          </p:cNvPr>
          <p:cNvCxnSpPr>
            <a:cxnSpLocks/>
          </p:cNvCxnSpPr>
          <p:nvPr/>
        </p:nvCxnSpPr>
        <p:spPr bwMode="auto">
          <a:xfrm>
            <a:off x="4635267" y="3767653"/>
            <a:ext cx="0" cy="784241"/>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55" name="Rectangle: Rounded Corners 54">
            <a:extLst>
              <a:ext uri="{FF2B5EF4-FFF2-40B4-BE49-F238E27FC236}">
                <a16:creationId xmlns:a16="http://schemas.microsoft.com/office/drawing/2014/main" id="{6ED73E34-B260-4612-B3F4-AF81D3F49E76}"/>
              </a:ext>
            </a:extLst>
          </p:cNvPr>
          <p:cNvSpPr/>
          <p:nvPr/>
        </p:nvSpPr>
        <p:spPr bwMode="auto">
          <a:xfrm>
            <a:off x="5085099" y="4019689"/>
            <a:ext cx="197578"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25000">
              <a:ln>
                <a:noFill/>
              </a:ln>
              <a:solidFill>
                <a:schemeClr val="tx1"/>
              </a:solidFill>
              <a:effectLst/>
              <a:latin typeface="Helvetica" pitchFamily="34" charset="0"/>
            </a:endParaRPr>
          </a:p>
        </p:txBody>
      </p:sp>
      <p:cxnSp>
        <p:nvCxnSpPr>
          <p:cNvPr id="64" name="Straight Connector 63">
            <a:extLst>
              <a:ext uri="{FF2B5EF4-FFF2-40B4-BE49-F238E27FC236}">
                <a16:creationId xmlns:a16="http://schemas.microsoft.com/office/drawing/2014/main" id="{49144F13-00D7-4B7E-8A4C-66CC9BDF78EA}"/>
              </a:ext>
            </a:extLst>
          </p:cNvPr>
          <p:cNvCxnSpPr>
            <a:cxnSpLocks/>
          </p:cNvCxnSpPr>
          <p:nvPr/>
        </p:nvCxnSpPr>
        <p:spPr bwMode="auto">
          <a:xfrm>
            <a:off x="6468610" y="4312334"/>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2749883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circle(in)">
                                      <p:cBhvr>
                                        <p:cTn id="7" dur="2000"/>
                                        <p:tgtEl>
                                          <p:spTgt spid="49"/>
                                        </p:tgtEl>
                                      </p:cBhvr>
                                    </p:animEffect>
                                  </p:childTnLst>
                                </p:cTn>
                              </p:par>
                              <p:par>
                                <p:cTn id="8" presetID="6" presetClass="entr" presetSubtype="16" fill="hold" nodeType="withEffect">
                                  <p:stCondLst>
                                    <p:cond delay="0"/>
                                  </p:stCondLst>
                                  <p:childTnLst>
                                    <p:set>
                                      <p:cBhvr>
                                        <p:cTn id="9" dur="1" fill="hold">
                                          <p:stCondLst>
                                            <p:cond delay="0"/>
                                          </p:stCondLst>
                                        </p:cTn>
                                        <p:tgtEl>
                                          <p:spTgt spid="37"/>
                                        </p:tgtEl>
                                        <p:attrNameLst>
                                          <p:attrName>style.visibility</p:attrName>
                                        </p:attrNameLst>
                                      </p:cBhvr>
                                      <p:to>
                                        <p:strVal val="visible"/>
                                      </p:to>
                                    </p:set>
                                    <p:animEffect transition="in" filter="circle(in)">
                                      <p:cBhvr>
                                        <p:cTn id="10" dur="2000"/>
                                        <p:tgtEl>
                                          <p:spTgt spid="37"/>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circle(in)">
                                      <p:cBhvr>
                                        <p:cTn id="15" dur="2000"/>
                                        <p:tgtEl>
                                          <p:spTgt spid="38"/>
                                        </p:tgtEl>
                                      </p:cBhvr>
                                    </p:animEffect>
                                  </p:childTnLst>
                                </p:cTn>
                              </p:par>
                            </p:childTnLst>
                          </p:cTn>
                        </p:par>
                      </p:childTnLst>
                    </p:cTn>
                  </p:par>
                  <p:par>
                    <p:cTn id="16" fill="hold">
                      <p:stCondLst>
                        <p:cond delay="indefinite"/>
                      </p:stCondLst>
                      <p:childTnLst>
                        <p:par>
                          <p:cTn id="17" fill="hold">
                            <p:stCondLst>
                              <p:cond delay="0"/>
                            </p:stCondLst>
                            <p:childTnLst>
                              <p:par>
                                <p:cTn id="18" presetID="6" presetClass="entr" presetSubtype="16" fill="hold" nodeType="clickEffect">
                                  <p:stCondLst>
                                    <p:cond delay="0"/>
                                  </p:stCondLst>
                                  <p:childTnLst>
                                    <p:set>
                                      <p:cBhvr>
                                        <p:cTn id="19" dur="1" fill="hold">
                                          <p:stCondLst>
                                            <p:cond delay="0"/>
                                          </p:stCondLst>
                                        </p:cTn>
                                        <p:tgtEl>
                                          <p:spTgt spid="53"/>
                                        </p:tgtEl>
                                        <p:attrNameLst>
                                          <p:attrName>style.visibility</p:attrName>
                                        </p:attrNameLst>
                                      </p:cBhvr>
                                      <p:to>
                                        <p:strVal val="visible"/>
                                      </p:to>
                                    </p:set>
                                    <p:animEffect transition="in" filter="circle(in)">
                                      <p:cBhvr>
                                        <p:cTn id="20" dur="2000"/>
                                        <p:tgtEl>
                                          <p:spTgt spid="53"/>
                                        </p:tgtEl>
                                      </p:cBhvr>
                                    </p:animEffect>
                                  </p:childTnLst>
                                </p:cTn>
                              </p:par>
                              <p:par>
                                <p:cTn id="21" presetID="6" presetClass="entr" presetSubtype="16" fill="hold" grpId="0" nodeType="with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circle(in)">
                                      <p:cBhvr>
                                        <p:cTn id="23" dur="2000"/>
                                        <p:tgtEl>
                                          <p:spTgt spid="50"/>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grpId="0" nodeType="clickEffect">
                                  <p:stCondLst>
                                    <p:cond delay="0"/>
                                  </p:stCondLst>
                                  <p:childTnLst>
                                    <p:set>
                                      <p:cBhvr>
                                        <p:cTn id="27" dur="1" fill="hold">
                                          <p:stCondLst>
                                            <p:cond delay="0"/>
                                          </p:stCondLst>
                                        </p:cTn>
                                        <p:tgtEl>
                                          <p:spTgt spid="55"/>
                                        </p:tgtEl>
                                        <p:attrNameLst>
                                          <p:attrName>style.visibility</p:attrName>
                                        </p:attrNameLst>
                                      </p:cBhvr>
                                      <p:to>
                                        <p:strVal val="visible"/>
                                      </p:to>
                                    </p:set>
                                    <p:animEffect transition="in" filter="circle(in)">
                                      <p:cBhvr>
                                        <p:cTn id="28" dur="2000"/>
                                        <p:tgtEl>
                                          <p:spTgt spid="55"/>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grpId="0" nodeType="clickEffect">
                                  <p:stCondLst>
                                    <p:cond delay="0"/>
                                  </p:stCondLst>
                                  <p:childTnLst>
                                    <p:set>
                                      <p:cBhvr>
                                        <p:cTn id="32" dur="1" fill="hold">
                                          <p:stCondLst>
                                            <p:cond delay="0"/>
                                          </p:stCondLst>
                                        </p:cTn>
                                        <p:tgtEl>
                                          <p:spTgt spid="39"/>
                                        </p:tgtEl>
                                        <p:attrNameLst>
                                          <p:attrName>style.visibility</p:attrName>
                                        </p:attrNameLst>
                                      </p:cBhvr>
                                      <p:to>
                                        <p:strVal val="visible"/>
                                      </p:to>
                                    </p:set>
                                    <p:animEffect transition="in" filter="circle(in)">
                                      <p:cBhvr>
                                        <p:cTn id="33" dur="2000"/>
                                        <p:tgtEl>
                                          <p:spTgt spid="39"/>
                                        </p:tgtEl>
                                      </p:cBhvr>
                                    </p:animEffect>
                                  </p:childTnLst>
                                </p:cTn>
                              </p:par>
                              <p:par>
                                <p:cTn id="34" presetID="6" presetClass="entr" presetSubtype="16" fill="hold" nodeType="with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circle(in)">
                                      <p:cBhvr>
                                        <p:cTn id="36" dur="2000"/>
                                        <p:tgtEl>
                                          <p:spTgt spid="64"/>
                                        </p:tgtEl>
                                      </p:cBhvr>
                                    </p:animEffect>
                                  </p:childTnLst>
                                </p:cTn>
                              </p:par>
                              <p:par>
                                <p:cTn id="37" presetID="6" presetClass="entr" presetSubtype="16" fill="hold" grpId="0" nodeType="withEffect">
                                  <p:stCondLst>
                                    <p:cond delay="0"/>
                                  </p:stCondLst>
                                  <p:childTnLst>
                                    <p:set>
                                      <p:cBhvr>
                                        <p:cTn id="38" dur="1" fill="hold">
                                          <p:stCondLst>
                                            <p:cond delay="0"/>
                                          </p:stCondLst>
                                        </p:cTn>
                                        <p:tgtEl>
                                          <p:spTgt spid="54"/>
                                        </p:tgtEl>
                                        <p:attrNameLst>
                                          <p:attrName>style.visibility</p:attrName>
                                        </p:attrNameLst>
                                      </p:cBhvr>
                                      <p:to>
                                        <p:strVal val="visible"/>
                                      </p:to>
                                    </p:set>
                                    <p:animEffect transition="in" filter="circle(in)">
                                      <p:cBhvr>
                                        <p:cTn id="39" dur="2000"/>
                                        <p:tgtEl>
                                          <p:spTgt spid="54"/>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4" grpId="0" animBg="1"/>
      <p:bldP spid="38" grpId="0" animBg="1"/>
      <p:bldP spid="39" grpId="0" animBg="1"/>
      <p:bldP spid="5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1" name="Straight Connector 50">
            <a:extLst>
              <a:ext uri="{FF2B5EF4-FFF2-40B4-BE49-F238E27FC236}">
                <a16:creationId xmlns:a16="http://schemas.microsoft.com/office/drawing/2014/main" id="{87DB90B1-2682-4B16-8614-B6F4DA7D9280}"/>
              </a:ext>
            </a:extLst>
          </p:cNvPr>
          <p:cNvCxnSpPr>
            <a:cxnSpLocks/>
          </p:cNvCxnSpPr>
          <p:nvPr/>
        </p:nvCxnSpPr>
        <p:spPr bwMode="auto">
          <a:xfrm>
            <a:off x="4328712" y="4068100"/>
            <a:ext cx="0" cy="1061652"/>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a:t>RM and Process Deadlines</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319881" y="1225834"/>
            <a:ext cx="8504237" cy="162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a:solidFill>
                  <a:schemeClr val="accent2"/>
                </a:solidFill>
              </a:rPr>
              <a:t>RM is good, but still does not always prioritize urgent processes</a:t>
            </a:r>
          </a:p>
          <a:p>
            <a:pPr lvl="1"/>
            <a:r>
              <a:rPr lang="en-SG" altLang="en-US" sz="2400" kern="0"/>
              <a:t>Suppose we modify the process set as follows: P</a:t>
            </a:r>
            <a:r>
              <a:rPr lang="en-SG" altLang="en-US" sz="2400" kern="0" baseline="-25000"/>
              <a:t>1</a:t>
            </a:r>
            <a:r>
              <a:rPr lang="en-SG" altLang="en-US" sz="2400" kern="0"/>
              <a:t>&lt;10,6,10&gt;, P</a:t>
            </a:r>
            <a:r>
              <a:rPr lang="en-SG" altLang="en-US" sz="2400" kern="0" baseline="-25000"/>
              <a:t>2</a:t>
            </a:r>
            <a:r>
              <a:rPr lang="en-SG" altLang="en-US" sz="2400" kern="0"/>
              <a:t>&lt;19,4,19&gt;, P</a:t>
            </a:r>
            <a:r>
              <a:rPr lang="en-SG" altLang="en-US" sz="2400" kern="0" baseline="-25000"/>
              <a:t>3</a:t>
            </a:r>
            <a:r>
              <a:rPr lang="en-SG" altLang="en-US" sz="2400" kern="0"/>
              <a:t>&lt;20,2,</a:t>
            </a:r>
            <a:r>
              <a:rPr lang="en-SG" altLang="en-US" sz="2400" kern="0">
                <a:solidFill>
                  <a:srgbClr val="FF0000"/>
                </a:solidFill>
              </a:rPr>
              <a:t>14</a:t>
            </a:r>
            <a:r>
              <a:rPr lang="en-SG" altLang="en-US" sz="2400" kern="0"/>
              <a:t>&gt;</a:t>
            </a:r>
          </a:p>
          <a:p>
            <a:pPr lvl="1"/>
            <a:endParaRPr lang="en-SG" altLang="en-US" sz="2400" kern="0"/>
          </a:p>
          <a:p>
            <a:pPr lvl="1"/>
            <a:endParaRPr lang="en-SG" altLang="en-US" sz="2400" kern="0"/>
          </a:p>
          <a:p>
            <a:pPr lvl="1"/>
            <a:endParaRPr lang="en-SG" altLang="en-US" sz="2400" kern="0"/>
          </a:p>
          <a:p>
            <a:pPr lvl="1"/>
            <a:endParaRPr lang="en-SG" altLang="en-US" sz="2400" kern="0"/>
          </a:p>
        </p:txBody>
      </p:sp>
      <p:cxnSp>
        <p:nvCxnSpPr>
          <p:cNvPr id="58" name="Straight Connector 57">
            <a:extLst>
              <a:ext uri="{FF2B5EF4-FFF2-40B4-BE49-F238E27FC236}">
                <a16:creationId xmlns:a16="http://schemas.microsoft.com/office/drawing/2014/main" id="{1CC03821-9786-47FA-AA5D-7B40E942C85E}"/>
              </a:ext>
            </a:extLst>
          </p:cNvPr>
          <p:cNvCxnSpPr>
            <a:cxnSpLocks/>
          </p:cNvCxnSpPr>
          <p:nvPr/>
        </p:nvCxnSpPr>
        <p:spPr bwMode="auto">
          <a:xfrm>
            <a:off x="3457912" y="4678797"/>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59" name="Straight Connector 58">
            <a:extLst>
              <a:ext uri="{FF2B5EF4-FFF2-40B4-BE49-F238E27FC236}">
                <a16:creationId xmlns:a16="http://schemas.microsoft.com/office/drawing/2014/main" id="{C8464184-0D5E-4450-87AD-E91BFFBD88F1}"/>
              </a:ext>
            </a:extLst>
          </p:cNvPr>
          <p:cNvCxnSpPr>
            <a:cxnSpLocks/>
          </p:cNvCxnSpPr>
          <p:nvPr/>
        </p:nvCxnSpPr>
        <p:spPr bwMode="auto">
          <a:xfrm>
            <a:off x="5269489" y="4694541"/>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0" name="Straight Connector 59">
            <a:extLst>
              <a:ext uri="{FF2B5EF4-FFF2-40B4-BE49-F238E27FC236}">
                <a16:creationId xmlns:a16="http://schemas.microsoft.com/office/drawing/2014/main" id="{161FA3BD-BE5C-4144-8E65-DE16F31011FA}"/>
              </a:ext>
            </a:extLst>
          </p:cNvPr>
          <p:cNvCxnSpPr>
            <a:cxnSpLocks/>
          </p:cNvCxnSpPr>
          <p:nvPr/>
        </p:nvCxnSpPr>
        <p:spPr bwMode="auto">
          <a:xfrm>
            <a:off x="7102323" y="4678797"/>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1" name="Straight Connector 60">
            <a:extLst>
              <a:ext uri="{FF2B5EF4-FFF2-40B4-BE49-F238E27FC236}">
                <a16:creationId xmlns:a16="http://schemas.microsoft.com/office/drawing/2014/main" id="{5A3E8303-E206-4613-8AF2-7F8F9A8CF9C8}"/>
              </a:ext>
            </a:extLst>
          </p:cNvPr>
          <p:cNvCxnSpPr>
            <a:cxnSpLocks/>
          </p:cNvCxnSpPr>
          <p:nvPr/>
        </p:nvCxnSpPr>
        <p:spPr bwMode="auto">
          <a:xfrm>
            <a:off x="5071191" y="4140881"/>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2" name="Straight Connector 61">
            <a:extLst>
              <a:ext uri="{FF2B5EF4-FFF2-40B4-BE49-F238E27FC236}">
                <a16:creationId xmlns:a16="http://schemas.microsoft.com/office/drawing/2014/main" id="{78E2BC1C-8F9E-40E3-BCE8-D1DE1552E058}"/>
              </a:ext>
            </a:extLst>
          </p:cNvPr>
          <p:cNvCxnSpPr>
            <a:cxnSpLocks/>
          </p:cNvCxnSpPr>
          <p:nvPr/>
        </p:nvCxnSpPr>
        <p:spPr bwMode="auto">
          <a:xfrm>
            <a:off x="5270736" y="359620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63" name="Straight Connector 62">
            <a:extLst>
              <a:ext uri="{FF2B5EF4-FFF2-40B4-BE49-F238E27FC236}">
                <a16:creationId xmlns:a16="http://schemas.microsoft.com/office/drawing/2014/main" id="{B90567E1-6E65-42F8-82BF-8870D59BC3BB}"/>
              </a:ext>
            </a:extLst>
          </p:cNvPr>
          <p:cNvCxnSpPr>
            <a:cxnSpLocks/>
          </p:cNvCxnSpPr>
          <p:nvPr/>
        </p:nvCxnSpPr>
        <p:spPr bwMode="auto">
          <a:xfrm>
            <a:off x="8585286" y="4140881"/>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21" name="Straight Arrow Connector 20">
            <a:extLst>
              <a:ext uri="{FF2B5EF4-FFF2-40B4-BE49-F238E27FC236}">
                <a16:creationId xmlns:a16="http://schemas.microsoft.com/office/drawing/2014/main" id="{5E3A7125-828D-4D5A-AF15-5E86B61D92B8}"/>
              </a:ext>
            </a:extLst>
          </p:cNvPr>
          <p:cNvCxnSpPr>
            <a:cxnSpLocks/>
          </p:cNvCxnSpPr>
          <p:nvPr/>
        </p:nvCxnSpPr>
        <p:spPr bwMode="auto">
          <a:xfrm flipV="1">
            <a:off x="1591121" y="5146577"/>
            <a:ext cx="7161621" cy="1"/>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23" name="Straight Connector 22">
            <a:extLst>
              <a:ext uri="{FF2B5EF4-FFF2-40B4-BE49-F238E27FC236}">
                <a16:creationId xmlns:a16="http://schemas.microsoft.com/office/drawing/2014/main" id="{A9F07EB7-14AE-4533-ACD4-68D070F41945}"/>
              </a:ext>
            </a:extLst>
          </p:cNvPr>
          <p:cNvCxnSpPr>
            <a:cxnSpLocks/>
          </p:cNvCxnSpPr>
          <p:nvPr/>
        </p:nvCxnSpPr>
        <p:spPr bwMode="auto">
          <a:xfrm>
            <a:off x="1591121" y="3596201"/>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24" name="TextBox 23">
            <a:extLst>
              <a:ext uri="{FF2B5EF4-FFF2-40B4-BE49-F238E27FC236}">
                <a16:creationId xmlns:a16="http://schemas.microsoft.com/office/drawing/2014/main" id="{33D29040-B326-4E86-AF31-9BEEFA9D089D}"/>
              </a:ext>
            </a:extLst>
          </p:cNvPr>
          <p:cNvSpPr txBox="1"/>
          <p:nvPr/>
        </p:nvSpPr>
        <p:spPr>
          <a:xfrm>
            <a:off x="1441652" y="5173841"/>
            <a:ext cx="7434182" cy="369332"/>
          </a:xfrm>
          <a:prstGeom prst="rect">
            <a:avLst/>
          </a:prstGeom>
          <a:noFill/>
        </p:spPr>
        <p:txBody>
          <a:bodyPr wrap="square" rtlCol="0">
            <a:spAutoFit/>
          </a:bodyPr>
          <a:lstStyle/>
          <a:p>
            <a:r>
              <a:rPr lang="en-SG"/>
              <a:t>0	    6 	10         14 16   19 20	    26 	30	         38</a:t>
            </a:r>
          </a:p>
        </p:txBody>
      </p:sp>
      <p:cxnSp>
        <p:nvCxnSpPr>
          <p:cNvPr id="25" name="Straight Connector 24">
            <a:extLst>
              <a:ext uri="{FF2B5EF4-FFF2-40B4-BE49-F238E27FC236}">
                <a16:creationId xmlns:a16="http://schemas.microsoft.com/office/drawing/2014/main" id="{7570D38C-4B19-4BC7-887A-E96A9305F59C}"/>
              </a:ext>
            </a:extLst>
          </p:cNvPr>
          <p:cNvCxnSpPr/>
          <p:nvPr/>
        </p:nvCxnSpPr>
        <p:spPr bwMode="auto">
          <a:xfrm>
            <a:off x="5295865" y="4689377"/>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3" name="TextBox 32">
            <a:extLst>
              <a:ext uri="{FF2B5EF4-FFF2-40B4-BE49-F238E27FC236}">
                <a16:creationId xmlns:a16="http://schemas.microsoft.com/office/drawing/2014/main" id="{1D048180-2CD5-4569-863A-68FCB8CEA54D}"/>
              </a:ext>
            </a:extLst>
          </p:cNvPr>
          <p:cNvSpPr txBox="1"/>
          <p:nvPr/>
        </p:nvSpPr>
        <p:spPr>
          <a:xfrm>
            <a:off x="233029" y="4779477"/>
            <a:ext cx="1035861" cy="276999"/>
          </a:xfrm>
          <a:prstGeom prst="rect">
            <a:avLst/>
          </a:prstGeom>
          <a:noFill/>
        </p:spPr>
        <p:txBody>
          <a:bodyPr wrap="none" rtlCol="0">
            <a:spAutoFit/>
          </a:bodyPr>
          <a:lstStyle/>
          <a:p>
            <a:pPr algn="ctr"/>
            <a:r>
              <a:rPr lang="en-SG" altLang="en-US" sz="1200" kern="0"/>
              <a:t>P</a:t>
            </a:r>
            <a:r>
              <a:rPr lang="en-SG" altLang="en-US" sz="1200" kern="0" baseline="-25000"/>
              <a:t>1</a:t>
            </a:r>
            <a:r>
              <a:rPr lang="en-SG" altLang="en-US" sz="1200" kern="0"/>
              <a:t>&lt;10,6,10&gt;</a:t>
            </a:r>
            <a:endParaRPr lang="en-SG" sz="1200"/>
          </a:p>
        </p:txBody>
      </p:sp>
      <p:sp>
        <p:nvSpPr>
          <p:cNvPr id="34" name="TextBox 33">
            <a:extLst>
              <a:ext uri="{FF2B5EF4-FFF2-40B4-BE49-F238E27FC236}">
                <a16:creationId xmlns:a16="http://schemas.microsoft.com/office/drawing/2014/main" id="{1484B114-B7FC-4720-834C-BD4144E107B9}"/>
              </a:ext>
            </a:extLst>
          </p:cNvPr>
          <p:cNvSpPr txBox="1"/>
          <p:nvPr/>
        </p:nvSpPr>
        <p:spPr>
          <a:xfrm>
            <a:off x="233031" y="4271640"/>
            <a:ext cx="1035861" cy="276999"/>
          </a:xfrm>
          <a:prstGeom prst="rect">
            <a:avLst/>
          </a:prstGeom>
          <a:noFill/>
        </p:spPr>
        <p:txBody>
          <a:bodyPr wrap="none" rtlCol="0">
            <a:spAutoFit/>
          </a:bodyPr>
          <a:lstStyle/>
          <a:p>
            <a:pPr algn="ctr"/>
            <a:r>
              <a:rPr lang="en-SG" altLang="en-US" sz="1200" kern="0"/>
              <a:t>P</a:t>
            </a:r>
            <a:r>
              <a:rPr lang="en-SG" altLang="en-US" sz="1200" kern="0" baseline="-25000"/>
              <a:t>2</a:t>
            </a:r>
            <a:r>
              <a:rPr lang="en-SG" altLang="en-US" sz="1200" kern="0"/>
              <a:t>&lt;19,4,19&gt;</a:t>
            </a:r>
            <a:endParaRPr lang="en-SG" sz="1200"/>
          </a:p>
        </p:txBody>
      </p:sp>
      <p:cxnSp>
        <p:nvCxnSpPr>
          <p:cNvPr id="35" name="Straight Connector 34">
            <a:extLst>
              <a:ext uri="{FF2B5EF4-FFF2-40B4-BE49-F238E27FC236}">
                <a16:creationId xmlns:a16="http://schemas.microsoft.com/office/drawing/2014/main" id="{C553BE87-1092-475A-94AB-FBC03FD23C8A}"/>
              </a:ext>
            </a:extLst>
          </p:cNvPr>
          <p:cNvCxnSpPr/>
          <p:nvPr/>
        </p:nvCxnSpPr>
        <p:spPr bwMode="auto">
          <a:xfrm>
            <a:off x="3481357" y="4678797"/>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36" name="TextBox 35">
            <a:extLst>
              <a:ext uri="{FF2B5EF4-FFF2-40B4-BE49-F238E27FC236}">
                <a16:creationId xmlns:a16="http://schemas.microsoft.com/office/drawing/2014/main" id="{55E0DA9A-303F-47E7-ACD7-AB947480B788}"/>
              </a:ext>
            </a:extLst>
          </p:cNvPr>
          <p:cNvSpPr txBox="1"/>
          <p:nvPr/>
        </p:nvSpPr>
        <p:spPr>
          <a:xfrm>
            <a:off x="233029" y="3686301"/>
            <a:ext cx="1035861" cy="276999"/>
          </a:xfrm>
          <a:prstGeom prst="rect">
            <a:avLst/>
          </a:prstGeom>
          <a:noFill/>
        </p:spPr>
        <p:txBody>
          <a:bodyPr wrap="none" rtlCol="0">
            <a:spAutoFit/>
          </a:bodyPr>
          <a:lstStyle/>
          <a:p>
            <a:pPr algn="ctr"/>
            <a:r>
              <a:rPr lang="en-SG" altLang="en-US" sz="1200" kern="0"/>
              <a:t>P</a:t>
            </a:r>
            <a:r>
              <a:rPr lang="en-SG" altLang="en-US" sz="1200" kern="0" baseline="-25000"/>
              <a:t>3</a:t>
            </a:r>
            <a:r>
              <a:rPr lang="en-SG" altLang="en-US" sz="1200" kern="0"/>
              <a:t>&lt;20,2,</a:t>
            </a:r>
            <a:r>
              <a:rPr lang="en-SG" altLang="en-US" sz="1200" kern="0">
                <a:solidFill>
                  <a:srgbClr val="FF0000"/>
                </a:solidFill>
              </a:rPr>
              <a:t>14</a:t>
            </a:r>
            <a:r>
              <a:rPr lang="en-SG" altLang="en-US" sz="1200" kern="0"/>
              <a:t>&gt;</a:t>
            </a:r>
            <a:endParaRPr lang="en-SG" sz="1200"/>
          </a:p>
        </p:txBody>
      </p:sp>
      <p:cxnSp>
        <p:nvCxnSpPr>
          <p:cNvPr id="40" name="Straight Arrow Connector 39">
            <a:extLst>
              <a:ext uri="{FF2B5EF4-FFF2-40B4-BE49-F238E27FC236}">
                <a16:creationId xmlns:a16="http://schemas.microsoft.com/office/drawing/2014/main" id="{574323D1-1668-4F95-BD83-9C0D41F2E48D}"/>
              </a:ext>
            </a:extLst>
          </p:cNvPr>
          <p:cNvCxnSpPr>
            <a:cxnSpLocks/>
          </p:cNvCxnSpPr>
          <p:nvPr/>
        </p:nvCxnSpPr>
        <p:spPr bwMode="auto">
          <a:xfrm>
            <a:off x="1591121" y="4599990"/>
            <a:ext cx="7161621" cy="13636"/>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1" name="Straight Arrow Connector 40">
            <a:extLst>
              <a:ext uri="{FF2B5EF4-FFF2-40B4-BE49-F238E27FC236}">
                <a16:creationId xmlns:a16="http://schemas.microsoft.com/office/drawing/2014/main" id="{42352416-E597-48C4-A8AB-C1E139E7BA6D}"/>
              </a:ext>
            </a:extLst>
          </p:cNvPr>
          <p:cNvCxnSpPr>
            <a:cxnSpLocks/>
          </p:cNvCxnSpPr>
          <p:nvPr/>
        </p:nvCxnSpPr>
        <p:spPr bwMode="auto">
          <a:xfrm>
            <a:off x="1591121" y="4053401"/>
            <a:ext cx="7161621" cy="11729"/>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42" name="Straight Connector 41">
            <a:extLst>
              <a:ext uri="{FF2B5EF4-FFF2-40B4-BE49-F238E27FC236}">
                <a16:creationId xmlns:a16="http://schemas.microsoft.com/office/drawing/2014/main" id="{EE014136-C110-4D09-817D-CFD59904B02C}"/>
              </a:ext>
            </a:extLst>
          </p:cNvPr>
          <p:cNvCxnSpPr>
            <a:cxnSpLocks/>
          </p:cNvCxnSpPr>
          <p:nvPr/>
        </p:nvCxnSpPr>
        <p:spPr bwMode="auto">
          <a:xfrm>
            <a:off x="1591121" y="414279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3" name="Straight Connector 42">
            <a:extLst>
              <a:ext uri="{FF2B5EF4-FFF2-40B4-BE49-F238E27FC236}">
                <a16:creationId xmlns:a16="http://schemas.microsoft.com/office/drawing/2014/main" id="{646EDDF7-D6C8-474E-ACAB-26EF6D45388B}"/>
              </a:ext>
            </a:extLst>
          </p:cNvPr>
          <p:cNvCxnSpPr>
            <a:cxnSpLocks/>
          </p:cNvCxnSpPr>
          <p:nvPr/>
        </p:nvCxnSpPr>
        <p:spPr bwMode="auto">
          <a:xfrm>
            <a:off x="1591121" y="4689378"/>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44" name="Straight Connector 43">
            <a:extLst>
              <a:ext uri="{FF2B5EF4-FFF2-40B4-BE49-F238E27FC236}">
                <a16:creationId xmlns:a16="http://schemas.microsoft.com/office/drawing/2014/main" id="{1370E95A-CB35-4436-94E1-477EC8DF61F2}"/>
              </a:ext>
            </a:extLst>
          </p:cNvPr>
          <p:cNvCxnSpPr/>
          <p:nvPr/>
        </p:nvCxnSpPr>
        <p:spPr bwMode="auto">
          <a:xfrm>
            <a:off x="7128699" y="4678797"/>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5" name="Straight Connector 44">
            <a:extLst>
              <a:ext uri="{FF2B5EF4-FFF2-40B4-BE49-F238E27FC236}">
                <a16:creationId xmlns:a16="http://schemas.microsoft.com/office/drawing/2014/main" id="{2D48E54B-D544-48AC-8118-9B9C85F3FDF4}"/>
              </a:ext>
            </a:extLst>
          </p:cNvPr>
          <p:cNvCxnSpPr/>
          <p:nvPr/>
        </p:nvCxnSpPr>
        <p:spPr bwMode="auto">
          <a:xfrm>
            <a:off x="5096211" y="414279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6" name="Straight Connector 45">
            <a:extLst>
              <a:ext uri="{FF2B5EF4-FFF2-40B4-BE49-F238E27FC236}">
                <a16:creationId xmlns:a16="http://schemas.microsoft.com/office/drawing/2014/main" id="{DF6581E0-84A7-47E1-B8C6-7CC5E1CFBC0C}"/>
              </a:ext>
            </a:extLst>
          </p:cNvPr>
          <p:cNvCxnSpPr/>
          <p:nvPr/>
        </p:nvCxnSpPr>
        <p:spPr bwMode="auto">
          <a:xfrm>
            <a:off x="8611662" y="4142790"/>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47" name="Straight Connector 46">
            <a:extLst>
              <a:ext uri="{FF2B5EF4-FFF2-40B4-BE49-F238E27FC236}">
                <a16:creationId xmlns:a16="http://schemas.microsoft.com/office/drawing/2014/main" id="{912870F9-170F-4C12-861A-1A57D733EB6C}"/>
              </a:ext>
            </a:extLst>
          </p:cNvPr>
          <p:cNvCxnSpPr/>
          <p:nvPr/>
        </p:nvCxnSpPr>
        <p:spPr bwMode="auto">
          <a:xfrm>
            <a:off x="4328712" y="3586965"/>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48" name="Rectangle: Rounded Corners 47">
            <a:extLst>
              <a:ext uri="{FF2B5EF4-FFF2-40B4-BE49-F238E27FC236}">
                <a16:creationId xmlns:a16="http://schemas.microsoft.com/office/drawing/2014/main" id="{09C19724-D588-44A1-8938-A1EF1B287AE0}"/>
              </a:ext>
            </a:extLst>
          </p:cNvPr>
          <p:cNvSpPr/>
          <p:nvPr/>
        </p:nvSpPr>
        <p:spPr bwMode="auto">
          <a:xfrm>
            <a:off x="1591223" y="4855504"/>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49" name="Rectangle: Rounded Corners 48">
            <a:extLst>
              <a:ext uri="{FF2B5EF4-FFF2-40B4-BE49-F238E27FC236}">
                <a16:creationId xmlns:a16="http://schemas.microsoft.com/office/drawing/2014/main" id="{5CAF581E-BA4F-4F1F-815C-ABFB369E1B42}"/>
              </a:ext>
            </a:extLst>
          </p:cNvPr>
          <p:cNvSpPr/>
          <p:nvPr/>
        </p:nvSpPr>
        <p:spPr bwMode="auto">
          <a:xfrm>
            <a:off x="2768683" y="4307008"/>
            <a:ext cx="712673"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50" name="Rectangle: Rounded Corners 49">
            <a:extLst>
              <a:ext uri="{FF2B5EF4-FFF2-40B4-BE49-F238E27FC236}">
                <a16:creationId xmlns:a16="http://schemas.microsoft.com/office/drawing/2014/main" id="{75220B0E-4E57-44FA-B9C3-26D868A6949E}"/>
              </a:ext>
            </a:extLst>
          </p:cNvPr>
          <p:cNvSpPr/>
          <p:nvPr/>
        </p:nvSpPr>
        <p:spPr bwMode="auto">
          <a:xfrm>
            <a:off x="4632781" y="3759276"/>
            <a:ext cx="315723"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sp>
        <p:nvSpPr>
          <p:cNvPr id="54" name="Rectangle: Rounded Corners 53">
            <a:extLst>
              <a:ext uri="{FF2B5EF4-FFF2-40B4-BE49-F238E27FC236}">
                <a16:creationId xmlns:a16="http://schemas.microsoft.com/office/drawing/2014/main" id="{5EB0DC2C-9AFF-4672-81B3-A721E7732994}"/>
              </a:ext>
            </a:extLst>
          </p:cNvPr>
          <p:cNvSpPr/>
          <p:nvPr/>
        </p:nvSpPr>
        <p:spPr bwMode="auto">
          <a:xfrm>
            <a:off x="6468611" y="4307769"/>
            <a:ext cx="512482"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cxnSp>
        <p:nvCxnSpPr>
          <p:cNvPr id="12" name="Straight Connector 11">
            <a:extLst>
              <a:ext uri="{FF2B5EF4-FFF2-40B4-BE49-F238E27FC236}">
                <a16:creationId xmlns:a16="http://schemas.microsoft.com/office/drawing/2014/main" id="{4C72B14B-014E-4239-A5B6-945E8190492E}"/>
              </a:ext>
            </a:extLst>
          </p:cNvPr>
          <p:cNvCxnSpPr>
            <a:cxnSpLocks/>
          </p:cNvCxnSpPr>
          <p:nvPr/>
        </p:nvCxnSpPr>
        <p:spPr bwMode="auto">
          <a:xfrm>
            <a:off x="5091368" y="4599990"/>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6" name="Straight Connector 55">
            <a:extLst>
              <a:ext uri="{FF2B5EF4-FFF2-40B4-BE49-F238E27FC236}">
                <a16:creationId xmlns:a16="http://schemas.microsoft.com/office/drawing/2014/main" id="{1A94C2F8-334F-4B62-A7D1-C474F49A16F2}"/>
              </a:ext>
            </a:extLst>
          </p:cNvPr>
          <p:cNvCxnSpPr>
            <a:cxnSpLocks/>
          </p:cNvCxnSpPr>
          <p:nvPr/>
        </p:nvCxnSpPr>
        <p:spPr bwMode="auto">
          <a:xfrm>
            <a:off x="8602870" y="4598081"/>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7" name="Straight Connector 56">
            <a:extLst>
              <a:ext uri="{FF2B5EF4-FFF2-40B4-BE49-F238E27FC236}">
                <a16:creationId xmlns:a16="http://schemas.microsoft.com/office/drawing/2014/main" id="{FEA0FC3B-8656-4544-8F68-59F372324C18}"/>
              </a:ext>
            </a:extLst>
          </p:cNvPr>
          <p:cNvCxnSpPr>
            <a:cxnSpLocks/>
          </p:cNvCxnSpPr>
          <p:nvPr/>
        </p:nvCxnSpPr>
        <p:spPr bwMode="auto">
          <a:xfrm>
            <a:off x="5282677" y="4065130"/>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37" name="Straight Connector 36">
            <a:extLst>
              <a:ext uri="{FF2B5EF4-FFF2-40B4-BE49-F238E27FC236}">
                <a16:creationId xmlns:a16="http://schemas.microsoft.com/office/drawing/2014/main" id="{AA4D10F5-44EB-4E75-8352-BA5DD4B1F0E6}"/>
              </a:ext>
            </a:extLst>
          </p:cNvPr>
          <p:cNvCxnSpPr>
            <a:cxnSpLocks/>
          </p:cNvCxnSpPr>
          <p:nvPr/>
        </p:nvCxnSpPr>
        <p:spPr bwMode="auto">
          <a:xfrm>
            <a:off x="2768683" y="4581256"/>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38" name="Rectangle: Rounded Corners 37">
            <a:extLst>
              <a:ext uri="{FF2B5EF4-FFF2-40B4-BE49-F238E27FC236}">
                <a16:creationId xmlns:a16="http://schemas.microsoft.com/office/drawing/2014/main" id="{AFAD188F-88CE-41A6-B1C7-2FBA53219ECB}"/>
              </a:ext>
            </a:extLst>
          </p:cNvPr>
          <p:cNvSpPr/>
          <p:nvPr/>
        </p:nvSpPr>
        <p:spPr bwMode="auto">
          <a:xfrm>
            <a:off x="3475496" y="4855035"/>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39" name="Rectangle: Rounded Corners 38">
            <a:extLst>
              <a:ext uri="{FF2B5EF4-FFF2-40B4-BE49-F238E27FC236}">
                <a16:creationId xmlns:a16="http://schemas.microsoft.com/office/drawing/2014/main" id="{E6E5DC81-CD9A-4E0D-8C44-B0D7A3C32739}"/>
              </a:ext>
            </a:extLst>
          </p:cNvPr>
          <p:cNvSpPr/>
          <p:nvPr/>
        </p:nvSpPr>
        <p:spPr bwMode="auto">
          <a:xfrm>
            <a:off x="5290746" y="4852341"/>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cxnSp>
        <p:nvCxnSpPr>
          <p:cNvPr id="53" name="Straight Connector 52">
            <a:extLst>
              <a:ext uri="{FF2B5EF4-FFF2-40B4-BE49-F238E27FC236}">
                <a16:creationId xmlns:a16="http://schemas.microsoft.com/office/drawing/2014/main" id="{94FF47B6-E12E-46D2-B4BE-7CEBBFCEDE40}"/>
              </a:ext>
            </a:extLst>
          </p:cNvPr>
          <p:cNvCxnSpPr>
            <a:cxnSpLocks/>
          </p:cNvCxnSpPr>
          <p:nvPr/>
        </p:nvCxnSpPr>
        <p:spPr bwMode="auto">
          <a:xfrm>
            <a:off x="4635267" y="4053400"/>
            <a:ext cx="0" cy="784241"/>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55" name="Rectangle: Rounded Corners 54">
            <a:extLst>
              <a:ext uri="{FF2B5EF4-FFF2-40B4-BE49-F238E27FC236}">
                <a16:creationId xmlns:a16="http://schemas.microsoft.com/office/drawing/2014/main" id="{6ED73E34-B260-4612-B3F4-AF81D3F49E76}"/>
              </a:ext>
            </a:extLst>
          </p:cNvPr>
          <p:cNvSpPr/>
          <p:nvPr/>
        </p:nvSpPr>
        <p:spPr bwMode="auto">
          <a:xfrm>
            <a:off x="5085099" y="4305436"/>
            <a:ext cx="197578"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25000">
              <a:ln>
                <a:noFill/>
              </a:ln>
              <a:solidFill>
                <a:schemeClr val="tx1"/>
              </a:solidFill>
              <a:effectLst/>
              <a:latin typeface="Helvetica" pitchFamily="34" charset="0"/>
            </a:endParaRPr>
          </a:p>
        </p:txBody>
      </p:sp>
      <p:cxnSp>
        <p:nvCxnSpPr>
          <p:cNvPr id="64" name="Straight Connector 63">
            <a:extLst>
              <a:ext uri="{FF2B5EF4-FFF2-40B4-BE49-F238E27FC236}">
                <a16:creationId xmlns:a16="http://schemas.microsoft.com/office/drawing/2014/main" id="{49144F13-00D7-4B7E-8A4C-66CC9BDF78EA}"/>
              </a:ext>
            </a:extLst>
          </p:cNvPr>
          <p:cNvCxnSpPr>
            <a:cxnSpLocks/>
          </p:cNvCxnSpPr>
          <p:nvPr/>
        </p:nvCxnSpPr>
        <p:spPr bwMode="auto">
          <a:xfrm>
            <a:off x="6468610" y="4598081"/>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3" name="TextBox 2">
            <a:extLst>
              <a:ext uri="{FF2B5EF4-FFF2-40B4-BE49-F238E27FC236}">
                <a16:creationId xmlns:a16="http://schemas.microsoft.com/office/drawing/2014/main" id="{677D7E28-4247-46CB-966E-62ABE419D428}"/>
              </a:ext>
            </a:extLst>
          </p:cNvPr>
          <p:cNvSpPr txBox="1"/>
          <p:nvPr/>
        </p:nvSpPr>
        <p:spPr>
          <a:xfrm>
            <a:off x="2098143" y="3137481"/>
            <a:ext cx="1723549" cy="369332"/>
          </a:xfrm>
          <a:prstGeom prst="rect">
            <a:avLst/>
          </a:prstGeom>
          <a:noFill/>
        </p:spPr>
        <p:txBody>
          <a:bodyPr wrap="none" rtlCol="0">
            <a:spAutoFit/>
          </a:bodyPr>
          <a:lstStyle/>
          <a:p>
            <a:r>
              <a:rPr lang="en-SG" b="1" dirty="0">
                <a:solidFill>
                  <a:srgbClr val="FF0000"/>
                </a:solidFill>
              </a:rPr>
              <a:t>Deadline Miss</a:t>
            </a:r>
          </a:p>
        </p:txBody>
      </p:sp>
      <p:cxnSp>
        <p:nvCxnSpPr>
          <p:cNvPr id="7" name="Straight Arrow Connector 6">
            <a:extLst>
              <a:ext uri="{FF2B5EF4-FFF2-40B4-BE49-F238E27FC236}">
                <a16:creationId xmlns:a16="http://schemas.microsoft.com/office/drawing/2014/main" id="{EB69ECC6-D6C5-4111-B2B0-5F80C84A7150}"/>
              </a:ext>
            </a:extLst>
          </p:cNvPr>
          <p:cNvCxnSpPr>
            <a:cxnSpLocks/>
          </p:cNvCxnSpPr>
          <p:nvPr/>
        </p:nvCxnSpPr>
        <p:spPr bwMode="auto">
          <a:xfrm>
            <a:off x="3710354" y="3401203"/>
            <a:ext cx="562708" cy="201056"/>
          </a:xfrm>
          <a:prstGeom prst="straightConnector1">
            <a:avLst/>
          </a:prstGeom>
          <a:solidFill>
            <a:schemeClr val="bg1"/>
          </a:solidFill>
          <a:ln w="22225" cap="flat" cmpd="sng" algn="ctr">
            <a:solidFill>
              <a:schemeClr val="tx1"/>
            </a:solidFill>
            <a:prstDash val="solid"/>
            <a:round/>
            <a:headEnd type="none" w="med" len="med"/>
            <a:tailEnd type="triangle"/>
          </a:ln>
          <a:effectLst/>
        </p:spPr>
      </p:cxnSp>
    </p:spTree>
    <p:extLst>
      <p:ext uri="{BB962C8B-B14F-4D97-AF65-F5344CB8AC3E}">
        <p14:creationId xmlns:p14="http://schemas.microsoft.com/office/powerpoint/2010/main" val="18538888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9" name="Straight Connector 108">
            <a:extLst>
              <a:ext uri="{FF2B5EF4-FFF2-40B4-BE49-F238E27FC236}">
                <a16:creationId xmlns:a16="http://schemas.microsoft.com/office/drawing/2014/main" id="{5CA80B52-6D2F-4428-A31D-900014812D91}"/>
              </a:ext>
            </a:extLst>
          </p:cNvPr>
          <p:cNvCxnSpPr>
            <a:cxnSpLocks/>
          </p:cNvCxnSpPr>
          <p:nvPr/>
        </p:nvCxnSpPr>
        <p:spPr bwMode="auto">
          <a:xfrm>
            <a:off x="4790965" y="4664478"/>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sz="2800"/>
              <a:t>Earliest Deadline First (EDF) Scheduler</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319881" y="1225834"/>
            <a:ext cx="8504237" cy="162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dirty="0">
                <a:solidFill>
                  <a:schemeClr val="accent2"/>
                </a:solidFill>
              </a:rPr>
              <a:t>Dynamic-priority scheduler that assigns priorities based on process</a:t>
            </a:r>
            <a:r>
              <a:rPr lang="en-SG" altLang="en-US" sz="2800" b="1" kern="0" dirty="0">
                <a:solidFill>
                  <a:schemeClr val="accent2"/>
                </a:solidFill>
              </a:rPr>
              <a:t> instance deadlines</a:t>
            </a:r>
          </a:p>
          <a:p>
            <a:pPr lvl="1"/>
            <a:r>
              <a:rPr lang="en-SG" altLang="en-US" sz="2400" kern="0" dirty="0"/>
              <a:t>Instances with shorter deadline are given higher priority</a:t>
            </a:r>
          </a:p>
          <a:p>
            <a:pPr lvl="2"/>
            <a:r>
              <a:rPr lang="en-SG" altLang="en-US" sz="2400" b="1" kern="0" dirty="0"/>
              <a:t>NOT the same as parameter D</a:t>
            </a:r>
          </a:p>
          <a:p>
            <a:pPr lvl="1"/>
            <a:r>
              <a:rPr lang="en-SG" altLang="en-US" sz="2400" kern="0" dirty="0"/>
              <a:t>Ties are broken arbitrarily</a:t>
            </a:r>
          </a:p>
          <a:p>
            <a:pPr lvl="1"/>
            <a:endParaRPr lang="en-SG" altLang="en-US" sz="2400" kern="0" dirty="0"/>
          </a:p>
          <a:p>
            <a:pPr lvl="1"/>
            <a:endParaRPr lang="en-SG" altLang="en-US" sz="2400" kern="0" dirty="0"/>
          </a:p>
          <a:p>
            <a:pPr lvl="1"/>
            <a:endParaRPr lang="en-SG" altLang="en-US" sz="2400" kern="0" dirty="0"/>
          </a:p>
          <a:p>
            <a:pPr lvl="1"/>
            <a:endParaRPr lang="en-SG" altLang="en-US" sz="2400" kern="0" dirty="0"/>
          </a:p>
          <a:p>
            <a:pPr marL="457200" lvl="1" indent="0">
              <a:buNone/>
            </a:pPr>
            <a:endParaRPr lang="en-SG" altLang="en-US" sz="2400" kern="0" dirty="0"/>
          </a:p>
          <a:p>
            <a:pPr marL="457200" lvl="1" indent="0">
              <a:buNone/>
            </a:pPr>
            <a:r>
              <a:rPr lang="en-SG" altLang="en-US" sz="2400" kern="0" dirty="0">
                <a:solidFill>
                  <a:srgbClr val="FF0000"/>
                </a:solidFill>
              </a:rPr>
              <a:t>EDF is a dynamic-priority scheduler, hence more powerful than RM</a:t>
            </a:r>
          </a:p>
        </p:txBody>
      </p:sp>
      <p:cxnSp>
        <p:nvCxnSpPr>
          <p:cNvPr id="53" name="Straight Connector 52">
            <a:extLst>
              <a:ext uri="{FF2B5EF4-FFF2-40B4-BE49-F238E27FC236}">
                <a16:creationId xmlns:a16="http://schemas.microsoft.com/office/drawing/2014/main" id="{E6B84902-E0E8-48EE-84FA-360BEB80257B}"/>
              </a:ext>
            </a:extLst>
          </p:cNvPr>
          <p:cNvCxnSpPr>
            <a:cxnSpLocks/>
          </p:cNvCxnSpPr>
          <p:nvPr/>
        </p:nvCxnSpPr>
        <p:spPr bwMode="auto">
          <a:xfrm flipH="1">
            <a:off x="4341897" y="4159056"/>
            <a:ext cx="4652" cy="1062263"/>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54" name="Straight Connector 53">
            <a:extLst>
              <a:ext uri="{FF2B5EF4-FFF2-40B4-BE49-F238E27FC236}">
                <a16:creationId xmlns:a16="http://schemas.microsoft.com/office/drawing/2014/main" id="{3F1E6EB9-1DF7-4EDA-A02E-42637CCB777A}"/>
              </a:ext>
            </a:extLst>
          </p:cNvPr>
          <p:cNvCxnSpPr>
            <a:cxnSpLocks/>
          </p:cNvCxnSpPr>
          <p:nvPr/>
        </p:nvCxnSpPr>
        <p:spPr bwMode="auto">
          <a:xfrm>
            <a:off x="7962863" y="4123112"/>
            <a:ext cx="0" cy="1099421"/>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75" name="Straight Connector 74">
            <a:extLst>
              <a:ext uri="{FF2B5EF4-FFF2-40B4-BE49-F238E27FC236}">
                <a16:creationId xmlns:a16="http://schemas.microsoft.com/office/drawing/2014/main" id="{75F28890-4849-4F6B-B4AF-A7701F82A0AC}"/>
              </a:ext>
            </a:extLst>
          </p:cNvPr>
          <p:cNvCxnSpPr>
            <a:cxnSpLocks/>
          </p:cNvCxnSpPr>
          <p:nvPr/>
        </p:nvCxnSpPr>
        <p:spPr bwMode="auto">
          <a:xfrm>
            <a:off x="3457912" y="475353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76" name="Straight Connector 75">
            <a:extLst>
              <a:ext uri="{FF2B5EF4-FFF2-40B4-BE49-F238E27FC236}">
                <a16:creationId xmlns:a16="http://schemas.microsoft.com/office/drawing/2014/main" id="{BA556CD6-EA4B-4A05-A68C-9E86BB853DA9}"/>
              </a:ext>
            </a:extLst>
          </p:cNvPr>
          <p:cNvCxnSpPr>
            <a:cxnSpLocks/>
          </p:cNvCxnSpPr>
          <p:nvPr/>
        </p:nvCxnSpPr>
        <p:spPr bwMode="auto">
          <a:xfrm>
            <a:off x="5269489" y="476928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77" name="Straight Connector 76">
            <a:extLst>
              <a:ext uri="{FF2B5EF4-FFF2-40B4-BE49-F238E27FC236}">
                <a16:creationId xmlns:a16="http://schemas.microsoft.com/office/drawing/2014/main" id="{9AC2F79C-9FFD-4850-A851-BF7B4718E9F1}"/>
              </a:ext>
            </a:extLst>
          </p:cNvPr>
          <p:cNvCxnSpPr>
            <a:cxnSpLocks/>
          </p:cNvCxnSpPr>
          <p:nvPr/>
        </p:nvCxnSpPr>
        <p:spPr bwMode="auto">
          <a:xfrm>
            <a:off x="7102323" y="4753539"/>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78" name="Straight Connector 77">
            <a:extLst>
              <a:ext uri="{FF2B5EF4-FFF2-40B4-BE49-F238E27FC236}">
                <a16:creationId xmlns:a16="http://schemas.microsoft.com/office/drawing/2014/main" id="{1B281F94-881E-490B-B9B3-0E3D9B10F93A}"/>
              </a:ext>
            </a:extLst>
          </p:cNvPr>
          <p:cNvCxnSpPr>
            <a:cxnSpLocks/>
          </p:cNvCxnSpPr>
          <p:nvPr/>
        </p:nvCxnSpPr>
        <p:spPr bwMode="auto">
          <a:xfrm>
            <a:off x="5071191" y="421562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79" name="Straight Connector 78">
            <a:extLst>
              <a:ext uri="{FF2B5EF4-FFF2-40B4-BE49-F238E27FC236}">
                <a16:creationId xmlns:a16="http://schemas.microsoft.com/office/drawing/2014/main" id="{5D72C26F-B5C1-4533-A35B-CB1D84A4FFB1}"/>
              </a:ext>
            </a:extLst>
          </p:cNvPr>
          <p:cNvCxnSpPr>
            <a:cxnSpLocks/>
          </p:cNvCxnSpPr>
          <p:nvPr/>
        </p:nvCxnSpPr>
        <p:spPr bwMode="auto">
          <a:xfrm>
            <a:off x="5270736" y="3670942"/>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80" name="Straight Connector 79">
            <a:extLst>
              <a:ext uri="{FF2B5EF4-FFF2-40B4-BE49-F238E27FC236}">
                <a16:creationId xmlns:a16="http://schemas.microsoft.com/office/drawing/2014/main" id="{8DAB0277-D783-4E56-B938-C879263934CE}"/>
              </a:ext>
            </a:extLst>
          </p:cNvPr>
          <p:cNvCxnSpPr>
            <a:cxnSpLocks/>
          </p:cNvCxnSpPr>
          <p:nvPr/>
        </p:nvCxnSpPr>
        <p:spPr bwMode="auto">
          <a:xfrm>
            <a:off x="8611667" y="421562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81" name="Straight Arrow Connector 80">
            <a:extLst>
              <a:ext uri="{FF2B5EF4-FFF2-40B4-BE49-F238E27FC236}">
                <a16:creationId xmlns:a16="http://schemas.microsoft.com/office/drawing/2014/main" id="{1A8F1A9E-F3D8-4B15-9599-FAE26DF59B53}"/>
              </a:ext>
            </a:extLst>
          </p:cNvPr>
          <p:cNvCxnSpPr>
            <a:cxnSpLocks/>
          </p:cNvCxnSpPr>
          <p:nvPr/>
        </p:nvCxnSpPr>
        <p:spPr bwMode="auto">
          <a:xfrm flipV="1">
            <a:off x="1591121" y="5221319"/>
            <a:ext cx="7157225" cy="1"/>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82" name="Straight Connector 81">
            <a:extLst>
              <a:ext uri="{FF2B5EF4-FFF2-40B4-BE49-F238E27FC236}">
                <a16:creationId xmlns:a16="http://schemas.microsoft.com/office/drawing/2014/main" id="{32787EFB-9842-49E0-AAEC-9858B5CC965B}"/>
              </a:ext>
            </a:extLst>
          </p:cNvPr>
          <p:cNvCxnSpPr>
            <a:cxnSpLocks/>
          </p:cNvCxnSpPr>
          <p:nvPr/>
        </p:nvCxnSpPr>
        <p:spPr bwMode="auto">
          <a:xfrm>
            <a:off x="1591121" y="3670943"/>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sp>
        <p:nvSpPr>
          <p:cNvPr id="83" name="TextBox 82">
            <a:extLst>
              <a:ext uri="{FF2B5EF4-FFF2-40B4-BE49-F238E27FC236}">
                <a16:creationId xmlns:a16="http://schemas.microsoft.com/office/drawing/2014/main" id="{568A4F7A-6232-4FCC-9DA7-34C606BC3FD2}"/>
              </a:ext>
            </a:extLst>
          </p:cNvPr>
          <p:cNvSpPr txBox="1"/>
          <p:nvPr/>
        </p:nvSpPr>
        <p:spPr>
          <a:xfrm>
            <a:off x="1441651" y="5248583"/>
            <a:ext cx="7539687" cy="369332"/>
          </a:xfrm>
          <a:prstGeom prst="rect">
            <a:avLst/>
          </a:prstGeom>
          <a:noFill/>
        </p:spPr>
        <p:txBody>
          <a:bodyPr wrap="square" rtlCol="0">
            <a:spAutoFit/>
          </a:bodyPr>
          <a:lstStyle/>
          <a:p>
            <a:r>
              <a:rPr lang="en-SG"/>
              <a:t>0	    6    8  10  12    14  17 19 20              26  28 30        34  36 38</a:t>
            </a:r>
          </a:p>
        </p:txBody>
      </p:sp>
      <p:cxnSp>
        <p:nvCxnSpPr>
          <p:cNvPr id="84" name="Straight Connector 83">
            <a:extLst>
              <a:ext uri="{FF2B5EF4-FFF2-40B4-BE49-F238E27FC236}">
                <a16:creationId xmlns:a16="http://schemas.microsoft.com/office/drawing/2014/main" id="{AA77D88D-3B51-45C0-9091-62E08CA0DD9B}"/>
              </a:ext>
            </a:extLst>
          </p:cNvPr>
          <p:cNvCxnSpPr/>
          <p:nvPr/>
        </p:nvCxnSpPr>
        <p:spPr bwMode="auto">
          <a:xfrm>
            <a:off x="5295865" y="476411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85" name="TextBox 84">
            <a:extLst>
              <a:ext uri="{FF2B5EF4-FFF2-40B4-BE49-F238E27FC236}">
                <a16:creationId xmlns:a16="http://schemas.microsoft.com/office/drawing/2014/main" id="{DE21D67F-0469-4430-8C6F-14B5648F998D}"/>
              </a:ext>
            </a:extLst>
          </p:cNvPr>
          <p:cNvSpPr txBox="1"/>
          <p:nvPr/>
        </p:nvSpPr>
        <p:spPr>
          <a:xfrm>
            <a:off x="233029" y="4854219"/>
            <a:ext cx="1035861" cy="276999"/>
          </a:xfrm>
          <a:prstGeom prst="rect">
            <a:avLst/>
          </a:prstGeom>
          <a:noFill/>
        </p:spPr>
        <p:txBody>
          <a:bodyPr wrap="none" rtlCol="0">
            <a:spAutoFit/>
          </a:bodyPr>
          <a:lstStyle/>
          <a:p>
            <a:pPr algn="ctr"/>
            <a:r>
              <a:rPr lang="en-SG" altLang="en-US" sz="1200" kern="0"/>
              <a:t>P</a:t>
            </a:r>
            <a:r>
              <a:rPr lang="en-SG" altLang="en-US" sz="1200" kern="0" baseline="-25000"/>
              <a:t>1</a:t>
            </a:r>
            <a:r>
              <a:rPr lang="en-SG" altLang="en-US" sz="1200" kern="0"/>
              <a:t>&lt;10,6,10&gt;</a:t>
            </a:r>
            <a:endParaRPr lang="en-SG" sz="1200"/>
          </a:p>
        </p:txBody>
      </p:sp>
      <p:sp>
        <p:nvSpPr>
          <p:cNvPr id="86" name="TextBox 85">
            <a:extLst>
              <a:ext uri="{FF2B5EF4-FFF2-40B4-BE49-F238E27FC236}">
                <a16:creationId xmlns:a16="http://schemas.microsoft.com/office/drawing/2014/main" id="{62E40227-A0C6-4377-9F13-AD0F24BAC64C}"/>
              </a:ext>
            </a:extLst>
          </p:cNvPr>
          <p:cNvSpPr txBox="1"/>
          <p:nvPr/>
        </p:nvSpPr>
        <p:spPr>
          <a:xfrm>
            <a:off x="233031" y="4346382"/>
            <a:ext cx="1035861" cy="276999"/>
          </a:xfrm>
          <a:prstGeom prst="rect">
            <a:avLst/>
          </a:prstGeom>
          <a:noFill/>
        </p:spPr>
        <p:txBody>
          <a:bodyPr wrap="none" rtlCol="0">
            <a:spAutoFit/>
          </a:bodyPr>
          <a:lstStyle/>
          <a:p>
            <a:pPr algn="ctr"/>
            <a:r>
              <a:rPr lang="en-SG" altLang="en-US" sz="1200" kern="0"/>
              <a:t>P</a:t>
            </a:r>
            <a:r>
              <a:rPr lang="en-SG" altLang="en-US" sz="1200" kern="0" baseline="-25000"/>
              <a:t>2</a:t>
            </a:r>
            <a:r>
              <a:rPr lang="en-SG" altLang="en-US" sz="1200" kern="0"/>
              <a:t>&lt;19,4,</a:t>
            </a:r>
            <a:r>
              <a:rPr lang="en-SG" altLang="en-US" sz="1200" kern="0">
                <a:solidFill>
                  <a:srgbClr val="FF0000"/>
                </a:solidFill>
              </a:rPr>
              <a:t>17</a:t>
            </a:r>
            <a:r>
              <a:rPr lang="en-SG" altLang="en-US" sz="1200" kern="0"/>
              <a:t>&gt;</a:t>
            </a:r>
            <a:endParaRPr lang="en-SG" sz="1200"/>
          </a:p>
        </p:txBody>
      </p:sp>
      <p:cxnSp>
        <p:nvCxnSpPr>
          <p:cNvPr id="87" name="Straight Connector 86">
            <a:extLst>
              <a:ext uri="{FF2B5EF4-FFF2-40B4-BE49-F238E27FC236}">
                <a16:creationId xmlns:a16="http://schemas.microsoft.com/office/drawing/2014/main" id="{2DB61ED4-59B4-42CA-8D4A-B4418F34D79D}"/>
              </a:ext>
            </a:extLst>
          </p:cNvPr>
          <p:cNvCxnSpPr/>
          <p:nvPr/>
        </p:nvCxnSpPr>
        <p:spPr bwMode="auto">
          <a:xfrm>
            <a:off x="3481357" y="475353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88" name="TextBox 87">
            <a:extLst>
              <a:ext uri="{FF2B5EF4-FFF2-40B4-BE49-F238E27FC236}">
                <a16:creationId xmlns:a16="http://schemas.microsoft.com/office/drawing/2014/main" id="{D622D3E1-2A92-4820-B165-38DF2A7AC05A}"/>
              </a:ext>
            </a:extLst>
          </p:cNvPr>
          <p:cNvSpPr txBox="1"/>
          <p:nvPr/>
        </p:nvSpPr>
        <p:spPr>
          <a:xfrm>
            <a:off x="233029" y="3761043"/>
            <a:ext cx="1035861" cy="276999"/>
          </a:xfrm>
          <a:prstGeom prst="rect">
            <a:avLst/>
          </a:prstGeom>
          <a:noFill/>
        </p:spPr>
        <p:txBody>
          <a:bodyPr wrap="none" rtlCol="0">
            <a:spAutoFit/>
          </a:bodyPr>
          <a:lstStyle/>
          <a:p>
            <a:pPr algn="ctr"/>
            <a:r>
              <a:rPr lang="en-SG" altLang="en-US" sz="1200" kern="0"/>
              <a:t>P</a:t>
            </a:r>
            <a:r>
              <a:rPr lang="en-SG" altLang="en-US" sz="1200" kern="0" baseline="-25000"/>
              <a:t>3</a:t>
            </a:r>
            <a:r>
              <a:rPr lang="en-SG" altLang="en-US" sz="1200" kern="0"/>
              <a:t>&lt;20,2,</a:t>
            </a:r>
            <a:r>
              <a:rPr lang="en-SG" altLang="en-US" sz="1200" kern="0">
                <a:solidFill>
                  <a:srgbClr val="FF0000"/>
                </a:solidFill>
              </a:rPr>
              <a:t>14</a:t>
            </a:r>
            <a:r>
              <a:rPr lang="en-SG" altLang="en-US" sz="1200" kern="0"/>
              <a:t>&gt;</a:t>
            </a:r>
            <a:endParaRPr lang="en-SG" sz="1200"/>
          </a:p>
        </p:txBody>
      </p:sp>
      <p:cxnSp>
        <p:nvCxnSpPr>
          <p:cNvPr id="89" name="Straight Arrow Connector 88">
            <a:extLst>
              <a:ext uri="{FF2B5EF4-FFF2-40B4-BE49-F238E27FC236}">
                <a16:creationId xmlns:a16="http://schemas.microsoft.com/office/drawing/2014/main" id="{15A658D4-B267-4CA3-87A9-7930D3995D2B}"/>
              </a:ext>
            </a:extLst>
          </p:cNvPr>
          <p:cNvCxnSpPr>
            <a:cxnSpLocks/>
          </p:cNvCxnSpPr>
          <p:nvPr/>
        </p:nvCxnSpPr>
        <p:spPr bwMode="auto">
          <a:xfrm flipV="1">
            <a:off x="1591121" y="4663100"/>
            <a:ext cx="7157225" cy="11632"/>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90" name="Straight Arrow Connector 89">
            <a:extLst>
              <a:ext uri="{FF2B5EF4-FFF2-40B4-BE49-F238E27FC236}">
                <a16:creationId xmlns:a16="http://schemas.microsoft.com/office/drawing/2014/main" id="{BD2CD6CE-1384-4750-BDFB-244CA1A4495A}"/>
              </a:ext>
            </a:extLst>
          </p:cNvPr>
          <p:cNvCxnSpPr>
            <a:cxnSpLocks/>
          </p:cNvCxnSpPr>
          <p:nvPr/>
        </p:nvCxnSpPr>
        <p:spPr bwMode="auto">
          <a:xfrm>
            <a:off x="1591121" y="4128143"/>
            <a:ext cx="7157225" cy="10580"/>
          </a:xfrm>
          <a:prstGeom prst="straightConnector1">
            <a:avLst/>
          </a:prstGeom>
          <a:solidFill>
            <a:schemeClr val="bg1"/>
          </a:solidFill>
          <a:ln w="25400" cap="flat" cmpd="sng" algn="ctr">
            <a:solidFill>
              <a:schemeClr val="tx1"/>
            </a:solidFill>
            <a:prstDash val="solid"/>
            <a:round/>
            <a:headEnd type="none" w="med" len="med"/>
            <a:tailEnd type="triangle"/>
          </a:ln>
          <a:effectLst/>
        </p:spPr>
      </p:cxnSp>
      <p:cxnSp>
        <p:nvCxnSpPr>
          <p:cNvPr id="91" name="Straight Connector 90">
            <a:extLst>
              <a:ext uri="{FF2B5EF4-FFF2-40B4-BE49-F238E27FC236}">
                <a16:creationId xmlns:a16="http://schemas.microsoft.com/office/drawing/2014/main" id="{98D21A07-AD1D-4699-BA4F-069297A81307}"/>
              </a:ext>
            </a:extLst>
          </p:cNvPr>
          <p:cNvCxnSpPr>
            <a:cxnSpLocks/>
          </p:cNvCxnSpPr>
          <p:nvPr/>
        </p:nvCxnSpPr>
        <p:spPr bwMode="auto">
          <a:xfrm>
            <a:off x="1591121" y="4217532"/>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92" name="Straight Connector 91">
            <a:extLst>
              <a:ext uri="{FF2B5EF4-FFF2-40B4-BE49-F238E27FC236}">
                <a16:creationId xmlns:a16="http://schemas.microsoft.com/office/drawing/2014/main" id="{5549B1DF-57FC-4170-AE22-3C19D40A9C76}"/>
              </a:ext>
            </a:extLst>
          </p:cNvPr>
          <p:cNvCxnSpPr>
            <a:cxnSpLocks/>
          </p:cNvCxnSpPr>
          <p:nvPr/>
        </p:nvCxnSpPr>
        <p:spPr bwMode="auto">
          <a:xfrm>
            <a:off x="1591121" y="4764120"/>
            <a:ext cx="0" cy="457200"/>
          </a:xfrm>
          <a:prstGeom prst="line">
            <a:avLst/>
          </a:prstGeom>
          <a:solidFill>
            <a:schemeClr val="bg1"/>
          </a:solidFill>
          <a:ln w="25400" cap="flat" cmpd="sng" algn="ctr">
            <a:solidFill>
              <a:schemeClr val="accent2"/>
            </a:solidFill>
            <a:prstDash val="solid"/>
            <a:round/>
            <a:headEnd type="arrow" w="med" len="med"/>
            <a:tailEnd type="none" w="med" len="med"/>
          </a:ln>
          <a:effectLst/>
        </p:spPr>
      </p:cxnSp>
      <p:cxnSp>
        <p:nvCxnSpPr>
          <p:cNvPr id="93" name="Straight Connector 92">
            <a:extLst>
              <a:ext uri="{FF2B5EF4-FFF2-40B4-BE49-F238E27FC236}">
                <a16:creationId xmlns:a16="http://schemas.microsoft.com/office/drawing/2014/main" id="{34447E78-C9FE-4BF5-B99E-AE80F29CE164}"/>
              </a:ext>
            </a:extLst>
          </p:cNvPr>
          <p:cNvCxnSpPr/>
          <p:nvPr/>
        </p:nvCxnSpPr>
        <p:spPr bwMode="auto">
          <a:xfrm>
            <a:off x="7128699" y="4753539"/>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94" name="Straight Connector 93">
            <a:extLst>
              <a:ext uri="{FF2B5EF4-FFF2-40B4-BE49-F238E27FC236}">
                <a16:creationId xmlns:a16="http://schemas.microsoft.com/office/drawing/2014/main" id="{18A326FA-4F85-4F86-9550-323D85B890B6}"/>
              </a:ext>
            </a:extLst>
          </p:cNvPr>
          <p:cNvCxnSpPr/>
          <p:nvPr/>
        </p:nvCxnSpPr>
        <p:spPr bwMode="auto">
          <a:xfrm>
            <a:off x="4792884" y="4217532"/>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95" name="Straight Connector 94">
            <a:extLst>
              <a:ext uri="{FF2B5EF4-FFF2-40B4-BE49-F238E27FC236}">
                <a16:creationId xmlns:a16="http://schemas.microsoft.com/office/drawing/2014/main" id="{34FC8148-CF84-470A-BBDC-A322C96E84CC}"/>
              </a:ext>
            </a:extLst>
          </p:cNvPr>
          <p:cNvCxnSpPr/>
          <p:nvPr/>
        </p:nvCxnSpPr>
        <p:spPr bwMode="auto">
          <a:xfrm>
            <a:off x="8312731" y="4217532"/>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96" name="Straight Connector 95">
            <a:extLst>
              <a:ext uri="{FF2B5EF4-FFF2-40B4-BE49-F238E27FC236}">
                <a16:creationId xmlns:a16="http://schemas.microsoft.com/office/drawing/2014/main" id="{D04A8BEA-DCE4-4244-B22A-558D27AA3FD7}"/>
              </a:ext>
            </a:extLst>
          </p:cNvPr>
          <p:cNvCxnSpPr/>
          <p:nvPr/>
        </p:nvCxnSpPr>
        <p:spPr bwMode="auto">
          <a:xfrm>
            <a:off x="4341897" y="3670942"/>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sp>
        <p:nvSpPr>
          <p:cNvPr id="97" name="Rectangle: Rounded Corners 96">
            <a:extLst>
              <a:ext uri="{FF2B5EF4-FFF2-40B4-BE49-F238E27FC236}">
                <a16:creationId xmlns:a16="http://schemas.microsoft.com/office/drawing/2014/main" id="{AC72325B-A414-4B08-A6E7-A825C5DC02A6}"/>
              </a:ext>
            </a:extLst>
          </p:cNvPr>
          <p:cNvSpPr/>
          <p:nvPr/>
        </p:nvSpPr>
        <p:spPr bwMode="auto">
          <a:xfrm>
            <a:off x="1591223" y="4930246"/>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99" name="Rectangle: Rounded Corners 98">
            <a:extLst>
              <a:ext uri="{FF2B5EF4-FFF2-40B4-BE49-F238E27FC236}">
                <a16:creationId xmlns:a16="http://schemas.microsoft.com/office/drawing/2014/main" id="{C566281E-1D6E-4CB7-B333-84FB969C6A0A}"/>
              </a:ext>
            </a:extLst>
          </p:cNvPr>
          <p:cNvSpPr/>
          <p:nvPr/>
        </p:nvSpPr>
        <p:spPr bwMode="auto">
          <a:xfrm>
            <a:off x="2768683" y="3841405"/>
            <a:ext cx="350838"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cxnSp>
        <p:nvCxnSpPr>
          <p:cNvPr id="100" name="Straight Connector 99">
            <a:extLst>
              <a:ext uri="{FF2B5EF4-FFF2-40B4-BE49-F238E27FC236}">
                <a16:creationId xmlns:a16="http://schemas.microsoft.com/office/drawing/2014/main" id="{6A76C619-72B9-413D-84C1-18CFE314DD41}"/>
              </a:ext>
            </a:extLst>
          </p:cNvPr>
          <p:cNvCxnSpPr>
            <a:cxnSpLocks/>
          </p:cNvCxnSpPr>
          <p:nvPr/>
        </p:nvCxnSpPr>
        <p:spPr bwMode="auto">
          <a:xfrm>
            <a:off x="5091368" y="4674732"/>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01" name="Straight Connector 100">
            <a:extLst>
              <a:ext uri="{FF2B5EF4-FFF2-40B4-BE49-F238E27FC236}">
                <a16:creationId xmlns:a16="http://schemas.microsoft.com/office/drawing/2014/main" id="{BD5989BF-4EC2-4AA6-B711-EA90F398ED9B}"/>
              </a:ext>
            </a:extLst>
          </p:cNvPr>
          <p:cNvCxnSpPr>
            <a:cxnSpLocks/>
          </p:cNvCxnSpPr>
          <p:nvPr/>
        </p:nvCxnSpPr>
        <p:spPr bwMode="auto">
          <a:xfrm>
            <a:off x="5282677" y="4139872"/>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02" name="Straight Connector 101">
            <a:extLst>
              <a:ext uri="{FF2B5EF4-FFF2-40B4-BE49-F238E27FC236}">
                <a16:creationId xmlns:a16="http://schemas.microsoft.com/office/drawing/2014/main" id="{CF85EB67-000E-4887-8F9A-A35715C3F9AC}"/>
              </a:ext>
            </a:extLst>
          </p:cNvPr>
          <p:cNvCxnSpPr>
            <a:cxnSpLocks/>
          </p:cNvCxnSpPr>
          <p:nvPr/>
        </p:nvCxnSpPr>
        <p:spPr bwMode="auto">
          <a:xfrm>
            <a:off x="2768683" y="4121898"/>
            <a:ext cx="0" cy="10825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103" name="Rectangle: Rounded Corners 102">
            <a:extLst>
              <a:ext uri="{FF2B5EF4-FFF2-40B4-BE49-F238E27FC236}">
                <a16:creationId xmlns:a16="http://schemas.microsoft.com/office/drawing/2014/main" id="{C12EA906-BB78-4C60-AA74-6F771506B298}"/>
              </a:ext>
            </a:extLst>
          </p:cNvPr>
          <p:cNvSpPr/>
          <p:nvPr/>
        </p:nvSpPr>
        <p:spPr bwMode="auto">
          <a:xfrm>
            <a:off x="3837229" y="4938324"/>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cxnSp>
        <p:nvCxnSpPr>
          <p:cNvPr id="104" name="Straight Connector 103">
            <a:extLst>
              <a:ext uri="{FF2B5EF4-FFF2-40B4-BE49-F238E27FC236}">
                <a16:creationId xmlns:a16="http://schemas.microsoft.com/office/drawing/2014/main" id="{DC147754-0415-4AE6-874B-C34264C58FAC}"/>
              </a:ext>
            </a:extLst>
          </p:cNvPr>
          <p:cNvCxnSpPr>
            <a:cxnSpLocks/>
          </p:cNvCxnSpPr>
          <p:nvPr/>
        </p:nvCxnSpPr>
        <p:spPr bwMode="auto">
          <a:xfrm>
            <a:off x="3119925" y="4138723"/>
            <a:ext cx="0" cy="10825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07" name="Straight Connector 106">
            <a:extLst>
              <a:ext uri="{FF2B5EF4-FFF2-40B4-BE49-F238E27FC236}">
                <a16:creationId xmlns:a16="http://schemas.microsoft.com/office/drawing/2014/main" id="{DA9FA285-CE19-479C-BC3D-EBE8D6F7CB01}"/>
              </a:ext>
            </a:extLst>
          </p:cNvPr>
          <p:cNvCxnSpPr/>
          <p:nvPr/>
        </p:nvCxnSpPr>
        <p:spPr bwMode="auto">
          <a:xfrm>
            <a:off x="7962863" y="3664698"/>
            <a:ext cx="0" cy="457200"/>
          </a:xfrm>
          <a:prstGeom prst="line">
            <a:avLst/>
          </a:prstGeom>
          <a:solidFill>
            <a:schemeClr val="bg1"/>
          </a:solidFill>
          <a:ln w="25400" cap="flat" cmpd="sng" algn="ctr">
            <a:solidFill>
              <a:srgbClr val="FF0000"/>
            </a:solidFill>
            <a:prstDash val="solid"/>
            <a:round/>
            <a:headEnd type="arrow" w="med" len="med"/>
            <a:tailEnd type="none" w="med" len="med"/>
          </a:ln>
          <a:effectLst/>
        </p:spPr>
      </p:cxnSp>
      <p:cxnSp>
        <p:nvCxnSpPr>
          <p:cNvPr id="108" name="Straight Connector 107">
            <a:extLst>
              <a:ext uri="{FF2B5EF4-FFF2-40B4-BE49-F238E27FC236}">
                <a16:creationId xmlns:a16="http://schemas.microsoft.com/office/drawing/2014/main" id="{C6D230B6-1F0E-428B-BCCF-B534DCBDFAD8}"/>
              </a:ext>
            </a:extLst>
          </p:cNvPr>
          <p:cNvCxnSpPr>
            <a:cxnSpLocks/>
          </p:cNvCxnSpPr>
          <p:nvPr/>
        </p:nvCxnSpPr>
        <p:spPr bwMode="auto">
          <a:xfrm>
            <a:off x="8611667" y="4651947"/>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
        <p:nvSpPr>
          <p:cNvPr id="110" name="Rectangle: Rounded Corners 109">
            <a:extLst>
              <a:ext uri="{FF2B5EF4-FFF2-40B4-BE49-F238E27FC236}">
                <a16:creationId xmlns:a16="http://schemas.microsoft.com/office/drawing/2014/main" id="{72BEB313-AD04-4377-9623-81BCA8973A9C}"/>
              </a:ext>
            </a:extLst>
          </p:cNvPr>
          <p:cNvSpPr/>
          <p:nvPr/>
        </p:nvSpPr>
        <p:spPr bwMode="auto">
          <a:xfrm>
            <a:off x="3124556" y="4385896"/>
            <a:ext cx="712673"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111" name="Rectangle: Rounded Corners 110">
            <a:extLst>
              <a:ext uri="{FF2B5EF4-FFF2-40B4-BE49-F238E27FC236}">
                <a16:creationId xmlns:a16="http://schemas.microsoft.com/office/drawing/2014/main" id="{0A66870E-FD7A-402D-B63C-8E80F0224769}"/>
              </a:ext>
            </a:extLst>
          </p:cNvPr>
          <p:cNvSpPr/>
          <p:nvPr/>
        </p:nvSpPr>
        <p:spPr bwMode="auto">
          <a:xfrm>
            <a:off x="6836886" y="4382607"/>
            <a:ext cx="512482"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2</a:t>
            </a:r>
            <a:endParaRPr kumimoji="0" lang="en-SG" sz="1400" b="0" i="0" u="none" strike="noStrike" cap="none" normalizeH="0" baseline="-25000">
              <a:ln>
                <a:noFill/>
              </a:ln>
              <a:solidFill>
                <a:schemeClr val="tx1"/>
              </a:solidFill>
              <a:effectLst/>
              <a:latin typeface="Helvetica" pitchFamily="34" charset="0"/>
            </a:endParaRPr>
          </a:p>
        </p:txBody>
      </p:sp>
      <p:sp>
        <p:nvSpPr>
          <p:cNvPr id="112" name="Rectangle: Rounded Corners 111">
            <a:extLst>
              <a:ext uri="{FF2B5EF4-FFF2-40B4-BE49-F238E27FC236}">
                <a16:creationId xmlns:a16="http://schemas.microsoft.com/office/drawing/2014/main" id="{F48901A0-7751-4010-B65F-63B2293F6708}"/>
              </a:ext>
            </a:extLst>
          </p:cNvPr>
          <p:cNvSpPr/>
          <p:nvPr/>
        </p:nvSpPr>
        <p:spPr bwMode="auto">
          <a:xfrm>
            <a:off x="5085099" y="4384252"/>
            <a:ext cx="197578" cy="280493"/>
          </a:xfrm>
          <a:prstGeom prst="roundRect">
            <a:avLst/>
          </a:prstGeom>
          <a:solidFill>
            <a:schemeClr val="accent5">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endParaRPr kumimoji="0" lang="en-SG" sz="1400" b="0" i="0" u="none" strike="noStrike" cap="none" normalizeH="0" baseline="-25000">
              <a:ln>
                <a:noFill/>
              </a:ln>
              <a:solidFill>
                <a:schemeClr val="tx1"/>
              </a:solidFill>
              <a:effectLst/>
              <a:latin typeface="Helvetica" pitchFamily="34" charset="0"/>
            </a:endParaRPr>
          </a:p>
        </p:txBody>
      </p:sp>
      <p:sp>
        <p:nvSpPr>
          <p:cNvPr id="113" name="Rectangle: Rounded Corners 112">
            <a:extLst>
              <a:ext uri="{FF2B5EF4-FFF2-40B4-BE49-F238E27FC236}">
                <a16:creationId xmlns:a16="http://schemas.microsoft.com/office/drawing/2014/main" id="{AFF6569F-3DA1-4385-A0A0-70195492708E}"/>
              </a:ext>
            </a:extLst>
          </p:cNvPr>
          <p:cNvSpPr/>
          <p:nvPr/>
        </p:nvSpPr>
        <p:spPr bwMode="auto">
          <a:xfrm>
            <a:off x="5302357" y="4937342"/>
            <a:ext cx="1177864" cy="280493"/>
          </a:xfrm>
          <a:prstGeom prst="roundRect">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kumimoji="0" lang="en-SG" sz="1400" b="0" i="0" u="none" strike="noStrike" cap="none" normalizeH="0" baseline="-25000">
                <a:ln>
                  <a:noFill/>
                </a:ln>
                <a:solidFill>
                  <a:schemeClr val="tx1"/>
                </a:solidFill>
                <a:effectLst/>
                <a:latin typeface="Helvetica" pitchFamily="34" charset="0"/>
              </a:rPr>
              <a:t>1</a:t>
            </a:r>
          </a:p>
        </p:txBody>
      </p:sp>
      <p:sp>
        <p:nvSpPr>
          <p:cNvPr id="114" name="Rectangle: Rounded Corners 113">
            <a:extLst>
              <a:ext uri="{FF2B5EF4-FFF2-40B4-BE49-F238E27FC236}">
                <a16:creationId xmlns:a16="http://schemas.microsoft.com/office/drawing/2014/main" id="{EA926EFE-A0CC-4044-9BAC-6DAAFA9BB5AB}"/>
              </a:ext>
            </a:extLst>
          </p:cNvPr>
          <p:cNvSpPr/>
          <p:nvPr/>
        </p:nvSpPr>
        <p:spPr bwMode="auto">
          <a:xfrm>
            <a:off x="6486048" y="3843651"/>
            <a:ext cx="350838" cy="280493"/>
          </a:xfrm>
          <a:prstGeom prst="roundRect">
            <a:avLst/>
          </a:prstGeom>
          <a:solidFill>
            <a:srgbClr val="EECCD2"/>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SG" sz="1400" b="0" i="0" u="none" strike="noStrike" cap="none" normalizeH="0" baseline="0">
                <a:ln>
                  <a:noFill/>
                </a:ln>
                <a:solidFill>
                  <a:schemeClr val="tx1"/>
                </a:solidFill>
                <a:effectLst/>
                <a:latin typeface="Helvetica" pitchFamily="34" charset="0"/>
              </a:rPr>
              <a:t>P</a:t>
            </a:r>
            <a:r>
              <a:rPr lang="en-SG" sz="1400" baseline="-25000"/>
              <a:t>3</a:t>
            </a:r>
            <a:endParaRPr kumimoji="0" lang="en-SG" sz="1400" b="0" i="0" u="none" strike="noStrike" cap="none" normalizeH="0" baseline="-25000">
              <a:ln>
                <a:noFill/>
              </a:ln>
              <a:solidFill>
                <a:schemeClr val="tx1"/>
              </a:solidFill>
              <a:effectLst/>
              <a:latin typeface="Helvetica" pitchFamily="34" charset="0"/>
            </a:endParaRPr>
          </a:p>
        </p:txBody>
      </p:sp>
      <p:cxnSp>
        <p:nvCxnSpPr>
          <p:cNvPr id="115" name="Straight Connector 114">
            <a:extLst>
              <a:ext uri="{FF2B5EF4-FFF2-40B4-BE49-F238E27FC236}">
                <a16:creationId xmlns:a16="http://schemas.microsoft.com/office/drawing/2014/main" id="{9643E11D-D889-415D-AD83-3942BADB520C}"/>
              </a:ext>
            </a:extLst>
          </p:cNvPr>
          <p:cNvCxnSpPr>
            <a:cxnSpLocks/>
          </p:cNvCxnSpPr>
          <p:nvPr/>
        </p:nvCxnSpPr>
        <p:spPr bwMode="auto">
          <a:xfrm>
            <a:off x="3837229" y="4682503"/>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16" name="Straight Connector 115">
            <a:extLst>
              <a:ext uri="{FF2B5EF4-FFF2-40B4-BE49-F238E27FC236}">
                <a16:creationId xmlns:a16="http://schemas.microsoft.com/office/drawing/2014/main" id="{2118E855-D2B7-4AC0-9A8A-12C713514EC3}"/>
              </a:ext>
            </a:extLst>
          </p:cNvPr>
          <p:cNvCxnSpPr>
            <a:cxnSpLocks/>
          </p:cNvCxnSpPr>
          <p:nvPr/>
        </p:nvCxnSpPr>
        <p:spPr bwMode="auto">
          <a:xfrm flipH="1">
            <a:off x="6486048" y="4175919"/>
            <a:ext cx="4652" cy="1062263"/>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17" name="Straight Connector 116">
            <a:extLst>
              <a:ext uri="{FF2B5EF4-FFF2-40B4-BE49-F238E27FC236}">
                <a16:creationId xmlns:a16="http://schemas.microsoft.com/office/drawing/2014/main" id="{8D5816F1-63C2-4359-A795-D0A262B2D998}"/>
              </a:ext>
            </a:extLst>
          </p:cNvPr>
          <p:cNvCxnSpPr>
            <a:cxnSpLocks/>
          </p:cNvCxnSpPr>
          <p:nvPr/>
        </p:nvCxnSpPr>
        <p:spPr bwMode="auto">
          <a:xfrm flipH="1">
            <a:off x="6832233" y="4135890"/>
            <a:ext cx="4652" cy="1062263"/>
          </a:xfrm>
          <a:prstGeom prst="line">
            <a:avLst/>
          </a:prstGeom>
          <a:solidFill>
            <a:schemeClr val="bg1"/>
          </a:solidFill>
          <a:ln w="19050" cap="flat" cmpd="sng" algn="ctr">
            <a:solidFill>
              <a:schemeClr val="tx1"/>
            </a:solidFill>
            <a:prstDash val="dash"/>
            <a:round/>
            <a:headEnd type="none" w="med" len="med"/>
            <a:tailEnd type="none" w="med" len="med"/>
          </a:ln>
          <a:effectLst/>
        </p:spPr>
      </p:cxnSp>
      <p:cxnSp>
        <p:nvCxnSpPr>
          <p:cNvPr id="118" name="Straight Connector 117">
            <a:extLst>
              <a:ext uri="{FF2B5EF4-FFF2-40B4-BE49-F238E27FC236}">
                <a16:creationId xmlns:a16="http://schemas.microsoft.com/office/drawing/2014/main" id="{7410E62F-C455-423F-ACDE-788D63B8D8D2}"/>
              </a:ext>
            </a:extLst>
          </p:cNvPr>
          <p:cNvCxnSpPr>
            <a:cxnSpLocks/>
          </p:cNvCxnSpPr>
          <p:nvPr/>
        </p:nvCxnSpPr>
        <p:spPr bwMode="auto">
          <a:xfrm>
            <a:off x="8312731" y="4651947"/>
            <a:ext cx="0" cy="548496"/>
          </a:xfrm>
          <a:prstGeom prst="line">
            <a:avLst/>
          </a:prstGeom>
          <a:solidFill>
            <a:schemeClr val="bg1"/>
          </a:solidFill>
          <a:ln w="19050" cap="flat" cmpd="sng" algn="ctr">
            <a:solidFill>
              <a:schemeClr val="tx1"/>
            </a:solidFill>
            <a:prstDash val="dash"/>
            <a:round/>
            <a:headEnd type="none" w="med" len="med"/>
            <a:tailEnd type="none" w="med" len="med"/>
          </a:ln>
          <a:effectLst/>
        </p:spPr>
      </p:cxnSp>
    </p:spTree>
    <p:extLst>
      <p:ext uri="{BB962C8B-B14F-4D97-AF65-F5344CB8AC3E}">
        <p14:creationId xmlns:p14="http://schemas.microsoft.com/office/powerpoint/2010/main" val="1739787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circle(in)">
                                      <p:cBhvr>
                                        <p:cTn id="7" dur="2000"/>
                                        <p:tgtEl>
                                          <p:spTgt spid="102"/>
                                        </p:tgtEl>
                                      </p:cBhvr>
                                    </p:animEffect>
                                  </p:childTnLst>
                                </p:cTn>
                              </p:par>
                              <p:par>
                                <p:cTn id="8" presetID="6" presetClass="entr" presetSubtype="16" fill="hold" grpId="0" nodeType="withEffect">
                                  <p:stCondLst>
                                    <p:cond delay="0"/>
                                  </p:stCondLst>
                                  <p:childTnLst>
                                    <p:set>
                                      <p:cBhvr>
                                        <p:cTn id="9" dur="1" fill="hold">
                                          <p:stCondLst>
                                            <p:cond delay="0"/>
                                          </p:stCondLst>
                                        </p:cTn>
                                        <p:tgtEl>
                                          <p:spTgt spid="99"/>
                                        </p:tgtEl>
                                        <p:attrNameLst>
                                          <p:attrName>style.visibility</p:attrName>
                                        </p:attrNameLst>
                                      </p:cBhvr>
                                      <p:to>
                                        <p:strVal val="visible"/>
                                      </p:to>
                                    </p:set>
                                    <p:animEffect transition="in" filter="circle(in)">
                                      <p:cBhvr>
                                        <p:cTn id="10" dur="2000"/>
                                        <p:tgtEl>
                                          <p:spTgt spid="99"/>
                                        </p:tgtEl>
                                      </p:cBhvr>
                                    </p:animEffect>
                                  </p:childTnLst>
                                </p:cTn>
                              </p:par>
                            </p:childTnLst>
                          </p:cTn>
                        </p:par>
                      </p:childTnLst>
                    </p:cTn>
                  </p:par>
                  <p:par>
                    <p:cTn id="11" fill="hold">
                      <p:stCondLst>
                        <p:cond delay="indefinite"/>
                      </p:stCondLst>
                      <p:childTnLst>
                        <p:par>
                          <p:cTn id="12" fill="hold">
                            <p:stCondLst>
                              <p:cond delay="0"/>
                            </p:stCondLst>
                            <p:childTnLst>
                              <p:par>
                                <p:cTn id="13" presetID="6" presetClass="entr" presetSubtype="16" fill="hold" grpId="0" nodeType="click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circle(in)">
                                      <p:cBhvr>
                                        <p:cTn id="15" dur="2000"/>
                                        <p:tgtEl>
                                          <p:spTgt spid="110"/>
                                        </p:tgtEl>
                                      </p:cBhvr>
                                    </p:animEffect>
                                  </p:childTnLst>
                                </p:cTn>
                              </p:par>
                              <p:par>
                                <p:cTn id="16" presetID="6" presetClass="entr" presetSubtype="16" fill="hold" nodeType="withEffect">
                                  <p:stCondLst>
                                    <p:cond delay="0"/>
                                  </p:stCondLst>
                                  <p:childTnLst>
                                    <p:set>
                                      <p:cBhvr>
                                        <p:cTn id="17" dur="1" fill="hold">
                                          <p:stCondLst>
                                            <p:cond delay="0"/>
                                          </p:stCondLst>
                                        </p:cTn>
                                        <p:tgtEl>
                                          <p:spTgt spid="104"/>
                                        </p:tgtEl>
                                        <p:attrNameLst>
                                          <p:attrName>style.visibility</p:attrName>
                                        </p:attrNameLst>
                                      </p:cBhvr>
                                      <p:to>
                                        <p:strVal val="visible"/>
                                      </p:to>
                                    </p:set>
                                    <p:animEffect transition="in" filter="circle(in)">
                                      <p:cBhvr>
                                        <p:cTn id="18" dur="2000"/>
                                        <p:tgtEl>
                                          <p:spTgt spid="104"/>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15"/>
                                        </p:tgtEl>
                                        <p:attrNameLst>
                                          <p:attrName>style.visibility</p:attrName>
                                        </p:attrNameLst>
                                      </p:cBhvr>
                                      <p:to>
                                        <p:strVal val="visible"/>
                                      </p:to>
                                    </p:set>
                                    <p:animEffect transition="in" filter="circle(in)">
                                      <p:cBhvr>
                                        <p:cTn id="23" dur="2000"/>
                                        <p:tgtEl>
                                          <p:spTgt spid="115"/>
                                        </p:tgtEl>
                                      </p:cBhvr>
                                    </p:animEffect>
                                  </p:childTnLst>
                                </p:cTn>
                              </p:par>
                              <p:par>
                                <p:cTn id="24" presetID="6" presetClass="entr" presetSubtype="16" fill="hold" grpId="0" nodeType="withEffect">
                                  <p:stCondLst>
                                    <p:cond delay="0"/>
                                  </p:stCondLst>
                                  <p:childTnLst>
                                    <p:set>
                                      <p:cBhvr>
                                        <p:cTn id="25" dur="1" fill="hold">
                                          <p:stCondLst>
                                            <p:cond delay="0"/>
                                          </p:stCondLst>
                                        </p:cTn>
                                        <p:tgtEl>
                                          <p:spTgt spid="103"/>
                                        </p:tgtEl>
                                        <p:attrNameLst>
                                          <p:attrName>style.visibility</p:attrName>
                                        </p:attrNameLst>
                                      </p:cBhvr>
                                      <p:to>
                                        <p:strVal val="visible"/>
                                      </p:to>
                                    </p:set>
                                    <p:animEffect transition="in" filter="circle(in)">
                                      <p:cBhvr>
                                        <p:cTn id="26" dur="2000"/>
                                        <p:tgtEl>
                                          <p:spTgt spid="103"/>
                                        </p:tgtEl>
                                      </p:cBhvr>
                                    </p:animEffect>
                                  </p:childTnLst>
                                </p:cTn>
                              </p:par>
                              <p:par>
                                <p:cTn id="27" presetID="6" presetClass="entr" presetSubtype="16" fill="hold" grpId="0" nodeType="withEffect">
                                  <p:stCondLst>
                                    <p:cond delay="0"/>
                                  </p:stCondLst>
                                  <p:childTnLst>
                                    <p:set>
                                      <p:cBhvr>
                                        <p:cTn id="28" dur="1" fill="hold">
                                          <p:stCondLst>
                                            <p:cond delay="0"/>
                                          </p:stCondLst>
                                        </p:cTn>
                                        <p:tgtEl>
                                          <p:spTgt spid="112"/>
                                        </p:tgtEl>
                                        <p:attrNameLst>
                                          <p:attrName>style.visibility</p:attrName>
                                        </p:attrNameLst>
                                      </p:cBhvr>
                                      <p:to>
                                        <p:strVal val="visible"/>
                                      </p:to>
                                    </p:set>
                                    <p:animEffect transition="in" filter="circle(in)">
                                      <p:cBhvr>
                                        <p:cTn id="29" dur="2000"/>
                                        <p:tgtEl>
                                          <p:spTgt spid="112"/>
                                        </p:tgtEl>
                                      </p:cBhvr>
                                    </p:animEffect>
                                  </p:childTnLst>
                                </p:cTn>
                              </p:par>
                              <p:par>
                                <p:cTn id="30" presetID="6" presetClass="entr" presetSubtype="16" fill="hold" grpId="0" nodeType="withEffect">
                                  <p:stCondLst>
                                    <p:cond delay="0"/>
                                  </p:stCondLst>
                                  <p:childTnLst>
                                    <p:set>
                                      <p:cBhvr>
                                        <p:cTn id="31" dur="1" fill="hold">
                                          <p:stCondLst>
                                            <p:cond delay="0"/>
                                          </p:stCondLst>
                                        </p:cTn>
                                        <p:tgtEl>
                                          <p:spTgt spid="113"/>
                                        </p:tgtEl>
                                        <p:attrNameLst>
                                          <p:attrName>style.visibility</p:attrName>
                                        </p:attrNameLst>
                                      </p:cBhvr>
                                      <p:to>
                                        <p:strVal val="visible"/>
                                      </p:to>
                                    </p:set>
                                    <p:animEffect transition="in" filter="circle(in)">
                                      <p:cBhvr>
                                        <p:cTn id="32" dur="2000"/>
                                        <p:tgtEl>
                                          <p:spTgt spid="113"/>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16"/>
                                        </p:tgtEl>
                                        <p:attrNameLst>
                                          <p:attrName>style.visibility</p:attrName>
                                        </p:attrNameLst>
                                      </p:cBhvr>
                                      <p:to>
                                        <p:strVal val="visible"/>
                                      </p:to>
                                    </p:set>
                                    <p:animEffect transition="in" filter="circle(in)">
                                      <p:cBhvr>
                                        <p:cTn id="37" dur="2000"/>
                                        <p:tgtEl>
                                          <p:spTgt spid="116"/>
                                        </p:tgtEl>
                                      </p:cBhvr>
                                    </p:animEffect>
                                  </p:childTnLst>
                                </p:cTn>
                              </p:par>
                              <p:par>
                                <p:cTn id="38" presetID="6" presetClass="entr" presetSubtype="16" fill="hold" grpId="0" nodeType="withEffect">
                                  <p:stCondLst>
                                    <p:cond delay="0"/>
                                  </p:stCondLst>
                                  <p:childTnLst>
                                    <p:set>
                                      <p:cBhvr>
                                        <p:cTn id="39" dur="1" fill="hold">
                                          <p:stCondLst>
                                            <p:cond delay="0"/>
                                          </p:stCondLst>
                                        </p:cTn>
                                        <p:tgtEl>
                                          <p:spTgt spid="114"/>
                                        </p:tgtEl>
                                        <p:attrNameLst>
                                          <p:attrName>style.visibility</p:attrName>
                                        </p:attrNameLst>
                                      </p:cBhvr>
                                      <p:to>
                                        <p:strVal val="visible"/>
                                      </p:to>
                                    </p:set>
                                    <p:animEffect transition="in" filter="circle(in)">
                                      <p:cBhvr>
                                        <p:cTn id="40" dur="2000"/>
                                        <p:tgtEl>
                                          <p:spTgt spid="114"/>
                                        </p:tgtEl>
                                      </p:cBhvr>
                                    </p:animEffect>
                                  </p:childTnLst>
                                </p:cTn>
                              </p:par>
                              <p:par>
                                <p:cTn id="41" presetID="6" presetClass="entr" presetSubtype="16" fill="hold" nodeType="withEffect">
                                  <p:stCondLst>
                                    <p:cond delay="0"/>
                                  </p:stCondLst>
                                  <p:childTnLst>
                                    <p:set>
                                      <p:cBhvr>
                                        <p:cTn id="42" dur="1" fill="hold">
                                          <p:stCondLst>
                                            <p:cond delay="0"/>
                                          </p:stCondLst>
                                        </p:cTn>
                                        <p:tgtEl>
                                          <p:spTgt spid="117"/>
                                        </p:tgtEl>
                                        <p:attrNameLst>
                                          <p:attrName>style.visibility</p:attrName>
                                        </p:attrNameLst>
                                      </p:cBhvr>
                                      <p:to>
                                        <p:strVal val="visible"/>
                                      </p:to>
                                    </p:set>
                                    <p:animEffect transition="in" filter="circle(in)">
                                      <p:cBhvr>
                                        <p:cTn id="43" dur="2000"/>
                                        <p:tgtEl>
                                          <p:spTgt spid="117"/>
                                        </p:tgtEl>
                                      </p:cBhvr>
                                    </p:animEffect>
                                  </p:childTnLst>
                                </p:cTn>
                              </p:par>
                              <p:par>
                                <p:cTn id="44" presetID="6" presetClass="entr" presetSubtype="16" fill="hold" grpId="0" nodeType="withEffect">
                                  <p:stCondLst>
                                    <p:cond delay="0"/>
                                  </p:stCondLst>
                                  <p:childTnLst>
                                    <p:set>
                                      <p:cBhvr>
                                        <p:cTn id="45" dur="1" fill="hold">
                                          <p:stCondLst>
                                            <p:cond delay="0"/>
                                          </p:stCondLst>
                                        </p:cTn>
                                        <p:tgtEl>
                                          <p:spTgt spid="111"/>
                                        </p:tgtEl>
                                        <p:attrNameLst>
                                          <p:attrName>style.visibility</p:attrName>
                                        </p:attrNameLst>
                                      </p:cBhvr>
                                      <p:to>
                                        <p:strVal val="visible"/>
                                      </p:to>
                                    </p:set>
                                    <p:animEffect transition="in" filter="circle(in)">
                                      <p:cBhvr>
                                        <p:cTn id="46" dur="2000"/>
                                        <p:tgtEl>
                                          <p:spTgt spid="111"/>
                                        </p:tgtEl>
                                      </p:cBhvr>
                                    </p:animEffec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animBg="1"/>
      <p:bldP spid="103" grpId="0" animBg="1"/>
      <p:bldP spid="110" grpId="0" animBg="1"/>
      <p:bldP spid="111" grpId="0" animBg="1"/>
      <p:bldP spid="112" grpId="0" animBg="1"/>
      <p:bldP spid="113" grpId="0" animBg="1"/>
      <p:bldP spid="11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0728A-AED8-E944-1D39-4CEA12A80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5E7F54-1DD8-7BBA-C64C-A333F6F49A78}"/>
              </a:ext>
            </a:extLst>
          </p:cNvPr>
          <p:cNvSpPr>
            <a:spLocks noGrp="1"/>
          </p:cNvSpPr>
          <p:nvPr>
            <p:ph type="title"/>
          </p:nvPr>
        </p:nvSpPr>
        <p:spPr/>
        <p:txBody>
          <a:bodyPr/>
          <a:lstStyle/>
          <a:p>
            <a:r>
              <a:rPr lang="en-US" dirty="0"/>
              <a:t>Check Your Understanding </a:t>
            </a:r>
          </a:p>
        </p:txBody>
      </p:sp>
      <p:sp>
        <p:nvSpPr>
          <p:cNvPr id="4" name="Footer Placeholder 3">
            <a:extLst>
              <a:ext uri="{FF2B5EF4-FFF2-40B4-BE49-F238E27FC236}">
                <a16:creationId xmlns:a16="http://schemas.microsoft.com/office/drawing/2014/main" id="{D563C6A9-0C74-68A7-C6ED-2CE97182DAD3}"/>
              </a:ext>
            </a:extLst>
          </p:cNvPr>
          <p:cNvSpPr>
            <a:spLocks noGrp="1"/>
          </p:cNvSpPr>
          <p:nvPr>
            <p:ph type="ftr" sz="quarter" idx="10"/>
          </p:nvPr>
        </p:nvSpPr>
        <p:spPr/>
        <p:txBody>
          <a:bodyPr/>
          <a:lstStyle/>
          <a:p>
            <a:pPr>
              <a:defRPr/>
            </a:pPr>
            <a:r>
              <a:rPr lang="en-US"/>
              <a:t>Operating Systems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7" name="Add-in 6">
                <a:extLst>
                  <a:ext uri="{FF2B5EF4-FFF2-40B4-BE49-F238E27FC236}">
                    <a16:creationId xmlns:a16="http://schemas.microsoft.com/office/drawing/2014/main" id="{C98BA0AE-E4EB-B370-5BF1-5D3E54BBACCB}"/>
                  </a:ext>
                </a:extLst>
              </p:cNvPr>
              <p:cNvGraphicFramePr>
                <a:graphicFrameLocks noGrp="1"/>
              </p:cNvGraphicFramePr>
              <p:nvPr>
                <p:extLst>
                  <p:ext uri="{D42A27DB-BD31-4B8C-83A1-F6EECF244321}">
                    <p14:modId xmlns:p14="http://schemas.microsoft.com/office/powerpoint/2010/main" val="1393315512"/>
                  </p:ext>
                </p:extLst>
              </p:nvPr>
            </p:nvGraphicFramePr>
            <p:xfrm>
              <a:off x="0" y="1235463"/>
              <a:ext cx="9144000" cy="4659607"/>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7" name="Add-in 6">
                <a:extLst>
                  <a:ext uri="{FF2B5EF4-FFF2-40B4-BE49-F238E27FC236}">
                    <a16:creationId xmlns:a16="http://schemas.microsoft.com/office/drawing/2014/main" id="{C98BA0AE-E4EB-B370-5BF1-5D3E54BBACCB}"/>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0" y="1235463"/>
                <a:ext cx="9144000" cy="4659607"/>
              </a:xfrm>
              <a:prstGeom prst="rect">
                <a:avLst/>
              </a:prstGeom>
            </p:spPr>
          </p:pic>
        </mc:Fallback>
      </mc:AlternateContent>
    </p:spTree>
    <p:extLst>
      <p:ext uri="{BB962C8B-B14F-4D97-AF65-F5344CB8AC3E}">
        <p14:creationId xmlns:p14="http://schemas.microsoft.com/office/powerpoint/2010/main" val="2003194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012FB2-AAA9-4B69-89A6-E6FC79BAF5A3}"/>
              </a:ext>
            </a:extLst>
          </p:cNvPr>
          <p:cNvSpPr>
            <a:spLocks noGrp="1"/>
          </p:cNvSpPr>
          <p:nvPr>
            <p:ph type="title"/>
          </p:nvPr>
        </p:nvSpPr>
        <p:spPr/>
        <p:txBody>
          <a:bodyPr/>
          <a:lstStyle/>
          <a:p>
            <a:r>
              <a:rPr lang="en-SG" sz="2800" dirty="0"/>
              <a:t>RM/DM versus EDF</a:t>
            </a:r>
          </a:p>
        </p:txBody>
      </p:sp>
      <p:sp>
        <p:nvSpPr>
          <p:cNvPr id="4" name="Footer Placeholder 3">
            <a:extLst>
              <a:ext uri="{FF2B5EF4-FFF2-40B4-BE49-F238E27FC236}">
                <a16:creationId xmlns:a16="http://schemas.microsoft.com/office/drawing/2014/main" id="{853FC081-B045-4F48-8B31-8DB626B0995C}"/>
              </a:ext>
            </a:extLst>
          </p:cNvPr>
          <p:cNvSpPr>
            <a:spLocks noGrp="1"/>
          </p:cNvSpPr>
          <p:nvPr>
            <p:ph type="ftr" sz="quarter" idx="10"/>
          </p:nvPr>
        </p:nvSpPr>
        <p:spPr/>
        <p:txBody>
          <a:bodyPr/>
          <a:lstStyle/>
          <a:p>
            <a:pPr>
              <a:defRPr/>
            </a:pPr>
            <a:r>
              <a:rPr lang="en-US"/>
              <a:t>Operating Systems</a:t>
            </a:r>
          </a:p>
        </p:txBody>
      </p:sp>
      <p:sp>
        <p:nvSpPr>
          <p:cNvPr id="5" name="Rectangle 3">
            <a:extLst>
              <a:ext uri="{FF2B5EF4-FFF2-40B4-BE49-F238E27FC236}">
                <a16:creationId xmlns:a16="http://schemas.microsoft.com/office/drawing/2014/main" id="{262D85BB-C21B-4469-BE55-796C23EE5E2E}"/>
              </a:ext>
            </a:extLst>
          </p:cNvPr>
          <p:cNvSpPr txBox="1">
            <a:spLocks noChangeArrowheads="1"/>
          </p:cNvSpPr>
          <p:nvPr/>
        </p:nvSpPr>
        <p:spPr bwMode="auto">
          <a:xfrm>
            <a:off x="253940" y="1995161"/>
            <a:ext cx="4143252" cy="162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dirty="0">
                <a:solidFill>
                  <a:schemeClr val="accent2"/>
                </a:solidFill>
              </a:rPr>
              <a:t>Simpler implementation </a:t>
            </a:r>
            <a:r>
              <a:rPr lang="en-SG" altLang="en-US" sz="2400" kern="0" dirty="0"/>
              <a:t>(separate queue for each recurrent process)</a:t>
            </a:r>
          </a:p>
          <a:p>
            <a:endParaRPr lang="en-SG" altLang="en-US" sz="2400" kern="0" dirty="0"/>
          </a:p>
          <a:p>
            <a:r>
              <a:rPr lang="en-SG" altLang="en-US" sz="2800" kern="0" dirty="0">
                <a:solidFill>
                  <a:schemeClr val="accent2"/>
                </a:solidFill>
              </a:rPr>
              <a:t>Predictability for high priority processes, even under high load</a:t>
            </a:r>
          </a:p>
        </p:txBody>
      </p:sp>
      <p:sp>
        <p:nvSpPr>
          <p:cNvPr id="48" name="Rectangle 3">
            <a:extLst>
              <a:ext uri="{FF2B5EF4-FFF2-40B4-BE49-F238E27FC236}">
                <a16:creationId xmlns:a16="http://schemas.microsoft.com/office/drawing/2014/main" id="{14461424-E431-4A88-9612-6C765F0DD32F}"/>
              </a:ext>
            </a:extLst>
          </p:cNvPr>
          <p:cNvSpPr txBox="1">
            <a:spLocks noChangeArrowheads="1"/>
          </p:cNvSpPr>
          <p:nvPr/>
        </p:nvSpPr>
        <p:spPr bwMode="auto">
          <a:xfrm>
            <a:off x="4746809" y="1995161"/>
            <a:ext cx="4194968" cy="1628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eaLnBrk="0" fontAlgn="base" hangingPunct="0">
              <a:spcBef>
                <a:spcPct val="50000"/>
              </a:spcBef>
              <a:spcAft>
                <a:spcPct val="0"/>
              </a:spcAft>
              <a:buSzPct val="140000"/>
              <a:buChar char="•"/>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a:solidFill>
                  <a:schemeClr val="tx1"/>
                </a:solidFill>
                <a:latin typeface="+mn-lt"/>
              </a:defRPr>
            </a:lvl2pPr>
            <a:lvl3pPr marL="1143000" indent="-228600" algn="l" rtl="0" eaLnBrk="0" fontAlgn="base" hangingPunct="0">
              <a:spcBef>
                <a:spcPct val="20000"/>
              </a:spcBef>
              <a:spcAft>
                <a:spcPct val="0"/>
              </a:spcAft>
              <a:buSzPct val="85000"/>
              <a:buFont typeface="Monotype Sorts" pitchFamily="2" charset="2"/>
              <a:buChar char="T"/>
              <a:defRPr>
                <a:solidFill>
                  <a:schemeClr val="tx1"/>
                </a:solidFill>
                <a:latin typeface="+mn-lt"/>
              </a:defRPr>
            </a:lvl3pPr>
            <a:lvl4pPr marL="1600200" indent="-228600" algn="l" rtl="0" eaLnBrk="0" fontAlgn="base" hangingPunct="0">
              <a:spcBef>
                <a:spcPct val="20000"/>
              </a:spcBef>
              <a:spcAft>
                <a:spcPct val="0"/>
              </a:spcAft>
              <a:buChar char="–"/>
              <a:defRPr>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eaLnBrk="0" fontAlgn="base" hangingPunct="0">
              <a:spcBef>
                <a:spcPct val="20000"/>
              </a:spcBef>
              <a:spcAft>
                <a:spcPct val="0"/>
              </a:spcAft>
              <a:buChar char="»"/>
              <a:defRPr sz="1200">
                <a:solidFill>
                  <a:schemeClr val="tx1"/>
                </a:solidFill>
                <a:latin typeface="+mn-lt"/>
              </a:defRPr>
            </a:lvl6pPr>
            <a:lvl7pPr marL="2971800" indent="-228600" algn="l" rtl="0" eaLnBrk="0" fontAlgn="base" hangingPunct="0">
              <a:spcBef>
                <a:spcPct val="20000"/>
              </a:spcBef>
              <a:spcAft>
                <a:spcPct val="0"/>
              </a:spcAft>
              <a:buChar char="»"/>
              <a:defRPr sz="1200">
                <a:solidFill>
                  <a:schemeClr val="tx1"/>
                </a:solidFill>
                <a:latin typeface="+mn-lt"/>
              </a:defRPr>
            </a:lvl7pPr>
            <a:lvl8pPr marL="3429000" indent="-228600" algn="l" rtl="0" eaLnBrk="0" fontAlgn="base" hangingPunct="0">
              <a:spcBef>
                <a:spcPct val="20000"/>
              </a:spcBef>
              <a:spcAft>
                <a:spcPct val="0"/>
              </a:spcAft>
              <a:buChar char="»"/>
              <a:defRPr sz="1200">
                <a:solidFill>
                  <a:schemeClr val="tx1"/>
                </a:solidFill>
                <a:latin typeface="+mn-lt"/>
              </a:defRPr>
            </a:lvl8pPr>
            <a:lvl9pPr marL="3886200" indent="-228600" algn="l" rtl="0" eaLnBrk="0" fontAlgn="base" hangingPunct="0">
              <a:spcBef>
                <a:spcPct val="20000"/>
              </a:spcBef>
              <a:spcAft>
                <a:spcPct val="0"/>
              </a:spcAft>
              <a:buChar char="»"/>
              <a:defRPr sz="1200">
                <a:solidFill>
                  <a:schemeClr val="tx1"/>
                </a:solidFill>
                <a:latin typeface="+mn-lt"/>
              </a:defRPr>
            </a:lvl9pPr>
          </a:lstStyle>
          <a:p>
            <a:r>
              <a:rPr lang="en-SG" altLang="en-US" sz="2800" kern="0" dirty="0">
                <a:solidFill>
                  <a:schemeClr val="accent2"/>
                </a:solidFill>
              </a:rPr>
              <a:t>Harder implementation</a:t>
            </a:r>
            <a:r>
              <a:rPr lang="en-SG" altLang="en-US" sz="2400" kern="0" dirty="0">
                <a:solidFill>
                  <a:srgbClr val="FF0000"/>
                </a:solidFill>
              </a:rPr>
              <a:t> </a:t>
            </a:r>
            <a:r>
              <a:rPr lang="en-SG" altLang="en-US" sz="2400" kern="0" dirty="0"/>
              <a:t>(online sorting of queue based on instance deadlines)</a:t>
            </a:r>
          </a:p>
          <a:p>
            <a:endParaRPr lang="en-SG" altLang="en-US" sz="1000" kern="0" dirty="0"/>
          </a:p>
          <a:p>
            <a:r>
              <a:rPr lang="en-SG" altLang="en-US" sz="2800" kern="0" dirty="0">
                <a:solidFill>
                  <a:schemeClr val="accent2"/>
                </a:solidFill>
              </a:rPr>
              <a:t>Can be unpredictable under high load</a:t>
            </a:r>
            <a:endParaRPr lang="en-SG" altLang="en-US" sz="2400" kern="0" dirty="0"/>
          </a:p>
        </p:txBody>
      </p:sp>
      <p:sp>
        <p:nvSpPr>
          <p:cNvPr id="3" name="TextBox 2">
            <a:extLst>
              <a:ext uri="{FF2B5EF4-FFF2-40B4-BE49-F238E27FC236}">
                <a16:creationId xmlns:a16="http://schemas.microsoft.com/office/drawing/2014/main" id="{64E93BF4-BE65-4069-9D46-FD70D2BF30EF}"/>
              </a:ext>
            </a:extLst>
          </p:cNvPr>
          <p:cNvSpPr txBox="1"/>
          <p:nvPr/>
        </p:nvSpPr>
        <p:spPr>
          <a:xfrm>
            <a:off x="1649950" y="1393582"/>
            <a:ext cx="744114" cy="523220"/>
          </a:xfrm>
          <a:prstGeom prst="rect">
            <a:avLst/>
          </a:prstGeom>
          <a:noFill/>
        </p:spPr>
        <p:txBody>
          <a:bodyPr wrap="none" rtlCol="0">
            <a:spAutoFit/>
          </a:bodyPr>
          <a:lstStyle/>
          <a:p>
            <a:r>
              <a:rPr lang="en-SG" sz="2800" b="1" dirty="0"/>
              <a:t>RM</a:t>
            </a:r>
          </a:p>
        </p:txBody>
      </p:sp>
      <p:sp>
        <p:nvSpPr>
          <p:cNvPr id="50" name="TextBox 49">
            <a:extLst>
              <a:ext uri="{FF2B5EF4-FFF2-40B4-BE49-F238E27FC236}">
                <a16:creationId xmlns:a16="http://schemas.microsoft.com/office/drawing/2014/main" id="{79C5C682-EAFC-4A84-A138-E59ABF49A4DE}"/>
              </a:ext>
            </a:extLst>
          </p:cNvPr>
          <p:cNvSpPr txBox="1"/>
          <p:nvPr/>
        </p:nvSpPr>
        <p:spPr>
          <a:xfrm>
            <a:off x="6392887" y="1393583"/>
            <a:ext cx="902811" cy="523220"/>
          </a:xfrm>
          <a:prstGeom prst="rect">
            <a:avLst/>
          </a:prstGeom>
          <a:noFill/>
        </p:spPr>
        <p:txBody>
          <a:bodyPr wrap="none" rtlCol="0">
            <a:spAutoFit/>
          </a:bodyPr>
          <a:lstStyle/>
          <a:p>
            <a:r>
              <a:rPr lang="en-SG" sz="2800" b="1"/>
              <a:t>EDF</a:t>
            </a:r>
          </a:p>
        </p:txBody>
      </p:sp>
    </p:spTree>
    <p:extLst>
      <p:ext uri="{BB962C8B-B14F-4D97-AF65-F5344CB8AC3E}">
        <p14:creationId xmlns:p14="http://schemas.microsoft.com/office/powerpoint/2010/main" val="3084384407"/>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Footer Placeholder 3">
            <a:extLst>
              <a:ext uri="{FF2B5EF4-FFF2-40B4-BE49-F238E27FC236}">
                <a16:creationId xmlns:a16="http://schemas.microsoft.com/office/drawing/2014/main" id="{69AC5585-0885-4B44-96D6-B34E7745BC07}"/>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50000"/>
              </a:spcBef>
              <a:buSzPct val="140000"/>
              <a:buChar char="•"/>
              <a:defRPr>
                <a:solidFill>
                  <a:schemeClr val="tx1"/>
                </a:solidFill>
                <a:latin typeface="Helvetica" panose="020B0604020202020204" pitchFamily="34" charset="0"/>
              </a:defRPr>
            </a:lvl1pPr>
            <a:lvl2pPr marL="742950" indent="-285750">
              <a:spcBef>
                <a:spcPct val="20000"/>
              </a:spcBef>
              <a:buChar char="–"/>
              <a:defRPr>
                <a:solidFill>
                  <a:schemeClr val="tx1"/>
                </a:solidFill>
                <a:latin typeface="Helvetica" panose="020B0604020202020204" pitchFamily="34" charset="0"/>
              </a:defRPr>
            </a:lvl2pPr>
            <a:lvl3pPr marL="1143000" indent="-228600">
              <a:spcBef>
                <a:spcPct val="20000"/>
              </a:spcBef>
              <a:buSzPct val="85000"/>
              <a:buFont typeface="Monotype Sorts" pitchFamily="2" charset="2"/>
              <a:buChar char="T"/>
              <a:defRPr>
                <a:solidFill>
                  <a:schemeClr val="tx1"/>
                </a:solidFill>
                <a:latin typeface="Helvetica" panose="020B0604020202020204" pitchFamily="34" charset="0"/>
              </a:defRPr>
            </a:lvl3pPr>
            <a:lvl4pPr marL="1600200" indent="-228600">
              <a:spcBef>
                <a:spcPct val="20000"/>
              </a:spcBef>
              <a:buChar char="–"/>
              <a:defRPr>
                <a:solidFill>
                  <a:schemeClr val="tx1"/>
                </a:solidFill>
                <a:latin typeface="Helvetica" panose="020B0604020202020204" pitchFamily="34" charset="0"/>
              </a:defRPr>
            </a:lvl4pPr>
            <a:lvl5pPr marL="2057400" indent="-228600">
              <a:spcBef>
                <a:spcPct val="20000"/>
              </a:spcBef>
              <a:buChar char="»"/>
              <a:defRPr sz="1200">
                <a:solidFill>
                  <a:schemeClr val="tx1"/>
                </a:solidFill>
                <a:latin typeface="Helvetica" panose="020B0604020202020204" pitchFamily="34" charset="0"/>
              </a:defRPr>
            </a:lvl5pPr>
            <a:lvl6pPr marL="2514600" indent="-228600" eaLnBrk="0" fontAlgn="base" hangingPunct="0">
              <a:spcBef>
                <a:spcPct val="20000"/>
              </a:spcBef>
              <a:spcAft>
                <a:spcPct val="0"/>
              </a:spcAft>
              <a:buChar char="»"/>
              <a:defRPr sz="1200">
                <a:solidFill>
                  <a:schemeClr val="tx1"/>
                </a:solidFill>
                <a:latin typeface="Helvetica" panose="020B0604020202020204" pitchFamily="34" charset="0"/>
              </a:defRPr>
            </a:lvl6pPr>
            <a:lvl7pPr marL="2971800" indent="-228600" eaLnBrk="0" fontAlgn="base" hangingPunct="0">
              <a:spcBef>
                <a:spcPct val="20000"/>
              </a:spcBef>
              <a:spcAft>
                <a:spcPct val="0"/>
              </a:spcAft>
              <a:buChar char="»"/>
              <a:defRPr sz="1200">
                <a:solidFill>
                  <a:schemeClr val="tx1"/>
                </a:solidFill>
                <a:latin typeface="Helvetica" panose="020B0604020202020204" pitchFamily="34" charset="0"/>
              </a:defRPr>
            </a:lvl7pPr>
            <a:lvl8pPr marL="3429000" indent="-228600" eaLnBrk="0" fontAlgn="base" hangingPunct="0">
              <a:spcBef>
                <a:spcPct val="20000"/>
              </a:spcBef>
              <a:spcAft>
                <a:spcPct val="0"/>
              </a:spcAft>
              <a:buChar char="»"/>
              <a:defRPr sz="1200">
                <a:solidFill>
                  <a:schemeClr val="tx1"/>
                </a:solidFill>
                <a:latin typeface="Helvetica" panose="020B0604020202020204" pitchFamily="34" charset="0"/>
              </a:defRPr>
            </a:lvl8pPr>
            <a:lvl9pPr marL="3886200" indent="-228600" eaLnBrk="0" fontAlgn="base" hangingPunct="0">
              <a:spcBef>
                <a:spcPct val="20000"/>
              </a:spcBef>
              <a:spcAft>
                <a:spcPct val="0"/>
              </a:spcAft>
              <a:buChar char="»"/>
              <a:defRPr sz="1200">
                <a:solidFill>
                  <a:schemeClr val="tx1"/>
                </a:solidFill>
                <a:latin typeface="Helvetica" panose="020B0604020202020204" pitchFamily="34" charset="0"/>
              </a:defRPr>
            </a:lvl9pPr>
          </a:lstStyle>
          <a:p>
            <a:pPr>
              <a:spcBef>
                <a:spcPct val="0"/>
              </a:spcBef>
              <a:buSzTx/>
              <a:buFontTx/>
              <a:buNone/>
            </a:pPr>
            <a:r>
              <a:rPr lang="en-US" altLang="en-US"/>
              <a:t>Operating Systems</a:t>
            </a:r>
          </a:p>
        </p:txBody>
      </p:sp>
      <p:sp>
        <p:nvSpPr>
          <p:cNvPr id="15362" name="Rectangle 2">
            <a:extLst>
              <a:ext uri="{FF2B5EF4-FFF2-40B4-BE49-F238E27FC236}">
                <a16:creationId xmlns:a16="http://schemas.microsoft.com/office/drawing/2014/main" id="{EBBB09CD-D3E6-4E6F-A7F3-E9470C3AF080}"/>
              </a:ext>
            </a:extLst>
          </p:cNvPr>
          <p:cNvSpPr>
            <a:spLocks noGrp="1" noChangeArrowheads="1"/>
          </p:cNvSpPr>
          <p:nvPr>
            <p:ph type="title"/>
          </p:nvPr>
        </p:nvSpPr>
        <p:spPr/>
        <p:txBody>
          <a:bodyPr/>
          <a:lstStyle/>
          <a:p>
            <a:r>
              <a:rPr lang="en-US" altLang="en-US"/>
              <a:t>Part 5: Real-Time OS &amp; Virtualization</a:t>
            </a:r>
          </a:p>
        </p:txBody>
      </p:sp>
      <p:sp>
        <p:nvSpPr>
          <p:cNvPr id="15363" name="Rectangle 3">
            <a:extLst>
              <a:ext uri="{FF2B5EF4-FFF2-40B4-BE49-F238E27FC236}">
                <a16:creationId xmlns:a16="http://schemas.microsoft.com/office/drawing/2014/main" id="{5D2A2987-961C-49DA-8FC7-96ED0A735442}"/>
              </a:ext>
            </a:extLst>
          </p:cNvPr>
          <p:cNvSpPr>
            <a:spLocks noGrp="1" noChangeArrowheads="1"/>
          </p:cNvSpPr>
          <p:nvPr>
            <p:ph type="body" idx="1"/>
          </p:nvPr>
        </p:nvSpPr>
        <p:spPr>
          <a:xfrm>
            <a:off x="1047750" y="1371600"/>
            <a:ext cx="7029450" cy="4484688"/>
          </a:xfrm>
        </p:spPr>
        <p:txBody>
          <a:bodyPr/>
          <a:lstStyle/>
          <a:p>
            <a:r>
              <a:rPr lang="en-US" altLang="en-US" sz="2800" dirty="0"/>
              <a:t>What is a Real-Time OS (RTOS)?</a:t>
            </a:r>
          </a:p>
          <a:p>
            <a:r>
              <a:rPr lang="en-US" altLang="en-US" sz="2800" dirty="0"/>
              <a:t>Real-Time Process Specification</a:t>
            </a:r>
          </a:p>
          <a:p>
            <a:r>
              <a:rPr lang="en-US" altLang="en-US" sz="2800" dirty="0"/>
              <a:t>Real-Time CPU Scheduling</a:t>
            </a:r>
          </a:p>
          <a:p>
            <a:r>
              <a:rPr lang="en-US" altLang="en-US" sz="2800" b="1" dirty="0"/>
              <a:t>Virtualization</a:t>
            </a:r>
          </a:p>
        </p:txBody>
      </p:sp>
    </p:spTree>
    <p:extLst>
      <p:ext uri="{BB962C8B-B14F-4D97-AF65-F5344CB8AC3E}">
        <p14:creationId xmlns:p14="http://schemas.microsoft.com/office/powerpoint/2010/main" val="1962112208"/>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Helvetica"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webextension1.xml><?xml version="1.0" encoding="utf-8"?>
<we:webextension xmlns:we="http://schemas.microsoft.com/office/webextensions/webextension/2010/11" id="{2C38D914-9442-FD4E-B395-626C49BB3C84}">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c5b36e776b0c2d1a961a&quot;"/>
    <we:property name="PFKYKO:66f4c5b36e776b0c2d1a961a:SlideId" value="347"/>
  </we:properties>
  <we:bindings/>
  <we:snapshot xmlns:r="http://schemas.openxmlformats.org/officeDocument/2006/relationships"/>
</we:webextension>
</file>

<file path=ppt/webextensions/webextension2.xml><?xml version="1.0" encoding="utf-8"?>
<we:webextension xmlns:we="http://schemas.microsoft.com/office/webextensions/webextension/2010/11" id="{2C38D914-9442-FD4E-B395-626C49BB3C84}">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c5cba02319376903ba8c&quot;"/>
    <we:property name="PFKYKO:66f4c5cba02319376903ba8c:SlideId" value="345"/>
  </we:properties>
  <we:bindings/>
  <we:snapshot xmlns:r="http://schemas.openxmlformats.org/officeDocument/2006/relationships"/>
</we:webextension>
</file>

<file path=ppt/webextensions/webextension3.xml><?xml version="1.0" encoding="utf-8"?>
<we:webextension xmlns:we="http://schemas.microsoft.com/office/webextensions/webextension/2010/11" id="{2C38D914-9442-FD4E-B395-626C49BB3C84}">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c5cb6e776b0c2d1aa01f&quot;"/>
    <we:property name="PFKYKO:66f4c5cb6e776b0c2d1aa01f:SlideId" value="346"/>
  </we:properties>
  <we:bindings/>
  <we:snapshot xmlns:r="http://schemas.openxmlformats.org/officeDocument/2006/relationships"/>
</we:webextension>
</file>

<file path=ppt/webextensions/webextension4.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4147791b8494cbf2ded&quot;"/>
    <we:property name="PFKYKO:66f404147791b8494cbf2ded:SlideId" value="295"/>
  </we:properties>
  <we:bindings/>
  <we:snapshot xmlns:r="http://schemas.openxmlformats.org/officeDocument/2006/relationships"/>
</we:webextension>
</file>

<file path=ppt/webextensions/webextension5.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0885757dafc9de4964e&quot;"/>
    <we:property name="PFKYKO:66f400885757dafc9de4964e:SlideId" value="289"/>
  </we:properties>
  <we:bindings/>
  <we:snapshot xmlns:r="http://schemas.openxmlformats.org/officeDocument/2006/relationships"/>
</we:webextension>
</file>

<file path=ppt/webextensions/webextension6.xml><?xml version="1.0" encoding="utf-8"?>
<we:webextension xmlns:we="http://schemas.microsoft.com/office/webextensions/webextension/2010/11" id="{3DA3683A-B96C-1C46-AF54-C6D05AECBA18}">
  <we:reference id="71a1a0ed-6cd0-4a6e-ad2d-015b8a8b43cb" version="1.0.0.10" store="EXCatalog" storeType="EXCatalog"/>
  <we:alternateReferences>
    <we:reference id="WA104381682" version="1.0.0.10" store="en-SG" storeType="OMEX"/>
  </we:alternateReferences>
  <we:properties>
    <we:property name="addinSlideId" value="&quot;succeeded&quot;"/>
    <we:property name="selectedSlug" value="&quot;PFKYKO&quot;"/>
    <we:property name="selectedQuestionId" value="&quot;66f400885757dafc9de49653&quot;"/>
    <we:property name="PFKYKO:66f400885757dafc9de49653:SlideId" value="294"/>
  </we:properties>
  <we:bindings/>
  <we:snapshot xmlns:r="http://schemas.openxmlformats.org/officeDocument/2006/relationships"/>
</we:webextension>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emplate>C:\Apps\Microsoft Office\Templates\Blank Presentation.pot</Template>
  <TotalTime>3585</TotalTime>
  <Words>3080</Words>
  <Application>Microsoft Macintosh PowerPoint</Application>
  <PresentationFormat>On-screen Show (4:3)</PresentationFormat>
  <Paragraphs>413</Paragraphs>
  <Slides>26</Slides>
  <Notes>22</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Helvetica</vt:lpstr>
      <vt:lpstr>Monotype Sorts</vt:lpstr>
      <vt:lpstr>NimbusSanL-Regu</vt:lpstr>
      <vt:lpstr>Times New Roman</vt:lpstr>
      <vt:lpstr>Blank Presentation</vt:lpstr>
      <vt:lpstr>Course Overview</vt:lpstr>
      <vt:lpstr>Concepts &amp; Questions</vt:lpstr>
      <vt:lpstr>Concepts &amp; Questions</vt:lpstr>
      <vt:lpstr>Concepts &amp; Questions</vt:lpstr>
      <vt:lpstr>Part 6: Real-Time OS &amp; Virtualization</vt:lpstr>
      <vt:lpstr>Cyber-Physical Systems</vt:lpstr>
      <vt:lpstr>Relevance of Real-Time</vt:lpstr>
      <vt:lpstr>What is a Reasonable Time?</vt:lpstr>
      <vt:lpstr>Common Misconception</vt:lpstr>
      <vt:lpstr>Check Your Understanding </vt:lpstr>
      <vt:lpstr>Real-Time CPS / Real-Time OS</vt:lpstr>
      <vt:lpstr>Check Your Understanding </vt:lpstr>
      <vt:lpstr>Part 5: Real-Time OS &amp; Virtualization</vt:lpstr>
      <vt:lpstr>RTOS (Real-Time) Process</vt:lpstr>
      <vt:lpstr>Recurrent Real-Time Process</vt:lpstr>
      <vt:lpstr>Periodic Real-Time Process</vt:lpstr>
      <vt:lpstr>Part 5: Real-Time OS &amp; Virtualization</vt:lpstr>
      <vt:lpstr> Why Classic Algorithms Fail?</vt:lpstr>
      <vt:lpstr>Real-Time CPU Scheduling Problem</vt:lpstr>
      <vt:lpstr>Fixed-Priority CPU Scheduling</vt:lpstr>
      <vt:lpstr>Rate Monotonic (RM) Scheduler</vt:lpstr>
      <vt:lpstr>RM and Process Deadlines</vt:lpstr>
      <vt:lpstr>Earliest Deadline First (EDF) Scheduler</vt:lpstr>
      <vt:lpstr>Check Your Understanding </vt:lpstr>
      <vt:lpstr>RM/DM versus EDF</vt:lpstr>
      <vt:lpstr>Part 5: Real-Time OS &amp; Virtualization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1:   Introduction</dc:title>
  <dc:creator>Arvind Easwaran</dc:creator>
  <cp:lastModifiedBy>Arvind Easwaran</cp:lastModifiedBy>
  <cp:revision>5</cp:revision>
  <cp:lastPrinted>2017-08-02T02:48:26Z</cp:lastPrinted>
  <dcterms:created xsi:type="dcterms:W3CDTF">2019-11-25T05:26:41Z</dcterms:created>
  <dcterms:modified xsi:type="dcterms:W3CDTF">2025-01-09T08:18:07Z</dcterms:modified>
</cp:coreProperties>
</file>