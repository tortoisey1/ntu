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907" r:id="rId5"/>
    <p:sldId id="849" r:id="rId6"/>
    <p:sldId id="850" r:id="rId7"/>
    <p:sldId id="919" r:id="rId8"/>
    <p:sldId id="920" r:id="rId9"/>
    <p:sldId id="852" r:id="rId10"/>
    <p:sldId id="891" r:id="rId11"/>
    <p:sldId id="851" r:id="rId12"/>
    <p:sldId id="853" r:id="rId13"/>
    <p:sldId id="908" r:id="rId14"/>
    <p:sldId id="921" r:id="rId15"/>
    <p:sldId id="855" r:id="rId16"/>
    <p:sldId id="909" r:id="rId17"/>
    <p:sldId id="893" r:id="rId18"/>
    <p:sldId id="911" r:id="rId19"/>
    <p:sldId id="910" r:id="rId20"/>
    <p:sldId id="912" r:id="rId21"/>
    <p:sldId id="894" r:id="rId22"/>
    <p:sldId id="856" r:id="rId23"/>
    <p:sldId id="862" r:id="rId24"/>
    <p:sldId id="895" r:id="rId25"/>
    <p:sldId id="896" r:id="rId26"/>
    <p:sldId id="897" r:id="rId27"/>
    <p:sldId id="863" r:id="rId28"/>
    <p:sldId id="913" r:id="rId29"/>
    <p:sldId id="922" r:id="rId30"/>
    <p:sldId id="885" r:id="rId31"/>
    <p:sldId id="914" r:id="rId32"/>
    <p:sldId id="915" r:id="rId33"/>
    <p:sldId id="916" r:id="rId34"/>
    <p:sldId id="917" r:id="rId35"/>
    <p:sldId id="923" r:id="rId36"/>
    <p:sldId id="854" r:id="rId37"/>
    <p:sldId id="886" r:id="rId38"/>
    <p:sldId id="906" r:id="rId39"/>
    <p:sldId id="918" r:id="rId40"/>
    <p:sldId id="905" r:id="rId41"/>
  </p:sldIdLst>
  <p:sldSz cx="6858000" cy="5143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66FF33"/>
    <a:srgbClr val="339933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66783" autoAdjust="0"/>
  </p:normalViewPr>
  <p:slideViewPr>
    <p:cSldViewPr snapToGrid="0" snapToObjects="1">
      <p:cViewPr varScale="1">
        <p:scale>
          <a:sx n="97" d="100"/>
          <a:sy n="97" d="100"/>
        </p:scale>
        <p:origin x="3030" y="72"/>
      </p:cViewPr>
      <p:guideLst>
        <p:guide orient="horz" pos="16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EFC5B3-379E-EF40-A0D2-38E640436CC2}" type="datetimeFigureOut">
              <a:rPr lang="en-US" smtClean="0">
                <a:latin typeface="Arial"/>
              </a:rPr>
              <a:t>11/12/2020</a:t>
            </a:fld>
            <a:endParaRPr lang="en-US" dirty="0">
              <a:latin typeface="Arial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29101-7F9C-2D47-B95D-7561785BF174}" type="slidenum">
              <a:rPr lang="en-US" smtClean="0">
                <a:latin typeface="Arial"/>
              </a:rPr>
              <a:t>‹#›</a:t>
            </a:fld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1175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AFE39-988F-4A67-8AA4-D9AE6CFCC01D}" type="datetimeFigureOut">
              <a:rPr lang="en-US" smtClean="0"/>
              <a:t>11/12/2020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BC10D3-A202-4A93-B51D-9FC93C590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96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97820"/>
            <a:ext cx="58293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A1318-2302-4ECC-8797-20FDA61D02A2}" type="datetime1">
              <a:rPr lang="en-US" smtClean="0"/>
              <a:t>11/12/2020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05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372" y="4869656"/>
            <a:ext cx="1600200" cy="273844"/>
          </a:xfrm>
        </p:spPr>
        <p:txBody>
          <a:bodyPr/>
          <a:lstStyle/>
          <a:p>
            <a:fld id="{31BC51C9-FFC3-4EB0-8D11-7C0A6D4827B5}" type="datetime1">
              <a:rPr lang="en-US" smtClean="0"/>
              <a:t>11/12/2020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0622" y="4869656"/>
            <a:ext cx="21717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082372" y="4869656"/>
            <a:ext cx="1600200" cy="273844"/>
          </a:xfrm>
        </p:spPr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94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305176"/>
            <a:ext cx="61722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80035"/>
            <a:ext cx="61722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A2FFA-6A77-4308-9C36-82C3CC7FF305}" type="datetime1">
              <a:rPr lang="en-US" smtClean="0"/>
              <a:t>11/12/2020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58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D728E-EBD8-4559-8A31-4E373774C6B5}" type="datetime1">
              <a:rPr lang="en-US" smtClean="0"/>
              <a:t>11/12/2020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538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39124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1871068"/>
            <a:ext cx="3030141" cy="272130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0" y="139124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1871068"/>
            <a:ext cx="3031331" cy="272130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49F29-B572-45A6-A16B-670555E21596}" type="datetime1">
              <a:rPr lang="en-US" smtClean="0"/>
              <a:t>11/12/2020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49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78815-EDFD-4D93-B8BF-3B7ADBEDFFB9}" type="datetime1">
              <a:rPr lang="en-US" smtClean="0"/>
              <a:t>11/12/2020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4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C7944-C385-449C-9089-1E812317A5A6}" type="datetime1">
              <a:rPr lang="en-US" smtClean="0"/>
              <a:t>11/12/2020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48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591463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591465"/>
            <a:ext cx="3833813" cy="404865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1593860"/>
            <a:ext cx="2256235" cy="3046254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923B7-FE2C-4040-B1B0-3A9CAF3CBA77}" type="datetime1">
              <a:rPr lang="en-US" smtClean="0"/>
              <a:t>11/12/2020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774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025504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A2334-CCE4-414B-BAB4-5F08B7ADA458}" type="datetime1">
              <a:rPr lang="en-US" smtClean="0"/>
              <a:t>11/12/2020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9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22724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416896"/>
            <a:ext cx="6172200" cy="2907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361530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10FC4848-DB08-4BAF-9E35-CE5DC09BFB76}" type="datetime1">
              <a:rPr lang="en-US" smtClean="0"/>
              <a:t>11/12/2020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361530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361530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8E6562B1-0B0F-0246-9532-09536BC2AE5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72192"/>
            <a:ext cx="6858000" cy="2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30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Arial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Arial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Arial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72CC-03E5-4750-8CD9-D4096C1814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entury" panose="02040604050505020304" pitchFamily="18" charset="0"/>
              </a:rPr>
              <a:t>Operating System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3DA1E-7364-4FE4-926D-D4C26CA52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3586264"/>
            <a:ext cx="4800600" cy="642836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Century" panose="02040604050505020304" pitchFamily="18" charset="0"/>
              </a:rPr>
              <a:t>Asst Prof. Tianwei Zhang</a:t>
            </a:r>
          </a:p>
          <a:p>
            <a:r>
              <a:rPr lang="en-US" sz="1400" dirty="0">
                <a:latin typeface="Century" panose="02040604050505020304" pitchFamily="18" charset="0"/>
              </a:rPr>
              <a:t>12 November 2020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8D0C5-4561-48A9-89F3-13D40F16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51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Self-Introduction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Experience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2019–present: Assistant Professor @ SCSE, NTU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2017–2019: Software Engineer @ Amazon Web Services</a:t>
            </a:r>
          </a:p>
          <a:p>
            <a:pPr lvl="2">
              <a:spcBef>
                <a:spcPts val="420"/>
              </a:spcBef>
              <a:buSzPct val="150000"/>
              <a:buFontTx/>
              <a:buChar char="-"/>
            </a:pPr>
            <a:r>
              <a:rPr lang="en-US" sz="1259" b="1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Cloud Computing</a:t>
            </a:r>
            <a:r>
              <a:rPr lang="en-US" sz="125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 and </a:t>
            </a:r>
            <a:r>
              <a:rPr lang="en-US" sz="1259" b="1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Robotics </a:t>
            </a:r>
            <a:r>
              <a:rPr lang="en-US" sz="125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platforms</a:t>
            </a:r>
            <a:endParaRPr lang="en-US" sz="1399" dirty="0"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2011–2017: PhD @ EE, Princeton University</a:t>
            </a:r>
          </a:p>
          <a:p>
            <a:pPr lvl="2">
              <a:spcBef>
                <a:spcPts val="420"/>
              </a:spcBef>
              <a:buSzPct val="150000"/>
              <a:buFontTx/>
              <a:buChar char="-"/>
            </a:pPr>
            <a:r>
              <a:rPr lang="en-US" sz="125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Thesis topic: </a:t>
            </a:r>
            <a:r>
              <a:rPr lang="en-US" sz="1259" b="1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cloud computing security</a:t>
            </a:r>
            <a:endParaRPr lang="en-US" sz="1399" dirty="0"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Research interest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Design and develop </a:t>
            </a:r>
            <a:r>
              <a:rPr lang="en-US" sz="1399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secure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 computer systems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Principle: enhance system </a:t>
            </a:r>
            <a:r>
              <a:rPr lang="en-US" sz="1399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 without compromising </a:t>
            </a:r>
            <a:r>
              <a:rPr lang="en-US" sz="1399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performance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, </a:t>
            </a:r>
            <a:r>
              <a:rPr lang="en-US" sz="1399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cost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 and </a:t>
            </a:r>
            <a:r>
              <a:rPr lang="en-US" sz="1399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usability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831DB-5C0B-4C8B-B1E0-F4930F16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8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Questions Before Our Course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If you download and run a video player app on your computer, can it delete your photos?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If you install a maps app on your smartphone, can it steal your privacy information?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If you click the attachment of an unknown email, can it destroy your data on the disk?</a:t>
            </a:r>
            <a:endParaRPr lang="en-US" sz="1399" dirty="0"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C9CB10-B85B-4010-85FF-EED52F625DFA}"/>
              </a:ext>
            </a:extLst>
          </p:cNvPr>
          <p:cNvSpPr txBox="1"/>
          <p:nvPr/>
        </p:nvSpPr>
        <p:spPr>
          <a:xfrm>
            <a:off x="444760" y="3806757"/>
            <a:ext cx="6089095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entury" panose="02040604050505020304" pitchFamily="18" charset="0"/>
              </a:rPr>
              <a:t>Yes, if your OS does not have appropriate security protection, e.g., </a:t>
            </a:r>
            <a:r>
              <a:rPr lang="en-US" i="1" dirty="0">
                <a:solidFill>
                  <a:srgbClr val="FF0000"/>
                </a:solidFill>
                <a:latin typeface="Century" panose="02040604050505020304" pitchFamily="18" charset="0"/>
              </a:rPr>
              <a:t>app isolation</a:t>
            </a:r>
            <a:r>
              <a:rPr lang="en-US" dirty="0">
                <a:solidFill>
                  <a:srgbClr val="FF0000"/>
                </a:solidFill>
                <a:latin typeface="Century" panose="02040604050505020304" pitchFamily="18" charset="0"/>
              </a:rPr>
              <a:t>, </a:t>
            </a:r>
            <a:r>
              <a:rPr lang="en-US" i="1" dirty="0">
                <a:solidFill>
                  <a:srgbClr val="FF0000"/>
                </a:solidFill>
                <a:latin typeface="Century" panose="02040604050505020304" pitchFamily="18" charset="0"/>
              </a:rPr>
              <a:t>permission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F290A-262C-42F4-B79D-AECFB68B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15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Outline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System security basis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Definition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properties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Protection Stages employed by OS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Authentication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Access Control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Audit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Threats in OS</a:t>
            </a: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Hardware Protection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Integrity verification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Trusted Execution Environment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F290A-262C-42F4-B79D-AECFB68B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59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Outline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System security basis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Definition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properties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Protection Stages employed by OS</a:t>
            </a:r>
            <a:endParaRPr lang="en-US" sz="2238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Authentication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Access Control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Audit</a:t>
            </a:r>
            <a:endParaRPr lang="en-US" sz="1959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Threats in OS</a:t>
            </a: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Hardware Protection</a:t>
            </a:r>
            <a:endParaRPr lang="en-US" sz="2238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Integrity verification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Trusted Execution Environment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F290A-262C-42F4-B79D-AECFB68B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97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OS Becomes more Complex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From single-user to multi-user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DOS is truly single user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MacOS, Linux, NT-based Windows are multi-user, but typically only 1 user in PCs. 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Cloud computing allows multiple users all over the world to run on the same OS, and they do not know each other.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Tradeoff: efficiency versus security</a:t>
            </a: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From trusted apps to untrusted apps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Simple real-time systems: only run one specific app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Runs verified apps from trusted parties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Modern PCs and smartphones: run apps from third-party developers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Tradeoff: functionality versus security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B6A52-E9CD-4D9A-B57E-344DA1D5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2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Complex OS brings More Challenges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Protecting a single computer with one user is easy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Prevent everybody else from having access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Encrypt all data with a key only one person knows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b="1" dirty="0">
              <a:solidFill>
                <a:srgbClr val="FF0000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Sharing resources </a:t>
            </a: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safely is hard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Preventing some people from reading private data (e.g. grades)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Prevent some people from using too many resources (e.g. disk space, CPU core)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Prevent some people from interfering with other programs (e.g. inserting keystrokes / modifying displays)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9184A-A014-456A-B55E-D1AA146C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7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OS Responsibility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3054492" cy="373759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ct val="80000"/>
              <a:buNone/>
            </a:pPr>
            <a:r>
              <a:rPr lang="en-US" sz="195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Functionalities</a:t>
            </a: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Support multiple users concurrently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Manage multiple apps concurrently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Connect to the network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Sharing data with different domains</a:t>
            </a: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394E73A-1D19-44DF-85EB-40B1DECE57D4}"/>
              </a:ext>
            </a:extLst>
          </p:cNvPr>
          <p:cNvSpPr txBox="1">
            <a:spLocks/>
          </p:cNvSpPr>
          <p:nvPr/>
        </p:nvSpPr>
        <p:spPr>
          <a:xfrm>
            <a:off x="3529512" y="912230"/>
            <a:ext cx="3054492" cy="37375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lnSpcReduction="10000"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ct val="80000"/>
              <a:buNone/>
            </a:pPr>
            <a:r>
              <a:rPr lang="en-US" sz="195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goals</a:t>
            </a: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Protect users from each other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Protect apps from each other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Protect the system from the network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Secure the data sharing</a:t>
            </a:r>
            <a:endParaRPr lang="en-US" sz="1399" dirty="0"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005FC-726D-4EC3-B7E8-85E2F875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What’s being protected? Resources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5774ECE-6E72-4BA6-9CCD-D138AE30307B}"/>
              </a:ext>
            </a:extLst>
          </p:cNvPr>
          <p:cNvSpPr/>
          <p:nvPr/>
        </p:nvSpPr>
        <p:spPr>
          <a:xfrm>
            <a:off x="3469929" y="2612043"/>
            <a:ext cx="1257300" cy="114300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700" dirty="0"/>
              <a:t>OS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CE291A-B8BC-43F8-B15E-32C401A219EB}"/>
              </a:ext>
            </a:extLst>
          </p:cNvPr>
          <p:cNvCxnSpPr>
            <a:cxnSpLocks/>
            <a:stCxn id="8" idx="1"/>
            <a:endCxn id="47" idx="3"/>
          </p:cNvCxnSpPr>
          <p:nvPr/>
        </p:nvCxnSpPr>
        <p:spPr>
          <a:xfrm flipH="1" flipV="1">
            <a:off x="3035036" y="1980561"/>
            <a:ext cx="619020" cy="7988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437BE44-8334-4542-BA4F-9DF46E33AB79}"/>
              </a:ext>
            </a:extLst>
          </p:cNvPr>
          <p:cNvCxnSpPr>
            <a:cxnSpLocks/>
            <a:stCxn id="34" idx="1"/>
            <a:endCxn id="12" idx="6"/>
          </p:cNvCxnSpPr>
          <p:nvPr/>
        </p:nvCxnSpPr>
        <p:spPr>
          <a:xfrm flipH="1" flipV="1">
            <a:off x="1591468" y="3183544"/>
            <a:ext cx="420563" cy="402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B450BB-946B-4F2F-B705-9123892E2989}"/>
              </a:ext>
            </a:extLst>
          </p:cNvPr>
          <p:cNvCxnSpPr>
            <a:cxnSpLocks/>
            <a:stCxn id="8" idx="3"/>
            <a:endCxn id="51" idx="3"/>
          </p:cNvCxnSpPr>
          <p:nvPr/>
        </p:nvCxnSpPr>
        <p:spPr>
          <a:xfrm flipH="1">
            <a:off x="3021041" y="3587655"/>
            <a:ext cx="633015" cy="9430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C855FED-FFCD-4164-8B45-AB239A44A275}"/>
              </a:ext>
            </a:extLst>
          </p:cNvPr>
          <p:cNvSpPr/>
          <p:nvPr/>
        </p:nvSpPr>
        <p:spPr>
          <a:xfrm>
            <a:off x="739413" y="2779432"/>
            <a:ext cx="852055" cy="80822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9A4D4E-D326-40EE-B78B-BE7FA2910FFD}"/>
              </a:ext>
            </a:extLst>
          </p:cNvPr>
          <p:cNvSpPr/>
          <p:nvPr/>
        </p:nvSpPr>
        <p:spPr>
          <a:xfrm>
            <a:off x="739413" y="1732231"/>
            <a:ext cx="852055" cy="80822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9C9A26-5D8B-44B1-A4CD-8079D4081ED6}"/>
              </a:ext>
            </a:extLst>
          </p:cNvPr>
          <p:cNvSpPr/>
          <p:nvPr/>
        </p:nvSpPr>
        <p:spPr>
          <a:xfrm>
            <a:off x="739412" y="3827930"/>
            <a:ext cx="852055" cy="80822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C2DE2B5-9F04-4B12-8B5D-4FAE5326EF37}"/>
              </a:ext>
            </a:extLst>
          </p:cNvPr>
          <p:cNvCxnSpPr>
            <a:cxnSpLocks/>
            <a:stCxn id="8" idx="2"/>
            <a:endCxn id="34" idx="3"/>
          </p:cNvCxnSpPr>
          <p:nvPr/>
        </p:nvCxnSpPr>
        <p:spPr>
          <a:xfrm flipH="1">
            <a:off x="3012407" y="3183543"/>
            <a:ext cx="457522" cy="402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AA8E93-5AE3-4D46-9011-A42A95284AF8}"/>
              </a:ext>
            </a:extLst>
          </p:cNvPr>
          <p:cNvCxnSpPr>
            <a:cxnSpLocks/>
            <a:stCxn id="8" idx="2"/>
            <a:endCxn id="41" idx="3"/>
          </p:cNvCxnSpPr>
          <p:nvPr/>
        </p:nvCxnSpPr>
        <p:spPr>
          <a:xfrm flipH="1" flipV="1">
            <a:off x="3030886" y="2958472"/>
            <a:ext cx="439043" cy="2250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210FC0-6056-4FCC-891C-D42A83CADCA7}"/>
              </a:ext>
            </a:extLst>
          </p:cNvPr>
          <p:cNvCxnSpPr>
            <a:cxnSpLocks/>
            <a:stCxn id="47" idx="1"/>
            <a:endCxn id="13" idx="6"/>
          </p:cNvCxnSpPr>
          <p:nvPr/>
        </p:nvCxnSpPr>
        <p:spPr>
          <a:xfrm flipH="1">
            <a:off x="1591468" y="1980561"/>
            <a:ext cx="443192" cy="155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3BAEAB-964B-4792-A320-B9649E8C13DD}"/>
              </a:ext>
            </a:extLst>
          </p:cNvPr>
          <p:cNvCxnSpPr>
            <a:cxnSpLocks/>
            <a:stCxn id="8" idx="7"/>
            <a:endCxn id="22" idx="2"/>
          </p:cNvCxnSpPr>
          <p:nvPr/>
        </p:nvCxnSpPr>
        <p:spPr>
          <a:xfrm flipV="1">
            <a:off x="4543103" y="2136343"/>
            <a:ext cx="641327" cy="6430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6923FAE-B3FC-45A5-B545-0E2547DEDC8F}"/>
              </a:ext>
            </a:extLst>
          </p:cNvPr>
          <p:cNvCxnSpPr/>
          <p:nvPr/>
        </p:nvCxnSpPr>
        <p:spPr>
          <a:xfrm flipH="1">
            <a:off x="4727229" y="3193934"/>
            <a:ext cx="4623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31C502-9FD1-445C-BFE4-0ACD10CAB729}"/>
              </a:ext>
            </a:extLst>
          </p:cNvPr>
          <p:cNvCxnSpPr>
            <a:stCxn id="8" idx="5"/>
            <a:endCxn id="23" idx="2"/>
          </p:cNvCxnSpPr>
          <p:nvPr/>
        </p:nvCxnSpPr>
        <p:spPr>
          <a:xfrm>
            <a:off x="4543102" y="3587655"/>
            <a:ext cx="641327" cy="6443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E8A552C0-481B-43EC-A865-6ABC844C8C73}"/>
              </a:ext>
            </a:extLst>
          </p:cNvPr>
          <p:cNvSpPr/>
          <p:nvPr/>
        </p:nvSpPr>
        <p:spPr>
          <a:xfrm>
            <a:off x="5184430" y="2779432"/>
            <a:ext cx="852055" cy="808223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D071505-9670-44F4-AD58-23404F2E4F40}"/>
              </a:ext>
            </a:extLst>
          </p:cNvPr>
          <p:cNvSpPr/>
          <p:nvPr/>
        </p:nvSpPr>
        <p:spPr>
          <a:xfrm>
            <a:off x="5184430" y="1732231"/>
            <a:ext cx="852055" cy="808223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9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70D5C1-A91E-4364-991F-47B7B5FD7661}"/>
              </a:ext>
            </a:extLst>
          </p:cNvPr>
          <p:cNvSpPr/>
          <p:nvPr/>
        </p:nvSpPr>
        <p:spPr>
          <a:xfrm>
            <a:off x="5184429" y="3827930"/>
            <a:ext cx="852055" cy="808223"/>
          </a:xfrm>
          <a:prstGeom prst="ellips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6231D5-97D8-475B-8035-833E533190C4}"/>
              </a:ext>
            </a:extLst>
          </p:cNvPr>
          <p:cNvSpPr/>
          <p:nvPr/>
        </p:nvSpPr>
        <p:spPr>
          <a:xfrm>
            <a:off x="5148113" y="1940062"/>
            <a:ext cx="950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Resource</a:t>
            </a:r>
            <a:endParaRPr 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109C93-5271-4775-9FB6-1A8CAB1B560B}"/>
              </a:ext>
            </a:extLst>
          </p:cNvPr>
          <p:cNvSpPr/>
          <p:nvPr/>
        </p:nvSpPr>
        <p:spPr>
          <a:xfrm>
            <a:off x="5148113" y="3024657"/>
            <a:ext cx="950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Resource</a:t>
            </a:r>
            <a:endParaRPr lang="en-US" sz="16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D1C5D2-7BEE-43EF-BBC5-DDF0A8F4935C}"/>
              </a:ext>
            </a:extLst>
          </p:cNvPr>
          <p:cNvSpPr/>
          <p:nvPr/>
        </p:nvSpPr>
        <p:spPr>
          <a:xfrm>
            <a:off x="5148113" y="4095364"/>
            <a:ext cx="95070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Resource</a:t>
            </a:r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49C0BC-9D93-4883-9442-E86598AC2C8E}"/>
              </a:ext>
            </a:extLst>
          </p:cNvPr>
          <p:cNvSpPr/>
          <p:nvPr/>
        </p:nvSpPr>
        <p:spPr>
          <a:xfrm>
            <a:off x="879081" y="1967066"/>
            <a:ext cx="5709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User</a:t>
            </a:r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E439D9-84AD-4299-95B7-CB9EF84BFDB8}"/>
              </a:ext>
            </a:extLst>
          </p:cNvPr>
          <p:cNvSpPr/>
          <p:nvPr/>
        </p:nvSpPr>
        <p:spPr>
          <a:xfrm>
            <a:off x="869712" y="3013639"/>
            <a:ext cx="5709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User</a:t>
            </a:r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2C95ED7-024B-4AAB-A954-D390556775B5}"/>
              </a:ext>
            </a:extLst>
          </p:cNvPr>
          <p:cNvSpPr/>
          <p:nvPr/>
        </p:nvSpPr>
        <p:spPr>
          <a:xfrm>
            <a:off x="876746" y="4062764"/>
            <a:ext cx="5709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</a:rPr>
              <a:t>User</a:t>
            </a:r>
            <a:endParaRPr lang="en-US" sz="16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B8C8B3-B2BD-4F75-B3F3-7B95D4D03943}"/>
              </a:ext>
            </a:extLst>
          </p:cNvPr>
          <p:cNvSpPr/>
          <p:nvPr/>
        </p:nvSpPr>
        <p:spPr>
          <a:xfrm>
            <a:off x="2012031" y="3474491"/>
            <a:ext cx="1000376" cy="223815"/>
          </a:xfrm>
          <a:prstGeom prst="rect">
            <a:avLst/>
          </a:prstGeom>
          <a:solidFill>
            <a:srgbClr val="66FF33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8692144-1147-4594-B31F-5664EC8F90FA}"/>
              </a:ext>
            </a:extLst>
          </p:cNvPr>
          <p:cNvSpPr/>
          <p:nvPr/>
        </p:nvSpPr>
        <p:spPr>
          <a:xfrm>
            <a:off x="2030510" y="2846564"/>
            <a:ext cx="1000376" cy="223815"/>
          </a:xfrm>
          <a:prstGeom prst="rect">
            <a:avLst/>
          </a:prstGeom>
          <a:solidFill>
            <a:srgbClr val="66FF33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32D544B-EB6F-48F5-913A-097D744388A7}"/>
              </a:ext>
            </a:extLst>
          </p:cNvPr>
          <p:cNvCxnSpPr>
            <a:cxnSpLocks/>
            <a:stCxn id="41" idx="1"/>
            <a:endCxn id="12" idx="6"/>
          </p:cNvCxnSpPr>
          <p:nvPr/>
        </p:nvCxnSpPr>
        <p:spPr>
          <a:xfrm flipH="1">
            <a:off x="1591468" y="2958472"/>
            <a:ext cx="439042" cy="225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A3CCFC9-FB6B-4299-B823-8D32359D827C}"/>
              </a:ext>
            </a:extLst>
          </p:cNvPr>
          <p:cNvSpPr/>
          <p:nvPr/>
        </p:nvSpPr>
        <p:spPr>
          <a:xfrm>
            <a:off x="2034660" y="1868653"/>
            <a:ext cx="1000376" cy="223815"/>
          </a:xfrm>
          <a:prstGeom prst="rect">
            <a:avLst/>
          </a:prstGeom>
          <a:solidFill>
            <a:srgbClr val="66FF33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3390DB2-97BA-420B-AD42-B7AF00EFC5C8}"/>
              </a:ext>
            </a:extLst>
          </p:cNvPr>
          <p:cNvCxnSpPr>
            <a:cxnSpLocks/>
            <a:stCxn id="51" idx="1"/>
            <a:endCxn id="14" idx="6"/>
          </p:cNvCxnSpPr>
          <p:nvPr/>
        </p:nvCxnSpPr>
        <p:spPr>
          <a:xfrm flipH="1" flipV="1">
            <a:off x="1591467" y="4232042"/>
            <a:ext cx="429198" cy="29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BE75D980-F029-4FBD-84B7-FD260568E0D3}"/>
              </a:ext>
            </a:extLst>
          </p:cNvPr>
          <p:cNvSpPr/>
          <p:nvPr/>
        </p:nvSpPr>
        <p:spPr>
          <a:xfrm>
            <a:off x="2020665" y="4418752"/>
            <a:ext cx="1000376" cy="223815"/>
          </a:xfrm>
          <a:prstGeom prst="rect">
            <a:avLst/>
          </a:prstGeom>
          <a:solidFill>
            <a:srgbClr val="66FF33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Processes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22DC5E-F098-4DC6-8ACF-BC6610604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9</a:t>
            </a:fld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1C182AB3-DCD3-4FDE-9F70-92715D236C84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System is </a:t>
            </a:r>
            <a:r>
              <a:rPr lang="en-US" sz="195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secure</a:t>
            </a: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 if resources used and accessed as intended under all circumstances</a:t>
            </a: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527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Security Properties 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7" y="912230"/>
            <a:ext cx="6406873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Confidentiality (C)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Prevent unauthorized </a:t>
            </a:r>
            <a:r>
              <a:rPr lang="en-US" sz="139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disclosure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 of information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Sensitive information should not be leaked to unauthorized parties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Integrity (I)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Prevent unauthorized </a:t>
            </a:r>
            <a:r>
              <a:rPr lang="en-US" sz="139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modification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 of information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Critical system state and code cannot be altered by malicious parties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Availability (A)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Prevent unauthorized </a:t>
            </a:r>
            <a:r>
              <a:rPr lang="en-US" sz="139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withholding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 of information or resources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The resources should be always available for authorized users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Other properties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Accountability: actions of an entity can be traced and identified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Non-repudiation: unforgeable evidence that specific actions occur</a:t>
            </a: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9184A-A014-456A-B55E-D1AA146C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75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Outline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System security basis</a:t>
            </a:r>
            <a:endParaRPr lang="en-US" sz="2238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Definition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properties</a:t>
            </a:r>
            <a:endParaRPr lang="en-US" sz="1959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Protection Stages employed by OS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Authentication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Access Control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Audit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Threats in OS</a:t>
            </a: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Hardware Protection</a:t>
            </a:r>
            <a:endParaRPr lang="en-US" sz="2238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Integrity verification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Trusted Execution Environment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F290A-262C-42F4-B79D-AECFB68B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45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Security Protection from OS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2238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OS is responsible for protecting the apps running on it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OS controls what users/processes can do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8F3D3EEE-2FD1-43A9-971E-64BD4AA1F9E9}"/>
              </a:ext>
            </a:extLst>
          </p:cNvPr>
          <p:cNvSpPr/>
          <p:nvPr/>
        </p:nvSpPr>
        <p:spPr>
          <a:xfrm>
            <a:off x="253892" y="2619582"/>
            <a:ext cx="2010578" cy="5143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Identification &amp; authentication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679917-FA96-4FCB-ACB4-B5E4C5B3E9DC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2264470" y="2876757"/>
            <a:ext cx="56117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ounded Rectangle 5">
            <a:extLst>
              <a:ext uri="{FF2B5EF4-FFF2-40B4-BE49-F238E27FC236}">
                <a16:creationId xmlns:a16="http://schemas.microsoft.com/office/drawing/2014/main" id="{5A20D2F7-82DA-4DE4-94A8-63D2EBE846FC}"/>
              </a:ext>
            </a:extLst>
          </p:cNvPr>
          <p:cNvSpPr/>
          <p:nvPr/>
        </p:nvSpPr>
        <p:spPr>
          <a:xfrm>
            <a:off x="2825642" y="2619582"/>
            <a:ext cx="1200150" cy="5143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Access control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B930D6F-1505-43AA-A635-B57EAA9455EE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4025792" y="2876757"/>
            <a:ext cx="800100" cy="7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ounded Rectangle 7">
            <a:extLst>
              <a:ext uri="{FF2B5EF4-FFF2-40B4-BE49-F238E27FC236}">
                <a16:creationId xmlns:a16="http://schemas.microsoft.com/office/drawing/2014/main" id="{5952096E-B70B-4515-A5C0-E454EF7F2C26}"/>
              </a:ext>
            </a:extLst>
          </p:cNvPr>
          <p:cNvSpPr/>
          <p:nvPr/>
        </p:nvSpPr>
        <p:spPr>
          <a:xfrm>
            <a:off x="4825892" y="2627377"/>
            <a:ext cx="1543050" cy="5143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Logging &amp; auditing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A8E01E-E2C4-417D-B19B-D97D4011E8B3}"/>
              </a:ext>
            </a:extLst>
          </p:cNvPr>
          <p:cNvSpPr/>
          <p:nvPr/>
        </p:nvSpPr>
        <p:spPr>
          <a:xfrm>
            <a:off x="4753531" y="2257717"/>
            <a:ext cx="1729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dirty="0">
                <a:solidFill>
                  <a:prstClr val="black"/>
                </a:solidFill>
                <a:latin typeface="Century" panose="02040604050505020304" pitchFamily="18" charset="0"/>
              </a:rPr>
              <a:t>Accountability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F414B4-0ECD-4A8C-84A9-7D97BC7544D3}"/>
              </a:ext>
            </a:extLst>
          </p:cNvPr>
          <p:cNvSpPr/>
          <p:nvPr/>
        </p:nvSpPr>
        <p:spPr>
          <a:xfrm>
            <a:off x="5169497" y="3201128"/>
            <a:ext cx="1098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dirty="0">
                <a:solidFill>
                  <a:prstClr val="black"/>
                </a:solidFill>
                <a:latin typeface="Century" panose="02040604050505020304" pitchFamily="18" charset="0"/>
              </a:rPr>
              <a:t>Reactive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8EAE66-DCD1-4C78-B41F-98C69569FEF0}"/>
              </a:ext>
            </a:extLst>
          </p:cNvPr>
          <p:cNvSpPr/>
          <p:nvPr/>
        </p:nvSpPr>
        <p:spPr>
          <a:xfrm>
            <a:off x="2757104" y="3183867"/>
            <a:ext cx="1337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dirty="0">
                <a:solidFill>
                  <a:prstClr val="black"/>
                </a:solidFill>
                <a:latin typeface="Century" panose="02040604050505020304" pitchFamily="18" charset="0"/>
              </a:rPr>
              <a:t>Preventive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7FAB7D-5796-4F5E-B654-47D914FFA01F}"/>
              </a:ext>
            </a:extLst>
          </p:cNvPr>
          <p:cNvSpPr/>
          <p:nvPr/>
        </p:nvSpPr>
        <p:spPr>
          <a:xfrm>
            <a:off x="2653983" y="2273334"/>
            <a:ext cx="1670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dirty="0">
                <a:solidFill>
                  <a:prstClr val="black"/>
                </a:solidFill>
                <a:latin typeface="Century" panose="02040604050505020304" pitchFamily="18" charset="0"/>
              </a:rPr>
              <a:t>Authorization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9AC6D-10AB-4319-9DF4-673E195D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446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Authentication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How does a computer know if I am a correct user?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What you know? 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password, PIN, public/private keys…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What you have? 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smartcard, hardware tokens…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Who you are? 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biometrics, face recognition, voice recognition…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How does the system conduct authentication?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Compare the input credential with the stored one</a:t>
            </a:r>
          </a:p>
          <a:p>
            <a:pPr marL="685800" lvl="2" indent="0">
              <a:spcBef>
                <a:spcPts val="420"/>
              </a:spcBef>
              <a:buSzPct val="150000"/>
              <a:buNone/>
            </a:pPr>
            <a:r>
              <a:rPr lang="en-US" sz="10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- Password file: </a:t>
            </a:r>
            <a:r>
              <a:rPr lang="en-US" sz="1099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/</a:t>
            </a:r>
            <a:r>
              <a:rPr lang="en-US" sz="1099" b="1" dirty="0" err="1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etc</a:t>
            </a:r>
            <a:r>
              <a:rPr lang="en-US" sz="1099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/passwd </a:t>
            </a:r>
            <a:r>
              <a:rPr lang="en-US" sz="10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for UNIX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Allow entry when the credential matches</a:t>
            </a:r>
          </a:p>
          <a:p>
            <a:pPr marL="685800" lvl="2" indent="0">
              <a:spcBef>
                <a:spcPts val="420"/>
              </a:spcBef>
              <a:buSzPct val="150000"/>
              <a:buNone/>
            </a:pPr>
            <a:r>
              <a:rPr lang="en-US" sz="13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- Assign the user an identifier: 32bit for UNIX</a:t>
            </a:r>
            <a:endParaRPr lang="en-US" sz="13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6925D-67EF-4DAF-8692-ABC40F04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81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Hash Function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 one-way function f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Takes an input 𝑥 of arbitrary length, and produces an output 𝑓(𝑥) of fixed length.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Pre-image resistant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Given an input 𝑥 it is easy to compute 𝑓(𝑥), but given an output 𝑦 it is hard to find 𝑥 so that 𝑦 = 𝑓(𝑥)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Collision resistant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It is computationally infeasible to find a pair (𝑦</a:t>
            </a:r>
            <a:r>
              <a:rPr lang="en-US" sz="1399" baseline="-250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1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, 𝑦</a:t>
            </a:r>
            <a:r>
              <a:rPr lang="en-US" sz="1399" baseline="-250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2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), such that 𝑦</a:t>
            </a:r>
            <a:r>
              <a:rPr lang="en-US" sz="1399" baseline="-250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1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≠𝑦</a:t>
            </a:r>
            <a:r>
              <a:rPr lang="en-US" sz="1399" baseline="-250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2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 and 𝑓(𝑦</a:t>
            </a:r>
            <a:r>
              <a:rPr lang="en-US" sz="1399" baseline="-250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1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) = 𝑓(𝑦</a:t>
            </a:r>
            <a:r>
              <a:rPr lang="en-US" sz="1399" baseline="-250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2</a:t>
            </a: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)</a:t>
            </a:r>
            <a:endParaRPr lang="en-US" sz="13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6925D-67EF-4DAF-8692-ABC40F04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24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Password Storage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Hashed passwords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Passwords are hashed and stored in a password table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When a user inputs a password, its hash value is computed and checked against the password table.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0" indent="0">
              <a:buSzPct val="80000"/>
              <a:buNone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6925D-67EF-4DAF-8692-ABC40F04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15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1DE06B-9B42-460F-8AB4-ACFEFFACE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818" y="2136328"/>
            <a:ext cx="4722667" cy="262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71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Password Security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Why hashed passwords?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Insider attack: even the attacker can access the password table, he is not able to recover the password from the hash values.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Dictionary attack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Hashed passwords, especially for human-generated passwords, are still vulnerable to dictionary attack. 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This exploits weakness in human-chosen passwords, which tend to derive from words in natural languages.</a:t>
            </a:r>
          </a:p>
          <a:p>
            <a:pPr lvl="2">
              <a:spcBef>
                <a:spcPts val="420"/>
              </a:spcBef>
              <a:buSzPct val="150000"/>
              <a:buFontTx/>
              <a:buChar char="-"/>
            </a:pPr>
            <a:r>
              <a:rPr lang="en-US" sz="10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Guess some commonly used passwords</a:t>
            </a:r>
          </a:p>
          <a:p>
            <a:pPr lvl="2">
              <a:spcBef>
                <a:spcPts val="420"/>
              </a:spcBef>
              <a:buSzPct val="150000"/>
              <a:buFontTx/>
              <a:buChar char="-"/>
            </a:pPr>
            <a:r>
              <a:rPr lang="en-US" sz="10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Compute their hash values</a:t>
            </a:r>
          </a:p>
          <a:p>
            <a:pPr lvl="2">
              <a:spcBef>
                <a:spcPts val="420"/>
              </a:spcBef>
              <a:buSzPct val="150000"/>
              <a:buFontTx/>
              <a:buChar char="-"/>
            </a:pPr>
            <a:r>
              <a:rPr lang="en-US" sz="10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Look for the same hash values in the password table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6925D-67EF-4DAF-8692-ABC40F04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7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Preventing Dictionary Attack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Password salting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 salt is added to a password before applying the hash function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 salt is a random string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Each password has its own unique salt. So even the same password will have different hash values 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The salt value is stored along with the hash of the </a:t>
            </a:r>
            <a:r>
              <a:rPr lang="en-US" sz="1399" u="sng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password + salt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The attacker needs more hash computation to recover passwords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6925D-67EF-4DAF-8692-ABC40F044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17</a:t>
            </a:fld>
            <a:endParaRPr lang="en-US"/>
          </a:p>
        </p:txBody>
      </p:sp>
      <p:pic>
        <p:nvPicPr>
          <p:cNvPr id="1026" name="Picture 2" descr="Password Security: A dash of 'salt' and little of 'hash' to go please!">
            <a:extLst>
              <a:ext uri="{FF2B5EF4-FFF2-40B4-BE49-F238E27FC236}">
                <a16:creationId xmlns:a16="http://schemas.microsoft.com/office/drawing/2014/main" id="{47027D26-872F-44E1-97A3-4D0327AC9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601" y="2822105"/>
            <a:ext cx="2828797" cy="1981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42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Password Complexity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Set up higher requirements for the password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Larger space (lower case, upper case, numbers, special symbols…)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Length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No consecutive repeated characters; Not in a dictionary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Pros: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Increase the difficulty of password guessing attack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Cons: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Hard to remember, and easy to type wrong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People may try to choose passwords that are easy to remember: attacker can guess them easily as well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People may reuse the old passwords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People write down the passwords. </a:t>
            </a:r>
          </a:p>
        </p:txBody>
      </p:sp>
      <p:pic>
        <p:nvPicPr>
          <p:cNvPr id="3" name="Picture 2" descr="A close up of a computer&#10;&#10;Description automatically generated">
            <a:extLst>
              <a:ext uri="{FF2B5EF4-FFF2-40B4-BE49-F238E27FC236}">
                <a16:creationId xmlns:a16="http://schemas.microsoft.com/office/drawing/2014/main" id="{CDCAF092-BD64-4895-AD99-267F72455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221" y="3605012"/>
            <a:ext cx="1435667" cy="125251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85773-4C57-4F85-8970-988F0659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96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Access Control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2238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policy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Specifies (subject, verb, object) triples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Subject = (user, program) pair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Verb = action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Object = resources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2238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Monitor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Checks whether the action should be allowed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BFA48C5D-9089-4A6F-A361-F24CC445F113}"/>
              </a:ext>
            </a:extLst>
          </p:cNvPr>
          <p:cNvSpPr/>
          <p:nvPr/>
        </p:nvSpPr>
        <p:spPr>
          <a:xfrm>
            <a:off x="253892" y="3228222"/>
            <a:ext cx="1958907" cy="5143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(User, program)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0DE8E26-CEFD-4679-9A0F-BED42C87AE03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 flipV="1">
            <a:off x="2212799" y="3484898"/>
            <a:ext cx="1192246" cy="4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7F5820E5-8C7A-4B4C-A063-A4448A6F538B}"/>
              </a:ext>
            </a:extLst>
          </p:cNvPr>
          <p:cNvSpPr/>
          <p:nvPr/>
        </p:nvSpPr>
        <p:spPr>
          <a:xfrm>
            <a:off x="3405045" y="3227723"/>
            <a:ext cx="1200150" cy="5143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Monitor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4C8567C-F6FF-4148-AF46-D302FD950152}"/>
              </a:ext>
            </a:extLst>
          </p:cNvPr>
          <p:cNvCxnSpPr/>
          <p:nvPr/>
        </p:nvCxnSpPr>
        <p:spPr>
          <a:xfrm>
            <a:off x="4605195" y="3477107"/>
            <a:ext cx="685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9B31F9FF-235A-45B7-94DC-DCCF97BBD83A}"/>
              </a:ext>
            </a:extLst>
          </p:cNvPr>
          <p:cNvSpPr/>
          <p:nvPr/>
        </p:nvSpPr>
        <p:spPr>
          <a:xfrm>
            <a:off x="5290995" y="3227725"/>
            <a:ext cx="1200150" cy="5143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Resource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2DCE3A1-0D99-4D6D-B330-87D3DAF6874F}"/>
              </a:ext>
            </a:extLst>
          </p:cNvPr>
          <p:cNvCxnSpPr>
            <a:stCxn id="28" idx="0"/>
            <a:endCxn id="24" idx="2"/>
          </p:cNvCxnSpPr>
          <p:nvPr/>
        </p:nvCxnSpPr>
        <p:spPr>
          <a:xfrm flipV="1">
            <a:off x="4005120" y="3742073"/>
            <a:ext cx="0" cy="3517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Rounded Rectangle 10">
            <a:extLst>
              <a:ext uri="{FF2B5EF4-FFF2-40B4-BE49-F238E27FC236}">
                <a16:creationId xmlns:a16="http://schemas.microsoft.com/office/drawing/2014/main" id="{28199FAF-3077-4E4B-B39D-2F8B53754A72}"/>
              </a:ext>
            </a:extLst>
          </p:cNvPr>
          <p:cNvSpPr/>
          <p:nvPr/>
        </p:nvSpPr>
        <p:spPr>
          <a:xfrm>
            <a:off x="3405045" y="4093870"/>
            <a:ext cx="1200150" cy="51435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" panose="02040604050505020304" pitchFamily="18" charset="0"/>
              </a:rPr>
              <a:t>Policy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3BFAA2-A2FC-4E1C-BBB4-5756B9B86EB2}"/>
              </a:ext>
            </a:extLst>
          </p:cNvPr>
          <p:cNvSpPr txBox="1"/>
          <p:nvPr/>
        </p:nvSpPr>
        <p:spPr>
          <a:xfrm>
            <a:off x="2366610" y="3105630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" panose="02040604050505020304" pitchFamily="18" charset="0"/>
              </a:rPr>
              <a:t>Action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0CDB1-0DF5-4498-9F6F-C8CE233C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57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Access Control Policy 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Who sets policy?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Users, with some system restrictions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How is access control list stored?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Sparse matrix (default deny), store as list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How is policy enforced?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OS exposes API to apps, with privileged operations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Checks ACL when API functions are called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DB061-28C6-47A8-9073-3BB9E77F0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8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Authorization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Access Control Matrix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Each column represents an object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Each row represents a subject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The entry shows the allowed verbs.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Group 47">
            <a:extLst>
              <a:ext uri="{FF2B5EF4-FFF2-40B4-BE49-F238E27FC236}">
                <a16:creationId xmlns:a16="http://schemas.microsoft.com/office/drawing/2014/main" id="{9E5755DC-EBB9-4BAD-84B9-BE19286BCAE0}"/>
              </a:ext>
            </a:extLst>
          </p:cNvPr>
          <p:cNvGraphicFramePr>
            <a:graphicFrameLocks noGrp="1"/>
          </p:cNvGraphicFramePr>
          <p:nvPr/>
        </p:nvGraphicFramePr>
        <p:xfrm>
          <a:off x="635594" y="2285990"/>
          <a:ext cx="5707428" cy="2139534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426857">
                  <a:extLst>
                    <a:ext uri="{9D8B030D-6E8A-4147-A177-3AD203B41FA5}">
                      <a16:colId xmlns:a16="http://schemas.microsoft.com/office/drawing/2014/main" val="121262342"/>
                    </a:ext>
                  </a:extLst>
                </a:gridCol>
                <a:gridCol w="1426857">
                  <a:extLst>
                    <a:ext uri="{9D8B030D-6E8A-4147-A177-3AD203B41FA5}">
                      <a16:colId xmlns:a16="http://schemas.microsoft.com/office/drawing/2014/main" val="1560624747"/>
                    </a:ext>
                  </a:extLst>
                </a:gridCol>
                <a:gridCol w="1426857">
                  <a:extLst>
                    <a:ext uri="{9D8B030D-6E8A-4147-A177-3AD203B41FA5}">
                      <a16:colId xmlns:a16="http://schemas.microsoft.com/office/drawing/2014/main" val="928727260"/>
                    </a:ext>
                  </a:extLst>
                </a:gridCol>
                <a:gridCol w="1426857">
                  <a:extLst>
                    <a:ext uri="{9D8B030D-6E8A-4147-A177-3AD203B41FA5}">
                      <a16:colId xmlns:a16="http://schemas.microsoft.com/office/drawing/2014/main" val="1797712095"/>
                    </a:ext>
                  </a:extLst>
                </a:gridCol>
              </a:tblGrid>
              <a:tr h="3840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etc</a:t>
                      </a: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/homes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kumimoji="0" lang="en-US" altLang="en-US" sz="16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usr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61655853"/>
                  </a:ext>
                </a:extLst>
              </a:tr>
              <a:tr h="68574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Alice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Read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Read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Read</a:t>
                      </a:r>
                      <a:b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Write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710997175"/>
                  </a:ext>
                </a:extLst>
              </a:tr>
              <a:tr h="68574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Bob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Read</a:t>
                      </a:r>
                      <a:b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Write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Read</a:t>
                      </a:r>
                      <a:b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Write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Read</a:t>
                      </a:r>
                      <a:b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Write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304355273"/>
                  </a:ext>
                </a:extLst>
              </a:tr>
              <a:tr h="38401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Carl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None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None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Helvetica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Read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48257825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78CAC-97F6-48D9-B2F0-5C100C89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810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Update Access Matrix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Access Control Changes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Grant capabilities: the owner of the object can grant rights to other users. 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Revoke capabilities: subjects can revoke the rights from others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Six Commands to Alter the Access Matrix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create subject 𝑠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: creates a new subject s.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create object 𝑜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: creates a new object o.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enter 𝑟 into 𝑀𝑠,𝑜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: adds right 𝑟 to cell 𝑀𝑠,𝑜.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delete 𝑟 from 𝑀𝑠,𝑜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: deletes right 𝑟 from cell 𝑀𝑠,𝑜.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destroy subject 𝑠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: deletes subject s. The column and row for s in 𝑀 are also deleted.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b="1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destroy object 𝑜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: deletes object 𝑜. The column for 𝑜 in 𝑀 is also deleted.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9A529-D0EA-4B07-800C-43FE807B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37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More Representations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Access Control List (ACLs)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For one object, which subject has accesses to it? (check the column in the Access Matrix)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399" dirty="0"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Capability: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For one subject, which objects it has capability to access? (check rows in the Access Matrix)</a:t>
            </a:r>
          </a:p>
          <a:p>
            <a:pPr>
              <a:buSzPct val="80000"/>
              <a:buFont typeface="Wingdings" charset="2"/>
              <a:buChar char="q"/>
            </a:pPr>
            <a:endParaRPr lang="en-US" altLang="en-US" sz="1900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altLang="en-US" sz="1900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Most systems use both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alt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ACLs for opening an object (e.g. </a:t>
            </a:r>
            <a:r>
              <a:rPr lang="en-US" altLang="en-US" sz="1400" dirty="0" err="1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fopen</a:t>
            </a:r>
            <a:r>
              <a:rPr lang="en-US" alt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())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alt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Capabilities for performing operations (e.g. read())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9C239-5BB7-4699-B57E-6C7C2E66B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1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Data Sharing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Problem: multiple users want to access the same file or data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Give each user the corresponding permissions.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When a new user joins, the permissions have to be granted again.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When permissions are changed, need to alter each user.</a:t>
            </a:r>
          </a:p>
          <a:p>
            <a:pPr>
              <a:buSzPct val="80000"/>
              <a:buFont typeface="Wingdings" charset="2"/>
              <a:buChar char="q"/>
            </a:pP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Solution: group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Set permissions for the group instead of the user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 user joining the group will have the corresponding permissions.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 user quitting the group will loss the corresponding permissions.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Easier to manage and update. 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8DA2-C4FA-4144-8B1C-5C51CE17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048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Audit Logs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1C2FCF2B-6D19-4A2E-951F-FEFD9D3672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71580"/>
              </p:ext>
            </p:extLst>
          </p:nvPr>
        </p:nvGraphicFramePr>
        <p:xfrm>
          <a:off x="476164" y="2255822"/>
          <a:ext cx="6095999" cy="1986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3623">
                  <a:extLst>
                    <a:ext uri="{9D8B030D-6E8A-4147-A177-3AD203B41FA5}">
                      <a16:colId xmlns:a16="http://schemas.microsoft.com/office/drawing/2014/main" val="1628912955"/>
                    </a:ext>
                  </a:extLst>
                </a:gridCol>
                <a:gridCol w="4662376">
                  <a:extLst>
                    <a:ext uri="{9D8B030D-6E8A-4147-A177-3AD203B41FA5}">
                      <a16:colId xmlns:a16="http://schemas.microsoft.com/office/drawing/2014/main" val="40216487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/</a:t>
                      </a:r>
                      <a:r>
                        <a:rPr lang="en-US" b="1" dirty="0" err="1"/>
                        <a:t>usr</a:t>
                      </a:r>
                      <a:r>
                        <a:rPr lang="en-US" b="1" dirty="0"/>
                        <a:t>/</a:t>
                      </a:r>
                      <a:r>
                        <a:rPr lang="en-US" b="1" dirty="0" err="1"/>
                        <a:t>adm</a:t>
                      </a:r>
                      <a:r>
                        <a:rPr lang="en-US" b="1" dirty="0"/>
                        <a:t>/</a:t>
                      </a:r>
                      <a:r>
                        <a:rPr lang="en-US" b="1" dirty="0" err="1"/>
                        <a:t>lastlog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Records the last time a user has logged in; displayed with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finger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50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/var/</a:t>
                      </a:r>
                      <a:r>
                        <a:rPr lang="en-US" b="1" dirty="0" err="1"/>
                        <a:t>adm</a:t>
                      </a:r>
                      <a:r>
                        <a:rPr lang="en-US" b="1" dirty="0"/>
                        <a:t>/</a:t>
                      </a:r>
                      <a:r>
                        <a:rPr lang="en-US" b="1" dirty="0" err="1"/>
                        <a:t>utmp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Records accounting information used by the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who</a:t>
                      </a:r>
                      <a:r>
                        <a:rPr lang="en-US" dirty="0"/>
                        <a:t> command.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875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/var/</a:t>
                      </a:r>
                      <a:r>
                        <a:rPr lang="en-US" b="1" dirty="0" err="1"/>
                        <a:t>adm</a:t>
                      </a:r>
                      <a:r>
                        <a:rPr lang="en-US" b="1" dirty="0"/>
                        <a:t>/</a:t>
                      </a:r>
                      <a:r>
                        <a:rPr lang="en-US" b="1" dirty="0" err="1"/>
                        <a:t>wtmp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Records every time a user logs in or logs out; displayed with the </a:t>
                      </a: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last </a:t>
                      </a:r>
                      <a:r>
                        <a:rPr lang="en-US" dirty="0"/>
                        <a:t>command.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089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/var/</a:t>
                      </a:r>
                      <a:r>
                        <a:rPr lang="en-US" b="1" dirty="0" err="1"/>
                        <a:t>adm</a:t>
                      </a:r>
                      <a:r>
                        <a:rPr lang="en-US" b="1" dirty="0"/>
                        <a:t>/acct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Records all executed commands; displayed with </a:t>
                      </a:r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lastcomm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73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/var/log/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modern Linux systems, log files are located in there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82183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7B03E-97D2-451F-9F25-181E9F98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25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1DD8FE7-D169-4C8A-A40D-0B7524AE9157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Audit trail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Recording all protection-orientated activities, important to understanding what happened, why, and catching things that shouldn’t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162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Outline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System security basis</a:t>
            </a:r>
            <a:endParaRPr lang="en-US" sz="2238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Definition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properties</a:t>
            </a:r>
            <a:endParaRPr lang="en-US" sz="1959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Protection Stages employed by OS</a:t>
            </a:r>
            <a:endParaRPr lang="en-US" sz="2238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Authentication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Access Control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Audit</a:t>
            </a:r>
            <a:endParaRPr lang="en-US" sz="1959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Threats in OS</a:t>
            </a: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Hardware Protection</a:t>
            </a:r>
            <a:endParaRPr lang="en-US" sz="2238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Integrity verification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Trusted Execution Environment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F290A-262C-42F4-B79D-AECFB68B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758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Privileged Rings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Operating modes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Kernel mode has the highest privileges, running the critical functions and services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Entities with the higher privilege levels cannot call the functions and access the objects in the lower privilege levels directly.</a:t>
            </a:r>
          </a:p>
          <a:p>
            <a:pPr marL="685800" lvl="2" indent="0">
              <a:spcBef>
                <a:spcPts val="420"/>
              </a:spcBef>
              <a:buSzPct val="150000"/>
              <a:buNone/>
            </a:pPr>
            <a:r>
              <a:rPr lang="en-US" sz="10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- System call, interrupt, etc. 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Status flag allows system to work in different modes (context switching)</a:t>
            </a: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 descr="Rings of protection, four levels of security">
            <a:extLst>
              <a:ext uri="{FF2B5EF4-FFF2-40B4-BE49-F238E27FC236}">
                <a16:creationId xmlns:a16="http://schemas.microsoft.com/office/drawing/2014/main" id="{BA23873F-8588-41FB-9F14-C2120BC73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305" y="2809211"/>
            <a:ext cx="2076006" cy="1862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1D6E7-0A5D-4ACB-9919-07FE82C5C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054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Malware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Software code that maliciously subvert the computer system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Virus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: malicious program that causes copies of itself to be created when trigged by the user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Worms: 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malicious program that causes copies of itself to be created without any user intervention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Trojan horses: 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appears to do something useful, but masks some hidden malicious activities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Rootkit: 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hides other malware from detection and maintains root-level access to the computer.</a:t>
            </a:r>
            <a:endParaRPr lang="en-US" sz="1400" dirty="0">
              <a:solidFill>
                <a:srgbClr val="FF0000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Backdoor: 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allow a remote party to gain access to the computer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Bot: 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inserted into a computer and lies dormant until invoked by remotely to perform a function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Spyware: 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inserted into the computer to capture users’ data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solidFill>
                  <a:srgbClr val="FF0000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Ransomware: </a:t>
            </a: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locks up data via encryption, demanding payment to unlock it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8DA2-C4FA-4144-8B1C-5C51CE17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4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How to Inject Malware?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Code-injection attack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The system code is not malicious but has bugs allowing executable code to be added or modified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Buffer overflow</a:t>
            </a: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8DA2-C4FA-4144-8B1C-5C51CE17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29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BEB6372-FBFA-4F5F-A820-B5DF61FA4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416" y="2478170"/>
            <a:ext cx="3748965" cy="1838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CF0D6C7-E881-4FC2-8351-92ABE612A1DB}"/>
              </a:ext>
            </a:extLst>
          </p:cNvPr>
          <p:cNvSpPr txBox="1">
            <a:spLocks noChangeArrowheads="1"/>
          </p:cNvSpPr>
          <p:nvPr/>
        </p:nvSpPr>
        <p:spPr>
          <a:xfrm>
            <a:off x="388859" y="2342829"/>
            <a:ext cx="2643557" cy="2196746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#include </a:t>
            </a:r>
            <a:r>
              <a:rPr lang="en-US" altLang="en-US" sz="1200" i="1" dirty="0">
                <a:latin typeface="Courier New" panose="02070309020205020404" pitchFamily="49" charset="0"/>
              </a:rPr>
              <a:t>&lt;</a:t>
            </a:r>
            <a:r>
              <a:rPr lang="en-US" altLang="en-US" sz="1200" dirty="0" err="1">
                <a:latin typeface="Courier New" panose="02070309020205020404" pitchFamily="49" charset="0"/>
              </a:rPr>
              <a:t>stdio.h</a:t>
            </a:r>
            <a:r>
              <a:rPr lang="en-US" altLang="en-US" sz="1200" i="1" dirty="0">
                <a:latin typeface="Courier New" panose="02070309020205020404" pitchFamily="49" charset="0"/>
              </a:rPr>
              <a:t>&gt;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#define BUFFER SIZE 256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int main(int </a:t>
            </a:r>
            <a:r>
              <a:rPr lang="en-US" altLang="en-US" sz="1200" dirty="0" err="1">
                <a:latin typeface="Courier New" panose="02070309020205020404" pitchFamily="49" charset="0"/>
              </a:rPr>
              <a:t>argc</a:t>
            </a:r>
            <a:r>
              <a:rPr lang="en-US" altLang="en-US" sz="1200" dirty="0">
                <a:latin typeface="Courier New" panose="02070309020205020404" pitchFamily="49" charset="0"/>
              </a:rPr>
              <a:t>, char *</a:t>
            </a:r>
            <a:r>
              <a:rPr lang="en-US" altLang="en-US" sz="1200" dirty="0" err="1">
                <a:latin typeface="Courier New" panose="02070309020205020404" pitchFamily="49" charset="0"/>
              </a:rPr>
              <a:t>argv</a:t>
            </a:r>
            <a:r>
              <a:rPr lang="en-US" altLang="en-US" sz="1200" dirty="0">
                <a:latin typeface="Courier New" panose="02070309020205020404" pitchFamily="49" charset="0"/>
              </a:rPr>
              <a:t>[])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{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	char buffer[BUFFER SIZE];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	if (</a:t>
            </a:r>
            <a:r>
              <a:rPr lang="en-US" altLang="en-US" sz="1200" dirty="0" err="1">
                <a:latin typeface="Courier New" panose="02070309020205020404" pitchFamily="49" charset="0"/>
              </a:rPr>
              <a:t>argc</a:t>
            </a:r>
            <a:r>
              <a:rPr lang="en-US" altLang="en-US" sz="1200" dirty="0">
                <a:latin typeface="Courier New" panose="02070309020205020404" pitchFamily="49" charset="0"/>
              </a:rPr>
              <a:t> &lt; 2)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			return -1;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	else {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			</a:t>
            </a:r>
            <a:r>
              <a:rPr lang="en-US" altLang="en-US" sz="1200" dirty="0" err="1">
                <a:latin typeface="Courier New" panose="02070309020205020404" pitchFamily="49" charset="0"/>
              </a:rPr>
              <a:t>strcpy</a:t>
            </a:r>
            <a:r>
              <a:rPr lang="en-US" altLang="en-US" sz="1200" dirty="0">
                <a:latin typeface="Courier New" panose="02070309020205020404" pitchFamily="49" charset="0"/>
              </a:rPr>
              <a:t>(</a:t>
            </a:r>
            <a:r>
              <a:rPr lang="en-US" altLang="en-US" sz="1200" dirty="0" err="1">
                <a:latin typeface="Courier New" panose="02070309020205020404" pitchFamily="49" charset="0"/>
              </a:rPr>
              <a:t>buffer,argv</a:t>
            </a:r>
            <a:r>
              <a:rPr lang="en-US" altLang="en-US" sz="1200" dirty="0">
                <a:latin typeface="Courier New" panose="02070309020205020404" pitchFamily="49" charset="0"/>
              </a:rPr>
              <a:t>[1]);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			return 0;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	}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200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5840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How to Propagate Malware?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Virus tries to copy itself to other programs and propagate it to other systems</a:t>
            </a: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8DA2-C4FA-4144-8B1C-5C51CE17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30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BCA223-733A-47CB-9E89-D176AD613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15" y="1700143"/>
            <a:ext cx="4839169" cy="298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1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How to Hide Malware?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Rootkits hook the function called by the anti-malware, and remove their existences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Windows:</a:t>
            </a:r>
          </a:p>
          <a:p>
            <a:pPr lvl="2">
              <a:spcBef>
                <a:spcPts val="420"/>
              </a:spcBef>
              <a:buSzPct val="150000"/>
              <a:buFontTx/>
              <a:buChar char="-"/>
            </a:pPr>
            <a:r>
              <a:rPr lang="en-US" sz="1100" dirty="0" err="1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NtOpenProcess</a:t>
            </a:r>
            <a:endParaRPr lang="en-US" sz="1100" dirty="0"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2">
              <a:spcBef>
                <a:spcPts val="420"/>
              </a:spcBef>
              <a:buSzPct val="150000"/>
              <a:buFontTx/>
              <a:buChar char="-"/>
            </a:pPr>
            <a:r>
              <a:rPr lang="en-US" sz="1100" dirty="0" err="1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NtQuerySystemInformation</a:t>
            </a:r>
            <a:endParaRPr lang="en-US" sz="1100" dirty="0"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2">
              <a:spcBef>
                <a:spcPts val="420"/>
              </a:spcBef>
              <a:buSzPct val="150000"/>
              <a:buFontTx/>
              <a:buChar char="-"/>
            </a:pPr>
            <a:r>
              <a:rPr lang="en-US" sz="1100" dirty="0" err="1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PsActiveProcessLinkHead</a:t>
            </a:r>
            <a:endParaRPr lang="en-US" sz="1100" dirty="0"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4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Linux:</a:t>
            </a:r>
          </a:p>
          <a:p>
            <a:pPr lvl="2">
              <a:spcBef>
                <a:spcPts val="420"/>
              </a:spcBef>
              <a:buSzPct val="150000"/>
              <a:buFontTx/>
              <a:buChar char="-"/>
            </a:pPr>
            <a:r>
              <a:rPr lang="en-US" sz="11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Proc filesystem (</a:t>
            </a:r>
            <a:r>
              <a:rPr lang="en-US" sz="1100" dirty="0" err="1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procfs</a:t>
            </a:r>
            <a:r>
              <a:rPr lang="en-US" sz="1100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)</a:t>
            </a:r>
          </a:p>
          <a:p>
            <a:pPr lvl="2">
              <a:spcBef>
                <a:spcPts val="420"/>
              </a:spcBef>
              <a:buSzPct val="150000"/>
              <a:buFontTx/>
              <a:buChar char="-"/>
            </a:pPr>
            <a:r>
              <a:rPr lang="en-US" sz="1100" dirty="0" err="1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task_struct</a:t>
            </a:r>
            <a:endParaRPr lang="en-US" sz="1100" dirty="0"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28DA2-C4FA-4144-8B1C-5C51CE17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31</a:t>
            </a:fld>
            <a:endParaRPr lang="en-US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90873077-5D0E-4D16-93DD-95800E1F1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799" y="1622059"/>
            <a:ext cx="2545146" cy="260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7945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Outline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System security basis</a:t>
            </a:r>
            <a:endParaRPr lang="en-US" sz="2238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Definition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properties</a:t>
            </a:r>
            <a:endParaRPr lang="en-US" sz="1959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Protection Stages employed by OS</a:t>
            </a:r>
            <a:endParaRPr lang="en-US" sz="2238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Authentication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Access Control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Audit</a:t>
            </a:r>
            <a:endParaRPr lang="en-US" sz="1959" dirty="0">
              <a:solidFill>
                <a:schemeClr val="bg1">
                  <a:lumMod val="75000"/>
                </a:schemeClr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chemeClr val="bg1">
                    <a:lumMod val="75000"/>
                  </a:schemeClr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Threats in OS</a:t>
            </a: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Hardware Protection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Integrity verification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Trusted Execution Environment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F290A-262C-42F4-B79D-AECFB68BD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43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Computer System: A Hierarchic View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System layers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Different scenarios may have different layers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Lower layers have higher privileges and can protect higher layers. 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Lower layers need to be better protected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55BF6D3-8493-4AD1-8732-E8D6DBB6A085}"/>
              </a:ext>
            </a:extLst>
          </p:cNvPr>
          <p:cNvSpPr/>
          <p:nvPr/>
        </p:nvSpPr>
        <p:spPr>
          <a:xfrm>
            <a:off x="2155878" y="2325462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dirty="0"/>
              <a:t>Apps</a:t>
            </a:r>
            <a:endParaRPr lang="en-US" sz="1900" kern="12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F89E96-D796-492C-827C-10762B9E885E}"/>
              </a:ext>
            </a:extLst>
          </p:cNvPr>
          <p:cNvSpPr/>
          <p:nvPr/>
        </p:nvSpPr>
        <p:spPr>
          <a:xfrm>
            <a:off x="2155878" y="2718894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Container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0C2A17B-685F-452E-8014-31325195EE08}"/>
              </a:ext>
            </a:extLst>
          </p:cNvPr>
          <p:cNvSpPr/>
          <p:nvPr/>
        </p:nvSpPr>
        <p:spPr>
          <a:xfrm>
            <a:off x="2155878" y="3093134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/>
              <a:t>OS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71AB813-4476-4A42-A494-5DDEFC5E45F3}"/>
              </a:ext>
            </a:extLst>
          </p:cNvPr>
          <p:cNvSpPr/>
          <p:nvPr/>
        </p:nvSpPr>
        <p:spPr>
          <a:xfrm>
            <a:off x="2155878" y="3476970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VM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A3C0D79-8801-47EE-A87B-C622F02B060E}"/>
              </a:ext>
            </a:extLst>
          </p:cNvPr>
          <p:cNvSpPr/>
          <p:nvPr/>
        </p:nvSpPr>
        <p:spPr>
          <a:xfrm>
            <a:off x="2155878" y="4236640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Hardware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228EE98-B4AE-40B9-8044-6247A4B113BE}"/>
              </a:ext>
            </a:extLst>
          </p:cNvPr>
          <p:cNvSpPr/>
          <p:nvPr/>
        </p:nvSpPr>
        <p:spPr>
          <a:xfrm>
            <a:off x="2155878" y="3852804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Firmware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E29E2-331C-435C-AF6D-F418A69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084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Chains of Trust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Establish verified systems from bottom to top</a:t>
            </a:r>
            <a:endParaRPr lang="en-US" sz="2238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The bottom layers validate the integrity of the top layers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If the verification passes, then it is safe to launch it.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39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Each layer is vulnerable to attack from below if the lower layers are not secured appropriately</a:t>
            </a: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55BF6D3-8493-4AD1-8732-E8D6DBB6A085}"/>
              </a:ext>
            </a:extLst>
          </p:cNvPr>
          <p:cNvSpPr/>
          <p:nvPr/>
        </p:nvSpPr>
        <p:spPr>
          <a:xfrm>
            <a:off x="2155878" y="2325462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dirty="0"/>
              <a:t>Apps</a:t>
            </a:r>
            <a:endParaRPr lang="en-US" sz="1900" kern="120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4F89E96-D796-492C-827C-10762B9E885E}"/>
              </a:ext>
            </a:extLst>
          </p:cNvPr>
          <p:cNvSpPr/>
          <p:nvPr/>
        </p:nvSpPr>
        <p:spPr>
          <a:xfrm>
            <a:off x="2155878" y="2718894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Container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0C2A17B-685F-452E-8014-31325195EE08}"/>
              </a:ext>
            </a:extLst>
          </p:cNvPr>
          <p:cNvSpPr/>
          <p:nvPr/>
        </p:nvSpPr>
        <p:spPr>
          <a:xfrm>
            <a:off x="2155878" y="3093134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/>
              <a:t>OS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71AB813-4476-4A42-A494-5DDEFC5E45F3}"/>
              </a:ext>
            </a:extLst>
          </p:cNvPr>
          <p:cNvSpPr/>
          <p:nvPr/>
        </p:nvSpPr>
        <p:spPr>
          <a:xfrm>
            <a:off x="2155878" y="3476970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VM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A3C0D79-8801-47EE-A87B-C622F02B060E}"/>
              </a:ext>
            </a:extLst>
          </p:cNvPr>
          <p:cNvSpPr/>
          <p:nvPr/>
        </p:nvSpPr>
        <p:spPr>
          <a:xfrm>
            <a:off x="2155878" y="4236640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Hardware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228EE98-B4AE-40B9-8044-6247A4B113BE}"/>
              </a:ext>
            </a:extLst>
          </p:cNvPr>
          <p:cNvSpPr/>
          <p:nvPr/>
        </p:nvSpPr>
        <p:spPr>
          <a:xfrm>
            <a:off x="2155878" y="3852804"/>
            <a:ext cx="2221992" cy="383836"/>
          </a:xfrm>
          <a:custGeom>
            <a:avLst/>
            <a:gdLst>
              <a:gd name="connsiteX0" fmla="*/ 0 w 2221992"/>
              <a:gd name="connsiteY0" fmla="*/ 63974 h 383836"/>
              <a:gd name="connsiteX1" fmla="*/ 63974 w 2221992"/>
              <a:gd name="connsiteY1" fmla="*/ 0 h 383836"/>
              <a:gd name="connsiteX2" fmla="*/ 2158018 w 2221992"/>
              <a:gd name="connsiteY2" fmla="*/ 0 h 383836"/>
              <a:gd name="connsiteX3" fmla="*/ 2221992 w 2221992"/>
              <a:gd name="connsiteY3" fmla="*/ 63974 h 383836"/>
              <a:gd name="connsiteX4" fmla="*/ 2221992 w 2221992"/>
              <a:gd name="connsiteY4" fmla="*/ 319862 h 383836"/>
              <a:gd name="connsiteX5" fmla="*/ 2158018 w 2221992"/>
              <a:gd name="connsiteY5" fmla="*/ 383836 h 383836"/>
              <a:gd name="connsiteX6" fmla="*/ 63974 w 2221992"/>
              <a:gd name="connsiteY6" fmla="*/ 383836 h 383836"/>
              <a:gd name="connsiteX7" fmla="*/ 0 w 2221992"/>
              <a:gd name="connsiteY7" fmla="*/ 319862 h 383836"/>
              <a:gd name="connsiteX8" fmla="*/ 0 w 2221992"/>
              <a:gd name="connsiteY8" fmla="*/ 63974 h 383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21992" h="383836">
                <a:moveTo>
                  <a:pt x="0" y="63974"/>
                </a:moveTo>
                <a:cubicBezTo>
                  <a:pt x="0" y="28642"/>
                  <a:pt x="28642" y="0"/>
                  <a:pt x="63974" y="0"/>
                </a:cubicBezTo>
                <a:lnTo>
                  <a:pt x="2158018" y="0"/>
                </a:lnTo>
                <a:cubicBezTo>
                  <a:pt x="2193350" y="0"/>
                  <a:pt x="2221992" y="28642"/>
                  <a:pt x="2221992" y="63974"/>
                </a:cubicBezTo>
                <a:lnTo>
                  <a:pt x="2221992" y="319862"/>
                </a:lnTo>
                <a:cubicBezTo>
                  <a:pt x="2221992" y="355194"/>
                  <a:pt x="2193350" y="383836"/>
                  <a:pt x="2158018" y="383836"/>
                </a:cubicBezTo>
                <a:lnTo>
                  <a:pt x="63974" y="383836"/>
                </a:lnTo>
                <a:cubicBezTo>
                  <a:pt x="28642" y="383836"/>
                  <a:pt x="0" y="355194"/>
                  <a:pt x="0" y="319862"/>
                </a:cubicBezTo>
                <a:lnTo>
                  <a:pt x="0" y="63974"/>
                </a:lnTo>
                <a:close/>
              </a:path>
            </a:pathLst>
          </a:custGeom>
        </p:spPr>
        <p:style>
          <a:lnRef idx="2">
            <a:schemeClr val="accent3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91127" tIns="54932" rIns="91127" bIns="54932" numCol="1" spcCol="1270" anchor="ctr" anchorCtr="0">
            <a:noAutofit/>
          </a:bodyPr>
          <a:lstStyle/>
          <a:p>
            <a:pPr marL="0" lvl="0" indent="0" algn="ctr" defTabSz="844550" rtl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900" kern="1200" dirty="0"/>
              <a:t>Firmware</a:t>
            </a:r>
          </a:p>
        </p:txBody>
      </p:sp>
      <p:sp>
        <p:nvSpPr>
          <p:cNvPr id="2" name="Arrow: Curved Left 1">
            <a:extLst>
              <a:ext uri="{FF2B5EF4-FFF2-40B4-BE49-F238E27FC236}">
                <a16:creationId xmlns:a16="http://schemas.microsoft.com/office/drawing/2014/main" id="{8780BFC6-E1B0-4903-A231-EF3DE1200275}"/>
              </a:ext>
            </a:extLst>
          </p:cNvPr>
          <p:cNvSpPr/>
          <p:nvPr/>
        </p:nvSpPr>
        <p:spPr>
          <a:xfrm rot="10800000">
            <a:off x="1786269" y="4090701"/>
            <a:ext cx="260538" cy="291878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C65EB2B5-76B5-48A1-A44B-4B3145CAAA18}"/>
              </a:ext>
            </a:extLst>
          </p:cNvPr>
          <p:cNvSpPr/>
          <p:nvPr/>
        </p:nvSpPr>
        <p:spPr>
          <a:xfrm rot="10800000">
            <a:off x="1786269" y="3681433"/>
            <a:ext cx="260538" cy="291878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AC41F001-5D1A-4BDD-A941-604B6DF85494}"/>
              </a:ext>
            </a:extLst>
          </p:cNvPr>
          <p:cNvSpPr/>
          <p:nvPr/>
        </p:nvSpPr>
        <p:spPr>
          <a:xfrm rot="10800000">
            <a:off x="1786269" y="3305169"/>
            <a:ext cx="260538" cy="291878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Arrow: Curved Left 17">
            <a:extLst>
              <a:ext uri="{FF2B5EF4-FFF2-40B4-BE49-F238E27FC236}">
                <a16:creationId xmlns:a16="http://schemas.microsoft.com/office/drawing/2014/main" id="{FF2915FA-AEB1-4EFA-99E4-19AA71638A81}"/>
              </a:ext>
            </a:extLst>
          </p:cNvPr>
          <p:cNvSpPr/>
          <p:nvPr/>
        </p:nvSpPr>
        <p:spPr>
          <a:xfrm rot="10800000">
            <a:off x="1786269" y="2895902"/>
            <a:ext cx="260538" cy="291878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Curved Left 18">
            <a:extLst>
              <a:ext uri="{FF2B5EF4-FFF2-40B4-BE49-F238E27FC236}">
                <a16:creationId xmlns:a16="http://schemas.microsoft.com/office/drawing/2014/main" id="{1248FE48-4E13-42B1-B3DA-D3263702CB47}"/>
              </a:ext>
            </a:extLst>
          </p:cNvPr>
          <p:cNvSpPr/>
          <p:nvPr/>
        </p:nvSpPr>
        <p:spPr>
          <a:xfrm rot="10800000">
            <a:off x="1801390" y="2516598"/>
            <a:ext cx="260538" cy="291878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4E11C65-F130-4963-86B3-9895B9E42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036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Integrity Verification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Only execute code signed by an entity we trust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Load the bootloader in the firmware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Reads and verifies the kernel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Only loads kernel if the signature is verified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Similarly, kernel can run only verified applications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5B6B0D8-E6BB-4BD0-939B-F5D169F25C71}"/>
              </a:ext>
            </a:extLst>
          </p:cNvPr>
          <p:cNvGrpSpPr/>
          <p:nvPr/>
        </p:nvGrpSpPr>
        <p:grpSpPr>
          <a:xfrm>
            <a:off x="253892" y="2465029"/>
            <a:ext cx="5993330" cy="2367517"/>
            <a:chOff x="726590" y="2895600"/>
            <a:chExt cx="6553422" cy="2819400"/>
          </a:xfrm>
        </p:grpSpPr>
        <p:sp>
          <p:nvSpPr>
            <p:cNvPr id="5" name="Flowchart: Alternate Process 4">
              <a:extLst>
                <a:ext uri="{FF2B5EF4-FFF2-40B4-BE49-F238E27FC236}">
                  <a16:creationId xmlns:a16="http://schemas.microsoft.com/office/drawing/2014/main" id="{0C952206-6154-4BDF-BE18-47CC691986A3}"/>
                </a:ext>
              </a:extLst>
            </p:cNvPr>
            <p:cNvSpPr/>
            <p:nvPr/>
          </p:nvSpPr>
          <p:spPr>
            <a:xfrm>
              <a:off x="3068395" y="3733800"/>
              <a:ext cx="1828800" cy="609600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Hash binary, verify signature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C82AF81-B9BB-469D-81FF-4E777B8FB273}"/>
                </a:ext>
              </a:extLst>
            </p:cNvPr>
            <p:cNvCxnSpPr>
              <a:endCxn id="5" idx="0"/>
            </p:cNvCxnSpPr>
            <p:nvPr/>
          </p:nvCxnSpPr>
          <p:spPr>
            <a:xfrm>
              <a:off x="3982795" y="3429000"/>
              <a:ext cx="0" cy="3048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41CB453-425C-4103-9A56-487F18A5AF24}"/>
                </a:ext>
              </a:extLst>
            </p:cNvPr>
            <p:cNvSpPr/>
            <p:nvPr/>
          </p:nvSpPr>
          <p:spPr>
            <a:xfrm>
              <a:off x="3068395" y="2895600"/>
              <a:ext cx="1295400" cy="5334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Program Binary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6A36AAE-758E-4F8F-B26D-A8049DF12D63}"/>
                </a:ext>
              </a:extLst>
            </p:cNvPr>
            <p:cNvSpPr/>
            <p:nvPr/>
          </p:nvSpPr>
          <p:spPr>
            <a:xfrm>
              <a:off x="4363795" y="2895600"/>
              <a:ext cx="821800" cy="533400"/>
            </a:xfrm>
            <a:prstGeom prst="rect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Signature</a:t>
              </a:r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556DC250-885F-4170-AD3F-3F7F1408B22C}"/>
                </a:ext>
              </a:extLst>
            </p:cNvPr>
            <p:cNvSpPr/>
            <p:nvPr/>
          </p:nvSpPr>
          <p:spPr>
            <a:xfrm>
              <a:off x="6060812" y="3733800"/>
              <a:ext cx="1219200" cy="609600"/>
            </a:xfrm>
            <a:prstGeom prst="flowChart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Certificate Authority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BCEFA9B-8250-4D8B-ACDE-1A992835C20E}"/>
                </a:ext>
              </a:extLst>
            </p:cNvPr>
            <p:cNvCxnSpPr>
              <a:stCxn id="11" idx="1"/>
              <a:endCxn id="5" idx="3"/>
            </p:cNvCxnSpPr>
            <p:nvPr/>
          </p:nvCxnSpPr>
          <p:spPr>
            <a:xfrm flipH="1">
              <a:off x="4897195" y="4038600"/>
              <a:ext cx="1163617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490AB4-2BEA-4264-9C13-DEBBDBA991DB}"/>
                </a:ext>
              </a:extLst>
            </p:cNvPr>
            <p:cNvSpPr txBox="1"/>
            <p:nvPr/>
          </p:nvSpPr>
          <p:spPr>
            <a:xfrm>
              <a:off x="5021121" y="3733800"/>
              <a:ext cx="1012141" cy="3665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Public Key</a:t>
              </a:r>
            </a:p>
          </p:txBody>
        </p:sp>
        <p:sp>
          <p:nvSpPr>
            <p:cNvPr id="14" name="Flowchart: Decision 13">
              <a:extLst>
                <a:ext uri="{FF2B5EF4-FFF2-40B4-BE49-F238E27FC236}">
                  <a16:creationId xmlns:a16="http://schemas.microsoft.com/office/drawing/2014/main" id="{16DAEBBF-3F23-4F77-8BB8-93F324FD4990}"/>
                </a:ext>
              </a:extLst>
            </p:cNvPr>
            <p:cNvSpPr/>
            <p:nvPr/>
          </p:nvSpPr>
          <p:spPr>
            <a:xfrm>
              <a:off x="2895600" y="4724400"/>
              <a:ext cx="2174390" cy="990600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Signature matches?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CBF976C-A540-4C6F-B707-53981C26AE3A}"/>
                </a:ext>
              </a:extLst>
            </p:cNvPr>
            <p:cNvCxnSpPr>
              <a:stCxn id="5" idx="2"/>
              <a:endCxn id="14" idx="0"/>
            </p:cNvCxnSpPr>
            <p:nvPr/>
          </p:nvCxnSpPr>
          <p:spPr>
            <a:xfrm>
              <a:off x="3982795" y="4343400"/>
              <a:ext cx="0" cy="3810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CDF063C-3F94-4CF7-8E4B-0D14514F49FC}"/>
                </a:ext>
              </a:extLst>
            </p:cNvPr>
            <p:cNvCxnSpPr>
              <a:stCxn id="14" idx="3"/>
            </p:cNvCxnSpPr>
            <p:nvPr/>
          </p:nvCxnSpPr>
          <p:spPr>
            <a:xfrm>
              <a:off x="5069990" y="5219700"/>
              <a:ext cx="73152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677CC2C-231C-47D8-B184-AE5EC48C8B21}"/>
                </a:ext>
              </a:extLst>
            </p:cNvPr>
            <p:cNvCxnSpPr/>
            <p:nvPr/>
          </p:nvCxnSpPr>
          <p:spPr>
            <a:xfrm flipH="1">
              <a:off x="2164080" y="5219700"/>
              <a:ext cx="73152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32333BD-71C0-4FF8-A9C4-F446FCBF5F53}"/>
                </a:ext>
              </a:extLst>
            </p:cNvPr>
            <p:cNvSpPr/>
            <p:nvPr/>
          </p:nvSpPr>
          <p:spPr>
            <a:xfrm>
              <a:off x="5801510" y="4953000"/>
              <a:ext cx="1437490" cy="6096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Flag error, refuse exec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CD945B-6C76-42D9-9903-73B4648D1DEB}"/>
                </a:ext>
              </a:extLst>
            </p:cNvPr>
            <p:cNvSpPr/>
            <p:nvPr/>
          </p:nvSpPr>
          <p:spPr>
            <a:xfrm>
              <a:off x="726590" y="4914900"/>
              <a:ext cx="1437490" cy="609600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Continue Execution</a:t>
              </a:r>
            </a:p>
          </p:txBody>
        </p:sp>
      </p:grp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B092050-6660-492B-8863-25216073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2982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6">
            <a:extLst>
              <a:ext uri="{FF2B5EF4-FFF2-40B4-BE49-F238E27FC236}">
                <a16:creationId xmlns:a16="http://schemas.microsoft.com/office/drawing/2014/main" id="{BC943AAF-8765-40FF-9C0B-92584C73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0" y="166594"/>
            <a:ext cx="6704761" cy="58273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 defTabSz="490727">
              <a:defRPr sz="7056">
                <a:solidFill>
                  <a:srgbClr val="005782"/>
                </a:solidFill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en-US" sz="2238" dirty="0">
                <a:solidFill>
                  <a:srgbClr val="000000"/>
                </a:solidFill>
                <a:latin typeface="Century" panose="02040604050505020304" pitchFamily="18" charset="0"/>
                <a:ea typeface="Songti TC Light" panose="02010600040101010101" pitchFamily="2" charset="-120"/>
                <a:cs typeface="Arial" panose="020B0604020202020204" pitchFamily="34" charset="0"/>
              </a:rPr>
              <a:t>Protect Applications from Untrusted OS</a:t>
            </a:r>
            <a:endParaRPr sz="2238" dirty="0">
              <a:solidFill>
                <a:srgbClr val="000000"/>
              </a:solidFill>
              <a:latin typeface="Century" panose="02040604050505020304" pitchFamily="18" charset="0"/>
              <a:ea typeface="Songti TC Light" panose="02010600040101010101" pitchFamily="2" charset="-120"/>
              <a:cs typeface="Arial" panose="020B0604020202020204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F9BD29D-FA3A-46FC-8333-A43CB4E81A5C}"/>
              </a:ext>
            </a:extLst>
          </p:cNvPr>
          <p:cNvSpPr txBox="1">
            <a:spLocks/>
          </p:cNvSpPr>
          <p:nvPr/>
        </p:nvSpPr>
        <p:spPr>
          <a:xfrm>
            <a:off x="374508" y="912230"/>
            <a:ext cx="6229600" cy="40477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57175" indent="-257175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Arial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Building a secure OS is difficult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Large code base size and complex functionalities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An untrusted OS can compromise all applications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Can we protect the security of apps even when the OS is malicious?</a:t>
            </a:r>
            <a:endParaRPr lang="en-US" sz="1959" dirty="0">
              <a:solidFill>
                <a:srgbClr val="0432FF"/>
              </a:solidFill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>
              <a:buSzPct val="80000"/>
              <a:buFont typeface="Wingdings" charset="2"/>
              <a:buChar char="q"/>
            </a:pPr>
            <a:r>
              <a:rPr lang="en-US" sz="1959" dirty="0">
                <a:solidFill>
                  <a:srgbClr val="0432FF"/>
                </a:solidFill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Solution: Intel Secure Guard Extension (SGX)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Security critical code isolated in enclave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Only CPU is trusted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Memory is encrypted</a:t>
            </a: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r>
              <a:rPr lang="en-US" sz="1679" dirty="0">
                <a:latin typeface="Century" panose="02040604050505020304" pitchFamily="18" charset="0"/>
                <a:ea typeface="Songti TC" panose="02010600040101010101" pitchFamily="2" charset="-120"/>
                <a:cs typeface="Arial" panose="020B0604020202020204" pitchFamily="34" charset="0"/>
              </a:rPr>
              <a:t>Support remote attestation</a:t>
            </a:r>
          </a:p>
          <a:p>
            <a:pPr>
              <a:buSzPct val="80000"/>
              <a:buFont typeface="Wingdings" charset="2"/>
              <a:buChar char="q"/>
            </a:pPr>
            <a:endParaRPr lang="en-US" sz="1679" dirty="0">
              <a:latin typeface="Century" panose="02040604050505020304" pitchFamily="18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lvl="1">
              <a:spcBef>
                <a:spcPts val="420"/>
              </a:spcBef>
              <a:buSzPct val="150000"/>
              <a:buFont typeface="Arial"/>
              <a:buChar char="•"/>
            </a:pPr>
            <a:endParaRPr lang="en-US" sz="1679" dirty="0">
              <a:latin typeface="Arial" panose="020B0604020202020204" pitchFamily="34" charset="0"/>
              <a:ea typeface="Songti TC" panose="02010600040101010101" pitchFamily="2" charset="-120"/>
              <a:cs typeface="Arial" panose="020B0604020202020204" pitchFamily="34" charset="0"/>
            </a:endParaRPr>
          </a:p>
          <a:p>
            <a:pPr marL="222091" indent="0">
              <a:buSzPct val="80000"/>
              <a:buFont typeface="Arial"/>
              <a:buNone/>
            </a:pPr>
            <a:endParaRPr lang="en-US" sz="167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B092050-6660-492B-8863-25216073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36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5044540-694D-4296-A8A3-D2CA55EF4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815" y="3093396"/>
            <a:ext cx="1804518" cy="177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3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42416-CD04-4013-B315-0C8CDCE3D5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17674"/>
            <a:ext cx="6172200" cy="290631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FF"/>
                </a:solidFill>
                <a:latin typeface="Century" panose="02040604050505020304" pitchFamily="18" charset="0"/>
              </a:rPr>
              <a:t>Thank You!</a:t>
            </a:r>
          </a:p>
          <a:p>
            <a:pPr marL="0" indent="0" algn="ctr">
              <a:buNone/>
            </a:pPr>
            <a:endParaRPr lang="en-US" sz="3200" dirty="0">
              <a:latin typeface="Century" panose="02040604050505020304" pitchFamily="18" charset="0"/>
            </a:endParaRPr>
          </a:p>
          <a:p>
            <a:pPr marL="0" indent="0" algn="ctr">
              <a:buNone/>
            </a:pPr>
            <a:endParaRPr lang="en-US" sz="3200" dirty="0">
              <a:latin typeface="Century" panose="02040604050505020304" pitchFamily="18" charset="0"/>
            </a:endParaRPr>
          </a:p>
          <a:p>
            <a:pPr marL="0" indent="0" algn="ctr">
              <a:buNone/>
            </a:pPr>
            <a:endParaRPr lang="en-US" sz="3200" dirty="0">
              <a:latin typeface="Century" panose="02040604050505020304" pitchFamily="18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Century" panose="02040604050505020304" pitchFamily="18" charset="0"/>
              </a:rPr>
              <a:t>tianwei.zhang@ntu.edu.sg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DFD14-EDBC-47CD-99AA-C20B45C6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62B1-0B0F-0246-9532-09536BC2AE5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27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nnex L.1 - CHFA Kick-off Meeting (Template)_v02" id="{E89F2C07-889D-4A8B-9B73-78B3885BCB14}" vid="{0210744E-1D05-41DC-B754-9881471E1D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CEF10654EA1D4B830EC03E862213BC" ma:contentTypeVersion="13" ma:contentTypeDescription="Create a new document." ma:contentTypeScope="" ma:versionID="127f93d6c593d78ac0604d1f418368f7">
  <xsd:schema xmlns:xsd="http://www.w3.org/2001/XMLSchema" xmlns:xs="http://www.w3.org/2001/XMLSchema" xmlns:p="http://schemas.microsoft.com/office/2006/metadata/properties" xmlns:ns3="d875f194-e2a3-4994-8f6a-b822c775d449" xmlns:ns4="507f708e-71ec-4f81-8a81-c080df366307" targetNamespace="http://schemas.microsoft.com/office/2006/metadata/properties" ma:root="true" ma:fieldsID="6a0742d6b1fac642d6d3d0c1612c4317" ns3:_="" ns4:_="">
    <xsd:import namespace="d875f194-e2a3-4994-8f6a-b822c775d449"/>
    <xsd:import namespace="507f708e-71ec-4f81-8a81-c080df36630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75f194-e2a3-4994-8f6a-b822c775d4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7f708e-71ec-4f81-8a81-c080df366307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975CAF-7041-46DD-B4DF-59B91373320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5A5925-5E47-4913-BFE9-AD0CEA6CB1A6}">
  <ds:schemaRefs>
    <ds:schemaRef ds:uri="d875f194-e2a3-4994-8f6a-b822c775d449"/>
    <ds:schemaRef ds:uri="http://schemas.microsoft.com/office/2006/metadata/properties"/>
    <ds:schemaRef ds:uri="507f708e-71ec-4f81-8a81-c080df366307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35E6486-9BE1-4699-9CE1-7EDF9C2A7B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75f194-e2a3-4994-8f6a-b822c775d449"/>
    <ds:schemaRef ds:uri="507f708e-71ec-4f81-8a81-c080df3663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Annex L.1 - CHFA Kick-off Meeting (Template)_v02</Template>
  <TotalTime>2179</TotalTime>
  <Words>2243</Words>
  <Application>Microsoft Office PowerPoint</Application>
  <PresentationFormat>Custom</PresentationFormat>
  <Paragraphs>426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Monotype Sorts</vt:lpstr>
      <vt:lpstr>Arial</vt:lpstr>
      <vt:lpstr>Calibri</vt:lpstr>
      <vt:lpstr>Century</vt:lpstr>
      <vt:lpstr>Courier New</vt:lpstr>
      <vt:lpstr>Helvetica</vt:lpstr>
      <vt:lpstr>Wingdings</vt:lpstr>
      <vt:lpstr>Office Theme</vt:lpstr>
      <vt:lpstr>Operating System Security</vt:lpstr>
      <vt:lpstr>Self-Introduction</vt:lpstr>
      <vt:lpstr>Questions Before Our Course</vt:lpstr>
      <vt:lpstr>Outline</vt:lpstr>
      <vt:lpstr>Outline</vt:lpstr>
      <vt:lpstr>OS Becomes more Complex</vt:lpstr>
      <vt:lpstr>Complex OS brings More Challenges</vt:lpstr>
      <vt:lpstr>OS Responsibility</vt:lpstr>
      <vt:lpstr>What’s being protected? Resources</vt:lpstr>
      <vt:lpstr>Security Properties </vt:lpstr>
      <vt:lpstr>Outline</vt:lpstr>
      <vt:lpstr>Security Protection from OS</vt:lpstr>
      <vt:lpstr>Authentication</vt:lpstr>
      <vt:lpstr>Hash Function</vt:lpstr>
      <vt:lpstr>Password Storage</vt:lpstr>
      <vt:lpstr>Password Security</vt:lpstr>
      <vt:lpstr>Preventing Dictionary Attack</vt:lpstr>
      <vt:lpstr>Password Complexity</vt:lpstr>
      <vt:lpstr>Access Control</vt:lpstr>
      <vt:lpstr>Access Control Policy </vt:lpstr>
      <vt:lpstr>Authorization</vt:lpstr>
      <vt:lpstr>Update Access Matrix</vt:lpstr>
      <vt:lpstr>More Representations</vt:lpstr>
      <vt:lpstr>Data Sharing</vt:lpstr>
      <vt:lpstr>Audit Logs</vt:lpstr>
      <vt:lpstr>Outline</vt:lpstr>
      <vt:lpstr>Privileged Rings</vt:lpstr>
      <vt:lpstr>Malware</vt:lpstr>
      <vt:lpstr>How to Inject Malware?</vt:lpstr>
      <vt:lpstr>How to Propagate Malware?</vt:lpstr>
      <vt:lpstr>How to Hide Malware?</vt:lpstr>
      <vt:lpstr>Outline</vt:lpstr>
      <vt:lpstr>Computer System: A Hierarchic View</vt:lpstr>
      <vt:lpstr>Chains of Trust</vt:lpstr>
      <vt:lpstr>Integrity Verification</vt:lpstr>
      <vt:lpstr>Protect Applications from Untrusted 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Security Tools for Investigating and Introspecting Applications in Trusted Execution Environment</dc:title>
  <dc:creator>Zhang Tianwei (Asst Prof)</dc:creator>
  <cp:lastModifiedBy>Zhang Tianwei (Asst Prof)</cp:lastModifiedBy>
  <cp:revision>188</cp:revision>
  <dcterms:created xsi:type="dcterms:W3CDTF">2020-08-26T12:19:03Z</dcterms:created>
  <dcterms:modified xsi:type="dcterms:W3CDTF">2020-11-12T03:03:50Z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0x01010081CEF10654EA1D4B830EC03E862213BC</vt:lpwstr>
  </property>
</Properties>
</file>