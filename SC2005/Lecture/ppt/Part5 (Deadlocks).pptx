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webextensions/webextension1.xml" ContentType="application/vnd.ms-office.webextension+xml"/>
  <Override PartName="/ppt/notesSlides/notesSlide3.xml" ContentType="application/vnd.openxmlformats-officedocument.presentationml.notesSlide+xml"/>
  <Override PartName="/ppt/webextensions/webextension2.xml" ContentType="application/vnd.ms-office.webextension+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webextensions/webextension3.xml" ContentType="application/vnd.ms-office.webextension+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webextensions/webextension4.xml" ContentType="application/vnd.ms-office.webextension+xml"/>
  <Override PartName="/ppt/notesSlides/notesSlide45.xml" ContentType="application/vnd.openxmlformats-officedocument.presentationml.notesSlide+xml"/>
  <Override PartName="/ppt/webextensions/webextension5.xml" ContentType="application/vnd.ms-office.webextension+xml"/>
  <Override PartName="/ppt/notesSlides/notesSlide46.xml" ContentType="application/vnd.openxmlformats-officedocument.presentationml.notesSlide+xml"/>
  <Override PartName="/ppt/webextensions/webextension6.xml" ContentType="application/vnd.ms-office.webextension+xml"/>
  <Override PartName="/ppt/notesSlides/notesSlide4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5"/>
  </p:notesMasterIdLst>
  <p:handoutMasterIdLst>
    <p:handoutMasterId r:id="rId56"/>
  </p:handoutMasterIdLst>
  <p:sldIdLst>
    <p:sldId id="335" r:id="rId2"/>
    <p:sldId id="431" r:id="rId3"/>
    <p:sldId id="425" r:id="rId4"/>
    <p:sldId id="344" r:id="rId5"/>
    <p:sldId id="264" r:id="rId6"/>
    <p:sldId id="265" r:id="rId7"/>
    <p:sldId id="266" r:id="rId8"/>
    <p:sldId id="336" r:id="rId9"/>
    <p:sldId id="267" r:id="rId10"/>
    <p:sldId id="269" r:id="rId11"/>
    <p:sldId id="270" r:id="rId12"/>
    <p:sldId id="271" r:id="rId13"/>
    <p:sldId id="256" r:id="rId14"/>
    <p:sldId id="272" r:id="rId15"/>
    <p:sldId id="273" r:id="rId16"/>
    <p:sldId id="337" r:id="rId17"/>
    <p:sldId id="268" r:id="rId18"/>
    <p:sldId id="309" r:id="rId19"/>
    <p:sldId id="424" r:id="rId20"/>
    <p:sldId id="338" r:id="rId21"/>
    <p:sldId id="274" r:id="rId22"/>
    <p:sldId id="343" r:id="rId23"/>
    <p:sldId id="275" r:id="rId24"/>
    <p:sldId id="326" r:id="rId25"/>
    <p:sldId id="341" r:id="rId26"/>
    <p:sldId id="339" r:id="rId27"/>
    <p:sldId id="277" r:id="rId28"/>
    <p:sldId id="430" r:id="rId29"/>
    <p:sldId id="310" r:id="rId30"/>
    <p:sldId id="327" r:id="rId31"/>
    <p:sldId id="279" r:id="rId32"/>
    <p:sldId id="281" r:id="rId33"/>
    <p:sldId id="282" r:id="rId34"/>
    <p:sldId id="283" r:id="rId35"/>
    <p:sldId id="329" r:id="rId36"/>
    <p:sldId id="330" r:id="rId37"/>
    <p:sldId id="331" r:id="rId38"/>
    <p:sldId id="284" r:id="rId39"/>
    <p:sldId id="311" r:id="rId40"/>
    <p:sldId id="287" r:id="rId41"/>
    <p:sldId id="319" r:id="rId42"/>
    <p:sldId id="340" r:id="rId43"/>
    <p:sldId id="334" r:id="rId44"/>
    <p:sldId id="290" r:id="rId45"/>
    <p:sldId id="342" r:id="rId46"/>
    <p:sldId id="293" r:id="rId47"/>
    <p:sldId id="294" r:id="rId48"/>
    <p:sldId id="313" r:id="rId49"/>
    <p:sldId id="429" r:id="rId50"/>
    <p:sldId id="426" r:id="rId51"/>
    <p:sldId id="427" r:id="rId52"/>
    <p:sldId id="428" r:id="rId53"/>
    <p:sldId id="323" r:id="rId54"/>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65"/>
    <p:restoredTop sz="89388" autoAdjust="0"/>
  </p:normalViewPr>
  <p:slideViewPr>
    <p:cSldViewPr snapToGrid="0">
      <p:cViewPr varScale="1">
        <p:scale>
          <a:sx n="114" d="100"/>
          <a:sy n="114" d="100"/>
        </p:scale>
        <p:origin x="2024"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9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vind Easwaran" userId="6059df8d-17bf-4148-9f7c-190b13d86f35" providerId="ADAL" clId="{CD50C3FA-B8DF-3C4F-9CA5-2949D06FCEDD}"/>
    <pc:docChg chg="custSel modSld">
      <pc:chgData name="Arvind Easwaran" userId="6059df8d-17bf-4148-9f7c-190b13d86f35" providerId="ADAL" clId="{CD50C3FA-B8DF-3C4F-9CA5-2949D06FCEDD}" dt="2025-01-09T08:15:43.327" v="5" actId="478"/>
      <pc:docMkLst>
        <pc:docMk/>
      </pc:docMkLst>
      <pc:sldChg chg="delSp mod">
        <pc:chgData name="Arvind Easwaran" userId="6059df8d-17bf-4148-9f7c-190b13d86f35" providerId="ADAL" clId="{CD50C3FA-B8DF-3C4F-9CA5-2949D06FCEDD}" dt="2025-01-09T08:14:23.131" v="1" actId="478"/>
        <pc:sldMkLst>
          <pc:docMk/>
          <pc:sldMk cId="3043342712" sldId="424"/>
        </pc:sldMkLst>
        <pc:spChg chg="del">
          <ac:chgData name="Arvind Easwaran" userId="6059df8d-17bf-4148-9f7c-190b13d86f35" providerId="ADAL" clId="{CD50C3FA-B8DF-3C4F-9CA5-2949D06FCEDD}" dt="2025-01-09T08:14:23.131" v="1" actId="478"/>
          <ac:spMkLst>
            <pc:docMk/>
            <pc:sldMk cId="3043342712" sldId="424"/>
            <ac:spMk id="3" creationId="{5C7A857A-3094-D462-4BA7-4F949DCF28A6}"/>
          </ac:spMkLst>
        </pc:spChg>
      </pc:sldChg>
      <pc:sldChg chg="mod modShow">
        <pc:chgData name="Arvind Easwaran" userId="6059df8d-17bf-4148-9f7c-190b13d86f35" providerId="ADAL" clId="{CD50C3FA-B8DF-3C4F-9CA5-2949D06FCEDD}" dt="2025-01-09T08:13:16.818" v="0" actId="729"/>
        <pc:sldMkLst>
          <pc:docMk/>
          <pc:sldMk cId="1873749706" sldId="425"/>
        </pc:sldMkLst>
      </pc:sldChg>
      <pc:sldChg chg="delSp mod">
        <pc:chgData name="Arvind Easwaran" userId="6059df8d-17bf-4148-9f7c-190b13d86f35" providerId="ADAL" clId="{CD50C3FA-B8DF-3C4F-9CA5-2949D06FCEDD}" dt="2025-01-09T08:15:24.275" v="3" actId="478"/>
        <pc:sldMkLst>
          <pc:docMk/>
          <pc:sldMk cId="1282422041" sldId="426"/>
        </pc:sldMkLst>
        <pc:spChg chg="del">
          <ac:chgData name="Arvind Easwaran" userId="6059df8d-17bf-4148-9f7c-190b13d86f35" providerId="ADAL" clId="{CD50C3FA-B8DF-3C4F-9CA5-2949D06FCEDD}" dt="2025-01-09T08:15:24.275" v="3" actId="478"/>
          <ac:spMkLst>
            <pc:docMk/>
            <pc:sldMk cId="1282422041" sldId="426"/>
            <ac:spMk id="3" creationId="{5C7A857A-3094-D462-4BA7-4F949DCF28A6}"/>
          </ac:spMkLst>
        </pc:spChg>
      </pc:sldChg>
      <pc:sldChg chg="delSp mod">
        <pc:chgData name="Arvind Easwaran" userId="6059df8d-17bf-4148-9f7c-190b13d86f35" providerId="ADAL" clId="{CD50C3FA-B8DF-3C4F-9CA5-2949D06FCEDD}" dt="2025-01-09T08:15:37.515" v="4" actId="478"/>
        <pc:sldMkLst>
          <pc:docMk/>
          <pc:sldMk cId="782001090" sldId="427"/>
        </pc:sldMkLst>
        <pc:spChg chg="del">
          <ac:chgData name="Arvind Easwaran" userId="6059df8d-17bf-4148-9f7c-190b13d86f35" providerId="ADAL" clId="{CD50C3FA-B8DF-3C4F-9CA5-2949D06FCEDD}" dt="2025-01-09T08:15:37.515" v="4" actId="478"/>
          <ac:spMkLst>
            <pc:docMk/>
            <pc:sldMk cId="782001090" sldId="427"/>
            <ac:spMk id="3" creationId="{00B271A3-265E-C1F6-A3DF-269F3D399A51}"/>
          </ac:spMkLst>
        </pc:spChg>
      </pc:sldChg>
      <pc:sldChg chg="delSp mod">
        <pc:chgData name="Arvind Easwaran" userId="6059df8d-17bf-4148-9f7c-190b13d86f35" providerId="ADAL" clId="{CD50C3FA-B8DF-3C4F-9CA5-2949D06FCEDD}" dt="2025-01-09T08:15:43.327" v="5" actId="478"/>
        <pc:sldMkLst>
          <pc:docMk/>
          <pc:sldMk cId="2487770515" sldId="428"/>
        </pc:sldMkLst>
        <pc:spChg chg="del">
          <ac:chgData name="Arvind Easwaran" userId="6059df8d-17bf-4148-9f7c-190b13d86f35" providerId="ADAL" clId="{CD50C3FA-B8DF-3C4F-9CA5-2949D06FCEDD}" dt="2025-01-09T08:15:43.327" v="5" actId="478"/>
          <ac:spMkLst>
            <pc:docMk/>
            <pc:sldMk cId="2487770515" sldId="428"/>
            <ac:spMk id="3" creationId="{A2295F02-BE06-A8CB-AE1C-FB7D179229EA}"/>
          </ac:spMkLst>
        </pc:spChg>
      </pc:sldChg>
      <pc:sldChg chg="modSp mod">
        <pc:chgData name="Arvind Easwaran" userId="6059df8d-17bf-4148-9f7c-190b13d86f35" providerId="ADAL" clId="{CD50C3FA-B8DF-3C4F-9CA5-2949D06FCEDD}" dt="2025-01-09T08:14:41.997" v="2" actId="20577"/>
        <pc:sldMkLst>
          <pc:docMk/>
          <pc:sldMk cId="742471517" sldId="430"/>
        </pc:sldMkLst>
        <pc:spChg chg="mod">
          <ac:chgData name="Arvind Easwaran" userId="6059df8d-17bf-4148-9f7c-190b13d86f35" providerId="ADAL" clId="{CD50C3FA-B8DF-3C4F-9CA5-2949D06FCEDD}" dt="2025-01-09T08:14:41.997" v="2" actId="20577"/>
          <ac:spMkLst>
            <pc:docMk/>
            <pc:sldMk cId="742471517" sldId="430"/>
            <ac:spMk id="3" creationId="{77478D7B-4931-ABE3-1835-F683FAD3010D}"/>
          </ac:spMkLst>
        </pc:spChg>
      </pc:sldChg>
      <pc:sldChg chg="mod modShow">
        <pc:chgData name="Arvind Easwaran" userId="6059df8d-17bf-4148-9f7c-190b13d86f35" providerId="ADAL" clId="{CD50C3FA-B8DF-3C4F-9CA5-2949D06FCEDD}" dt="2025-01-09T08:13:16.818" v="0" actId="729"/>
        <pc:sldMkLst>
          <pc:docMk/>
          <pc:sldMk cId="668049447" sldId="431"/>
        </pc:sldMkLst>
      </pc:sldChg>
    </pc:docChg>
  </pc:docChgLst>
  <pc:docChgLst>
    <pc:chgData name="Dmitrii Ustiugov" userId="fee3c4a0-c40b-4de8-8e1d-1d3cf97580eb" providerId="ADAL" clId="{AFEDA6F6-1C95-5C48-BCCA-B6EC5B338571}"/>
    <pc:docChg chg="custSel addSld modSld sldOrd">
      <pc:chgData name="Dmitrii Ustiugov" userId="fee3c4a0-c40b-4de8-8e1d-1d3cf97580eb" providerId="ADAL" clId="{AFEDA6F6-1C95-5C48-BCCA-B6EC5B338571}" dt="2024-09-26T02:19:15.172" v="476" actId="1076"/>
      <pc:docMkLst>
        <pc:docMk/>
      </pc:docMkLst>
      <pc:sldChg chg="modSp mod">
        <pc:chgData name="Dmitrii Ustiugov" userId="fee3c4a0-c40b-4de8-8e1d-1d3cf97580eb" providerId="ADAL" clId="{AFEDA6F6-1C95-5C48-BCCA-B6EC5B338571}" dt="2024-09-26T02:19:15.172" v="476" actId="1076"/>
        <pc:sldMkLst>
          <pc:docMk/>
          <pc:sldMk cId="172071730" sldId="344"/>
        </pc:sldMkLst>
        <pc:spChg chg="mod">
          <ac:chgData name="Dmitrii Ustiugov" userId="fee3c4a0-c40b-4de8-8e1d-1d3cf97580eb" providerId="ADAL" clId="{AFEDA6F6-1C95-5C48-BCCA-B6EC5B338571}" dt="2024-09-26T02:19:05.531" v="468" actId="20577"/>
          <ac:spMkLst>
            <pc:docMk/>
            <pc:sldMk cId="172071730" sldId="344"/>
            <ac:spMk id="20" creationId="{712DE5A6-DBDF-51BE-DB3A-6FC80529063D}"/>
          </ac:spMkLst>
        </pc:spChg>
        <pc:spChg chg="mod">
          <ac:chgData name="Dmitrii Ustiugov" userId="fee3c4a0-c40b-4de8-8e1d-1d3cf97580eb" providerId="ADAL" clId="{AFEDA6F6-1C95-5C48-BCCA-B6EC5B338571}" dt="2024-09-26T02:19:15.172" v="476" actId="1076"/>
          <ac:spMkLst>
            <pc:docMk/>
            <pc:sldMk cId="172071730" sldId="344"/>
            <ac:spMk id="50" creationId="{20C2B103-1BEA-0854-1B6D-4C522BA63A93}"/>
          </ac:spMkLst>
        </pc:spChg>
      </pc:sldChg>
      <pc:sldChg chg="modSp add mod">
        <pc:chgData name="Dmitrii Ustiugov" userId="fee3c4a0-c40b-4de8-8e1d-1d3cf97580eb" providerId="ADAL" clId="{AFEDA6F6-1C95-5C48-BCCA-B6EC5B338571}" dt="2024-09-18T08:19:01.258" v="20" actId="20577"/>
        <pc:sldMkLst>
          <pc:docMk/>
          <pc:sldMk cId="3043342712" sldId="424"/>
        </pc:sldMkLst>
        <pc:spChg chg="mod">
          <ac:chgData name="Dmitrii Ustiugov" userId="fee3c4a0-c40b-4de8-8e1d-1d3cf97580eb" providerId="ADAL" clId="{AFEDA6F6-1C95-5C48-BCCA-B6EC5B338571}" dt="2024-09-18T08:19:01.258" v="20" actId="20577"/>
          <ac:spMkLst>
            <pc:docMk/>
            <pc:sldMk cId="3043342712" sldId="424"/>
            <ac:spMk id="2" creationId="{2E55C024-5232-9CF6-1A3B-C902DDE5F6BE}"/>
          </ac:spMkLst>
        </pc:spChg>
        <pc:graphicFrameChg chg="mod">
          <ac:chgData name="Dmitrii Ustiugov" userId="fee3c4a0-c40b-4de8-8e1d-1d3cf97580eb" providerId="ADAL" clId="{AFEDA6F6-1C95-5C48-BCCA-B6EC5B338571}" dt="2024-09-18T08:18:53.503" v="1" actId="14100"/>
          <ac:graphicFrameMkLst>
            <pc:docMk/>
            <pc:sldMk cId="3043342712" sldId="424"/>
            <ac:graphicFrameMk id="6" creationId="{DF1730E1-3FE7-BF66-0BBC-64CE90B31CD2}"/>
          </ac:graphicFrameMkLst>
        </pc:graphicFrameChg>
      </pc:sldChg>
      <pc:sldChg chg="modSp add mod">
        <pc:chgData name="Dmitrii Ustiugov" userId="fee3c4a0-c40b-4de8-8e1d-1d3cf97580eb" providerId="ADAL" clId="{AFEDA6F6-1C95-5C48-BCCA-B6EC5B338571}" dt="2024-09-18T08:33:26.964" v="23" actId="14100"/>
        <pc:sldMkLst>
          <pc:docMk/>
          <pc:sldMk cId="1873749706" sldId="425"/>
        </pc:sldMkLst>
        <pc:spChg chg="mod">
          <ac:chgData name="Dmitrii Ustiugov" userId="fee3c4a0-c40b-4de8-8e1d-1d3cf97580eb" providerId="ADAL" clId="{AFEDA6F6-1C95-5C48-BCCA-B6EC5B338571}" dt="2024-09-18T08:33:18.823" v="22" actId="20577"/>
          <ac:spMkLst>
            <pc:docMk/>
            <pc:sldMk cId="1873749706" sldId="425"/>
            <ac:spMk id="2" creationId="{2E55C024-5232-9CF6-1A3B-C902DDE5F6BE}"/>
          </ac:spMkLst>
        </pc:spChg>
        <pc:graphicFrameChg chg="mod">
          <ac:chgData name="Dmitrii Ustiugov" userId="fee3c4a0-c40b-4de8-8e1d-1d3cf97580eb" providerId="ADAL" clId="{AFEDA6F6-1C95-5C48-BCCA-B6EC5B338571}" dt="2024-09-18T08:33:26.964" v="23" actId="14100"/>
          <ac:graphicFrameMkLst>
            <pc:docMk/>
            <pc:sldMk cId="1873749706" sldId="425"/>
            <ac:graphicFrameMk id="6" creationId="{DF1730E1-3FE7-BF66-0BBC-64CE90B31CD2}"/>
          </ac:graphicFrameMkLst>
        </pc:graphicFrameChg>
      </pc:sldChg>
      <pc:sldChg chg="modSp add mod">
        <pc:chgData name="Dmitrii Ustiugov" userId="fee3c4a0-c40b-4de8-8e1d-1d3cf97580eb" providerId="ADAL" clId="{AFEDA6F6-1C95-5C48-BCCA-B6EC5B338571}" dt="2024-09-18T08:52:55.883" v="45" actId="20577"/>
        <pc:sldMkLst>
          <pc:docMk/>
          <pc:sldMk cId="1282422041" sldId="426"/>
        </pc:sldMkLst>
        <pc:spChg chg="mod">
          <ac:chgData name="Dmitrii Ustiugov" userId="fee3c4a0-c40b-4de8-8e1d-1d3cf97580eb" providerId="ADAL" clId="{AFEDA6F6-1C95-5C48-BCCA-B6EC5B338571}" dt="2024-09-18T08:52:55.883" v="45" actId="20577"/>
          <ac:spMkLst>
            <pc:docMk/>
            <pc:sldMk cId="1282422041" sldId="426"/>
            <ac:spMk id="2" creationId="{2E55C024-5232-9CF6-1A3B-C902DDE5F6BE}"/>
          </ac:spMkLst>
        </pc:spChg>
      </pc:sldChg>
      <pc:sldChg chg="add">
        <pc:chgData name="Dmitrii Ustiugov" userId="fee3c4a0-c40b-4de8-8e1d-1d3cf97580eb" providerId="ADAL" clId="{AFEDA6F6-1C95-5C48-BCCA-B6EC5B338571}" dt="2024-09-18T08:53:02.818" v="46"/>
        <pc:sldMkLst>
          <pc:docMk/>
          <pc:sldMk cId="782001090" sldId="427"/>
        </pc:sldMkLst>
      </pc:sldChg>
      <pc:sldChg chg="add">
        <pc:chgData name="Dmitrii Ustiugov" userId="fee3c4a0-c40b-4de8-8e1d-1d3cf97580eb" providerId="ADAL" clId="{AFEDA6F6-1C95-5C48-BCCA-B6EC5B338571}" dt="2024-09-18T08:53:04.202" v="47"/>
        <pc:sldMkLst>
          <pc:docMk/>
          <pc:sldMk cId="2487770515" sldId="428"/>
        </pc:sldMkLst>
      </pc:sldChg>
      <pc:sldChg chg="modSp add mod">
        <pc:chgData name="Dmitrii Ustiugov" userId="fee3c4a0-c40b-4de8-8e1d-1d3cf97580eb" providerId="ADAL" clId="{AFEDA6F6-1C95-5C48-BCCA-B6EC5B338571}" dt="2024-09-18T09:02:16.516" v="51" actId="207"/>
        <pc:sldMkLst>
          <pc:docMk/>
          <pc:sldMk cId="2369099414" sldId="429"/>
        </pc:sldMkLst>
        <pc:spChg chg="mod">
          <ac:chgData name="Dmitrii Ustiugov" userId="fee3c4a0-c40b-4de8-8e1d-1d3cf97580eb" providerId="ADAL" clId="{AFEDA6F6-1C95-5C48-BCCA-B6EC5B338571}" dt="2024-09-18T09:02:16.516" v="51" actId="207"/>
          <ac:spMkLst>
            <pc:docMk/>
            <pc:sldMk cId="2369099414" sldId="429"/>
            <ac:spMk id="19" creationId="{65D20767-250D-F3B2-D6BD-EFE2A439D290}"/>
          </ac:spMkLst>
        </pc:spChg>
        <pc:spChg chg="mod">
          <ac:chgData name="Dmitrii Ustiugov" userId="fee3c4a0-c40b-4de8-8e1d-1d3cf97580eb" providerId="ADAL" clId="{AFEDA6F6-1C95-5C48-BCCA-B6EC5B338571}" dt="2024-09-18T09:02:11.811" v="50" actId="113"/>
          <ac:spMkLst>
            <pc:docMk/>
            <pc:sldMk cId="2369099414" sldId="429"/>
            <ac:spMk id="20" creationId="{2B00A1A3-664D-83C8-6136-949A225A053D}"/>
          </ac:spMkLst>
        </pc:spChg>
      </pc:sldChg>
      <pc:sldChg chg="modSp new mod">
        <pc:chgData name="Dmitrii Ustiugov" userId="fee3c4a0-c40b-4de8-8e1d-1d3cf97580eb" providerId="ADAL" clId="{AFEDA6F6-1C95-5C48-BCCA-B6EC5B338571}" dt="2024-09-19T02:25:30.531" v="458" actId="20577"/>
        <pc:sldMkLst>
          <pc:docMk/>
          <pc:sldMk cId="742471517" sldId="430"/>
        </pc:sldMkLst>
        <pc:spChg chg="mod">
          <ac:chgData name="Dmitrii Ustiugov" userId="fee3c4a0-c40b-4de8-8e1d-1d3cf97580eb" providerId="ADAL" clId="{AFEDA6F6-1C95-5C48-BCCA-B6EC5B338571}" dt="2024-09-19T02:25:14.018" v="419" actId="20577"/>
          <ac:spMkLst>
            <pc:docMk/>
            <pc:sldMk cId="742471517" sldId="430"/>
            <ac:spMk id="2" creationId="{1D4D40F8-0E24-E031-C337-2F68F7C3C933}"/>
          </ac:spMkLst>
        </pc:spChg>
        <pc:spChg chg="mod">
          <ac:chgData name="Dmitrii Ustiugov" userId="fee3c4a0-c40b-4de8-8e1d-1d3cf97580eb" providerId="ADAL" clId="{AFEDA6F6-1C95-5C48-BCCA-B6EC5B338571}" dt="2024-09-19T02:25:30.531" v="458" actId="20577"/>
          <ac:spMkLst>
            <pc:docMk/>
            <pc:sldMk cId="742471517" sldId="430"/>
            <ac:spMk id="3" creationId="{77478D7B-4931-ABE3-1835-F683FAD3010D}"/>
          </ac:spMkLst>
        </pc:spChg>
      </pc:sldChg>
      <pc:sldChg chg="add ord">
        <pc:chgData name="Dmitrii Ustiugov" userId="fee3c4a0-c40b-4de8-8e1d-1d3cf97580eb" providerId="ADAL" clId="{AFEDA6F6-1C95-5C48-BCCA-B6EC5B338571}" dt="2024-09-19T02:33:50.734" v="460" actId="20578"/>
        <pc:sldMkLst>
          <pc:docMk/>
          <pc:sldMk cId="668049447" sldId="431"/>
        </pc:sldMkLst>
      </pc:sldChg>
    </pc:docChg>
  </pc:docChgLst>
  <pc:docChgLst>
    <pc:chgData name="Arvind Easwaran" userId="S::arvinde@staff.main.ntu.edu.sg::6059df8d-17bf-4148-9f7c-190b13d86f35" providerId="AD" clId="Web-{BED93F2D-E52A-C298-2A04-F2579D092728}"/>
    <pc:docChg chg="modSld">
      <pc:chgData name="Arvind Easwaran" userId="S::arvinde@staff.main.ntu.edu.sg::6059df8d-17bf-4148-9f7c-190b13d86f35" providerId="AD" clId="Web-{BED93F2D-E52A-C298-2A04-F2579D092728}" dt="2024-02-19T03:16:42.464" v="4" actId="20577"/>
      <pc:docMkLst>
        <pc:docMk/>
      </pc:docMkLst>
      <pc:sldChg chg="modSp">
        <pc:chgData name="Arvind Easwaran" userId="S::arvinde@staff.main.ntu.edu.sg::6059df8d-17bf-4148-9f7c-190b13d86f35" providerId="AD" clId="Web-{BED93F2D-E52A-C298-2A04-F2579D092728}" dt="2024-02-19T03:16:42.464" v="4" actId="20577"/>
        <pc:sldMkLst>
          <pc:docMk/>
          <pc:sldMk cId="0" sldId="335"/>
        </pc:sldMkLst>
        <pc:spChg chg="mod">
          <ac:chgData name="Arvind Easwaran" userId="S::arvinde@staff.main.ntu.edu.sg::6059df8d-17bf-4148-9f7c-190b13d86f35" providerId="AD" clId="Web-{BED93F2D-E52A-C298-2A04-F2579D092728}" dt="2024-02-19T03:16:42.464" v="4" actId="20577"/>
          <ac:spMkLst>
            <pc:docMk/>
            <pc:sldMk cId="0" sldId="335"/>
            <ac:spMk id="15362" creationId="{26684C75-950D-4AE0-9988-98CF34A23BE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BBB4B585-2CCB-418D-B6A1-EE5B2919D019}"/>
              </a:ext>
            </a:extLst>
          </p:cNvPr>
          <p:cNvSpPr>
            <a:spLocks noGrp="1" noChangeArrowheads="1"/>
          </p:cNvSpPr>
          <p:nvPr>
            <p:ph type="hdr" sz="quarter"/>
          </p:nvPr>
        </p:nvSpPr>
        <p:spPr bwMode="auto">
          <a:xfrm>
            <a:off x="0" y="0"/>
            <a:ext cx="3211513" cy="517525"/>
          </a:xfrm>
          <a:prstGeom prst="rect">
            <a:avLst/>
          </a:prstGeom>
          <a:noFill/>
          <a:ln w="9525">
            <a:noFill/>
            <a:miter lim="800000"/>
            <a:headEnd/>
            <a:tailEnd/>
          </a:ln>
          <a:effectLst/>
        </p:spPr>
        <p:txBody>
          <a:bodyPr vert="horz" wrap="square" lIns="95052" tIns="47526" rIns="95052" bIns="47526" numCol="1" anchor="t" anchorCtr="0" compatLnSpc="1">
            <a:prstTxWarp prst="textNoShape">
              <a:avLst/>
            </a:prstTxWarp>
          </a:bodyPr>
          <a:lstStyle>
            <a:lvl1pPr algn="l" defTabSz="950913">
              <a:defRPr sz="1200">
                <a:latin typeface="Helvetica" pitchFamily="34" charset="0"/>
              </a:defRPr>
            </a:lvl1pPr>
          </a:lstStyle>
          <a:p>
            <a:pPr>
              <a:defRPr/>
            </a:pPr>
            <a:endParaRPr lang="en-US"/>
          </a:p>
        </p:txBody>
      </p:sp>
      <p:sp>
        <p:nvSpPr>
          <p:cNvPr id="97283" name="Rectangle 3">
            <a:extLst>
              <a:ext uri="{FF2B5EF4-FFF2-40B4-BE49-F238E27FC236}">
                <a16:creationId xmlns:a16="http://schemas.microsoft.com/office/drawing/2014/main" id="{1A637D97-B677-4D6E-938A-C95757D177D4}"/>
              </a:ext>
            </a:extLst>
          </p:cNvPr>
          <p:cNvSpPr>
            <a:spLocks noGrp="1" noChangeArrowheads="1"/>
          </p:cNvSpPr>
          <p:nvPr>
            <p:ph type="dt" sz="quarter" idx="1"/>
          </p:nvPr>
        </p:nvSpPr>
        <p:spPr bwMode="auto">
          <a:xfrm>
            <a:off x="4117975" y="0"/>
            <a:ext cx="3209925" cy="517525"/>
          </a:xfrm>
          <a:prstGeom prst="rect">
            <a:avLst/>
          </a:prstGeom>
          <a:noFill/>
          <a:ln w="9525">
            <a:noFill/>
            <a:miter lim="800000"/>
            <a:headEnd/>
            <a:tailEnd/>
          </a:ln>
          <a:effectLst/>
        </p:spPr>
        <p:txBody>
          <a:bodyPr vert="horz" wrap="square" lIns="95052" tIns="47526" rIns="95052" bIns="47526" numCol="1" anchor="t" anchorCtr="0" compatLnSpc="1">
            <a:prstTxWarp prst="textNoShape">
              <a:avLst/>
            </a:prstTxWarp>
          </a:bodyPr>
          <a:lstStyle>
            <a:lvl1pPr algn="r" defTabSz="950913">
              <a:defRPr sz="1200">
                <a:latin typeface="Helvetica" pitchFamily="34" charset="0"/>
              </a:defRPr>
            </a:lvl1pPr>
          </a:lstStyle>
          <a:p>
            <a:pPr>
              <a:defRPr/>
            </a:pPr>
            <a:endParaRPr lang="en-US"/>
          </a:p>
        </p:txBody>
      </p:sp>
      <p:sp>
        <p:nvSpPr>
          <p:cNvPr id="97284" name="Rectangle 4">
            <a:extLst>
              <a:ext uri="{FF2B5EF4-FFF2-40B4-BE49-F238E27FC236}">
                <a16:creationId xmlns:a16="http://schemas.microsoft.com/office/drawing/2014/main" id="{B1987113-FAC7-448A-9F98-30D80BFAF32A}"/>
              </a:ext>
            </a:extLst>
          </p:cNvPr>
          <p:cNvSpPr>
            <a:spLocks noGrp="1" noChangeArrowheads="1"/>
          </p:cNvSpPr>
          <p:nvPr>
            <p:ph type="ftr" sz="quarter" idx="2"/>
          </p:nvPr>
        </p:nvSpPr>
        <p:spPr bwMode="auto">
          <a:xfrm>
            <a:off x="0" y="9083675"/>
            <a:ext cx="3211513" cy="517525"/>
          </a:xfrm>
          <a:prstGeom prst="rect">
            <a:avLst/>
          </a:prstGeom>
          <a:noFill/>
          <a:ln w="9525">
            <a:noFill/>
            <a:miter lim="800000"/>
            <a:headEnd/>
            <a:tailEnd/>
          </a:ln>
          <a:effectLst/>
        </p:spPr>
        <p:txBody>
          <a:bodyPr vert="horz" wrap="square" lIns="95052" tIns="47526" rIns="95052" bIns="47526" numCol="1" anchor="b" anchorCtr="0" compatLnSpc="1">
            <a:prstTxWarp prst="textNoShape">
              <a:avLst/>
            </a:prstTxWarp>
          </a:bodyPr>
          <a:lstStyle>
            <a:lvl1pPr algn="l" defTabSz="950913">
              <a:defRPr sz="1200">
                <a:latin typeface="Helvetica" pitchFamily="34" charset="0"/>
              </a:defRPr>
            </a:lvl1pPr>
          </a:lstStyle>
          <a:p>
            <a:pPr>
              <a:defRPr/>
            </a:pPr>
            <a:endParaRPr lang="en-US"/>
          </a:p>
        </p:txBody>
      </p:sp>
      <p:sp>
        <p:nvSpPr>
          <p:cNvPr id="97285" name="Rectangle 5">
            <a:extLst>
              <a:ext uri="{FF2B5EF4-FFF2-40B4-BE49-F238E27FC236}">
                <a16:creationId xmlns:a16="http://schemas.microsoft.com/office/drawing/2014/main" id="{FD583F03-00E3-4E79-8C1B-536F3B217146}"/>
              </a:ext>
            </a:extLst>
          </p:cNvPr>
          <p:cNvSpPr>
            <a:spLocks noGrp="1" noChangeArrowheads="1"/>
          </p:cNvSpPr>
          <p:nvPr>
            <p:ph type="sldNum" sz="quarter" idx="3"/>
          </p:nvPr>
        </p:nvSpPr>
        <p:spPr bwMode="auto">
          <a:xfrm>
            <a:off x="4117975" y="9083675"/>
            <a:ext cx="3209925" cy="517525"/>
          </a:xfrm>
          <a:prstGeom prst="rect">
            <a:avLst/>
          </a:prstGeom>
          <a:noFill/>
          <a:ln w="9525">
            <a:noFill/>
            <a:miter lim="800000"/>
            <a:headEnd/>
            <a:tailEnd/>
          </a:ln>
          <a:effectLst/>
        </p:spPr>
        <p:txBody>
          <a:bodyPr vert="horz" wrap="square" lIns="95052" tIns="47526" rIns="95052" bIns="47526" numCol="1" anchor="b" anchorCtr="0" compatLnSpc="1">
            <a:prstTxWarp prst="textNoShape">
              <a:avLst/>
            </a:prstTxWarp>
          </a:bodyPr>
          <a:lstStyle>
            <a:lvl1pPr algn="r" defTabSz="950913">
              <a:defRPr sz="1200"/>
            </a:lvl1pPr>
          </a:lstStyle>
          <a:p>
            <a:fld id="{81DD8A7A-DAA3-4A85-B834-354E7404A0E4}"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B6DB8DE-1590-4F9E-A875-94FEBFC53A53}"/>
              </a:ext>
            </a:extLst>
          </p:cNvPr>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none" lIns="96782" tIns="48391" rIns="96782" bIns="48391" numCol="1" anchor="ctr" anchorCtr="0" compatLnSpc="1">
            <a:prstTxWarp prst="textNoShape">
              <a:avLst/>
            </a:prstTxWarp>
          </a:bodyPr>
          <a:lstStyle>
            <a:lvl1pPr algn="l" defTabSz="966788">
              <a:defRPr sz="1200">
                <a:latin typeface="Times New Roman" pitchFamily="18" charset="0"/>
              </a:defRPr>
            </a:lvl1pPr>
          </a:lstStyle>
          <a:p>
            <a:pPr>
              <a:defRPr/>
            </a:pPr>
            <a:endParaRPr lang="en-US"/>
          </a:p>
        </p:txBody>
      </p:sp>
      <p:sp>
        <p:nvSpPr>
          <p:cNvPr id="6147" name="Rectangle 3">
            <a:extLst>
              <a:ext uri="{FF2B5EF4-FFF2-40B4-BE49-F238E27FC236}">
                <a16:creationId xmlns:a16="http://schemas.microsoft.com/office/drawing/2014/main" id="{D9F12D00-D972-475A-86D5-7805406268DE}"/>
              </a:ext>
            </a:extLst>
          </p:cNvPr>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none" lIns="96782" tIns="48391" rIns="96782" bIns="48391" numCol="1" anchor="ctr" anchorCtr="0" compatLnSpc="1">
            <a:prstTxWarp prst="textNoShape">
              <a:avLst/>
            </a:prstTxWarp>
          </a:bodyPr>
          <a:lstStyle>
            <a:lvl1pPr algn="r" defTabSz="966788">
              <a:defRPr sz="1200">
                <a:latin typeface="Times New Roman" pitchFamily="18" charset="0"/>
              </a:defRPr>
            </a:lvl1pPr>
          </a:lstStyle>
          <a:p>
            <a:pPr>
              <a:defRPr/>
            </a:pPr>
            <a:endParaRPr lang="en-US"/>
          </a:p>
        </p:txBody>
      </p:sp>
      <p:sp>
        <p:nvSpPr>
          <p:cNvPr id="13316" name="Rectangle 4">
            <a:extLst>
              <a:ext uri="{FF2B5EF4-FFF2-40B4-BE49-F238E27FC236}">
                <a16:creationId xmlns:a16="http://schemas.microsoft.com/office/drawing/2014/main" id="{10F6A1B6-29AC-4CC0-BF37-5055FC69E2F9}"/>
              </a:ext>
            </a:extLst>
          </p:cNvPr>
          <p:cNvSpPr>
            <a:spLocks noGrp="1" noRot="1" noChangeAspect="1" noChangeArrowheads="1" noTextEdit="1"/>
          </p:cNvSpPr>
          <p:nvPr>
            <p:ph type="sldImg" idx="2"/>
          </p:nvPr>
        </p:nvSpPr>
        <p:spPr bwMode="auto">
          <a:xfrm>
            <a:off x="1258888" y="720725"/>
            <a:ext cx="4799012" cy="35988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EE939FE4-2AC3-4E6C-A840-9C7C54A18DB6}"/>
              </a:ext>
            </a:extLst>
          </p:cNvPr>
          <p:cNvSpPr>
            <a:spLocks noGrp="1" noChangeArrowheads="1"/>
          </p:cNvSpPr>
          <p:nvPr>
            <p:ph type="body" sz="quarter" idx="3"/>
          </p:nvPr>
        </p:nvSpPr>
        <p:spPr bwMode="auto">
          <a:xfrm>
            <a:off x="976313" y="4559300"/>
            <a:ext cx="5362575" cy="4321175"/>
          </a:xfrm>
          <a:prstGeom prst="rect">
            <a:avLst/>
          </a:prstGeom>
          <a:noFill/>
          <a:ln w="9525">
            <a:noFill/>
            <a:miter lim="800000"/>
            <a:headEnd/>
            <a:tailEnd/>
          </a:ln>
          <a:effectLst/>
        </p:spPr>
        <p:txBody>
          <a:bodyPr vert="horz" wrap="none" lIns="96782" tIns="48391" rIns="96782" bIns="48391"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23CD25E4-DE6B-4942-B034-D35D24088AEE}"/>
              </a:ext>
            </a:extLst>
          </p:cNvPr>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none" lIns="96782" tIns="48391" rIns="96782" bIns="48391" numCol="1" anchor="b" anchorCtr="0" compatLnSpc="1">
            <a:prstTxWarp prst="textNoShape">
              <a:avLst/>
            </a:prstTxWarp>
          </a:bodyPr>
          <a:lstStyle>
            <a:lvl1pPr algn="l" defTabSz="966788">
              <a:defRPr sz="1200">
                <a:latin typeface="Times New Roman" pitchFamily="18" charset="0"/>
              </a:defRPr>
            </a:lvl1pPr>
          </a:lstStyle>
          <a:p>
            <a:pPr>
              <a:defRPr/>
            </a:pPr>
            <a:endParaRPr lang="en-US"/>
          </a:p>
        </p:txBody>
      </p:sp>
      <p:sp>
        <p:nvSpPr>
          <p:cNvPr id="6151" name="Rectangle 7">
            <a:extLst>
              <a:ext uri="{FF2B5EF4-FFF2-40B4-BE49-F238E27FC236}">
                <a16:creationId xmlns:a16="http://schemas.microsoft.com/office/drawing/2014/main" id="{2C9E3E36-0F20-464D-A5D0-936D0F564D42}"/>
              </a:ext>
            </a:extLst>
          </p:cNvPr>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none" lIns="96782" tIns="48391" rIns="96782" bIns="48391" numCol="1" anchor="b" anchorCtr="0" compatLnSpc="1">
            <a:prstTxWarp prst="textNoShape">
              <a:avLst/>
            </a:prstTxWarp>
          </a:bodyPr>
          <a:lstStyle>
            <a:lvl1pPr algn="r" defTabSz="966788">
              <a:defRPr sz="1200">
                <a:latin typeface="Times New Roman" panose="02020603050405020304" pitchFamily="18" charset="0"/>
              </a:defRPr>
            </a:lvl1pPr>
          </a:lstStyle>
          <a:p>
            <a:fld id="{57563D98-FBFA-45DC-8178-E9F897957B5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7ED6E684-6EBB-4962-AE7F-EE4A2BF6890F}"/>
              </a:ext>
            </a:extLst>
          </p:cNvPr>
          <p:cNvSpPr>
            <a:spLocks noGrp="1" noRot="1" noChangeAspect="1" noChangeArrowheads="1" noTextEdit="1"/>
          </p:cNvSpPr>
          <p:nvPr>
            <p:ph type="sldImg"/>
          </p:nvPr>
        </p:nvSpPr>
        <p:spPr>
          <a:ln/>
        </p:spPr>
      </p:sp>
      <p:sp>
        <p:nvSpPr>
          <p:cNvPr id="16386" name="Notes Placeholder 2">
            <a:extLst>
              <a:ext uri="{FF2B5EF4-FFF2-40B4-BE49-F238E27FC236}">
                <a16:creationId xmlns:a16="http://schemas.microsoft.com/office/drawing/2014/main" id="{A5324A79-382E-4CFD-9764-DE91651FB99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Thank you and good luck.</a:t>
            </a:r>
          </a:p>
        </p:txBody>
      </p:sp>
      <p:sp>
        <p:nvSpPr>
          <p:cNvPr id="16387" name="Slide Number Placeholder 3">
            <a:extLst>
              <a:ext uri="{FF2B5EF4-FFF2-40B4-BE49-F238E27FC236}">
                <a16:creationId xmlns:a16="http://schemas.microsoft.com/office/drawing/2014/main" id="{CA56DD7A-D6F0-4E1B-BB43-BFDAFAFC68F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A9905A1F-A545-476B-9BDE-E1990AED51C5}"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82178-8B4F-AEAE-2013-A342DD878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0B1AEE-AEFB-46E3-EE8D-7B9C9AA34A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94A40-7EDC-B08A-1F1C-01CCC36D70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6153FE-C387-0E74-5D53-2FE7532A72A6}"/>
              </a:ext>
            </a:extLst>
          </p:cNvPr>
          <p:cNvSpPr>
            <a:spLocks noGrp="1"/>
          </p:cNvSpPr>
          <p:nvPr>
            <p:ph type="sldNum" sz="quarter" idx="5"/>
          </p:nvPr>
        </p:nvSpPr>
        <p:spPr/>
        <p:txBody>
          <a:bodyPr/>
          <a:lstStyle/>
          <a:p>
            <a:fld id="{94971001-0765-4275-A0AB-CEBA9F47F0D7}" type="slidenum">
              <a:rPr lang="en-US" altLang="en-US" smtClean="0"/>
              <a:pPr/>
              <a:t>2</a:t>
            </a:fld>
            <a:endParaRPr lang="en-US" altLang="en-US"/>
          </a:p>
        </p:txBody>
      </p:sp>
    </p:spTree>
    <p:extLst>
      <p:ext uri="{BB962C8B-B14F-4D97-AF65-F5344CB8AC3E}">
        <p14:creationId xmlns:p14="http://schemas.microsoft.com/office/powerpoint/2010/main" val="1597446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82178-8B4F-AEAE-2013-A342DD878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0B1AEE-AEFB-46E3-EE8D-7B9C9AA34A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94A40-7EDC-B08A-1F1C-01CCC36D70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6153FE-C387-0E74-5D53-2FE7532A72A6}"/>
              </a:ext>
            </a:extLst>
          </p:cNvPr>
          <p:cNvSpPr>
            <a:spLocks noGrp="1"/>
          </p:cNvSpPr>
          <p:nvPr>
            <p:ph type="sldNum" sz="quarter" idx="5"/>
          </p:nvPr>
        </p:nvSpPr>
        <p:spPr/>
        <p:txBody>
          <a:bodyPr/>
          <a:lstStyle/>
          <a:p>
            <a:fld id="{94971001-0765-4275-A0AB-CEBA9F47F0D7}" type="slidenum">
              <a:rPr lang="en-US" altLang="en-US" smtClean="0"/>
              <a:pPr/>
              <a:t>3</a:t>
            </a:fld>
            <a:endParaRPr lang="en-US" altLang="en-US"/>
          </a:p>
        </p:txBody>
      </p:sp>
    </p:spTree>
    <p:extLst>
      <p:ext uri="{BB962C8B-B14F-4D97-AF65-F5344CB8AC3E}">
        <p14:creationId xmlns:p14="http://schemas.microsoft.com/office/powerpoint/2010/main" val="1597446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0925D566-86A4-4944-A178-1A503E182425}"/>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3C63C40B-972C-4A5B-8227-B53DC3A858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is the outline of deadlock and starvation. We first define what is a deadlock; We will show how to model the deadlock problem in a systematic way. We will then see the conditions for deadlock, and the methods to handle the deadlock. We have prevention; avoidance and detection. Due to the time constraint, we cannot cover all the details about deadlock detection. So, deadlock detection is not examinable. </a:t>
            </a:r>
          </a:p>
        </p:txBody>
      </p:sp>
      <p:sp>
        <p:nvSpPr>
          <p:cNvPr id="18435" name="Slide Number Placeholder 3">
            <a:extLst>
              <a:ext uri="{FF2B5EF4-FFF2-40B4-BE49-F238E27FC236}">
                <a16:creationId xmlns:a16="http://schemas.microsoft.com/office/drawing/2014/main" id="{EFDE6A92-649C-40E1-8785-974226F25F9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6D0AB13-AD06-4A93-9A94-573BEB3429F3}"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4B0A3357-E655-42A3-8F81-F7D38F240F6A}"/>
              </a:ext>
            </a:extLst>
          </p:cNvPr>
          <p:cNvSpPr>
            <a:spLocks noGrp="1" noRot="1" noChangeAspect="1" noChangeArrowheads="1" noTextEdit="1"/>
          </p:cNvSpPr>
          <p:nvPr>
            <p:ph type="sldImg"/>
          </p:nvPr>
        </p:nvSpPr>
        <p:spPr>
          <a:ln/>
        </p:spPr>
      </p:sp>
      <p:sp>
        <p:nvSpPr>
          <p:cNvPr id="20482" name="Notes Placeholder 2">
            <a:extLst>
              <a:ext uri="{FF2B5EF4-FFF2-40B4-BE49-F238E27FC236}">
                <a16:creationId xmlns:a16="http://schemas.microsoft.com/office/drawing/2014/main" id="{955760A9-2A9B-480F-B4DB-B1370DB3DB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We have already seen deadlocks in the previous chapter. A set of blocked processes each holding a resource and waiting to acquire a resource held by another process in the set. </a:t>
            </a:r>
          </a:p>
          <a:p>
            <a:endParaRPr lang="en-US" altLang="en-US"/>
          </a:p>
          <a:p>
            <a:r>
              <a:rPr lang="en-US" altLang="en-US"/>
              <a:t>Another example is incorrect usage of semaphores. Say, we have two semaphores A and B initialized to 1. The two processes P0 and P1 can deadlock. We have seen this example in the previous chapter. </a:t>
            </a:r>
          </a:p>
          <a:p>
            <a:endParaRPr lang="en-US" altLang="en-US"/>
          </a:p>
        </p:txBody>
      </p:sp>
      <p:sp>
        <p:nvSpPr>
          <p:cNvPr id="20483" name="Slide Number Placeholder 3">
            <a:extLst>
              <a:ext uri="{FF2B5EF4-FFF2-40B4-BE49-F238E27FC236}">
                <a16:creationId xmlns:a16="http://schemas.microsoft.com/office/drawing/2014/main" id="{CFF74D2D-32B4-4F17-94E2-C9FCF84D204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2DB0B48A-4B0E-4DF5-AFC2-7F77415E9257}"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CB866BDB-AD47-4AE9-8560-4604EF30411A}"/>
              </a:ext>
            </a:extLst>
          </p:cNvPr>
          <p:cNvSpPr>
            <a:spLocks noGrp="1" noRot="1" noChangeAspect="1" noChangeArrowheads="1" noTextEdit="1"/>
          </p:cNvSpPr>
          <p:nvPr>
            <p:ph type="sldImg"/>
          </p:nvPr>
        </p:nvSpPr>
        <p:spPr>
          <a:ln/>
        </p:spPr>
      </p:sp>
      <p:sp>
        <p:nvSpPr>
          <p:cNvPr id="22530" name="Notes Placeholder 2">
            <a:extLst>
              <a:ext uri="{FF2B5EF4-FFF2-40B4-BE49-F238E27FC236}">
                <a16:creationId xmlns:a16="http://schemas.microsoft.com/office/drawing/2014/main" id="{73CF82AD-6064-4B41-A446-DE4CEECDEB5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bridge is a resource and the cars are processes.</a:t>
            </a:r>
          </a:p>
          <a:p>
            <a:r>
              <a:rPr lang="en-US" altLang="en-US"/>
              <a:t> </a:t>
            </a:r>
          </a:p>
          <a:p>
            <a:r>
              <a:rPr lang="en-US" altLang="en-US"/>
              <a:t>Deadlock occurs if there are two cars on the bridge. When deadlock occurs, it can be resolved if one car backs up. Note, several cars may have to be backed up if a deadlock occurs. That means, deadlock recovery may affect other processes. Not only the process in the deadlock state are affected, but also other processes that have dependency on the deadlocked process.</a:t>
            </a:r>
          </a:p>
          <a:p>
            <a:endParaRPr lang="en-US" altLang="en-US"/>
          </a:p>
        </p:txBody>
      </p:sp>
      <p:sp>
        <p:nvSpPr>
          <p:cNvPr id="22531" name="Slide Number Placeholder 3">
            <a:extLst>
              <a:ext uri="{FF2B5EF4-FFF2-40B4-BE49-F238E27FC236}">
                <a16:creationId xmlns:a16="http://schemas.microsoft.com/office/drawing/2014/main" id="{814DE562-580F-4975-BC2C-EB6BF1BA658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00764C56-0185-4CB5-B45C-61B9FA24E978}"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F4F7A432-5D64-4F58-941F-8BD128CB8FA6}"/>
              </a:ext>
            </a:extLst>
          </p:cNvPr>
          <p:cNvSpPr>
            <a:spLocks noGrp="1" noRot="1" noChangeAspect="1" noChangeArrowheads="1" noTextEdit="1"/>
          </p:cNvSpPr>
          <p:nvPr>
            <p:ph type="sldImg"/>
          </p:nvPr>
        </p:nvSpPr>
        <p:spPr>
          <a:ln/>
        </p:spPr>
      </p:sp>
      <p:sp>
        <p:nvSpPr>
          <p:cNvPr id="24578" name="Notes Placeholder 2">
            <a:extLst>
              <a:ext uri="{FF2B5EF4-FFF2-40B4-BE49-F238E27FC236}">
                <a16:creationId xmlns:a16="http://schemas.microsoft.com/office/drawing/2014/main" id="{267BDF71-F21B-4DF7-8E04-8593806EBDE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4579" name="Slide Number Placeholder 3">
            <a:extLst>
              <a:ext uri="{FF2B5EF4-FFF2-40B4-BE49-F238E27FC236}">
                <a16:creationId xmlns:a16="http://schemas.microsoft.com/office/drawing/2014/main" id="{70B640A3-CFB6-472A-8343-45AD347C031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107BC208-172A-4E63-8354-604795C77AFA}"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a:extLst>
              <a:ext uri="{FF2B5EF4-FFF2-40B4-BE49-F238E27FC236}">
                <a16:creationId xmlns:a16="http://schemas.microsoft.com/office/drawing/2014/main" id="{D4DAD684-E25B-4793-868F-189A4653E9C4}"/>
              </a:ext>
            </a:extLst>
          </p:cNvPr>
          <p:cNvSpPr>
            <a:spLocks noGrp="1" noRot="1" noChangeAspect="1" noChangeArrowheads="1" noTextEdit="1"/>
          </p:cNvSpPr>
          <p:nvPr>
            <p:ph type="sldImg"/>
          </p:nvPr>
        </p:nvSpPr>
        <p:spPr>
          <a:ln/>
        </p:spPr>
      </p:sp>
      <p:sp>
        <p:nvSpPr>
          <p:cNvPr id="26626" name="Notes Placeholder 2">
            <a:extLst>
              <a:ext uri="{FF2B5EF4-FFF2-40B4-BE49-F238E27FC236}">
                <a16:creationId xmlns:a16="http://schemas.microsoft.com/office/drawing/2014/main" id="{0D687876-EAE4-4569-B315-F0F377B9DD8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We now introduce the system model for deadlock. In this model, we have different resource types R1… Rm. The resource type can be memory space or I/O devices. Each resource type Ri has Wi identical instances. For example, we have two hard disks in the system. Ri is the hard disk and Wi=2. the instances are all identical. </a:t>
            </a:r>
          </a:p>
          <a:p>
            <a:r>
              <a:rPr lang="en-US" altLang="en-US"/>
              <a:t>A process utilizes a resource as follows: first sends a request of a certain number of instances.</a:t>
            </a:r>
          </a:p>
          <a:p>
            <a:r>
              <a:rPr lang="en-US" altLang="en-US"/>
              <a:t>If the instances are available, then the request is granted. Otherwise, the process needs to wait.  If the request is granted, the process uses the resource, and after sometime, releases the resource. </a:t>
            </a:r>
          </a:p>
          <a:p>
            <a:r>
              <a:rPr lang="en-US" altLang="en-US"/>
              <a:t> </a:t>
            </a:r>
          </a:p>
          <a:p>
            <a:endParaRPr lang="en-US" altLang="en-US"/>
          </a:p>
          <a:p>
            <a:endParaRPr lang="en-US" altLang="en-US"/>
          </a:p>
        </p:txBody>
      </p:sp>
      <p:sp>
        <p:nvSpPr>
          <p:cNvPr id="26627" name="Slide Number Placeholder 3">
            <a:extLst>
              <a:ext uri="{FF2B5EF4-FFF2-40B4-BE49-F238E27FC236}">
                <a16:creationId xmlns:a16="http://schemas.microsoft.com/office/drawing/2014/main" id="{494690E1-62CD-4035-89E7-BCC8CE55F6B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1F97729C-5FCA-45D5-B464-0BD2DA33515D}"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10137B9E-FF00-4633-8EDF-BF767497A861}"/>
              </a:ext>
            </a:extLst>
          </p:cNvPr>
          <p:cNvSpPr>
            <a:spLocks noGrp="1" noRot="1" noChangeAspect="1" noChangeArrowheads="1" noTextEdit="1"/>
          </p:cNvSpPr>
          <p:nvPr>
            <p:ph type="sldImg"/>
          </p:nvPr>
        </p:nvSpPr>
        <p:spPr>
          <a:ln/>
        </p:spPr>
      </p:sp>
      <p:sp>
        <p:nvSpPr>
          <p:cNvPr id="28674" name="Notes Placeholder 2">
            <a:extLst>
              <a:ext uri="{FF2B5EF4-FFF2-40B4-BE49-F238E27FC236}">
                <a16:creationId xmlns:a16="http://schemas.microsoft.com/office/drawing/2014/main" id="{ACB90605-629D-4755-A528-5809EA7C052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Consider the system has multiple processes and multiple resource types. How to model resource request, use and release?</a:t>
            </a:r>
          </a:p>
          <a:p>
            <a:endParaRPr lang="en-US" altLang="en-US"/>
          </a:p>
          <a:p>
            <a:r>
              <a:rPr lang="en-US" altLang="en-US"/>
              <a:t>We use a data structure called the resource-allocation graph to model the resource allocations in the system. The graph has a set of vertices V and a set of edges E. V is partitioned into two types: process vertex and resource type vertex. The process vertices represent all the processes, and resource vertices represent all the resource types in the system. </a:t>
            </a:r>
          </a:p>
          <a:p>
            <a:endParaRPr lang="en-US" altLang="en-US"/>
          </a:p>
          <a:p>
            <a:r>
              <a:rPr lang="en-US" altLang="en-US"/>
              <a:t>When a process sends a request for Rj, we add a directed edge from Pi to Rj. </a:t>
            </a:r>
            <a:r>
              <a:rPr lang="en-US" altLang="en-US" sz="2000" i="1">
                <a:sym typeface="Symbol" panose="05050102010706020507" pitchFamily="18" charset="2"/>
              </a:rPr>
              <a:t>When the request is granted, the request edge is removed. Then, we add an assignment edge between the two vertices in the reverse direction. When the resource is released, the assignment edge is removed.</a:t>
            </a:r>
          </a:p>
        </p:txBody>
      </p:sp>
      <p:sp>
        <p:nvSpPr>
          <p:cNvPr id="28675" name="Slide Number Placeholder 3">
            <a:extLst>
              <a:ext uri="{FF2B5EF4-FFF2-40B4-BE49-F238E27FC236}">
                <a16:creationId xmlns:a16="http://schemas.microsoft.com/office/drawing/2014/main" id="{F39B1AEF-5B79-4ED3-84AB-340D0717680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A12D6756-B6FC-4639-94CC-015BA6964710}"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a:extLst>
              <a:ext uri="{FF2B5EF4-FFF2-40B4-BE49-F238E27FC236}">
                <a16:creationId xmlns:a16="http://schemas.microsoft.com/office/drawing/2014/main" id="{2E2F1CE0-9F0E-4EB3-8F95-69EFA506B37E}"/>
              </a:ext>
            </a:extLst>
          </p:cNvPr>
          <p:cNvSpPr>
            <a:spLocks noGrp="1" noRot="1" noChangeAspect="1" noChangeArrowheads="1" noTextEdit="1"/>
          </p:cNvSpPr>
          <p:nvPr>
            <p:ph type="sldImg"/>
          </p:nvPr>
        </p:nvSpPr>
        <p:spPr>
          <a:ln/>
        </p:spPr>
      </p:sp>
      <p:sp>
        <p:nvSpPr>
          <p:cNvPr id="30722" name="Notes Placeholder 2">
            <a:extLst>
              <a:ext uri="{FF2B5EF4-FFF2-40B4-BE49-F238E27FC236}">
                <a16:creationId xmlns:a16="http://schemas.microsoft.com/office/drawing/2014/main" id="{7715AF40-0041-4DAA-AC20-467D44E92D5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number of solid black dots within the rectangle represents the number of instances for the resource. </a:t>
            </a:r>
          </a:p>
          <a:p>
            <a:endParaRPr lang="en-US" altLang="en-US"/>
          </a:p>
          <a:p>
            <a:r>
              <a:rPr lang="en-US" altLang="en-US"/>
              <a:t>When an instance of Rj is assigned to Pi, we draw an edge from one dot within the rectangle to Pi. Assignment of an instance of resources to the process: a certain dot within the resource vertex to the process vertex.</a:t>
            </a:r>
          </a:p>
          <a:p>
            <a:endParaRPr lang="en-US" altLang="en-US"/>
          </a:p>
          <a:p>
            <a:endParaRPr lang="en-US" altLang="en-US"/>
          </a:p>
        </p:txBody>
      </p:sp>
      <p:sp>
        <p:nvSpPr>
          <p:cNvPr id="30723" name="Slide Number Placeholder 3">
            <a:extLst>
              <a:ext uri="{FF2B5EF4-FFF2-40B4-BE49-F238E27FC236}">
                <a16:creationId xmlns:a16="http://schemas.microsoft.com/office/drawing/2014/main" id="{92FA7621-8450-4694-86F1-834F9FE475E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4663A9C2-278C-4A94-A91B-05B5DBC76F90}"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777C551F-4854-402D-9CC4-8848EF9E698C}"/>
              </a:ext>
            </a:extLst>
          </p:cNvPr>
          <p:cNvSpPr>
            <a:spLocks noGrp="1" noRot="1" noChangeAspect="1" noChangeArrowheads="1" noTextEdit="1"/>
          </p:cNvSpPr>
          <p:nvPr>
            <p:ph type="sldImg"/>
          </p:nvPr>
        </p:nvSpPr>
        <p:spPr>
          <a:ln/>
        </p:spPr>
      </p:sp>
      <p:sp>
        <p:nvSpPr>
          <p:cNvPr id="32770" name="Notes Placeholder 2">
            <a:extLst>
              <a:ext uri="{FF2B5EF4-FFF2-40B4-BE49-F238E27FC236}">
                <a16:creationId xmlns:a16="http://schemas.microsoft.com/office/drawing/2014/main" id="{F7FFCEC6-EF7B-4842-9601-70909579EAC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We have four resource types. Three processes.</a:t>
            </a:r>
          </a:p>
          <a:p>
            <a:endParaRPr lang="en-US" altLang="en-US"/>
          </a:p>
          <a:p>
            <a:r>
              <a:rPr lang="en-US" altLang="en-US"/>
              <a:t>We can actually examine the structure of the resource allocation graph to see whether the system has deadlock or not. Ideally, if the system has deadlock, the resource allocation must have a cycle. why? By the definition of deadlock </a:t>
            </a:r>
            <a:r>
              <a:rPr lang="en-US" altLang="en-US">
                <a:sym typeface="Wingdings" panose="05000000000000000000" pitchFamily="2" charset="2"/>
              </a:rPr>
              <a:t></a:t>
            </a:r>
            <a:endParaRPr lang="en-US" altLang="en-US"/>
          </a:p>
          <a:p>
            <a:endParaRPr lang="en-US" altLang="en-US"/>
          </a:p>
          <a:p>
            <a:r>
              <a:rPr lang="en-US" altLang="en-US"/>
              <a:t>In this case there is no deadlock. Can you find a sequence of process execution that all the processes finish execution? If P3 finishes, P2 can finish, and then P1 can finish.</a:t>
            </a:r>
          </a:p>
        </p:txBody>
      </p:sp>
      <p:sp>
        <p:nvSpPr>
          <p:cNvPr id="32771" name="Slide Number Placeholder 3">
            <a:extLst>
              <a:ext uri="{FF2B5EF4-FFF2-40B4-BE49-F238E27FC236}">
                <a16:creationId xmlns:a16="http://schemas.microsoft.com/office/drawing/2014/main" id="{F41EDD43-A4B0-4C71-926E-F5F3456BF1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8536668C-987E-4130-88B4-C0453F8414A2}"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B6EAD982-AE80-4820-AD55-FADFCE2A6EBA}"/>
              </a:ext>
            </a:extLst>
          </p:cNvPr>
          <p:cNvSpPr>
            <a:spLocks noGrp="1" noRot="1" noChangeAspect="1" noChangeArrowheads="1" noTextEdit="1"/>
          </p:cNvSpPr>
          <p:nvPr>
            <p:ph type="sldImg"/>
          </p:nvPr>
        </p:nvSpPr>
        <p:spPr>
          <a:ln/>
        </p:spPr>
      </p:sp>
      <p:sp>
        <p:nvSpPr>
          <p:cNvPr id="34818" name="Notes Placeholder 2">
            <a:extLst>
              <a:ext uri="{FF2B5EF4-FFF2-40B4-BE49-F238E27FC236}">
                <a16:creationId xmlns:a16="http://schemas.microsoft.com/office/drawing/2014/main" id="{9739CB3E-DA60-47D3-B9F9-56AD7710EF5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How many cycles are there in this resource allocation graph?</a:t>
            </a:r>
          </a:p>
          <a:p>
            <a:endParaRPr lang="en-US" altLang="en-US"/>
          </a:p>
          <a:p>
            <a:r>
              <a:rPr lang="en-US" altLang="en-US"/>
              <a:t>Two cycles.  First cycle: P2 waits for P3 and P3 waits for P2. Second cycle: P1 waits for P2, P2 waits for P3, and P3 waits for both P1 and P2. In this case, no process can make any progress. </a:t>
            </a:r>
            <a:r>
              <a:rPr lang="en-US" altLang="en-US">
                <a:sym typeface="Wingdings" panose="05000000000000000000" pitchFamily="2" charset="2"/>
              </a:rPr>
              <a:t>Deadlock.</a:t>
            </a:r>
            <a:endParaRPr lang="en-US" altLang="en-US"/>
          </a:p>
        </p:txBody>
      </p:sp>
      <p:sp>
        <p:nvSpPr>
          <p:cNvPr id="34819" name="Slide Number Placeholder 3">
            <a:extLst>
              <a:ext uri="{FF2B5EF4-FFF2-40B4-BE49-F238E27FC236}">
                <a16:creationId xmlns:a16="http://schemas.microsoft.com/office/drawing/2014/main" id="{9E9F2BED-452C-4EE0-BA63-41C6D518037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FAB4691E-B29B-4B54-B50E-83CE6F0C96AB}"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D5DE82CF-AD49-4946-AA75-775D807F737D}"/>
              </a:ext>
            </a:extLst>
          </p:cNvPr>
          <p:cNvSpPr>
            <a:spLocks noGrp="1" noRot="1" noChangeAspect="1" noChangeArrowheads="1" noTextEdit="1"/>
          </p:cNvSpPr>
          <p:nvPr>
            <p:ph type="sldImg"/>
          </p:nvPr>
        </p:nvSpPr>
        <p:spPr>
          <a:ln/>
        </p:spPr>
      </p:sp>
      <p:sp>
        <p:nvSpPr>
          <p:cNvPr id="36866" name="Notes Placeholder 2">
            <a:extLst>
              <a:ext uri="{FF2B5EF4-FFF2-40B4-BE49-F238E27FC236}">
                <a16:creationId xmlns:a16="http://schemas.microsoft.com/office/drawing/2014/main" id="{5993FAB7-F939-45EB-888C-1BDC1876D67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One cycle. But no deadlock. Because P2 can finish and release R1. Then P4 can finish. Then, P3  and P1 can finish.</a:t>
            </a:r>
          </a:p>
        </p:txBody>
      </p:sp>
      <p:sp>
        <p:nvSpPr>
          <p:cNvPr id="36867" name="Slide Number Placeholder 3">
            <a:extLst>
              <a:ext uri="{FF2B5EF4-FFF2-40B4-BE49-F238E27FC236}">
                <a16:creationId xmlns:a16="http://schemas.microsoft.com/office/drawing/2014/main" id="{A76EA70F-C94C-4F4C-9A71-EED13D44ED6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4065AC1A-CE0D-464D-80DD-42E36A6B73A1}"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F38A5D98-7BEF-4968-AC6A-B687A3AFB548}"/>
              </a:ext>
            </a:extLst>
          </p:cNvPr>
          <p:cNvSpPr>
            <a:spLocks noGrp="1" noRot="1" noChangeAspect="1" noChangeArrowheads="1" noTextEdit="1"/>
          </p:cNvSpPr>
          <p:nvPr>
            <p:ph type="sldImg"/>
          </p:nvPr>
        </p:nvSpPr>
        <p:spPr>
          <a:ln/>
        </p:spPr>
      </p:sp>
      <p:sp>
        <p:nvSpPr>
          <p:cNvPr id="38914" name="Notes Placeholder 2">
            <a:extLst>
              <a:ext uri="{FF2B5EF4-FFF2-40B4-BE49-F238E27FC236}">
                <a16:creationId xmlns:a16="http://schemas.microsoft.com/office/drawing/2014/main" id="{6648D1BD-CC25-46DA-9EEE-BE6CBA1F28A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So, in summary, if a graph contains no cycle, no deadlock for sure. Because we do not have the problem of A waiting for B and B waiting for A. </a:t>
            </a:r>
          </a:p>
          <a:p>
            <a:r>
              <a:rPr lang="en-US" altLang="en-US"/>
              <a:t>If the graph contains a cycle, we need to look at the resource types. If only one instance per resource type, then there is a deadlock. Because no process can make any progress. If several instances per resource type, deadlock is possible, but not 100% sure.</a:t>
            </a:r>
          </a:p>
          <a:p>
            <a:endParaRPr lang="en-US" altLang="en-US"/>
          </a:p>
          <a:p>
            <a:r>
              <a:rPr lang="en-US" altLang="en-US"/>
              <a:t>We will introduce banker’s algorithm to solve the problem with multiple instances later on.</a:t>
            </a:r>
          </a:p>
          <a:p>
            <a:endParaRPr lang="en-US" altLang="en-US"/>
          </a:p>
        </p:txBody>
      </p:sp>
      <p:sp>
        <p:nvSpPr>
          <p:cNvPr id="38915" name="Slide Number Placeholder 3">
            <a:extLst>
              <a:ext uri="{FF2B5EF4-FFF2-40B4-BE49-F238E27FC236}">
                <a16:creationId xmlns:a16="http://schemas.microsoft.com/office/drawing/2014/main" id="{8B9AFF40-CDE8-4475-B967-4509BB36B2F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DA8EE83-B6B4-45D4-AFB4-ACB79C655B43}"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AFB30D2D-7360-4E30-B064-C2282947B6F1}"/>
              </a:ext>
            </a:extLst>
          </p:cNvPr>
          <p:cNvSpPr>
            <a:spLocks noGrp="1" noRot="1" noChangeAspect="1" noChangeArrowheads="1" noTextEdit="1"/>
          </p:cNvSpPr>
          <p:nvPr>
            <p:ph type="sldImg"/>
          </p:nvPr>
        </p:nvSpPr>
        <p:spPr>
          <a:ln/>
        </p:spPr>
      </p:sp>
      <p:sp>
        <p:nvSpPr>
          <p:cNvPr id="40962" name="Notes Placeholder 2">
            <a:extLst>
              <a:ext uri="{FF2B5EF4-FFF2-40B4-BE49-F238E27FC236}">
                <a16:creationId xmlns:a16="http://schemas.microsoft.com/office/drawing/2014/main" id="{A46E18EB-9D2F-470B-835D-E3EAB619030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0963" name="Slide Number Placeholder 3">
            <a:extLst>
              <a:ext uri="{FF2B5EF4-FFF2-40B4-BE49-F238E27FC236}">
                <a16:creationId xmlns:a16="http://schemas.microsoft.com/office/drawing/2014/main" id="{1ACDA6AB-7645-4061-AA6D-F078B57E798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0FCAE27-1557-4272-8F75-CD3A559A8E56}"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29D0077E-65B9-4E15-BB19-AC5AF998DD4E}"/>
              </a:ext>
            </a:extLst>
          </p:cNvPr>
          <p:cNvSpPr>
            <a:spLocks noGrp="1" noRot="1" noChangeAspect="1" noChangeArrowheads="1" noTextEdit="1"/>
          </p:cNvSpPr>
          <p:nvPr>
            <p:ph type="sldImg"/>
          </p:nvPr>
        </p:nvSpPr>
        <p:spPr>
          <a:ln/>
        </p:spPr>
      </p:sp>
      <p:sp>
        <p:nvSpPr>
          <p:cNvPr id="43010" name="Notes Placeholder 2">
            <a:extLst>
              <a:ext uri="{FF2B5EF4-FFF2-40B4-BE49-F238E27FC236}">
                <a16:creationId xmlns:a16="http://schemas.microsoft.com/office/drawing/2014/main" id="{114F96E4-75F6-495D-945E-54D8999F856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When there are multiple instances per resource type, we are not sure whether the graph has deadlock even if the graph has cycles. To handle this case, we study the deadlock conditions, that is, conditions necessary for a deadlock to occur. Deadlock can arise if the four conditions hold simultaneously. If any of them is violated, there is no deadlock. Also, the four conditions are necessary, but not sufficient.</a:t>
            </a:r>
          </a:p>
          <a:p>
            <a:r>
              <a:rPr lang="en-US" altLang="en-US"/>
              <a:t>We will briefly talk about the definitions here, and then give more examples in the later slides.</a:t>
            </a:r>
          </a:p>
          <a:p>
            <a:endParaRPr lang="en-US" altLang="en-US"/>
          </a:p>
        </p:txBody>
      </p:sp>
      <p:sp>
        <p:nvSpPr>
          <p:cNvPr id="43011" name="Slide Number Placeholder 3">
            <a:extLst>
              <a:ext uri="{FF2B5EF4-FFF2-40B4-BE49-F238E27FC236}">
                <a16:creationId xmlns:a16="http://schemas.microsoft.com/office/drawing/2014/main" id="{BF8A9CEB-A38C-4A99-B936-F929E3184AC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736DEB93-458E-4A47-A094-F1E868171C94}"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877D991C-65ED-45E2-B0CA-5F9D1D546154}"/>
              </a:ext>
            </a:extLst>
          </p:cNvPr>
          <p:cNvSpPr>
            <a:spLocks noGrp="1" noRot="1" noChangeAspect="1" noChangeArrowheads="1" noTextEdit="1"/>
          </p:cNvSpPr>
          <p:nvPr>
            <p:ph type="sldImg"/>
          </p:nvPr>
        </p:nvSpPr>
        <p:spPr>
          <a:ln/>
        </p:spPr>
      </p:sp>
      <p:sp>
        <p:nvSpPr>
          <p:cNvPr id="45058" name="Notes Placeholder 2">
            <a:extLst>
              <a:ext uri="{FF2B5EF4-FFF2-40B4-BE49-F238E27FC236}">
                <a16:creationId xmlns:a16="http://schemas.microsoft.com/office/drawing/2014/main" id="{368E2B1E-1631-4E5C-B58F-4C74FA703A2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 preemption means we cannot take the resource from the process by force. Circular wait corresponds to a cycle in the resource allocation graph.</a:t>
            </a:r>
          </a:p>
        </p:txBody>
      </p:sp>
      <p:sp>
        <p:nvSpPr>
          <p:cNvPr id="45059" name="Slide Number Placeholder 3">
            <a:extLst>
              <a:ext uri="{FF2B5EF4-FFF2-40B4-BE49-F238E27FC236}">
                <a16:creationId xmlns:a16="http://schemas.microsoft.com/office/drawing/2014/main" id="{95B5AC65-04CE-4624-9CEA-C411C9887C7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558E5664-7D55-4353-A8F0-6CA0C4257325}"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82178-8B4F-AEAE-2013-A342DD878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0B1AEE-AEFB-46E3-EE8D-7B9C9AA34A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94A40-7EDC-B08A-1F1C-01CCC36D70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6153FE-C387-0E74-5D53-2FE7532A72A6}"/>
              </a:ext>
            </a:extLst>
          </p:cNvPr>
          <p:cNvSpPr>
            <a:spLocks noGrp="1"/>
          </p:cNvSpPr>
          <p:nvPr>
            <p:ph type="sldNum" sz="quarter" idx="5"/>
          </p:nvPr>
        </p:nvSpPr>
        <p:spPr/>
        <p:txBody>
          <a:bodyPr/>
          <a:lstStyle/>
          <a:p>
            <a:fld id="{94971001-0765-4275-A0AB-CEBA9F47F0D7}" type="slidenum">
              <a:rPr lang="en-US" altLang="en-US" smtClean="0"/>
              <a:pPr/>
              <a:t>19</a:t>
            </a:fld>
            <a:endParaRPr lang="en-US" altLang="en-US"/>
          </a:p>
        </p:txBody>
      </p:sp>
    </p:spTree>
    <p:extLst>
      <p:ext uri="{BB962C8B-B14F-4D97-AF65-F5344CB8AC3E}">
        <p14:creationId xmlns:p14="http://schemas.microsoft.com/office/powerpoint/2010/main" val="1597446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BA09A4FC-49C6-4AD3-B8BB-242474CD5C34}"/>
              </a:ext>
            </a:extLst>
          </p:cNvPr>
          <p:cNvSpPr>
            <a:spLocks noGrp="1" noRot="1" noChangeAspect="1" noChangeArrowheads="1" noTextEdit="1"/>
          </p:cNvSpPr>
          <p:nvPr>
            <p:ph type="sldImg"/>
          </p:nvPr>
        </p:nvSpPr>
        <p:spPr>
          <a:ln/>
        </p:spPr>
      </p:sp>
      <p:sp>
        <p:nvSpPr>
          <p:cNvPr id="47106" name="Notes Placeholder 2">
            <a:extLst>
              <a:ext uri="{FF2B5EF4-FFF2-40B4-BE49-F238E27FC236}">
                <a16:creationId xmlns:a16="http://schemas.microsoft.com/office/drawing/2014/main" id="{47C3B1DF-617D-475D-B3F2-B3C5B991CFD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7107" name="Slide Number Placeholder 3">
            <a:extLst>
              <a:ext uri="{FF2B5EF4-FFF2-40B4-BE49-F238E27FC236}">
                <a16:creationId xmlns:a16="http://schemas.microsoft.com/office/drawing/2014/main" id="{03C3E686-301D-46BB-B538-32138806C2D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141CF777-F824-4FCE-B066-945AF3A68730}"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a:extLst>
              <a:ext uri="{FF2B5EF4-FFF2-40B4-BE49-F238E27FC236}">
                <a16:creationId xmlns:a16="http://schemas.microsoft.com/office/drawing/2014/main" id="{677C2F95-1759-42C5-85EC-F224BA5D831C}"/>
              </a:ext>
            </a:extLst>
          </p:cNvPr>
          <p:cNvSpPr>
            <a:spLocks noGrp="1" noRot="1" noChangeAspect="1" noChangeArrowheads="1" noTextEdit="1"/>
          </p:cNvSpPr>
          <p:nvPr>
            <p:ph type="sldImg"/>
          </p:nvPr>
        </p:nvSpPr>
        <p:spPr>
          <a:ln/>
        </p:spPr>
      </p:sp>
      <p:sp>
        <p:nvSpPr>
          <p:cNvPr id="49154" name="Notes Placeholder 2">
            <a:extLst>
              <a:ext uri="{FF2B5EF4-FFF2-40B4-BE49-F238E27FC236}">
                <a16:creationId xmlns:a16="http://schemas.microsoft.com/office/drawing/2014/main" id="{6C62D329-5E07-46D6-91AB-FB044E84A1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There are multiple approaches to handling deadlocks. </a:t>
            </a:r>
          </a:p>
          <a:p>
            <a:endParaRPr lang="en-US" altLang="en-US"/>
          </a:p>
          <a:p>
            <a:r>
              <a:rPr lang="en-US" altLang="en-US"/>
              <a:t>First, we can ensure that the system will never enter a deadlock state. That is deadlock prevention and avoidance. </a:t>
            </a:r>
          </a:p>
          <a:p>
            <a:endParaRPr lang="en-US" altLang="en-US"/>
          </a:p>
          <a:p>
            <a:r>
              <a:rPr lang="en-US" altLang="en-US"/>
              <a:t>Second, we can allow the system to enter a deadlock state and then recover. That is deadlock detection.</a:t>
            </a:r>
          </a:p>
          <a:p>
            <a:endParaRPr lang="en-US" altLang="en-US"/>
          </a:p>
          <a:p>
            <a:r>
              <a:rPr lang="en-US" altLang="en-US"/>
              <a:t>Third, we simply ignore the problem and pretend that deadlocks never occur in the system. That means, do nothing. That is so called Ostrich approach. Why do most systems use Ostrich approach? Efficiency. The overhead of deadlock detection and prevention is high. Why do we learn about deadlock detection and prevention then? Because OS doesn’t implement deadlock, it is the user’s responsibility to handle deadlock in their programs. So, we need to pay attention to deadlock issues when we develop our multi-programmed software.</a:t>
            </a:r>
          </a:p>
        </p:txBody>
      </p:sp>
      <p:sp>
        <p:nvSpPr>
          <p:cNvPr id="49155" name="Slide Number Placeholder 3">
            <a:extLst>
              <a:ext uri="{FF2B5EF4-FFF2-40B4-BE49-F238E27FC236}">
                <a16:creationId xmlns:a16="http://schemas.microsoft.com/office/drawing/2014/main" id="{1AB27775-95AA-41F6-B01A-3CC7F036F35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E6A22754-4E5C-4ED6-8656-78CDB9951A2B}"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87D5FE3E-B10E-4435-A911-D426BED81700}"/>
              </a:ext>
            </a:extLst>
          </p:cNvPr>
          <p:cNvSpPr>
            <a:spLocks noGrp="1" noRot="1" noChangeAspect="1" noChangeArrowheads="1" noTextEdit="1"/>
          </p:cNvSpPr>
          <p:nvPr>
            <p:ph type="sldImg"/>
          </p:nvPr>
        </p:nvSpPr>
        <p:spPr>
          <a:ln/>
        </p:spPr>
      </p:sp>
      <p:sp>
        <p:nvSpPr>
          <p:cNvPr id="51202" name="Notes Placeholder 2">
            <a:extLst>
              <a:ext uri="{FF2B5EF4-FFF2-40B4-BE49-F238E27FC236}">
                <a16:creationId xmlns:a16="http://schemas.microsoft.com/office/drawing/2014/main" id="{AE51D911-5A64-4918-8EA3-BF42EFD1B52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For philosopher i ( 0&lt;=i&lt;5): He first picks up his left chopstick, and then the right chopstick. This is done by calling the wait operation on the corresponding semaphore. If both operations can succeed, the philosopher can eat. After eating, he releases the left chopstick and then the right one. After that, the philosopher will think, and then repeat the process. </a:t>
            </a:r>
          </a:p>
          <a:p>
            <a:endParaRPr lang="en-US" altLang="en-US"/>
          </a:p>
          <a:p>
            <a:r>
              <a:rPr lang="en-US" altLang="en-US" b="1"/>
              <a:t>Does this solution have any problem? </a:t>
            </a:r>
            <a:r>
              <a:rPr lang="en-US" altLang="en-US"/>
              <a:t>Each philosopher executes the first line and a context switch occurs. </a:t>
            </a:r>
            <a:r>
              <a:rPr lang="en-US" altLang="en-US">
                <a:sym typeface="Wingdings" panose="05000000000000000000" pitchFamily="2" charset="2"/>
              </a:rPr>
              <a:t> deadlock.</a:t>
            </a:r>
            <a:endParaRPr lang="en-US" altLang="en-US"/>
          </a:p>
        </p:txBody>
      </p:sp>
      <p:sp>
        <p:nvSpPr>
          <p:cNvPr id="51203" name="Slide Number Placeholder 3">
            <a:extLst>
              <a:ext uri="{FF2B5EF4-FFF2-40B4-BE49-F238E27FC236}">
                <a16:creationId xmlns:a16="http://schemas.microsoft.com/office/drawing/2014/main" id="{D4748567-06A0-443C-A2CA-3850A5EA40C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Helvetica" panose="020B0604020202020204" pitchFamily="34" charset="0"/>
              </a:defRPr>
            </a:lvl1pPr>
            <a:lvl2pPr marL="742950" indent="-285750" defTabSz="930275">
              <a:defRPr>
                <a:solidFill>
                  <a:schemeClr val="tx1"/>
                </a:solidFill>
                <a:latin typeface="Helvetica" panose="020B0604020202020204" pitchFamily="34" charset="0"/>
              </a:defRPr>
            </a:lvl2pPr>
            <a:lvl3pPr marL="1143000" indent="-228600" defTabSz="930275">
              <a:defRPr>
                <a:solidFill>
                  <a:schemeClr val="tx1"/>
                </a:solidFill>
                <a:latin typeface="Helvetica" panose="020B0604020202020204" pitchFamily="34" charset="0"/>
              </a:defRPr>
            </a:lvl3pPr>
            <a:lvl4pPr marL="1600200" indent="-228600" defTabSz="930275">
              <a:defRPr>
                <a:solidFill>
                  <a:schemeClr val="tx1"/>
                </a:solidFill>
                <a:latin typeface="Helvetica" panose="020B0604020202020204" pitchFamily="34" charset="0"/>
              </a:defRPr>
            </a:lvl4pPr>
            <a:lvl5pPr marL="2057400" indent="-228600" defTabSz="930275">
              <a:defRPr>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a:solidFill>
                  <a:schemeClr val="tx1"/>
                </a:solidFill>
                <a:latin typeface="Helvetica" panose="020B0604020202020204" pitchFamily="34" charset="0"/>
              </a:defRPr>
            </a:lvl9pPr>
          </a:lstStyle>
          <a:p>
            <a:fld id="{3445EAE0-2EDD-4F14-AA7D-E472FAB007B1}"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a:extLst>
              <a:ext uri="{FF2B5EF4-FFF2-40B4-BE49-F238E27FC236}">
                <a16:creationId xmlns:a16="http://schemas.microsoft.com/office/drawing/2014/main" id="{905B02FF-2187-433E-A076-6A0ED213429C}"/>
              </a:ext>
            </a:extLst>
          </p:cNvPr>
          <p:cNvSpPr>
            <a:spLocks noGrp="1" noRot="1" noChangeAspect="1" noChangeArrowheads="1" noTextEdit="1"/>
          </p:cNvSpPr>
          <p:nvPr>
            <p:ph type="sldImg"/>
          </p:nvPr>
        </p:nvSpPr>
        <p:spPr>
          <a:ln/>
        </p:spPr>
      </p:sp>
      <p:sp>
        <p:nvSpPr>
          <p:cNvPr id="53250" name="Notes Placeholder 2">
            <a:extLst>
              <a:ext uri="{FF2B5EF4-FFF2-40B4-BE49-F238E27FC236}">
                <a16:creationId xmlns:a16="http://schemas.microsoft.com/office/drawing/2014/main" id="{5FA78AEC-5AF7-4A0F-A608-B63158B6CC1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We will talk about how to prevent the deadlock conditions one by one. Recall, the four conditions are necessary to hold simultaneously for a deadlock to occur. So, we can prevent any one of them to happen. We illustrate that with </a:t>
            </a:r>
            <a:r>
              <a:rPr lang="en-US" altLang="en-US" u="sng"/>
              <a:t>Dining-Philosophers as an example.</a:t>
            </a:r>
          </a:p>
          <a:p>
            <a:r>
              <a:rPr lang="en-US" altLang="en-US" u="sng"/>
              <a:t> </a:t>
            </a:r>
            <a:endParaRPr lang="en-US" altLang="en-US"/>
          </a:p>
          <a:p>
            <a:r>
              <a:rPr lang="en-SG" altLang="en-US"/>
              <a:t>Hold and wait: </a:t>
            </a:r>
            <a:r>
              <a:rPr lang="en-US" altLang="en-US"/>
              <a:t>In Dining-Philosophers, allow a philosopher to pick up his chopsticks only if both the chopsticks are available. That means, at the beginning, the philosopher hasn’t taken any chopstick. In that case, there is no hold and wait. So, no deadlock. </a:t>
            </a:r>
          </a:p>
          <a:p>
            <a:endParaRPr lang="en-US" altLang="en-US"/>
          </a:p>
        </p:txBody>
      </p:sp>
      <p:sp>
        <p:nvSpPr>
          <p:cNvPr id="53251" name="Slide Number Placeholder 3">
            <a:extLst>
              <a:ext uri="{FF2B5EF4-FFF2-40B4-BE49-F238E27FC236}">
                <a16:creationId xmlns:a16="http://schemas.microsoft.com/office/drawing/2014/main" id="{A5E56EB6-C5DF-4566-83DA-7903CAEFB31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103FA0FD-0571-4AFE-8B20-05E27A42DFF4}"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a:extLst>
              <a:ext uri="{FF2B5EF4-FFF2-40B4-BE49-F238E27FC236}">
                <a16:creationId xmlns:a16="http://schemas.microsoft.com/office/drawing/2014/main" id="{AEE5DD95-AF7E-42BF-80C3-56025F6D19CF}"/>
              </a:ext>
            </a:extLst>
          </p:cNvPr>
          <p:cNvSpPr>
            <a:spLocks noGrp="1" noRot="1" noChangeAspect="1" noChangeArrowheads="1" noTextEdit="1"/>
          </p:cNvSpPr>
          <p:nvPr>
            <p:ph type="sldImg"/>
          </p:nvPr>
        </p:nvSpPr>
        <p:spPr>
          <a:ln/>
        </p:spPr>
      </p:sp>
      <p:sp>
        <p:nvSpPr>
          <p:cNvPr id="55298" name="Notes Placeholder 2">
            <a:extLst>
              <a:ext uri="{FF2B5EF4-FFF2-40B4-BE49-F238E27FC236}">
                <a16:creationId xmlns:a16="http://schemas.microsoft.com/office/drawing/2014/main" id="{90DF7C74-B97A-4ACE-83A9-08F69BB80FE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lvl="1"/>
            <a:r>
              <a:rPr lang="en-SG" altLang="en-US"/>
              <a:t>No preemption. To prevent this condition, we need to allow preemption. That is, </a:t>
            </a:r>
            <a:r>
              <a:rPr lang="en-US" altLang="en-US"/>
              <a:t>If a process that is holding some resources requests another resource that cannot be immediately allocated to it, then all resources currently being held are released. The process restarts later.</a:t>
            </a:r>
            <a:r>
              <a:rPr lang="en-SG" altLang="en-US"/>
              <a:t> </a:t>
            </a:r>
            <a:r>
              <a:rPr lang="en-US" altLang="en-US" sz="2200"/>
              <a:t>In Dining-Philosophers, if a philosopher cannot get another chopstick for a long time, preempt. That means, the philosopher needs to put down the chopstick, and then restarts.</a:t>
            </a:r>
          </a:p>
          <a:p>
            <a:pPr marL="0" lvl="1"/>
            <a:endParaRPr lang="en-US" altLang="en-US" sz="2200"/>
          </a:p>
          <a:p>
            <a:pPr marL="0" lvl="1"/>
            <a:r>
              <a:rPr lang="en-US" altLang="en-US" sz="2200"/>
              <a:t>Circular wait: In Dining-Philosophers, allow at most </a:t>
            </a:r>
            <a:r>
              <a:rPr lang="en-US" altLang="en-US" sz="2200" b="1"/>
              <a:t>four</a:t>
            </a:r>
            <a:r>
              <a:rPr lang="en-US" altLang="en-US" sz="2200"/>
              <a:t> philosophers to be hungry simultaneously. This is because of pigeon hole theory.</a:t>
            </a:r>
          </a:p>
          <a:p>
            <a:endParaRPr lang="en-US" altLang="en-US"/>
          </a:p>
          <a:p>
            <a:endParaRPr lang="en-US" altLang="en-US"/>
          </a:p>
        </p:txBody>
      </p:sp>
      <p:sp>
        <p:nvSpPr>
          <p:cNvPr id="55299" name="Slide Number Placeholder 3">
            <a:extLst>
              <a:ext uri="{FF2B5EF4-FFF2-40B4-BE49-F238E27FC236}">
                <a16:creationId xmlns:a16="http://schemas.microsoft.com/office/drawing/2014/main" id="{03F701ED-E4FE-4ADC-BE83-D67FDEEEF56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74D6B5DF-69EA-4DA7-9B3D-E3972A5A7A83}"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8FF2AC1E-F71E-4986-8B82-73A41BAB597D}"/>
              </a:ext>
            </a:extLst>
          </p:cNvPr>
          <p:cNvSpPr>
            <a:spLocks noGrp="1" noRot="1" noChangeAspect="1" noChangeArrowheads="1" noTextEdit="1"/>
          </p:cNvSpPr>
          <p:nvPr>
            <p:ph type="sldImg"/>
          </p:nvPr>
        </p:nvSpPr>
        <p:spPr>
          <a:ln/>
        </p:spPr>
      </p:sp>
      <p:sp>
        <p:nvSpPr>
          <p:cNvPr id="57346" name="Notes Placeholder 2">
            <a:extLst>
              <a:ext uri="{FF2B5EF4-FFF2-40B4-BE49-F238E27FC236}">
                <a16:creationId xmlns:a16="http://schemas.microsoft.com/office/drawing/2014/main" id="{FF1EBF01-C44E-40BF-998D-E649E6DFA6B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the dining philosopher problem, each chopstick has an ID. Suppose each philosopher takes the chopstick with the small id first, and then takes the chopstick with the large id. </a:t>
            </a:r>
          </a:p>
          <a:p>
            <a:r>
              <a:rPr lang="en-US" altLang="en-US"/>
              <a:t>First request in black.</a:t>
            </a:r>
          </a:p>
          <a:p>
            <a:r>
              <a:rPr lang="en-US" altLang="en-US"/>
              <a:t>Second request in yellow.</a:t>
            </a:r>
          </a:p>
          <a:p>
            <a:r>
              <a:rPr lang="en-US" altLang="en-US">
                <a:sym typeface="Wingdings" panose="05000000000000000000" pitchFamily="2" charset="2"/>
              </a:rPr>
              <a:t> No circular wait. </a:t>
            </a:r>
            <a:endParaRPr lang="en-US" altLang="en-US"/>
          </a:p>
          <a:p>
            <a:r>
              <a:rPr lang="en-US" altLang="en-US">
                <a:sym typeface="Wingdings" panose="05000000000000000000" pitchFamily="2" charset="2"/>
              </a:rPr>
              <a:t> No deadlock. </a:t>
            </a:r>
            <a:endParaRPr lang="en-US" altLang="en-US"/>
          </a:p>
        </p:txBody>
      </p:sp>
      <p:sp>
        <p:nvSpPr>
          <p:cNvPr id="57347" name="Slide Number Placeholder 3">
            <a:extLst>
              <a:ext uri="{FF2B5EF4-FFF2-40B4-BE49-F238E27FC236}">
                <a16:creationId xmlns:a16="http://schemas.microsoft.com/office/drawing/2014/main" id="{947AB9EB-FA71-48D1-93F4-75AE046BBE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17D533D1-354C-4F0E-A35E-6AD7C755830F}"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a:extLst>
              <a:ext uri="{FF2B5EF4-FFF2-40B4-BE49-F238E27FC236}">
                <a16:creationId xmlns:a16="http://schemas.microsoft.com/office/drawing/2014/main" id="{57F3176F-AD94-4282-AF49-EDE7EE55B15A}"/>
              </a:ext>
            </a:extLst>
          </p:cNvPr>
          <p:cNvSpPr>
            <a:spLocks noGrp="1" noRot="1" noChangeAspect="1" noChangeArrowheads="1" noTextEdit="1"/>
          </p:cNvSpPr>
          <p:nvPr>
            <p:ph type="sldImg"/>
          </p:nvPr>
        </p:nvSpPr>
        <p:spPr>
          <a:ln/>
        </p:spPr>
      </p:sp>
      <p:sp>
        <p:nvSpPr>
          <p:cNvPr id="59394" name="Notes Placeholder 2">
            <a:extLst>
              <a:ext uri="{FF2B5EF4-FFF2-40B4-BE49-F238E27FC236}">
                <a16:creationId xmlns:a16="http://schemas.microsoft.com/office/drawing/2014/main" id="{D1595940-7136-4E72-B930-3F0479CA9FB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59395" name="Slide Number Placeholder 3">
            <a:extLst>
              <a:ext uri="{FF2B5EF4-FFF2-40B4-BE49-F238E27FC236}">
                <a16:creationId xmlns:a16="http://schemas.microsoft.com/office/drawing/2014/main" id="{C6982E8E-C97B-40A0-97B1-67A3836E7A9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10330045-5A1B-4DA5-A04C-5BCAF483FD58}"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a:extLst>
              <a:ext uri="{FF2B5EF4-FFF2-40B4-BE49-F238E27FC236}">
                <a16:creationId xmlns:a16="http://schemas.microsoft.com/office/drawing/2014/main" id="{BC0C8A6E-BF49-4A27-9B61-EEA9B0763E5F}"/>
              </a:ext>
            </a:extLst>
          </p:cNvPr>
          <p:cNvSpPr>
            <a:spLocks noGrp="1" noRot="1" noChangeAspect="1" noChangeArrowheads="1" noTextEdit="1"/>
          </p:cNvSpPr>
          <p:nvPr>
            <p:ph type="sldImg"/>
          </p:nvPr>
        </p:nvSpPr>
        <p:spPr>
          <a:ln/>
        </p:spPr>
      </p:sp>
      <p:sp>
        <p:nvSpPr>
          <p:cNvPr id="61442" name="Notes Placeholder 2">
            <a:extLst>
              <a:ext uri="{FF2B5EF4-FFF2-40B4-BE49-F238E27FC236}">
                <a16:creationId xmlns:a16="http://schemas.microsoft.com/office/drawing/2014/main" id="{1FC150C4-5A8A-4A8D-B543-6FE1DB93E91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deadlock prevention breaks one of the deadlock conditions. We now consider a more general deadlock avoidance algorithm. The algorithm is run whenever a process requests resources. The algorithm examines the resource-allocation state, and ensures that the system never goes into unsafe state. That is, when a process requests an available resource, system must decide if immediate allocation leaves the system in a </a:t>
            </a:r>
            <a:r>
              <a:rPr lang="en-US" altLang="en-US" b="1"/>
              <a:t>safe</a:t>
            </a:r>
            <a:r>
              <a:rPr lang="en-US" altLang="en-US"/>
              <a:t> state. If safe, the request is granted. Otherwise, the process must wait. </a:t>
            </a:r>
          </a:p>
          <a:p>
            <a:endParaRPr lang="en-US" altLang="en-US"/>
          </a:p>
          <a:p>
            <a:r>
              <a:rPr lang="en-US" altLang="en-US"/>
              <a:t>So what is safe state? System is in safe state if there exists a </a:t>
            </a:r>
            <a:r>
              <a:rPr lang="en-US" altLang="en-US" i="1">
                <a:solidFill>
                  <a:srgbClr val="FF0000"/>
                </a:solidFill>
              </a:rPr>
              <a:t>safe sequence </a:t>
            </a:r>
            <a:r>
              <a:rPr lang="en-US" altLang="en-US"/>
              <a:t>of all processes. We do not require all sequences are safe. Only one safe sequence is sufficient.</a:t>
            </a:r>
          </a:p>
          <a:p>
            <a:endParaRPr lang="en-US" altLang="en-US"/>
          </a:p>
        </p:txBody>
      </p:sp>
      <p:sp>
        <p:nvSpPr>
          <p:cNvPr id="61443" name="Slide Number Placeholder 3">
            <a:extLst>
              <a:ext uri="{FF2B5EF4-FFF2-40B4-BE49-F238E27FC236}">
                <a16:creationId xmlns:a16="http://schemas.microsoft.com/office/drawing/2014/main" id="{FF9324C4-1C24-4255-9073-3380D6B392E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EB69F163-6499-4EDB-A9A0-13882E8D3B95}"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a:extLst>
              <a:ext uri="{FF2B5EF4-FFF2-40B4-BE49-F238E27FC236}">
                <a16:creationId xmlns:a16="http://schemas.microsoft.com/office/drawing/2014/main" id="{657CE3B4-52EF-4ABE-8A61-D0CF8CBE0FE6}"/>
              </a:ext>
            </a:extLst>
          </p:cNvPr>
          <p:cNvSpPr>
            <a:spLocks noGrp="1" noRot="1" noChangeAspect="1" noChangeArrowheads="1" noTextEdit="1"/>
          </p:cNvSpPr>
          <p:nvPr>
            <p:ph type="sldImg"/>
          </p:nvPr>
        </p:nvSpPr>
        <p:spPr>
          <a:ln/>
        </p:spPr>
      </p:sp>
      <p:sp>
        <p:nvSpPr>
          <p:cNvPr id="63490" name="Notes Placeholder 2">
            <a:extLst>
              <a:ext uri="{FF2B5EF4-FFF2-40B4-BE49-F238E27FC236}">
                <a16:creationId xmlns:a16="http://schemas.microsoft.com/office/drawing/2014/main" id="{97F03D2E-1ECC-48C6-AE32-999F461D8AC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Sequence &lt;</a:t>
            </a:r>
            <a:r>
              <a:rPr lang="en-US" altLang="en-US" i="1"/>
              <a:t>P</a:t>
            </a:r>
            <a:r>
              <a:rPr lang="en-US" altLang="en-US" baseline="-25000"/>
              <a:t>1</a:t>
            </a:r>
            <a:r>
              <a:rPr lang="en-US" altLang="en-US"/>
              <a:t>, </a:t>
            </a:r>
            <a:r>
              <a:rPr lang="en-US" altLang="en-US" i="1"/>
              <a:t>P</a:t>
            </a:r>
            <a:r>
              <a:rPr lang="en-US" altLang="en-US" baseline="-25000"/>
              <a:t>2</a:t>
            </a:r>
            <a:r>
              <a:rPr lang="en-US" altLang="en-US"/>
              <a:t>, …, </a:t>
            </a:r>
            <a:r>
              <a:rPr lang="en-US" altLang="en-US" i="1"/>
              <a:t>P</a:t>
            </a:r>
            <a:r>
              <a:rPr lang="en-US" altLang="en-US" i="1" baseline="-25000"/>
              <a:t>n</a:t>
            </a:r>
            <a:r>
              <a:rPr lang="en-US" altLang="en-US"/>
              <a:t>&gt; is safe if for each</a:t>
            </a:r>
            <a:r>
              <a:rPr lang="en-US" altLang="en-US" i="1"/>
              <a:t> P</a:t>
            </a:r>
            <a:r>
              <a:rPr lang="en-US" altLang="en-US" baseline="-25000"/>
              <a:t>i</a:t>
            </a:r>
            <a:r>
              <a:rPr lang="en-US" altLang="en-US"/>
              <a:t>, the resources that </a:t>
            </a:r>
            <a:r>
              <a:rPr lang="en-US" altLang="en-US" i="1"/>
              <a:t>P</a:t>
            </a:r>
            <a:r>
              <a:rPr lang="en-US" altLang="en-US" baseline="-25000"/>
              <a:t>i</a:t>
            </a:r>
            <a:r>
              <a:rPr lang="en-US" altLang="en-US"/>
              <a:t> requests can be satisfied by currently available resources + resources held by all the </a:t>
            </a:r>
            <a:r>
              <a:rPr lang="en-US" altLang="en-US" i="1"/>
              <a:t>P</a:t>
            </a:r>
            <a:r>
              <a:rPr lang="en-US" altLang="en-US" i="1" baseline="-25000"/>
              <a:t>j</a:t>
            </a:r>
            <a:r>
              <a:rPr lang="en-US" altLang="en-US"/>
              <a:t>, with </a:t>
            </a:r>
            <a:r>
              <a:rPr lang="en-US" altLang="en-US" i="1"/>
              <a:t>j&lt; i</a:t>
            </a:r>
            <a:r>
              <a:rPr lang="en-US" altLang="en-US"/>
              <a:t>. That is the processes before Pi in the sequence. </a:t>
            </a:r>
          </a:p>
        </p:txBody>
      </p:sp>
      <p:sp>
        <p:nvSpPr>
          <p:cNvPr id="63491" name="Slide Number Placeholder 3">
            <a:extLst>
              <a:ext uri="{FF2B5EF4-FFF2-40B4-BE49-F238E27FC236}">
                <a16:creationId xmlns:a16="http://schemas.microsoft.com/office/drawing/2014/main" id="{CC1F8D88-36CD-4291-BC2E-B766132917B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4B19CF32-CCF2-431B-B314-B13DC9D419C9}"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a:extLst>
              <a:ext uri="{FF2B5EF4-FFF2-40B4-BE49-F238E27FC236}">
                <a16:creationId xmlns:a16="http://schemas.microsoft.com/office/drawing/2014/main" id="{E78539CD-91FB-46E8-8EFB-6A1DBBC4564F}"/>
              </a:ext>
            </a:extLst>
          </p:cNvPr>
          <p:cNvSpPr>
            <a:spLocks noGrp="1" noRot="1" noChangeAspect="1" noChangeArrowheads="1" noTextEdit="1"/>
          </p:cNvSpPr>
          <p:nvPr>
            <p:ph type="sldImg"/>
          </p:nvPr>
        </p:nvSpPr>
        <p:spPr>
          <a:ln/>
        </p:spPr>
      </p:sp>
      <p:sp>
        <p:nvSpPr>
          <p:cNvPr id="65538" name="Notes Placeholder 2">
            <a:extLst>
              <a:ext uri="{FF2B5EF4-FFF2-40B4-BE49-F238E27FC236}">
                <a16:creationId xmlns:a16="http://schemas.microsoft.com/office/drawing/2014/main" id="{32232E1F-92C3-4943-A7A7-CA860BE5DF3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Consider a system with a single resource type. The number of instances available is one. There are three processes. P1 holds one instance and requests for one more and so on.</a:t>
            </a:r>
          </a:p>
        </p:txBody>
      </p:sp>
      <p:sp>
        <p:nvSpPr>
          <p:cNvPr id="65539" name="Slide Number Placeholder 3">
            <a:extLst>
              <a:ext uri="{FF2B5EF4-FFF2-40B4-BE49-F238E27FC236}">
                <a16:creationId xmlns:a16="http://schemas.microsoft.com/office/drawing/2014/main" id="{B1F2222E-75B0-4053-9B2F-35F0EFDD7D4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87F9E14A-4FC1-41E2-899C-640B3E36186F}"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a:extLst>
              <a:ext uri="{FF2B5EF4-FFF2-40B4-BE49-F238E27FC236}">
                <a16:creationId xmlns:a16="http://schemas.microsoft.com/office/drawing/2014/main" id="{DEC1A019-5C4E-46C9-92A5-126D6F155E6C}"/>
              </a:ext>
            </a:extLst>
          </p:cNvPr>
          <p:cNvSpPr>
            <a:spLocks noGrp="1" noRot="1" noChangeAspect="1" noChangeArrowheads="1" noTextEdit="1"/>
          </p:cNvSpPr>
          <p:nvPr>
            <p:ph type="sldImg"/>
          </p:nvPr>
        </p:nvSpPr>
        <p:spPr>
          <a:ln/>
        </p:spPr>
      </p:sp>
      <p:sp>
        <p:nvSpPr>
          <p:cNvPr id="67586" name="Notes Placeholder 2">
            <a:extLst>
              <a:ext uri="{FF2B5EF4-FFF2-40B4-BE49-F238E27FC236}">
                <a16:creationId xmlns:a16="http://schemas.microsoft.com/office/drawing/2014/main" id="{D63DCF8B-3028-467F-9CF8-217D37DC183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By definition, if a system is in a safe state, no deadlock.</a:t>
            </a:r>
          </a:p>
          <a:p>
            <a:endParaRPr lang="en-US" altLang="en-US"/>
          </a:p>
          <a:p>
            <a:r>
              <a:rPr lang="en-US" altLang="en-US"/>
              <a:t>If the system is in unsafe state, that means, there is no safe sequence for the system. It only means possibility of a deadlock. Because we are considering the worst case in the safe sequence: the resources are released only when the process finishes </a:t>
            </a:r>
            <a:r>
              <a:rPr lang="en-US" altLang="en-US" b="1"/>
              <a:t>(the worst case)</a:t>
            </a:r>
            <a:r>
              <a:rPr lang="en-US" altLang="en-US"/>
              <a:t>. If the process can release resources before termination. The later processes in the sequence can actually release the resources earlier. So the previous process have more resources to consume. The safe sequence does not consider this case. So, the unsafe state does not mean deadlock. For example, you can change the example in the previous slide: available =0. the system is unsafe. But, if P2 releases the resource earlier, then, all the processes can finish execution.</a:t>
            </a:r>
          </a:p>
        </p:txBody>
      </p:sp>
      <p:sp>
        <p:nvSpPr>
          <p:cNvPr id="67587" name="Slide Number Placeholder 3">
            <a:extLst>
              <a:ext uri="{FF2B5EF4-FFF2-40B4-BE49-F238E27FC236}">
                <a16:creationId xmlns:a16="http://schemas.microsoft.com/office/drawing/2014/main" id="{C4AEA674-D2A7-47A6-BFBF-A6F6EE8B736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E34D065D-4E4E-4A68-AF2D-C590D96CABB0}"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a:extLst>
              <a:ext uri="{FF2B5EF4-FFF2-40B4-BE49-F238E27FC236}">
                <a16:creationId xmlns:a16="http://schemas.microsoft.com/office/drawing/2014/main" id="{756C67AE-AC45-46C0-A5A7-97F6D428B90F}"/>
              </a:ext>
            </a:extLst>
          </p:cNvPr>
          <p:cNvSpPr>
            <a:spLocks noGrp="1" noRot="1" noChangeAspect="1" noChangeArrowheads="1" noTextEdit="1"/>
          </p:cNvSpPr>
          <p:nvPr>
            <p:ph type="sldImg"/>
          </p:nvPr>
        </p:nvSpPr>
        <p:spPr>
          <a:ln/>
        </p:spPr>
      </p:sp>
      <p:sp>
        <p:nvSpPr>
          <p:cNvPr id="69634" name="Notes Placeholder 2">
            <a:extLst>
              <a:ext uri="{FF2B5EF4-FFF2-40B4-BE49-F238E27FC236}">
                <a16:creationId xmlns:a16="http://schemas.microsoft.com/office/drawing/2014/main" id="{51E0D561-040B-43D0-BF62-B6DDDFF4949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Now, let’s learn the banker’s algorithm for deadlock avoidance. The algorithm decides whether to meet a resource request, and to avoid the unsafe state. By its name: there are many bankers. They can borrow and lend money to each other. The banker’s algorithm is to make sure that the bankers will not have a deadlock problem. </a:t>
            </a:r>
          </a:p>
          <a:p>
            <a:endParaRPr lang="en-US" altLang="en-US"/>
          </a:p>
          <a:p>
            <a:r>
              <a:rPr lang="en-US" altLang="en-US"/>
              <a:t>It can be used for multiple instances of each resource type. If all resource types have a single instance, what algorithm can we use? We can use resource-allocation graph, and see if the resource-allocation graph has a cycle.</a:t>
            </a:r>
          </a:p>
          <a:p>
            <a:endParaRPr lang="en-US" altLang="en-US"/>
          </a:p>
          <a:p>
            <a:r>
              <a:rPr lang="en-US" altLang="en-US"/>
              <a:t>We have some assumptions on the process execution. Before execution, each process must declare the maximum number of instances of each resource type that it needs. When a process requests a resource it may have to wait. that is when the allocation leads to unsafe state. When a process gets all its resource, it must return them in a finite amount of time. That means, eventually, the process will finish, and the waiting time of other processes is bounded.</a:t>
            </a:r>
          </a:p>
          <a:p>
            <a:endParaRPr lang="en-US" altLang="en-US"/>
          </a:p>
          <a:p>
            <a:endParaRPr lang="en-US" altLang="en-US"/>
          </a:p>
        </p:txBody>
      </p:sp>
      <p:sp>
        <p:nvSpPr>
          <p:cNvPr id="69635" name="Slide Number Placeholder 3">
            <a:extLst>
              <a:ext uri="{FF2B5EF4-FFF2-40B4-BE49-F238E27FC236}">
                <a16:creationId xmlns:a16="http://schemas.microsoft.com/office/drawing/2014/main" id="{9870AEBB-27DE-4F20-B937-57284736132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A1A0EB32-FD93-46E8-9AC7-433405081723}"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a:extLst>
              <a:ext uri="{FF2B5EF4-FFF2-40B4-BE49-F238E27FC236}">
                <a16:creationId xmlns:a16="http://schemas.microsoft.com/office/drawing/2014/main" id="{E85253B7-BEAE-4BC6-91E1-DD495265C8C3}"/>
              </a:ext>
            </a:extLst>
          </p:cNvPr>
          <p:cNvSpPr>
            <a:spLocks noGrp="1" noRot="1" noChangeAspect="1" noChangeArrowheads="1" noTextEdit="1"/>
          </p:cNvSpPr>
          <p:nvPr>
            <p:ph type="sldImg"/>
          </p:nvPr>
        </p:nvSpPr>
        <p:spPr>
          <a:ln/>
        </p:spPr>
      </p:sp>
      <p:sp>
        <p:nvSpPr>
          <p:cNvPr id="71682" name="Notes Placeholder 2">
            <a:extLst>
              <a:ext uri="{FF2B5EF4-FFF2-40B4-BE49-F238E27FC236}">
                <a16:creationId xmlns:a16="http://schemas.microsoft.com/office/drawing/2014/main" id="{3C7A7FA1-1BFE-4608-A6CA-9910958A5F8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Before we introduce the banker’s algorithm, we define the data structures it uses.</a:t>
            </a:r>
          </a:p>
        </p:txBody>
      </p:sp>
      <p:sp>
        <p:nvSpPr>
          <p:cNvPr id="71683" name="Slide Number Placeholder 3">
            <a:extLst>
              <a:ext uri="{FF2B5EF4-FFF2-40B4-BE49-F238E27FC236}">
                <a16:creationId xmlns:a16="http://schemas.microsoft.com/office/drawing/2014/main" id="{A1CFC03A-A26A-4E3D-B467-EBE06571E1F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9531F01E-C644-495C-BE10-71AB71483FD7}"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a:extLst>
              <a:ext uri="{FF2B5EF4-FFF2-40B4-BE49-F238E27FC236}">
                <a16:creationId xmlns:a16="http://schemas.microsoft.com/office/drawing/2014/main" id="{65ED6CBD-C56A-438E-9AB5-A9F3D78DDFB9}"/>
              </a:ext>
            </a:extLst>
          </p:cNvPr>
          <p:cNvSpPr>
            <a:spLocks noGrp="1" noRot="1" noChangeAspect="1" noChangeArrowheads="1" noTextEdit="1"/>
          </p:cNvSpPr>
          <p:nvPr>
            <p:ph type="sldImg"/>
          </p:nvPr>
        </p:nvSpPr>
        <p:spPr>
          <a:ln/>
        </p:spPr>
      </p:sp>
      <p:sp>
        <p:nvSpPr>
          <p:cNvPr id="73730" name="Notes Placeholder 2">
            <a:extLst>
              <a:ext uri="{FF2B5EF4-FFF2-40B4-BE49-F238E27FC236}">
                <a16:creationId xmlns:a16="http://schemas.microsoft.com/office/drawing/2014/main" id="{5087548B-9746-4283-B6B0-90C39BDFE67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first introduce safety algorithm. The algorithm determines whether the current system is in a safe state or not. If the system is in a safe state,  we will find a safe sequence for the system. </a:t>
            </a:r>
          </a:p>
          <a:p>
            <a:endParaRPr lang="en-US" altLang="en-US"/>
          </a:p>
          <a:p>
            <a:r>
              <a:rPr lang="en-US" altLang="en-US"/>
              <a:t>In the first step, we define two vectors work and finish to denote the current system state. Work represents the available resources during the execution of the algorithm. We will update it in Step 3. Finish denotes whether a process can be finished. If Finish[i] is true, this means Pi can finish. It is also updated in Step 3.</a:t>
            </a:r>
          </a:p>
          <a:p>
            <a:endParaRPr lang="en-US" altLang="en-US"/>
          </a:p>
          <a:p>
            <a:r>
              <a:rPr lang="en-US" altLang="en-US"/>
              <a:t>What if multiple answers? Any one can be chosen. If we go to step 3 and check step 2 again, those processes still satisfy the condition.</a:t>
            </a:r>
          </a:p>
          <a:p>
            <a:endParaRPr lang="en-US" altLang="en-US"/>
          </a:p>
        </p:txBody>
      </p:sp>
      <p:sp>
        <p:nvSpPr>
          <p:cNvPr id="73731" name="Slide Number Placeholder 3">
            <a:extLst>
              <a:ext uri="{FF2B5EF4-FFF2-40B4-BE49-F238E27FC236}">
                <a16:creationId xmlns:a16="http://schemas.microsoft.com/office/drawing/2014/main" id="{1131E850-7D71-4BDE-B079-F4F8D60E35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23BF0B7E-E150-4E88-BB9F-5AE4B997FEB8}"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a:extLst>
              <a:ext uri="{FF2B5EF4-FFF2-40B4-BE49-F238E27FC236}">
                <a16:creationId xmlns:a16="http://schemas.microsoft.com/office/drawing/2014/main" id="{CC00ABFF-4B05-4916-9139-5CA0A65C864E}"/>
              </a:ext>
            </a:extLst>
          </p:cNvPr>
          <p:cNvSpPr>
            <a:spLocks noGrp="1" noRot="1" noChangeAspect="1" noChangeArrowheads="1" noTextEdit="1"/>
          </p:cNvSpPr>
          <p:nvPr>
            <p:ph type="sldImg"/>
          </p:nvPr>
        </p:nvSpPr>
        <p:spPr>
          <a:ln/>
        </p:spPr>
      </p:sp>
      <p:sp>
        <p:nvSpPr>
          <p:cNvPr id="75778" name="Notes Placeholder 2">
            <a:extLst>
              <a:ext uri="{FF2B5EF4-FFF2-40B4-BE49-F238E27FC236}">
                <a16:creationId xmlns:a16="http://schemas.microsoft.com/office/drawing/2014/main" id="{1B1A11E1-3FF7-4379-A2A1-CDF56B7D7EB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Now, let’ s look at one example. There are five processes, P0 to P4. There are 3 resource types: A with 10 instances, B with 5 instances, and C with 7 instances. </a:t>
            </a:r>
          </a:p>
          <a:p>
            <a:endParaRPr lang="en-US" altLang="en-US"/>
          </a:p>
          <a:p>
            <a:r>
              <a:rPr lang="en-US" altLang="en-US"/>
              <a:t>The system state at time T0 is as follows. </a:t>
            </a:r>
          </a:p>
          <a:p>
            <a:r>
              <a:rPr lang="en-US" altLang="en-US"/>
              <a:t>Allocation</a:t>
            </a:r>
          </a:p>
          <a:p>
            <a:r>
              <a:rPr lang="en-US" altLang="en-US"/>
              <a:t>Max</a:t>
            </a:r>
          </a:p>
          <a:p>
            <a:r>
              <a:rPr lang="en-US" altLang="en-US"/>
              <a:t>Available</a:t>
            </a:r>
          </a:p>
          <a:p>
            <a:r>
              <a:rPr lang="en-US" altLang="en-US"/>
              <a:t>For example: P0 is allocated with 1 instance of B, and P0 may request 7 instances of A, and 5 instances of B, and 3 instances of C at most.</a:t>
            </a:r>
          </a:p>
          <a:p>
            <a:endParaRPr lang="en-US" altLang="en-US"/>
          </a:p>
        </p:txBody>
      </p:sp>
      <p:sp>
        <p:nvSpPr>
          <p:cNvPr id="75779" name="Slide Number Placeholder 3">
            <a:extLst>
              <a:ext uri="{FF2B5EF4-FFF2-40B4-BE49-F238E27FC236}">
                <a16:creationId xmlns:a16="http://schemas.microsoft.com/office/drawing/2014/main" id="{B41C684C-D8CF-46B8-91AB-5C61D26E3DB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B5B84295-8C1F-4B3B-912A-171E11D0B23B}"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a:extLst>
              <a:ext uri="{FF2B5EF4-FFF2-40B4-BE49-F238E27FC236}">
                <a16:creationId xmlns:a16="http://schemas.microsoft.com/office/drawing/2014/main" id="{91AC6DFD-D9A1-4AD6-820B-3F884AF58312}"/>
              </a:ext>
            </a:extLst>
          </p:cNvPr>
          <p:cNvSpPr>
            <a:spLocks noGrp="1" noRot="1" noChangeAspect="1" noChangeArrowheads="1" noTextEdit="1"/>
          </p:cNvSpPr>
          <p:nvPr>
            <p:ph type="sldImg"/>
          </p:nvPr>
        </p:nvSpPr>
        <p:spPr>
          <a:ln/>
        </p:spPr>
      </p:sp>
      <p:sp>
        <p:nvSpPr>
          <p:cNvPr id="77826" name="Notes Placeholder 2">
            <a:extLst>
              <a:ext uri="{FF2B5EF4-FFF2-40B4-BE49-F238E27FC236}">
                <a16:creationId xmlns:a16="http://schemas.microsoft.com/office/drawing/2014/main" id="{D0D9C076-D262-42B9-A538-57F6DDB5612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So, now, let’s calculate Need. By definition, Need=Max- Allocation.</a:t>
            </a:r>
          </a:p>
        </p:txBody>
      </p:sp>
      <p:sp>
        <p:nvSpPr>
          <p:cNvPr id="77827" name="Slide Number Placeholder 3">
            <a:extLst>
              <a:ext uri="{FF2B5EF4-FFF2-40B4-BE49-F238E27FC236}">
                <a16:creationId xmlns:a16="http://schemas.microsoft.com/office/drawing/2014/main" id="{14776E4C-D6B4-4ABD-8891-20D23442E20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4A998F2D-0823-44E3-BD4B-3281A0BE7ABE}"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a:extLst>
              <a:ext uri="{FF2B5EF4-FFF2-40B4-BE49-F238E27FC236}">
                <a16:creationId xmlns:a16="http://schemas.microsoft.com/office/drawing/2014/main" id="{170650E3-7DC6-4FDF-A602-06137459404C}"/>
              </a:ext>
            </a:extLst>
          </p:cNvPr>
          <p:cNvSpPr>
            <a:spLocks noGrp="1" noRot="1" noChangeAspect="1" noChangeArrowheads="1" noTextEdit="1"/>
          </p:cNvSpPr>
          <p:nvPr>
            <p:ph type="sldImg"/>
          </p:nvPr>
        </p:nvSpPr>
        <p:spPr>
          <a:ln/>
        </p:spPr>
      </p:sp>
      <p:sp>
        <p:nvSpPr>
          <p:cNvPr id="79874" name="Notes Placeholder 2">
            <a:extLst>
              <a:ext uri="{FF2B5EF4-FFF2-40B4-BE49-F238E27FC236}">
                <a16:creationId xmlns:a16="http://schemas.microsoft.com/office/drawing/2014/main" id="{B588D224-266E-4719-89C2-7BA738FE842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Is there any other completion sequence? As long as you can find a completion sequence for the process, we can say the system is safe. </a:t>
            </a:r>
          </a:p>
        </p:txBody>
      </p:sp>
      <p:sp>
        <p:nvSpPr>
          <p:cNvPr id="79875" name="Slide Number Placeholder 3">
            <a:extLst>
              <a:ext uri="{FF2B5EF4-FFF2-40B4-BE49-F238E27FC236}">
                <a16:creationId xmlns:a16="http://schemas.microsoft.com/office/drawing/2014/main" id="{A6EE738E-F305-4646-AE5B-03FF782BACD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25FC4B97-FB54-4594-93E3-A1EE52C23E45}"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a:extLst>
              <a:ext uri="{FF2B5EF4-FFF2-40B4-BE49-F238E27FC236}">
                <a16:creationId xmlns:a16="http://schemas.microsoft.com/office/drawing/2014/main" id="{60C88BE2-3CB0-4BA1-AD38-DC20E8432252}"/>
              </a:ext>
            </a:extLst>
          </p:cNvPr>
          <p:cNvSpPr>
            <a:spLocks noGrp="1" noRot="1" noChangeAspect="1" noChangeArrowheads="1" noTextEdit="1"/>
          </p:cNvSpPr>
          <p:nvPr>
            <p:ph type="sldImg"/>
          </p:nvPr>
        </p:nvSpPr>
        <p:spPr>
          <a:ln/>
        </p:spPr>
      </p:sp>
      <p:sp>
        <p:nvSpPr>
          <p:cNvPr id="81922" name="Notes Placeholder 2">
            <a:extLst>
              <a:ext uri="{FF2B5EF4-FFF2-40B4-BE49-F238E27FC236}">
                <a16:creationId xmlns:a16="http://schemas.microsoft.com/office/drawing/2014/main" id="{17049173-EA26-49B5-AC40-779190B2155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We now describe the algorithm for resource-request algorithm for a process Pi. We decide whether to grant the resource to the process or let the process wait.</a:t>
            </a:r>
          </a:p>
          <a:p>
            <a:r>
              <a:rPr lang="en-US" altLang="en-US"/>
              <a:t> </a:t>
            </a:r>
          </a:p>
          <a:p>
            <a:r>
              <a:rPr lang="en-US" altLang="en-US"/>
              <a:t>The resource request by the process Pi is represented in a vector Request. If </a:t>
            </a:r>
            <a:r>
              <a:rPr lang="en-US" altLang="en-US" i="1"/>
              <a:t>Request</a:t>
            </a:r>
            <a:r>
              <a:rPr lang="en-US" altLang="en-US" baseline="-25000"/>
              <a:t> </a:t>
            </a:r>
            <a:r>
              <a:rPr lang="en-US" altLang="en-US"/>
              <a:t>[</a:t>
            </a:r>
            <a:r>
              <a:rPr lang="en-US" altLang="en-US" i="1"/>
              <a:t>j</a:t>
            </a:r>
            <a:r>
              <a:rPr lang="en-US" altLang="en-US"/>
              <a:t>] == </a:t>
            </a:r>
            <a:r>
              <a:rPr lang="en-US" altLang="en-US" i="1"/>
              <a:t>k</a:t>
            </a:r>
            <a:r>
              <a:rPr lang="en-US" altLang="en-US"/>
              <a:t> then process </a:t>
            </a:r>
            <a:r>
              <a:rPr lang="en-US" altLang="en-US" i="1"/>
              <a:t>P</a:t>
            </a:r>
            <a:r>
              <a:rPr lang="en-US" altLang="en-US" i="1" baseline="-25000"/>
              <a:t>i</a:t>
            </a:r>
            <a:r>
              <a:rPr lang="en-US" altLang="en-US"/>
              <a:t> wants </a:t>
            </a:r>
            <a:r>
              <a:rPr lang="en-US" altLang="en-US" i="1"/>
              <a:t>k</a:t>
            </a:r>
            <a:r>
              <a:rPr lang="en-US" altLang="en-US"/>
              <a:t> instances of resource type </a:t>
            </a:r>
            <a:r>
              <a:rPr lang="en-US" altLang="en-US" i="1"/>
              <a:t>R</a:t>
            </a:r>
            <a:r>
              <a:rPr lang="en-US" altLang="en-US" i="1" baseline="-25000"/>
              <a:t>j</a:t>
            </a:r>
            <a:r>
              <a:rPr lang="en-US" altLang="en-US" baseline="-25000"/>
              <a:t>.</a:t>
            </a:r>
            <a:endParaRPr lang="en-US" altLang="en-US"/>
          </a:p>
          <a:p>
            <a:endParaRPr lang="en-US" altLang="en-US"/>
          </a:p>
        </p:txBody>
      </p:sp>
      <p:sp>
        <p:nvSpPr>
          <p:cNvPr id="81923" name="Slide Number Placeholder 3">
            <a:extLst>
              <a:ext uri="{FF2B5EF4-FFF2-40B4-BE49-F238E27FC236}">
                <a16:creationId xmlns:a16="http://schemas.microsoft.com/office/drawing/2014/main" id="{44376273-12EB-498A-A3B0-C63ECA8FE08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379BC139-1399-4696-8628-951626DF12A3}"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a:extLst>
              <a:ext uri="{FF2B5EF4-FFF2-40B4-BE49-F238E27FC236}">
                <a16:creationId xmlns:a16="http://schemas.microsoft.com/office/drawing/2014/main" id="{398B7A1C-41DF-41C7-A95D-7A7FBF2A951B}"/>
              </a:ext>
            </a:extLst>
          </p:cNvPr>
          <p:cNvSpPr>
            <a:spLocks noGrp="1" noRot="1" noChangeAspect="1" noChangeArrowheads="1" noTextEdit="1"/>
          </p:cNvSpPr>
          <p:nvPr>
            <p:ph type="sldImg"/>
          </p:nvPr>
        </p:nvSpPr>
        <p:spPr>
          <a:ln/>
        </p:spPr>
      </p:sp>
      <p:sp>
        <p:nvSpPr>
          <p:cNvPr id="83970" name="Notes Placeholder 2">
            <a:extLst>
              <a:ext uri="{FF2B5EF4-FFF2-40B4-BE49-F238E27FC236}">
                <a16:creationId xmlns:a16="http://schemas.microsoft.com/office/drawing/2014/main" id="{0BDDC5EB-82FB-4F9B-AECA-1396DC11D43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z="2800" i="1">
              <a:sym typeface="Symbol" panose="05050102010706020507" pitchFamily="18" charset="2"/>
            </a:endParaRPr>
          </a:p>
        </p:txBody>
      </p:sp>
      <p:sp>
        <p:nvSpPr>
          <p:cNvPr id="83971" name="Slide Number Placeholder 3">
            <a:extLst>
              <a:ext uri="{FF2B5EF4-FFF2-40B4-BE49-F238E27FC236}">
                <a16:creationId xmlns:a16="http://schemas.microsoft.com/office/drawing/2014/main" id="{B228D845-A89F-4A38-833E-46A4ED7CC3C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D8192E1D-1947-4E1B-939E-8B591FA92B13}"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a:extLst>
              <a:ext uri="{FF2B5EF4-FFF2-40B4-BE49-F238E27FC236}">
                <a16:creationId xmlns:a16="http://schemas.microsoft.com/office/drawing/2014/main" id="{3DB97F77-8526-404F-9C3B-DCC257F01240}"/>
              </a:ext>
            </a:extLst>
          </p:cNvPr>
          <p:cNvSpPr>
            <a:spLocks noGrp="1" noRot="1" noChangeAspect="1" noChangeArrowheads="1" noTextEdit="1"/>
          </p:cNvSpPr>
          <p:nvPr>
            <p:ph type="sldImg"/>
          </p:nvPr>
        </p:nvSpPr>
        <p:spPr>
          <a:ln/>
        </p:spPr>
      </p:sp>
      <p:sp>
        <p:nvSpPr>
          <p:cNvPr id="86018" name="Notes Placeholder 2">
            <a:extLst>
              <a:ext uri="{FF2B5EF4-FFF2-40B4-BE49-F238E27FC236}">
                <a16:creationId xmlns:a16="http://schemas.microsoft.com/office/drawing/2014/main" id="{E9EBC0AE-4AA7-4572-AD79-4B86E1B5F60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step 3, we pretend to allocate the requested resources. </a:t>
            </a:r>
          </a:p>
          <a:p>
            <a:r>
              <a:rPr lang="en-US" altLang="en-US"/>
              <a:t>What are the parameters  that we need to change?</a:t>
            </a:r>
          </a:p>
          <a:p>
            <a:r>
              <a:rPr lang="en-US" altLang="en-US"/>
              <a:t>Do we need to change Max? no.</a:t>
            </a:r>
          </a:p>
          <a:p>
            <a:endParaRPr lang="en-US" altLang="en-US"/>
          </a:p>
        </p:txBody>
      </p:sp>
      <p:sp>
        <p:nvSpPr>
          <p:cNvPr id="86019" name="Slide Number Placeholder 3">
            <a:extLst>
              <a:ext uri="{FF2B5EF4-FFF2-40B4-BE49-F238E27FC236}">
                <a16:creationId xmlns:a16="http://schemas.microsoft.com/office/drawing/2014/main" id="{93B1830C-23C9-42C9-8AE7-39BEA66C749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AB4C34AB-A630-4878-9B12-6F9CCA935B5E}"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a:extLst>
              <a:ext uri="{FF2B5EF4-FFF2-40B4-BE49-F238E27FC236}">
                <a16:creationId xmlns:a16="http://schemas.microsoft.com/office/drawing/2014/main" id="{2A8D1870-B5D8-4051-959B-A39652DBC964}"/>
              </a:ext>
            </a:extLst>
          </p:cNvPr>
          <p:cNvSpPr>
            <a:spLocks noGrp="1" noRot="1" noChangeAspect="1" noChangeArrowheads="1" noTextEdit="1"/>
          </p:cNvSpPr>
          <p:nvPr>
            <p:ph type="sldImg"/>
          </p:nvPr>
        </p:nvSpPr>
        <p:spPr>
          <a:ln/>
        </p:spPr>
      </p:sp>
      <p:sp>
        <p:nvSpPr>
          <p:cNvPr id="88066" name="Notes Placeholder 2">
            <a:extLst>
              <a:ext uri="{FF2B5EF4-FFF2-40B4-BE49-F238E27FC236}">
                <a16:creationId xmlns:a16="http://schemas.microsoft.com/office/drawing/2014/main" id="{7C5A8004-0837-4D0E-85EF-32E4B33A802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tabLst>
                <a:tab pos="1544638" algn="l"/>
                <a:tab pos="2452688" algn="ctr"/>
                <a:tab pos="3767138" algn="ctr"/>
                <a:tab pos="5022850" algn="ctr"/>
              </a:tabLst>
            </a:pPr>
            <a:r>
              <a:rPr lang="en-US" altLang="en-US"/>
              <a:t>Consider another case: Can further request for (0,2,0) by </a:t>
            </a:r>
            <a:r>
              <a:rPr lang="en-US" altLang="en-US" i="1"/>
              <a:t>P</a:t>
            </a:r>
            <a:r>
              <a:rPr lang="en-US" altLang="en-US" baseline="-25000"/>
              <a:t>0 </a:t>
            </a:r>
            <a:r>
              <a:rPr lang="en-US" altLang="en-US"/>
              <a:t>be granted?</a:t>
            </a:r>
            <a:endParaRPr lang="en-US" altLang="en-US" baseline="-25000"/>
          </a:p>
          <a:p>
            <a:pPr>
              <a:lnSpc>
                <a:spcPct val="90000"/>
              </a:lnSpc>
              <a:tabLst>
                <a:tab pos="1544638" algn="l"/>
                <a:tab pos="2452688" algn="ctr"/>
                <a:tab pos="3767138" algn="ctr"/>
                <a:tab pos="5022850" algn="ctr"/>
              </a:tabLst>
            </a:pPr>
            <a:r>
              <a:rPr lang="en-US" altLang="en-US"/>
              <a:t>We can actually find that step 1 and step 2 are true. Thus, we pretend to give the resource to P0. Thus, we update the system state by modifying Allocation0, Need0 and Available0. </a:t>
            </a:r>
          </a:p>
          <a:p>
            <a:pPr>
              <a:lnSpc>
                <a:spcPct val="90000"/>
              </a:lnSpc>
              <a:tabLst>
                <a:tab pos="1544638" algn="l"/>
                <a:tab pos="2452688" algn="ctr"/>
                <a:tab pos="3767138" algn="ctr"/>
                <a:tab pos="5022850" algn="ctr"/>
              </a:tabLst>
            </a:pPr>
            <a:r>
              <a:rPr lang="en-US" altLang="en-US"/>
              <a:t>Then, in step 4, we run the safety algorithm. However, in step 2 of the safety algorithm, we cannot find any process with Needi&lt;=Available. Thus, the system is unsafe.</a:t>
            </a:r>
          </a:p>
          <a:p>
            <a:pPr>
              <a:lnSpc>
                <a:spcPct val="90000"/>
              </a:lnSpc>
              <a:tabLst>
                <a:tab pos="1544638" algn="l"/>
                <a:tab pos="2452688" algn="ctr"/>
                <a:tab pos="3767138" algn="ctr"/>
                <a:tab pos="5022850" algn="ctr"/>
              </a:tabLst>
            </a:pPr>
            <a:r>
              <a:rPr lang="en-US" altLang="en-US"/>
              <a:t>What should we do? We should restore the old state.</a:t>
            </a:r>
          </a:p>
          <a:p>
            <a:pPr>
              <a:lnSpc>
                <a:spcPct val="90000"/>
              </a:lnSpc>
              <a:tabLst>
                <a:tab pos="1544638" algn="l"/>
                <a:tab pos="2452688" algn="ctr"/>
                <a:tab pos="3767138" algn="ctr"/>
                <a:tab pos="5022850" algn="ctr"/>
              </a:tabLst>
            </a:pPr>
            <a:endParaRPr lang="en-US" altLang="en-US"/>
          </a:p>
          <a:p>
            <a:pPr>
              <a:lnSpc>
                <a:spcPct val="90000"/>
              </a:lnSpc>
              <a:tabLst>
                <a:tab pos="1544638" algn="l"/>
                <a:tab pos="2452688" algn="ctr"/>
                <a:tab pos="3767138" algn="ctr"/>
                <a:tab pos="5022850" algn="ctr"/>
              </a:tabLst>
            </a:pPr>
            <a:r>
              <a:rPr lang="en-US" altLang="en-US"/>
              <a:t>How about a request for (2,3,0) by </a:t>
            </a:r>
            <a:r>
              <a:rPr lang="en-US" altLang="en-US" i="1"/>
              <a:t>P</a:t>
            </a:r>
            <a:r>
              <a:rPr lang="en-US" altLang="en-US" baseline="-25000"/>
              <a:t>4 </a:t>
            </a:r>
            <a:r>
              <a:rPr lang="en-US" altLang="en-US"/>
              <a:t>? </a:t>
            </a:r>
          </a:p>
          <a:p>
            <a:pPr>
              <a:lnSpc>
                <a:spcPct val="90000"/>
              </a:lnSpc>
              <a:tabLst>
                <a:tab pos="1544638" algn="l"/>
                <a:tab pos="2452688" algn="ctr"/>
                <a:tab pos="3767138" algn="ctr"/>
                <a:tab pos="5022850" algn="ctr"/>
              </a:tabLst>
            </a:pPr>
            <a:r>
              <a:rPr lang="en-US" altLang="en-US"/>
              <a:t>This is for your homework.</a:t>
            </a:r>
          </a:p>
        </p:txBody>
      </p:sp>
      <p:sp>
        <p:nvSpPr>
          <p:cNvPr id="88067" name="Slide Number Placeholder 3">
            <a:extLst>
              <a:ext uri="{FF2B5EF4-FFF2-40B4-BE49-F238E27FC236}">
                <a16:creationId xmlns:a16="http://schemas.microsoft.com/office/drawing/2014/main" id="{9BDDDC2C-D37D-4E92-9680-27F97E6B1FF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D825ACB0-3ADC-4A45-85E4-FACB78E92B30}"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a:extLst>
              <a:ext uri="{FF2B5EF4-FFF2-40B4-BE49-F238E27FC236}">
                <a16:creationId xmlns:a16="http://schemas.microsoft.com/office/drawing/2014/main" id="{BA4BB8D4-49EA-4FAA-B194-8E6496EBB6B1}"/>
              </a:ext>
            </a:extLst>
          </p:cNvPr>
          <p:cNvSpPr>
            <a:spLocks noGrp="1" noRot="1" noChangeAspect="1" noChangeArrowheads="1" noTextEdit="1"/>
          </p:cNvSpPr>
          <p:nvPr>
            <p:ph type="sldImg"/>
          </p:nvPr>
        </p:nvSpPr>
        <p:spPr>
          <a:ln/>
        </p:spPr>
      </p:sp>
      <p:sp>
        <p:nvSpPr>
          <p:cNvPr id="90114" name="Notes Placeholder 2">
            <a:extLst>
              <a:ext uri="{FF2B5EF4-FFF2-40B4-BE49-F238E27FC236}">
                <a16:creationId xmlns:a16="http://schemas.microsoft.com/office/drawing/2014/main" id="{48BB3B80-6EDD-4284-82A4-406715C3970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0115" name="Slide Number Placeholder 3">
            <a:extLst>
              <a:ext uri="{FF2B5EF4-FFF2-40B4-BE49-F238E27FC236}">
                <a16:creationId xmlns:a16="http://schemas.microsoft.com/office/drawing/2014/main" id="{8D6ED831-F937-4072-B017-D7898B3F165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195A7F66-9924-4F95-B46B-36AAF31300E7}"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lide Image Placeholder 1">
            <a:extLst>
              <a:ext uri="{FF2B5EF4-FFF2-40B4-BE49-F238E27FC236}">
                <a16:creationId xmlns:a16="http://schemas.microsoft.com/office/drawing/2014/main" id="{501D81A1-8873-4720-B694-FB4AED1E6B49}"/>
              </a:ext>
            </a:extLst>
          </p:cNvPr>
          <p:cNvSpPr>
            <a:spLocks noGrp="1" noRot="1" noChangeAspect="1" noChangeArrowheads="1" noTextEdit="1"/>
          </p:cNvSpPr>
          <p:nvPr>
            <p:ph type="sldImg"/>
          </p:nvPr>
        </p:nvSpPr>
        <p:spPr>
          <a:ln/>
        </p:spPr>
      </p:sp>
      <p:sp>
        <p:nvSpPr>
          <p:cNvPr id="92162" name="Notes Placeholder 2">
            <a:extLst>
              <a:ext uri="{FF2B5EF4-FFF2-40B4-BE49-F238E27FC236}">
                <a16:creationId xmlns:a16="http://schemas.microsoft.com/office/drawing/2014/main" id="{F83C6D4E-E52B-4EE2-BC34-D0E9B20D395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SG" altLang="en-US"/>
              <a:t>The basic idea of deadlock detection is to allow system to enter deadlock state, then invoke detection algorithm periodically. If there is a deadlock, we invoke the recovery algorithm. </a:t>
            </a:r>
          </a:p>
          <a:p>
            <a:r>
              <a:rPr lang="en-SG" altLang="en-US"/>
              <a:t>The deadlock detection algorithm is actually similar to deadlock avoidance algorithm. If you are interested in them, you can refer to textbooks or just go through them in slides. They are not examinable.</a:t>
            </a:r>
          </a:p>
          <a:p>
            <a:endParaRPr lang="en-SG" altLang="en-US"/>
          </a:p>
        </p:txBody>
      </p:sp>
      <p:sp>
        <p:nvSpPr>
          <p:cNvPr id="92163" name="Slide Number Placeholder 3">
            <a:extLst>
              <a:ext uri="{FF2B5EF4-FFF2-40B4-BE49-F238E27FC236}">
                <a16:creationId xmlns:a16="http://schemas.microsoft.com/office/drawing/2014/main" id="{DD9F086E-62CA-408E-A4AF-DCC510FDB74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C9621423-0628-40D9-9F0A-AE07AAFF1496}"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Slide Image Placeholder 1">
            <a:extLst>
              <a:ext uri="{FF2B5EF4-FFF2-40B4-BE49-F238E27FC236}">
                <a16:creationId xmlns:a16="http://schemas.microsoft.com/office/drawing/2014/main" id="{1D135D90-3FC5-483C-9549-7112A57A4B3A}"/>
              </a:ext>
            </a:extLst>
          </p:cNvPr>
          <p:cNvSpPr>
            <a:spLocks noGrp="1" noRot="1" noChangeAspect="1" noChangeArrowheads="1" noTextEdit="1"/>
          </p:cNvSpPr>
          <p:nvPr>
            <p:ph type="sldImg"/>
          </p:nvPr>
        </p:nvSpPr>
        <p:spPr>
          <a:ln/>
        </p:spPr>
      </p:sp>
      <p:sp>
        <p:nvSpPr>
          <p:cNvPr id="94210" name="Notes Placeholder 2">
            <a:extLst>
              <a:ext uri="{FF2B5EF4-FFF2-40B4-BE49-F238E27FC236}">
                <a16:creationId xmlns:a16="http://schemas.microsoft.com/office/drawing/2014/main" id="{B11A0EA3-F259-4EF5-A41E-34ED30C4561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94211" name="Slide Number Placeholder 3">
            <a:extLst>
              <a:ext uri="{FF2B5EF4-FFF2-40B4-BE49-F238E27FC236}">
                <a16:creationId xmlns:a16="http://schemas.microsoft.com/office/drawing/2014/main" id="{5D728EEE-CAB3-476B-A9BC-A1094582BE4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07C7752B-E46F-4B9E-B7C1-89C3B16A7CDE}"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a:extLst>
              <a:ext uri="{FF2B5EF4-FFF2-40B4-BE49-F238E27FC236}">
                <a16:creationId xmlns:a16="http://schemas.microsoft.com/office/drawing/2014/main" id="{F12BAAE4-19D2-423A-9F59-31F63B395C77}"/>
              </a:ext>
            </a:extLst>
          </p:cNvPr>
          <p:cNvSpPr>
            <a:spLocks noGrp="1" noRot="1" noChangeAspect="1" noChangeArrowheads="1" noTextEdit="1"/>
          </p:cNvSpPr>
          <p:nvPr>
            <p:ph type="sldImg"/>
          </p:nvPr>
        </p:nvSpPr>
        <p:spPr>
          <a:ln/>
        </p:spPr>
      </p:sp>
      <p:sp>
        <p:nvSpPr>
          <p:cNvPr id="96258" name="Notes Placeholder 2">
            <a:extLst>
              <a:ext uri="{FF2B5EF4-FFF2-40B4-BE49-F238E27FC236}">
                <a16:creationId xmlns:a16="http://schemas.microsoft.com/office/drawing/2014/main" id="{DFD0BA02-82E8-4517-8135-848835B8AEF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first introduce safety algorithm. The algorithm determines whether the current system is in a safe state or not. If the system is in a safe state,  we will find a safe sequence for the system. </a:t>
            </a:r>
          </a:p>
          <a:p>
            <a:endParaRPr lang="en-US" altLang="en-US"/>
          </a:p>
          <a:p>
            <a:r>
              <a:rPr lang="en-US" altLang="en-US"/>
              <a:t>In the first step, we define two vectors work and finish to denote the current system state. Work represents the available resources during the execution of the algorithm. We will update it in Step 3. Finish denotes whether a process can be finished. If Finish[i] is true, this means Pi can finish. It is also updated in Step 3.</a:t>
            </a:r>
          </a:p>
          <a:p>
            <a:endParaRPr lang="en-US" altLang="en-US"/>
          </a:p>
          <a:p>
            <a:r>
              <a:rPr lang="en-US" altLang="en-US"/>
              <a:t>What if multiple answers? Any one can be chosen. If we go to step 3 and check step 2 again, those processes still satisfy the condition.</a:t>
            </a:r>
          </a:p>
          <a:p>
            <a:endParaRPr lang="en-US" altLang="en-US"/>
          </a:p>
        </p:txBody>
      </p:sp>
      <p:sp>
        <p:nvSpPr>
          <p:cNvPr id="96259" name="Slide Number Placeholder 3">
            <a:extLst>
              <a:ext uri="{FF2B5EF4-FFF2-40B4-BE49-F238E27FC236}">
                <a16:creationId xmlns:a16="http://schemas.microsoft.com/office/drawing/2014/main" id="{FCB5329F-760C-43DB-B113-EAE9837BB44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F5284CBE-C820-4931-ADE0-4FBEF578F0B9}"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82178-8B4F-AEAE-2013-A342DD878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0B1AEE-AEFB-46E3-EE8D-7B9C9AA34A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94A40-7EDC-B08A-1F1C-01CCC36D70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6153FE-C387-0E74-5D53-2FE7532A72A6}"/>
              </a:ext>
            </a:extLst>
          </p:cNvPr>
          <p:cNvSpPr>
            <a:spLocks noGrp="1"/>
          </p:cNvSpPr>
          <p:nvPr>
            <p:ph type="sldNum" sz="quarter" idx="5"/>
          </p:nvPr>
        </p:nvSpPr>
        <p:spPr/>
        <p:txBody>
          <a:bodyPr/>
          <a:lstStyle/>
          <a:p>
            <a:fld id="{94971001-0765-4275-A0AB-CEBA9F47F0D7}" type="slidenum">
              <a:rPr lang="en-US" altLang="en-US" smtClean="0"/>
              <a:pPr/>
              <a:t>50</a:t>
            </a:fld>
            <a:endParaRPr lang="en-US" altLang="en-US"/>
          </a:p>
        </p:txBody>
      </p:sp>
    </p:spTree>
    <p:extLst>
      <p:ext uri="{BB962C8B-B14F-4D97-AF65-F5344CB8AC3E}">
        <p14:creationId xmlns:p14="http://schemas.microsoft.com/office/powerpoint/2010/main" val="15974464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0A78E-B607-A7F8-7383-93D3B8946B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04EC1-9DB9-F367-4885-BFCDCD570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F99243-9F2F-82DC-3B00-7746427AA5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C1951C-13BA-F5FA-F883-AE5D60C6B2B3}"/>
              </a:ext>
            </a:extLst>
          </p:cNvPr>
          <p:cNvSpPr>
            <a:spLocks noGrp="1"/>
          </p:cNvSpPr>
          <p:nvPr>
            <p:ph type="sldNum" sz="quarter" idx="5"/>
          </p:nvPr>
        </p:nvSpPr>
        <p:spPr/>
        <p:txBody>
          <a:bodyPr/>
          <a:lstStyle/>
          <a:p>
            <a:fld id="{94971001-0765-4275-A0AB-CEBA9F47F0D7}" type="slidenum">
              <a:rPr lang="en-US" altLang="en-US" smtClean="0"/>
              <a:pPr/>
              <a:t>51</a:t>
            </a:fld>
            <a:endParaRPr lang="en-US" altLang="en-US"/>
          </a:p>
        </p:txBody>
      </p:sp>
    </p:spTree>
    <p:extLst>
      <p:ext uri="{BB962C8B-B14F-4D97-AF65-F5344CB8AC3E}">
        <p14:creationId xmlns:p14="http://schemas.microsoft.com/office/powerpoint/2010/main" val="6678171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106B5-D47A-5E9C-C712-0EC8E8404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7865D3-ED0A-36BF-3D03-7282BD9B46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1D11C-DC3E-0E7C-691C-AD83517143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C92012-E9F9-77F5-7ABC-38ECE2F9BC6B}"/>
              </a:ext>
            </a:extLst>
          </p:cNvPr>
          <p:cNvSpPr>
            <a:spLocks noGrp="1"/>
          </p:cNvSpPr>
          <p:nvPr>
            <p:ph type="sldNum" sz="quarter" idx="5"/>
          </p:nvPr>
        </p:nvSpPr>
        <p:spPr/>
        <p:txBody>
          <a:bodyPr/>
          <a:lstStyle/>
          <a:p>
            <a:fld id="{94971001-0765-4275-A0AB-CEBA9F47F0D7}" type="slidenum">
              <a:rPr lang="en-US" altLang="en-US" smtClean="0"/>
              <a:pPr/>
              <a:t>52</a:t>
            </a:fld>
            <a:endParaRPr lang="en-US" altLang="en-US"/>
          </a:p>
        </p:txBody>
      </p:sp>
    </p:spTree>
    <p:extLst>
      <p:ext uri="{BB962C8B-B14F-4D97-AF65-F5344CB8AC3E}">
        <p14:creationId xmlns:p14="http://schemas.microsoft.com/office/powerpoint/2010/main" val="365431645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Image Placeholder 1">
            <a:extLst>
              <a:ext uri="{FF2B5EF4-FFF2-40B4-BE49-F238E27FC236}">
                <a16:creationId xmlns:a16="http://schemas.microsoft.com/office/drawing/2014/main" id="{4528494A-7007-45EB-9DA2-B03FA621F8F1}"/>
              </a:ext>
            </a:extLst>
          </p:cNvPr>
          <p:cNvSpPr>
            <a:spLocks noGrp="1" noRot="1" noChangeAspect="1" noChangeArrowheads="1" noTextEdit="1"/>
          </p:cNvSpPr>
          <p:nvPr>
            <p:ph type="sldImg"/>
          </p:nvPr>
        </p:nvSpPr>
        <p:spPr>
          <a:ln/>
        </p:spPr>
      </p:sp>
      <p:sp>
        <p:nvSpPr>
          <p:cNvPr id="101378" name="Notes Placeholder 2">
            <a:extLst>
              <a:ext uri="{FF2B5EF4-FFF2-40B4-BE49-F238E27FC236}">
                <a16:creationId xmlns:a16="http://schemas.microsoft.com/office/drawing/2014/main" id="{22FECA03-77A9-43C1-B24F-6B9ACCE19FB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Those are advanced readings, if you want to know more beyond the text book.</a:t>
            </a:r>
          </a:p>
          <a:p>
            <a:endParaRPr lang="en-US" altLang="en-US"/>
          </a:p>
        </p:txBody>
      </p:sp>
      <p:sp>
        <p:nvSpPr>
          <p:cNvPr id="101379" name="Slide Number Placeholder 3">
            <a:extLst>
              <a:ext uri="{FF2B5EF4-FFF2-40B4-BE49-F238E27FC236}">
                <a16:creationId xmlns:a16="http://schemas.microsoft.com/office/drawing/2014/main" id="{5C8AE585-AEC2-4D19-85BF-CB430D34B76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28C81300-90C5-4366-92B1-B838A4A39D0B}" type="slidenum">
              <a:rPr lang="en-US" altLang="en-US">
                <a:latin typeface="Times New Roman" panose="02020603050405020304" pitchFamily="18" charset="0"/>
              </a:rPr>
              <a:pPr/>
              <a:t>53</a:t>
            </a:fld>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85DE21F6-F102-49AB-B7FB-4D8B59E0544A}"/>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2810786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791CBAE-305B-4CB8-ADE8-E81D99E84393}"/>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2074182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3372C1F0-8E0D-471B-BEF1-4E97F4FD15C5}"/>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1450557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47750"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38675"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C078E94C-6853-4F77-A651-4A510D71311F}"/>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3796234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F7DE556E-4DF6-4440-ADF0-95D9F4B28B6D}"/>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3304929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9AADC5AF-4D77-4B19-BDA0-8ED1FC1F602F}"/>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1723053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18EC5079-0372-4792-ABFC-5503035D6441}"/>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937986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A86EB8A3-2F5A-45AA-884F-30A1EA426098}"/>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155452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77A45235-72D8-4C61-8595-F5FA33F78E8C}"/>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995433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E1A0DD5-687D-4B4C-857E-368EA1FD3C4F}"/>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1701713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19838" y="495300"/>
            <a:ext cx="1757362" cy="5343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47750" y="495300"/>
            <a:ext cx="5119688" cy="5343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4B364670-C278-42BB-B3FD-08F75C02DE2C}"/>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3190725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F583E08A-86E3-4C2A-80F8-646C41236307}"/>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lvl1pPr>
              <a:defRPr>
                <a:solidFill>
                  <a:schemeClr val="tx1"/>
                </a:solidFill>
                <a:latin typeface="Helvetica" pitchFamily="2" charset="0"/>
              </a:defRPr>
            </a:lvl1pPr>
            <a:lvl2pPr marL="742950" indent="-285750">
              <a:defRPr>
                <a:solidFill>
                  <a:schemeClr val="tx1"/>
                </a:solidFill>
                <a:latin typeface="Helvetica" pitchFamily="2" charset="0"/>
              </a:defRPr>
            </a:lvl2pPr>
            <a:lvl3pPr marL="1143000" indent="-228600">
              <a:defRPr>
                <a:solidFill>
                  <a:schemeClr val="tx1"/>
                </a:solidFill>
                <a:latin typeface="Helvetica" pitchFamily="2" charset="0"/>
              </a:defRPr>
            </a:lvl3pPr>
            <a:lvl4pPr marL="1600200" indent="-228600">
              <a:defRPr>
                <a:solidFill>
                  <a:schemeClr val="tx1"/>
                </a:solidFill>
                <a:latin typeface="Helvetica" pitchFamily="2" charset="0"/>
              </a:defRPr>
            </a:lvl4pPr>
            <a:lvl5pPr marL="2057400" indent="-228600">
              <a:defRPr>
                <a:solidFill>
                  <a:schemeClr val="tx1"/>
                </a:solidFill>
                <a:latin typeface="Helvetica" pitchFamily="2" charset="0"/>
              </a:defRPr>
            </a:lvl5pPr>
            <a:lvl6pPr marL="2514600" indent="-228600" eaLnBrk="0" fontAlgn="base" hangingPunct="0">
              <a:spcBef>
                <a:spcPct val="0"/>
              </a:spcBef>
              <a:spcAft>
                <a:spcPct val="0"/>
              </a:spcAft>
              <a:defRPr>
                <a:solidFill>
                  <a:schemeClr val="tx1"/>
                </a:solidFill>
                <a:latin typeface="Helvetica" pitchFamily="2" charset="0"/>
              </a:defRPr>
            </a:lvl6pPr>
            <a:lvl7pPr marL="2971800" indent="-228600" eaLnBrk="0" fontAlgn="base" hangingPunct="0">
              <a:spcBef>
                <a:spcPct val="0"/>
              </a:spcBef>
              <a:spcAft>
                <a:spcPct val="0"/>
              </a:spcAft>
              <a:defRPr>
                <a:solidFill>
                  <a:schemeClr val="tx1"/>
                </a:solidFill>
                <a:latin typeface="Helvetica" pitchFamily="2" charset="0"/>
              </a:defRPr>
            </a:lvl7pPr>
            <a:lvl8pPr marL="3429000" indent="-228600" eaLnBrk="0" fontAlgn="base" hangingPunct="0">
              <a:spcBef>
                <a:spcPct val="0"/>
              </a:spcBef>
              <a:spcAft>
                <a:spcPct val="0"/>
              </a:spcAft>
              <a:defRPr>
                <a:solidFill>
                  <a:schemeClr val="tx1"/>
                </a:solidFill>
                <a:latin typeface="Helvetica" pitchFamily="2" charset="0"/>
              </a:defRPr>
            </a:lvl8pPr>
            <a:lvl9pPr marL="3886200" indent="-228600" eaLnBrk="0" fontAlgn="base" hangingPunct="0">
              <a:spcBef>
                <a:spcPct val="0"/>
              </a:spcBef>
              <a:spcAft>
                <a:spcPct val="0"/>
              </a:spcAft>
              <a:defRPr>
                <a:solidFill>
                  <a:schemeClr val="tx1"/>
                </a:solidFill>
                <a:latin typeface="Helvetica" pitchFamily="2" charset="0"/>
              </a:defRPr>
            </a:lvl9pPr>
          </a:lstStyle>
          <a:p>
            <a:pPr algn="ctr">
              <a:defRPr/>
            </a:pPr>
            <a:endParaRPr lang="en-US" altLang="en-US"/>
          </a:p>
        </p:txBody>
      </p:sp>
      <p:sp>
        <p:nvSpPr>
          <p:cNvPr id="1027" name="Rectangle 2">
            <a:extLst>
              <a:ext uri="{FF2B5EF4-FFF2-40B4-BE49-F238E27FC236}">
                <a16:creationId xmlns:a16="http://schemas.microsoft.com/office/drawing/2014/main" id="{79033A65-AE9C-4113-8F3E-D0B17EFD8D36}"/>
              </a:ext>
            </a:extLst>
          </p:cNvPr>
          <p:cNvSpPr>
            <a:spLocks noGrp="1" noChangeArrowheads="1"/>
          </p:cNvSpPr>
          <p:nvPr>
            <p:ph type="title"/>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a:extLst>
              <a:ext uri="{FF2B5EF4-FFF2-40B4-BE49-F238E27FC236}">
                <a16:creationId xmlns:a16="http://schemas.microsoft.com/office/drawing/2014/main" id="{E870ED55-5483-4B71-B89C-9A6328FAF419}"/>
              </a:ext>
            </a:extLst>
          </p:cNvPr>
          <p:cNvSpPr>
            <a:spLocks noGrp="1" noChangeArrowheads="1"/>
          </p:cNvSpPr>
          <p:nvPr>
            <p:ph type="body" idx="1"/>
          </p:nvPr>
        </p:nvSpPr>
        <p:spPr bwMode="auto">
          <a:xfrm>
            <a:off x="1047750" y="1724025"/>
            <a:ext cx="70294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A9446919-B6E0-40BD-91CE-C87002ABCF51}"/>
              </a:ext>
            </a:extLst>
          </p:cNvPr>
          <p:cNvSpPr>
            <a:spLocks noGrp="1" noChangeArrowheads="1"/>
          </p:cNvSpPr>
          <p:nvPr>
            <p:ph type="ftr" sz="quarter" idx="3"/>
          </p:nvPr>
        </p:nvSpPr>
        <p:spPr bwMode="auto">
          <a:xfrm>
            <a:off x="38100" y="6588125"/>
            <a:ext cx="35941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000">
                <a:latin typeface="Helvetica" pitchFamily="34" charset="0"/>
              </a:defRPr>
            </a:lvl1pPr>
          </a:lstStyle>
          <a:p>
            <a:pPr>
              <a:defRPr/>
            </a:pPr>
            <a:r>
              <a:rPr lang="en-US"/>
              <a:t>Operating Systems</a:t>
            </a:r>
          </a:p>
        </p:txBody>
      </p:sp>
      <p:sp>
        <p:nvSpPr>
          <p:cNvPr id="1030" name="Rectangle 8">
            <a:extLst>
              <a:ext uri="{FF2B5EF4-FFF2-40B4-BE49-F238E27FC236}">
                <a16:creationId xmlns:a16="http://schemas.microsoft.com/office/drawing/2014/main" id="{FF6C49FA-5481-48DA-AA6E-379E94B4CAD6}"/>
              </a:ext>
            </a:extLst>
          </p:cNvPr>
          <p:cNvSpPr>
            <a:spLocks noChangeArrowheads="1"/>
          </p:cNvSpPr>
          <p:nvPr/>
        </p:nvSpPr>
        <p:spPr bwMode="auto">
          <a:xfrm>
            <a:off x="6248400" y="6537325"/>
            <a:ext cx="2895600" cy="320675"/>
          </a:xfrm>
          <a:prstGeom prst="rect">
            <a:avLst/>
          </a:prstGeom>
          <a:noFill/>
          <a:ln>
            <a:noFill/>
          </a:ln>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ctr">
              <a:defRPr/>
            </a:pPr>
            <a:r>
              <a:rPr lang="en-US" altLang="en-US" sz="1000"/>
              <a:t>Part 5 Deadlock and Starvation</a:t>
            </a:r>
            <a:endParaRPr lang="en-US" altLang="en-US" sz="1400">
              <a:latin typeface="Times New Roman" pitchFamily="18" charset="0"/>
            </a:endParaRPr>
          </a:p>
        </p:txBody>
      </p:sp>
      <p:sp>
        <p:nvSpPr>
          <p:cNvPr id="1031" name="AutoShape 9">
            <a:extLst>
              <a:ext uri="{FF2B5EF4-FFF2-40B4-BE49-F238E27FC236}">
                <a16:creationId xmlns:a16="http://schemas.microsoft.com/office/drawing/2014/main" id="{C22F269E-3D61-4442-B8E7-F398326E26A4}"/>
              </a:ext>
            </a:extLst>
          </p:cNvPr>
          <p:cNvSpPr>
            <a:spLocks noChangeArrowheads="1"/>
          </p:cNvSpPr>
          <p:nvPr/>
        </p:nvSpPr>
        <p:spPr bwMode="auto">
          <a:xfrm>
            <a:off x="120650" y="95250"/>
            <a:ext cx="8909050" cy="6448425"/>
          </a:xfrm>
          <a:prstGeom prst="roundRect">
            <a:avLst>
              <a:gd name="adj" fmla="val 17278"/>
            </a:avLst>
          </a:prstGeom>
          <a:noFill/>
          <a:ln w="9525">
            <a:solidFill>
              <a:schemeClr val="tx1"/>
            </a:solidFill>
            <a:round/>
            <a:headEnd/>
            <a:tailEnd/>
          </a:ln>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ctr">
              <a:defRPr/>
            </a:pPr>
            <a:endParaRPr lang="en-US" altLang="en-US"/>
          </a:p>
        </p:txBody>
      </p:sp>
      <p:sp>
        <p:nvSpPr>
          <p:cNvPr id="1032" name="Text Box 10">
            <a:extLst>
              <a:ext uri="{FF2B5EF4-FFF2-40B4-BE49-F238E27FC236}">
                <a16:creationId xmlns:a16="http://schemas.microsoft.com/office/drawing/2014/main" id="{589F4315-4144-4D5A-A6E8-C5F549886095}"/>
              </a:ext>
            </a:extLst>
          </p:cNvPr>
          <p:cNvSpPr txBox="1">
            <a:spLocks noChangeArrowheads="1"/>
          </p:cNvSpPr>
          <p:nvPr/>
        </p:nvSpPr>
        <p:spPr bwMode="auto">
          <a:xfrm>
            <a:off x="4094163" y="6513513"/>
            <a:ext cx="817562" cy="460375"/>
          </a:xfrm>
          <a:prstGeom prst="rect">
            <a:avLst/>
          </a:prstGeom>
          <a:noFill/>
          <a:ln>
            <a:noFill/>
          </a:ln>
        </p:spPr>
        <p:txBody>
          <a:bodyPr wrap="none" anchor="ctr">
            <a:spAutoFit/>
          </a:bodyPr>
          <a:lstStyle>
            <a:lvl1pPr>
              <a:defRPr>
                <a:solidFill>
                  <a:schemeClr val="tx1"/>
                </a:solidFill>
                <a:latin typeface="Helvetica" panose="020B0604020202020204" pitchFamily="34" charset="0"/>
              </a:defRPr>
            </a:lvl1pPr>
            <a:lvl2pPr marL="742950" indent="-2857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algn="ctr">
              <a:spcBef>
                <a:spcPct val="50000"/>
              </a:spcBef>
            </a:pPr>
            <a:r>
              <a:rPr lang="en-US" altLang="en-US" sz="2400"/>
              <a:t>5.</a:t>
            </a:r>
            <a:fld id="{B5A4AAEA-F18E-4C7F-91A7-2A29E14F9979}" type="slidenum">
              <a:rPr lang="en-US" altLang="en-US" sz="2400"/>
              <a:pPr algn="ctr">
                <a:spcBef>
                  <a:spcPct val="50000"/>
                </a:spcBef>
              </a:pPr>
              <a:t>‹#›</a:t>
            </a:fld>
            <a:endParaRPr lang="en-US"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2800" b="1">
          <a:solidFill>
            <a:schemeClr val="tx2"/>
          </a:solidFill>
          <a:latin typeface="+mj-lt"/>
          <a:ea typeface="+mj-ea"/>
          <a:cs typeface="+mj-cs"/>
        </a:defRPr>
      </a:lvl1pPr>
      <a:lvl2pPr algn="ctr" rtl="0" eaLnBrk="0" fontAlgn="base" hangingPunct="0">
        <a:spcBef>
          <a:spcPct val="0"/>
        </a:spcBef>
        <a:spcAft>
          <a:spcPct val="0"/>
        </a:spcAft>
        <a:defRPr sz="2800" b="1">
          <a:solidFill>
            <a:schemeClr val="tx2"/>
          </a:solidFill>
          <a:latin typeface="Helvetica" pitchFamily="34" charset="0"/>
        </a:defRPr>
      </a:lvl2pPr>
      <a:lvl3pPr algn="ctr" rtl="0" eaLnBrk="0" fontAlgn="base" hangingPunct="0">
        <a:spcBef>
          <a:spcPct val="0"/>
        </a:spcBef>
        <a:spcAft>
          <a:spcPct val="0"/>
        </a:spcAft>
        <a:defRPr sz="2800" b="1">
          <a:solidFill>
            <a:schemeClr val="tx2"/>
          </a:solidFill>
          <a:latin typeface="Helvetica" pitchFamily="34" charset="0"/>
        </a:defRPr>
      </a:lvl3pPr>
      <a:lvl4pPr algn="ctr" rtl="0" eaLnBrk="0" fontAlgn="base" hangingPunct="0">
        <a:spcBef>
          <a:spcPct val="0"/>
        </a:spcBef>
        <a:spcAft>
          <a:spcPct val="0"/>
        </a:spcAft>
        <a:defRPr sz="2800" b="1">
          <a:solidFill>
            <a:schemeClr val="tx2"/>
          </a:solidFill>
          <a:latin typeface="Helvetica" pitchFamily="34" charset="0"/>
        </a:defRPr>
      </a:lvl4pPr>
      <a:lvl5pPr algn="ctr" rtl="0" eaLnBrk="0" fontAlgn="base" hangingPunct="0">
        <a:spcBef>
          <a:spcPct val="0"/>
        </a:spcBef>
        <a:spcAft>
          <a:spcPct val="0"/>
        </a:spcAft>
        <a:defRPr sz="2800" b="1">
          <a:solidFill>
            <a:schemeClr val="tx2"/>
          </a:solidFill>
          <a:latin typeface="Helvetica" pitchFamily="34" charset="0"/>
        </a:defRPr>
      </a:lvl5pPr>
      <a:lvl6pPr marL="457200" algn="ctr" rtl="0" eaLnBrk="0" fontAlgn="base" hangingPunct="0">
        <a:spcBef>
          <a:spcPct val="0"/>
        </a:spcBef>
        <a:spcAft>
          <a:spcPct val="0"/>
        </a:spcAft>
        <a:defRPr sz="2800" b="1">
          <a:solidFill>
            <a:schemeClr val="tx2"/>
          </a:solidFill>
          <a:latin typeface="Helvetica" pitchFamily="34" charset="0"/>
        </a:defRPr>
      </a:lvl6pPr>
      <a:lvl7pPr marL="914400" algn="ctr" rtl="0" eaLnBrk="0" fontAlgn="base" hangingPunct="0">
        <a:spcBef>
          <a:spcPct val="0"/>
        </a:spcBef>
        <a:spcAft>
          <a:spcPct val="0"/>
        </a:spcAft>
        <a:defRPr sz="2800" b="1">
          <a:solidFill>
            <a:schemeClr val="tx2"/>
          </a:solidFill>
          <a:latin typeface="Helvetica" pitchFamily="34" charset="0"/>
        </a:defRPr>
      </a:lvl7pPr>
      <a:lvl8pPr marL="1371600" algn="ctr" rtl="0" eaLnBrk="0" fontAlgn="base" hangingPunct="0">
        <a:spcBef>
          <a:spcPct val="0"/>
        </a:spcBef>
        <a:spcAft>
          <a:spcPct val="0"/>
        </a:spcAft>
        <a:defRPr sz="2800" b="1">
          <a:solidFill>
            <a:schemeClr val="tx2"/>
          </a:solidFill>
          <a:latin typeface="Helvetica" pitchFamily="34" charset="0"/>
        </a:defRPr>
      </a:lvl8pPr>
      <a:lvl9pPr marL="1828800" algn="ctr" rtl="0" eaLnBrk="0" fontAlgn="base" hangingPunct="0">
        <a:spcBef>
          <a:spcPct val="0"/>
        </a:spcBef>
        <a:spcAft>
          <a:spcPct val="0"/>
        </a:spcAft>
        <a:defRPr sz="2800" b="1">
          <a:solidFill>
            <a:schemeClr val="tx2"/>
          </a:solidFill>
          <a:latin typeface="Helvetica" pitchFamily="34" charset="0"/>
        </a:defRPr>
      </a:lvl9pPr>
    </p:titleStyle>
    <p:body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a:solidFill>
            <a:schemeClr val="tx1"/>
          </a:solidFill>
          <a:latin typeface="+mn-lt"/>
        </a:defRPr>
      </a:lvl5pPr>
      <a:lvl6pPr marL="2514600" indent="-228600" algn="l" rtl="0" eaLnBrk="0" fontAlgn="base" hangingPunct="0">
        <a:spcBef>
          <a:spcPct val="20000"/>
        </a:spcBef>
        <a:spcAft>
          <a:spcPct val="0"/>
        </a:spcAft>
        <a:buChar char="»"/>
        <a:defRPr>
          <a:solidFill>
            <a:schemeClr val="tx1"/>
          </a:solidFill>
          <a:latin typeface="+mn-lt"/>
        </a:defRPr>
      </a:lvl6pPr>
      <a:lvl7pPr marL="2971800" indent="-228600" algn="l" rtl="0" eaLnBrk="0" fontAlgn="base" hangingPunct="0">
        <a:spcBef>
          <a:spcPct val="20000"/>
        </a:spcBef>
        <a:spcAft>
          <a:spcPct val="0"/>
        </a:spcAft>
        <a:buChar char="»"/>
        <a:defRPr>
          <a:solidFill>
            <a:schemeClr val="tx1"/>
          </a:solidFill>
          <a:latin typeface="+mn-lt"/>
        </a:defRPr>
      </a:lvl7pPr>
      <a:lvl8pPr marL="3429000" indent="-228600" algn="l" rtl="0" eaLnBrk="0" fontAlgn="base" hangingPunct="0">
        <a:spcBef>
          <a:spcPct val="20000"/>
        </a:spcBef>
        <a:spcAft>
          <a:spcPct val="0"/>
        </a:spcAft>
        <a:buChar char="»"/>
        <a:defRPr>
          <a:solidFill>
            <a:schemeClr val="tx1"/>
          </a:solidFill>
          <a:latin typeface="+mn-lt"/>
        </a:defRPr>
      </a:lvl8pPr>
      <a:lvl9pPr marL="3886200" indent="-228600" algn="l" rtl="0" eaLnBrk="0" fontAlgn="base" hangingPunct="0">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venus2.wis.ntu.edu.sg/SFT/Login.aspx"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11/relationships/webextension" Target="../webextensions/webextension3.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microsoft.com/office/2011/relationships/webextension" Target="../webextensions/webextension4.xm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microsoft.com/office/2011/relationships/webextension" Target="../webextensions/webextension5.xm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microsoft.com/office/2011/relationships/webextension" Target="../webextensions/webextension6.xm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hyperlink" Target="http://docs.oracle.com/javase/tutorial/essential/concurrency/index.html"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hyperlink" Target="http://en.wikipedia.org/wiki/Deadlo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240D96B2-37D3-4F36-81EF-1007B125DB24}"/>
              </a:ext>
            </a:extLst>
          </p:cNvPr>
          <p:cNvSpPr>
            <a:spLocks noGrp="1" noChangeArrowheads="1"/>
          </p:cNvSpPr>
          <p:nvPr>
            <p:ph type="title"/>
          </p:nvPr>
        </p:nvSpPr>
        <p:spPr/>
        <p:txBody>
          <a:bodyPr/>
          <a:lstStyle/>
          <a:p>
            <a:r>
              <a:rPr lang="en-US" altLang="en-US"/>
              <a:t>Comments are Welcome</a:t>
            </a:r>
          </a:p>
        </p:txBody>
      </p:sp>
      <p:sp>
        <p:nvSpPr>
          <p:cNvPr id="15362" name="Content Placeholder 2">
            <a:extLst>
              <a:ext uri="{FF2B5EF4-FFF2-40B4-BE49-F238E27FC236}">
                <a16:creationId xmlns:a16="http://schemas.microsoft.com/office/drawing/2014/main" id="{26684C75-950D-4AE0-9988-98CF34A23BE1}"/>
              </a:ext>
            </a:extLst>
          </p:cNvPr>
          <p:cNvSpPr>
            <a:spLocks noGrp="1" noChangeArrowheads="1"/>
          </p:cNvSpPr>
          <p:nvPr>
            <p:ph idx="1"/>
          </p:nvPr>
        </p:nvSpPr>
        <p:spPr>
          <a:xfrm>
            <a:off x="698500" y="1522413"/>
            <a:ext cx="7885113" cy="4114800"/>
          </a:xfrm>
        </p:spPr>
        <p:txBody>
          <a:bodyPr/>
          <a:lstStyle/>
          <a:p>
            <a:r>
              <a:rPr lang="en-US" altLang="en-US" sz="2400" dirty="0"/>
              <a:t>Online feedback systems are open (</a:t>
            </a:r>
            <a:r>
              <a:rPr lang="en-US" altLang="en-US" sz="2400" u="sng" dirty="0"/>
              <a:t>Due soon</a:t>
            </a:r>
            <a:r>
              <a:rPr lang="en-US" altLang="en-US" sz="2400" dirty="0"/>
              <a:t>)</a:t>
            </a:r>
          </a:p>
          <a:p>
            <a:pPr lvl="1"/>
            <a:r>
              <a:rPr lang="en-US" altLang="en-US" sz="2000" dirty="0">
                <a:solidFill>
                  <a:srgbClr val="FF0000"/>
                </a:solidFill>
                <a:hlinkClick r:id="rId3"/>
              </a:rPr>
              <a:t>https://venus2.wis.ntu.edu.sg/SFT/Login.aspx</a:t>
            </a:r>
            <a:r>
              <a:rPr lang="en-US" altLang="en-US" sz="2000" dirty="0">
                <a:solidFill>
                  <a:srgbClr val="FF0000"/>
                </a:solidFill>
              </a:rPr>
              <a:t> </a:t>
            </a:r>
            <a:endParaRPr lang="en-US" altLang="en-US" sz="2000" dirty="0">
              <a:solidFill>
                <a:srgbClr val="FF0000"/>
              </a:solidFill>
              <a:cs typeface="Helvetica"/>
            </a:endParaRPr>
          </a:p>
          <a:p>
            <a:pPr lvl="1"/>
            <a:endParaRPr lang="en-US" altLang="en-US" sz="1200"/>
          </a:p>
          <a:p>
            <a:r>
              <a:rPr lang="en-US" altLang="en-US" sz="2400" dirty="0"/>
              <a:t>Your comments are </a:t>
            </a:r>
            <a:r>
              <a:rPr lang="en-US" altLang="en-US" sz="2400" b="1" dirty="0"/>
              <a:t>VERY</a:t>
            </a:r>
            <a:r>
              <a:rPr lang="en-US" altLang="en-US" sz="2400" dirty="0"/>
              <a:t> </a:t>
            </a:r>
            <a:r>
              <a:rPr lang="en-US" altLang="en-US" sz="2400" b="1" dirty="0"/>
              <a:t>important</a:t>
            </a:r>
            <a:r>
              <a:rPr lang="en-US" altLang="en-US" sz="2400" dirty="0"/>
              <a:t>:</a:t>
            </a:r>
            <a:endParaRPr lang="en-US" altLang="en-US" sz="2400" dirty="0">
              <a:cs typeface="Helvetica"/>
            </a:endParaRPr>
          </a:p>
          <a:p>
            <a:pPr lvl="1"/>
            <a:r>
              <a:rPr lang="en-US" altLang="en-US" sz="2400" dirty="0"/>
              <a:t>To have a self-assessment process</a:t>
            </a:r>
            <a:endParaRPr lang="en-US" altLang="en-US" sz="2400" dirty="0">
              <a:cs typeface="Helvetica"/>
            </a:endParaRPr>
          </a:p>
          <a:p>
            <a:pPr lvl="1"/>
            <a:r>
              <a:rPr lang="en-US" altLang="en-US" sz="2400" dirty="0"/>
              <a:t>To improve teaching and course content/structure</a:t>
            </a:r>
            <a:endParaRPr lang="en-US" altLang="en-US" sz="2400" dirty="0">
              <a:cs typeface="Helvetica"/>
            </a:endParaRPr>
          </a:p>
          <a:p>
            <a:pPr lvl="1"/>
            <a:endParaRPr lang="en-US" altLang="en-US" sz="1200"/>
          </a:p>
          <a:p>
            <a:r>
              <a:rPr lang="en-US" altLang="en-US" sz="2400" dirty="0"/>
              <a:t>Speak out:</a:t>
            </a:r>
            <a:endParaRPr lang="en-US" altLang="en-US" sz="2400" dirty="0">
              <a:cs typeface="Helvetica"/>
            </a:endParaRPr>
          </a:p>
          <a:p>
            <a:pPr lvl="1"/>
            <a:r>
              <a:rPr lang="en-US" sz="2400"/>
              <a:t>If you think of any improvements that you can suggest, that would be great feedback as well</a:t>
            </a:r>
            <a:endParaRPr lang="en-US" sz="2400">
              <a:solidFill>
                <a:srgbClr val="808080"/>
              </a:solidFill>
            </a:endParaRPr>
          </a:p>
          <a:p>
            <a:pPr lvl="1"/>
            <a:r>
              <a:rPr lang="en-US" altLang="en-US" sz="2400" dirty="0"/>
              <a:t>If you like my lecture, I will treasure the good teaching experience</a:t>
            </a:r>
            <a:endParaRPr lang="en-US" dirty="0"/>
          </a:p>
        </p:txBody>
      </p:sp>
      <p:sp>
        <p:nvSpPr>
          <p:cNvPr id="15363" name="Footer Placeholder 3">
            <a:extLst>
              <a:ext uri="{FF2B5EF4-FFF2-40B4-BE49-F238E27FC236}">
                <a16:creationId xmlns:a16="http://schemas.microsoft.com/office/drawing/2014/main" id="{4E1466A0-9E76-4E81-83FD-3A2A1870172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A16991-48F3-59C0-4901-60AD019882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5C024-5232-9CF6-1A3B-C902DDE5F6BE}"/>
              </a:ext>
            </a:extLst>
          </p:cNvPr>
          <p:cNvSpPr>
            <a:spLocks noGrp="1"/>
          </p:cNvSpPr>
          <p:nvPr>
            <p:ph type="title"/>
          </p:nvPr>
        </p:nvSpPr>
        <p:spPr/>
        <p:txBody>
          <a:bodyPr/>
          <a:lstStyle/>
          <a:p>
            <a:r>
              <a:rPr lang="en-US" dirty="0"/>
              <a:t>Synchronization Concept</a:t>
            </a:r>
          </a:p>
        </p:txBody>
      </p:sp>
      <p:sp>
        <p:nvSpPr>
          <p:cNvPr id="4" name="Footer Placeholder 3">
            <a:extLst>
              <a:ext uri="{FF2B5EF4-FFF2-40B4-BE49-F238E27FC236}">
                <a16:creationId xmlns:a16="http://schemas.microsoft.com/office/drawing/2014/main" id="{52111673-83A2-557D-051C-9AF71F43585F}"/>
              </a:ext>
            </a:extLst>
          </p:cNvPr>
          <p:cNvSpPr>
            <a:spLocks noGrp="1"/>
          </p:cNvSpPr>
          <p:nvPr>
            <p:ph type="ftr" sz="quarter" idx="10"/>
          </p:nvPr>
        </p:nvSpPr>
        <p:spPr/>
        <p:txBody>
          <a:bodyPr/>
          <a:lstStyle/>
          <a:p>
            <a:pPr>
              <a:defRPr/>
            </a:pPr>
            <a:r>
              <a:rPr lang="en-US"/>
              <a:t>SC2005 Operating Systems</a:t>
            </a:r>
          </a:p>
        </p:txBody>
      </p:sp>
      <p:sp>
        <p:nvSpPr>
          <p:cNvPr id="3" name="TextBox 2">
            <a:extLst>
              <a:ext uri="{FF2B5EF4-FFF2-40B4-BE49-F238E27FC236}">
                <a16:creationId xmlns:a16="http://schemas.microsoft.com/office/drawing/2014/main" id="{5C7A857A-3094-D462-4BA7-4F949DCF28A6}"/>
              </a:ext>
            </a:extLst>
          </p:cNvPr>
          <p:cNvSpPr txBox="1"/>
          <p:nvPr/>
        </p:nvSpPr>
        <p:spPr>
          <a:xfrm>
            <a:off x="198930" y="5901035"/>
            <a:ext cx="8746138" cy="461665"/>
          </a:xfrm>
          <a:prstGeom prst="rect">
            <a:avLst/>
          </a:prstGeom>
          <a:noFill/>
        </p:spPr>
        <p:txBody>
          <a:bodyPr wrap="square" rtlCol="0">
            <a:spAutoFit/>
          </a:bodyPr>
          <a:lstStyle/>
          <a:p>
            <a:pPr algn="ctr"/>
            <a:r>
              <a:rPr lang="en-US" sz="2400" dirty="0">
                <a:solidFill>
                  <a:srgbClr val="FF0000"/>
                </a:solidFill>
              </a:rPr>
              <a:t>Keep </a:t>
            </a:r>
            <a:r>
              <a:rPr lang="en-US" sz="2400" dirty="0" err="1">
                <a:solidFill>
                  <a:srgbClr val="FF0000"/>
                </a:solidFill>
              </a:rPr>
              <a:t>Wooclap</a:t>
            </a:r>
            <a:r>
              <a:rPr lang="en-US" sz="2400" dirty="0">
                <a:solidFill>
                  <a:srgbClr val="FF0000"/>
                </a:solidFill>
              </a:rPr>
              <a:t> open on your device before the lecture ends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DF1730E1-3FE7-BF66-0BBC-64CE90B31CD2}"/>
                  </a:ext>
                </a:extLst>
              </p:cNvPr>
              <p:cNvGraphicFramePr>
                <a:graphicFrameLocks noGrp="1"/>
              </p:cNvGraphicFramePr>
              <p:nvPr/>
            </p:nvGraphicFramePr>
            <p:xfrm>
              <a:off x="0" y="952500"/>
              <a:ext cx="9144000" cy="494853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DF1730E1-3FE7-BF66-0BBC-64CE90B31CD2}"/>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952500"/>
                <a:ext cx="9144000" cy="4948535"/>
              </a:xfrm>
              <a:prstGeom prst="rect">
                <a:avLst/>
              </a:prstGeom>
            </p:spPr>
          </p:pic>
        </mc:Fallback>
      </mc:AlternateContent>
    </p:spTree>
    <p:extLst>
      <p:ext uri="{BB962C8B-B14F-4D97-AF65-F5344CB8AC3E}">
        <p14:creationId xmlns:p14="http://schemas.microsoft.com/office/powerpoint/2010/main" val="668049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A16991-48F3-59C0-4901-60AD019882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5C024-5232-9CF6-1A3B-C902DDE5F6BE}"/>
              </a:ext>
            </a:extLst>
          </p:cNvPr>
          <p:cNvSpPr>
            <a:spLocks noGrp="1"/>
          </p:cNvSpPr>
          <p:nvPr>
            <p:ph type="title"/>
          </p:nvPr>
        </p:nvSpPr>
        <p:spPr/>
        <p:txBody>
          <a:bodyPr/>
          <a:lstStyle/>
          <a:p>
            <a:r>
              <a:rPr lang="en-US" dirty="0"/>
              <a:t>Synchronization Concepts</a:t>
            </a:r>
          </a:p>
        </p:txBody>
      </p:sp>
      <p:sp>
        <p:nvSpPr>
          <p:cNvPr id="4" name="Footer Placeholder 3">
            <a:extLst>
              <a:ext uri="{FF2B5EF4-FFF2-40B4-BE49-F238E27FC236}">
                <a16:creationId xmlns:a16="http://schemas.microsoft.com/office/drawing/2014/main" id="{52111673-83A2-557D-051C-9AF71F43585F}"/>
              </a:ext>
            </a:extLst>
          </p:cNvPr>
          <p:cNvSpPr>
            <a:spLocks noGrp="1"/>
          </p:cNvSpPr>
          <p:nvPr>
            <p:ph type="ftr" sz="quarter" idx="10"/>
          </p:nvPr>
        </p:nvSpPr>
        <p:spPr/>
        <p:txBody>
          <a:bodyPr/>
          <a:lstStyle/>
          <a:p>
            <a:pPr>
              <a:defRPr/>
            </a:pPr>
            <a:r>
              <a:rPr lang="en-US"/>
              <a:t>SC2005 Operating Systems</a:t>
            </a:r>
          </a:p>
        </p:txBody>
      </p:sp>
      <p:sp>
        <p:nvSpPr>
          <p:cNvPr id="3" name="TextBox 2">
            <a:extLst>
              <a:ext uri="{FF2B5EF4-FFF2-40B4-BE49-F238E27FC236}">
                <a16:creationId xmlns:a16="http://schemas.microsoft.com/office/drawing/2014/main" id="{5C7A857A-3094-D462-4BA7-4F949DCF28A6}"/>
              </a:ext>
            </a:extLst>
          </p:cNvPr>
          <p:cNvSpPr txBox="1"/>
          <p:nvPr/>
        </p:nvSpPr>
        <p:spPr>
          <a:xfrm>
            <a:off x="198930" y="5901035"/>
            <a:ext cx="8746138" cy="461665"/>
          </a:xfrm>
          <a:prstGeom prst="rect">
            <a:avLst/>
          </a:prstGeom>
          <a:noFill/>
        </p:spPr>
        <p:txBody>
          <a:bodyPr wrap="square" rtlCol="0">
            <a:spAutoFit/>
          </a:bodyPr>
          <a:lstStyle/>
          <a:p>
            <a:pPr algn="ctr"/>
            <a:r>
              <a:rPr lang="en-US" sz="2400" dirty="0">
                <a:solidFill>
                  <a:srgbClr val="FF0000"/>
                </a:solidFill>
              </a:rPr>
              <a:t>Keep </a:t>
            </a:r>
            <a:r>
              <a:rPr lang="en-US" sz="2400" dirty="0" err="1">
                <a:solidFill>
                  <a:srgbClr val="FF0000"/>
                </a:solidFill>
              </a:rPr>
              <a:t>Wooclap</a:t>
            </a:r>
            <a:r>
              <a:rPr lang="en-US" sz="2400" dirty="0">
                <a:solidFill>
                  <a:srgbClr val="FF0000"/>
                </a:solidFill>
              </a:rPr>
              <a:t> open on your device before the lecture ends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DF1730E1-3FE7-BF66-0BBC-64CE90B31CD2}"/>
                  </a:ext>
                </a:extLst>
              </p:cNvPr>
              <p:cNvGraphicFramePr>
                <a:graphicFrameLocks noGrp="1"/>
              </p:cNvGraphicFramePr>
              <p:nvPr>
                <p:extLst>
                  <p:ext uri="{D42A27DB-BD31-4B8C-83A1-F6EECF244321}">
                    <p14:modId xmlns:p14="http://schemas.microsoft.com/office/powerpoint/2010/main" val="1591945017"/>
                  </p:ext>
                </p:extLst>
              </p:nvPr>
            </p:nvGraphicFramePr>
            <p:xfrm>
              <a:off x="0" y="952500"/>
              <a:ext cx="9144000" cy="494853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DF1730E1-3FE7-BF66-0BBC-64CE90B31CD2}"/>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952500"/>
                <a:ext cx="9144000" cy="4948535"/>
              </a:xfrm>
              <a:prstGeom prst="rect">
                <a:avLst/>
              </a:prstGeom>
            </p:spPr>
          </p:pic>
        </mc:Fallback>
      </mc:AlternateContent>
    </p:spTree>
    <p:extLst>
      <p:ext uri="{BB962C8B-B14F-4D97-AF65-F5344CB8AC3E}">
        <p14:creationId xmlns:p14="http://schemas.microsoft.com/office/powerpoint/2010/main" val="1873749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E37C-D648-62AB-79DD-BE12C60273D7}"/>
              </a:ext>
            </a:extLst>
          </p:cNvPr>
          <p:cNvSpPr>
            <a:spLocks noGrp="1"/>
          </p:cNvSpPr>
          <p:nvPr>
            <p:ph type="title"/>
          </p:nvPr>
        </p:nvSpPr>
        <p:spPr/>
        <p:txBody>
          <a:bodyPr/>
          <a:lstStyle/>
          <a:p>
            <a:r>
              <a:rPr lang="en-US" dirty="0"/>
              <a:t>Course Overview</a:t>
            </a:r>
          </a:p>
        </p:txBody>
      </p:sp>
      <p:sp>
        <p:nvSpPr>
          <p:cNvPr id="4" name="Footer Placeholder 3">
            <a:extLst>
              <a:ext uri="{FF2B5EF4-FFF2-40B4-BE49-F238E27FC236}">
                <a16:creationId xmlns:a16="http://schemas.microsoft.com/office/drawing/2014/main" id="{2AB58029-CCA3-2962-F8C9-30EEC52B4DA1}"/>
              </a:ext>
            </a:extLst>
          </p:cNvPr>
          <p:cNvSpPr>
            <a:spLocks noGrp="1"/>
          </p:cNvSpPr>
          <p:nvPr>
            <p:ph type="ftr" sz="quarter" idx="10"/>
          </p:nvPr>
        </p:nvSpPr>
        <p:spPr/>
        <p:txBody>
          <a:bodyPr/>
          <a:lstStyle/>
          <a:p>
            <a:pPr>
              <a:defRPr/>
            </a:pPr>
            <a:r>
              <a:rPr lang="en-US"/>
              <a:t>Operating Systems</a:t>
            </a:r>
          </a:p>
          <a:p>
            <a:pPr>
              <a:defRPr/>
            </a:pPr>
            <a:endParaRPr lang="en-US"/>
          </a:p>
        </p:txBody>
      </p:sp>
      <p:sp>
        <p:nvSpPr>
          <p:cNvPr id="5" name="TextBox 4">
            <a:extLst>
              <a:ext uri="{FF2B5EF4-FFF2-40B4-BE49-F238E27FC236}">
                <a16:creationId xmlns:a16="http://schemas.microsoft.com/office/drawing/2014/main" id="{E8CDAB8E-895E-6DF4-D571-864BCF9B761D}"/>
              </a:ext>
            </a:extLst>
          </p:cNvPr>
          <p:cNvSpPr txBox="1"/>
          <p:nvPr/>
        </p:nvSpPr>
        <p:spPr>
          <a:xfrm>
            <a:off x="3306871" y="1114817"/>
            <a:ext cx="2743200" cy="646331"/>
          </a:xfrm>
          <a:prstGeom prst="rect">
            <a:avLst/>
          </a:prstGeom>
          <a:noFill/>
        </p:spPr>
        <p:txBody>
          <a:bodyPr wrap="square" rtlCol="0">
            <a:spAutoFit/>
          </a:bodyPr>
          <a:lstStyle/>
          <a:p>
            <a:pPr algn="ctr"/>
            <a:r>
              <a:rPr lang="en-US" sz="3600" u="sng" dirty="0"/>
              <a:t>OS goals</a:t>
            </a:r>
          </a:p>
        </p:txBody>
      </p:sp>
      <p:sp>
        <p:nvSpPr>
          <p:cNvPr id="6" name="TextBox 5">
            <a:extLst>
              <a:ext uri="{FF2B5EF4-FFF2-40B4-BE49-F238E27FC236}">
                <a16:creationId xmlns:a16="http://schemas.microsoft.com/office/drawing/2014/main" id="{AFFAA270-F49D-B5B6-6624-06718A29A0F4}"/>
              </a:ext>
            </a:extLst>
          </p:cNvPr>
          <p:cNvSpPr txBox="1"/>
          <p:nvPr/>
        </p:nvSpPr>
        <p:spPr>
          <a:xfrm>
            <a:off x="703545" y="2190096"/>
            <a:ext cx="2290176" cy="954107"/>
          </a:xfrm>
          <a:prstGeom prst="rect">
            <a:avLst/>
          </a:prstGeom>
          <a:noFill/>
        </p:spPr>
        <p:txBody>
          <a:bodyPr wrap="square" rtlCol="0">
            <a:spAutoFit/>
          </a:bodyPr>
          <a:lstStyle/>
          <a:p>
            <a:pPr algn="ctr"/>
            <a:r>
              <a:rPr lang="en-US" sz="2800" dirty="0"/>
              <a:t>CPU management</a:t>
            </a:r>
          </a:p>
        </p:txBody>
      </p:sp>
      <p:sp>
        <p:nvSpPr>
          <p:cNvPr id="7" name="TextBox 6">
            <a:extLst>
              <a:ext uri="{FF2B5EF4-FFF2-40B4-BE49-F238E27FC236}">
                <a16:creationId xmlns:a16="http://schemas.microsoft.com/office/drawing/2014/main" id="{B2A68BF2-6C5D-82BB-1EBD-4B22D672B24D}"/>
              </a:ext>
            </a:extLst>
          </p:cNvPr>
          <p:cNvSpPr txBox="1"/>
          <p:nvPr/>
        </p:nvSpPr>
        <p:spPr>
          <a:xfrm>
            <a:off x="3533383" y="2213359"/>
            <a:ext cx="2290176" cy="954107"/>
          </a:xfrm>
          <a:prstGeom prst="rect">
            <a:avLst/>
          </a:prstGeom>
          <a:noFill/>
        </p:spPr>
        <p:txBody>
          <a:bodyPr wrap="square" rtlCol="0">
            <a:spAutoFit/>
          </a:bodyPr>
          <a:lstStyle/>
          <a:p>
            <a:pPr algn="ctr"/>
            <a:r>
              <a:rPr lang="en-US" sz="2800" dirty="0"/>
              <a:t>Memory management</a:t>
            </a:r>
          </a:p>
        </p:txBody>
      </p:sp>
      <p:sp>
        <p:nvSpPr>
          <p:cNvPr id="8" name="TextBox 7">
            <a:extLst>
              <a:ext uri="{FF2B5EF4-FFF2-40B4-BE49-F238E27FC236}">
                <a16:creationId xmlns:a16="http://schemas.microsoft.com/office/drawing/2014/main" id="{7026B318-0276-D407-BE2C-5323F61FBA41}"/>
              </a:ext>
            </a:extLst>
          </p:cNvPr>
          <p:cNvSpPr txBox="1"/>
          <p:nvPr/>
        </p:nvSpPr>
        <p:spPr>
          <a:xfrm>
            <a:off x="6270581" y="2209644"/>
            <a:ext cx="2290176" cy="954107"/>
          </a:xfrm>
          <a:prstGeom prst="rect">
            <a:avLst/>
          </a:prstGeom>
          <a:noFill/>
        </p:spPr>
        <p:txBody>
          <a:bodyPr wrap="square" rtlCol="0">
            <a:spAutoFit/>
          </a:bodyPr>
          <a:lstStyle/>
          <a:p>
            <a:pPr algn="ctr"/>
            <a:r>
              <a:rPr lang="en-US" sz="2800" dirty="0"/>
              <a:t>Filesystem management</a:t>
            </a:r>
          </a:p>
        </p:txBody>
      </p:sp>
      <p:cxnSp>
        <p:nvCxnSpPr>
          <p:cNvPr id="10" name="Straight Arrow Connector 9">
            <a:extLst>
              <a:ext uri="{FF2B5EF4-FFF2-40B4-BE49-F238E27FC236}">
                <a16:creationId xmlns:a16="http://schemas.microsoft.com/office/drawing/2014/main" id="{F8E28BDE-592A-9B76-0302-3CDC54E9D09C}"/>
              </a:ext>
            </a:extLst>
          </p:cNvPr>
          <p:cNvCxnSpPr>
            <a:stCxn id="5" idx="2"/>
            <a:endCxn id="6" idx="0"/>
          </p:cNvCxnSpPr>
          <p:nvPr/>
        </p:nvCxnSpPr>
        <p:spPr bwMode="auto">
          <a:xfrm flipH="1">
            <a:off x="1848633" y="1761148"/>
            <a:ext cx="2829838" cy="428948"/>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FDE19395-CD15-FACE-5D91-BCF380D788CE}"/>
              </a:ext>
            </a:extLst>
          </p:cNvPr>
          <p:cNvCxnSpPr>
            <a:cxnSpLocks/>
            <a:stCxn id="5" idx="2"/>
            <a:endCxn id="8" idx="0"/>
          </p:cNvCxnSpPr>
          <p:nvPr/>
        </p:nvCxnSpPr>
        <p:spPr bwMode="auto">
          <a:xfrm>
            <a:off x="4678471" y="1761148"/>
            <a:ext cx="2737198" cy="44849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6F5F8C69-32F4-BD16-93F7-BD56CF2CBACC}"/>
              </a:ext>
            </a:extLst>
          </p:cNvPr>
          <p:cNvCxnSpPr>
            <a:cxnSpLocks/>
            <a:stCxn id="5" idx="2"/>
            <a:endCxn id="7" idx="0"/>
          </p:cNvCxnSpPr>
          <p:nvPr/>
        </p:nvCxnSpPr>
        <p:spPr bwMode="auto">
          <a:xfrm>
            <a:off x="4678471" y="1761148"/>
            <a:ext cx="0" cy="452211"/>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0" name="TextBox 19">
            <a:extLst>
              <a:ext uri="{FF2B5EF4-FFF2-40B4-BE49-F238E27FC236}">
                <a16:creationId xmlns:a16="http://schemas.microsoft.com/office/drawing/2014/main" id="{712DE5A6-DBDF-51BE-DB3A-6FC80529063D}"/>
              </a:ext>
            </a:extLst>
          </p:cNvPr>
          <p:cNvSpPr txBox="1"/>
          <p:nvPr/>
        </p:nvSpPr>
        <p:spPr>
          <a:xfrm>
            <a:off x="1162050" y="5227761"/>
            <a:ext cx="3299304" cy="646331"/>
          </a:xfrm>
          <a:prstGeom prst="rect">
            <a:avLst/>
          </a:prstGeom>
          <a:noFill/>
          <a:ln>
            <a:solidFill>
              <a:schemeClr val="tx1"/>
            </a:solidFill>
          </a:ln>
        </p:spPr>
        <p:txBody>
          <a:bodyPr wrap="square" rtlCol="0">
            <a:spAutoFit/>
          </a:bodyPr>
          <a:lstStyle/>
          <a:p>
            <a:pPr marL="342900" indent="-342900">
              <a:buFontTx/>
              <a:buChar char="-"/>
            </a:pPr>
            <a:r>
              <a:rPr lang="en-US" i="1" dirty="0"/>
              <a:t>Synchronization (L4-5)</a:t>
            </a:r>
          </a:p>
          <a:p>
            <a:pPr marL="342900" indent="-342900">
              <a:buFontTx/>
              <a:buChar char="-"/>
            </a:pPr>
            <a:r>
              <a:rPr lang="en-US" b="1" i="1" dirty="0">
                <a:solidFill>
                  <a:srgbClr val="FF0000"/>
                </a:solidFill>
              </a:rPr>
              <a:t>Deadlocks (L6)</a:t>
            </a:r>
          </a:p>
        </p:txBody>
      </p:sp>
      <p:sp>
        <p:nvSpPr>
          <p:cNvPr id="22" name="TextBox 21">
            <a:extLst>
              <a:ext uri="{FF2B5EF4-FFF2-40B4-BE49-F238E27FC236}">
                <a16:creationId xmlns:a16="http://schemas.microsoft.com/office/drawing/2014/main" id="{7A2D67A4-22D5-2C0F-632D-A2011031AC69}"/>
              </a:ext>
            </a:extLst>
          </p:cNvPr>
          <p:cNvSpPr txBox="1"/>
          <p:nvPr/>
        </p:nvSpPr>
        <p:spPr>
          <a:xfrm>
            <a:off x="5010150" y="5366260"/>
            <a:ext cx="3550607" cy="369332"/>
          </a:xfrm>
          <a:prstGeom prst="rect">
            <a:avLst/>
          </a:prstGeom>
          <a:noFill/>
          <a:ln>
            <a:solidFill>
              <a:schemeClr val="tx1"/>
            </a:solidFill>
          </a:ln>
        </p:spPr>
        <p:txBody>
          <a:bodyPr wrap="square" rtlCol="0">
            <a:spAutoFit/>
          </a:bodyPr>
          <a:lstStyle/>
          <a:p>
            <a:pPr algn="ctr"/>
            <a:r>
              <a:rPr lang="en-US" i="1" dirty="0"/>
              <a:t>I/O &amp; disk (L12)</a:t>
            </a:r>
          </a:p>
        </p:txBody>
      </p:sp>
      <p:cxnSp>
        <p:nvCxnSpPr>
          <p:cNvPr id="24" name="Straight Arrow Connector 23">
            <a:extLst>
              <a:ext uri="{FF2B5EF4-FFF2-40B4-BE49-F238E27FC236}">
                <a16:creationId xmlns:a16="http://schemas.microsoft.com/office/drawing/2014/main" id="{E26D7182-418D-1A8C-CA35-2C4EACD615A6}"/>
              </a:ext>
            </a:extLst>
          </p:cNvPr>
          <p:cNvCxnSpPr>
            <a:cxnSpLocks/>
            <a:stCxn id="6" idx="2"/>
            <a:endCxn id="19" idx="0"/>
          </p:cNvCxnSpPr>
          <p:nvPr/>
        </p:nvCxnSpPr>
        <p:spPr bwMode="auto">
          <a:xfrm flipH="1">
            <a:off x="1750121" y="3144203"/>
            <a:ext cx="98512" cy="44716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806D2220-1B46-51FF-93B7-FEB0BDD1F037}"/>
              </a:ext>
            </a:extLst>
          </p:cNvPr>
          <p:cNvCxnSpPr>
            <a:cxnSpLocks/>
            <a:stCxn id="7" idx="2"/>
            <a:endCxn id="21" idx="0"/>
          </p:cNvCxnSpPr>
          <p:nvPr/>
        </p:nvCxnSpPr>
        <p:spPr bwMode="auto">
          <a:xfrm flipH="1">
            <a:off x="4675601" y="3167466"/>
            <a:ext cx="2870" cy="409917"/>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9CFAA15E-7F5B-D6D8-3A81-99F3D2AA0269}"/>
              </a:ext>
            </a:extLst>
          </p:cNvPr>
          <p:cNvCxnSpPr>
            <a:cxnSpLocks/>
            <a:stCxn id="8" idx="2"/>
            <a:endCxn id="23" idx="0"/>
          </p:cNvCxnSpPr>
          <p:nvPr/>
        </p:nvCxnSpPr>
        <p:spPr bwMode="auto">
          <a:xfrm>
            <a:off x="7415669" y="3163751"/>
            <a:ext cx="111820" cy="552319"/>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9958DD35-66CB-1CDC-983C-BA2E67A9DC7F}"/>
              </a:ext>
            </a:extLst>
          </p:cNvPr>
          <p:cNvCxnSpPr>
            <a:cxnSpLocks/>
            <a:stCxn id="6" idx="2"/>
          </p:cNvCxnSpPr>
          <p:nvPr/>
        </p:nvCxnSpPr>
        <p:spPr bwMode="auto">
          <a:xfrm>
            <a:off x="1848633" y="3144203"/>
            <a:ext cx="884653" cy="190378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19" name="TextBox 18">
            <a:extLst>
              <a:ext uri="{FF2B5EF4-FFF2-40B4-BE49-F238E27FC236}">
                <a16:creationId xmlns:a16="http://schemas.microsoft.com/office/drawing/2014/main" id="{FB5EA5D8-7888-BD95-FFE7-60608354B022}"/>
              </a:ext>
            </a:extLst>
          </p:cNvPr>
          <p:cNvSpPr txBox="1"/>
          <p:nvPr/>
        </p:nvSpPr>
        <p:spPr>
          <a:xfrm>
            <a:off x="506521" y="3591369"/>
            <a:ext cx="2487200" cy="646331"/>
          </a:xfrm>
          <a:prstGeom prst="rect">
            <a:avLst/>
          </a:prstGeom>
          <a:solidFill>
            <a:srgbClr val="FFFFFF">
              <a:alpha val="77647"/>
            </a:srgbClr>
          </a:solidFill>
          <a:ln>
            <a:solidFill>
              <a:schemeClr val="tx1"/>
            </a:solidFill>
          </a:ln>
        </p:spPr>
        <p:txBody>
          <a:bodyPr wrap="square" rtlCol="0">
            <a:spAutoFit/>
          </a:bodyPr>
          <a:lstStyle/>
          <a:p>
            <a:pPr marL="342900" indent="-342900">
              <a:buFontTx/>
              <a:buChar char="-"/>
            </a:pPr>
            <a:r>
              <a:rPr lang="en-US" i="1" dirty="0"/>
              <a:t>Processes (L2)</a:t>
            </a:r>
          </a:p>
          <a:p>
            <a:pPr marL="342900" indent="-342900">
              <a:buFontTx/>
              <a:buChar char="-"/>
            </a:pPr>
            <a:r>
              <a:rPr lang="en-US" i="1" dirty="0"/>
              <a:t>Scheduling (L3)</a:t>
            </a:r>
          </a:p>
        </p:txBody>
      </p:sp>
      <p:cxnSp>
        <p:nvCxnSpPr>
          <p:cNvPr id="37" name="Straight Arrow Connector 36">
            <a:extLst>
              <a:ext uri="{FF2B5EF4-FFF2-40B4-BE49-F238E27FC236}">
                <a16:creationId xmlns:a16="http://schemas.microsoft.com/office/drawing/2014/main" id="{661EAEBD-F3E4-1FBA-78D2-8582F33AA6EB}"/>
              </a:ext>
            </a:extLst>
          </p:cNvPr>
          <p:cNvCxnSpPr>
            <a:cxnSpLocks/>
            <a:stCxn id="7" idx="2"/>
          </p:cNvCxnSpPr>
          <p:nvPr/>
        </p:nvCxnSpPr>
        <p:spPr bwMode="auto">
          <a:xfrm flipH="1">
            <a:off x="3013814" y="3167466"/>
            <a:ext cx="1664657" cy="1880523"/>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12F746E9-2FFA-042B-E36D-854D03D7AE4F}"/>
              </a:ext>
            </a:extLst>
          </p:cNvPr>
          <p:cNvCxnSpPr>
            <a:cxnSpLocks/>
            <a:stCxn id="8" idx="2"/>
          </p:cNvCxnSpPr>
          <p:nvPr/>
        </p:nvCxnSpPr>
        <p:spPr bwMode="auto">
          <a:xfrm flipH="1">
            <a:off x="6877050" y="3163751"/>
            <a:ext cx="538619" cy="2064010"/>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3" name="TextBox 22">
            <a:extLst>
              <a:ext uri="{FF2B5EF4-FFF2-40B4-BE49-F238E27FC236}">
                <a16:creationId xmlns:a16="http://schemas.microsoft.com/office/drawing/2014/main" id="{8DF748DE-F3BD-1F2A-F532-C6421E95CAA8}"/>
              </a:ext>
            </a:extLst>
          </p:cNvPr>
          <p:cNvSpPr txBox="1"/>
          <p:nvPr/>
        </p:nvSpPr>
        <p:spPr>
          <a:xfrm>
            <a:off x="6517707" y="3716070"/>
            <a:ext cx="2019564" cy="369332"/>
          </a:xfrm>
          <a:prstGeom prst="rect">
            <a:avLst/>
          </a:prstGeom>
          <a:solidFill>
            <a:srgbClr val="FFFFFF">
              <a:alpha val="77647"/>
            </a:srgbClr>
          </a:solidFill>
          <a:ln>
            <a:solidFill>
              <a:schemeClr val="tx1"/>
            </a:solidFill>
          </a:ln>
        </p:spPr>
        <p:txBody>
          <a:bodyPr wrap="square" rtlCol="0">
            <a:spAutoFit/>
          </a:bodyPr>
          <a:lstStyle/>
          <a:p>
            <a:pPr algn="ctr"/>
            <a:r>
              <a:rPr lang="en-US" i="1" dirty="0"/>
              <a:t>Filesystems (L11) </a:t>
            </a:r>
          </a:p>
        </p:txBody>
      </p:sp>
      <p:cxnSp>
        <p:nvCxnSpPr>
          <p:cNvPr id="46" name="Straight Arrow Connector 45">
            <a:extLst>
              <a:ext uri="{FF2B5EF4-FFF2-40B4-BE49-F238E27FC236}">
                <a16:creationId xmlns:a16="http://schemas.microsoft.com/office/drawing/2014/main" id="{EB7CD25E-AD72-4834-0D85-402FD2876148}"/>
              </a:ext>
            </a:extLst>
          </p:cNvPr>
          <p:cNvCxnSpPr>
            <a:cxnSpLocks/>
            <a:stCxn id="6" idx="2"/>
          </p:cNvCxnSpPr>
          <p:nvPr/>
        </p:nvCxnSpPr>
        <p:spPr bwMode="auto">
          <a:xfrm>
            <a:off x="1848633" y="3144203"/>
            <a:ext cx="4936820" cy="2083558"/>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1" name="TextBox 20">
            <a:extLst>
              <a:ext uri="{FF2B5EF4-FFF2-40B4-BE49-F238E27FC236}">
                <a16:creationId xmlns:a16="http://schemas.microsoft.com/office/drawing/2014/main" id="{CDA502AC-AB7B-E936-0F17-B35C2FF86E07}"/>
              </a:ext>
            </a:extLst>
          </p:cNvPr>
          <p:cNvSpPr txBox="1"/>
          <p:nvPr/>
        </p:nvSpPr>
        <p:spPr>
          <a:xfrm>
            <a:off x="3100713" y="3577383"/>
            <a:ext cx="3149775" cy="646331"/>
          </a:xfrm>
          <a:prstGeom prst="rect">
            <a:avLst/>
          </a:prstGeom>
          <a:solidFill>
            <a:srgbClr val="FFFFFF">
              <a:alpha val="77647"/>
            </a:srgbClr>
          </a:solidFill>
          <a:ln>
            <a:solidFill>
              <a:schemeClr val="tx1"/>
            </a:solidFill>
          </a:ln>
        </p:spPr>
        <p:txBody>
          <a:bodyPr wrap="square" rtlCol="0">
            <a:spAutoFit/>
          </a:bodyPr>
          <a:lstStyle/>
          <a:p>
            <a:pPr marL="342900" indent="-342900">
              <a:buFontTx/>
              <a:buChar char="-"/>
            </a:pPr>
            <a:r>
              <a:rPr lang="en-US" i="1" dirty="0"/>
              <a:t>Memory organization (L8)</a:t>
            </a:r>
          </a:p>
          <a:p>
            <a:pPr marL="342900" indent="-342900">
              <a:buFontTx/>
              <a:buChar char="-"/>
            </a:pPr>
            <a:r>
              <a:rPr lang="en-US" i="1" dirty="0"/>
              <a:t>Virtual memory (L9-10)</a:t>
            </a:r>
          </a:p>
        </p:txBody>
      </p:sp>
      <p:sp>
        <p:nvSpPr>
          <p:cNvPr id="50" name="TextBox 49">
            <a:extLst>
              <a:ext uri="{FF2B5EF4-FFF2-40B4-BE49-F238E27FC236}">
                <a16:creationId xmlns:a16="http://schemas.microsoft.com/office/drawing/2014/main" id="{20C2B103-1BEA-0854-1B6D-4C522BA63A93}"/>
              </a:ext>
            </a:extLst>
          </p:cNvPr>
          <p:cNvSpPr txBox="1"/>
          <p:nvPr/>
        </p:nvSpPr>
        <p:spPr>
          <a:xfrm>
            <a:off x="2409382" y="6033156"/>
            <a:ext cx="4532435" cy="369332"/>
          </a:xfrm>
          <a:prstGeom prst="rect">
            <a:avLst/>
          </a:prstGeom>
          <a:noFill/>
          <a:ln>
            <a:solidFill>
              <a:schemeClr val="tx1"/>
            </a:solidFill>
          </a:ln>
        </p:spPr>
        <p:txBody>
          <a:bodyPr wrap="square" rtlCol="0">
            <a:spAutoFit/>
          </a:bodyPr>
          <a:lstStyle/>
          <a:p>
            <a:pPr algn="ctr"/>
            <a:r>
              <a:rPr lang="en-US" i="1" dirty="0"/>
              <a:t>Special: Real-time OS &amp; virtualization (L7)</a:t>
            </a:r>
          </a:p>
        </p:txBody>
      </p:sp>
    </p:spTree>
    <p:extLst>
      <p:ext uri="{BB962C8B-B14F-4D97-AF65-F5344CB8AC3E}">
        <p14:creationId xmlns:p14="http://schemas.microsoft.com/office/powerpoint/2010/main" val="172071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Footer Placeholder 3">
            <a:extLst>
              <a:ext uri="{FF2B5EF4-FFF2-40B4-BE49-F238E27FC236}">
                <a16:creationId xmlns:a16="http://schemas.microsoft.com/office/drawing/2014/main" id="{24B988EF-D204-466A-8B67-D89E6A64F4A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7410" name="Rectangle 2">
            <a:extLst>
              <a:ext uri="{FF2B5EF4-FFF2-40B4-BE49-F238E27FC236}">
                <a16:creationId xmlns:a16="http://schemas.microsoft.com/office/drawing/2014/main" id="{26D2C164-6DAD-4338-A4F8-85B328E8398B}"/>
              </a:ext>
            </a:extLst>
          </p:cNvPr>
          <p:cNvSpPr>
            <a:spLocks noGrp="1" noChangeArrowheads="1"/>
          </p:cNvSpPr>
          <p:nvPr>
            <p:ph type="title"/>
          </p:nvPr>
        </p:nvSpPr>
        <p:spPr/>
        <p:txBody>
          <a:bodyPr/>
          <a:lstStyle/>
          <a:p>
            <a:r>
              <a:rPr lang="en-US" altLang="en-US"/>
              <a:t>Part 5:  Deadlocks and Starvation</a:t>
            </a:r>
          </a:p>
        </p:txBody>
      </p:sp>
      <p:sp>
        <p:nvSpPr>
          <p:cNvPr id="17411" name="Rectangle 3">
            <a:extLst>
              <a:ext uri="{FF2B5EF4-FFF2-40B4-BE49-F238E27FC236}">
                <a16:creationId xmlns:a16="http://schemas.microsoft.com/office/drawing/2014/main" id="{A5D17AC1-22A4-434B-B3D5-77B20B550B01}"/>
              </a:ext>
            </a:extLst>
          </p:cNvPr>
          <p:cNvSpPr>
            <a:spLocks noGrp="1" noChangeArrowheads="1"/>
          </p:cNvSpPr>
          <p:nvPr>
            <p:ph type="body" idx="1"/>
          </p:nvPr>
        </p:nvSpPr>
        <p:spPr>
          <a:xfrm>
            <a:off x="573088" y="1239838"/>
            <a:ext cx="7902575" cy="5222875"/>
          </a:xfrm>
        </p:spPr>
        <p:txBody>
          <a:bodyPr/>
          <a:lstStyle/>
          <a:p>
            <a:r>
              <a:rPr lang="en-US" altLang="en-US" sz="2800" b="1"/>
              <a:t>Deadlock Problem</a:t>
            </a:r>
          </a:p>
          <a:p>
            <a:r>
              <a:rPr lang="en-US" altLang="en-US" sz="2800"/>
              <a:t>System Model</a:t>
            </a:r>
          </a:p>
          <a:p>
            <a:r>
              <a:rPr lang="en-US" altLang="en-US" sz="2800"/>
              <a:t>Deadlock Conditions</a:t>
            </a:r>
          </a:p>
          <a:p>
            <a:r>
              <a:rPr lang="en-US" altLang="en-US" sz="2800"/>
              <a:t>Deadlock Prevention</a:t>
            </a:r>
          </a:p>
          <a:p>
            <a:r>
              <a:rPr lang="en-US" altLang="en-US" sz="2800"/>
              <a:t>Deadlock Avoidance</a:t>
            </a:r>
          </a:p>
          <a:p>
            <a:r>
              <a:rPr lang="en-US" altLang="en-US" sz="2800"/>
              <a:t>Deadlock Detection </a:t>
            </a:r>
            <a:r>
              <a:rPr lang="en-US" altLang="en-US" sz="2800">
                <a:solidFill>
                  <a:srgbClr val="FF0000"/>
                </a:solidFill>
              </a:rPr>
              <a:t>– not examinable</a:t>
            </a:r>
            <a:r>
              <a:rPr lang="en-US" altLang="en-US" sz="280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Footer Placeholder 3">
            <a:extLst>
              <a:ext uri="{FF2B5EF4-FFF2-40B4-BE49-F238E27FC236}">
                <a16:creationId xmlns:a16="http://schemas.microsoft.com/office/drawing/2014/main" id="{85E24879-A781-4011-8813-2B08A647EDC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9458" name="Rectangle 2">
            <a:extLst>
              <a:ext uri="{FF2B5EF4-FFF2-40B4-BE49-F238E27FC236}">
                <a16:creationId xmlns:a16="http://schemas.microsoft.com/office/drawing/2014/main" id="{B06915B7-869A-4732-BBD6-94BE86E5E4EB}"/>
              </a:ext>
            </a:extLst>
          </p:cNvPr>
          <p:cNvSpPr>
            <a:spLocks noGrp="1" noChangeArrowheads="1"/>
          </p:cNvSpPr>
          <p:nvPr>
            <p:ph type="title"/>
          </p:nvPr>
        </p:nvSpPr>
        <p:spPr/>
        <p:txBody>
          <a:bodyPr/>
          <a:lstStyle/>
          <a:p>
            <a:r>
              <a:rPr lang="en-US" altLang="en-US"/>
              <a:t>The Deadlock Problem</a:t>
            </a:r>
          </a:p>
        </p:txBody>
      </p:sp>
      <p:sp>
        <p:nvSpPr>
          <p:cNvPr id="3076" name="Rectangle 3">
            <a:extLst>
              <a:ext uri="{FF2B5EF4-FFF2-40B4-BE49-F238E27FC236}">
                <a16:creationId xmlns:a16="http://schemas.microsoft.com/office/drawing/2014/main" id="{09A3D7A9-ECA5-48CD-9852-80C6C05CBA6A}"/>
              </a:ext>
            </a:extLst>
          </p:cNvPr>
          <p:cNvSpPr>
            <a:spLocks noGrp="1" noChangeArrowheads="1"/>
          </p:cNvSpPr>
          <p:nvPr>
            <p:ph type="body" idx="1"/>
          </p:nvPr>
        </p:nvSpPr>
        <p:spPr>
          <a:xfrm>
            <a:off x="441325" y="1265238"/>
            <a:ext cx="8391525" cy="4902200"/>
          </a:xfrm>
        </p:spPr>
        <p:txBody>
          <a:bodyPr/>
          <a:lstStyle/>
          <a:p>
            <a:pPr>
              <a:lnSpc>
                <a:spcPct val="90000"/>
              </a:lnSpc>
            </a:pPr>
            <a:r>
              <a:rPr lang="en-US" altLang="en-US" sz="2400">
                <a:solidFill>
                  <a:srgbClr val="FF0000"/>
                </a:solidFill>
              </a:rPr>
              <a:t>Deadlock:</a:t>
            </a:r>
            <a:r>
              <a:rPr lang="en-US" altLang="en-US" sz="2400"/>
              <a:t> A set of blocked processes each holding a resource and waiting to acquire a resource held by another process in the set</a:t>
            </a:r>
          </a:p>
          <a:p>
            <a:pPr lvl="4">
              <a:lnSpc>
                <a:spcPct val="90000"/>
              </a:lnSpc>
            </a:pPr>
            <a:endParaRPr lang="en-US" altLang="en-US" sz="1200"/>
          </a:p>
          <a:p>
            <a:pPr>
              <a:lnSpc>
                <a:spcPct val="90000"/>
              </a:lnSpc>
            </a:pPr>
            <a:r>
              <a:rPr lang="en-US" altLang="en-US" sz="2400">
                <a:solidFill>
                  <a:srgbClr val="FF0000"/>
                </a:solidFill>
              </a:rPr>
              <a:t>Example 1:</a:t>
            </a:r>
            <a:r>
              <a:rPr lang="en-US" altLang="en-US" sz="2400"/>
              <a:t> </a:t>
            </a:r>
          </a:p>
          <a:p>
            <a:pPr lvl="1">
              <a:lnSpc>
                <a:spcPct val="90000"/>
              </a:lnSpc>
            </a:pPr>
            <a:r>
              <a:rPr lang="en-US" altLang="en-US" sz="2400"/>
              <a:t>System has two different types of tape drives;</a:t>
            </a:r>
            <a:r>
              <a:rPr lang="en-US" altLang="en-US" sz="2400">
                <a:solidFill>
                  <a:srgbClr val="FF0000"/>
                </a:solidFill>
              </a:rPr>
              <a:t> </a:t>
            </a:r>
            <a:r>
              <a:rPr lang="en-US" altLang="en-US" sz="2400">
                <a:solidFill>
                  <a:schemeClr val="accent2"/>
                </a:solidFill>
              </a:rPr>
              <a:t>both P1 and P2 need the two tapes to finish execution</a:t>
            </a:r>
          </a:p>
          <a:p>
            <a:pPr lvl="1">
              <a:lnSpc>
                <a:spcPct val="90000"/>
              </a:lnSpc>
            </a:pPr>
            <a:r>
              <a:rPr lang="en-US" altLang="en-US" sz="2400"/>
              <a:t>P</a:t>
            </a:r>
            <a:r>
              <a:rPr lang="en-US" altLang="en-US" sz="2400" baseline="-25000"/>
              <a:t>1</a:t>
            </a:r>
            <a:r>
              <a:rPr lang="en-US" altLang="en-US" sz="2400"/>
              <a:t> and P</a:t>
            </a:r>
            <a:r>
              <a:rPr lang="en-US" altLang="en-US" sz="2400" baseline="-25000"/>
              <a:t>2</a:t>
            </a:r>
            <a:r>
              <a:rPr lang="en-US" altLang="en-US" sz="2400"/>
              <a:t> each hold one tape drive and need the other</a:t>
            </a:r>
          </a:p>
          <a:p>
            <a:pPr lvl="4">
              <a:lnSpc>
                <a:spcPct val="90000"/>
              </a:lnSpc>
            </a:pPr>
            <a:endParaRPr lang="en-US" altLang="en-US" sz="1200"/>
          </a:p>
          <a:p>
            <a:pPr>
              <a:lnSpc>
                <a:spcPct val="90000"/>
              </a:lnSpc>
            </a:pPr>
            <a:r>
              <a:rPr lang="en-US" altLang="en-US" sz="2400">
                <a:solidFill>
                  <a:srgbClr val="FF0000"/>
                </a:solidFill>
              </a:rPr>
              <a:t>Example 2: </a:t>
            </a:r>
            <a:r>
              <a:rPr lang="en-US" altLang="en-US" sz="2400"/>
              <a:t>Semaphores </a:t>
            </a:r>
            <a:r>
              <a:rPr lang="en-US" altLang="en-US" sz="2400" i="1"/>
              <a:t>A</a:t>
            </a:r>
            <a:r>
              <a:rPr lang="en-US" altLang="en-US" sz="2400"/>
              <a:t> and</a:t>
            </a:r>
            <a:r>
              <a:rPr lang="en-US" altLang="en-US" sz="2400" i="1"/>
              <a:t> B</a:t>
            </a:r>
            <a:r>
              <a:rPr lang="en-US" altLang="en-US" sz="2400"/>
              <a:t>, initialized to 1</a:t>
            </a:r>
          </a:p>
          <a:p>
            <a:pPr lvl="4">
              <a:lnSpc>
                <a:spcPct val="90000"/>
              </a:lnSpc>
              <a:buFontTx/>
              <a:buNone/>
            </a:pPr>
            <a:r>
              <a:rPr lang="en-US" altLang="en-US" sz="2400"/>
              <a:t>    P</a:t>
            </a:r>
            <a:r>
              <a:rPr lang="en-US" altLang="en-US" sz="2400" baseline="-25000"/>
              <a:t>0</a:t>
            </a:r>
            <a:r>
              <a:rPr lang="en-US" altLang="en-US" sz="2400"/>
              <a:t>		  	 P</a:t>
            </a:r>
            <a:r>
              <a:rPr lang="en-US" altLang="en-US" sz="2400" baseline="-25000"/>
              <a:t>1</a:t>
            </a:r>
            <a:endParaRPr lang="en-US" altLang="en-US" sz="2400"/>
          </a:p>
          <a:p>
            <a:pPr lvl="4">
              <a:lnSpc>
                <a:spcPct val="90000"/>
              </a:lnSpc>
              <a:buFontTx/>
              <a:buNone/>
            </a:pPr>
            <a:r>
              <a:rPr lang="en-US" altLang="en-US" sz="2400" i="1"/>
              <a:t>wait </a:t>
            </a:r>
            <a:r>
              <a:rPr lang="en-US" altLang="en-US" sz="2400"/>
              <a:t>(</a:t>
            </a:r>
            <a:r>
              <a:rPr lang="en-US" altLang="en-US" sz="2400" i="1"/>
              <a:t>A</a:t>
            </a:r>
            <a:r>
              <a:rPr lang="en-US" altLang="en-US" sz="2400"/>
              <a:t>)</a:t>
            </a:r>
            <a:r>
              <a:rPr lang="en-US" altLang="en-US" sz="2400" i="1"/>
              <a:t>;		wait </a:t>
            </a:r>
            <a:r>
              <a:rPr lang="en-US" altLang="en-US" sz="2400"/>
              <a:t>(</a:t>
            </a:r>
            <a:r>
              <a:rPr lang="en-US" altLang="en-US" sz="2400" i="1"/>
              <a:t>B</a:t>
            </a:r>
            <a:r>
              <a:rPr lang="en-US" altLang="en-US" sz="2400"/>
              <a:t>);</a:t>
            </a:r>
            <a:endParaRPr lang="en-US" altLang="en-US" sz="2400" i="1"/>
          </a:p>
          <a:p>
            <a:pPr lvl="4">
              <a:lnSpc>
                <a:spcPct val="90000"/>
              </a:lnSpc>
              <a:buFontTx/>
              <a:buNone/>
            </a:pPr>
            <a:r>
              <a:rPr lang="en-US" altLang="en-US" sz="2400" i="1"/>
              <a:t>wait </a:t>
            </a:r>
            <a:r>
              <a:rPr lang="en-US" altLang="en-US" sz="2400"/>
              <a:t>(</a:t>
            </a:r>
            <a:r>
              <a:rPr lang="en-US" altLang="en-US" sz="2400" i="1"/>
              <a:t>B</a:t>
            </a:r>
            <a:r>
              <a:rPr lang="en-US" altLang="en-US" sz="2400"/>
              <a:t>)</a:t>
            </a:r>
            <a:r>
              <a:rPr lang="en-US" altLang="en-US" sz="2400" i="1"/>
              <a:t>;		wait </a:t>
            </a:r>
            <a:r>
              <a:rPr lang="en-US" altLang="en-US" sz="2400"/>
              <a:t>(</a:t>
            </a:r>
            <a:r>
              <a:rPr lang="en-US" altLang="en-US" sz="2400" i="1"/>
              <a:t>A </a:t>
            </a:r>
            <a:r>
              <a:rPr lang="en-US" altLang="en-US" sz="2400"/>
              <a:t>);</a:t>
            </a:r>
            <a:endParaRPr lang="en-US" altLang="en-US" sz="2400" i="1"/>
          </a:p>
          <a:p>
            <a:pPr lvl="1">
              <a:lnSpc>
                <a:spcPct val="90000"/>
              </a:lnSpc>
            </a:pPr>
            <a:endParaRPr lang="en-US" altLang="en-US" sz="2400"/>
          </a:p>
        </p:txBody>
      </p:sp>
      <p:sp>
        <p:nvSpPr>
          <p:cNvPr id="2" name="TextBox 1">
            <a:extLst>
              <a:ext uri="{FF2B5EF4-FFF2-40B4-BE49-F238E27FC236}">
                <a16:creationId xmlns:a16="http://schemas.microsoft.com/office/drawing/2014/main" id="{8517A6B5-E9F5-4223-913F-47EB051B1C19}"/>
              </a:ext>
            </a:extLst>
          </p:cNvPr>
          <p:cNvSpPr txBox="1">
            <a:spLocks noChangeArrowheads="1"/>
          </p:cNvSpPr>
          <p:nvPr/>
        </p:nvSpPr>
        <p:spPr bwMode="auto">
          <a:xfrm>
            <a:off x="3124200" y="6167438"/>
            <a:ext cx="2365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a:solidFill>
                  <a:schemeClr val="accent2"/>
                </a:solidFill>
              </a:rPr>
              <a:t>Context switch points</a:t>
            </a:r>
          </a:p>
        </p:txBody>
      </p:sp>
      <p:cxnSp>
        <p:nvCxnSpPr>
          <p:cNvPr id="4" name="Straight Arrow Connector 3">
            <a:extLst>
              <a:ext uri="{FF2B5EF4-FFF2-40B4-BE49-F238E27FC236}">
                <a16:creationId xmlns:a16="http://schemas.microsoft.com/office/drawing/2014/main" id="{5DE9E092-15BB-477F-B24C-DBC6D8AFE15C}"/>
              </a:ext>
            </a:extLst>
          </p:cNvPr>
          <p:cNvCxnSpPr>
            <a:cxnSpLocks noChangeShapeType="1"/>
            <a:stCxn id="2" idx="0"/>
          </p:cNvCxnSpPr>
          <p:nvPr/>
        </p:nvCxnSpPr>
        <p:spPr bwMode="auto">
          <a:xfrm flipH="1" flipV="1">
            <a:off x="3484563" y="5715000"/>
            <a:ext cx="822325" cy="45243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 name="Straight Arrow Connector 8">
            <a:extLst>
              <a:ext uri="{FF2B5EF4-FFF2-40B4-BE49-F238E27FC236}">
                <a16:creationId xmlns:a16="http://schemas.microsoft.com/office/drawing/2014/main" id="{A0BDEB42-0DFE-464D-9422-8004A1E1584D}"/>
              </a:ext>
            </a:extLst>
          </p:cNvPr>
          <p:cNvCxnSpPr>
            <a:cxnSpLocks noChangeShapeType="1"/>
            <a:stCxn id="2" idx="0"/>
          </p:cNvCxnSpPr>
          <p:nvPr/>
        </p:nvCxnSpPr>
        <p:spPr bwMode="auto">
          <a:xfrm flipV="1">
            <a:off x="4306888" y="6072188"/>
            <a:ext cx="787400" cy="9525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6">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76">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76">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6">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76">
                                            <p:txEl>
                                              <p:pRg st="7" end="7"/>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76">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76">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build="p"/>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Footer Placeholder 3">
            <a:extLst>
              <a:ext uri="{FF2B5EF4-FFF2-40B4-BE49-F238E27FC236}">
                <a16:creationId xmlns:a16="http://schemas.microsoft.com/office/drawing/2014/main" id="{39B13790-A06F-4F20-9254-4182C496ED2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1506" name="Rectangle 2">
            <a:extLst>
              <a:ext uri="{FF2B5EF4-FFF2-40B4-BE49-F238E27FC236}">
                <a16:creationId xmlns:a16="http://schemas.microsoft.com/office/drawing/2014/main" id="{E0B8C4F9-F76D-40C0-A130-46214DA738F6}"/>
              </a:ext>
            </a:extLst>
          </p:cNvPr>
          <p:cNvSpPr>
            <a:spLocks noGrp="1" noChangeArrowheads="1"/>
          </p:cNvSpPr>
          <p:nvPr>
            <p:ph type="title"/>
          </p:nvPr>
        </p:nvSpPr>
        <p:spPr/>
        <p:txBody>
          <a:bodyPr/>
          <a:lstStyle/>
          <a:p>
            <a:r>
              <a:rPr lang="en-US" altLang="en-US"/>
              <a:t>Bridge Crossing Example</a:t>
            </a:r>
          </a:p>
        </p:txBody>
      </p:sp>
      <p:sp>
        <p:nvSpPr>
          <p:cNvPr id="21507" name="Rectangle 3">
            <a:extLst>
              <a:ext uri="{FF2B5EF4-FFF2-40B4-BE49-F238E27FC236}">
                <a16:creationId xmlns:a16="http://schemas.microsoft.com/office/drawing/2014/main" id="{E113A466-A629-4517-8F85-206691CA50AB}"/>
              </a:ext>
            </a:extLst>
          </p:cNvPr>
          <p:cNvSpPr>
            <a:spLocks noGrp="1" noChangeArrowheads="1"/>
          </p:cNvSpPr>
          <p:nvPr>
            <p:ph type="body" idx="1"/>
          </p:nvPr>
        </p:nvSpPr>
        <p:spPr>
          <a:xfrm>
            <a:off x="438150" y="3265488"/>
            <a:ext cx="8569325" cy="2906712"/>
          </a:xfrm>
        </p:spPr>
        <p:txBody>
          <a:bodyPr/>
          <a:lstStyle/>
          <a:p>
            <a:r>
              <a:rPr lang="en-US" altLang="en-US" sz="2400"/>
              <a:t>Only one car is allowed on the bridge</a:t>
            </a:r>
          </a:p>
          <a:p>
            <a:r>
              <a:rPr lang="en-US" altLang="en-US" sz="2400"/>
              <a:t>The bridge can be viewed as a shared resource</a:t>
            </a:r>
          </a:p>
          <a:p>
            <a:r>
              <a:rPr lang="en-US" altLang="en-US" sz="2400"/>
              <a:t>If a deadlock occurs, it can be resolved if one car backs up (release resource, i.e., the bridge, and rollback)</a:t>
            </a:r>
          </a:p>
          <a:p>
            <a:r>
              <a:rPr lang="en-US" altLang="en-US" sz="2400"/>
              <a:t>Several cars may have to be backed up if a deadlock occurs</a:t>
            </a:r>
          </a:p>
          <a:p>
            <a:endParaRPr lang="en-US" altLang="en-US"/>
          </a:p>
        </p:txBody>
      </p:sp>
      <p:grpSp>
        <p:nvGrpSpPr>
          <p:cNvPr id="21508" name="Group 35">
            <a:extLst>
              <a:ext uri="{FF2B5EF4-FFF2-40B4-BE49-F238E27FC236}">
                <a16:creationId xmlns:a16="http://schemas.microsoft.com/office/drawing/2014/main" id="{2D18C6E0-EFE1-44FD-8D52-9FD98FDBA6FD}"/>
              </a:ext>
            </a:extLst>
          </p:cNvPr>
          <p:cNvGrpSpPr>
            <a:grpSpLocks/>
          </p:cNvGrpSpPr>
          <p:nvPr/>
        </p:nvGrpSpPr>
        <p:grpSpPr bwMode="auto">
          <a:xfrm>
            <a:off x="1266825" y="1600200"/>
            <a:ext cx="6276975" cy="1371600"/>
            <a:chOff x="798" y="1008"/>
            <a:chExt cx="3954" cy="864"/>
          </a:xfrm>
        </p:grpSpPr>
        <p:grpSp>
          <p:nvGrpSpPr>
            <p:cNvPr id="21512" name="Group 11">
              <a:extLst>
                <a:ext uri="{FF2B5EF4-FFF2-40B4-BE49-F238E27FC236}">
                  <a16:creationId xmlns:a16="http://schemas.microsoft.com/office/drawing/2014/main" id="{3006C030-7BD7-46D7-A063-7F2564F37D82}"/>
                </a:ext>
              </a:extLst>
            </p:cNvPr>
            <p:cNvGrpSpPr>
              <a:grpSpLocks/>
            </p:cNvGrpSpPr>
            <p:nvPr/>
          </p:nvGrpSpPr>
          <p:grpSpPr bwMode="auto">
            <a:xfrm>
              <a:off x="816" y="1008"/>
              <a:ext cx="3936" cy="240"/>
              <a:chOff x="672" y="1008"/>
              <a:chExt cx="3936" cy="240"/>
            </a:xfrm>
          </p:grpSpPr>
          <p:sp>
            <p:nvSpPr>
              <p:cNvPr id="21536" name="Line 6">
                <a:extLst>
                  <a:ext uri="{FF2B5EF4-FFF2-40B4-BE49-F238E27FC236}">
                    <a16:creationId xmlns:a16="http://schemas.microsoft.com/office/drawing/2014/main" id="{07F1B9F6-85E9-44F1-BE23-B01AE9E16BF8}"/>
                  </a:ext>
                </a:extLst>
              </p:cNvPr>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1537" name="Line 7">
                <a:extLst>
                  <a:ext uri="{FF2B5EF4-FFF2-40B4-BE49-F238E27FC236}">
                    <a16:creationId xmlns:a16="http://schemas.microsoft.com/office/drawing/2014/main" id="{9494F3E1-8F8B-4D18-A78F-3594F21BFFD5}"/>
                  </a:ext>
                </a:extLst>
              </p:cNvPr>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1538" name="Line 8">
                <a:extLst>
                  <a:ext uri="{FF2B5EF4-FFF2-40B4-BE49-F238E27FC236}">
                    <a16:creationId xmlns:a16="http://schemas.microsoft.com/office/drawing/2014/main" id="{7034F349-06F4-411F-952B-03B19551DBCA}"/>
                  </a:ext>
                </a:extLst>
              </p:cNvPr>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1539" name="Line 9">
                <a:extLst>
                  <a:ext uri="{FF2B5EF4-FFF2-40B4-BE49-F238E27FC236}">
                    <a16:creationId xmlns:a16="http://schemas.microsoft.com/office/drawing/2014/main" id="{2625E39B-8889-4516-B7E7-56EE8A9832A6}"/>
                  </a:ext>
                </a:extLst>
              </p:cNvPr>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1540" name="Line 10">
                <a:extLst>
                  <a:ext uri="{FF2B5EF4-FFF2-40B4-BE49-F238E27FC236}">
                    <a16:creationId xmlns:a16="http://schemas.microsoft.com/office/drawing/2014/main" id="{560BFF00-A853-4640-B2DD-A3DC072E0BFE}"/>
                  </a:ext>
                </a:extLst>
              </p:cNvPr>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grpSp>
        <p:grpSp>
          <p:nvGrpSpPr>
            <p:cNvPr id="21513" name="Group 12">
              <a:extLst>
                <a:ext uri="{FF2B5EF4-FFF2-40B4-BE49-F238E27FC236}">
                  <a16:creationId xmlns:a16="http://schemas.microsoft.com/office/drawing/2014/main" id="{CA06C4A8-C9F2-4AA7-8954-F0BC3FD8B05A}"/>
                </a:ext>
              </a:extLst>
            </p:cNvPr>
            <p:cNvGrpSpPr>
              <a:grpSpLocks/>
            </p:cNvGrpSpPr>
            <p:nvPr/>
          </p:nvGrpSpPr>
          <p:grpSpPr bwMode="auto">
            <a:xfrm flipV="1">
              <a:off x="816" y="1632"/>
              <a:ext cx="3936" cy="240"/>
              <a:chOff x="672" y="1008"/>
              <a:chExt cx="3936" cy="240"/>
            </a:xfrm>
          </p:grpSpPr>
          <p:sp>
            <p:nvSpPr>
              <p:cNvPr id="21531" name="Line 13">
                <a:extLst>
                  <a:ext uri="{FF2B5EF4-FFF2-40B4-BE49-F238E27FC236}">
                    <a16:creationId xmlns:a16="http://schemas.microsoft.com/office/drawing/2014/main" id="{9BA53CAF-1792-4EF6-9450-CC6DDEDEBE51}"/>
                  </a:ext>
                </a:extLst>
              </p:cNvPr>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1532" name="Line 14">
                <a:extLst>
                  <a:ext uri="{FF2B5EF4-FFF2-40B4-BE49-F238E27FC236}">
                    <a16:creationId xmlns:a16="http://schemas.microsoft.com/office/drawing/2014/main" id="{1C775A93-D54D-4AB2-BF05-4CCCB74BB5DB}"/>
                  </a:ext>
                </a:extLst>
              </p:cNvPr>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1533" name="Line 15">
                <a:extLst>
                  <a:ext uri="{FF2B5EF4-FFF2-40B4-BE49-F238E27FC236}">
                    <a16:creationId xmlns:a16="http://schemas.microsoft.com/office/drawing/2014/main" id="{A7D27F60-176B-4617-9E02-AE58F0860EBE}"/>
                  </a:ext>
                </a:extLst>
              </p:cNvPr>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1534" name="Line 16">
                <a:extLst>
                  <a:ext uri="{FF2B5EF4-FFF2-40B4-BE49-F238E27FC236}">
                    <a16:creationId xmlns:a16="http://schemas.microsoft.com/office/drawing/2014/main" id="{04EDC2A0-C51E-4B2C-A0A5-695B04E8AEA7}"/>
                  </a:ext>
                </a:extLst>
              </p:cNvPr>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1535" name="Line 17">
                <a:extLst>
                  <a:ext uri="{FF2B5EF4-FFF2-40B4-BE49-F238E27FC236}">
                    <a16:creationId xmlns:a16="http://schemas.microsoft.com/office/drawing/2014/main" id="{293DDA13-A58E-407C-9CF6-649D8FC9F9A8}"/>
                  </a:ext>
                </a:extLst>
              </p:cNvPr>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SG"/>
              </a:p>
            </p:txBody>
          </p:sp>
        </p:grpSp>
        <p:grpSp>
          <p:nvGrpSpPr>
            <p:cNvPr id="21514" name="Group 22">
              <a:extLst>
                <a:ext uri="{FF2B5EF4-FFF2-40B4-BE49-F238E27FC236}">
                  <a16:creationId xmlns:a16="http://schemas.microsoft.com/office/drawing/2014/main" id="{3DC15248-FD5E-4071-A79F-4C2EA3582081}"/>
                </a:ext>
              </a:extLst>
            </p:cNvPr>
            <p:cNvGrpSpPr>
              <a:grpSpLocks/>
            </p:cNvGrpSpPr>
            <p:nvPr/>
          </p:nvGrpSpPr>
          <p:grpSpPr bwMode="auto">
            <a:xfrm>
              <a:off x="1512" y="1614"/>
              <a:ext cx="288" cy="162"/>
              <a:chOff x="1056" y="1614"/>
              <a:chExt cx="288" cy="162"/>
            </a:xfrm>
          </p:grpSpPr>
          <p:sp>
            <p:nvSpPr>
              <p:cNvPr id="21529" name="Rectangle 18">
                <a:extLst>
                  <a:ext uri="{FF2B5EF4-FFF2-40B4-BE49-F238E27FC236}">
                    <a16:creationId xmlns:a16="http://schemas.microsoft.com/office/drawing/2014/main" id="{2E8AC566-3614-40A8-A933-C7E0989FE0F3}"/>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1530" name="Rectangle 19">
                <a:extLst>
                  <a:ext uri="{FF2B5EF4-FFF2-40B4-BE49-F238E27FC236}">
                    <a16:creationId xmlns:a16="http://schemas.microsoft.com/office/drawing/2014/main" id="{77ED9466-DA7B-4094-AB92-238CE26F003C}"/>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grpSp>
        <p:sp>
          <p:nvSpPr>
            <p:cNvPr id="21515" name="Line 20">
              <a:extLst>
                <a:ext uri="{FF2B5EF4-FFF2-40B4-BE49-F238E27FC236}">
                  <a16:creationId xmlns:a16="http://schemas.microsoft.com/office/drawing/2014/main" id="{FA956CFD-33AA-4DF6-9DE0-39D745750A0E}"/>
                </a:ext>
              </a:extLst>
            </p:cNvPr>
            <p:cNvSpPr>
              <a:spLocks noChangeShapeType="1"/>
            </p:cNvSpPr>
            <p:nvPr/>
          </p:nvSpPr>
          <p:spPr bwMode="auto">
            <a:xfrm>
              <a:off x="798" y="1428"/>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SG"/>
            </a:p>
          </p:txBody>
        </p:sp>
        <p:sp>
          <p:nvSpPr>
            <p:cNvPr id="21516" name="Line 21">
              <a:extLst>
                <a:ext uri="{FF2B5EF4-FFF2-40B4-BE49-F238E27FC236}">
                  <a16:creationId xmlns:a16="http://schemas.microsoft.com/office/drawing/2014/main" id="{7F84390E-33D3-4893-8A2B-7715CF634C51}"/>
                </a:ext>
              </a:extLst>
            </p:cNvPr>
            <p:cNvSpPr>
              <a:spLocks noChangeShapeType="1"/>
            </p:cNvSpPr>
            <p:nvPr/>
          </p:nvSpPr>
          <p:spPr bwMode="auto">
            <a:xfrm>
              <a:off x="3444" y="1422"/>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SG"/>
            </a:p>
          </p:txBody>
        </p:sp>
        <p:grpSp>
          <p:nvGrpSpPr>
            <p:cNvPr id="21517" name="Group 23">
              <a:extLst>
                <a:ext uri="{FF2B5EF4-FFF2-40B4-BE49-F238E27FC236}">
                  <a16:creationId xmlns:a16="http://schemas.microsoft.com/office/drawing/2014/main" id="{1D9FAB54-DB5E-4531-A443-BBFEDE8D8CD6}"/>
                </a:ext>
              </a:extLst>
            </p:cNvPr>
            <p:cNvGrpSpPr>
              <a:grpSpLocks/>
            </p:cNvGrpSpPr>
            <p:nvPr/>
          </p:nvGrpSpPr>
          <p:grpSpPr bwMode="auto">
            <a:xfrm>
              <a:off x="2382" y="1344"/>
              <a:ext cx="288" cy="162"/>
              <a:chOff x="1056" y="1614"/>
              <a:chExt cx="288" cy="162"/>
            </a:xfrm>
          </p:grpSpPr>
          <p:sp>
            <p:nvSpPr>
              <p:cNvPr id="21527" name="Rectangle 24">
                <a:extLst>
                  <a:ext uri="{FF2B5EF4-FFF2-40B4-BE49-F238E27FC236}">
                    <a16:creationId xmlns:a16="http://schemas.microsoft.com/office/drawing/2014/main" id="{B7FC1B67-C589-468A-BCCD-887BEB61F6DE}"/>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1528" name="Rectangle 25">
                <a:extLst>
                  <a:ext uri="{FF2B5EF4-FFF2-40B4-BE49-F238E27FC236}">
                    <a16:creationId xmlns:a16="http://schemas.microsoft.com/office/drawing/2014/main" id="{23B57678-31DA-43BD-95F0-13996617E0E9}"/>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grpSp>
        <p:grpSp>
          <p:nvGrpSpPr>
            <p:cNvPr id="21518" name="Group 26">
              <a:extLst>
                <a:ext uri="{FF2B5EF4-FFF2-40B4-BE49-F238E27FC236}">
                  <a16:creationId xmlns:a16="http://schemas.microsoft.com/office/drawing/2014/main" id="{6AC45300-80FF-44BF-BE6D-41BA26E73E7C}"/>
                </a:ext>
              </a:extLst>
            </p:cNvPr>
            <p:cNvGrpSpPr>
              <a:grpSpLocks/>
            </p:cNvGrpSpPr>
            <p:nvPr/>
          </p:nvGrpSpPr>
          <p:grpSpPr bwMode="auto">
            <a:xfrm flipH="1">
              <a:off x="2838" y="1344"/>
              <a:ext cx="288" cy="162"/>
              <a:chOff x="1056" y="1614"/>
              <a:chExt cx="288" cy="162"/>
            </a:xfrm>
          </p:grpSpPr>
          <p:sp>
            <p:nvSpPr>
              <p:cNvPr id="21525" name="Rectangle 27">
                <a:extLst>
                  <a:ext uri="{FF2B5EF4-FFF2-40B4-BE49-F238E27FC236}">
                    <a16:creationId xmlns:a16="http://schemas.microsoft.com/office/drawing/2014/main" id="{9009EC94-1661-489F-8E08-0EE909864437}"/>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1526" name="Rectangle 28">
                <a:extLst>
                  <a:ext uri="{FF2B5EF4-FFF2-40B4-BE49-F238E27FC236}">
                    <a16:creationId xmlns:a16="http://schemas.microsoft.com/office/drawing/2014/main" id="{DB928D01-C019-4E36-BC50-B04AC7D24D81}"/>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grpSp>
        <p:grpSp>
          <p:nvGrpSpPr>
            <p:cNvPr id="21519" name="Group 29">
              <a:extLst>
                <a:ext uri="{FF2B5EF4-FFF2-40B4-BE49-F238E27FC236}">
                  <a16:creationId xmlns:a16="http://schemas.microsoft.com/office/drawing/2014/main" id="{711FB1BA-C085-4CCB-980F-2917EE8F3A9C}"/>
                </a:ext>
              </a:extLst>
            </p:cNvPr>
            <p:cNvGrpSpPr>
              <a:grpSpLocks/>
            </p:cNvGrpSpPr>
            <p:nvPr/>
          </p:nvGrpSpPr>
          <p:grpSpPr bwMode="auto">
            <a:xfrm flipH="1">
              <a:off x="3822" y="1140"/>
              <a:ext cx="288" cy="162"/>
              <a:chOff x="1056" y="1614"/>
              <a:chExt cx="288" cy="162"/>
            </a:xfrm>
          </p:grpSpPr>
          <p:sp>
            <p:nvSpPr>
              <p:cNvPr id="21523" name="Rectangle 30">
                <a:extLst>
                  <a:ext uri="{FF2B5EF4-FFF2-40B4-BE49-F238E27FC236}">
                    <a16:creationId xmlns:a16="http://schemas.microsoft.com/office/drawing/2014/main" id="{9F696D68-C26C-4409-99FC-FF9C93274A85}"/>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1524" name="Rectangle 31">
                <a:extLst>
                  <a:ext uri="{FF2B5EF4-FFF2-40B4-BE49-F238E27FC236}">
                    <a16:creationId xmlns:a16="http://schemas.microsoft.com/office/drawing/2014/main" id="{1BA507F4-57EF-4782-8D48-ECA63A260DDB}"/>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grpSp>
        <p:grpSp>
          <p:nvGrpSpPr>
            <p:cNvPr id="21520" name="Group 32">
              <a:extLst>
                <a:ext uri="{FF2B5EF4-FFF2-40B4-BE49-F238E27FC236}">
                  <a16:creationId xmlns:a16="http://schemas.microsoft.com/office/drawing/2014/main" id="{D67B495F-EAED-4F96-B0C1-028C88592549}"/>
                </a:ext>
              </a:extLst>
            </p:cNvPr>
            <p:cNvGrpSpPr>
              <a:grpSpLocks/>
            </p:cNvGrpSpPr>
            <p:nvPr/>
          </p:nvGrpSpPr>
          <p:grpSpPr bwMode="auto">
            <a:xfrm flipH="1">
              <a:off x="4248" y="1140"/>
              <a:ext cx="288" cy="162"/>
              <a:chOff x="1056" y="1614"/>
              <a:chExt cx="288" cy="162"/>
            </a:xfrm>
          </p:grpSpPr>
          <p:sp>
            <p:nvSpPr>
              <p:cNvPr id="21521" name="Rectangle 33">
                <a:extLst>
                  <a:ext uri="{FF2B5EF4-FFF2-40B4-BE49-F238E27FC236}">
                    <a16:creationId xmlns:a16="http://schemas.microsoft.com/office/drawing/2014/main" id="{F3E4A455-0E18-4B41-B549-37D858D70F1C}"/>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1522" name="Rectangle 34">
                <a:extLst>
                  <a:ext uri="{FF2B5EF4-FFF2-40B4-BE49-F238E27FC236}">
                    <a16:creationId xmlns:a16="http://schemas.microsoft.com/office/drawing/2014/main" id="{4EB441F1-17E7-408F-BC68-F50FE521506D}"/>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grpSp>
      </p:grpSp>
      <p:cxnSp>
        <p:nvCxnSpPr>
          <p:cNvPr id="21509" name="Straight Arrow Connector 4">
            <a:extLst>
              <a:ext uri="{FF2B5EF4-FFF2-40B4-BE49-F238E27FC236}">
                <a16:creationId xmlns:a16="http://schemas.microsoft.com/office/drawing/2014/main" id="{BAAE2031-8051-4A94-84C0-A16096F584AA}"/>
              </a:ext>
            </a:extLst>
          </p:cNvPr>
          <p:cNvCxnSpPr>
            <a:cxnSpLocks noChangeShapeType="1"/>
            <a:stCxn id="21525" idx="1"/>
          </p:cNvCxnSpPr>
          <p:nvPr/>
        </p:nvCxnSpPr>
        <p:spPr bwMode="auto">
          <a:xfrm flipV="1">
            <a:off x="4962525" y="1938338"/>
            <a:ext cx="752475" cy="32385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21510" name="Straight Arrow Connector 38">
            <a:extLst>
              <a:ext uri="{FF2B5EF4-FFF2-40B4-BE49-F238E27FC236}">
                <a16:creationId xmlns:a16="http://schemas.microsoft.com/office/drawing/2014/main" id="{18D182EC-2F33-4FE8-A361-5FC5EEC2E405}"/>
              </a:ext>
            </a:extLst>
          </p:cNvPr>
          <p:cNvCxnSpPr>
            <a:cxnSpLocks noChangeShapeType="1"/>
          </p:cNvCxnSpPr>
          <p:nvPr/>
        </p:nvCxnSpPr>
        <p:spPr bwMode="auto">
          <a:xfrm flipV="1">
            <a:off x="6078538" y="2133600"/>
            <a:ext cx="1181100" cy="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21511" name="Explosion 1 37">
            <a:extLst>
              <a:ext uri="{FF2B5EF4-FFF2-40B4-BE49-F238E27FC236}">
                <a16:creationId xmlns:a16="http://schemas.microsoft.com/office/drawing/2014/main" id="{7A802F08-DDE2-4E5D-A16E-BB3C88B65341}"/>
              </a:ext>
            </a:extLst>
          </p:cNvPr>
          <p:cNvSpPr>
            <a:spLocks noChangeArrowheads="1"/>
          </p:cNvSpPr>
          <p:nvPr/>
        </p:nvSpPr>
        <p:spPr bwMode="auto">
          <a:xfrm>
            <a:off x="3625850" y="1169988"/>
            <a:ext cx="1466850" cy="998537"/>
          </a:xfrm>
          <a:prstGeom prst="irregularSeal1">
            <a:avLst/>
          </a:prstGeom>
          <a:solidFill>
            <a:schemeClr val="bg1"/>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a:t>Deadlock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Footer Placeholder 3">
            <a:extLst>
              <a:ext uri="{FF2B5EF4-FFF2-40B4-BE49-F238E27FC236}">
                <a16:creationId xmlns:a16="http://schemas.microsoft.com/office/drawing/2014/main" id="{03FE8AFE-2EE5-4575-9539-DB098086E44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3554" name="Rectangle 2">
            <a:extLst>
              <a:ext uri="{FF2B5EF4-FFF2-40B4-BE49-F238E27FC236}">
                <a16:creationId xmlns:a16="http://schemas.microsoft.com/office/drawing/2014/main" id="{5B1D5282-4398-44F6-9047-EA8946736369}"/>
              </a:ext>
            </a:extLst>
          </p:cNvPr>
          <p:cNvSpPr>
            <a:spLocks noGrp="1" noChangeArrowheads="1"/>
          </p:cNvSpPr>
          <p:nvPr>
            <p:ph type="title"/>
          </p:nvPr>
        </p:nvSpPr>
        <p:spPr/>
        <p:txBody>
          <a:bodyPr/>
          <a:lstStyle/>
          <a:p>
            <a:r>
              <a:rPr lang="en-US" altLang="en-US"/>
              <a:t>Part 5:  Deadlocks and Starvation</a:t>
            </a:r>
          </a:p>
        </p:txBody>
      </p:sp>
      <p:sp>
        <p:nvSpPr>
          <p:cNvPr id="23555" name="Rectangle 3">
            <a:extLst>
              <a:ext uri="{FF2B5EF4-FFF2-40B4-BE49-F238E27FC236}">
                <a16:creationId xmlns:a16="http://schemas.microsoft.com/office/drawing/2014/main" id="{E9280EF0-4544-4383-BCA1-2CFC65A03655}"/>
              </a:ext>
            </a:extLst>
          </p:cNvPr>
          <p:cNvSpPr>
            <a:spLocks noGrp="1" noChangeArrowheads="1"/>
          </p:cNvSpPr>
          <p:nvPr>
            <p:ph type="body" idx="1"/>
          </p:nvPr>
        </p:nvSpPr>
        <p:spPr>
          <a:xfrm>
            <a:off x="573088" y="1239838"/>
            <a:ext cx="7902575" cy="5222875"/>
          </a:xfrm>
        </p:spPr>
        <p:txBody>
          <a:bodyPr/>
          <a:lstStyle/>
          <a:p>
            <a:r>
              <a:rPr lang="en-US" altLang="en-US" sz="2800"/>
              <a:t>Deadlock Problem</a:t>
            </a:r>
          </a:p>
          <a:p>
            <a:r>
              <a:rPr lang="en-US" altLang="en-US" sz="2800" b="1"/>
              <a:t>System Model</a:t>
            </a:r>
          </a:p>
          <a:p>
            <a:r>
              <a:rPr lang="en-US" altLang="en-US" sz="2800"/>
              <a:t>Deadlock Conditions</a:t>
            </a:r>
          </a:p>
          <a:p>
            <a:r>
              <a:rPr lang="en-US" altLang="en-US" sz="2800"/>
              <a:t>Deadlock Prevention</a:t>
            </a:r>
          </a:p>
          <a:p>
            <a:r>
              <a:rPr lang="en-US" altLang="en-US" sz="2800"/>
              <a:t>Deadlock Avoidance</a:t>
            </a:r>
          </a:p>
          <a:p>
            <a:r>
              <a:rPr lang="en-US" altLang="en-US" sz="2800"/>
              <a:t>Deadlock Detection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oter Placeholder 3">
            <a:extLst>
              <a:ext uri="{FF2B5EF4-FFF2-40B4-BE49-F238E27FC236}">
                <a16:creationId xmlns:a16="http://schemas.microsoft.com/office/drawing/2014/main" id="{5767AF4D-C083-4FF8-8060-08F565464AE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5602" name="Rectangle 2">
            <a:extLst>
              <a:ext uri="{FF2B5EF4-FFF2-40B4-BE49-F238E27FC236}">
                <a16:creationId xmlns:a16="http://schemas.microsoft.com/office/drawing/2014/main" id="{1FEE4304-7EA9-4B22-B90E-90A2453CC2CB}"/>
              </a:ext>
            </a:extLst>
          </p:cNvPr>
          <p:cNvSpPr>
            <a:spLocks noGrp="1" noChangeArrowheads="1"/>
          </p:cNvSpPr>
          <p:nvPr>
            <p:ph type="title"/>
          </p:nvPr>
        </p:nvSpPr>
        <p:spPr/>
        <p:txBody>
          <a:bodyPr/>
          <a:lstStyle/>
          <a:p>
            <a:r>
              <a:rPr lang="en-US" altLang="en-US"/>
              <a:t>System Model</a:t>
            </a:r>
          </a:p>
        </p:txBody>
      </p:sp>
      <p:sp>
        <p:nvSpPr>
          <p:cNvPr id="5124" name="Rectangle 3">
            <a:extLst>
              <a:ext uri="{FF2B5EF4-FFF2-40B4-BE49-F238E27FC236}">
                <a16:creationId xmlns:a16="http://schemas.microsoft.com/office/drawing/2014/main" id="{74011ADD-E885-41BA-A2C9-5EB170172ECB}"/>
              </a:ext>
            </a:extLst>
          </p:cNvPr>
          <p:cNvSpPr>
            <a:spLocks noGrp="1" noChangeArrowheads="1"/>
          </p:cNvSpPr>
          <p:nvPr>
            <p:ph type="body" idx="1"/>
          </p:nvPr>
        </p:nvSpPr>
        <p:spPr>
          <a:xfrm>
            <a:off x="536575" y="1406525"/>
            <a:ext cx="8196263" cy="4432300"/>
          </a:xfrm>
        </p:spPr>
        <p:txBody>
          <a:bodyPr/>
          <a:lstStyle/>
          <a:p>
            <a:pPr>
              <a:defRPr/>
            </a:pPr>
            <a:r>
              <a:rPr lang="en-US" altLang="en-US" sz="2800" dirty="0">
                <a:solidFill>
                  <a:srgbClr val="FF0000"/>
                </a:solidFill>
              </a:rPr>
              <a:t>Resource types </a:t>
            </a:r>
            <a:r>
              <a:rPr lang="en-US" altLang="en-US" sz="2800" i="1" dirty="0">
                <a:solidFill>
                  <a:srgbClr val="FF0000"/>
                </a:solidFill>
              </a:rPr>
              <a:t>R</a:t>
            </a:r>
            <a:r>
              <a:rPr lang="en-US" altLang="en-US" sz="2800" baseline="-25000" dirty="0">
                <a:solidFill>
                  <a:srgbClr val="FF0000"/>
                </a:solidFill>
              </a:rPr>
              <a:t>1</a:t>
            </a:r>
            <a:r>
              <a:rPr lang="en-US" altLang="en-US" sz="2800" dirty="0">
                <a:solidFill>
                  <a:srgbClr val="FF0000"/>
                </a:solidFill>
              </a:rPr>
              <a:t>, </a:t>
            </a:r>
            <a:r>
              <a:rPr lang="en-US" altLang="en-US" sz="2800" i="1" dirty="0">
                <a:solidFill>
                  <a:srgbClr val="FF0000"/>
                </a:solidFill>
              </a:rPr>
              <a:t>R</a:t>
            </a:r>
            <a:r>
              <a:rPr lang="en-US" altLang="en-US" sz="2800" baseline="-25000" dirty="0">
                <a:solidFill>
                  <a:srgbClr val="FF0000"/>
                </a:solidFill>
              </a:rPr>
              <a:t>2</a:t>
            </a:r>
            <a:r>
              <a:rPr lang="en-US" altLang="en-US" sz="2800" dirty="0">
                <a:solidFill>
                  <a:srgbClr val="FF0000"/>
                </a:solidFill>
              </a:rPr>
              <a:t>, . . ., </a:t>
            </a:r>
            <a:r>
              <a:rPr lang="en-US" altLang="en-US" sz="2800" i="1" dirty="0">
                <a:solidFill>
                  <a:srgbClr val="FF0000"/>
                </a:solidFill>
              </a:rPr>
              <a:t>R</a:t>
            </a:r>
            <a:r>
              <a:rPr lang="en-US" altLang="en-US" sz="2800" baseline="-25000" dirty="0">
                <a:solidFill>
                  <a:srgbClr val="FF0000"/>
                </a:solidFill>
              </a:rPr>
              <a:t>m</a:t>
            </a:r>
          </a:p>
          <a:p>
            <a:pPr lvl="1">
              <a:defRPr/>
            </a:pPr>
            <a:r>
              <a:rPr lang="en-US" altLang="en-US" sz="2800" dirty="0"/>
              <a:t>Memory space, I/O devices, semaphores, etc.</a:t>
            </a:r>
          </a:p>
          <a:p>
            <a:pPr lvl="4">
              <a:defRPr/>
            </a:pPr>
            <a:endParaRPr lang="en-US" altLang="en-US" sz="1200" dirty="0"/>
          </a:p>
          <a:p>
            <a:pPr>
              <a:defRPr/>
            </a:pPr>
            <a:r>
              <a:rPr lang="en-US" altLang="en-US" sz="2800" dirty="0"/>
              <a:t>Each resource type </a:t>
            </a:r>
            <a:r>
              <a:rPr lang="en-US" altLang="en-US" sz="2800" i="1" dirty="0" err="1">
                <a:solidFill>
                  <a:srgbClr val="FF0000"/>
                </a:solidFill>
              </a:rPr>
              <a:t>R</a:t>
            </a:r>
            <a:r>
              <a:rPr lang="en-US" altLang="en-US" sz="2800" baseline="-25000" dirty="0" err="1">
                <a:solidFill>
                  <a:srgbClr val="FF0000"/>
                </a:solidFill>
              </a:rPr>
              <a:t>i</a:t>
            </a:r>
            <a:r>
              <a:rPr lang="en-US" altLang="en-US" sz="2800" dirty="0">
                <a:solidFill>
                  <a:srgbClr val="FF0000"/>
                </a:solidFill>
              </a:rPr>
              <a:t> has </a:t>
            </a:r>
            <a:r>
              <a:rPr lang="en-US" altLang="en-US" sz="2800" i="1" dirty="0">
                <a:solidFill>
                  <a:srgbClr val="FF0000"/>
                </a:solidFill>
              </a:rPr>
              <a:t>W</a:t>
            </a:r>
            <a:r>
              <a:rPr lang="en-US" altLang="en-US" sz="2800" baseline="-25000" dirty="0">
                <a:solidFill>
                  <a:srgbClr val="FF0000"/>
                </a:solidFill>
              </a:rPr>
              <a:t>i</a:t>
            </a:r>
            <a:r>
              <a:rPr lang="en-US" altLang="en-US" sz="2800" dirty="0">
                <a:solidFill>
                  <a:srgbClr val="FF0000"/>
                </a:solidFill>
              </a:rPr>
              <a:t> identical instances</a:t>
            </a:r>
          </a:p>
          <a:p>
            <a:pPr lvl="4">
              <a:defRPr/>
            </a:pPr>
            <a:endParaRPr lang="en-US" altLang="en-US" sz="1200" dirty="0"/>
          </a:p>
          <a:p>
            <a:pPr>
              <a:defRPr/>
            </a:pPr>
            <a:r>
              <a:rPr lang="en-US" altLang="en-US" sz="2800" dirty="0"/>
              <a:t>Each process utilizes a resource as follows:</a:t>
            </a:r>
          </a:p>
          <a:p>
            <a:pPr marL="971550" lvl="1" indent="-514350">
              <a:buFont typeface="+mj-lt"/>
              <a:buAutoNum type="arabicPeriod"/>
              <a:defRPr/>
            </a:pPr>
            <a:r>
              <a:rPr lang="en-US" altLang="en-US" sz="2800" dirty="0"/>
              <a:t>Request for a specific number of instances</a:t>
            </a:r>
          </a:p>
          <a:p>
            <a:pPr marL="971550" lvl="1" indent="-514350">
              <a:buFont typeface="+mj-lt"/>
              <a:buAutoNum type="arabicPeriod"/>
              <a:defRPr/>
            </a:pPr>
            <a:r>
              <a:rPr lang="en-US" altLang="en-US" sz="2800" dirty="0"/>
              <a:t>Use </a:t>
            </a:r>
          </a:p>
          <a:p>
            <a:pPr marL="971550" lvl="1" indent="-514350">
              <a:buFont typeface="+mj-lt"/>
              <a:buAutoNum type="arabicPeriod"/>
              <a:defRPr/>
            </a:pPr>
            <a:r>
              <a:rPr lang="en-US" altLang="en-US" sz="2800" dirty="0"/>
              <a:t>Release all the instances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Footer Placeholder 3">
            <a:extLst>
              <a:ext uri="{FF2B5EF4-FFF2-40B4-BE49-F238E27FC236}">
                <a16:creationId xmlns:a16="http://schemas.microsoft.com/office/drawing/2014/main" id="{0FB714F6-A2ED-4F78-94EE-E9405CBB9D9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7650" name="Rectangle 2">
            <a:extLst>
              <a:ext uri="{FF2B5EF4-FFF2-40B4-BE49-F238E27FC236}">
                <a16:creationId xmlns:a16="http://schemas.microsoft.com/office/drawing/2014/main" id="{CD132D6C-A1B6-4A1A-8151-79C0AECDB502}"/>
              </a:ext>
            </a:extLst>
          </p:cNvPr>
          <p:cNvSpPr>
            <a:spLocks noGrp="1" noChangeArrowheads="1"/>
          </p:cNvSpPr>
          <p:nvPr>
            <p:ph type="title"/>
          </p:nvPr>
        </p:nvSpPr>
        <p:spPr/>
        <p:txBody>
          <a:bodyPr/>
          <a:lstStyle/>
          <a:p>
            <a:r>
              <a:rPr lang="en-US" altLang="en-US"/>
              <a:t>Resource-Allocation Graph</a:t>
            </a:r>
          </a:p>
        </p:txBody>
      </p:sp>
      <p:sp>
        <p:nvSpPr>
          <p:cNvPr id="6148" name="Rectangle 3">
            <a:extLst>
              <a:ext uri="{FF2B5EF4-FFF2-40B4-BE49-F238E27FC236}">
                <a16:creationId xmlns:a16="http://schemas.microsoft.com/office/drawing/2014/main" id="{1EE944E4-992A-4DD3-AFF1-BB0A36A96D0C}"/>
              </a:ext>
            </a:extLst>
          </p:cNvPr>
          <p:cNvSpPr>
            <a:spLocks noGrp="1" noChangeArrowheads="1"/>
          </p:cNvSpPr>
          <p:nvPr>
            <p:ph type="body" idx="1"/>
          </p:nvPr>
        </p:nvSpPr>
        <p:spPr>
          <a:xfrm>
            <a:off x="592138" y="1870075"/>
            <a:ext cx="8012112" cy="4008438"/>
          </a:xfrm>
        </p:spPr>
        <p:txBody>
          <a:bodyPr/>
          <a:lstStyle/>
          <a:p>
            <a:pPr>
              <a:defRPr/>
            </a:pPr>
            <a:r>
              <a:rPr lang="en-US" altLang="en-US" sz="2400" dirty="0"/>
              <a:t>V is partitioned into two types</a:t>
            </a:r>
          </a:p>
          <a:p>
            <a:pPr marL="914400" lvl="1" indent="-457200">
              <a:buFont typeface="+mj-lt"/>
              <a:buAutoNum type="arabicPeriod"/>
              <a:defRPr/>
            </a:pPr>
            <a:r>
              <a:rPr lang="en-US" altLang="en-US" sz="2400" i="1" dirty="0">
                <a:solidFill>
                  <a:schemeClr val="accent2"/>
                </a:solidFill>
              </a:rPr>
              <a:t>P</a:t>
            </a:r>
            <a:r>
              <a:rPr lang="en-US" altLang="en-US" sz="2400" dirty="0">
                <a:solidFill>
                  <a:schemeClr val="accent2"/>
                </a:solidFill>
              </a:rPr>
              <a:t> = {</a:t>
            </a:r>
            <a:r>
              <a:rPr lang="en-US" altLang="en-US" sz="2400" i="1" dirty="0">
                <a:solidFill>
                  <a:schemeClr val="accent2"/>
                </a:solidFill>
              </a:rPr>
              <a:t>P</a:t>
            </a:r>
            <a:r>
              <a:rPr lang="en-US" altLang="en-US" sz="2400" baseline="-25000" dirty="0">
                <a:solidFill>
                  <a:schemeClr val="accent2"/>
                </a:solidFill>
              </a:rPr>
              <a:t>1</a:t>
            </a:r>
            <a:r>
              <a:rPr lang="en-US" altLang="en-US" sz="2400" dirty="0">
                <a:solidFill>
                  <a:schemeClr val="accent2"/>
                </a:solidFill>
              </a:rPr>
              <a:t>, </a:t>
            </a:r>
            <a:r>
              <a:rPr lang="en-US" altLang="en-US" sz="2400" i="1" dirty="0">
                <a:solidFill>
                  <a:schemeClr val="accent2"/>
                </a:solidFill>
              </a:rPr>
              <a:t>P</a:t>
            </a:r>
            <a:r>
              <a:rPr lang="en-US" altLang="en-US" sz="2400" baseline="-25000" dirty="0">
                <a:solidFill>
                  <a:schemeClr val="accent2"/>
                </a:solidFill>
              </a:rPr>
              <a:t>2</a:t>
            </a:r>
            <a:r>
              <a:rPr lang="en-US" altLang="en-US" sz="2400" dirty="0">
                <a:solidFill>
                  <a:schemeClr val="accent2"/>
                </a:solidFill>
              </a:rPr>
              <a:t>, …, </a:t>
            </a:r>
            <a:r>
              <a:rPr lang="en-US" altLang="en-US" sz="2400" i="1" dirty="0" err="1">
                <a:solidFill>
                  <a:schemeClr val="accent2"/>
                </a:solidFill>
              </a:rPr>
              <a:t>P</a:t>
            </a:r>
            <a:r>
              <a:rPr lang="en-US" altLang="en-US" sz="2400" i="1" baseline="-25000" dirty="0" err="1">
                <a:solidFill>
                  <a:schemeClr val="accent2"/>
                </a:solidFill>
              </a:rPr>
              <a:t>n</a:t>
            </a:r>
            <a:r>
              <a:rPr lang="en-US" altLang="en-US" sz="2400" dirty="0">
                <a:solidFill>
                  <a:schemeClr val="accent2"/>
                </a:solidFill>
              </a:rPr>
              <a:t>}</a:t>
            </a:r>
            <a:r>
              <a:rPr lang="en-US" altLang="en-US" sz="2400" dirty="0"/>
              <a:t>, the set consisting of all the processes in the system</a:t>
            </a:r>
          </a:p>
          <a:p>
            <a:pPr marL="914400" lvl="1" indent="-457200">
              <a:buFont typeface="+mj-lt"/>
              <a:buAutoNum type="arabicPeriod"/>
              <a:defRPr/>
            </a:pPr>
            <a:r>
              <a:rPr lang="en-US" altLang="en-US" sz="2400" i="1" dirty="0">
                <a:solidFill>
                  <a:schemeClr val="accent2"/>
                </a:solidFill>
              </a:rPr>
              <a:t>R</a:t>
            </a:r>
            <a:r>
              <a:rPr lang="en-US" altLang="en-US" sz="2400" dirty="0">
                <a:solidFill>
                  <a:schemeClr val="accent2"/>
                </a:solidFill>
              </a:rPr>
              <a:t> = {</a:t>
            </a:r>
            <a:r>
              <a:rPr lang="en-US" altLang="en-US" sz="2400" i="1" dirty="0">
                <a:solidFill>
                  <a:schemeClr val="accent2"/>
                </a:solidFill>
              </a:rPr>
              <a:t>R</a:t>
            </a:r>
            <a:r>
              <a:rPr lang="en-US" altLang="en-US" sz="2400" baseline="-25000" dirty="0">
                <a:solidFill>
                  <a:schemeClr val="accent2"/>
                </a:solidFill>
              </a:rPr>
              <a:t>1</a:t>
            </a:r>
            <a:r>
              <a:rPr lang="en-US" altLang="en-US" sz="2400" dirty="0">
                <a:solidFill>
                  <a:schemeClr val="accent2"/>
                </a:solidFill>
              </a:rPr>
              <a:t>, </a:t>
            </a:r>
            <a:r>
              <a:rPr lang="en-US" altLang="en-US" sz="2400" i="1" dirty="0">
                <a:solidFill>
                  <a:schemeClr val="accent2"/>
                </a:solidFill>
              </a:rPr>
              <a:t>R</a:t>
            </a:r>
            <a:r>
              <a:rPr lang="en-US" altLang="en-US" sz="2400" baseline="-25000" dirty="0">
                <a:solidFill>
                  <a:schemeClr val="accent2"/>
                </a:solidFill>
              </a:rPr>
              <a:t>2</a:t>
            </a:r>
            <a:r>
              <a:rPr lang="en-US" altLang="en-US" sz="2400" dirty="0">
                <a:solidFill>
                  <a:schemeClr val="accent2"/>
                </a:solidFill>
              </a:rPr>
              <a:t>, …, </a:t>
            </a:r>
            <a:r>
              <a:rPr lang="en-US" altLang="en-US" sz="2400" i="1" dirty="0">
                <a:solidFill>
                  <a:schemeClr val="accent2"/>
                </a:solidFill>
              </a:rPr>
              <a:t>R</a:t>
            </a:r>
            <a:r>
              <a:rPr lang="en-US" altLang="en-US" sz="2400" i="1" baseline="-25000" dirty="0">
                <a:solidFill>
                  <a:schemeClr val="accent2"/>
                </a:solidFill>
              </a:rPr>
              <a:t>m</a:t>
            </a:r>
            <a:r>
              <a:rPr lang="en-US" altLang="en-US" sz="2400" dirty="0">
                <a:solidFill>
                  <a:schemeClr val="accent2"/>
                </a:solidFill>
              </a:rPr>
              <a:t>}</a:t>
            </a:r>
            <a:r>
              <a:rPr lang="en-US" altLang="en-US" sz="2400" dirty="0"/>
              <a:t>, the set consisting of all resource types in the system</a:t>
            </a:r>
          </a:p>
          <a:p>
            <a:pPr marL="2228850" lvl="4" indent="-457200">
              <a:buFont typeface="+mj-lt"/>
              <a:buAutoNum type="arabicPeriod"/>
              <a:defRPr/>
            </a:pPr>
            <a:endParaRPr lang="en-US" altLang="en-US" sz="1200" dirty="0"/>
          </a:p>
          <a:p>
            <a:pPr>
              <a:defRPr/>
            </a:pPr>
            <a:r>
              <a:rPr lang="en-US" altLang="en-US" sz="2400" dirty="0"/>
              <a:t>E is partitioned into two types</a:t>
            </a:r>
          </a:p>
          <a:p>
            <a:pPr lvl="1">
              <a:defRPr/>
            </a:pPr>
            <a:r>
              <a:rPr lang="en-US" altLang="en-US" sz="2400" dirty="0">
                <a:solidFill>
                  <a:schemeClr val="accent2"/>
                </a:solidFill>
              </a:rPr>
              <a:t>Request Edge:</a:t>
            </a:r>
            <a:r>
              <a:rPr lang="en-US" altLang="en-US" sz="2400" dirty="0"/>
              <a:t> Directed edge </a:t>
            </a:r>
            <a:r>
              <a:rPr lang="en-US" altLang="en-US" sz="2400" i="1" dirty="0"/>
              <a:t>P</a:t>
            </a:r>
            <a:r>
              <a:rPr lang="en-US" altLang="en-US" sz="2400" baseline="-25000" dirty="0"/>
              <a:t>i </a:t>
            </a:r>
            <a:r>
              <a:rPr lang="en-US" altLang="en-US" sz="2400" dirty="0">
                <a:sym typeface="Symbol" charset="2"/>
              </a:rPr>
              <a:t> </a:t>
            </a:r>
            <a:r>
              <a:rPr lang="en-US" altLang="en-US" sz="2400" i="1" dirty="0" err="1">
                <a:sym typeface="Symbol" charset="2"/>
              </a:rPr>
              <a:t>R</a:t>
            </a:r>
            <a:r>
              <a:rPr lang="en-US" altLang="en-US" sz="2400" i="1" baseline="-25000" dirty="0" err="1">
                <a:sym typeface="Symbol" charset="2"/>
              </a:rPr>
              <a:t>j</a:t>
            </a:r>
            <a:endParaRPr lang="en-US" altLang="en-US" sz="2400" i="1" baseline="-25000" dirty="0">
              <a:sym typeface="Symbol" charset="2"/>
            </a:endParaRPr>
          </a:p>
          <a:p>
            <a:pPr lvl="2">
              <a:buFont typeface="Monotype Sorts" charset="2"/>
              <a:buChar char="T"/>
              <a:defRPr/>
            </a:pPr>
            <a:r>
              <a:rPr lang="en-US" altLang="en-US" sz="2000" dirty="0">
                <a:sym typeface="Symbol" charset="2"/>
              </a:rPr>
              <a:t>When the request is granted, this edge is removed</a:t>
            </a:r>
          </a:p>
          <a:p>
            <a:pPr lvl="1">
              <a:defRPr/>
            </a:pPr>
            <a:r>
              <a:rPr lang="en-US" altLang="en-US" sz="2400" dirty="0">
                <a:solidFill>
                  <a:schemeClr val="accent2"/>
                </a:solidFill>
                <a:sym typeface="Symbol" charset="2"/>
              </a:rPr>
              <a:t>Assignment Edge:</a:t>
            </a:r>
            <a:r>
              <a:rPr lang="en-US" altLang="en-US" sz="2400" dirty="0">
                <a:sym typeface="Symbol" charset="2"/>
              </a:rPr>
              <a:t> D</a:t>
            </a:r>
            <a:r>
              <a:rPr lang="en-US" altLang="en-US" sz="2400" dirty="0"/>
              <a:t>irected edge </a:t>
            </a:r>
            <a:r>
              <a:rPr lang="en-US" altLang="en-US" sz="2400" i="1" dirty="0" err="1"/>
              <a:t>R</a:t>
            </a:r>
            <a:r>
              <a:rPr lang="en-US" altLang="en-US" sz="2400" i="1" baseline="-25000" dirty="0" err="1"/>
              <a:t>j</a:t>
            </a:r>
            <a:r>
              <a:rPr lang="en-US" altLang="en-US" sz="2400" i="1" dirty="0"/>
              <a:t> </a:t>
            </a:r>
            <a:r>
              <a:rPr lang="en-US" altLang="en-US" sz="2400" dirty="0">
                <a:sym typeface="Symbol" charset="2"/>
              </a:rPr>
              <a:t> </a:t>
            </a:r>
            <a:r>
              <a:rPr lang="en-US" altLang="en-US" sz="2400" i="1" dirty="0">
                <a:sym typeface="Symbol" charset="2"/>
              </a:rPr>
              <a:t>P</a:t>
            </a:r>
            <a:r>
              <a:rPr lang="en-US" altLang="en-US" sz="2400" i="1" baseline="-25000" dirty="0">
                <a:sym typeface="Symbol" charset="2"/>
              </a:rPr>
              <a:t>i</a:t>
            </a:r>
          </a:p>
          <a:p>
            <a:pPr lvl="2">
              <a:buFont typeface="Monotype Sorts" charset="2"/>
              <a:buChar char="T"/>
              <a:defRPr/>
            </a:pPr>
            <a:r>
              <a:rPr lang="en-US" altLang="en-US" sz="2000" dirty="0">
                <a:sym typeface="Symbol" charset="2"/>
              </a:rPr>
              <a:t>When the resource is released, this edge is removed</a:t>
            </a:r>
          </a:p>
        </p:txBody>
      </p:sp>
      <p:sp>
        <p:nvSpPr>
          <p:cNvPr id="27652" name="Text Box 4">
            <a:extLst>
              <a:ext uri="{FF2B5EF4-FFF2-40B4-BE49-F238E27FC236}">
                <a16:creationId xmlns:a16="http://schemas.microsoft.com/office/drawing/2014/main" id="{D9983317-1118-452E-9CF5-402AF869BC9D}"/>
              </a:ext>
            </a:extLst>
          </p:cNvPr>
          <p:cNvSpPr txBox="1">
            <a:spLocks noChangeArrowheads="1"/>
          </p:cNvSpPr>
          <p:nvPr/>
        </p:nvSpPr>
        <p:spPr bwMode="auto">
          <a:xfrm>
            <a:off x="966788" y="1312863"/>
            <a:ext cx="7277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buSzTx/>
              <a:buFontTx/>
              <a:buNone/>
            </a:pPr>
            <a:r>
              <a:rPr lang="en-US" altLang="en-US" sz="2400" b="1">
                <a:solidFill>
                  <a:srgbClr val="FF0000"/>
                </a:solidFill>
              </a:rPr>
              <a:t>Graph </a:t>
            </a:r>
            <a:r>
              <a:rPr lang="en-US" altLang="en-US" sz="2400" b="1">
                <a:solidFill>
                  <a:srgbClr val="FF0000"/>
                </a:solidFill>
                <a:sym typeface="Wingdings" panose="05000000000000000000" pitchFamily="2" charset="2"/>
              </a:rPr>
              <a:t> </a:t>
            </a:r>
            <a:r>
              <a:rPr lang="en-US" altLang="en-US" sz="2400" b="1">
                <a:solidFill>
                  <a:srgbClr val="FF0000"/>
                </a:solidFill>
              </a:rPr>
              <a:t>A set of vertices </a:t>
            </a:r>
            <a:r>
              <a:rPr lang="en-US" altLang="en-US" sz="2400" b="1" i="1">
                <a:solidFill>
                  <a:srgbClr val="FF0000"/>
                </a:solidFill>
              </a:rPr>
              <a:t>V</a:t>
            </a:r>
            <a:r>
              <a:rPr lang="en-US" altLang="en-US" sz="2400" b="1">
                <a:solidFill>
                  <a:srgbClr val="FF0000"/>
                </a:solidFill>
              </a:rPr>
              <a:t> and a set of edges </a:t>
            </a:r>
            <a:r>
              <a:rPr lang="en-US" altLang="en-US" sz="2400" b="1" i="1">
                <a:solidFill>
                  <a:srgbClr val="FF0000"/>
                </a:solidFill>
              </a:rPr>
              <a:t>E</a:t>
            </a:r>
            <a:endParaRPr lang="en-US" altLang="en-US" sz="24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14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4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4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48">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14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Footer Placeholder 3">
            <a:extLst>
              <a:ext uri="{FF2B5EF4-FFF2-40B4-BE49-F238E27FC236}">
                <a16:creationId xmlns:a16="http://schemas.microsoft.com/office/drawing/2014/main" id="{45562851-0B99-4FCA-99B8-B5DC1D4C3AF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9698" name="Rectangle 2">
            <a:extLst>
              <a:ext uri="{FF2B5EF4-FFF2-40B4-BE49-F238E27FC236}">
                <a16:creationId xmlns:a16="http://schemas.microsoft.com/office/drawing/2014/main" id="{2023CF0B-7461-4024-BD74-DAA81D8B51DD}"/>
              </a:ext>
            </a:extLst>
          </p:cNvPr>
          <p:cNvSpPr>
            <a:spLocks noGrp="1" noChangeArrowheads="1"/>
          </p:cNvSpPr>
          <p:nvPr>
            <p:ph type="title"/>
          </p:nvPr>
        </p:nvSpPr>
        <p:spPr/>
        <p:txBody>
          <a:bodyPr/>
          <a:lstStyle/>
          <a:p>
            <a:r>
              <a:rPr lang="en-US" altLang="en-US"/>
              <a:t>Resource-Allocation Graph (Cont.)</a:t>
            </a:r>
          </a:p>
        </p:txBody>
      </p:sp>
      <p:sp>
        <p:nvSpPr>
          <p:cNvPr id="7172" name="Rectangle 3">
            <a:extLst>
              <a:ext uri="{FF2B5EF4-FFF2-40B4-BE49-F238E27FC236}">
                <a16:creationId xmlns:a16="http://schemas.microsoft.com/office/drawing/2014/main" id="{291DC86B-63D2-4BC2-BCF6-09295503C592}"/>
              </a:ext>
            </a:extLst>
          </p:cNvPr>
          <p:cNvSpPr>
            <a:spLocks noGrp="1" noChangeArrowheads="1"/>
          </p:cNvSpPr>
          <p:nvPr>
            <p:ph type="body" idx="1"/>
          </p:nvPr>
        </p:nvSpPr>
        <p:spPr>
          <a:xfrm>
            <a:off x="422275" y="1266825"/>
            <a:ext cx="7869238" cy="5005388"/>
          </a:xfrm>
        </p:spPr>
        <p:txBody>
          <a:bodyPr/>
          <a:lstStyle/>
          <a:p>
            <a:pPr>
              <a:defRPr/>
            </a:pPr>
            <a:r>
              <a:rPr lang="en-US" altLang="en-US" sz="2200" dirty="0"/>
              <a:t>Process</a:t>
            </a:r>
            <a:endParaRPr lang="en-US" altLang="en-US" sz="1000" dirty="0"/>
          </a:p>
          <a:p>
            <a:pPr marL="0" indent="0">
              <a:buFontTx/>
              <a:buNone/>
              <a:defRPr/>
            </a:pPr>
            <a:endParaRPr lang="en-US" altLang="en-US" sz="2200" dirty="0"/>
          </a:p>
          <a:p>
            <a:pPr marL="0" indent="0">
              <a:buFontTx/>
              <a:buNone/>
              <a:defRPr/>
            </a:pPr>
            <a:endParaRPr lang="en-US" altLang="en-US" sz="1000" dirty="0"/>
          </a:p>
          <a:p>
            <a:pPr>
              <a:defRPr/>
            </a:pPr>
            <a:r>
              <a:rPr lang="en-US" altLang="en-US" sz="2200" dirty="0"/>
              <a:t>Resource Type with 4 instances</a:t>
            </a:r>
            <a:endParaRPr lang="en-US" altLang="en-US" sz="1000" dirty="0"/>
          </a:p>
          <a:p>
            <a:pPr>
              <a:defRPr/>
            </a:pPr>
            <a:endParaRPr lang="en-US" altLang="en-US" sz="2200" i="1" dirty="0"/>
          </a:p>
          <a:p>
            <a:pPr>
              <a:defRPr/>
            </a:pPr>
            <a:endParaRPr lang="en-US" altLang="en-US" sz="1000" i="1" dirty="0"/>
          </a:p>
          <a:p>
            <a:pPr>
              <a:defRPr/>
            </a:pPr>
            <a:r>
              <a:rPr lang="en-US" altLang="en-US" sz="2200" i="1" dirty="0"/>
              <a:t>P</a:t>
            </a:r>
            <a:r>
              <a:rPr lang="en-US" altLang="en-US" sz="2200" i="1" baseline="-25000" dirty="0"/>
              <a:t>i</a:t>
            </a:r>
            <a:r>
              <a:rPr lang="en-US" altLang="en-US" sz="2200" i="1" dirty="0"/>
              <a:t> </a:t>
            </a:r>
            <a:r>
              <a:rPr lang="en-US" altLang="en-US" sz="2200" dirty="0"/>
              <a:t>requests instance of </a:t>
            </a:r>
            <a:r>
              <a:rPr lang="en-US" altLang="en-US" sz="2200" i="1" dirty="0" err="1"/>
              <a:t>R</a:t>
            </a:r>
            <a:r>
              <a:rPr lang="en-US" altLang="en-US" sz="2200" i="1" baseline="-25000" dirty="0" err="1"/>
              <a:t>j</a:t>
            </a:r>
            <a:endParaRPr lang="en-US" altLang="en-US" sz="1000" dirty="0"/>
          </a:p>
          <a:p>
            <a:pPr>
              <a:defRPr/>
            </a:pPr>
            <a:endParaRPr lang="en-US" altLang="en-US" sz="2200" i="1" dirty="0"/>
          </a:p>
          <a:p>
            <a:pPr>
              <a:defRPr/>
            </a:pPr>
            <a:endParaRPr lang="en-US" altLang="en-US" sz="1000" i="1" dirty="0"/>
          </a:p>
          <a:p>
            <a:pPr>
              <a:defRPr/>
            </a:pPr>
            <a:r>
              <a:rPr lang="en-US" altLang="en-US" sz="2200" i="1" dirty="0"/>
              <a:t>P</a:t>
            </a:r>
            <a:r>
              <a:rPr lang="en-US" altLang="en-US" sz="2200" i="1" baseline="-25000" dirty="0"/>
              <a:t>i</a:t>
            </a:r>
            <a:r>
              <a:rPr lang="en-US" altLang="en-US" sz="2200" dirty="0"/>
              <a:t> is holding an instance of </a:t>
            </a:r>
            <a:r>
              <a:rPr lang="en-US" altLang="en-US" sz="2200" i="1" dirty="0" err="1"/>
              <a:t>R</a:t>
            </a:r>
            <a:r>
              <a:rPr lang="en-US" altLang="en-US" sz="2200" i="1" baseline="-25000" dirty="0" err="1"/>
              <a:t>j</a:t>
            </a:r>
            <a:endParaRPr lang="en-US" altLang="en-US" sz="2200" i="1" dirty="0"/>
          </a:p>
        </p:txBody>
      </p:sp>
      <p:sp>
        <p:nvSpPr>
          <p:cNvPr id="29700" name="Oval 4">
            <a:extLst>
              <a:ext uri="{FF2B5EF4-FFF2-40B4-BE49-F238E27FC236}">
                <a16:creationId xmlns:a16="http://schemas.microsoft.com/office/drawing/2014/main" id="{2B1743C6-45CB-4C0A-A905-E5605EA48ABE}"/>
              </a:ext>
            </a:extLst>
          </p:cNvPr>
          <p:cNvSpPr>
            <a:spLocks noChangeArrowheads="1"/>
          </p:cNvSpPr>
          <p:nvPr/>
        </p:nvSpPr>
        <p:spPr bwMode="auto">
          <a:xfrm>
            <a:off x="2132013" y="1266825"/>
            <a:ext cx="495300" cy="495300"/>
          </a:xfrm>
          <a:prstGeom prst="ellipse">
            <a:avLst/>
          </a:prstGeom>
          <a:solidFill>
            <a:schemeClr val="folHlink"/>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grpSp>
        <p:nvGrpSpPr>
          <p:cNvPr id="29701" name="Group 12">
            <a:extLst>
              <a:ext uri="{FF2B5EF4-FFF2-40B4-BE49-F238E27FC236}">
                <a16:creationId xmlns:a16="http://schemas.microsoft.com/office/drawing/2014/main" id="{F62D7A98-11E4-4D6E-9A35-DA2EA1457DE5}"/>
              </a:ext>
            </a:extLst>
          </p:cNvPr>
          <p:cNvGrpSpPr>
            <a:grpSpLocks/>
          </p:cNvGrpSpPr>
          <p:nvPr/>
        </p:nvGrpSpPr>
        <p:grpSpPr bwMode="auto">
          <a:xfrm>
            <a:off x="5273675" y="2506663"/>
            <a:ext cx="438150" cy="419100"/>
            <a:chOff x="2666" y="1966"/>
            <a:chExt cx="276" cy="264"/>
          </a:xfrm>
        </p:grpSpPr>
        <p:sp>
          <p:nvSpPr>
            <p:cNvPr id="29722" name="Rectangle 7">
              <a:extLst>
                <a:ext uri="{FF2B5EF4-FFF2-40B4-BE49-F238E27FC236}">
                  <a16:creationId xmlns:a16="http://schemas.microsoft.com/office/drawing/2014/main" id="{053DC9CC-0A0F-4A61-A5D9-92DD84606A26}"/>
                </a:ext>
              </a:extLst>
            </p:cNvPr>
            <p:cNvSpPr>
              <a:spLocks noChangeArrowheads="1"/>
            </p:cNvSpPr>
            <p:nvPr/>
          </p:nvSpPr>
          <p:spPr bwMode="auto">
            <a:xfrm>
              <a:off x="2666" y="1966"/>
              <a:ext cx="276" cy="264"/>
            </a:xfrm>
            <a:prstGeom prst="rect">
              <a:avLst/>
            </a:prstGeom>
            <a:solidFill>
              <a:schemeClr val="folHlink"/>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9723" name="Rectangle 8">
              <a:extLst>
                <a:ext uri="{FF2B5EF4-FFF2-40B4-BE49-F238E27FC236}">
                  <a16:creationId xmlns:a16="http://schemas.microsoft.com/office/drawing/2014/main" id="{199C7C0D-65EF-404F-ADA2-890F15CD8618}"/>
                </a:ext>
              </a:extLst>
            </p:cNvPr>
            <p:cNvSpPr>
              <a:spLocks noChangeArrowheads="1"/>
            </p:cNvSpPr>
            <p:nvPr/>
          </p:nvSpPr>
          <p:spPr bwMode="auto">
            <a:xfrm>
              <a:off x="2736" y="2026"/>
              <a:ext cx="47" cy="47"/>
            </a:xfrm>
            <a:prstGeom prst="rect">
              <a:avLst/>
            </a:prstGeom>
            <a:solidFill>
              <a:schemeClr val="tx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9724" name="Rectangle 9">
              <a:extLst>
                <a:ext uri="{FF2B5EF4-FFF2-40B4-BE49-F238E27FC236}">
                  <a16:creationId xmlns:a16="http://schemas.microsoft.com/office/drawing/2014/main" id="{57D40608-16C4-4DF4-9B09-CE143DE26CDB}"/>
                </a:ext>
              </a:extLst>
            </p:cNvPr>
            <p:cNvSpPr>
              <a:spLocks noChangeArrowheads="1"/>
            </p:cNvSpPr>
            <p:nvPr/>
          </p:nvSpPr>
          <p:spPr bwMode="auto">
            <a:xfrm>
              <a:off x="2832" y="2026"/>
              <a:ext cx="47" cy="47"/>
            </a:xfrm>
            <a:prstGeom prst="rect">
              <a:avLst/>
            </a:prstGeom>
            <a:solidFill>
              <a:schemeClr val="tx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9725" name="Rectangle 10">
              <a:extLst>
                <a:ext uri="{FF2B5EF4-FFF2-40B4-BE49-F238E27FC236}">
                  <a16:creationId xmlns:a16="http://schemas.microsoft.com/office/drawing/2014/main" id="{F4584D56-AB2B-435B-97BE-8B10079D30C3}"/>
                </a:ext>
              </a:extLst>
            </p:cNvPr>
            <p:cNvSpPr>
              <a:spLocks noChangeArrowheads="1"/>
            </p:cNvSpPr>
            <p:nvPr/>
          </p:nvSpPr>
          <p:spPr bwMode="auto">
            <a:xfrm>
              <a:off x="2736" y="2108"/>
              <a:ext cx="47" cy="47"/>
            </a:xfrm>
            <a:prstGeom prst="rect">
              <a:avLst/>
            </a:prstGeom>
            <a:solidFill>
              <a:schemeClr val="tx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9726" name="Rectangle 11">
              <a:extLst>
                <a:ext uri="{FF2B5EF4-FFF2-40B4-BE49-F238E27FC236}">
                  <a16:creationId xmlns:a16="http://schemas.microsoft.com/office/drawing/2014/main" id="{FFC09C62-78B1-4683-8D0B-641C007E94B8}"/>
                </a:ext>
              </a:extLst>
            </p:cNvPr>
            <p:cNvSpPr>
              <a:spLocks noChangeArrowheads="1"/>
            </p:cNvSpPr>
            <p:nvPr/>
          </p:nvSpPr>
          <p:spPr bwMode="auto">
            <a:xfrm>
              <a:off x="2832" y="2108"/>
              <a:ext cx="47" cy="47"/>
            </a:xfrm>
            <a:prstGeom prst="rect">
              <a:avLst/>
            </a:prstGeom>
            <a:solidFill>
              <a:schemeClr val="tx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grpSp>
      <p:grpSp>
        <p:nvGrpSpPr>
          <p:cNvPr id="29702" name="Group 29">
            <a:extLst>
              <a:ext uri="{FF2B5EF4-FFF2-40B4-BE49-F238E27FC236}">
                <a16:creationId xmlns:a16="http://schemas.microsoft.com/office/drawing/2014/main" id="{97AD454F-8009-4FCE-87CE-2E07E1FCBEDC}"/>
              </a:ext>
            </a:extLst>
          </p:cNvPr>
          <p:cNvGrpSpPr>
            <a:grpSpLocks/>
          </p:cNvGrpSpPr>
          <p:nvPr/>
        </p:nvGrpSpPr>
        <p:grpSpPr bwMode="auto">
          <a:xfrm>
            <a:off x="4835525" y="3668713"/>
            <a:ext cx="1270000" cy="784225"/>
            <a:chOff x="2292" y="2760"/>
            <a:chExt cx="800" cy="495"/>
          </a:xfrm>
        </p:grpSpPr>
        <p:sp>
          <p:nvSpPr>
            <p:cNvPr id="29713" name="Oval 6">
              <a:extLst>
                <a:ext uri="{FF2B5EF4-FFF2-40B4-BE49-F238E27FC236}">
                  <a16:creationId xmlns:a16="http://schemas.microsoft.com/office/drawing/2014/main" id="{4359CD66-8DBA-475D-B292-9713D05AA7DD}"/>
                </a:ext>
              </a:extLst>
            </p:cNvPr>
            <p:cNvSpPr>
              <a:spLocks noChangeArrowheads="1"/>
            </p:cNvSpPr>
            <p:nvPr/>
          </p:nvSpPr>
          <p:spPr bwMode="auto">
            <a:xfrm>
              <a:off x="2292" y="2760"/>
              <a:ext cx="312" cy="312"/>
            </a:xfrm>
            <a:prstGeom prst="ellipse">
              <a:avLst/>
            </a:prstGeom>
            <a:solidFill>
              <a:schemeClr val="folHlink"/>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i="1"/>
                <a:t>P</a:t>
              </a:r>
              <a:r>
                <a:rPr lang="en-US" altLang="en-US" i="1" baseline="-25000"/>
                <a:t>i</a:t>
              </a:r>
              <a:endParaRPr lang="en-US" altLang="en-US" i="1"/>
            </a:p>
          </p:txBody>
        </p:sp>
        <p:grpSp>
          <p:nvGrpSpPr>
            <p:cNvPr id="29714" name="Group 13">
              <a:extLst>
                <a:ext uri="{FF2B5EF4-FFF2-40B4-BE49-F238E27FC236}">
                  <a16:creationId xmlns:a16="http://schemas.microsoft.com/office/drawing/2014/main" id="{5B696396-18B5-419D-8B3C-EF447E00CBCB}"/>
                </a:ext>
              </a:extLst>
            </p:cNvPr>
            <p:cNvGrpSpPr>
              <a:grpSpLocks/>
            </p:cNvGrpSpPr>
            <p:nvPr/>
          </p:nvGrpSpPr>
          <p:grpSpPr bwMode="auto">
            <a:xfrm>
              <a:off x="2816" y="2800"/>
              <a:ext cx="276" cy="264"/>
              <a:chOff x="2666" y="1966"/>
              <a:chExt cx="276" cy="264"/>
            </a:xfrm>
          </p:grpSpPr>
          <p:sp>
            <p:nvSpPr>
              <p:cNvPr id="29717" name="Rectangle 14">
                <a:extLst>
                  <a:ext uri="{FF2B5EF4-FFF2-40B4-BE49-F238E27FC236}">
                    <a16:creationId xmlns:a16="http://schemas.microsoft.com/office/drawing/2014/main" id="{E6A0DC3E-4BC8-4F80-8451-60146D8577A0}"/>
                  </a:ext>
                </a:extLst>
              </p:cNvPr>
              <p:cNvSpPr>
                <a:spLocks noChangeArrowheads="1"/>
              </p:cNvSpPr>
              <p:nvPr/>
            </p:nvSpPr>
            <p:spPr bwMode="auto">
              <a:xfrm>
                <a:off x="2666" y="1966"/>
                <a:ext cx="276" cy="264"/>
              </a:xfrm>
              <a:prstGeom prst="rect">
                <a:avLst/>
              </a:prstGeom>
              <a:solidFill>
                <a:schemeClr val="folHlink"/>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9718" name="Rectangle 15">
                <a:extLst>
                  <a:ext uri="{FF2B5EF4-FFF2-40B4-BE49-F238E27FC236}">
                    <a16:creationId xmlns:a16="http://schemas.microsoft.com/office/drawing/2014/main" id="{398DBC6F-63FE-4698-B528-CFA578F4CEBE}"/>
                  </a:ext>
                </a:extLst>
              </p:cNvPr>
              <p:cNvSpPr>
                <a:spLocks noChangeArrowheads="1"/>
              </p:cNvSpPr>
              <p:nvPr/>
            </p:nvSpPr>
            <p:spPr bwMode="auto">
              <a:xfrm>
                <a:off x="2736" y="2026"/>
                <a:ext cx="47" cy="47"/>
              </a:xfrm>
              <a:prstGeom prst="rect">
                <a:avLst/>
              </a:prstGeom>
              <a:solidFill>
                <a:schemeClr val="tx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9719" name="Rectangle 16">
                <a:extLst>
                  <a:ext uri="{FF2B5EF4-FFF2-40B4-BE49-F238E27FC236}">
                    <a16:creationId xmlns:a16="http://schemas.microsoft.com/office/drawing/2014/main" id="{857745ED-9AC8-4924-9F88-1962D8075303}"/>
                  </a:ext>
                </a:extLst>
              </p:cNvPr>
              <p:cNvSpPr>
                <a:spLocks noChangeArrowheads="1"/>
              </p:cNvSpPr>
              <p:nvPr/>
            </p:nvSpPr>
            <p:spPr bwMode="auto">
              <a:xfrm>
                <a:off x="2832" y="2026"/>
                <a:ext cx="47" cy="47"/>
              </a:xfrm>
              <a:prstGeom prst="rect">
                <a:avLst/>
              </a:prstGeom>
              <a:solidFill>
                <a:schemeClr val="tx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9720" name="Rectangle 17">
                <a:extLst>
                  <a:ext uri="{FF2B5EF4-FFF2-40B4-BE49-F238E27FC236}">
                    <a16:creationId xmlns:a16="http://schemas.microsoft.com/office/drawing/2014/main" id="{044844D3-0776-45DA-B946-94EB1C4B2DCC}"/>
                  </a:ext>
                </a:extLst>
              </p:cNvPr>
              <p:cNvSpPr>
                <a:spLocks noChangeArrowheads="1"/>
              </p:cNvSpPr>
              <p:nvPr/>
            </p:nvSpPr>
            <p:spPr bwMode="auto">
              <a:xfrm>
                <a:off x="2736" y="2108"/>
                <a:ext cx="47" cy="47"/>
              </a:xfrm>
              <a:prstGeom prst="rect">
                <a:avLst/>
              </a:prstGeom>
              <a:solidFill>
                <a:schemeClr val="tx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9721" name="Rectangle 18">
                <a:extLst>
                  <a:ext uri="{FF2B5EF4-FFF2-40B4-BE49-F238E27FC236}">
                    <a16:creationId xmlns:a16="http://schemas.microsoft.com/office/drawing/2014/main" id="{CCA43786-F04E-4483-B9A3-E035DCDB45C8}"/>
                  </a:ext>
                </a:extLst>
              </p:cNvPr>
              <p:cNvSpPr>
                <a:spLocks noChangeArrowheads="1"/>
              </p:cNvSpPr>
              <p:nvPr/>
            </p:nvSpPr>
            <p:spPr bwMode="auto">
              <a:xfrm>
                <a:off x="2832" y="2108"/>
                <a:ext cx="47" cy="47"/>
              </a:xfrm>
              <a:prstGeom prst="rect">
                <a:avLst/>
              </a:prstGeom>
              <a:solidFill>
                <a:schemeClr val="tx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grpSp>
        <p:sp>
          <p:nvSpPr>
            <p:cNvPr id="29715" name="Line 19">
              <a:extLst>
                <a:ext uri="{FF2B5EF4-FFF2-40B4-BE49-F238E27FC236}">
                  <a16:creationId xmlns:a16="http://schemas.microsoft.com/office/drawing/2014/main" id="{A37BD132-3065-4DC0-AA7E-F8BDD47D291E}"/>
                </a:ext>
              </a:extLst>
            </p:cNvPr>
            <p:cNvSpPr>
              <a:spLocks noChangeShapeType="1"/>
            </p:cNvSpPr>
            <p:nvPr/>
          </p:nvSpPr>
          <p:spPr bwMode="auto">
            <a:xfrm>
              <a:off x="2610" y="2928"/>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29716" name="Text Box 20">
              <a:extLst>
                <a:ext uri="{FF2B5EF4-FFF2-40B4-BE49-F238E27FC236}">
                  <a16:creationId xmlns:a16="http://schemas.microsoft.com/office/drawing/2014/main" id="{F1F19A4B-85EF-48F6-A11C-8FA525C9042C}"/>
                </a:ext>
              </a:extLst>
            </p:cNvPr>
            <p:cNvSpPr txBox="1">
              <a:spLocks noChangeArrowheads="1"/>
            </p:cNvSpPr>
            <p:nvPr/>
          </p:nvSpPr>
          <p:spPr bwMode="auto">
            <a:xfrm>
              <a:off x="2854" y="3063"/>
              <a:ext cx="21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buSzTx/>
                <a:buFontTx/>
                <a:buNone/>
              </a:pPr>
              <a:r>
                <a:rPr lang="en-US" altLang="en-US" sz="1400" i="1"/>
                <a:t>R</a:t>
              </a:r>
              <a:r>
                <a:rPr lang="en-US" altLang="en-US" sz="1400" i="1" baseline="-25000"/>
                <a:t>j</a:t>
              </a:r>
              <a:endParaRPr lang="en-US" altLang="en-US" sz="1400" i="1"/>
            </a:p>
          </p:txBody>
        </p:sp>
      </p:grpSp>
      <p:grpSp>
        <p:nvGrpSpPr>
          <p:cNvPr id="29703" name="Group 30">
            <a:extLst>
              <a:ext uri="{FF2B5EF4-FFF2-40B4-BE49-F238E27FC236}">
                <a16:creationId xmlns:a16="http://schemas.microsoft.com/office/drawing/2014/main" id="{5262E939-83D7-4DE7-B3CF-B7BD1FD5414D}"/>
              </a:ext>
            </a:extLst>
          </p:cNvPr>
          <p:cNvGrpSpPr>
            <a:grpSpLocks/>
          </p:cNvGrpSpPr>
          <p:nvPr/>
        </p:nvGrpSpPr>
        <p:grpSpPr bwMode="auto">
          <a:xfrm>
            <a:off x="4873625" y="4984750"/>
            <a:ext cx="1231900" cy="757238"/>
            <a:chOff x="2304" y="3504"/>
            <a:chExt cx="776" cy="477"/>
          </a:xfrm>
        </p:grpSpPr>
        <p:sp>
          <p:nvSpPr>
            <p:cNvPr id="29704" name="Oval 5">
              <a:extLst>
                <a:ext uri="{FF2B5EF4-FFF2-40B4-BE49-F238E27FC236}">
                  <a16:creationId xmlns:a16="http://schemas.microsoft.com/office/drawing/2014/main" id="{40CAF4DB-7AD9-40C6-97FB-A42F94DA8544}"/>
                </a:ext>
              </a:extLst>
            </p:cNvPr>
            <p:cNvSpPr>
              <a:spLocks noChangeArrowheads="1"/>
            </p:cNvSpPr>
            <p:nvPr/>
          </p:nvSpPr>
          <p:spPr bwMode="auto">
            <a:xfrm>
              <a:off x="2304" y="3504"/>
              <a:ext cx="312" cy="312"/>
            </a:xfrm>
            <a:prstGeom prst="ellipse">
              <a:avLst/>
            </a:prstGeom>
            <a:solidFill>
              <a:schemeClr val="folHlink"/>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i="1"/>
                <a:t>P</a:t>
              </a:r>
              <a:r>
                <a:rPr lang="en-US" altLang="en-US" i="1" baseline="-25000"/>
                <a:t>i</a:t>
              </a:r>
              <a:endParaRPr lang="en-US" altLang="en-US"/>
            </a:p>
          </p:txBody>
        </p:sp>
        <p:grpSp>
          <p:nvGrpSpPr>
            <p:cNvPr id="29705" name="Group 21">
              <a:extLst>
                <a:ext uri="{FF2B5EF4-FFF2-40B4-BE49-F238E27FC236}">
                  <a16:creationId xmlns:a16="http://schemas.microsoft.com/office/drawing/2014/main" id="{CB658641-FD8A-465F-98DB-2A077950F941}"/>
                </a:ext>
              </a:extLst>
            </p:cNvPr>
            <p:cNvGrpSpPr>
              <a:grpSpLocks/>
            </p:cNvGrpSpPr>
            <p:nvPr/>
          </p:nvGrpSpPr>
          <p:grpSpPr bwMode="auto">
            <a:xfrm>
              <a:off x="2804" y="3544"/>
              <a:ext cx="276" cy="264"/>
              <a:chOff x="2666" y="1966"/>
              <a:chExt cx="276" cy="264"/>
            </a:xfrm>
          </p:grpSpPr>
          <p:sp>
            <p:nvSpPr>
              <p:cNvPr id="29708" name="Rectangle 22">
                <a:extLst>
                  <a:ext uri="{FF2B5EF4-FFF2-40B4-BE49-F238E27FC236}">
                    <a16:creationId xmlns:a16="http://schemas.microsoft.com/office/drawing/2014/main" id="{BA50CAD1-1314-4CB2-AD1D-448B591AF0C3}"/>
                  </a:ext>
                </a:extLst>
              </p:cNvPr>
              <p:cNvSpPr>
                <a:spLocks noChangeArrowheads="1"/>
              </p:cNvSpPr>
              <p:nvPr/>
            </p:nvSpPr>
            <p:spPr bwMode="auto">
              <a:xfrm>
                <a:off x="2666" y="1966"/>
                <a:ext cx="276" cy="264"/>
              </a:xfrm>
              <a:prstGeom prst="rect">
                <a:avLst/>
              </a:prstGeom>
              <a:solidFill>
                <a:schemeClr val="folHlink"/>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9709" name="Rectangle 23">
                <a:extLst>
                  <a:ext uri="{FF2B5EF4-FFF2-40B4-BE49-F238E27FC236}">
                    <a16:creationId xmlns:a16="http://schemas.microsoft.com/office/drawing/2014/main" id="{C14A7EF5-4BDF-4687-B56F-410419788520}"/>
                  </a:ext>
                </a:extLst>
              </p:cNvPr>
              <p:cNvSpPr>
                <a:spLocks noChangeArrowheads="1"/>
              </p:cNvSpPr>
              <p:nvPr/>
            </p:nvSpPr>
            <p:spPr bwMode="auto">
              <a:xfrm>
                <a:off x="2736" y="2026"/>
                <a:ext cx="47" cy="47"/>
              </a:xfrm>
              <a:prstGeom prst="rect">
                <a:avLst/>
              </a:prstGeom>
              <a:solidFill>
                <a:schemeClr val="tx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9710" name="Rectangle 24">
                <a:extLst>
                  <a:ext uri="{FF2B5EF4-FFF2-40B4-BE49-F238E27FC236}">
                    <a16:creationId xmlns:a16="http://schemas.microsoft.com/office/drawing/2014/main" id="{74BD280E-22E4-4F06-AFAA-4E3FBB958AA2}"/>
                  </a:ext>
                </a:extLst>
              </p:cNvPr>
              <p:cNvSpPr>
                <a:spLocks noChangeArrowheads="1"/>
              </p:cNvSpPr>
              <p:nvPr/>
            </p:nvSpPr>
            <p:spPr bwMode="auto">
              <a:xfrm>
                <a:off x="2832" y="2026"/>
                <a:ext cx="47" cy="47"/>
              </a:xfrm>
              <a:prstGeom prst="rect">
                <a:avLst/>
              </a:prstGeom>
              <a:solidFill>
                <a:schemeClr val="tx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9711" name="Rectangle 25">
                <a:extLst>
                  <a:ext uri="{FF2B5EF4-FFF2-40B4-BE49-F238E27FC236}">
                    <a16:creationId xmlns:a16="http://schemas.microsoft.com/office/drawing/2014/main" id="{5E3ECC05-BB15-46AB-AD7C-EBB6588E3378}"/>
                  </a:ext>
                </a:extLst>
              </p:cNvPr>
              <p:cNvSpPr>
                <a:spLocks noChangeArrowheads="1"/>
              </p:cNvSpPr>
              <p:nvPr/>
            </p:nvSpPr>
            <p:spPr bwMode="auto">
              <a:xfrm>
                <a:off x="2736" y="2108"/>
                <a:ext cx="47" cy="47"/>
              </a:xfrm>
              <a:prstGeom prst="rect">
                <a:avLst/>
              </a:prstGeom>
              <a:solidFill>
                <a:schemeClr val="tx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29712" name="Rectangle 26">
                <a:extLst>
                  <a:ext uri="{FF2B5EF4-FFF2-40B4-BE49-F238E27FC236}">
                    <a16:creationId xmlns:a16="http://schemas.microsoft.com/office/drawing/2014/main" id="{23A018CA-FFC7-4B4D-9582-D1CBB2956E78}"/>
                  </a:ext>
                </a:extLst>
              </p:cNvPr>
              <p:cNvSpPr>
                <a:spLocks noChangeArrowheads="1"/>
              </p:cNvSpPr>
              <p:nvPr/>
            </p:nvSpPr>
            <p:spPr bwMode="auto">
              <a:xfrm>
                <a:off x="2832" y="2108"/>
                <a:ext cx="47" cy="47"/>
              </a:xfrm>
              <a:prstGeom prst="rect">
                <a:avLst/>
              </a:prstGeom>
              <a:solidFill>
                <a:schemeClr val="tx1"/>
              </a:solidFill>
              <a:ln w="9525">
                <a:solidFill>
                  <a:schemeClr val="tx1"/>
                </a:solidFill>
                <a:miter lim="800000"/>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grpSp>
        <p:sp>
          <p:nvSpPr>
            <p:cNvPr id="29706" name="Line 27">
              <a:extLst>
                <a:ext uri="{FF2B5EF4-FFF2-40B4-BE49-F238E27FC236}">
                  <a16:creationId xmlns:a16="http://schemas.microsoft.com/office/drawing/2014/main" id="{50C3C3C5-24FC-430C-886D-1BB1B8D0A63F}"/>
                </a:ext>
              </a:extLst>
            </p:cNvPr>
            <p:cNvSpPr>
              <a:spLocks noChangeShapeType="1"/>
            </p:cNvSpPr>
            <p:nvPr/>
          </p:nvSpPr>
          <p:spPr bwMode="auto">
            <a:xfrm flipH="1">
              <a:off x="2598" y="3636"/>
              <a:ext cx="300" cy="6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SG"/>
            </a:p>
          </p:txBody>
        </p:sp>
        <p:sp>
          <p:nvSpPr>
            <p:cNvPr id="29707" name="Text Box 28">
              <a:extLst>
                <a:ext uri="{FF2B5EF4-FFF2-40B4-BE49-F238E27FC236}">
                  <a16:creationId xmlns:a16="http://schemas.microsoft.com/office/drawing/2014/main" id="{ABB70861-9EE7-4A85-B311-C0F6149E1BAA}"/>
                </a:ext>
              </a:extLst>
            </p:cNvPr>
            <p:cNvSpPr txBox="1">
              <a:spLocks noChangeArrowheads="1"/>
            </p:cNvSpPr>
            <p:nvPr/>
          </p:nvSpPr>
          <p:spPr bwMode="auto">
            <a:xfrm>
              <a:off x="2836" y="3789"/>
              <a:ext cx="21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buSzTx/>
                <a:buFontTx/>
                <a:buNone/>
              </a:pPr>
              <a:r>
                <a:rPr lang="en-US" altLang="en-US" sz="1400" i="1"/>
                <a:t>R</a:t>
              </a:r>
              <a:r>
                <a:rPr lang="en-US" altLang="en-US" sz="1400" i="1" baseline="-25000"/>
                <a:t>j</a:t>
              </a:r>
              <a:endParaRPr lang="en-US" altLang="en-US" sz="1400" i="1"/>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oter Placeholder 3">
            <a:extLst>
              <a:ext uri="{FF2B5EF4-FFF2-40B4-BE49-F238E27FC236}">
                <a16:creationId xmlns:a16="http://schemas.microsoft.com/office/drawing/2014/main" id="{E1F90DEE-6F85-444C-9567-F8054C0050A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1746" name="Rectangle 2">
            <a:extLst>
              <a:ext uri="{FF2B5EF4-FFF2-40B4-BE49-F238E27FC236}">
                <a16:creationId xmlns:a16="http://schemas.microsoft.com/office/drawing/2014/main" id="{BAC62545-EE7E-432D-93D2-83780F86165D}"/>
              </a:ext>
            </a:extLst>
          </p:cNvPr>
          <p:cNvSpPr>
            <a:spLocks noGrp="1" noChangeArrowheads="1"/>
          </p:cNvSpPr>
          <p:nvPr>
            <p:ph type="title"/>
          </p:nvPr>
        </p:nvSpPr>
        <p:spPr>
          <a:xfrm>
            <a:off x="947738" y="495300"/>
            <a:ext cx="7507287" cy="457200"/>
          </a:xfrm>
        </p:spPr>
        <p:txBody>
          <a:bodyPr/>
          <a:lstStyle/>
          <a:p>
            <a:r>
              <a:rPr lang="en-US" altLang="en-US"/>
              <a:t>Example of a Resource Allocation Graph</a:t>
            </a:r>
          </a:p>
        </p:txBody>
      </p:sp>
      <p:pic>
        <p:nvPicPr>
          <p:cNvPr id="31747" name="Picture 6">
            <a:extLst>
              <a:ext uri="{FF2B5EF4-FFF2-40B4-BE49-F238E27FC236}">
                <a16:creationId xmlns:a16="http://schemas.microsoft.com/office/drawing/2014/main" id="{9E399813-BAFF-4DBB-8DA6-70BB1762A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024" t="871" r="23206" b="1060"/>
          <a:stretch>
            <a:fillRect/>
          </a:stretch>
        </p:blipFill>
        <p:spPr bwMode="auto">
          <a:xfrm>
            <a:off x="947738" y="1338263"/>
            <a:ext cx="3333750" cy="486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4142B79A-31DE-427E-8BB7-908D6FA1A2DF}"/>
              </a:ext>
            </a:extLst>
          </p:cNvPr>
          <p:cNvSpPr txBox="1">
            <a:spLocks noChangeArrowheads="1"/>
          </p:cNvSpPr>
          <p:nvPr/>
        </p:nvSpPr>
        <p:spPr bwMode="auto">
          <a:xfrm>
            <a:off x="4892675" y="2087563"/>
            <a:ext cx="1943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a:solidFill>
                  <a:srgbClr val="FF0000"/>
                </a:solidFill>
                <a:latin typeface="Comic Sans MS" panose="030F0702030302020204" pitchFamily="66" charset="0"/>
              </a:rPr>
              <a:t>No deadlock</a:t>
            </a:r>
          </a:p>
        </p:txBody>
      </p:sp>
      <p:sp>
        <p:nvSpPr>
          <p:cNvPr id="8" name="TextBox 7">
            <a:extLst>
              <a:ext uri="{FF2B5EF4-FFF2-40B4-BE49-F238E27FC236}">
                <a16:creationId xmlns:a16="http://schemas.microsoft.com/office/drawing/2014/main" id="{5817D003-FEEB-44A0-839B-290554437543}"/>
              </a:ext>
            </a:extLst>
          </p:cNvPr>
          <p:cNvSpPr txBox="1">
            <a:spLocks noChangeArrowheads="1"/>
          </p:cNvSpPr>
          <p:nvPr/>
        </p:nvSpPr>
        <p:spPr bwMode="auto">
          <a:xfrm>
            <a:off x="4892675" y="4508500"/>
            <a:ext cx="16684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sz="2400">
                <a:solidFill>
                  <a:srgbClr val="FF0000"/>
                </a:solidFill>
                <a:latin typeface="Comic Sans MS" panose="030F0702030302020204" pitchFamily="66" charset="0"/>
              </a:rPr>
              <a:t>P3-&gt;P2-&gt;P1</a:t>
            </a:r>
          </a:p>
        </p:txBody>
      </p:sp>
      <p:sp>
        <p:nvSpPr>
          <p:cNvPr id="7" name="TextBox 6">
            <a:extLst>
              <a:ext uri="{FF2B5EF4-FFF2-40B4-BE49-F238E27FC236}">
                <a16:creationId xmlns:a16="http://schemas.microsoft.com/office/drawing/2014/main" id="{CE564134-A043-45ED-ACB7-485115188AE1}"/>
              </a:ext>
            </a:extLst>
          </p:cNvPr>
          <p:cNvSpPr txBox="1">
            <a:spLocks noChangeArrowheads="1"/>
          </p:cNvSpPr>
          <p:nvPr/>
        </p:nvSpPr>
        <p:spPr bwMode="auto">
          <a:xfrm>
            <a:off x="4892675" y="3308350"/>
            <a:ext cx="4132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sz="2400">
                <a:solidFill>
                  <a:schemeClr val="accent2"/>
                </a:solidFill>
                <a:latin typeface="Comic Sans MS" panose="030F0702030302020204" pitchFamily="66" charset="0"/>
              </a:rPr>
              <a:t>Can you identify a sequence of process executions so that all requests are met? </a:t>
            </a:r>
          </a:p>
        </p:txBody>
      </p:sp>
      <p:sp>
        <p:nvSpPr>
          <p:cNvPr id="9" name="TextBox 8">
            <a:extLst>
              <a:ext uri="{FF2B5EF4-FFF2-40B4-BE49-F238E27FC236}">
                <a16:creationId xmlns:a16="http://schemas.microsoft.com/office/drawing/2014/main" id="{8C2E0491-A697-4B37-AE45-A14F90526205}"/>
              </a:ext>
            </a:extLst>
          </p:cNvPr>
          <p:cNvSpPr txBox="1">
            <a:spLocks noChangeArrowheads="1"/>
          </p:cNvSpPr>
          <p:nvPr/>
        </p:nvSpPr>
        <p:spPr bwMode="auto">
          <a:xfrm>
            <a:off x="4892675" y="1628775"/>
            <a:ext cx="31607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sz="2400">
                <a:solidFill>
                  <a:schemeClr val="accent2"/>
                </a:solidFill>
                <a:latin typeface="Comic Sans MS" panose="030F0702030302020204" pitchFamily="66" charset="0"/>
              </a:rPr>
              <a:t>Is there a deadlock?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7"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Footer Placeholder 2">
            <a:extLst>
              <a:ext uri="{FF2B5EF4-FFF2-40B4-BE49-F238E27FC236}">
                <a16:creationId xmlns:a16="http://schemas.microsoft.com/office/drawing/2014/main" id="{6C02C874-122D-44AB-A4F6-3CD0501FF87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3794" name="Rectangle 2">
            <a:extLst>
              <a:ext uri="{FF2B5EF4-FFF2-40B4-BE49-F238E27FC236}">
                <a16:creationId xmlns:a16="http://schemas.microsoft.com/office/drawing/2014/main" id="{165F5DB1-1038-4114-AF7A-0301AEF6A1D7}"/>
              </a:ext>
            </a:extLst>
          </p:cNvPr>
          <p:cNvSpPr>
            <a:spLocks noGrp="1" noChangeArrowheads="1"/>
          </p:cNvSpPr>
          <p:nvPr>
            <p:ph type="title"/>
          </p:nvPr>
        </p:nvSpPr>
        <p:spPr>
          <a:xfrm>
            <a:off x="669925" y="495300"/>
            <a:ext cx="7954963" cy="457200"/>
          </a:xfrm>
        </p:spPr>
        <p:txBody>
          <a:bodyPr/>
          <a:lstStyle/>
          <a:p>
            <a:r>
              <a:rPr lang="en-US" altLang="en-US"/>
              <a:t>Resource Allocation Graph With A Deadlock</a:t>
            </a:r>
          </a:p>
        </p:txBody>
      </p:sp>
      <p:pic>
        <p:nvPicPr>
          <p:cNvPr id="33795" name="Picture 5">
            <a:extLst>
              <a:ext uri="{FF2B5EF4-FFF2-40B4-BE49-F238E27FC236}">
                <a16:creationId xmlns:a16="http://schemas.microsoft.com/office/drawing/2014/main" id="{56B7CBA9-3B38-4771-BF3F-4D4A8D76BD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3473" t="919" r="23195" b="1358"/>
          <a:stretch>
            <a:fillRect/>
          </a:stretch>
        </p:blipFill>
        <p:spPr bwMode="auto">
          <a:xfrm>
            <a:off x="946150" y="1301750"/>
            <a:ext cx="3354388" cy="491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4">
            <a:extLst>
              <a:ext uri="{FF2B5EF4-FFF2-40B4-BE49-F238E27FC236}">
                <a16:creationId xmlns:a16="http://schemas.microsoft.com/office/drawing/2014/main" id="{E542D8EC-84FA-48B5-B23D-D0939A5DF16C}"/>
              </a:ext>
            </a:extLst>
          </p:cNvPr>
          <p:cNvSpPr>
            <a:spLocks/>
          </p:cNvSpPr>
          <p:nvPr/>
        </p:nvSpPr>
        <p:spPr bwMode="auto">
          <a:xfrm>
            <a:off x="2165350" y="2281238"/>
            <a:ext cx="1724025" cy="2292350"/>
          </a:xfrm>
          <a:custGeom>
            <a:avLst/>
            <a:gdLst>
              <a:gd name="T0" fmla="*/ 446091 w 1723970"/>
              <a:gd name="T1" fmla="*/ 964764 h 2292777"/>
              <a:gd name="T2" fmla="*/ 1195461 w 1723970"/>
              <a:gd name="T3" fmla="*/ 195 h 2292777"/>
              <a:gd name="T4" fmla="*/ 1683165 w 1723970"/>
              <a:gd name="T5" fmla="*/ 894182 h 2292777"/>
              <a:gd name="T6" fmla="*/ 65469 w 1723970"/>
              <a:gd name="T7" fmla="*/ 2270464 h 2292777"/>
              <a:gd name="T8" fmla="*/ 469893 w 1723970"/>
              <a:gd name="T9" fmla="*/ 1035343 h 2292777"/>
              <a:gd name="T10" fmla="*/ 0 60000 65536"/>
              <a:gd name="T11" fmla="*/ 0 60000 65536"/>
              <a:gd name="T12" fmla="*/ 0 60000 65536"/>
              <a:gd name="T13" fmla="*/ 0 60000 65536"/>
              <a:gd name="T14" fmla="*/ 0 60000 65536"/>
              <a:gd name="T15" fmla="*/ 0 w 1723970"/>
              <a:gd name="T16" fmla="*/ 0 h 2292777"/>
              <a:gd name="T17" fmla="*/ 1723970 w 1723970"/>
              <a:gd name="T18" fmla="*/ 2292777 h 2292777"/>
            </a:gdLst>
            <a:ahLst/>
            <a:cxnLst>
              <a:cxn ang="T10">
                <a:pos x="T0" y="T1"/>
              </a:cxn>
              <a:cxn ang="T11">
                <a:pos x="T2" y="T3"/>
              </a:cxn>
              <a:cxn ang="T12">
                <a:pos x="T4" y="T5"/>
              </a:cxn>
              <a:cxn ang="T13">
                <a:pos x="T6" y="T7"/>
              </a:cxn>
              <a:cxn ang="T14">
                <a:pos x="T8" y="T9"/>
              </a:cxn>
            </a:cxnLst>
            <a:rect l="T15" t="T16" r="T17" b="T18"/>
            <a:pathLst>
              <a:path w="1723970" h="2292777">
                <a:moveTo>
                  <a:pt x="445377" y="973971"/>
                </a:moveTo>
                <a:cubicBezTo>
                  <a:pt x="716530" y="493020"/>
                  <a:pt x="987684" y="12070"/>
                  <a:pt x="1193523" y="195"/>
                </a:cubicBezTo>
                <a:cubicBezTo>
                  <a:pt x="1399362" y="-11680"/>
                  <a:pt x="1868437" y="520730"/>
                  <a:pt x="1680411" y="902719"/>
                </a:cubicBezTo>
                <a:cubicBezTo>
                  <a:pt x="1492385" y="1284708"/>
                  <a:pt x="267248" y="2268381"/>
                  <a:pt x="65367" y="2292132"/>
                </a:cubicBezTo>
                <a:cubicBezTo>
                  <a:pt x="-136514" y="2315883"/>
                  <a:pt x="166307" y="1680553"/>
                  <a:pt x="469128" y="1045223"/>
                </a:cubicBezTo>
              </a:path>
            </a:pathLst>
          </a:custGeom>
          <a:noFill/>
          <a:ln w="28575">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6" name="Freeform 5">
            <a:extLst>
              <a:ext uri="{FF2B5EF4-FFF2-40B4-BE49-F238E27FC236}">
                <a16:creationId xmlns:a16="http://schemas.microsoft.com/office/drawing/2014/main" id="{6D3BE379-F170-4263-900D-846E298F72DA}"/>
              </a:ext>
            </a:extLst>
          </p:cNvPr>
          <p:cNvSpPr>
            <a:spLocks/>
          </p:cNvSpPr>
          <p:nvPr/>
        </p:nvSpPr>
        <p:spPr bwMode="auto">
          <a:xfrm>
            <a:off x="1338263" y="1958975"/>
            <a:ext cx="2663825" cy="2898775"/>
          </a:xfrm>
          <a:custGeom>
            <a:avLst/>
            <a:gdLst>
              <a:gd name="T0" fmla="*/ 589084 w 2663249"/>
              <a:gd name="T1" fmla="*/ 2807125 h 2898176"/>
              <a:gd name="T2" fmla="*/ 1111 w 2663249"/>
              <a:gd name="T3" fmla="*/ 1259941 h 2898176"/>
              <a:gd name="T4" fmla="*/ 721083 w 2663249"/>
              <a:gd name="T5" fmla="*/ 597 h 2898176"/>
              <a:gd name="T6" fmla="*/ 1309045 w 2663249"/>
              <a:gd name="T7" fmla="*/ 1080036 h 2898176"/>
              <a:gd name="T8" fmla="*/ 1909005 w 2663249"/>
              <a:gd name="T9" fmla="*/ 72569 h 2898176"/>
              <a:gd name="T10" fmla="*/ 2652956 w 2663249"/>
              <a:gd name="T11" fmla="*/ 1283930 h 2898176"/>
              <a:gd name="T12" fmla="*/ 637088 w 2663249"/>
              <a:gd name="T13" fmla="*/ 2927061 h 2898176"/>
              <a:gd name="T14" fmla="*/ 0 60000 65536"/>
              <a:gd name="T15" fmla="*/ 0 60000 65536"/>
              <a:gd name="T16" fmla="*/ 0 60000 65536"/>
              <a:gd name="T17" fmla="*/ 0 60000 65536"/>
              <a:gd name="T18" fmla="*/ 0 60000 65536"/>
              <a:gd name="T19" fmla="*/ 0 60000 65536"/>
              <a:gd name="T20" fmla="*/ 0 60000 65536"/>
              <a:gd name="T21" fmla="*/ 0 w 2663249"/>
              <a:gd name="T22" fmla="*/ 0 h 2898176"/>
              <a:gd name="T23" fmla="*/ 2663249 w 2663249"/>
              <a:gd name="T24" fmla="*/ 2898176 h 289817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63249" h="2898176">
                <a:moveTo>
                  <a:pt x="583002" y="2779423"/>
                </a:moveTo>
                <a:cubicBezTo>
                  <a:pt x="281171" y="2245033"/>
                  <a:pt x="-20660" y="1710644"/>
                  <a:pt x="1111" y="1247506"/>
                </a:cubicBezTo>
                <a:cubicBezTo>
                  <a:pt x="22882" y="784368"/>
                  <a:pt x="497896" y="30285"/>
                  <a:pt x="713631" y="597"/>
                </a:cubicBezTo>
                <a:cubicBezTo>
                  <a:pt x="929366" y="-29091"/>
                  <a:pt x="1099579" y="1057501"/>
                  <a:pt x="1295522" y="1069376"/>
                </a:cubicBezTo>
                <a:cubicBezTo>
                  <a:pt x="1491465" y="1081251"/>
                  <a:pt x="1667615" y="38202"/>
                  <a:pt x="1889288" y="71849"/>
                </a:cubicBezTo>
                <a:cubicBezTo>
                  <a:pt x="2110961" y="105496"/>
                  <a:pt x="2835355" y="800203"/>
                  <a:pt x="2625558" y="1271257"/>
                </a:cubicBezTo>
                <a:cubicBezTo>
                  <a:pt x="2415761" y="1742311"/>
                  <a:pt x="1523132" y="2320243"/>
                  <a:pt x="630504" y="2898176"/>
                </a:cubicBezTo>
              </a:path>
            </a:pathLst>
          </a:custGeom>
          <a:noFill/>
          <a:ln w="28575">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7" name="TextBox 6">
            <a:extLst>
              <a:ext uri="{FF2B5EF4-FFF2-40B4-BE49-F238E27FC236}">
                <a16:creationId xmlns:a16="http://schemas.microsoft.com/office/drawing/2014/main" id="{D3E8C75C-D0EB-4D40-8A32-CAAB06D6D68A}"/>
              </a:ext>
            </a:extLst>
          </p:cNvPr>
          <p:cNvSpPr txBox="1">
            <a:spLocks noChangeArrowheads="1"/>
          </p:cNvSpPr>
          <p:nvPr/>
        </p:nvSpPr>
        <p:spPr bwMode="auto">
          <a:xfrm>
            <a:off x="4892675" y="3308350"/>
            <a:ext cx="413226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sz="2400">
                <a:solidFill>
                  <a:schemeClr val="accent2"/>
                </a:solidFill>
                <a:latin typeface="Comic Sans MS" panose="030F0702030302020204" pitchFamily="66" charset="0"/>
              </a:rPr>
              <a:t>Does this mean a cycle in the graph always indicates a deadlock?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5"/>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Footer Placeholder 2">
            <a:extLst>
              <a:ext uri="{FF2B5EF4-FFF2-40B4-BE49-F238E27FC236}">
                <a16:creationId xmlns:a16="http://schemas.microsoft.com/office/drawing/2014/main" id="{7EF2B5D2-84A9-4AE4-8BB0-A7145F83119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5842" name="Rectangle 2">
            <a:extLst>
              <a:ext uri="{FF2B5EF4-FFF2-40B4-BE49-F238E27FC236}">
                <a16:creationId xmlns:a16="http://schemas.microsoft.com/office/drawing/2014/main" id="{F1C6610C-BEF9-42C5-8460-11D7C6EA0459}"/>
              </a:ext>
            </a:extLst>
          </p:cNvPr>
          <p:cNvSpPr>
            <a:spLocks noGrp="1" noChangeArrowheads="1"/>
          </p:cNvSpPr>
          <p:nvPr>
            <p:ph type="title"/>
          </p:nvPr>
        </p:nvSpPr>
        <p:spPr>
          <a:xfrm>
            <a:off x="242888" y="495300"/>
            <a:ext cx="8726487" cy="457200"/>
          </a:xfrm>
        </p:spPr>
        <p:txBody>
          <a:bodyPr/>
          <a:lstStyle/>
          <a:p>
            <a:r>
              <a:rPr lang="en-US" altLang="en-US" sz="2200"/>
              <a:t>Resource Allocation Graph With A Cycle But No Deadlock</a:t>
            </a:r>
          </a:p>
        </p:txBody>
      </p:sp>
      <p:pic>
        <p:nvPicPr>
          <p:cNvPr id="35843" name="Picture 4">
            <a:extLst>
              <a:ext uri="{FF2B5EF4-FFF2-40B4-BE49-F238E27FC236}">
                <a16:creationId xmlns:a16="http://schemas.microsoft.com/office/drawing/2014/main" id="{9BA32E47-9AE2-421F-9DED-7C7428A312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093" t="700" r="19093" b="700"/>
          <a:stretch>
            <a:fillRect/>
          </a:stretch>
        </p:blipFill>
        <p:spPr bwMode="auto">
          <a:xfrm>
            <a:off x="676275" y="1319213"/>
            <a:ext cx="4024313" cy="513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4">
            <a:extLst>
              <a:ext uri="{FF2B5EF4-FFF2-40B4-BE49-F238E27FC236}">
                <a16:creationId xmlns:a16="http://schemas.microsoft.com/office/drawing/2014/main" id="{DD293C4D-1B7E-4750-8E9D-1583D186D465}"/>
              </a:ext>
            </a:extLst>
          </p:cNvPr>
          <p:cNvSpPr>
            <a:spLocks/>
          </p:cNvSpPr>
          <p:nvPr/>
        </p:nvSpPr>
        <p:spPr bwMode="auto">
          <a:xfrm>
            <a:off x="1136650" y="2770188"/>
            <a:ext cx="3114675" cy="2363787"/>
          </a:xfrm>
          <a:custGeom>
            <a:avLst/>
            <a:gdLst>
              <a:gd name="T0" fmla="*/ 0 w 3115127"/>
              <a:gd name="T1" fmla="*/ 1003197 h 2363960"/>
              <a:gd name="T2" fmla="*/ 1225930 w 3115127"/>
              <a:gd name="T3" fmla="*/ 21202 h 2363960"/>
              <a:gd name="T4" fmla="*/ 3088402 w 3115127"/>
              <a:gd name="T5" fmla="*/ 494481 h 2363960"/>
              <a:gd name="T6" fmla="*/ 1662081 w 3115127"/>
              <a:gd name="T7" fmla="*/ 2340115 h 2363960"/>
              <a:gd name="T8" fmla="*/ 82515 w 3115127"/>
              <a:gd name="T9" fmla="*/ 1216173 h 2363960"/>
              <a:gd name="T10" fmla="*/ 0 60000 65536"/>
              <a:gd name="T11" fmla="*/ 0 60000 65536"/>
              <a:gd name="T12" fmla="*/ 0 60000 65536"/>
              <a:gd name="T13" fmla="*/ 0 60000 65536"/>
              <a:gd name="T14" fmla="*/ 0 60000 65536"/>
              <a:gd name="T15" fmla="*/ 0 w 3115127"/>
              <a:gd name="T16" fmla="*/ 0 h 2363960"/>
              <a:gd name="T17" fmla="*/ 3115127 w 3115127"/>
              <a:gd name="T18" fmla="*/ 2363960 h 2363960"/>
            </a:gdLst>
            <a:ahLst/>
            <a:cxnLst>
              <a:cxn ang="T10">
                <a:pos x="T0" y="T1"/>
              </a:cxn>
              <a:cxn ang="T11">
                <a:pos x="T2" y="T3"/>
              </a:cxn>
              <a:cxn ang="T12">
                <a:pos x="T4" y="T5"/>
              </a:cxn>
              <a:cxn ang="T13">
                <a:pos x="T6" y="T7"/>
              </a:cxn>
              <a:cxn ang="T14">
                <a:pos x="T8" y="T9"/>
              </a:cxn>
            </a:cxnLst>
            <a:rect l="T15" t="T16" r="T17" b="T18"/>
            <a:pathLst>
              <a:path w="3115127" h="2363960">
                <a:moveTo>
                  <a:pt x="0" y="1006956"/>
                </a:moveTo>
                <a:cubicBezTo>
                  <a:pt x="358238" y="556683"/>
                  <a:pt x="716477" y="106410"/>
                  <a:pt x="1235033" y="21304"/>
                </a:cubicBezTo>
                <a:cubicBezTo>
                  <a:pt x="1753589" y="-63802"/>
                  <a:pt x="3038104" y="108390"/>
                  <a:pt x="3111335" y="496317"/>
                </a:cubicBezTo>
                <a:cubicBezTo>
                  <a:pt x="3184566" y="884244"/>
                  <a:pt x="2179121" y="2228136"/>
                  <a:pt x="1674420" y="2348868"/>
                </a:cubicBezTo>
                <a:cubicBezTo>
                  <a:pt x="1169719" y="2469600"/>
                  <a:pt x="626423" y="1845156"/>
                  <a:pt x="83127" y="1220712"/>
                </a:cubicBezTo>
              </a:path>
            </a:pathLst>
          </a:custGeom>
          <a:noFill/>
          <a:ln w="28575">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6" name="Oval 5">
            <a:extLst>
              <a:ext uri="{FF2B5EF4-FFF2-40B4-BE49-F238E27FC236}">
                <a16:creationId xmlns:a16="http://schemas.microsoft.com/office/drawing/2014/main" id="{E68523A6-B649-44FB-B86C-B0DCBB5EC432}"/>
              </a:ext>
            </a:extLst>
          </p:cNvPr>
          <p:cNvSpPr>
            <a:spLocks noChangeArrowheads="1"/>
          </p:cNvSpPr>
          <p:nvPr/>
        </p:nvSpPr>
        <p:spPr bwMode="auto">
          <a:xfrm>
            <a:off x="3606800" y="1211263"/>
            <a:ext cx="1555750" cy="795337"/>
          </a:xfrm>
          <a:prstGeom prst="ellipse">
            <a:avLst/>
          </a:prstGeom>
          <a:noFill/>
          <a:ln w="38100">
            <a:solidFill>
              <a:srgbClr val="FFC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7" name="Oval 6">
            <a:extLst>
              <a:ext uri="{FF2B5EF4-FFF2-40B4-BE49-F238E27FC236}">
                <a16:creationId xmlns:a16="http://schemas.microsoft.com/office/drawing/2014/main" id="{EAA539E1-D150-4C6A-BF6D-3C08187E82C6}"/>
              </a:ext>
            </a:extLst>
          </p:cNvPr>
          <p:cNvSpPr>
            <a:spLocks noChangeArrowheads="1"/>
          </p:cNvSpPr>
          <p:nvPr/>
        </p:nvSpPr>
        <p:spPr bwMode="auto">
          <a:xfrm>
            <a:off x="3606800" y="5724525"/>
            <a:ext cx="1555750" cy="796925"/>
          </a:xfrm>
          <a:prstGeom prst="ellipse">
            <a:avLst/>
          </a:prstGeom>
          <a:noFill/>
          <a:ln w="38100">
            <a:solidFill>
              <a:srgbClr val="FFC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8" name="TextBox 7">
            <a:extLst>
              <a:ext uri="{FF2B5EF4-FFF2-40B4-BE49-F238E27FC236}">
                <a16:creationId xmlns:a16="http://schemas.microsoft.com/office/drawing/2014/main" id="{E1E866DC-A536-4ADB-B4CA-211B4B03C61D}"/>
              </a:ext>
            </a:extLst>
          </p:cNvPr>
          <p:cNvSpPr txBox="1">
            <a:spLocks noChangeArrowheads="1"/>
          </p:cNvSpPr>
          <p:nvPr/>
        </p:nvSpPr>
        <p:spPr bwMode="auto">
          <a:xfrm>
            <a:off x="5310188" y="3471863"/>
            <a:ext cx="36591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sz="2400">
                <a:solidFill>
                  <a:schemeClr val="accent2"/>
                </a:solidFill>
                <a:latin typeface="Comic Sans MS" panose="030F0702030302020204" pitchFamily="66" charset="0"/>
              </a:rPr>
              <a:t>Process execution order that avoids a deadlock</a:t>
            </a:r>
          </a:p>
          <a:p>
            <a:pPr>
              <a:spcBef>
                <a:spcPct val="0"/>
              </a:spcBef>
              <a:buSzTx/>
              <a:buFontTx/>
              <a:buNone/>
            </a:pPr>
            <a:r>
              <a:rPr lang="en-US" altLang="en-US" sz="2400">
                <a:solidFill>
                  <a:srgbClr val="FF0000"/>
                </a:solidFill>
                <a:latin typeface="Comic Sans MS" panose="030F0702030302020204" pitchFamily="66" charset="0"/>
              </a:rPr>
              <a:t>P2-&gt;P4-&gt;P3-&gt;P1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Footer Placeholder 3">
            <a:extLst>
              <a:ext uri="{FF2B5EF4-FFF2-40B4-BE49-F238E27FC236}">
                <a16:creationId xmlns:a16="http://schemas.microsoft.com/office/drawing/2014/main" id="{543B4DAD-F039-4C98-95FF-9FB305A6A11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7890" name="Rectangle 2">
            <a:extLst>
              <a:ext uri="{FF2B5EF4-FFF2-40B4-BE49-F238E27FC236}">
                <a16:creationId xmlns:a16="http://schemas.microsoft.com/office/drawing/2014/main" id="{28AF2A24-C80A-4C37-8DE2-90994F17B823}"/>
              </a:ext>
            </a:extLst>
          </p:cNvPr>
          <p:cNvSpPr>
            <a:spLocks noGrp="1" noChangeArrowheads="1"/>
          </p:cNvSpPr>
          <p:nvPr>
            <p:ph type="title"/>
          </p:nvPr>
        </p:nvSpPr>
        <p:spPr/>
        <p:txBody>
          <a:bodyPr/>
          <a:lstStyle/>
          <a:p>
            <a:r>
              <a:rPr lang="en-US" altLang="en-US"/>
              <a:t>Basic Facts</a:t>
            </a:r>
          </a:p>
        </p:txBody>
      </p:sp>
      <p:sp>
        <p:nvSpPr>
          <p:cNvPr id="11268" name="Rectangle 3">
            <a:extLst>
              <a:ext uri="{FF2B5EF4-FFF2-40B4-BE49-F238E27FC236}">
                <a16:creationId xmlns:a16="http://schemas.microsoft.com/office/drawing/2014/main" id="{44F3993F-485F-4665-BCA4-465ED4E4F58D}"/>
              </a:ext>
            </a:extLst>
          </p:cNvPr>
          <p:cNvSpPr>
            <a:spLocks noGrp="1" noChangeArrowheads="1"/>
          </p:cNvSpPr>
          <p:nvPr>
            <p:ph type="body" idx="1"/>
          </p:nvPr>
        </p:nvSpPr>
        <p:spPr>
          <a:xfrm>
            <a:off x="685800" y="1476375"/>
            <a:ext cx="7881938" cy="4114800"/>
          </a:xfrm>
        </p:spPr>
        <p:txBody>
          <a:bodyPr/>
          <a:lstStyle/>
          <a:p>
            <a:r>
              <a:rPr lang="en-US" altLang="en-US" sz="2800">
                <a:solidFill>
                  <a:srgbClr val="FF0000"/>
                </a:solidFill>
              </a:rPr>
              <a:t>If graph contains no cycles </a:t>
            </a:r>
            <a:r>
              <a:rPr lang="en-US" altLang="en-US" sz="2800">
                <a:solidFill>
                  <a:srgbClr val="FF0000"/>
                </a:solidFill>
                <a:sym typeface="Symbol" panose="05050102010706020507" pitchFamily="18" charset="2"/>
              </a:rPr>
              <a:t> no deadlock</a:t>
            </a:r>
          </a:p>
          <a:p>
            <a:pPr lvl="4"/>
            <a:endParaRPr lang="en-US" altLang="en-US" sz="2000">
              <a:sym typeface="Symbol" panose="05050102010706020507" pitchFamily="18" charset="2"/>
            </a:endParaRPr>
          </a:p>
          <a:p>
            <a:r>
              <a:rPr lang="en-US" altLang="en-US" sz="2800">
                <a:sym typeface="Symbol" panose="05050102010706020507" pitchFamily="18" charset="2"/>
              </a:rPr>
              <a:t>If graph contains a cycle </a:t>
            </a:r>
          </a:p>
          <a:p>
            <a:pPr lvl="1"/>
            <a:endParaRPr lang="en-US" altLang="en-US" sz="2800">
              <a:sym typeface="Symbol" panose="05050102010706020507" pitchFamily="18" charset="2"/>
            </a:endParaRPr>
          </a:p>
          <a:p>
            <a:pPr lvl="1"/>
            <a:r>
              <a:rPr lang="en-US" altLang="en-US" sz="2800">
                <a:solidFill>
                  <a:srgbClr val="FF0000"/>
                </a:solidFill>
                <a:sym typeface="Symbol" panose="05050102010706020507" pitchFamily="18" charset="2"/>
              </a:rPr>
              <a:t>If only one instance per resource type, then deadlock</a:t>
            </a:r>
          </a:p>
          <a:p>
            <a:pPr lvl="1"/>
            <a:endParaRPr lang="en-US" altLang="en-US" sz="2800">
              <a:sym typeface="Symbol" panose="05050102010706020507" pitchFamily="18" charset="2"/>
            </a:endParaRPr>
          </a:p>
          <a:p>
            <a:pPr lvl="1"/>
            <a:r>
              <a:rPr lang="en-US" altLang="en-US" sz="2800">
                <a:sym typeface="Symbol" panose="05050102010706020507" pitchFamily="18" charset="2"/>
              </a:rPr>
              <a:t>If several instances per resource type, </a:t>
            </a:r>
            <a:r>
              <a:rPr lang="en-US" altLang="en-US" sz="2800">
                <a:solidFill>
                  <a:schemeClr val="accent2"/>
                </a:solidFill>
                <a:sym typeface="Symbol" panose="05050102010706020507" pitchFamily="18" charset="2"/>
              </a:rPr>
              <a:t>possibility of deadlock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26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1268">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126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Footer Placeholder 3">
            <a:extLst>
              <a:ext uri="{FF2B5EF4-FFF2-40B4-BE49-F238E27FC236}">
                <a16:creationId xmlns:a16="http://schemas.microsoft.com/office/drawing/2014/main" id="{F7B9E1E6-7785-4E2D-BFFE-C8E8D5E487A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9938" name="Rectangle 2">
            <a:extLst>
              <a:ext uri="{FF2B5EF4-FFF2-40B4-BE49-F238E27FC236}">
                <a16:creationId xmlns:a16="http://schemas.microsoft.com/office/drawing/2014/main" id="{B7C485E5-13FF-4AB2-94F4-01ED281A3F9F}"/>
              </a:ext>
            </a:extLst>
          </p:cNvPr>
          <p:cNvSpPr>
            <a:spLocks noGrp="1" noChangeArrowheads="1"/>
          </p:cNvSpPr>
          <p:nvPr>
            <p:ph type="title"/>
          </p:nvPr>
        </p:nvSpPr>
        <p:spPr/>
        <p:txBody>
          <a:bodyPr/>
          <a:lstStyle/>
          <a:p>
            <a:r>
              <a:rPr lang="en-US" altLang="en-US"/>
              <a:t>Part 5:  Deadlocks and Starvation</a:t>
            </a:r>
          </a:p>
        </p:txBody>
      </p:sp>
      <p:sp>
        <p:nvSpPr>
          <p:cNvPr id="39939" name="Rectangle 3">
            <a:extLst>
              <a:ext uri="{FF2B5EF4-FFF2-40B4-BE49-F238E27FC236}">
                <a16:creationId xmlns:a16="http://schemas.microsoft.com/office/drawing/2014/main" id="{752CF58B-F67C-48F7-87B7-230B28F8111A}"/>
              </a:ext>
            </a:extLst>
          </p:cNvPr>
          <p:cNvSpPr>
            <a:spLocks noGrp="1" noChangeArrowheads="1"/>
          </p:cNvSpPr>
          <p:nvPr>
            <p:ph type="body" idx="1"/>
          </p:nvPr>
        </p:nvSpPr>
        <p:spPr>
          <a:xfrm>
            <a:off x="573088" y="1239838"/>
            <a:ext cx="7902575" cy="5222875"/>
          </a:xfrm>
        </p:spPr>
        <p:txBody>
          <a:bodyPr/>
          <a:lstStyle/>
          <a:p>
            <a:r>
              <a:rPr lang="en-US" altLang="en-US" sz="2800"/>
              <a:t>Deadlock Problem</a:t>
            </a:r>
          </a:p>
          <a:p>
            <a:r>
              <a:rPr lang="en-US" altLang="en-US" sz="2800"/>
              <a:t>System Model</a:t>
            </a:r>
          </a:p>
          <a:p>
            <a:r>
              <a:rPr lang="en-US" altLang="en-US" sz="2800" b="1"/>
              <a:t>Deadlock Conditions</a:t>
            </a:r>
          </a:p>
          <a:p>
            <a:r>
              <a:rPr lang="en-US" altLang="en-US" sz="2800"/>
              <a:t>Deadlock Prevention</a:t>
            </a:r>
          </a:p>
          <a:p>
            <a:r>
              <a:rPr lang="en-US" altLang="en-US" sz="2800"/>
              <a:t>Deadlock Avoidance</a:t>
            </a:r>
          </a:p>
          <a:p>
            <a:r>
              <a:rPr lang="en-US" altLang="en-US" sz="2800"/>
              <a:t>Deadlock Detection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Footer Placeholder 3">
            <a:extLst>
              <a:ext uri="{FF2B5EF4-FFF2-40B4-BE49-F238E27FC236}">
                <a16:creationId xmlns:a16="http://schemas.microsoft.com/office/drawing/2014/main" id="{EAD6E641-7913-4FE0-A3E3-C49CD8EDF2B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41986" name="Rectangle 1026">
            <a:extLst>
              <a:ext uri="{FF2B5EF4-FFF2-40B4-BE49-F238E27FC236}">
                <a16:creationId xmlns:a16="http://schemas.microsoft.com/office/drawing/2014/main" id="{E3391D4F-589B-4F2F-BEEB-09994BA9848B}"/>
              </a:ext>
            </a:extLst>
          </p:cNvPr>
          <p:cNvSpPr>
            <a:spLocks noGrp="1" noChangeArrowheads="1"/>
          </p:cNvSpPr>
          <p:nvPr>
            <p:ph type="title"/>
          </p:nvPr>
        </p:nvSpPr>
        <p:spPr/>
        <p:txBody>
          <a:bodyPr/>
          <a:lstStyle/>
          <a:p>
            <a:r>
              <a:rPr lang="en-US" altLang="en-US"/>
              <a:t>Deadlock Conditions</a:t>
            </a:r>
          </a:p>
        </p:txBody>
      </p:sp>
      <p:sp>
        <p:nvSpPr>
          <p:cNvPr id="12292" name="Rectangle 1027">
            <a:extLst>
              <a:ext uri="{FF2B5EF4-FFF2-40B4-BE49-F238E27FC236}">
                <a16:creationId xmlns:a16="http://schemas.microsoft.com/office/drawing/2014/main" id="{BCDAF8A3-BFA7-4404-9337-7C2504E03642}"/>
              </a:ext>
            </a:extLst>
          </p:cNvPr>
          <p:cNvSpPr>
            <a:spLocks noGrp="1" noChangeArrowheads="1"/>
          </p:cNvSpPr>
          <p:nvPr>
            <p:ph type="body" idx="1"/>
          </p:nvPr>
        </p:nvSpPr>
        <p:spPr>
          <a:xfrm>
            <a:off x="292100" y="3322638"/>
            <a:ext cx="8613775" cy="2963862"/>
          </a:xfrm>
        </p:spPr>
        <p:txBody>
          <a:bodyPr/>
          <a:lstStyle/>
          <a:p>
            <a:pPr marL="514350" indent="-514350">
              <a:lnSpc>
                <a:spcPct val="90000"/>
              </a:lnSpc>
              <a:buFont typeface="Helvetica" panose="020B0604020202020204" pitchFamily="34" charset="0"/>
              <a:buAutoNum type="arabicPeriod"/>
            </a:pPr>
            <a:r>
              <a:rPr lang="en-US" altLang="en-US" sz="2800">
                <a:solidFill>
                  <a:srgbClr val="FF0000"/>
                </a:solidFill>
              </a:rPr>
              <a:t>Mutual exclusion: </a:t>
            </a:r>
            <a:r>
              <a:rPr lang="en-US" altLang="en-US" sz="2800"/>
              <a:t>Only one process at a time can use a resource instance</a:t>
            </a:r>
          </a:p>
          <a:p>
            <a:pPr marL="2343150" lvl="4" indent="-514350">
              <a:lnSpc>
                <a:spcPct val="90000"/>
              </a:lnSpc>
              <a:buFont typeface="Helvetica" panose="020B0604020202020204" pitchFamily="34" charset="0"/>
              <a:buAutoNum type="arabicPeriod"/>
            </a:pPr>
            <a:endParaRPr lang="en-US" altLang="en-US" sz="2000"/>
          </a:p>
          <a:p>
            <a:pPr marL="514350" indent="-514350">
              <a:lnSpc>
                <a:spcPct val="90000"/>
              </a:lnSpc>
              <a:buFont typeface="Helvetica" panose="020B0604020202020204" pitchFamily="34" charset="0"/>
              <a:buAutoNum type="arabicPeriod"/>
            </a:pPr>
            <a:r>
              <a:rPr lang="en-US" altLang="en-US" sz="2800">
                <a:solidFill>
                  <a:srgbClr val="FF0000"/>
                </a:solidFill>
              </a:rPr>
              <a:t>Hold and wait: </a:t>
            </a:r>
            <a:r>
              <a:rPr lang="en-US" altLang="en-US" sz="2800"/>
              <a:t>A process holding at least one resource is waiting to acquire additional resources held by other processes</a:t>
            </a:r>
          </a:p>
        </p:txBody>
      </p:sp>
      <p:sp>
        <p:nvSpPr>
          <p:cNvPr id="41988" name="Text Box 1029">
            <a:extLst>
              <a:ext uri="{FF2B5EF4-FFF2-40B4-BE49-F238E27FC236}">
                <a16:creationId xmlns:a16="http://schemas.microsoft.com/office/drawing/2014/main" id="{27B13DB1-E58F-44F4-8B39-591BF3C91C23}"/>
              </a:ext>
            </a:extLst>
          </p:cNvPr>
          <p:cNvSpPr txBox="1">
            <a:spLocks noChangeArrowheads="1"/>
          </p:cNvSpPr>
          <p:nvPr/>
        </p:nvSpPr>
        <p:spPr bwMode="auto">
          <a:xfrm>
            <a:off x="292100" y="1347788"/>
            <a:ext cx="8613775"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sz="2800"/>
              <a:t>Deadlock </a:t>
            </a:r>
            <a:r>
              <a:rPr lang="en-US" altLang="en-US" sz="2800" b="1">
                <a:solidFill>
                  <a:srgbClr val="FF0000"/>
                </a:solidFill>
              </a:rPr>
              <a:t>may</a:t>
            </a:r>
            <a:r>
              <a:rPr lang="en-US" altLang="en-US" sz="2800"/>
              <a:t> arise if the following four conditions hold </a:t>
            </a:r>
            <a:r>
              <a:rPr lang="en-US" altLang="en-US" sz="2800" b="1">
                <a:solidFill>
                  <a:srgbClr val="FF0000"/>
                </a:solidFill>
              </a:rPr>
              <a:t>simultaneously </a:t>
            </a:r>
          </a:p>
          <a:p>
            <a:pPr>
              <a:spcBef>
                <a:spcPct val="0"/>
              </a:spcBef>
              <a:buSzTx/>
              <a:buFontTx/>
              <a:buNone/>
            </a:pPr>
            <a:r>
              <a:rPr lang="en-US" altLang="en-US" sz="2800">
                <a:solidFill>
                  <a:schemeClr val="accent2"/>
                </a:solidFill>
              </a:rPr>
              <a:t>(necessary, but not sufficient)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29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Footer Placeholder 3">
            <a:extLst>
              <a:ext uri="{FF2B5EF4-FFF2-40B4-BE49-F238E27FC236}">
                <a16:creationId xmlns:a16="http://schemas.microsoft.com/office/drawing/2014/main" id="{0E381653-F32D-4178-9579-4E960904D0A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44034" name="Rectangle 1026">
            <a:extLst>
              <a:ext uri="{FF2B5EF4-FFF2-40B4-BE49-F238E27FC236}">
                <a16:creationId xmlns:a16="http://schemas.microsoft.com/office/drawing/2014/main" id="{F2A11A72-DF3E-44BE-9E09-638FCF1DB049}"/>
              </a:ext>
            </a:extLst>
          </p:cNvPr>
          <p:cNvSpPr>
            <a:spLocks noGrp="1" noChangeArrowheads="1"/>
          </p:cNvSpPr>
          <p:nvPr>
            <p:ph type="title"/>
          </p:nvPr>
        </p:nvSpPr>
        <p:spPr/>
        <p:txBody>
          <a:bodyPr/>
          <a:lstStyle/>
          <a:p>
            <a:r>
              <a:rPr lang="en-US" altLang="en-US"/>
              <a:t>Deadlock Conditions (Cont.)</a:t>
            </a:r>
          </a:p>
        </p:txBody>
      </p:sp>
      <p:sp>
        <p:nvSpPr>
          <p:cNvPr id="13316" name="Rectangle 1027">
            <a:extLst>
              <a:ext uri="{FF2B5EF4-FFF2-40B4-BE49-F238E27FC236}">
                <a16:creationId xmlns:a16="http://schemas.microsoft.com/office/drawing/2014/main" id="{23982EB9-4851-4CB6-BCE5-D7577AF97B4B}"/>
              </a:ext>
            </a:extLst>
          </p:cNvPr>
          <p:cNvSpPr>
            <a:spLocks noGrp="1" noChangeArrowheads="1"/>
          </p:cNvSpPr>
          <p:nvPr>
            <p:ph type="body" idx="1"/>
          </p:nvPr>
        </p:nvSpPr>
        <p:spPr>
          <a:xfrm>
            <a:off x="490538" y="1911350"/>
            <a:ext cx="8229600" cy="4114800"/>
          </a:xfrm>
        </p:spPr>
        <p:txBody>
          <a:bodyPr/>
          <a:lstStyle/>
          <a:p>
            <a:pPr marL="514350" indent="-514350">
              <a:lnSpc>
                <a:spcPct val="90000"/>
              </a:lnSpc>
              <a:buFont typeface="Helvetica" panose="020B0604020202020204" pitchFamily="34" charset="0"/>
              <a:buAutoNum type="arabicPeriod" startAt="3"/>
            </a:pPr>
            <a:r>
              <a:rPr lang="en-US" altLang="en-US" sz="2800">
                <a:solidFill>
                  <a:srgbClr val="FF0000"/>
                </a:solidFill>
              </a:rPr>
              <a:t>No preemption: </a:t>
            </a:r>
            <a:r>
              <a:rPr lang="en-US" altLang="en-US" sz="2800"/>
              <a:t>A resource can be released only voluntarily by the process holding it, after that process has completed its task</a:t>
            </a:r>
          </a:p>
          <a:p>
            <a:pPr marL="2343150" lvl="4" indent="-514350">
              <a:lnSpc>
                <a:spcPct val="90000"/>
              </a:lnSpc>
              <a:buFont typeface="Helvetica" panose="020B0604020202020204" pitchFamily="34" charset="0"/>
              <a:buAutoNum type="arabicPeriod" startAt="3"/>
            </a:pPr>
            <a:endParaRPr lang="en-US" altLang="en-US" sz="2000"/>
          </a:p>
          <a:p>
            <a:pPr marL="514350" indent="-514350">
              <a:lnSpc>
                <a:spcPct val="90000"/>
              </a:lnSpc>
              <a:buFont typeface="Helvetica" panose="020B0604020202020204" pitchFamily="34" charset="0"/>
              <a:buAutoNum type="arabicPeriod" startAt="3"/>
            </a:pPr>
            <a:r>
              <a:rPr lang="en-US" altLang="en-US" sz="2800">
                <a:solidFill>
                  <a:srgbClr val="FF0000"/>
                </a:solidFill>
              </a:rPr>
              <a:t>Circular wait:</a:t>
            </a:r>
            <a:r>
              <a:rPr lang="en-US" altLang="en-US" sz="2800"/>
              <a:t> There exists a set {P</a:t>
            </a:r>
            <a:r>
              <a:rPr lang="en-US" altLang="en-US" sz="2800" baseline="-25000"/>
              <a:t>0</a:t>
            </a:r>
            <a:r>
              <a:rPr lang="en-US" altLang="en-US" sz="2800"/>
              <a:t>, P</a:t>
            </a:r>
            <a:r>
              <a:rPr lang="en-US" altLang="en-US" sz="2800" baseline="-25000"/>
              <a:t>1</a:t>
            </a:r>
            <a:r>
              <a:rPr lang="en-US" altLang="en-US" sz="2800"/>
              <a:t>, …, P</a:t>
            </a:r>
            <a:r>
              <a:rPr lang="en-US" altLang="en-US" sz="2800" baseline="-25000"/>
              <a:t>n</a:t>
            </a:r>
            <a:r>
              <a:rPr lang="en-US" altLang="en-US" sz="2800"/>
              <a:t>} of waiting processes such that P</a:t>
            </a:r>
            <a:r>
              <a:rPr lang="en-US" altLang="en-US" sz="2800" baseline="-25000"/>
              <a:t>0 </a:t>
            </a:r>
            <a:r>
              <a:rPr lang="en-US" altLang="en-US" sz="2800"/>
              <a:t>is waiting for a resource that is held by P</a:t>
            </a:r>
            <a:r>
              <a:rPr lang="en-US" altLang="en-US" sz="2800" baseline="-25000"/>
              <a:t>1</a:t>
            </a:r>
            <a:r>
              <a:rPr lang="en-US" altLang="en-US" sz="2800"/>
              <a:t>, P</a:t>
            </a:r>
            <a:r>
              <a:rPr lang="en-US" altLang="en-US" sz="2800" baseline="-25000"/>
              <a:t>1</a:t>
            </a:r>
            <a:r>
              <a:rPr lang="en-US" altLang="en-US" sz="2800"/>
              <a:t> is waiting for P</a:t>
            </a:r>
            <a:r>
              <a:rPr lang="en-US" altLang="en-US" sz="2800" baseline="-25000"/>
              <a:t>2</a:t>
            </a:r>
            <a:r>
              <a:rPr lang="en-US" altLang="en-US" sz="2800"/>
              <a:t>, …, P</a:t>
            </a:r>
            <a:r>
              <a:rPr lang="en-US" altLang="en-US" sz="2800" baseline="-25000"/>
              <a:t>n–1</a:t>
            </a:r>
            <a:r>
              <a:rPr lang="en-US" altLang="en-US" sz="2800"/>
              <a:t> is waiting for P</a:t>
            </a:r>
            <a:r>
              <a:rPr lang="en-US" altLang="en-US" sz="2800" baseline="-25000"/>
              <a:t>n</a:t>
            </a:r>
            <a:r>
              <a:rPr lang="en-US" altLang="en-US" sz="2800"/>
              <a:t>, and P</a:t>
            </a:r>
            <a:r>
              <a:rPr lang="en-US" altLang="en-US" sz="2800" baseline="-25000"/>
              <a:t>n</a:t>
            </a:r>
            <a:r>
              <a:rPr lang="en-US" altLang="en-US" sz="2800"/>
              <a:t> is waiting for P</a:t>
            </a:r>
            <a:r>
              <a:rPr lang="en-US" altLang="en-US" sz="2800" baseline="-25000"/>
              <a:t>0</a:t>
            </a:r>
            <a:endParaRPr lang="en-US"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16991-48F3-59C0-4901-60AD019882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5C024-5232-9CF6-1A3B-C902DDE5F6BE}"/>
              </a:ext>
            </a:extLst>
          </p:cNvPr>
          <p:cNvSpPr>
            <a:spLocks noGrp="1"/>
          </p:cNvSpPr>
          <p:nvPr>
            <p:ph type="title"/>
          </p:nvPr>
        </p:nvSpPr>
        <p:spPr/>
        <p:txBody>
          <a:bodyPr/>
          <a:lstStyle/>
          <a:p>
            <a:r>
              <a:rPr lang="en-US" dirty="0"/>
              <a:t>Deadlock Conditions</a:t>
            </a:r>
          </a:p>
        </p:txBody>
      </p:sp>
      <p:sp>
        <p:nvSpPr>
          <p:cNvPr id="4" name="Footer Placeholder 3">
            <a:extLst>
              <a:ext uri="{FF2B5EF4-FFF2-40B4-BE49-F238E27FC236}">
                <a16:creationId xmlns:a16="http://schemas.microsoft.com/office/drawing/2014/main" id="{52111673-83A2-557D-051C-9AF71F43585F}"/>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DF1730E1-3FE7-BF66-0BBC-64CE90B31CD2}"/>
                  </a:ext>
                </a:extLst>
              </p:cNvPr>
              <p:cNvGraphicFramePr>
                <a:graphicFrameLocks noGrp="1"/>
              </p:cNvGraphicFramePr>
              <p:nvPr>
                <p:extLst>
                  <p:ext uri="{D42A27DB-BD31-4B8C-83A1-F6EECF244321}">
                    <p14:modId xmlns:p14="http://schemas.microsoft.com/office/powerpoint/2010/main" val="2507578484"/>
                  </p:ext>
                </p:extLst>
              </p:nvPr>
            </p:nvGraphicFramePr>
            <p:xfrm>
              <a:off x="0" y="1078523"/>
              <a:ext cx="9144000" cy="4822512"/>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DF1730E1-3FE7-BF66-0BBC-64CE90B31CD2}"/>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1078523"/>
                <a:ext cx="9144000" cy="4822512"/>
              </a:xfrm>
              <a:prstGeom prst="rect">
                <a:avLst/>
              </a:prstGeom>
            </p:spPr>
          </p:pic>
        </mc:Fallback>
      </mc:AlternateContent>
    </p:spTree>
    <p:extLst>
      <p:ext uri="{BB962C8B-B14F-4D97-AF65-F5344CB8AC3E}">
        <p14:creationId xmlns:p14="http://schemas.microsoft.com/office/powerpoint/2010/main" val="3043342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Footer Placeholder 3">
            <a:extLst>
              <a:ext uri="{FF2B5EF4-FFF2-40B4-BE49-F238E27FC236}">
                <a16:creationId xmlns:a16="http://schemas.microsoft.com/office/drawing/2014/main" id="{ECAB3B2B-3AAC-4983-AB62-B7D962784C4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46082" name="Rectangle 2">
            <a:extLst>
              <a:ext uri="{FF2B5EF4-FFF2-40B4-BE49-F238E27FC236}">
                <a16:creationId xmlns:a16="http://schemas.microsoft.com/office/drawing/2014/main" id="{F39DF64B-A4BC-4C91-B1E6-43C5FCA07A7A}"/>
              </a:ext>
            </a:extLst>
          </p:cNvPr>
          <p:cNvSpPr>
            <a:spLocks noGrp="1" noChangeArrowheads="1"/>
          </p:cNvSpPr>
          <p:nvPr>
            <p:ph type="title"/>
          </p:nvPr>
        </p:nvSpPr>
        <p:spPr/>
        <p:txBody>
          <a:bodyPr/>
          <a:lstStyle/>
          <a:p>
            <a:r>
              <a:rPr lang="en-US" altLang="en-US"/>
              <a:t>Part 5:  Deadlocks and Starvation</a:t>
            </a:r>
          </a:p>
        </p:txBody>
      </p:sp>
      <p:sp>
        <p:nvSpPr>
          <p:cNvPr id="46083" name="Rectangle 3">
            <a:extLst>
              <a:ext uri="{FF2B5EF4-FFF2-40B4-BE49-F238E27FC236}">
                <a16:creationId xmlns:a16="http://schemas.microsoft.com/office/drawing/2014/main" id="{5A64D964-B7CD-4CB1-9811-247A91397088}"/>
              </a:ext>
            </a:extLst>
          </p:cNvPr>
          <p:cNvSpPr>
            <a:spLocks noGrp="1" noChangeArrowheads="1"/>
          </p:cNvSpPr>
          <p:nvPr>
            <p:ph type="body" idx="1"/>
          </p:nvPr>
        </p:nvSpPr>
        <p:spPr>
          <a:xfrm>
            <a:off x="573088" y="1239838"/>
            <a:ext cx="7902575" cy="5222875"/>
          </a:xfrm>
        </p:spPr>
        <p:txBody>
          <a:bodyPr/>
          <a:lstStyle/>
          <a:p>
            <a:r>
              <a:rPr lang="en-US" altLang="en-US" sz="2800"/>
              <a:t>Deadlock Problem</a:t>
            </a:r>
          </a:p>
          <a:p>
            <a:r>
              <a:rPr lang="en-US" altLang="en-US" sz="2800"/>
              <a:t>System Model</a:t>
            </a:r>
          </a:p>
          <a:p>
            <a:r>
              <a:rPr lang="en-US" altLang="en-US" sz="2800"/>
              <a:t>Deadlock Conditions</a:t>
            </a:r>
          </a:p>
          <a:p>
            <a:r>
              <a:rPr lang="en-US" altLang="en-US" sz="2800" b="1"/>
              <a:t>Deadlock Prevention</a:t>
            </a:r>
          </a:p>
          <a:p>
            <a:r>
              <a:rPr lang="en-US" altLang="en-US" sz="2800"/>
              <a:t>Deadlock Avoidance</a:t>
            </a:r>
          </a:p>
          <a:p>
            <a:r>
              <a:rPr lang="en-US" altLang="en-US" sz="2800"/>
              <a:t>Deadlock Detection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Footer Placeholder 3">
            <a:extLst>
              <a:ext uri="{FF2B5EF4-FFF2-40B4-BE49-F238E27FC236}">
                <a16:creationId xmlns:a16="http://schemas.microsoft.com/office/drawing/2014/main" id="{EBDB3A00-36E7-4071-A2A5-39E210C9485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48130" name="Rectangle 2">
            <a:extLst>
              <a:ext uri="{FF2B5EF4-FFF2-40B4-BE49-F238E27FC236}">
                <a16:creationId xmlns:a16="http://schemas.microsoft.com/office/drawing/2014/main" id="{91BE98F8-EA90-4C1B-B8E6-01173938F4AF}"/>
              </a:ext>
            </a:extLst>
          </p:cNvPr>
          <p:cNvSpPr>
            <a:spLocks noGrp="1" noChangeArrowheads="1"/>
          </p:cNvSpPr>
          <p:nvPr>
            <p:ph type="title"/>
          </p:nvPr>
        </p:nvSpPr>
        <p:spPr/>
        <p:txBody>
          <a:bodyPr/>
          <a:lstStyle/>
          <a:p>
            <a:r>
              <a:rPr lang="en-US" altLang="en-US"/>
              <a:t>Methods for Handling Deadlocks</a:t>
            </a:r>
          </a:p>
        </p:txBody>
      </p:sp>
      <p:sp>
        <p:nvSpPr>
          <p:cNvPr id="14340" name="Rectangle 3">
            <a:extLst>
              <a:ext uri="{FF2B5EF4-FFF2-40B4-BE49-F238E27FC236}">
                <a16:creationId xmlns:a16="http://schemas.microsoft.com/office/drawing/2014/main" id="{9EB3D22E-1C72-4252-874B-39B6385C4477}"/>
              </a:ext>
            </a:extLst>
          </p:cNvPr>
          <p:cNvSpPr>
            <a:spLocks noGrp="1" noChangeArrowheads="1"/>
          </p:cNvSpPr>
          <p:nvPr>
            <p:ph type="body" idx="1"/>
          </p:nvPr>
        </p:nvSpPr>
        <p:spPr/>
        <p:txBody>
          <a:bodyPr/>
          <a:lstStyle/>
          <a:p>
            <a:r>
              <a:rPr lang="en-US" altLang="en-US" sz="2800"/>
              <a:t>Ensure that the system will never enter a deadlock state</a:t>
            </a:r>
          </a:p>
          <a:p>
            <a:pPr lvl="4"/>
            <a:endParaRPr lang="en-US" altLang="en-US" sz="2000"/>
          </a:p>
          <a:p>
            <a:r>
              <a:rPr lang="en-US" altLang="en-US" sz="2800"/>
              <a:t>Allow the system to enter a deadlock state and then recover</a:t>
            </a:r>
          </a:p>
          <a:p>
            <a:pPr lvl="4"/>
            <a:endParaRPr lang="en-US" altLang="en-US" sz="2000"/>
          </a:p>
          <a:p>
            <a:r>
              <a:rPr lang="en-US" altLang="en-US" sz="2800"/>
              <a:t>Ignore the problem and pretend that deadlocks never occur in the system</a:t>
            </a:r>
          </a:p>
          <a:p>
            <a:pPr lvl="1"/>
            <a:r>
              <a:rPr lang="en-US" altLang="en-US" sz="2800"/>
              <a:t>Used by most operating systems, including UNIX</a:t>
            </a:r>
            <a:endParaRPr lang="en-US" altLang="en-US"/>
          </a:p>
        </p:txBody>
      </p:sp>
      <p:pic>
        <p:nvPicPr>
          <p:cNvPr id="121858" name="Picture 2" descr="Ostrich Cartoons ">
            <a:extLst>
              <a:ext uri="{FF2B5EF4-FFF2-40B4-BE49-F238E27FC236}">
                <a16:creationId xmlns:a16="http://schemas.microsoft.com/office/drawing/2014/main" id="{C4210E1D-7F7F-42EE-AFA8-396A9E63BD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7288" y="4751388"/>
            <a:ext cx="1082675" cy="146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4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40">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34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18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Footer Placeholder 3">
            <a:extLst>
              <a:ext uri="{FF2B5EF4-FFF2-40B4-BE49-F238E27FC236}">
                <a16:creationId xmlns:a16="http://schemas.microsoft.com/office/drawing/2014/main" id="{8E941EC9-55A0-4BB5-AD54-7C92DB98B8A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43011" name="Rectangle 6">
            <a:extLst>
              <a:ext uri="{FF2B5EF4-FFF2-40B4-BE49-F238E27FC236}">
                <a16:creationId xmlns:a16="http://schemas.microsoft.com/office/drawing/2014/main" id="{47E829D8-E0F6-412A-A120-CDC0FA89DDA6}"/>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blurRad="63500" dist="107763" dir="2700000" algn="ctr" rotWithShape="0">
              <a:schemeClr val="tx1">
                <a:alpha val="74998"/>
              </a:schemeClr>
            </a:outerShdw>
          </a:effectLst>
        </p:spPr>
        <p:txBody>
          <a:bodyPr wrap="none" anchor="ctr"/>
          <a:lstStyle>
            <a:lvl1pPr algn="l">
              <a:spcBef>
                <a:spcPct val="50000"/>
              </a:spcBef>
              <a:buSzPct val="140000"/>
              <a:buChar char="•"/>
              <a:defRPr>
                <a:solidFill>
                  <a:schemeClr val="tx1"/>
                </a:solidFill>
                <a:latin typeface="Helvetica" charset="0"/>
              </a:defRPr>
            </a:lvl1pPr>
            <a:lvl2pPr marL="742950" indent="-285750" algn="l">
              <a:spcBef>
                <a:spcPct val="20000"/>
              </a:spcBef>
              <a:buChar char="–"/>
              <a:defRPr>
                <a:solidFill>
                  <a:schemeClr val="tx1"/>
                </a:solidFill>
                <a:latin typeface="Helvetica" charset="0"/>
              </a:defRPr>
            </a:lvl2pPr>
            <a:lvl3pPr marL="1143000" indent="-228600" algn="l">
              <a:spcBef>
                <a:spcPct val="20000"/>
              </a:spcBef>
              <a:buSzPct val="85000"/>
              <a:buFont typeface="Monotype Sorts" charset="2"/>
              <a:buChar char="T"/>
              <a:defRPr i="1">
                <a:solidFill>
                  <a:schemeClr val="tx1"/>
                </a:solidFill>
                <a:latin typeface="Helvetica" charset="0"/>
              </a:defRPr>
            </a:lvl3pPr>
            <a:lvl4pPr marL="1600200" indent="-228600" algn="l">
              <a:spcBef>
                <a:spcPct val="20000"/>
              </a:spcBef>
              <a:buChar char="–"/>
              <a:defRPr>
                <a:solidFill>
                  <a:schemeClr val="tx1"/>
                </a:solidFill>
                <a:latin typeface="Helvetica" charset="0"/>
              </a:defRPr>
            </a:lvl4pPr>
            <a:lvl5pPr marL="2057400" indent="-228600" algn="l">
              <a:spcBef>
                <a:spcPct val="20000"/>
              </a:spcBef>
              <a:buChar char="»"/>
              <a:defRPr sz="1200">
                <a:solidFill>
                  <a:schemeClr val="tx1"/>
                </a:solidFill>
                <a:latin typeface="Helvetica" charset="0"/>
              </a:defRPr>
            </a:lvl5pPr>
            <a:lvl6pPr marL="2514600" indent="-228600" eaLnBrk="0" fontAlgn="base" hangingPunct="0">
              <a:spcBef>
                <a:spcPct val="20000"/>
              </a:spcBef>
              <a:spcAft>
                <a:spcPct val="0"/>
              </a:spcAft>
              <a:buChar char="»"/>
              <a:defRPr sz="1200">
                <a:solidFill>
                  <a:schemeClr val="tx1"/>
                </a:solidFill>
                <a:latin typeface="Helvetica" charset="0"/>
              </a:defRPr>
            </a:lvl6pPr>
            <a:lvl7pPr marL="2971800" indent="-228600" eaLnBrk="0" fontAlgn="base" hangingPunct="0">
              <a:spcBef>
                <a:spcPct val="20000"/>
              </a:spcBef>
              <a:spcAft>
                <a:spcPct val="0"/>
              </a:spcAft>
              <a:buChar char="»"/>
              <a:defRPr sz="1200">
                <a:solidFill>
                  <a:schemeClr val="tx1"/>
                </a:solidFill>
                <a:latin typeface="Helvetica" charset="0"/>
              </a:defRPr>
            </a:lvl7pPr>
            <a:lvl8pPr marL="3429000" indent="-228600" eaLnBrk="0" fontAlgn="base" hangingPunct="0">
              <a:spcBef>
                <a:spcPct val="20000"/>
              </a:spcBef>
              <a:spcAft>
                <a:spcPct val="0"/>
              </a:spcAft>
              <a:buChar char="»"/>
              <a:defRPr sz="1200">
                <a:solidFill>
                  <a:schemeClr val="tx1"/>
                </a:solidFill>
                <a:latin typeface="Helvetica" charset="0"/>
              </a:defRPr>
            </a:lvl8pPr>
            <a:lvl9pPr marL="3886200" indent="-228600" eaLnBrk="0" fontAlgn="base" hangingPunct="0">
              <a:spcBef>
                <a:spcPct val="20000"/>
              </a:spcBef>
              <a:spcAft>
                <a:spcPct val="0"/>
              </a:spcAft>
              <a:buChar char="»"/>
              <a:defRPr sz="1200">
                <a:solidFill>
                  <a:schemeClr val="tx1"/>
                </a:solidFill>
                <a:latin typeface="Helvetica" charset="0"/>
              </a:defRPr>
            </a:lvl9pPr>
          </a:lstStyle>
          <a:p>
            <a:pPr algn="ctr">
              <a:spcBef>
                <a:spcPct val="0"/>
              </a:spcBef>
              <a:buSzTx/>
              <a:buFontTx/>
              <a:buNone/>
              <a:defRPr/>
            </a:pPr>
            <a:endParaRPr lang="en-US" altLang="en-US"/>
          </a:p>
        </p:txBody>
      </p:sp>
      <p:sp>
        <p:nvSpPr>
          <p:cNvPr id="50179" name="Rectangle 2">
            <a:extLst>
              <a:ext uri="{FF2B5EF4-FFF2-40B4-BE49-F238E27FC236}">
                <a16:creationId xmlns:a16="http://schemas.microsoft.com/office/drawing/2014/main" id="{9CB8EE3A-6F79-4B38-AB0C-B7F97BD3FCEB}"/>
              </a:ext>
            </a:extLst>
          </p:cNvPr>
          <p:cNvSpPr>
            <a:spLocks noGrp="1" noChangeArrowheads="1"/>
          </p:cNvSpPr>
          <p:nvPr>
            <p:ph type="title"/>
          </p:nvPr>
        </p:nvSpPr>
        <p:spPr>
          <a:xfrm>
            <a:off x="1162050" y="495300"/>
            <a:ext cx="7112000" cy="457200"/>
          </a:xfrm>
        </p:spPr>
        <p:txBody>
          <a:bodyPr/>
          <a:lstStyle/>
          <a:p>
            <a:r>
              <a:rPr lang="en-US" altLang="en-US"/>
              <a:t>Deadlock Prevention</a:t>
            </a:r>
          </a:p>
        </p:txBody>
      </p:sp>
      <p:sp>
        <p:nvSpPr>
          <p:cNvPr id="103428" name="Rectangle 10">
            <a:extLst>
              <a:ext uri="{FF2B5EF4-FFF2-40B4-BE49-F238E27FC236}">
                <a16:creationId xmlns:a16="http://schemas.microsoft.com/office/drawing/2014/main" id="{B5386805-FB7B-4B43-AE9C-004D65798E7E}"/>
              </a:ext>
            </a:extLst>
          </p:cNvPr>
          <p:cNvSpPr>
            <a:spLocks noGrp="1" noChangeArrowheads="1"/>
          </p:cNvSpPr>
          <p:nvPr>
            <p:ph type="body" idx="1"/>
          </p:nvPr>
        </p:nvSpPr>
        <p:spPr>
          <a:xfrm>
            <a:off x="477838" y="1993900"/>
            <a:ext cx="8242300" cy="1884363"/>
          </a:xfrm>
        </p:spPr>
        <p:txBody>
          <a:bodyPr/>
          <a:lstStyle/>
          <a:p>
            <a:pPr lvl="4">
              <a:lnSpc>
                <a:spcPct val="80000"/>
              </a:lnSpc>
              <a:spcBef>
                <a:spcPct val="15000"/>
              </a:spcBef>
              <a:defRPr/>
            </a:pPr>
            <a:endParaRPr lang="en-US" altLang="en-US" sz="1200" dirty="0"/>
          </a:p>
          <a:p>
            <a:pPr>
              <a:lnSpc>
                <a:spcPct val="80000"/>
              </a:lnSpc>
              <a:spcBef>
                <a:spcPct val="15000"/>
              </a:spcBef>
              <a:defRPr/>
            </a:pPr>
            <a:r>
              <a:rPr lang="en-US" altLang="en-US" sz="2400" dirty="0"/>
              <a:t>Recall dining-philosopher solution using semaphores</a:t>
            </a:r>
          </a:p>
          <a:p>
            <a:pPr lvl="1">
              <a:lnSpc>
                <a:spcPct val="80000"/>
              </a:lnSpc>
              <a:spcBef>
                <a:spcPct val="15000"/>
              </a:spcBef>
              <a:defRPr/>
            </a:pPr>
            <a:r>
              <a:rPr lang="en-US" altLang="en-US" sz="2200" dirty="0"/>
              <a:t>Each chopstick is a shared resource protected by a binary semaphore (</a:t>
            </a:r>
            <a:r>
              <a:rPr lang="en-US" altLang="en-US" sz="2200" b="1" dirty="0">
                <a:solidFill>
                  <a:schemeClr val="accent1">
                    <a:lumMod val="75000"/>
                  </a:schemeClr>
                </a:solidFill>
              </a:rPr>
              <a:t>chopstick [ 5 ];</a:t>
            </a:r>
            <a:r>
              <a:rPr lang="en-US" altLang="en-US" sz="2200" dirty="0"/>
              <a:t>)</a:t>
            </a:r>
          </a:p>
          <a:p>
            <a:pPr lvl="1">
              <a:lnSpc>
                <a:spcPct val="80000"/>
              </a:lnSpc>
              <a:spcBef>
                <a:spcPct val="15000"/>
              </a:spcBef>
              <a:defRPr/>
            </a:pPr>
            <a:r>
              <a:rPr lang="en-US" altLang="en-US" sz="2200" dirty="0"/>
              <a:t>Initially, for all </a:t>
            </a:r>
            <a:r>
              <a:rPr lang="en-US" altLang="en-US" sz="2200" dirty="0" err="1"/>
              <a:t>i</a:t>
            </a:r>
            <a:r>
              <a:rPr lang="en-US" altLang="en-US" sz="2200" dirty="0"/>
              <a:t>, </a:t>
            </a:r>
            <a:r>
              <a:rPr lang="en-US" altLang="en-US" sz="2200" b="1" dirty="0">
                <a:solidFill>
                  <a:schemeClr val="accent1">
                    <a:lumMod val="75000"/>
                  </a:schemeClr>
                </a:solidFill>
              </a:rPr>
              <a:t>chopstick [ </a:t>
            </a:r>
            <a:r>
              <a:rPr lang="en-US" altLang="en-US" sz="2200" b="1" dirty="0" err="1">
                <a:solidFill>
                  <a:schemeClr val="accent1">
                    <a:lumMod val="75000"/>
                  </a:schemeClr>
                </a:solidFill>
              </a:rPr>
              <a:t>i</a:t>
            </a:r>
            <a:r>
              <a:rPr lang="en-US" altLang="en-US" sz="2200" b="1" dirty="0">
                <a:solidFill>
                  <a:schemeClr val="accent1">
                    <a:lumMod val="75000"/>
                  </a:schemeClr>
                </a:solidFill>
              </a:rPr>
              <a:t> ] = 1;</a:t>
            </a:r>
            <a:endParaRPr lang="en-US" altLang="en-US" sz="2200" dirty="0"/>
          </a:p>
          <a:p>
            <a:pPr lvl="1">
              <a:lnSpc>
                <a:spcPct val="80000"/>
              </a:lnSpc>
              <a:spcBef>
                <a:spcPct val="15000"/>
              </a:spcBef>
              <a:defRPr/>
            </a:pPr>
            <a:r>
              <a:rPr lang="en-US" altLang="en-US" sz="2200" dirty="0"/>
              <a:t>Code (Process Philosopher </a:t>
            </a:r>
            <a:r>
              <a:rPr lang="en-US" altLang="en-US" sz="2200" dirty="0" err="1"/>
              <a:t>i</a:t>
            </a:r>
            <a:r>
              <a:rPr lang="en-US" altLang="en-US" sz="2200" dirty="0"/>
              <a:t>)</a:t>
            </a:r>
          </a:p>
          <a:p>
            <a:pPr marL="0" indent="0">
              <a:lnSpc>
                <a:spcPct val="80000"/>
              </a:lnSpc>
              <a:buFontTx/>
              <a:buNone/>
              <a:tabLst>
                <a:tab pos="2005013" algn="l"/>
                <a:tab pos="2232025" algn="l"/>
                <a:tab pos="2459038" algn="l"/>
              </a:tabLst>
              <a:defRPr/>
            </a:pPr>
            <a:r>
              <a:rPr lang="en-US" altLang="en-US" sz="2400" b="1" dirty="0">
                <a:solidFill>
                  <a:srgbClr val="FF0000"/>
                </a:solidFill>
              </a:rPr>
              <a:t>	</a:t>
            </a:r>
            <a:r>
              <a:rPr lang="en-US" altLang="en-US" sz="2400" dirty="0"/>
              <a:t>				</a:t>
            </a:r>
            <a:r>
              <a:rPr lang="en-US" altLang="en-US" sz="2200" dirty="0"/>
              <a:t>while (1) {</a:t>
            </a:r>
          </a:p>
          <a:p>
            <a:pPr>
              <a:lnSpc>
                <a:spcPct val="80000"/>
              </a:lnSpc>
              <a:spcBef>
                <a:spcPct val="15000"/>
              </a:spcBef>
              <a:buFontTx/>
              <a:buNone/>
              <a:tabLst>
                <a:tab pos="2005013" algn="l"/>
                <a:tab pos="2232025" algn="l"/>
                <a:tab pos="2459038" algn="l"/>
              </a:tabLst>
              <a:defRPr/>
            </a:pPr>
            <a:r>
              <a:rPr lang="en-US" altLang="en-US" sz="2200" dirty="0"/>
              <a:t>						    </a:t>
            </a:r>
            <a:r>
              <a:rPr lang="en-US" altLang="en-US" sz="2200" b="1" i="1" dirty="0">
                <a:solidFill>
                  <a:schemeClr val="accent1">
                    <a:lumMod val="75000"/>
                  </a:schemeClr>
                </a:solidFill>
              </a:rPr>
              <a:t>wait</a:t>
            </a:r>
            <a:r>
              <a:rPr lang="en-US" altLang="en-US" sz="2200" b="1" dirty="0">
                <a:solidFill>
                  <a:schemeClr val="accent1">
                    <a:lumMod val="75000"/>
                  </a:schemeClr>
                </a:solidFill>
              </a:rPr>
              <a:t>(</a:t>
            </a:r>
            <a:r>
              <a:rPr lang="en-US" altLang="en-US" sz="2200" b="1" i="1" dirty="0">
                <a:solidFill>
                  <a:schemeClr val="accent1">
                    <a:lumMod val="75000"/>
                  </a:schemeClr>
                </a:solidFill>
              </a:rPr>
              <a:t>chopstick </a:t>
            </a:r>
            <a:r>
              <a:rPr lang="en-US" altLang="en-US" sz="2200" b="1" dirty="0">
                <a:solidFill>
                  <a:schemeClr val="accent1">
                    <a:lumMod val="75000"/>
                  </a:schemeClr>
                </a:solidFill>
              </a:rPr>
              <a:t>[ </a:t>
            </a:r>
            <a:r>
              <a:rPr lang="en-US" altLang="en-US" sz="2200" b="1" i="1" dirty="0" err="1">
                <a:solidFill>
                  <a:schemeClr val="accent1">
                    <a:lumMod val="75000"/>
                  </a:schemeClr>
                </a:solidFill>
              </a:rPr>
              <a:t>i</a:t>
            </a:r>
            <a:r>
              <a:rPr lang="en-US" altLang="en-US" sz="2200" b="1" i="1" dirty="0">
                <a:solidFill>
                  <a:schemeClr val="accent1">
                    <a:lumMod val="75000"/>
                  </a:schemeClr>
                </a:solidFill>
              </a:rPr>
              <a:t> </a:t>
            </a:r>
            <a:r>
              <a:rPr lang="en-US" altLang="en-US" sz="2200" b="1" dirty="0">
                <a:solidFill>
                  <a:schemeClr val="accent1">
                    <a:lumMod val="75000"/>
                  </a:schemeClr>
                </a:solidFill>
              </a:rPr>
              <a:t>]);</a:t>
            </a:r>
          </a:p>
          <a:p>
            <a:pPr>
              <a:lnSpc>
                <a:spcPct val="80000"/>
              </a:lnSpc>
              <a:spcBef>
                <a:spcPct val="15000"/>
              </a:spcBef>
              <a:buFontTx/>
              <a:buNone/>
              <a:tabLst>
                <a:tab pos="2005013" algn="l"/>
                <a:tab pos="2232025" algn="l"/>
                <a:tab pos="2459038" algn="l"/>
              </a:tabLst>
              <a:defRPr/>
            </a:pPr>
            <a:r>
              <a:rPr lang="en-US" altLang="en-US" sz="2200" b="1" dirty="0">
                <a:solidFill>
                  <a:schemeClr val="accent1">
                    <a:lumMod val="75000"/>
                  </a:schemeClr>
                </a:solidFill>
              </a:rPr>
              <a:t>						    </a:t>
            </a:r>
            <a:r>
              <a:rPr lang="en-US" altLang="en-US" sz="2200" b="1" i="1" dirty="0">
                <a:solidFill>
                  <a:schemeClr val="accent1">
                    <a:lumMod val="75000"/>
                  </a:schemeClr>
                </a:solidFill>
              </a:rPr>
              <a:t>wait</a:t>
            </a:r>
            <a:r>
              <a:rPr lang="en-US" altLang="en-US" sz="2200" b="1" dirty="0">
                <a:solidFill>
                  <a:schemeClr val="accent1">
                    <a:lumMod val="75000"/>
                  </a:schemeClr>
                </a:solidFill>
              </a:rPr>
              <a:t>(</a:t>
            </a:r>
            <a:r>
              <a:rPr lang="en-US" altLang="en-US" sz="2200" b="1" i="1" dirty="0">
                <a:solidFill>
                  <a:schemeClr val="accent1">
                    <a:lumMod val="75000"/>
                  </a:schemeClr>
                </a:solidFill>
              </a:rPr>
              <a:t>chopstick </a:t>
            </a:r>
            <a:r>
              <a:rPr lang="en-US" altLang="en-US" sz="2200" b="1" dirty="0">
                <a:solidFill>
                  <a:schemeClr val="accent1">
                    <a:lumMod val="75000"/>
                  </a:schemeClr>
                </a:solidFill>
              </a:rPr>
              <a:t>[ (</a:t>
            </a:r>
            <a:r>
              <a:rPr lang="en-US" altLang="en-US" sz="2200" b="1" i="1" dirty="0">
                <a:solidFill>
                  <a:schemeClr val="accent1">
                    <a:lumMod val="75000"/>
                  </a:schemeClr>
                </a:solidFill>
              </a:rPr>
              <a:t>i</a:t>
            </a:r>
            <a:r>
              <a:rPr lang="en-US" altLang="en-US" sz="2200" b="1" dirty="0">
                <a:solidFill>
                  <a:schemeClr val="accent1">
                    <a:lumMod val="75000"/>
                  </a:schemeClr>
                </a:solidFill>
              </a:rPr>
              <a:t>+1)%5 ]);</a:t>
            </a:r>
          </a:p>
          <a:p>
            <a:pPr>
              <a:lnSpc>
                <a:spcPct val="80000"/>
              </a:lnSpc>
              <a:spcBef>
                <a:spcPct val="15000"/>
              </a:spcBef>
              <a:buFontTx/>
              <a:buNone/>
              <a:tabLst>
                <a:tab pos="2005013" algn="l"/>
                <a:tab pos="2232025" algn="l"/>
                <a:tab pos="2459038" algn="l"/>
              </a:tabLst>
              <a:defRPr/>
            </a:pPr>
            <a:r>
              <a:rPr lang="en-US" altLang="en-US" sz="2200" dirty="0"/>
              <a:t>							eat</a:t>
            </a:r>
          </a:p>
          <a:p>
            <a:pPr>
              <a:lnSpc>
                <a:spcPct val="80000"/>
              </a:lnSpc>
              <a:spcBef>
                <a:spcPct val="15000"/>
              </a:spcBef>
              <a:buFontTx/>
              <a:buNone/>
              <a:tabLst>
                <a:tab pos="2005013" algn="l"/>
                <a:tab pos="2232025" algn="l"/>
                <a:tab pos="2459038" algn="l"/>
              </a:tabLst>
              <a:defRPr/>
            </a:pPr>
            <a:r>
              <a:rPr lang="en-US" altLang="en-US" sz="2200" dirty="0"/>
              <a:t>						    </a:t>
            </a:r>
            <a:r>
              <a:rPr lang="en-US" altLang="en-US" sz="2200" b="1" i="1" dirty="0">
                <a:solidFill>
                  <a:schemeClr val="accent1">
                    <a:lumMod val="75000"/>
                  </a:schemeClr>
                </a:solidFill>
              </a:rPr>
              <a:t>signal</a:t>
            </a:r>
            <a:r>
              <a:rPr lang="en-US" altLang="en-US" sz="2200" b="1" dirty="0">
                <a:solidFill>
                  <a:schemeClr val="accent1">
                    <a:lumMod val="75000"/>
                  </a:schemeClr>
                </a:solidFill>
              </a:rPr>
              <a:t>(</a:t>
            </a:r>
            <a:r>
              <a:rPr lang="en-US" altLang="en-US" sz="2200" b="1" i="1" dirty="0">
                <a:solidFill>
                  <a:schemeClr val="accent1">
                    <a:lumMod val="75000"/>
                  </a:schemeClr>
                </a:solidFill>
              </a:rPr>
              <a:t>chopstick </a:t>
            </a:r>
            <a:r>
              <a:rPr lang="en-US" altLang="en-US" sz="2200" b="1" dirty="0">
                <a:solidFill>
                  <a:schemeClr val="accent1">
                    <a:lumMod val="75000"/>
                  </a:schemeClr>
                </a:solidFill>
              </a:rPr>
              <a:t>[ </a:t>
            </a:r>
            <a:r>
              <a:rPr lang="en-US" altLang="en-US" sz="2200" b="1" i="1" dirty="0" err="1">
                <a:solidFill>
                  <a:schemeClr val="accent1">
                    <a:lumMod val="75000"/>
                  </a:schemeClr>
                </a:solidFill>
              </a:rPr>
              <a:t>i</a:t>
            </a:r>
            <a:r>
              <a:rPr lang="en-US" altLang="en-US" sz="2200" b="1" i="1" dirty="0">
                <a:solidFill>
                  <a:schemeClr val="accent1">
                    <a:lumMod val="75000"/>
                  </a:schemeClr>
                </a:solidFill>
              </a:rPr>
              <a:t> </a:t>
            </a:r>
            <a:r>
              <a:rPr lang="en-US" altLang="en-US" sz="2200" b="1" dirty="0">
                <a:solidFill>
                  <a:schemeClr val="accent1">
                    <a:lumMod val="75000"/>
                  </a:schemeClr>
                </a:solidFill>
              </a:rPr>
              <a:t>]);</a:t>
            </a:r>
          </a:p>
          <a:p>
            <a:pPr>
              <a:lnSpc>
                <a:spcPct val="80000"/>
              </a:lnSpc>
              <a:spcBef>
                <a:spcPct val="15000"/>
              </a:spcBef>
              <a:buFontTx/>
              <a:buNone/>
              <a:tabLst>
                <a:tab pos="2005013" algn="l"/>
                <a:tab pos="2232025" algn="l"/>
                <a:tab pos="2459038" algn="l"/>
              </a:tabLst>
              <a:defRPr/>
            </a:pPr>
            <a:r>
              <a:rPr lang="en-US" altLang="en-US" sz="2200" b="1" dirty="0">
                <a:solidFill>
                  <a:schemeClr val="accent1">
                    <a:lumMod val="75000"/>
                  </a:schemeClr>
                </a:solidFill>
              </a:rPr>
              <a:t>				   		    </a:t>
            </a:r>
            <a:r>
              <a:rPr lang="en-US" altLang="en-US" sz="2200" b="1" i="1" dirty="0">
                <a:solidFill>
                  <a:schemeClr val="accent1">
                    <a:lumMod val="75000"/>
                  </a:schemeClr>
                </a:solidFill>
              </a:rPr>
              <a:t>signal</a:t>
            </a:r>
            <a:r>
              <a:rPr lang="en-US" altLang="en-US" sz="2200" b="1" dirty="0">
                <a:solidFill>
                  <a:schemeClr val="accent1">
                    <a:lumMod val="75000"/>
                  </a:schemeClr>
                </a:solidFill>
              </a:rPr>
              <a:t>(</a:t>
            </a:r>
            <a:r>
              <a:rPr lang="en-US" altLang="en-US" sz="2200" b="1" i="1" dirty="0">
                <a:solidFill>
                  <a:schemeClr val="accent1">
                    <a:lumMod val="75000"/>
                  </a:schemeClr>
                </a:solidFill>
              </a:rPr>
              <a:t>chopstick </a:t>
            </a:r>
            <a:r>
              <a:rPr lang="en-US" altLang="en-US" sz="2200" b="1" dirty="0">
                <a:solidFill>
                  <a:schemeClr val="accent1">
                    <a:lumMod val="75000"/>
                  </a:schemeClr>
                </a:solidFill>
              </a:rPr>
              <a:t>[ (</a:t>
            </a:r>
            <a:r>
              <a:rPr lang="en-US" altLang="en-US" sz="2200" b="1" i="1" dirty="0">
                <a:solidFill>
                  <a:schemeClr val="accent1">
                    <a:lumMod val="75000"/>
                  </a:schemeClr>
                </a:solidFill>
              </a:rPr>
              <a:t>i</a:t>
            </a:r>
            <a:r>
              <a:rPr lang="en-US" altLang="en-US" sz="2200" b="1" dirty="0">
                <a:solidFill>
                  <a:schemeClr val="accent1">
                    <a:lumMod val="75000"/>
                  </a:schemeClr>
                </a:solidFill>
              </a:rPr>
              <a:t>+1)%5 ]);</a:t>
            </a:r>
          </a:p>
          <a:p>
            <a:pPr>
              <a:lnSpc>
                <a:spcPct val="80000"/>
              </a:lnSpc>
              <a:spcBef>
                <a:spcPct val="15000"/>
              </a:spcBef>
              <a:buFontTx/>
              <a:buNone/>
              <a:tabLst>
                <a:tab pos="2005013" algn="l"/>
                <a:tab pos="2232025" algn="l"/>
                <a:tab pos="2459038" algn="l"/>
              </a:tabLst>
              <a:defRPr/>
            </a:pPr>
            <a:r>
              <a:rPr lang="en-US" altLang="en-US" sz="2200" dirty="0"/>
              <a:t>							think</a:t>
            </a:r>
          </a:p>
          <a:p>
            <a:pPr>
              <a:lnSpc>
                <a:spcPct val="80000"/>
              </a:lnSpc>
              <a:spcBef>
                <a:spcPct val="15000"/>
              </a:spcBef>
              <a:buFontTx/>
              <a:buNone/>
              <a:tabLst>
                <a:tab pos="2005013" algn="l"/>
                <a:tab pos="2232025" algn="l"/>
                <a:tab pos="2459038" algn="l"/>
              </a:tabLst>
              <a:defRPr/>
            </a:pPr>
            <a:r>
              <a:rPr lang="en-US" altLang="en-US" sz="2200" dirty="0"/>
              <a:t>		   			}</a:t>
            </a:r>
          </a:p>
          <a:p>
            <a:pPr>
              <a:spcBef>
                <a:spcPct val="15000"/>
              </a:spcBef>
              <a:buFontTx/>
              <a:buNone/>
              <a:tabLst>
                <a:tab pos="2005013" algn="l"/>
                <a:tab pos="2232025" algn="l"/>
                <a:tab pos="2459038" algn="l"/>
              </a:tabLst>
              <a:defRPr/>
            </a:pPr>
            <a:endParaRPr lang="en-US" altLang="en-US" sz="2400" dirty="0"/>
          </a:p>
        </p:txBody>
      </p:sp>
      <p:sp>
        <p:nvSpPr>
          <p:cNvPr id="50181" name="Text Box 4">
            <a:extLst>
              <a:ext uri="{FF2B5EF4-FFF2-40B4-BE49-F238E27FC236}">
                <a16:creationId xmlns:a16="http://schemas.microsoft.com/office/drawing/2014/main" id="{475512CD-F48D-4DFF-9EBE-17366D2C3DE0}"/>
              </a:ext>
            </a:extLst>
          </p:cNvPr>
          <p:cNvSpPr txBox="1">
            <a:spLocks noChangeArrowheads="1"/>
          </p:cNvSpPr>
          <p:nvPr/>
        </p:nvSpPr>
        <p:spPr bwMode="auto">
          <a:xfrm>
            <a:off x="744538" y="1076325"/>
            <a:ext cx="771525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buSzTx/>
              <a:buFontTx/>
              <a:buNone/>
            </a:pPr>
            <a:r>
              <a:rPr lang="en-US" altLang="en-US" sz="2600">
                <a:solidFill>
                  <a:srgbClr val="FF0000"/>
                </a:solidFill>
              </a:rPr>
              <a:t>Prevent at least one of the four deadlock conditions </a:t>
            </a:r>
            <a:r>
              <a:rPr lang="en-US" altLang="en-US" sz="2400">
                <a:solidFill>
                  <a:schemeClr val="accent2"/>
                </a:solidFill>
              </a:rPr>
              <a:t>We will illustrate using Dining-Philosophers Problem</a:t>
            </a:r>
          </a:p>
        </p:txBody>
      </p:sp>
      <p:pic>
        <p:nvPicPr>
          <p:cNvPr id="7" name="Picture 1030">
            <a:extLst>
              <a:ext uri="{FF2B5EF4-FFF2-40B4-BE49-F238E27FC236}">
                <a16:creationId xmlns:a16="http://schemas.microsoft.com/office/drawing/2014/main" id="{2946A158-7164-4003-8E52-0BCC2D011F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184" t="1529" r="9151" b="710"/>
          <a:stretch>
            <a:fillRect/>
          </a:stretch>
        </p:blipFill>
        <p:spPr bwMode="auto">
          <a:xfrm>
            <a:off x="463550" y="3879850"/>
            <a:ext cx="2743200" cy="236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342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42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428">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428">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3428">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428">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3428">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3428">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3428">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3428">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3428">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3428">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Footer Placeholder 3">
            <a:extLst>
              <a:ext uri="{FF2B5EF4-FFF2-40B4-BE49-F238E27FC236}">
                <a16:creationId xmlns:a16="http://schemas.microsoft.com/office/drawing/2014/main" id="{A57F1BB7-0F0F-4C9B-91D9-95B87DD2985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52226" name="Rectangle 2">
            <a:extLst>
              <a:ext uri="{FF2B5EF4-FFF2-40B4-BE49-F238E27FC236}">
                <a16:creationId xmlns:a16="http://schemas.microsoft.com/office/drawing/2014/main" id="{90AA1258-F607-4174-A51C-25CD9E886920}"/>
              </a:ext>
            </a:extLst>
          </p:cNvPr>
          <p:cNvSpPr>
            <a:spLocks noGrp="1" noChangeArrowheads="1"/>
          </p:cNvSpPr>
          <p:nvPr>
            <p:ph type="title"/>
          </p:nvPr>
        </p:nvSpPr>
        <p:spPr/>
        <p:txBody>
          <a:bodyPr/>
          <a:lstStyle/>
          <a:p>
            <a:r>
              <a:rPr lang="en-US" altLang="en-US"/>
              <a:t>Deadlock Prevention (Cont.)</a:t>
            </a:r>
          </a:p>
        </p:txBody>
      </p:sp>
      <p:sp>
        <p:nvSpPr>
          <p:cNvPr id="15364" name="Rectangle 3">
            <a:extLst>
              <a:ext uri="{FF2B5EF4-FFF2-40B4-BE49-F238E27FC236}">
                <a16:creationId xmlns:a16="http://schemas.microsoft.com/office/drawing/2014/main" id="{D4160FD3-43EC-4FFD-A133-6AD096C5A60C}"/>
              </a:ext>
            </a:extLst>
          </p:cNvPr>
          <p:cNvSpPr>
            <a:spLocks noGrp="1" noChangeArrowheads="1"/>
          </p:cNvSpPr>
          <p:nvPr>
            <p:ph type="body" idx="1"/>
          </p:nvPr>
        </p:nvSpPr>
        <p:spPr>
          <a:xfrm>
            <a:off x="549275" y="2152650"/>
            <a:ext cx="8283575" cy="4203700"/>
          </a:xfrm>
        </p:spPr>
        <p:txBody>
          <a:bodyPr/>
          <a:lstStyle/>
          <a:p>
            <a:pPr marL="457200" indent="-457200">
              <a:spcBef>
                <a:spcPts val="600"/>
              </a:spcBef>
              <a:buFont typeface="Helvetica" panose="020B0604020202020204" pitchFamily="34" charset="0"/>
              <a:buAutoNum type="arabicPeriod"/>
            </a:pPr>
            <a:r>
              <a:rPr lang="en-US" altLang="en-US" sz="2400">
                <a:solidFill>
                  <a:srgbClr val="FF0000"/>
                </a:solidFill>
              </a:rPr>
              <a:t>Mutual Exclusion</a:t>
            </a:r>
            <a:endParaRPr lang="en-US" altLang="en-US" sz="2400"/>
          </a:p>
          <a:p>
            <a:pPr lvl="1">
              <a:spcBef>
                <a:spcPts val="600"/>
              </a:spcBef>
            </a:pPr>
            <a:r>
              <a:rPr lang="en-US" altLang="en-US" sz="2200"/>
              <a:t>Chopsticks are not shareable (simultaneously), hence this condition cannot be eliminated</a:t>
            </a:r>
          </a:p>
          <a:p>
            <a:pPr lvl="4">
              <a:spcBef>
                <a:spcPts val="600"/>
              </a:spcBef>
            </a:pPr>
            <a:endParaRPr lang="en-US" altLang="en-US" sz="2200" u="sng"/>
          </a:p>
          <a:p>
            <a:pPr marL="457200" indent="-457200">
              <a:spcBef>
                <a:spcPts val="600"/>
              </a:spcBef>
              <a:buFont typeface="Helvetica" panose="020B0604020202020204" pitchFamily="34" charset="0"/>
              <a:buAutoNum type="arabicPeriod"/>
            </a:pPr>
            <a:r>
              <a:rPr lang="en-US" altLang="en-US" sz="2400">
                <a:solidFill>
                  <a:srgbClr val="FF0000"/>
                </a:solidFill>
              </a:rPr>
              <a:t>Hold and Wait: </a:t>
            </a:r>
            <a:r>
              <a:rPr lang="en-US" altLang="en-US" sz="2400"/>
              <a:t>Must guarantee that whenever a process requests a resource, it does not hold any other resource</a:t>
            </a:r>
          </a:p>
          <a:p>
            <a:pPr lvl="1">
              <a:spcBef>
                <a:spcPts val="600"/>
              </a:spcBef>
            </a:pPr>
            <a:r>
              <a:rPr lang="en-US" altLang="en-US" sz="2200"/>
              <a:t>Allow a philosopher to pick up chopsticks only if both the required chopsticks are available</a:t>
            </a:r>
          </a:p>
        </p:txBody>
      </p:sp>
      <p:sp>
        <p:nvSpPr>
          <p:cNvPr id="52228" name="Text Box 4">
            <a:extLst>
              <a:ext uri="{FF2B5EF4-FFF2-40B4-BE49-F238E27FC236}">
                <a16:creationId xmlns:a16="http://schemas.microsoft.com/office/drawing/2014/main" id="{1930407D-057C-44BD-8A19-D2E1AEF41890}"/>
              </a:ext>
            </a:extLst>
          </p:cNvPr>
          <p:cNvSpPr txBox="1">
            <a:spLocks noChangeArrowheads="1"/>
          </p:cNvSpPr>
          <p:nvPr/>
        </p:nvSpPr>
        <p:spPr bwMode="auto">
          <a:xfrm>
            <a:off x="744538" y="1076325"/>
            <a:ext cx="771525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buSzTx/>
              <a:buFontTx/>
              <a:buNone/>
            </a:pPr>
            <a:r>
              <a:rPr lang="en-US" altLang="en-US" sz="2600">
                <a:solidFill>
                  <a:srgbClr val="FF0000"/>
                </a:solidFill>
              </a:rPr>
              <a:t>Prevent at least one of the four deadlock conditions </a:t>
            </a:r>
            <a:r>
              <a:rPr lang="en-US" altLang="en-US" sz="2400">
                <a:solidFill>
                  <a:schemeClr val="accent2"/>
                </a:solidFill>
              </a:rPr>
              <a:t>We will illustrate using Dining-Philosophers Problem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Footer Placeholder 3">
            <a:extLst>
              <a:ext uri="{FF2B5EF4-FFF2-40B4-BE49-F238E27FC236}">
                <a16:creationId xmlns:a16="http://schemas.microsoft.com/office/drawing/2014/main" id="{E9FC0C93-840B-44C6-B6F0-884AA1B7489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54274" name="Rectangle 2">
            <a:extLst>
              <a:ext uri="{FF2B5EF4-FFF2-40B4-BE49-F238E27FC236}">
                <a16:creationId xmlns:a16="http://schemas.microsoft.com/office/drawing/2014/main" id="{30C59D45-FA5C-4B47-B22A-181912F577CF}"/>
              </a:ext>
            </a:extLst>
          </p:cNvPr>
          <p:cNvSpPr>
            <a:spLocks noGrp="1" noChangeArrowheads="1"/>
          </p:cNvSpPr>
          <p:nvPr>
            <p:ph type="title"/>
          </p:nvPr>
        </p:nvSpPr>
        <p:spPr/>
        <p:txBody>
          <a:bodyPr/>
          <a:lstStyle/>
          <a:p>
            <a:r>
              <a:rPr lang="en-US" altLang="en-US"/>
              <a:t>Deadlock Prevention (Cont.)</a:t>
            </a:r>
          </a:p>
        </p:txBody>
      </p:sp>
      <p:sp>
        <p:nvSpPr>
          <p:cNvPr id="16388" name="Rectangle 3">
            <a:extLst>
              <a:ext uri="{FF2B5EF4-FFF2-40B4-BE49-F238E27FC236}">
                <a16:creationId xmlns:a16="http://schemas.microsoft.com/office/drawing/2014/main" id="{7F84D6A7-9734-49B6-85C1-4AE21196C322}"/>
              </a:ext>
            </a:extLst>
          </p:cNvPr>
          <p:cNvSpPr>
            <a:spLocks noGrp="1" noChangeArrowheads="1"/>
          </p:cNvSpPr>
          <p:nvPr>
            <p:ph type="body" idx="1"/>
          </p:nvPr>
        </p:nvSpPr>
        <p:spPr>
          <a:xfrm>
            <a:off x="549275" y="2062163"/>
            <a:ext cx="8054975" cy="4203700"/>
          </a:xfrm>
        </p:spPr>
        <p:txBody>
          <a:bodyPr/>
          <a:lstStyle/>
          <a:p>
            <a:pPr marL="457200" indent="-457200">
              <a:spcBef>
                <a:spcPts val="600"/>
              </a:spcBef>
              <a:buFont typeface="+mj-lt"/>
              <a:buAutoNum type="arabicPeriod" startAt="3"/>
              <a:defRPr/>
            </a:pPr>
            <a:r>
              <a:rPr lang="en-US" altLang="en-US" sz="2400" dirty="0">
                <a:solidFill>
                  <a:srgbClr val="FF0000"/>
                </a:solidFill>
              </a:rPr>
              <a:t>No Preemption</a:t>
            </a:r>
            <a:r>
              <a:rPr lang="en-US" altLang="en-US" sz="2400" dirty="0"/>
              <a:t> </a:t>
            </a:r>
          </a:p>
          <a:p>
            <a:pPr lvl="1" indent="-307975">
              <a:spcBef>
                <a:spcPts val="600"/>
              </a:spcBef>
              <a:defRPr/>
            </a:pPr>
            <a:r>
              <a:rPr lang="en-US" altLang="en-US" sz="2200" dirty="0">
                <a:solidFill>
                  <a:srgbClr val="000000"/>
                </a:solidFill>
              </a:rPr>
              <a:t>I</a:t>
            </a:r>
            <a:r>
              <a:rPr lang="en-US" altLang="en-US" sz="2200" dirty="0"/>
              <a:t>f a philosopher cannot get the second chopstick, then preempt and release the chopstick that is being held</a:t>
            </a:r>
          </a:p>
          <a:p>
            <a:pPr lvl="4">
              <a:spcBef>
                <a:spcPts val="600"/>
              </a:spcBef>
              <a:defRPr/>
            </a:pPr>
            <a:endParaRPr lang="en-US" altLang="en-US" sz="2200" dirty="0"/>
          </a:p>
          <a:p>
            <a:pPr marL="457200" indent="-457200">
              <a:spcBef>
                <a:spcPts val="600"/>
              </a:spcBef>
              <a:buFont typeface="+mj-lt"/>
              <a:buAutoNum type="arabicPeriod" startAt="3"/>
              <a:defRPr/>
            </a:pPr>
            <a:r>
              <a:rPr lang="en-US" altLang="en-US" sz="2400" dirty="0">
                <a:solidFill>
                  <a:srgbClr val="FF0000"/>
                </a:solidFill>
              </a:rPr>
              <a:t>Circular Wait</a:t>
            </a:r>
          </a:p>
          <a:p>
            <a:pPr marL="914400" lvl="1" indent="-457200">
              <a:spcBef>
                <a:spcPts val="600"/>
              </a:spcBef>
              <a:buFont typeface="+mj-lt"/>
              <a:buAutoNum type="arabicPeriod"/>
              <a:defRPr/>
            </a:pPr>
            <a:r>
              <a:rPr lang="en-US" altLang="en-US" sz="2200" dirty="0"/>
              <a:t>Allow at most </a:t>
            </a:r>
            <a:r>
              <a:rPr lang="en-US" altLang="en-US" sz="2200" b="1" dirty="0"/>
              <a:t>four</a:t>
            </a:r>
            <a:r>
              <a:rPr lang="en-US" altLang="en-US" sz="2200" dirty="0"/>
              <a:t> philosophers to be hungry simultaneously</a:t>
            </a:r>
          </a:p>
          <a:p>
            <a:pPr marL="914400" lvl="1" indent="-457200">
              <a:spcBef>
                <a:spcPts val="600"/>
              </a:spcBef>
              <a:buFont typeface="+mj-lt"/>
              <a:buAutoNum type="arabicPeriod"/>
              <a:defRPr/>
            </a:pPr>
            <a:r>
              <a:rPr lang="en-US" altLang="en-US" sz="2200" dirty="0"/>
              <a:t>Odd-Even solution (see previous lecture)</a:t>
            </a:r>
          </a:p>
          <a:p>
            <a:pPr marL="914400" lvl="1" indent="-457200">
              <a:spcBef>
                <a:spcPts val="600"/>
              </a:spcBef>
              <a:buFont typeface="+mj-lt"/>
              <a:buAutoNum type="arabicPeriod"/>
              <a:defRPr/>
            </a:pPr>
            <a:r>
              <a:rPr lang="en-US" altLang="en-US" sz="2200" dirty="0"/>
              <a:t>Chopsticks can only be acquired in order (next slide)</a:t>
            </a:r>
          </a:p>
          <a:p>
            <a:pPr lvl="1">
              <a:spcBef>
                <a:spcPts val="600"/>
              </a:spcBef>
              <a:defRPr/>
            </a:pPr>
            <a:endParaRPr lang="en-US" altLang="en-US" sz="2400" dirty="0"/>
          </a:p>
          <a:p>
            <a:pPr lvl="1">
              <a:spcBef>
                <a:spcPts val="600"/>
              </a:spcBef>
              <a:defRPr/>
            </a:pPr>
            <a:endParaRPr lang="en-US" altLang="en-US" sz="2400" dirty="0"/>
          </a:p>
          <a:p>
            <a:pPr>
              <a:defRPr/>
            </a:pPr>
            <a:endParaRPr lang="en-US" altLang="en-US" sz="2600" dirty="0"/>
          </a:p>
        </p:txBody>
      </p:sp>
      <p:sp>
        <p:nvSpPr>
          <p:cNvPr id="54276" name="Text Box 4">
            <a:extLst>
              <a:ext uri="{FF2B5EF4-FFF2-40B4-BE49-F238E27FC236}">
                <a16:creationId xmlns:a16="http://schemas.microsoft.com/office/drawing/2014/main" id="{45E11D9D-45EF-4A75-B3A4-199940C2A2F0}"/>
              </a:ext>
            </a:extLst>
          </p:cNvPr>
          <p:cNvSpPr txBox="1">
            <a:spLocks noChangeArrowheads="1"/>
          </p:cNvSpPr>
          <p:nvPr/>
        </p:nvSpPr>
        <p:spPr bwMode="auto">
          <a:xfrm>
            <a:off x="744538" y="1076325"/>
            <a:ext cx="771525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buSzTx/>
              <a:buFontTx/>
              <a:buNone/>
            </a:pPr>
            <a:r>
              <a:rPr lang="en-US" altLang="en-US" sz="2600">
                <a:solidFill>
                  <a:srgbClr val="FF0000"/>
                </a:solidFill>
              </a:rPr>
              <a:t>Prevent at least one of the four deadlock conditions </a:t>
            </a:r>
            <a:r>
              <a:rPr lang="en-US" altLang="en-US" sz="2400">
                <a:solidFill>
                  <a:schemeClr val="accent2"/>
                </a:solidFill>
              </a:rPr>
              <a:t>We will illustrate using Dining-Philosophers Problem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8">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53107D72-F8A4-496D-A40D-0782B979B098}"/>
              </a:ext>
            </a:extLst>
          </p:cNvPr>
          <p:cNvSpPr>
            <a:spLocks noGrp="1" noChangeArrowheads="1"/>
          </p:cNvSpPr>
          <p:nvPr>
            <p:ph type="title"/>
          </p:nvPr>
        </p:nvSpPr>
        <p:spPr>
          <a:xfrm>
            <a:off x="735013" y="495300"/>
            <a:ext cx="7713662" cy="457200"/>
          </a:xfrm>
        </p:spPr>
        <p:txBody>
          <a:bodyPr/>
          <a:lstStyle/>
          <a:p>
            <a:r>
              <a:rPr lang="en-US" altLang="en-US"/>
              <a:t>Chopstick Ordering to Prevent Circular Wait</a:t>
            </a:r>
          </a:p>
        </p:txBody>
      </p:sp>
      <p:sp>
        <p:nvSpPr>
          <p:cNvPr id="56322" name="Footer Placeholder 3">
            <a:extLst>
              <a:ext uri="{FF2B5EF4-FFF2-40B4-BE49-F238E27FC236}">
                <a16:creationId xmlns:a16="http://schemas.microsoft.com/office/drawing/2014/main" id="{AD1202C2-765C-41FD-9BB9-002B745B047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pic>
        <p:nvPicPr>
          <p:cNvPr id="56323" name="Picture 1030">
            <a:extLst>
              <a:ext uri="{FF2B5EF4-FFF2-40B4-BE49-F238E27FC236}">
                <a16:creationId xmlns:a16="http://schemas.microsoft.com/office/drawing/2014/main" id="{504BE4C1-0912-4ED1-AE0C-B9636A5566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184" t="1529" r="9151" b="710"/>
          <a:stretch>
            <a:fillRect/>
          </a:stretch>
        </p:blipFill>
        <p:spPr bwMode="auto">
          <a:xfrm>
            <a:off x="1992313" y="1660525"/>
            <a:ext cx="4883150" cy="420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TextBox 5">
            <a:extLst>
              <a:ext uri="{FF2B5EF4-FFF2-40B4-BE49-F238E27FC236}">
                <a16:creationId xmlns:a16="http://schemas.microsoft.com/office/drawing/2014/main" id="{74D1BF96-E8C1-4E68-8F9A-E484607C78D1}"/>
              </a:ext>
            </a:extLst>
          </p:cNvPr>
          <p:cNvSpPr txBox="1">
            <a:spLocks noChangeArrowheads="1"/>
          </p:cNvSpPr>
          <p:nvPr/>
        </p:nvSpPr>
        <p:spPr bwMode="auto">
          <a:xfrm>
            <a:off x="2919413" y="3122613"/>
            <a:ext cx="355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b="1">
                <a:solidFill>
                  <a:srgbClr val="FF0000"/>
                </a:solidFill>
              </a:rPr>
              <a:t>1</a:t>
            </a:r>
          </a:p>
        </p:txBody>
      </p:sp>
      <p:sp>
        <p:nvSpPr>
          <p:cNvPr id="17414" name="TextBox 6">
            <a:extLst>
              <a:ext uri="{FF2B5EF4-FFF2-40B4-BE49-F238E27FC236}">
                <a16:creationId xmlns:a16="http://schemas.microsoft.com/office/drawing/2014/main" id="{EB6D0FA6-9A12-4FC6-B516-8E006A7A4018}"/>
              </a:ext>
            </a:extLst>
          </p:cNvPr>
          <p:cNvSpPr txBox="1">
            <a:spLocks noChangeArrowheads="1"/>
          </p:cNvSpPr>
          <p:nvPr/>
        </p:nvSpPr>
        <p:spPr bwMode="auto">
          <a:xfrm>
            <a:off x="4386263" y="2255838"/>
            <a:ext cx="3571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b="1">
                <a:solidFill>
                  <a:srgbClr val="FF0000"/>
                </a:solidFill>
              </a:rPr>
              <a:t>2</a:t>
            </a:r>
          </a:p>
        </p:txBody>
      </p:sp>
      <p:sp>
        <p:nvSpPr>
          <p:cNvPr id="17415" name="TextBox 7">
            <a:extLst>
              <a:ext uri="{FF2B5EF4-FFF2-40B4-BE49-F238E27FC236}">
                <a16:creationId xmlns:a16="http://schemas.microsoft.com/office/drawing/2014/main" id="{2EF12B49-8406-4B58-81F4-8AA34AAE9E11}"/>
              </a:ext>
            </a:extLst>
          </p:cNvPr>
          <p:cNvSpPr txBox="1">
            <a:spLocks noChangeArrowheads="1"/>
          </p:cNvSpPr>
          <p:nvPr/>
        </p:nvSpPr>
        <p:spPr bwMode="auto">
          <a:xfrm>
            <a:off x="5619750" y="3133725"/>
            <a:ext cx="355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b="1">
                <a:solidFill>
                  <a:srgbClr val="FF0000"/>
                </a:solidFill>
              </a:rPr>
              <a:t>3</a:t>
            </a:r>
          </a:p>
        </p:txBody>
      </p:sp>
      <p:sp>
        <p:nvSpPr>
          <p:cNvPr id="17416" name="TextBox 8">
            <a:extLst>
              <a:ext uri="{FF2B5EF4-FFF2-40B4-BE49-F238E27FC236}">
                <a16:creationId xmlns:a16="http://schemas.microsoft.com/office/drawing/2014/main" id="{1C64411D-F568-4BC5-9722-74BF307FE39C}"/>
              </a:ext>
            </a:extLst>
          </p:cNvPr>
          <p:cNvSpPr txBox="1">
            <a:spLocks noChangeArrowheads="1"/>
          </p:cNvSpPr>
          <p:nvPr/>
        </p:nvSpPr>
        <p:spPr bwMode="auto">
          <a:xfrm>
            <a:off x="4940300" y="4413250"/>
            <a:ext cx="357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b="1">
                <a:solidFill>
                  <a:srgbClr val="FF0000"/>
                </a:solidFill>
              </a:rPr>
              <a:t>4</a:t>
            </a:r>
          </a:p>
        </p:txBody>
      </p:sp>
      <p:sp>
        <p:nvSpPr>
          <p:cNvPr id="17417" name="TextBox 9">
            <a:extLst>
              <a:ext uri="{FF2B5EF4-FFF2-40B4-BE49-F238E27FC236}">
                <a16:creationId xmlns:a16="http://schemas.microsoft.com/office/drawing/2014/main" id="{865E926A-3816-4D18-AC4A-C458EDB79D43}"/>
              </a:ext>
            </a:extLst>
          </p:cNvPr>
          <p:cNvSpPr txBox="1">
            <a:spLocks noChangeArrowheads="1"/>
          </p:cNvSpPr>
          <p:nvPr/>
        </p:nvSpPr>
        <p:spPr bwMode="auto">
          <a:xfrm>
            <a:off x="3575050" y="4441825"/>
            <a:ext cx="357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b="1">
                <a:solidFill>
                  <a:srgbClr val="FF0000"/>
                </a:solidFill>
              </a:rPr>
              <a:t>0</a:t>
            </a:r>
          </a:p>
        </p:txBody>
      </p:sp>
      <p:cxnSp>
        <p:nvCxnSpPr>
          <p:cNvPr id="12" name="Straight Arrow Connector 11">
            <a:extLst>
              <a:ext uri="{FF2B5EF4-FFF2-40B4-BE49-F238E27FC236}">
                <a16:creationId xmlns:a16="http://schemas.microsoft.com/office/drawing/2014/main" id="{416C3F38-6A7E-4894-A843-7BC580296A42}"/>
              </a:ext>
            </a:extLst>
          </p:cNvPr>
          <p:cNvCxnSpPr/>
          <p:nvPr/>
        </p:nvCxnSpPr>
        <p:spPr bwMode="auto">
          <a:xfrm>
            <a:off x="2613025" y="4240213"/>
            <a:ext cx="962025" cy="404812"/>
          </a:xfrm>
          <a:prstGeom prst="straightConnector1">
            <a:avLst/>
          </a:prstGeom>
          <a:solidFill>
            <a:schemeClr val="bg1"/>
          </a:solidFill>
          <a:ln w="38100" cap="flat" cmpd="sng" algn="ctr">
            <a:solidFill>
              <a:schemeClr val="tx1">
                <a:lumMod val="95000"/>
                <a:lumOff val="5000"/>
              </a:schemeClr>
            </a:solidFill>
            <a:prstDash val="solid"/>
            <a:round/>
            <a:headEnd type="none" w="med" len="med"/>
            <a:tailEnd type="arrow"/>
          </a:ln>
          <a:effectLst/>
        </p:spPr>
      </p:cxnSp>
      <p:cxnSp>
        <p:nvCxnSpPr>
          <p:cNvPr id="17419" name="Straight Arrow Connector 13">
            <a:extLst>
              <a:ext uri="{FF2B5EF4-FFF2-40B4-BE49-F238E27FC236}">
                <a16:creationId xmlns:a16="http://schemas.microsoft.com/office/drawing/2014/main" id="{9C34549A-1C90-4DBB-9C22-F05ABF7F70A9}"/>
              </a:ext>
            </a:extLst>
          </p:cNvPr>
          <p:cNvCxnSpPr>
            <a:cxnSpLocks noChangeShapeType="1"/>
            <a:endCxn id="17413" idx="1"/>
          </p:cNvCxnSpPr>
          <p:nvPr/>
        </p:nvCxnSpPr>
        <p:spPr bwMode="auto">
          <a:xfrm flipV="1">
            <a:off x="2613025" y="3354388"/>
            <a:ext cx="306388" cy="885825"/>
          </a:xfrm>
          <a:prstGeom prst="straightConnector1">
            <a:avLst/>
          </a:prstGeom>
          <a:noFill/>
          <a:ln w="38100">
            <a:solidFill>
              <a:srgbClr val="FFFF00"/>
            </a:solidFill>
            <a:round/>
            <a:headEnd/>
            <a:tailEnd type="arrow" w="med" len="med"/>
          </a:ln>
          <a:extLst>
            <a:ext uri="{909E8E84-426E-40DD-AFC4-6F175D3DCCD1}">
              <a14:hiddenFill xmlns:a14="http://schemas.microsoft.com/office/drawing/2010/main">
                <a:noFill/>
              </a14:hiddenFill>
            </a:ext>
          </a:extLst>
        </p:spPr>
      </p:cxnSp>
      <p:cxnSp>
        <p:nvCxnSpPr>
          <p:cNvPr id="17" name="Straight Arrow Connector 16">
            <a:extLst>
              <a:ext uri="{FF2B5EF4-FFF2-40B4-BE49-F238E27FC236}">
                <a16:creationId xmlns:a16="http://schemas.microsoft.com/office/drawing/2014/main" id="{7F74851C-1537-4528-A2BA-EA4815F16E04}"/>
              </a:ext>
            </a:extLst>
          </p:cNvPr>
          <p:cNvCxnSpPr>
            <a:endCxn id="17413" idx="0"/>
          </p:cNvCxnSpPr>
          <p:nvPr/>
        </p:nvCxnSpPr>
        <p:spPr bwMode="auto">
          <a:xfrm flipH="1">
            <a:off x="3097213" y="2255838"/>
            <a:ext cx="177800" cy="866775"/>
          </a:xfrm>
          <a:prstGeom prst="straightConnector1">
            <a:avLst/>
          </a:prstGeom>
          <a:solidFill>
            <a:schemeClr val="bg1"/>
          </a:solidFill>
          <a:ln w="38100" cap="flat" cmpd="sng" algn="ctr">
            <a:solidFill>
              <a:schemeClr val="tx1">
                <a:lumMod val="95000"/>
                <a:lumOff val="5000"/>
              </a:schemeClr>
            </a:solidFill>
            <a:prstDash val="solid"/>
            <a:round/>
            <a:headEnd type="none" w="med" len="med"/>
            <a:tailEnd type="arrow"/>
          </a:ln>
          <a:effectLst/>
        </p:spPr>
      </p:cxnSp>
      <p:cxnSp>
        <p:nvCxnSpPr>
          <p:cNvPr id="17421" name="Straight Arrow Connector 17">
            <a:extLst>
              <a:ext uri="{FF2B5EF4-FFF2-40B4-BE49-F238E27FC236}">
                <a16:creationId xmlns:a16="http://schemas.microsoft.com/office/drawing/2014/main" id="{812B984F-A82B-4381-8A99-1C5F14575488}"/>
              </a:ext>
            </a:extLst>
          </p:cNvPr>
          <p:cNvCxnSpPr>
            <a:cxnSpLocks noChangeShapeType="1"/>
            <a:endCxn id="17414" idx="1"/>
          </p:cNvCxnSpPr>
          <p:nvPr/>
        </p:nvCxnSpPr>
        <p:spPr bwMode="auto">
          <a:xfrm>
            <a:off x="3275013" y="2255838"/>
            <a:ext cx="1111250" cy="231775"/>
          </a:xfrm>
          <a:prstGeom prst="straightConnector1">
            <a:avLst/>
          </a:prstGeom>
          <a:noFill/>
          <a:ln w="38100">
            <a:solidFill>
              <a:srgbClr val="FFFF00"/>
            </a:solidFill>
            <a:round/>
            <a:headEnd/>
            <a:tailEnd type="arrow" w="med" len="med"/>
          </a:ln>
          <a:extLst>
            <a:ext uri="{909E8E84-426E-40DD-AFC4-6F175D3DCCD1}">
              <a14:hiddenFill xmlns:a14="http://schemas.microsoft.com/office/drawing/2010/main">
                <a:noFill/>
              </a14:hiddenFill>
            </a:ext>
          </a:extLst>
        </p:spPr>
      </p:cxnSp>
      <p:cxnSp>
        <p:nvCxnSpPr>
          <p:cNvPr id="22" name="Straight Arrow Connector 21">
            <a:extLst>
              <a:ext uri="{FF2B5EF4-FFF2-40B4-BE49-F238E27FC236}">
                <a16:creationId xmlns:a16="http://schemas.microsoft.com/office/drawing/2014/main" id="{90914598-B6E0-4397-878F-C5A377A9EC5C}"/>
              </a:ext>
            </a:extLst>
          </p:cNvPr>
          <p:cNvCxnSpPr>
            <a:endCxn id="17414" idx="3"/>
          </p:cNvCxnSpPr>
          <p:nvPr/>
        </p:nvCxnSpPr>
        <p:spPr bwMode="auto">
          <a:xfrm flipH="1">
            <a:off x="4743450" y="2255838"/>
            <a:ext cx="901700" cy="231775"/>
          </a:xfrm>
          <a:prstGeom prst="straightConnector1">
            <a:avLst/>
          </a:prstGeom>
          <a:solidFill>
            <a:schemeClr val="bg1"/>
          </a:solidFill>
          <a:ln w="38100" cap="flat" cmpd="sng" algn="ctr">
            <a:solidFill>
              <a:schemeClr val="tx1">
                <a:lumMod val="95000"/>
                <a:lumOff val="5000"/>
              </a:schemeClr>
            </a:solidFill>
            <a:prstDash val="solid"/>
            <a:round/>
            <a:headEnd type="none" w="med" len="med"/>
            <a:tailEnd type="arrow"/>
          </a:ln>
          <a:effectLst/>
        </p:spPr>
      </p:cxnSp>
      <p:cxnSp>
        <p:nvCxnSpPr>
          <p:cNvPr id="17423" name="Straight Arrow Connector 22">
            <a:extLst>
              <a:ext uri="{FF2B5EF4-FFF2-40B4-BE49-F238E27FC236}">
                <a16:creationId xmlns:a16="http://schemas.microsoft.com/office/drawing/2014/main" id="{436C23F1-78ED-4BD3-93E0-0D7FD369738E}"/>
              </a:ext>
            </a:extLst>
          </p:cNvPr>
          <p:cNvCxnSpPr>
            <a:cxnSpLocks noChangeShapeType="1"/>
            <a:endCxn id="17415" idx="0"/>
          </p:cNvCxnSpPr>
          <p:nvPr/>
        </p:nvCxnSpPr>
        <p:spPr bwMode="auto">
          <a:xfrm>
            <a:off x="5645150" y="2255838"/>
            <a:ext cx="152400" cy="877887"/>
          </a:xfrm>
          <a:prstGeom prst="straightConnector1">
            <a:avLst/>
          </a:prstGeom>
          <a:noFill/>
          <a:ln w="38100">
            <a:solidFill>
              <a:srgbClr val="FFFF00"/>
            </a:solidFill>
            <a:round/>
            <a:headEnd/>
            <a:tailEnd type="arrow" w="med" len="med"/>
          </a:ln>
          <a:extLst>
            <a:ext uri="{909E8E84-426E-40DD-AFC4-6F175D3DCCD1}">
              <a14:hiddenFill xmlns:a14="http://schemas.microsoft.com/office/drawing/2010/main">
                <a:noFill/>
              </a14:hiddenFill>
            </a:ext>
          </a:extLst>
        </p:spPr>
      </p:cxnSp>
      <p:cxnSp>
        <p:nvCxnSpPr>
          <p:cNvPr id="26" name="Straight Arrow Connector 25">
            <a:extLst>
              <a:ext uri="{FF2B5EF4-FFF2-40B4-BE49-F238E27FC236}">
                <a16:creationId xmlns:a16="http://schemas.microsoft.com/office/drawing/2014/main" id="{F972E820-5B84-4937-B8CA-4E722E4CA879}"/>
              </a:ext>
            </a:extLst>
          </p:cNvPr>
          <p:cNvCxnSpPr>
            <a:endCxn id="17415" idx="3"/>
          </p:cNvCxnSpPr>
          <p:nvPr/>
        </p:nvCxnSpPr>
        <p:spPr bwMode="auto">
          <a:xfrm flipH="1" flipV="1">
            <a:off x="5975350" y="3363913"/>
            <a:ext cx="292100" cy="825500"/>
          </a:xfrm>
          <a:prstGeom prst="straightConnector1">
            <a:avLst/>
          </a:prstGeom>
          <a:solidFill>
            <a:schemeClr val="bg1"/>
          </a:solidFill>
          <a:ln w="38100" cap="flat" cmpd="sng" algn="ctr">
            <a:solidFill>
              <a:schemeClr val="tx1">
                <a:lumMod val="95000"/>
                <a:lumOff val="5000"/>
              </a:schemeClr>
            </a:solidFill>
            <a:prstDash val="solid"/>
            <a:round/>
            <a:headEnd type="none" w="med" len="med"/>
            <a:tailEnd type="arrow"/>
          </a:ln>
          <a:effectLst/>
        </p:spPr>
      </p:cxnSp>
      <p:cxnSp>
        <p:nvCxnSpPr>
          <p:cNvPr id="17425" name="Straight Arrow Connector 26">
            <a:extLst>
              <a:ext uri="{FF2B5EF4-FFF2-40B4-BE49-F238E27FC236}">
                <a16:creationId xmlns:a16="http://schemas.microsoft.com/office/drawing/2014/main" id="{215B4163-D3B7-43C3-8F04-457B1937FF4D}"/>
              </a:ext>
            </a:extLst>
          </p:cNvPr>
          <p:cNvCxnSpPr>
            <a:cxnSpLocks noChangeShapeType="1"/>
            <a:endCxn id="17416" idx="3"/>
          </p:cNvCxnSpPr>
          <p:nvPr/>
        </p:nvCxnSpPr>
        <p:spPr bwMode="auto">
          <a:xfrm flipH="1">
            <a:off x="5297488" y="4189413"/>
            <a:ext cx="969962" cy="455612"/>
          </a:xfrm>
          <a:prstGeom prst="straightConnector1">
            <a:avLst/>
          </a:prstGeom>
          <a:noFill/>
          <a:ln w="38100">
            <a:solidFill>
              <a:srgbClr val="FFFF00"/>
            </a:solidFill>
            <a:round/>
            <a:headEnd/>
            <a:tailEnd type="arrow" w="med" len="med"/>
          </a:ln>
          <a:extLst>
            <a:ext uri="{909E8E84-426E-40DD-AFC4-6F175D3DCCD1}">
              <a14:hiddenFill xmlns:a14="http://schemas.microsoft.com/office/drawing/2010/main">
                <a:noFill/>
              </a14:hiddenFill>
            </a:ext>
          </a:extLst>
        </p:spPr>
      </p:cxnSp>
      <p:cxnSp>
        <p:nvCxnSpPr>
          <p:cNvPr id="30" name="Straight Arrow Connector 29">
            <a:extLst>
              <a:ext uri="{FF2B5EF4-FFF2-40B4-BE49-F238E27FC236}">
                <a16:creationId xmlns:a16="http://schemas.microsoft.com/office/drawing/2014/main" id="{3E1C70F4-85AC-4CF3-A215-604B3DAD464D}"/>
              </a:ext>
            </a:extLst>
          </p:cNvPr>
          <p:cNvCxnSpPr/>
          <p:nvPr/>
        </p:nvCxnSpPr>
        <p:spPr bwMode="auto">
          <a:xfrm flipH="1" flipV="1">
            <a:off x="3830638" y="4673600"/>
            <a:ext cx="501650" cy="806450"/>
          </a:xfrm>
          <a:prstGeom prst="straightConnector1">
            <a:avLst/>
          </a:prstGeom>
          <a:solidFill>
            <a:schemeClr val="bg1"/>
          </a:solidFill>
          <a:ln w="38100" cap="flat" cmpd="sng" algn="ctr">
            <a:solidFill>
              <a:schemeClr val="tx1">
                <a:lumMod val="95000"/>
                <a:lumOff val="5000"/>
              </a:schemeClr>
            </a:solidFill>
            <a:prstDash val="solid"/>
            <a:round/>
            <a:headEnd type="none" w="med" len="med"/>
            <a:tailEnd type="arrow"/>
          </a:ln>
          <a:effectLst/>
        </p:spPr>
      </p:cxnSp>
      <p:cxnSp>
        <p:nvCxnSpPr>
          <p:cNvPr id="17427" name="Straight Arrow Connector 30">
            <a:extLst>
              <a:ext uri="{FF2B5EF4-FFF2-40B4-BE49-F238E27FC236}">
                <a16:creationId xmlns:a16="http://schemas.microsoft.com/office/drawing/2014/main" id="{E9437219-C77D-4845-80BF-71D1769B4860}"/>
              </a:ext>
            </a:extLst>
          </p:cNvPr>
          <p:cNvCxnSpPr>
            <a:cxnSpLocks noChangeShapeType="1"/>
          </p:cNvCxnSpPr>
          <p:nvPr/>
        </p:nvCxnSpPr>
        <p:spPr bwMode="auto">
          <a:xfrm flipV="1">
            <a:off x="4332288" y="4673600"/>
            <a:ext cx="787400" cy="806450"/>
          </a:xfrm>
          <a:prstGeom prst="straightConnector1">
            <a:avLst/>
          </a:prstGeom>
          <a:noFill/>
          <a:ln w="38100">
            <a:solidFill>
              <a:srgbClr val="FFFF00"/>
            </a:solidFill>
            <a:round/>
            <a:headEnd/>
            <a:tailEnd type="arrow" w="med" len="med"/>
          </a:ln>
          <a:extLst>
            <a:ext uri="{909E8E84-426E-40DD-AFC4-6F175D3DCCD1}">
              <a14:hiddenFill xmlns:a14="http://schemas.microsoft.com/office/drawing/2010/main">
                <a:noFill/>
              </a14:hiddenFill>
            </a:ext>
          </a:extLst>
        </p:spPr>
      </p:cxnSp>
      <p:cxnSp>
        <p:nvCxnSpPr>
          <p:cNvPr id="38" name="Straight Arrow Connector 37">
            <a:extLst>
              <a:ext uri="{FF2B5EF4-FFF2-40B4-BE49-F238E27FC236}">
                <a16:creationId xmlns:a16="http://schemas.microsoft.com/office/drawing/2014/main" id="{AAEE9E96-17CE-4B34-BEE1-46CAE93FB4FE}"/>
              </a:ext>
            </a:extLst>
          </p:cNvPr>
          <p:cNvCxnSpPr/>
          <p:nvPr/>
        </p:nvCxnSpPr>
        <p:spPr bwMode="auto">
          <a:xfrm>
            <a:off x="735013" y="5187950"/>
            <a:ext cx="773112" cy="0"/>
          </a:xfrm>
          <a:prstGeom prst="straightConnector1">
            <a:avLst/>
          </a:prstGeom>
          <a:solidFill>
            <a:schemeClr val="bg1"/>
          </a:solidFill>
          <a:ln w="38100" cap="flat" cmpd="sng" algn="ctr">
            <a:solidFill>
              <a:schemeClr val="tx1">
                <a:lumMod val="95000"/>
                <a:lumOff val="5000"/>
              </a:schemeClr>
            </a:solidFill>
            <a:prstDash val="solid"/>
            <a:round/>
            <a:headEnd type="none" w="med" len="med"/>
            <a:tailEnd type="arrow"/>
          </a:ln>
          <a:effectLst/>
        </p:spPr>
      </p:cxnSp>
      <p:cxnSp>
        <p:nvCxnSpPr>
          <p:cNvPr id="17429" name="Straight Arrow Connector 39">
            <a:extLst>
              <a:ext uri="{FF2B5EF4-FFF2-40B4-BE49-F238E27FC236}">
                <a16:creationId xmlns:a16="http://schemas.microsoft.com/office/drawing/2014/main" id="{EF3AF22A-E8B0-4967-B8C9-6B61B88E367F}"/>
              </a:ext>
            </a:extLst>
          </p:cNvPr>
          <p:cNvCxnSpPr>
            <a:cxnSpLocks noChangeShapeType="1"/>
          </p:cNvCxnSpPr>
          <p:nvPr/>
        </p:nvCxnSpPr>
        <p:spPr bwMode="auto">
          <a:xfrm>
            <a:off x="735013" y="5697538"/>
            <a:ext cx="773112" cy="0"/>
          </a:xfrm>
          <a:prstGeom prst="straightConnector1">
            <a:avLst/>
          </a:prstGeom>
          <a:noFill/>
          <a:ln w="38100">
            <a:solidFill>
              <a:srgbClr val="FFFF00"/>
            </a:solidFill>
            <a:round/>
            <a:headEnd/>
            <a:tailEnd type="arrow" w="med" len="med"/>
          </a:ln>
          <a:extLst>
            <a:ext uri="{909E8E84-426E-40DD-AFC4-6F175D3DCCD1}">
              <a14:hiddenFill xmlns:a14="http://schemas.microsoft.com/office/drawing/2010/main">
                <a:noFill/>
              </a14:hiddenFill>
            </a:ext>
          </a:extLst>
        </p:spPr>
      </p:cxnSp>
      <p:sp>
        <p:nvSpPr>
          <p:cNvPr id="17430" name="TextBox 42">
            <a:extLst>
              <a:ext uri="{FF2B5EF4-FFF2-40B4-BE49-F238E27FC236}">
                <a16:creationId xmlns:a16="http://schemas.microsoft.com/office/drawing/2014/main" id="{63FB72B7-4FBF-42A9-A21A-CF96F2923BB4}"/>
              </a:ext>
            </a:extLst>
          </p:cNvPr>
          <p:cNvSpPr txBox="1">
            <a:spLocks noChangeArrowheads="1"/>
          </p:cNvSpPr>
          <p:nvPr/>
        </p:nvSpPr>
        <p:spPr bwMode="auto">
          <a:xfrm>
            <a:off x="1323975" y="5187950"/>
            <a:ext cx="12668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a:t>1</a:t>
            </a:r>
            <a:r>
              <a:rPr lang="en-US" altLang="en-US" baseline="30000"/>
              <a:t>st</a:t>
            </a:r>
            <a:r>
              <a:rPr lang="en-US" altLang="en-US"/>
              <a:t> request</a:t>
            </a:r>
          </a:p>
        </p:txBody>
      </p:sp>
      <p:sp>
        <p:nvSpPr>
          <p:cNvPr id="17431" name="TextBox 43">
            <a:extLst>
              <a:ext uri="{FF2B5EF4-FFF2-40B4-BE49-F238E27FC236}">
                <a16:creationId xmlns:a16="http://schemas.microsoft.com/office/drawing/2014/main" id="{9EA7ABE9-32A4-482A-9126-C516A78B9648}"/>
              </a:ext>
            </a:extLst>
          </p:cNvPr>
          <p:cNvSpPr txBox="1">
            <a:spLocks noChangeArrowheads="1"/>
          </p:cNvSpPr>
          <p:nvPr/>
        </p:nvSpPr>
        <p:spPr bwMode="auto">
          <a:xfrm>
            <a:off x="1335088" y="5741988"/>
            <a:ext cx="1316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a:t>2</a:t>
            </a:r>
            <a:r>
              <a:rPr lang="en-US" altLang="en-US" baseline="30000"/>
              <a:t>nd</a:t>
            </a:r>
            <a:r>
              <a:rPr lang="en-US" altLang="en-US"/>
              <a:t> request</a:t>
            </a:r>
          </a:p>
        </p:txBody>
      </p:sp>
      <p:sp>
        <p:nvSpPr>
          <p:cNvPr id="56343" name="TextBox 44">
            <a:extLst>
              <a:ext uri="{FF2B5EF4-FFF2-40B4-BE49-F238E27FC236}">
                <a16:creationId xmlns:a16="http://schemas.microsoft.com/office/drawing/2014/main" id="{49DAE390-C607-4944-9D7A-25870BB642E0}"/>
              </a:ext>
            </a:extLst>
          </p:cNvPr>
          <p:cNvSpPr txBox="1">
            <a:spLocks noChangeArrowheads="1"/>
          </p:cNvSpPr>
          <p:nvPr/>
        </p:nvSpPr>
        <p:spPr bwMode="auto">
          <a:xfrm>
            <a:off x="1739900" y="4240213"/>
            <a:ext cx="352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a:t>A</a:t>
            </a:r>
          </a:p>
        </p:txBody>
      </p:sp>
      <p:sp>
        <p:nvSpPr>
          <p:cNvPr id="56344" name="TextBox 45">
            <a:extLst>
              <a:ext uri="{FF2B5EF4-FFF2-40B4-BE49-F238E27FC236}">
                <a16:creationId xmlns:a16="http://schemas.microsoft.com/office/drawing/2014/main" id="{48D4099D-2CD2-4475-BFF4-D2ECA2E8E2E3}"/>
              </a:ext>
            </a:extLst>
          </p:cNvPr>
          <p:cNvSpPr txBox="1">
            <a:spLocks noChangeArrowheads="1"/>
          </p:cNvSpPr>
          <p:nvPr/>
        </p:nvSpPr>
        <p:spPr bwMode="auto">
          <a:xfrm>
            <a:off x="2651125" y="1476375"/>
            <a:ext cx="3508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b="1"/>
              <a:t>B</a:t>
            </a:r>
          </a:p>
        </p:txBody>
      </p:sp>
      <p:sp>
        <p:nvSpPr>
          <p:cNvPr id="56345" name="TextBox 46">
            <a:extLst>
              <a:ext uri="{FF2B5EF4-FFF2-40B4-BE49-F238E27FC236}">
                <a16:creationId xmlns:a16="http://schemas.microsoft.com/office/drawing/2014/main" id="{CC7F5C34-538A-48FF-96C1-C705FAB62163}"/>
              </a:ext>
            </a:extLst>
          </p:cNvPr>
          <p:cNvSpPr txBox="1">
            <a:spLocks noChangeArrowheads="1"/>
          </p:cNvSpPr>
          <p:nvPr/>
        </p:nvSpPr>
        <p:spPr bwMode="auto">
          <a:xfrm>
            <a:off x="5916613" y="1443038"/>
            <a:ext cx="3508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b="1"/>
              <a:t>C</a:t>
            </a:r>
          </a:p>
        </p:txBody>
      </p:sp>
      <p:sp>
        <p:nvSpPr>
          <p:cNvPr id="17435" name="TextBox 47">
            <a:extLst>
              <a:ext uri="{FF2B5EF4-FFF2-40B4-BE49-F238E27FC236}">
                <a16:creationId xmlns:a16="http://schemas.microsoft.com/office/drawing/2014/main" id="{16B2BBC0-4A6A-4CDD-BC6A-2E4B5B0B018E}"/>
              </a:ext>
            </a:extLst>
          </p:cNvPr>
          <p:cNvSpPr txBox="1">
            <a:spLocks noChangeArrowheads="1"/>
          </p:cNvSpPr>
          <p:nvPr/>
        </p:nvSpPr>
        <p:spPr bwMode="auto">
          <a:xfrm>
            <a:off x="6875463" y="4073525"/>
            <a:ext cx="352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b="1"/>
              <a:t>D</a:t>
            </a:r>
          </a:p>
        </p:txBody>
      </p:sp>
      <p:sp>
        <p:nvSpPr>
          <p:cNvPr id="56347" name="TextBox 48">
            <a:extLst>
              <a:ext uri="{FF2B5EF4-FFF2-40B4-BE49-F238E27FC236}">
                <a16:creationId xmlns:a16="http://schemas.microsoft.com/office/drawing/2014/main" id="{97503004-BA5D-43F1-950A-A5C0DBDD6D53}"/>
              </a:ext>
            </a:extLst>
          </p:cNvPr>
          <p:cNvSpPr txBox="1">
            <a:spLocks noChangeArrowheads="1"/>
          </p:cNvSpPr>
          <p:nvPr/>
        </p:nvSpPr>
        <p:spPr bwMode="auto">
          <a:xfrm>
            <a:off x="4256088" y="5837238"/>
            <a:ext cx="3508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b="1"/>
              <a: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1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74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4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4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42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4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4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74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4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p:bldP spid="17414" grpId="0"/>
      <p:bldP spid="17415" grpId="0"/>
      <p:bldP spid="17416" grpId="0"/>
      <p:bldP spid="17417" grpId="0"/>
      <p:bldP spid="17430" grpId="0"/>
      <p:bldP spid="17431" grpId="0"/>
      <p:bldP spid="1743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Footer Placeholder 3">
            <a:extLst>
              <a:ext uri="{FF2B5EF4-FFF2-40B4-BE49-F238E27FC236}">
                <a16:creationId xmlns:a16="http://schemas.microsoft.com/office/drawing/2014/main" id="{7EF63DBD-B801-4AEB-B7A7-66A38AFE651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58370" name="Rectangle 2">
            <a:extLst>
              <a:ext uri="{FF2B5EF4-FFF2-40B4-BE49-F238E27FC236}">
                <a16:creationId xmlns:a16="http://schemas.microsoft.com/office/drawing/2014/main" id="{E0D14E66-8974-40CE-8BF8-495A15CF37CE}"/>
              </a:ext>
            </a:extLst>
          </p:cNvPr>
          <p:cNvSpPr>
            <a:spLocks noGrp="1" noChangeArrowheads="1"/>
          </p:cNvSpPr>
          <p:nvPr>
            <p:ph type="title"/>
          </p:nvPr>
        </p:nvSpPr>
        <p:spPr/>
        <p:txBody>
          <a:bodyPr/>
          <a:lstStyle/>
          <a:p>
            <a:r>
              <a:rPr lang="en-US" altLang="en-US"/>
              <a:t>Part 5:  Deadlocks and Starvation</a:t>
            </a:r>
          </a:p>
        </p:txBody>
      </p:sp>
      <p:sp>
        <p:nvSpPr>
          <p:cNvPr id="58371" name="Rectangle 3">
            <a:extLst>
              <a:ext uri="{FF2B5EF4-FFF2-40B4-BE49-F238E27FC236}">
                <a16:creationId xmlns:a16="http://schemas.microsoft.com/office/drawing/2014/main" id="{92572A83-3725-4652-9668-DFB5274E2319}"/>
              </a:ext>
            </a:extLst>
          </p:cNvPr>
          <p:cNvSpPr>
            <a:spLocks noGrp="1" noChangeArrowheads="1"/>
          </p:cNvSpPr>
          <p:nvPr>
            <p:ph type="body" idx="1"/>
          </p:nvPr>
        </p:nvSpPr>
        <p:spPr>
          <a:xfrm>
            <a:off x="573088" y="1239838"/>
            <a:ext cx="7902575" cy="5222875"/>
          </a:xfrm>
        </p:spPr>
        <p:txBody>
          <a:bodyPr/>
          <a:lstStyle/>
          <a:p>
            <a:r>
              <a:rPr lang="en-US" altLang="en-US" sz="2800"/>
              <a:t>Deadlock Problem</a:t>
            </a:r>
          </a:p>
          <a:p>
            <a:r>
              <a:rPr lang="en-US" altLang="en-US" sz="2800"/>
              <a:t>System Model</a:t>
            </a:r>
          </a:p>
          <a:p>
            <a:r>
              <a:rPr lang="en-US" altLang="en-US" sz="2800"/>
              <a:t>Deadlock Conditions</a:t>
            </a:r>
          </a:p>
          <a:p>
            <a:r>
              <a:rPr lang="en-US" altLang="en-US" sz="2800"/>
              <a:t>Deadlock Prevention</a:t>
            </a:r>
          </a:p>
          <a:p>
            <a:r>
              <a:rPr lang="en-US" altLang="en-US" sz="2800" b="1"/>
              <a:t>Deadlock Avoidance</a:t>
            </a:r>
          </a:p>
          <a:p>
            <a:r>
              <a:rPr lang="en-US" altLang="en-US" sz="2800"/>
              <a:t>Deadlock Detection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Footer Placeholder 3">
            <a:extLst>
              <a:ext uri="{FF2B5EF4-FFF2-40B4-BE49-F238E27FC236}">
                <a16:creationId xmlns:a16="http://schemas.microsoft.com/office/drawing/2014/main" id="{30EACF98-3EF7-4AE7-A09A-3E0BC46FED9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60418" name="Rectangle 2">
            <a:extLst>
              <a:ext uri="{FF2B5EF4-FFF2-40B4-BE49-F238E27FC236}">
                <a16:creationId xmlns:a16="http://schemas.microsoft.com/office/drawing/2014/main" id="{03AEF708-B706-4421-975C-EE04831678C4}"/>
              </a:ext>
            </a:extLst>
          </p:cNvPr>
          <p:cNvSpPr>
            <a:spLocks noGrp="1" noChangeArrowheads="1"/>
          </p:cNvSpPr>
          <p:nvPr>
            <p:ph type="title"/>
          </p:nvPr>
        </p:nvSpPr>
        <p:spPr/>
        <p:txBody>
          <a:bodyPr/>
          <a:lstStyle/>
          <a:p>
            <a:r>
              <a:rPr lang="en-US" altLang="en-US"/>
              <a:t>Deadlock Avoidance</a:t>
            </a:r>
          </a:p>
        </p:txBody>
      </p:sp>
      <p:sp>
        <p:nvSpPr>
          <p:cNvPr id="17412" name="Rectangle 3">
            <a:extLst>
              <a:ext uri="{FF2B5EF4-FFF2-40B4-BE49-F238E27FC236}">
                <a16:creationId xmlns:a16="http://schemas.microsoft.com/office/drawing/2014/main" id="{392B553D-0080-4CBB-A47D-F0E61E8252DC}"/>
              </a:ext>
            </a:extLst>
          </p:cNvPr>
          <p:cNvSpPr>
            <a:spLocks noGrp="1" noChangeArrowheads="1"/>
          </p:cNvSpPr>
          <p:nvPr>
            <p:ph type="body" idx="1"/>
          </p:nvPr>
        </p:nvSpPr>
        <p:spPr>
          <a:xfrm>
            <a:off x="388938" y="1579563"/>
            <a:ext cx="8380412" cy="4525962"/>
          </a:xfrm>
        </p:spPr>
        <p:txBody>
          <a:bodyPr/>
          <a:lstStyle/>
          <a:p>
            <a:pPr>
              <a:lnSpc>
                <a:spcPct val="90000"/>
              </a:lnSpc>
            </a:pPr>
            <a:r>
              <a:rPr lang="en-US" altLang="en-US" sz="2400"/>
              <a:t>The deadlock-avoidance algorithm dynamically examines the resource-allocation state to ensure that the system never goes into </a:t>
            </a:r>
            <a:r>
              <a:rPr lang="en-US" altLang="en-US" sz="2400">
                <a:solidFill>
                  <a:schemeClr val="accent2"/>
                </a:solidFill>
              </a:rPr>
              <a:t>unsafe state</a:t>
            </a:r>
          </a:p>
          <a:p>
            <a:pPr lvl="1"/>
            <a:r>
              <a:rPr lang="en-US" altLang="en-US" sz="2400"/>
              <a:t>When a process requests an available resource, system must decide if immediate allocation leaves the system in a </a:t>
            </a:r>
            <a:r>
              <a:rPr lang="en-US" altLang="en-US" sz="2400">
                <a:solidFill>
                  <a:schemeClr val="accent2"/>
                </a:solidFill>
              </a:rPr>
              <a:t>safe state</a:t>
            </a:r>
          </a:p>
          <a:p>
            <a:pPr lvl="1"/>
            <a:r>
              <a:rPr lang="en-US" altLang="en-US" sz="2400">
                <a:solidFill>
                  <a:srgbClr val="FF0000"/>
                </a:solidFill>
              </a:rPr>
              <a:t>If safe, the request is granted, and otherwise, the process must wait</a:t>
            </a:r>
            <a:r>
              <a:rPr lang="en-US" altLang="en-US" sz="2400" u="sng"/>
              <a:t> </a:t>
            </a:r>
          </a:p>
          <a:p>
            <a:pPr lvl="4"/>
            <a:endParaRPr lang="en-US" altLang="en-US" sz="1200" u="sng"/>
          </a:p>
          <a:p>
            <a:r>
              <a:rPr lang="en-US" altLang="en-US" sz="2400">
                <a:solidFill>
                  <a:srgbClr val="FF0000"/>
                </a:solidFill>
              </a:rPr>
              <a:t>System is in safe state if </a:t>
            </a:r>
            <a:r>
              <a:rPr lang="en-US" altLang="en-US" sz="2400" b="1">
                <a:solidFill>
                  <a:srgbClr val="FF0000"/>
                </a:solidFill>
              </a:rPr>
              <a:t>there exists a </a:t>
            </a:r>
            <a:r>
              <a:rPr lang="en-US" altLang="en-US" sz="2400" b="1" i="1">
                <a:solidFill>
                  <a:srgbClr val="FF0000"/>
                </a:solidFill>
              </a:rPr>
              <a:t>safe completion sequence </a:t>
            </a:r>
            <a:r>
              <a:rPr lang="en-US" altLang="en-US" sz="2400">
                <a:solidFill>
                  <a:srgbClr val="FF0000"/>
                </a:solidFill>
              </a:rPr>
              <a:t>of all processes without deadlock</a:t>
            </a:r>
            <a:endParaRPr lang="en-US" altLang="en-US" sz="2400"/>
          </a:p>
          <a:p>
            <a:pPr>
              <a:lnSpc>
                <a:spcPct val="90000"/>
              </a:lnSpc>
              <a:buFontTx/>
              <a:buNone/>
            </a:pPr>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4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D40F8-0E24-E031-C337-2F68F7C3C933}"/>
              </a:ext>
            </a:extLst>
          </p:cNvPr>
          <p:cNvSpPr>
            <a:spLocks noGrp="1"/>
          </p:cNvSpPr>
          <p:nvPr>
            <p:ph type="title"/>
          </p:nvPr>
        </p:nvSpPr>
        <p:spPr/>
        <p:txBody>
          <a:bodyPr/>
          <a:lstStyle/>
          <a:p>
            <a:r>
              <a:rPr lang="en-US" dirty="0"/>
              <a:t>Deadlock Avoidance: Intuition</a:t>
            </a:r>
          </a:p>
        </p:txBody>
      </p:sp>
      <p:sp>
        <p:nvSpPr>
          <p:cNvPr id="3" name="Content Placeholder 2">
            <a:extLst>
              <a:ext uri="{FF2B5EF4-FFF2-40B4-BE49-F238E27FC236}">
                <a16:creationId xmlns:a16="http://schemas.microsoft.com/office/drawing/2014/main" id="{77478D7B-4931-ABE3-1835-F683FAD3010D}"/>
              </a:ext>
            </a:extLst>
          </p:cNvPr>
          <p:cNvSpPr>
            <a:spLocks noGrp="1"/>
          </p:cNvSpPr>
          <p:nvPr>
            <p:ph idx="1"/>
          </p:nvPr>
        </p:nvSpPr>
        <p:spPr>
          <a:xfrm>
            <a:off x="1047750" y="1724025"/>
            <a:ext cx="7588250" cy="4114800"/>
          </a:xfrm>
        </p:spPr>
        <p:txBody>
          <a:bodyPr/>
          <a:lstStyle/>
          <a:p>
            <a:r>
              <a:rPr lang="en-US" dirty="0"/>
              <a:t>Assume many processes requesting access to shared resources</a:t>
            </a:r>
          </a:p>
          <a:p>
            <a:endParaRPr lang="en-US" dirty="0"/>
          </a:p>
          <a:p>
            <a:r>
              <a:rPr lang="en-US" dirty="0"/>
              <a:t>Question 1: Is there a </a:t>
            </a:r>
            <a:r>
              <a:rPr lang="en-US" b="1" i="1" dirty="0"/>
              <a:t>safe sequence </a:t>
            </a:r>
            <a:r>
              <a:rPr lang="en-US" dirty="0"/>
              <a:t>of acquiring and releasing the resources so there is no deadlock? If yes, then the state is safe</a:t>
            </a:r>
          </a:p>
          <a:p>
            <a:endParaRPr lang="en-US" dirty="0"/>
          </a:p>
          <a:p>
            <a:r>
              <a:rPr lang="en-US" dirty="0"/>
              <a:t>Question 2: Does Action X lead to a safe state? If yes, it is safe to take this action</a:t>
            </a:r>
          </a:p>
        </p:txBody>
      </p:sp>
      <p:sp>
        <p:nvSpPr>
          <p:cNvPr id="4" name="Footer Placeholder 3">
            <a:extLst>
              <a:ext uri="{FF2B5EF4-FFF2-40B4-BE49-F238E27FC236}">
                <a16:creationId xmlns:a16="http://schemas.microsoft.com/office/drawing/2014/main" id="{97296619-D207-333D-F9A6-0339B99E454F}"/>
              </a:ext>
            </a:extLst>
          </p:cNvPr>
          <p:cNvSpPr>
            <a:spLocks noGrp="1"/>
          </p:cNvSpPr>
          <p:nvPr>
            <p:ph type="ftr" sz="quarter" idx="10"/>
          </p:nvPr>
        </p:nvSpPr>
        <p:spPr/>
        <p:txBody>
          <a:bodyPr/>
          <a:lstStyle/>
          <a:p>
            <a:pPr>
              <a:defRPr/>
            </a:pPr>
            <a:r>
              <a:rPr lang="en-US"/>
              <a:t>Operating Systems</a:t>
            </a:r>
          </a:p>
        </p:txBody>
      </p:sp>
    </p:spTree>
    <p:extLst>
      <p:ext uri="{BB962C8B-B14F-4D97-AF65-F5344CB8AC3E}">
        <p14:creationId xmlns:p14="http://schemas.microsoft.com/office/powerpoint/2010/main" val="7424715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Footer Placeholder 3">
            <a:extLst>
              <a:ext uri="{FF2B5EF4-FFF2-40B4-BE49-F238E27FC236}">
                <a16:creationId xmlns:a16="http://schemas.microsoft.com/office/drawing/2014/main" id="{1DE731EF-9F10-43EC-BB81-104EA9E2C52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62466" name="Rectangle 2">
            <a:extLst>
              <a:ext uri="{FF2B5EF4-FFF2-40B4-BE49-F238E27FC236}">
                <a16:creationId xmlns:a16="http://schemas.microsoft.com/office/drawing/2014/main" id="{C136C696-6D71-4D1C-B3BD-5FF5E043DE9B}"/>
              </a:ext>
            </a:extLst>
          </p:cNvPr>
          <p:cNvSpPr>
            <a:spLocks noGrp="1" noChangeArrowheads="1"/>
          </p:cNvSpPr>
          <p:nvPr>
            <p:ph type="title"/>
          </p:nvPr>
        </p:nvSpPr>
        <p:spPr/>
        <p:txBody>
          <a:bodyPr/>
          <a:lstStyle/>
          <a:p>
            <a:r>
              <a:rPr lang="en-US" altLang="en-US"/>
              <a:t>Safe State</a:t>
            </a:r>
          </a:p>
        </p:txBody>
      </p:sp>
      <p:sp>
        <p:nvSpPr>
          <p:cNvPr id="18436" name="Rectangle 3">
            <a:extLst>
              <a:ext uri="{FF2B5EF4-FFF2-40B4-BE49-F238E27FC236}">
                <a16:creationId xmlns:a16="http://schemas.microsoft.com/office/drawing/2014/main" id="{8C2275C5-85BB-4D57-8847-30617232FCE0}"/>
              </a:ext>
            </a:extLst>
          </p:cNvPr>
          <p:cNvSpPr>
            <a:spLocks noGrp="1" noChangeArrowheads="1"/>
          </p:cNvSpPr>
          <p:nvPr>
            <p:ph type="body" idx="1"/>
          </p:nvPr>
        </p:nvSpPr>
        <p:spPr>
          <a:xfrm>
            <a:off x="411163" y="1177925"/>
            <a:ext cx="8177212" cy="5189538"/>
          </a:xfrm>
        </p:spPr>
        <p:txBody>
          <a:bodyPr/>
          <a:lstStyle/>
          <a:p>
            <a:pPr>
              <a:lnSpc>
                <a:spcPct val="90000"/>
              </a:lnSpc>
            </a:pPr>
            <a:r>
              <a:rPr lang="en-US" altLang="en-US" sz="2800">
                <a:solidFill>
                  <a:schemeClr val="accent2"/>
                </a:solidFill>
              </a:rPr>
              <a:t>A process completion sequence &lt;</a:t>
            </a:r>
            <a:r>
              <a:rPr lang="en-US" altLang="en-US" sz="2800" i="1">
                <a:solidFill>
                  <a:schemeClr val="accent2"/>
                </a:solidFill>
              </a:rPr>
              <a:t>P</a:t>
            </a:r>
            <a:r>
              <a:rPr lang="en-US" altLang="en-US" sz="2800" baseline="-25000">
                <a:solidFill>
                  <a:schemeClr val="accent2"/>
                </a:solidFill>
              </a:rPr>
              <a:t>1</a:t>
            </a:r>
            <a:r>
              <a:rPr lang="en-US" altLang="en-US" sz="2800">
                <a:solidFill>
                  <a:schemeClr val="accent2"/>
                </a:solidFill>
              </a:rPr>
              <a:t>, </a:t>
            </a:r>
            <a:r>
              <a:rPr lang="en-US" altLang="en-US" sz="2800" i="1">
                <a:solidFill>
                  <a:schemeClr val="accent2"/>
                </a:solidFill>
              </a:rPr>
              <a:t>P</a:t>
            </a:r>
            <a:r>
              <a:rPr lang="en-US" altLang="en-US" sz="2800" baseline="-25000">
                <a:solidFill>
                  <a:schemeClr val="accent2"/>
                </a:solidFill>
              </a:rPr>
              <a:t>2</a:t>
            </a:r>
            <a:r>
              <a:rPr lang="en-US" altLang="en-US" sz="2800">
                <a:solidFill>
                  <a:schemeClr val="accent2"/>
                </a:solidFill>
              </a:rPr>
              <a:t>, …, </a:t>
            </a:r>
            <a:r>
              <a:rPr lang="en-US" altLang="en-US" sz="2800" i="1">
                <a:solidFill>
                  <a:schemeClr val="accent2"/>
                </a:solidFill>
              </a:rPr>
              <a:t>P</a:t>
            </a:r>
            <a:r>
              <a:rPr lang="en-US" altLang="en-US" sz="2800" i="1" baseline="-25000">
                <a:solidFill>
                  <a:schemeClr val="accent2"/>
                </a:solidFill>
              </a:rPr>
              <a:t>n</a:t>
            </a:r>
            <a:r>
              <a:rPr lang="en-US" altLang="en-US" sz="2800">
                <a:solidFill>
                  <a:schemeClr val="accent2"/>
                </a:solidFill>
              </a:rPr>
              <a:t>&gt; is safe,</a:t>
            </a:r>
            <a:r>
              <a:rPr lang="en-US" altLang="en-US" sz="2800"/>
              <a:t> if for each</a:t>
            </a:r>
            <a:r>
              <a:rPr lang="en-US" altLang="en-US" sz="2800" i="1"/>
              <a:t> P</a:t>
            </a:r>
            <a:r>
              <a:rPr lang="en-US" altLang="en-US" sz="2800" baseline="-25000"/>
              <a:t>i</a:t>
            </a:r>
            <a:r>
              <a:rPr lang="en-US" altLang="en-US" sz="2800"/>
              <a:t>, the resources that </a:t>
            </a:r>
            <a:r>
              <a:rPr lang="en-US" altLang="en-US" sz="2800" i="1"/>
              <a:t>P</a:t>
            </a:r>
            <a:r>
              <a:rPr lang="en-US" altLang="en-US" sz="2800" baseline="-25000"/>
              <a:t>i</a:t>
            </a:r>
            <a:r>
              <a:rPr lang="en-US" altLang="en-US" sz="2800"/>
              <a:t> requests can be satisfied by currently available resources </a:t>
            </a:r>
            <a:r>
              <a:rPr lang="en-US" altLang="en-US" sz="2800" b="1"/>
              <a:t>+</a:t>
            </a:r>
            <a:r>
              <a:rPr lang="en-US" altLang="en-US" sz="2800"/>
              <a:t> resources held by all the </a:t>
            </a:r>
            <a:r>
              <a:rPr lang="en-US" altLang="en-US" sz="2800" i="1"/>
              <a:t>P</a:t>
            </a:r>
            <a:r>
              <a:rPr lang="en-US" altLang="en-US" sz="2800" i="1" baseline="-25000"/>
              <a:t>j</a:t>
            </a:r>
            <a:r>
              <a:rPr lang="en-US" altLang="en-US" sz="2800"/>
              <a:t>, </a:t>
            </a:r>
            <a:r>
              <a:rPr lang="en-US" altLang="en-US" sz="2800" i="1"/>
              <a:t>j&lt; i</a:t>
            </a:r>
            <a:endParaRPr lang="en-US" altLang="en-US" sz="2800"/>
          </a:p>
          <a:p>
            <a:pPr lvl="1">
              <a:lnSpc>
                <a:spcPct val="90000"/>
              </a:lnSpc>
            </a:pPr>
            <a:r>
              <a:rPr lang="en-US" altLang="en-US" sz="2800"/>
              <a:t>If P</a:t>
            </a:r>
            <a:r>
              <a:rPr lang="en-US" altLang="en-US" sz="2800" baseline="-25000"/>
              <a:t>i</a:t>
            </a:r>
            <a:r>
              <a:rPr lang="en-US" altLang="en-US" sz="2800"/>
              <a:t>’s needs cannot be immediately met, then </a:t>
            </a:r>
            <a:r>
              <a:rPr lang="en-US" altLang="en-US" sz="2800" i="1"/>
              <a:t>P</a:t>
            </a:r>
            <a:r>
              <a:rPr lang="en-US" altLang="en-US" sz="2800" i="1" baseline="-25000"/>
              <a:t>i</a:t>
            </a:r>
            <a:r>
              <a:rPr lang="en-US" altLang="en-US" sz="2800"/>
              <a:t> can wait until all </a:t>
            </a:r>
            <a:r>
              <a:rPr lang="en-US" altLang="en-US" sz="2800" i="1"/>
              <a:t>P</a:t>
            </a:r>
            <a:r>
              <a:rPr lang="en-US" altLang="en-US" sz="2800" i="1" baseline="-25000"/>
              <a:t>j</a:t>
            </a:r>
            <a:r>
              <a:rPr lang="en-US" altLang="en-US" sz="2800" i="1"/>
              <a:t>, j&lt;i </a:t>
            </a:r>
            <a:r>
              <a:rPr lang="en-US" altLang="en-US" sz="2800"/>
              <a:t>have finished</a:t>
            </a:r>
          </a:p>
          <a:p>
            <a:pPr lvl="1">
              <a:lnSpc>
                <a:spcPct val="90000"/>
              </a:lnSpc>
            </a:pPr>
            <a:r>
              <a:rPr lang="en-US" altLang="en-US" sz="2800"/>
              <a:t>When all </a:t>
            </a:r>
            <a:r>
              <a:rPr lang="en-US" altLang="en-US" sz="2800" i="1"/>
              <a:t>P</a:t>
            </a:r>
            <a:r>
              <a:rPr lang="en-US" altLang="en-US" sz="2800" i="1" baseline="-25000"/>
              <a:t>j</a:t>
            </a:r>
            <a:r>
              <a:rPr lang="en-US" altLang="en-US" sz="2800"/>
              <a:t> (j&lt;i) are finished, </a:t>
            </a:r>
            <a:r>
              <a:rPr lang="en-US" altLang="en-US" sz="2800" i="1"/>
              <a:t>P</a:t>
            </a:r>
            <a:r>
              <a:rPr lang="en-US" altLang="en-US" sz="2800" baseline="-25000"/>
              <a:t>i</a:t>
            </a:r>
            <a:r>
              <a:rPr lang="en-US" altLang="en-US" sz="2800"/>
              <a:t> can obtain needed resources, execute, return allocated resources, and terminate </a:t>
            </a:r>
          </a:p>
          <a:p>
            <a:pPr lvl="1">
              <a:lnSpc>
                <a:spcPct val="90000"/>
              </a:lnSpc>
            </a:pPr>
            <a:r>
              <a:rPr lang="en-US" altLang="en-US" sz="2800"/>
              <a:t>When </a:t>
            </a:r>
            <a:r>
              <a:rPr lang="en-US" altLang="en-US" sz="2800" i="1"/>
              <a:t>P</a:t>
            </a:r>
            <a:r>
              <a:rPr lang="en-US" altLang="en-US" sz="2800" i="1" baseline="-25000"/>
              <a:t>i</a:t>
            </a:r>
            <a:r>
              <a:rPr lang="en-US" altLang="en-US" sz="2800"/>
              <a:t> terminates, </a:t>
            </a:r>
            <a:r>
              <a:rPr lang="en-US" altLang="en-US" sz="2800" i="1"/>
              <a:t>P</a:t>
            </a:r>
            <a:r>
              <a:rPr lang="en-US" altLang="en-US" sz="2800" i="1" baseline="-25000"/>
              <a:t>i</a:t>
            </a:r>
            <a:r>
              <a:rPr lang="en-US" altLang="en-US" sz="2800" baseline="-25000"/>
              <a:t>+1</a:t>
            </a:r>
            <a:r>
              <a:rPr lang="en-US" altLang="en-US" sz="2800"/>
              <a:t> can obtain its resources, and so on</a:t>
            </a:r>
          </a:p>
          <a:p>
            <a:pPr lvl="1">
              <a:lnSpc>
                <a:spcPct val="90000"/>
              </a:lnSpc>
            </a:pPr>
            <a:r>
              <a:rPr lang="en-US" altLang="en-US" sz="2800">
                <a:solidFill>
                  <a:srgbClr val="FF0000"/>
                </a:solidFill>
                <a:sym typeface="Wingdings" panose="05000000000000000000" pitchFamily="2" charset="2"/>
              </a:rPr>
              <a:t>All processes in the sequence can finish</a:t>
            </a:r>
            <a:endParaRPr lang="en-US" altLang="en-US" sz="28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843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8436">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84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Footer Placeholder 3">
            <a:extLst>
              <a:ext uri="{FF2B5EF4-FFF2-40B4-BE49-F238E27FC236}">
                <a16:creationId xmlns:a16="http://schemas.microsoft.com/office/drawing/2014/main" id="{42B57709-246A-4E4A-89C5-60D481CAC05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64514" name="Rectangle 2">
            <a:extLst>
              <a:ext uri="{FF2B5EF4-FFF2-40B4-BE49-F238E27FC236}">
                <a16:creationId xmlns:a16="http://schemas.microsoft.com/office/drawing/2014/main" id="{4BA92158-89A5-40CC-8B6C-D173D35F626A}"/>
              </a:ext>
            </a:extLst>
          </p:cNvPr>
          <p:cNvSpPr>
            <a:spLocks noGrp="1" noChangeArrowheads="1"/>
          </p:cNvSpPr>
          <p:nvPr>
            <p:ph type="title"/>
          </p:nvPr>
        </p:nvSpPr>
        <p:spPr/>
        <p:txBody>
          <a:bodyPr/>
          <a:lstStyle/>
          <a:p>
            <a:r>
              <a:rPr lang="en-US" altLang="en-US"/>
              <a:t>Example of Safe Process Sequence</a:t>
            </a:r>
          </a:p>
        </p:txBody>
      </p:sp>
      <p:sp>
        <p:nvSpPr>
          <p:cNvPr id="64515" name="Rectangle 1">
            <a:extLst>
              <a:ext uri="{FF2B5EF4-FFF2-40B4-BE49-F238E27FC236}">
                <a16:creationId xmlns:a16="http://schemas.microsoft.com/office/drawing/2014/main" id="{C421071B-F949-47A0-925B-5C6326C15E78}"/>
              </a:ext>
            </a:extLst>
          </p:cNvPr>
          <p:cNvSpPr>
            <a:spLocks noChangeArrowheads="1"/>
          </p:cNvSpPr>
          <p:nvPr/>
        </p:nvSpPr>
        <p:spPr bwMode="auto">
          <a:xfrm>
            <a:off x="935038" y="1220788"/>
            <a:ext cx="1638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200"/>
              <a:t>Available: 1</a:t>
            </a:r>
          </a:p>
        </p:txBody>
      </p:sp>
      <p:graphicFrame>
        <p:nvGraphicFramePr>
          <p:cNvPr id="3" name="Table 2">
            <a:extLst>
              <a:ext uri="{FF2B5EF4-FFF2-40B4-BE49-F238E27FC236}">
                <a16:creationId xmlns:a16="http://schemas.microsoft.com/office/drawing/2014/main" id="{E45AE266-9324-4FD6-B615-9B29A6031057}"/>
              </a:ext>
            </a:extLst>
          </p:cNvPr>
          <p:cNvGraphicFramePr>
            <a:graphicFrameLocks noGrp="1"/>
          </p:cNvGraphicFramePr>
          <p:nvPr/>
        </p:nvGraphicFramePr>
        <p:xfrm>
          <a:off x="935038" y="1651000"/>
          <a:ext cx="6080125" cy="1219200"/>
        </p:xfrm>
        <a:graphic>
          <a:graphicData uri="http://schemas.openxmlformats.org/drawingml/2006/table">
            <a:tbl>
              <a:tblPr/>
              <a:tblGrid>
                <a:gridCol w="2027237">
                  <a:extLst>
                    <a:ext uri="{9D8B030D-6E8A-4147-A177-3AD203B41FA5}">
                      <a16:colId xmlns:a16="http://schemas.microsoft.com/office/drawing/2014/main" val="20000"/>
                    </a:ext>
                  </a:extLst>
                </a:gridCol>
                <a:gridCol w="2025650">
                  <a:extLst>
                    <a:ext uri="{9D8B030D-6E8A-4147-A177-3AD203B41FA5}">
                      <a16:colId xmlns:a16="http://schemas.microsoft.com/office/drawing/2014/main" val="20001"/>
                    </a:ext>
                  </a:extLst>
                </a:gridCol>
                <a:gridCol w="2027238">
                  <a:extLst>
                    <a:ext uri="{9D8B030D-6E8A-4147-A177-3AD203B41FA5}">
                      <a16:colId xmlns:a16="http://schemas.microsoft.com/office/drawing/2014/main" val="20002"/>
                    </a:ext>
                  </a:extLst>
                </a:gridCol>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Helvetica" pitchFamily="34" charset="0"/>
                        </a:rPr>
                        <a:t>Processes</a:t>
                      </a:r>
                      <a:endParaRPr kumimoji="0" lang="en-US" sz="2000" b="1" i="0" u="none" strike="noStrike" cap="none" normalizeH="0" baseline="0" dirty="0">
                        <a:ln>
                          <a:noFill/>
                        </a:ln>
                        <a:solidFill>
                          <a:schemeClr val="tx1"/>
                        </a:solidFill>
                        <a:effectLst/>
                        <a:latin typeface="Calibri" pitchFamily="34" charset="0"/>
                        <a:ea typeface="SimSun" pitchFamily="2" charset="-122"/>
                        <a:cs typeface="Times New Roman" pitchFamily="18" charset="0"/>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Helvetica" pitchFamily="34" charset="0"/>
                        </a:rPr>
                        <a:t>Hold</a:t>
                      </a:r>
                      <a:endParaRPr kumimoji="0" lang="en-US" sz="2000" b="1" i="0" u="none" strike="noStrike" cap="none" normalizeH="0" baseline="0" dirty="0">
                        <a:ln>
                          <a:noFill/>
                        </a:ln>
                        <a:solidFill>
                          <a:schemeClr val="tx1"/>
                        </a:solidFill>
                        <a:effectLst/>
                        <a:latin typeface="Calibri" pitchFamily="34" charset="0"/>
                        <a:ea typeface="SimSun" pitchFamily="2" charset="-122"/>
                        <a:cs typeface="Times New Roman" pitchFamily="18" charset="0"/>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Helvetica" pitchFamily="34" charset="0"/>
                        </a:rPr>
                        <a:t>Request</a:t>
                      </a:r>
                      <a:endParaRPr kumimoji="0" lang="en-US" sz="2000" b="1" i="0" u="none" strike="noStrike" cap="none" normalizeH="0" baseline="0" dirty="0">
                        <a:ln>
                          <a:noFill/>
                        </a:ln>
                        <a:solidFill>
                          <a:schemeClr val="tx1"/>
                        </a:solidFill>
                        <a:effectLst/>
                        <a:latin typeface="Calibri" pitchFamily="34" charset="0"/>
                        <a:ea typeface="SimSun" pitchFamily="2" charset="-122"/>
                        <a:cs typeface="Times New Roman" pitchFamily="18" charset="0"/>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Helvetica" pitchFamily="34" charset="0"/>
                        </a:rPr>
                        <a:t>P1</a:t>
                      </a:r>
                      <a:endParaRPr kumimoji="0" lang="en-US" sz="2000" b="1" i="0" u="none" strike="noStrike" cap="none" normalizeH="0" baseline="0">
                        <a:ln>
                          <a:noFill/>
                        </a:ln>
                        <a:solidFill>
                          <a:schemeClr val="tx1"/>
                        </a:solidFill>
                        <a:effectLst/>
                        <a:latin typeface="Calibri" pitchFamily="34" charset="0"/>
                        <a:ea typeface="SimSun" pitchFamily="2" charset="-122"/>
                        <a:cs typeface="Times New Roman" pitchFamily="18" charset="0"/>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Helvetica" pitchFamily="34" charset="0"/>
                        </a:rPr>
                        <a:t>1</a:t>
                      </a:r>
                      <a:endParaRPr kumimoji="0" lang="en-US" sz="2000" b="0" i="0" u="none" strike="noStrike" cap="none" normalizeH="0" baseline="0" dirty="0">
                        <a:ln>
                          <a:noFill/>
                        </a:ln>
                        <a:solidFill>
                          <a:srgbClr val="000000"/>
                        </a:solidFill>
                        <a:effectLst/>
                        <a:latin typeface="Calibri" pitchFamily="34" charset="0"/>
                        <a:ea typeface="SimSun" pitchFamily="2" charset="-122"/>
                        <a:cs typeface="Times New Roman" pitchFamily="18" charset="0"/>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Helvetica" pitchFamily="34" charset="0"/>
                        </a:rPr>
                        <a:t>1</a:t>
                      </a:r>
                      <a:endParaRPr kumimoji="0" lang="en-US" sz="2000" b="0" i="0" u="none" strike="noStrike" cap="none" normalizeH="0" baseline="0">
                        <a:ln>
                          <a:noFill/>
                        </a:ln>
                        <a:solidFill>
                          <a:srgbClr val="000000"/>
                        </a:solidFill>
                        <a:effectLst/>
                        <a:latin typeface="Calibri" pitchFamily="34" charset="0"/>
                        <a:ea typeface="SimSun" pitchFamily="2" charset="-122"/>
                        <a:cs typeface="Times New Roman" pitchFamily="18" charset="0"/>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1"/>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Helvetica" pitchFamily="34" charset="0"/>
                        </a:rPr>
                        <a:t>P2</a:t>
                      </a:r>
                      <a:endParaRPr kumimoji="0" lang="en-US" sz="2000" b="1" i="0" u="none" strike="noStrike" cap="none" normalizeH="0" baseline="0">
                        <a:ln>
                          <a:noFill/>
                        </a:ln>
                        <a:solidFill>
                          <a:schemeClr val="tx1"/>
                        </a:solidFill>
                        <a:effectLst/>
                        <a:latin typeface="Calibri" pitchFamily="34" charset="0"/>
                        <a:ea typeface="SimSun" pitchFamily="2" charset="-122"/>
                        <a:cs typeface="Times New Roman" pitchFamily="18" charset="0"/>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Helvetica" pitchFamily="34" charset="0"/>
                        </a:rPr>
                        <a:t>1</a:t>
                      </a:r>
                      <a:endParaRPr kumimoji="0" lang="en-US" sz="2000" b="0" i="0" u="none" strike="noStrike" cap="none" normalizeH="0" baseline="0" dirty="0">
                        <a:ln>
                          <a:noFill/>
                        </a:ln>
                        <a:solidFill>
                          <a:srgbClr val="000000"/>
                        </a:solidFill>
                        <a:effectLst/>
                        <a:latin typeface="Calibri" pitchFamily="34" charset="0"/>
                        <a:ea typeface="SimSun" pitchFamily="2" charset="-122"/>
                        <a:cs typeface="Times New Roman" pitchFamily="18" charset="0"/>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Helvetica" pitchFamily="34" charset="0"/>
                        </a:rPr>
                        <a:t>2</a:t>
                      </a:r>
                      <a:endParaRPr kumimoji="0" lang="en-US" sz="2000" b="0" i="0" u="none" strike="noStrike" cap="none" normalizeH="0" baseline="0">
                        <a:ln>
                          <a:noFill/>
                        </a:ln>
                        <a:solidFill>
                          <a:srgbClr val="000000"/>
                        </a:solidFill>
                        <a:effectLst/>
                        <a:latin typeface="Calibri" pitchFamily="34" charset="0"/>
                        <a:ea typeface="SimSun" pitchFamily="2" charset="-122"/>
                        <a:cs typeface="Times New Roman" pitchFamily="18" charset="0"/>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6EF"/>
                    </a:solidFill>
                  </a:tcPr>
                </a:tc>
                <a:extLst>
                  <a:ext uri="{0D108BD9-81ED-4DB2-BD59-A6C34878D82A}">
                    <a16:rowId xmlns:a16="http://schemas.microsoft.com/office/drawing/2014/main" val="10002"/>
                  </a:ext>
                </a:extLst>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Helvetica" pitchFamily="34" charset="0"/>
                        </a:rPr>
                        <a:t>P3</a:t>
                      </a:r>
                      <a:endParaRPr kumimoji="0" lang="en-US" sz="2000" b="1" i="0" u="none" strike="noStrike" cap="none" normalizeH="0" baseline="0" dirty="0">
                        <a:ln>
                          <a:noFill/>
                        </a:ln>
                        <a:solidFill>
                          <a:schemeClr val="tx1"/>
                        </a:solidFill>
                        <a:effectLst/>
                        <a:latin typeface="Calibri" pitchFamily="34" charset="0"/>
                        <a:ea typeface="SimSun" pitchFamily="2" charset="-122"/>
                        <a:cs typeface="Times New Roman" pitchFamily="18" charset="0"/>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rgbClr val="000000"/>
                          </a:solidFill>
                          <a:effectLst/>
                          <a:latin typeface="Helvetica" pitchFamily="34" charset="0"/>
                        </a:rPr>
                        <a:t>1</a:t>
                      </a:r>
                      <a:endParaRPr kumimoji="0" lang="en-US" sz="2000" b="0" i="0" u="none" strike="noStrike" cap="none" normalizeH="0" baseline="0">
                        <a:ln>
                          <a:noFill/>
                        </a:ln>
                        <a:solidFill>
                          <a:srgbClr val="000000"/>
                        </a:solidFill>
                        <a:effectLst/>
                        <a:latin typeface="Calibri" pitchFamily="34" charset="0"/>
                        <a:ea typeface="SimSun" pitchFamily="2" charset="-122"/>
                        <a:cs typeface="Times New Roman" pitchFamily="18" charset="0"/>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rgbClr val="000000"/>
                          </a:solidFill>
                          <a:effectLst/>
                          <a:latin typeface="Helvetica" pitchFamily="34" charset="0"/>
                        </a:rPr>
                        <a:t>3</a:t>
                      </a:r>
                      <a:endParaRPr kumimoji="0" lang="en-US" sz="2000" b="0" i="0" u="none" strike="noStrike" cap="none" normalizeH="0" baseline="0" dirty="0">
                        <a:ln>
                          <a:noFill/>
                        </a:ln>
                        <a:solidFill>
                          <a:srgbClr val="000000"/>
                        </a:solidFill>
                        <a:effectLst/>
                        <a:latin typeface="Calibri" pitchFamily="34" charset="0"/>
                        <a:ea typeface="SimSun" pitchFamily="2" charset="-122"/>
                        <a:cs typeface="Times New Roman" pitchFamily="18" charset="0"/>
                      </a:endParaRPr>
                    </a:p>
                  </a:txBody>
                  <a:tcPr marL="68573" marR="68573"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BECDE"/>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2A71E1DA-1ABE-43D6-9359-C52C7AC55FB0}"/>
              </a:ext>
            </a:extLst>
          </p:cNvPr>
          <p:cNvSpPr>
            <a:spLocks noChangeArrowheads="1"/>
          </p:cNvSpPr>
          <p:nvPr/>
        </p:nvSpPr>
        <p:spPr bwMode="auto">
          <a:xfrm>
            <a:off x="962025" y="2974975"/>
            <a:ext cx="6353175"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sz="2200"/>
              <a:t>Q1: Is &lt;P1, P2, P3&gt; safe?</a:t>
            </a:r>
          </a:p>
          <a:p>
            <a:pPr>
              <a:spcBef>
                <a:spcPct val="0"/>
              </a:spcBef>
              <a:buSzTx/>
              <a:buFontTx/>
              <a:buNone/>
            </a:pPr>
            <a:r>
              <a:rPr lang="en-US" altLang="en-US" sz="2200" b="1">
                <a:solidFill>
                  <a:srgbClr val="FF0000"/>
                </a:solidFill>
                <a:latin typeface="Comic Sans MS" panose="030F0702030302020204" pitchFamily="66" charset="0"/>
              </a:rPr>
              <a:t>Yes </a:t>
            </a:r>
          </a:p>
          <a:p>
            <a:pPr>
              <a:spcBef>
                <a:spcPct val="0"/>
              </a:spcBef>
              <a:buSzTx/>
              <a:buFontTx/>
              <a:buNone/>
            </a:pPr>
            <a:r>
              <a:rPr lang="en-US" altLang="en-US" sz="2200">
                <a:solidFill>
                  <a:schemeClr val="accent2"/>
                </a:solidFill>
                <a:latin typeface="Comic Sans MS" panose="030F0702030302020204" pitchFamily="66" charset="0"/>
              </a:rPr>
              <a:t>P1.request&lt;=Available</a:t>
            </a:r>
          </a:p>
          <a:p>
            <a:pPr>
              <a:spcBef>
                <a:spcPct val="0"/>
              </a:spcBef>
              <a:buSzTx/>
              <a:buFontTx/>
              <a:buNone/>
            </a:pPr>
            <a:r>
              <a:rPr lang="en-US" altLang="en-US" sz="2200">
                <a:solidFill>
                  <a:schemeClr val="accent2"/>
                </a:solidFill>
                <a:latin typeface="Comic Sans MS" panose="030F0702030302020204" pitchFamily="66" charset="0"/>
              </a:rPr>
              <a:t>P2.request&lt;=P1.Hold+Available</a:t>
            </a:r>
          </a:p>
          <a:p>
            <a:pPr>
              <a:spcBef>
                <a:spcPct val="0"/>
              </a:spcBef>
              <a:buSzTx/>
              <a:buFontTx/>
              <a:buNone/>
            </a:pPr>
            <a:r>
              <a:rPr lang="en-US" altLang="en-US" sz="2200">
                <a:solidFill>
                  <a:schemeClr val="accent2"/>
                </a:solidFill>
                <a:latin typeface="Comic Sans MS" panose="030F0702030302020204" pitchFamily="66" charset="0"/>
              </a:rPr>
              <a:t>P3.request&lt;=P1.Hold+P2.Hold+Available</a:t>
            </a:r>
          </a:p>
        </p:txBody>
      </p:sp>
      <p:sp>
        <p:nvSpPr>
          <p:cNvPr id="5" name="Rectangle 4">
            <a:extLst>
              <a:ext uri="{FF2B5EF4-FFF2-40B4-BE49-F238E27FC236}">
                <a16:creationId xmlns:a16="http://schemas.microsoft.com/office/drawing/2014/main" id="{99965691-D6D9-4336-B857-54454BC4B197}"/>
              </a:ext>
            </a:extLst>
          </p:cNvPr>
          <p:cNvSpPr>
            <a:spLocks noChangeArrowheads="1"/>
          </p:cNvSpPr>
          <p:nvPr/>
        </p:nvSpPr>
        <p:spPr bwMode="auto">
          <a:xfrm>
            <a:off x="962025" y="4811713"/>
            <a:ext cx="45720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sz="2200">
                <a:latin typeface="Comic Sans MS" panose="030F0702030302020204" pitchFamily="66" charset="0"/>
              </a:rPr>
              <a:t>Q2: &lt;P3, P2, P1&gt; safe?</a:t>
            </a:r>
          </a:p>
          <a:p>
            <a:pPr>
              <a:spcBef>
                <a:spcPct val="0"/>
              </a:spcBef>
              <a:buSzTx/>
              <a:buFontTx/>
              <a:buNone/>
            </a:pPr>
            <a:r>
              <a:rPr lang="en-US" altLang="en-US" sz="2200" b="1">
                <a:solidFill>
                  <a:srgbClr val="FF0000"/>
                </a:solidFill>
                <a:latin typeface="Comic Sans MS" panose="030F0702030302020204" pitchFamily="66" charset="0"/>
              </a:rPr>
              <a:t>No</a:t>
            </a:r>
          </a:p>
          <a:p>
            <a:pPr>
              <a:spcBef>
                <a:spcPct val="0"/>
              </a:spcBef>
              <a:buSzTx/>
              <a:buFontTx/>
              <a:buNone/>
            </a:pPr>
            <a:r>
              <a:rPr lang="en-US" altLang="en-US" sz="2200">
                <a:solidFill>
                  <a:schemeClr val="accent2"/>
                </a:solidFill>
                <a:latin typeface="Comic Sans MS" panose="030F0702030302020204" pitchFamily="66" charset="0"/>
              </a:rPr>
              <a:t>P3.request&gt;Available </a:t>
            </a:r>
          </a:p>
        </p:txBody>
      </p:sp>
      <p:sp>
        <p:nvSpPr>
          <p:cNvPr id="8" name="Rectangle 7">
            <a:extLst>
              <a:ext uri="{FF2B5EF4-FFF2-40B4-BE49-F238E27FC236}">
                <a16:creationId xmlns:a16="http://schemas.microsoft.com/office/drawing/2014/main" id="{4FB6EF18-0D46-4C3C-BC8A-5517B4CC4E00}"/>
              </a:ext>
            </a:extLst>
          </p:cNvPr>
          <p:cNvSpPr>
            <a:spLocks noChangeArrowheads="1"/>
          </p:cNvSpPr>
          <p:nvPr/>
        </p:nvSpPr>
        <p:spPr bwMode="auto">
          <a:xfrm>
            <a:off x="5149850" y="4851400"/>
            <a:ext cx="3629025"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sz="2200">
                <a:latin typeface="Comic Sans MS" panose="030F0702030302020204" pitchFamily="66" charset="0"/>
              </a:rPr>
              <a:t>Q3: Is the system safe?</a:t>
            </a:r>
          </a:p>
          <a:p>
            <a:pPr>
              <a:spcBef>
                <a:spcPct val="0"/>
              </a:spcBef>
              <a:buSzTx/>
              <a:buFontTx/>
              <a:buNone/>
            </a:pPr>
            <a:r>
              <a:rPr lang="en-US" altLang="en-US" sz="2200" b="1">
                <a:solidFill>
                  <a:srgbClr val="FF0000"/>
                </a:solidFill>
                <a:latin typeface="Comic Sans MS" panose="030F0702030302020204" pitchFamily="66" charset="0"/>
              </a:rPr>
              <a:t>Yes </a:t>
            </a:r>
          </a:p>
          <a:p>
            <a:pPr>
              <a:spcBef>
                <a:spcPct val="0"/>
              </a:spcBef>
              <a:buSzTx/>
              <a:buFontTx/>
              <a:buNone/>
            </a:pPr>
            <a:r>
              <a:rPr lang="en-US" altLang="en-US" sz="2200">
                <a:solidFill>
                  <a:schemeClr val="accent2"/>
                </a:solidFill>
              </a:rPr>
              <a:t>Exists one safe sequence     &lt;P1, P2, P3&gt;</a:t>
            </a:r>
            <a:endParaRPr lang="en-US" altLang="en-US" sz="2200">
              <a:solidFill>
                <a:schemeClr val="accent2"/>
              </a:solidFill>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Footer Placeholder 3">
            <a:extLst>
              <a:ext uri="{FF2B5EF4-FFF2-40B4-BE49-F238E27FC236}">
                <a16:creationId xmlns:a16="http://schemas.microsoft.com/office/drawing/2014/main" id="{8992A04D-D8E1-40FE-AA75-03198C73B77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66562" name="Rectangle 2">
            <a:extLst>
              <a:ext uri="{FF2B5EF4-FFF2-40B4-BE49-F238E27FC236}">
                <a16:creationId xmlns:a16="http://schemas.microsoft.com/office/drawing/2014/main" id="{9DB1E111-03AF-47A3-A88E-F459FFAF2B64}"/>
              </a:ext>
            </a:extLst>
          </p:cNvPr>
          <p:cNvSpPr>
            <a:spLocks noGrp="1" noChangeArrowheads="1"/>
          </p:cNvSpPr>
          <p:nvPr>
            <p:ph type="title"/>
          </p:nvPr>
        </p:nvSpPr>
        <p:spPr/>
        <p:txBody>
          <a:bodyPr/>
          <a:lstStyle/>
          <a:p>
            <a:r>
              <a:rPr lang="en-US" altLang="en-US"/>
              <a:t>Safe, Unsafe and Deadlock States</a:t>
            </a:r>
          </a:p>
        </p:txBody>
      </p:sp>
      <p:sp>
        <p:nvSpPr>
          <p:cNvPr id="19460" name="Rectangle 3">
            <a:extLst>
              <a:ext uri="{FF2B5EF4-FFF2-40B4-BE49-F238E27FC236}">
                <a16:creationId xmlns:a16="http://schemas.microsoft.com/office/drawing/2014/main" id="{4439645D-3FD8-4994-9102-6B09F4283551}"/>
              </a:ext>
            </a:extLst>
          </p:cNvPr>
          <p:cNvSpPr>
            <a:spLocks noGrp="1" noChangeArrowheads="1"/>
          </p:cNvSpPr>
          <p:nvPr>
            <p:ph type="body" idx="1"/>
          </p:nvPr>
        </p:nvSpPr>
        <p:spPr>
          <a:xfrm>
            <a:off x="3740150" y="1293813"/>
            <a:ext cx="5284788" cy="4941887"/>
          </a:xfrm>
        </p:spPr>
        <p:txBody>
          <a:bodyPr/>
          <a:lstStyle/>
          <a:p>
            <a:pPr>
              <a:defRPr/>
            </a:pPr>
            <a:r>
              <a:rPr lang="en-US" altLang="en-US" sz="2800" dirty="0">
                <a:solidFill>
                  <a:srgbClr val="FF0000"/>
                </a:solidFill>
              </a:rPr>
              <a:t>If a system is in safe state </a:t>
            </a:r>
            <a:r>
              <a:rPr lang="en-US" altLang="en-US" sz="2800" dirty="0">
                <a:solidFill>
                  <a:srgbClr val="FF0000"/>
                </a:solidFill>
                <a:sym typeface="Symbol" charset="2"/>
              </a:rPr>
              <a:t> no deadlocks</a:t>
            </a:r>
          </a:p>
          <a:p>
            <a:pPr lvl="4">
              <a:defRPr/>
            </a:pPr>
            <a:endParaRPr lang="en-US" altLang="en-US" sz="1200" dirty="0">
              <a:solidFill>
                <a:srgbClr val="FF0000"/>
              </a:solidFill>
              <a:sym typeface="Symbol" charset="2"/>
            </a:endParaRPr>
          </a:p>
          <a:p>
            <a:pPr>
              <a:defRPr/>
            </a:pPr>
            <a:r>
              <a:rPr lang="en-US" altLang="en-US" sz="2800" dirty="0">
                <a:solidFill>
                  <a:srgbClr val="FF0000"/>
                </a:solidFill>
                <a:sym typeface="Symbol" charset="2"/>
              </a:rPr>
              <a:t>If a system is in unsafe state  possibility of deadlock</a:t>
            </a:r>
          </a:p>
          <a:p>
            <a:pPr lvl="1">
              <a:defRPr/>
            </a:pPr>
            <a:r>
              <a:rPr lang="en-US" altLang="en-US" sz="2400" dirty="0">
                <a:sym typeface="Symbol" charset="2"/>
              </a:rPr>
              <a:t>If a process releases resources much before its completion, then deadlock may not occur</a:t>
            </a:r>
          </a:p>
          <a:p>
            <a:pPr marL="1828800" lvl="4" indent="0">
              <a:buFontTx/>
              <a:buNone/>
              <a:defRPr/>
            </a:pPr>
            <a:r>
              <a:rPr lang="en-US" altLang="en-US" sz="1200" dirty="0">
                <a:sym typeface="Symbol" charset="2"/>
              </a:rPr>
              <a:t> </a:t>
            </a:r>
          </a:p>
          <a:p>
            <a:pPr>
              <a:defRPr/>
            </a:pPr>
            <a:r>
              <a:rPr lang="en-US" altLang="en-US" sz="2800" dirty="0">
                <a:solidFill>
                  <a:srgbClr val="FF0000"/>
                </a:solidFill>
                <a:sym typeface="Symbol" charset="2"/>
              </a:rPr>
              <a:t>Deadlock Avoidance:</a:t>
            </a:r>
            <a:r>
              <a:rPr lang="en-US" altLang="en-US" sz="2800" dirty="0">
                <a:sym typeface="Symbol" charset="2"/>
              </a:rPr>
              <a:t> Ensure that a system will never enter an unsafe state </a:t>
            </a:r>
          </a:p>
        </p:txBody>
      </p:sp>
      <p:pic>
        <p:nvPicPr>
          <p:cNvPr id="66564" name="Picture 3075">
            <a:extLst>
              <a:ext uri="{FF2B5EF4-FFF2-40B4-BE49-F238E27FC236}">
                <a16:creationId xmlns:a16="http://schemas.microsoft.com/office/drawing/2014/main" id="{CC5218F7-85F1-411F-B634-60BD896F6F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608" t="1381" r="10387" b="829"/>
          <a:stretch>
            <a:fillRect/>
          </a:stretch>
        </p:blipFill>
        <p:spPr bwMode="auto">
          <a:xfrm>
            <a:off x="257175" y="1293813"/>
            <a:ext cx="3375025" cy="352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60">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60">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60">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6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Footer Placeholder 3">
            <a:extLst>
              <a:ext uri="{FF2B5EF4-FFF2-40B4-BE49-F238E27FC236}">
                <a16:creationId xmlns:a16="http://schemas.microsoft.com/office/drawing/2014/main" id="{1BB81D96-089D-44B9-9016-326144F6B3B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68610" name="Rectangle 2">
            <a:extLst>
              <a:ext uri="{FF2B5EF4-FFF2-40B4-BE49-F238E27FC236}">
                <a16:creationId xmlns:a16="http://schemas.microsoft.com/office/drawing/2014/main" id="{DB2486DC-EEE1-4896-B357-BCF70D51805B}"/>
              </a:ext>
            </a:extLst>
          </p:cNvPr>
          <p:cNvSpPr>
            <a:spLocks noGrp="1" noChangeArrowheads="1"/>
          </p:cNvSpPr>
          <p:nvPr>
            <p:ph type="title"/>
          </p:nvPr>
        </p:nvSpPr>
        <p:spPr/>
        <p:txBody>
          <a:bodyPr/>
          <a:lstStyle/>
          <a:p>
            <a:r>
              <a:rPr lang="en-US" altLang="en-US"/>
              <a:t>Banker’s Algorithm</a:t>
            </a:r>
          </a:p>
        </p:txBody>
      </p:sp>
      <p:sp>
        <p:nvSpPr>
          <p:cNvPr id="68611" name="Rectangle 3">
            <a:extLst>
              <a:ext uri="{FF2B5EF4-FFF2-40B4-BE49-F238E27FC236}">
                <a16:creationId xmlns:a16="http://schemas.microsoft.com/office/drawing/2014/main" id="{2FDEFBC1-8451-498C-9B66-C9DB620CCA78}"/>
              </a:ext>
            </a:extLst>
          </p:cNvPr>
          <p:cNvSpPr>
            <a:spLocks noGrp="1" noChangeArrowheads="1"/>
          </p:cNvSpPr>
          <p:nvPr>
            <p:ph type="body" idx="1"/>
          </p:nvPr>
        </p:nvSpPr>
        <p:spPr>
          <a:xfrm>
            <a:off x="377825" y="1317625"/>
            <a:ext cx="8193088" cy="4838700"/>
          </a:xfrm>
        </p:spPr>
        <p:txBody>
          <a:bodyPr/>
          <a:lstStyle/>
          <a:p>
            <a:r>
              <a:rPr lang="en-US" altLang="en-US" sz="2800">
                <a:solidFill>
                  <a:srgbClr val="FF0000"/>
                </a:solidFill>
              </a:rPr>
              <a:t>An algorithm to check whether satisfaction of a resource request would lead to an unsafe state</a:t>
            </a:r>
          </a:p>
          <a:p>
            <a:pPr lvl="1"/>
            <a:r>
              <a:rPr lang="en-US" altLang="en-US" sz="2400"/>
              <a:t>For multiple instances of each resource type</a:t>
            </a:r>
          </a:p>
          <a:p>
            <a:pPr lvl="4"/>
            <a:endParaRPr lang="en-US" altLang="en-US" sz="1200"/>
          </a:p>
          <a:p>
            <a:r>
              <a:rPr lang="en-US" altLang="en-US" sz="2800"/>
              <a:t>When a process requests a resource it may have to wait (</a:t>
            </a:r>
            <a:r>
              <a:rPr lang="en-US" altLang="en-US" sz="2800">
                <a:solidFill>
                  <a:schemeClr val="accent2"/>
                </a:solidFill>
              </a:rPr>
              <a:t>if the allocation leads to unsafe state</a:t>
            </a:r>
            <a:r>
              <a:rPr lang="en-US" altLang="en-US" sz="2800"/>
              <a:t>)</a:t>
            </a:r>
          </a:p>
          <a:p>
            <a:pPr lvl="4"/>
            <a:endParaRPr lang="en-US" altLang="en-US" sz="1200"/>
          </a:p>
          <a:p>
            <a:r>
              <a:rPr lang="en-US" altLang="en-US" sz="2800">
                <a:solidFill>
                  <a:srgbClr val="FF0000"/>
                </a:solidFill>
              </a:rPr>
              <a:t>Assumptions</a:t>
            </a:r>
          </a:p>
          <a:p>
            <a:pPr lvl="1"/>
            <a:r>
              <a:rPr lang="en-US" altLang="en-US" sz="2400"/>
              <a:t>Each process must declare the maximum instances of each resource type that it needs</a:t>
            </a:r>
          </a:p>
          <a:p>
            <a:pPr lvl="1"/>
            <a:r>
              <a:rPr lang="en-US" altLang="en-US" sz="2400"/>
              <a:t>When a process gets all its resources it must return them in a finite amount of time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Footer Placeholder 3">
            <a:extLst>
              <a:ext uri="{FF2B5EF4-FFF2-40B4-BE49-F238E27FC236}">
                <a16:creationId xmlns:a16="http://schemas.microsoft.com/office/drawing/2014/main" id="{F9014F1B-5ED8-469E-B5DA-78C818A1B69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70658" name="Rectangle 2">
            <a:extLst>
              <a:ext uri="{FF2B5EF4-FFF2-40B4-BE49-F238E27FC236}">
                <a16:creationId xmlns:a16="http://schemas.microsoft.com/office/drawing/2014/main" id="{3519D9AC-5AFB-4D53-82A2-DCA38DD7D393}"/>
              </a:ext>
            </a:extLst>
          </p:cNvPr>
          <p:cNvSpPr>
            <a:spLocks noGrp="1" noChangeArrowheads="1"/>
          </p:cNvSpPr>
          <p:nvPr>
            <p:ph type="title"/>
          </p:nvPr>
        </p:nvSpPr>
        <p:spPr>
          <a:xfrm>
            <a:off x="685800" y="495300"/>
            <a:ext cx="7924800" cy="457200"/>
          </a:xfrm>
        </p:spPr>
        <p:txBody>
          <a:bodyPr/>
          <a:lstStyle/>
          <a:p>
            <a:r>
              <a:rPr lang="en-US" altLang="en-US"/>
              <a:t>Data Structures for Banker’s Algorithm </a:t>
            </a:r>
          </a:p>
        </p:txBody>
      </p:sp>
      <p:sp>
        <p:nvSpPr>
          <p:cNvPr id="23556" name="Rectangle 3">
            <a:extLst>
              <a:ext uri="{FF2B5EF4-FFF2-40B4-BE49-F238E27FC236}">
                <a16:creationId xmlns:a16="http://schemas.microsoft.com/office/drawing/2014/main" id="{EA01F3F3-DB2A-4B79-97AA-C5A617CAA51F}"/>
              </a:ext>
            </a:extLst>
          </p:cNvPr>
          <p:cNvSpPr>
            <a:spLocks noGrp="1" noChangeArrowheads="1"/>
          </p:cNvSpPr>
          <p:nvPr>
            <p:ph type="body" idx="1"/>
          </p:nvPr>
        </p:nvSpPr>
        <p:spPr>
          <a:xfrm>
            <a:off x="427038" y="1843088"/>
            <a:ext cx="8075612" cy="4424362"/>
          </a:xfrm>
        </p:spPr>
        <p:txBody>
          <a:bodyPr/>
          <a:lstStyle/>
          <a:p>
            <a:pPr>
              <a:defRPr/>
            </a:pPr>
            <a:r>
              <a:rPr lang="en-US" altLang="en-US" sz="2400" dirty="0">
                <a:solidFill>
                  <a:srgbClr val="FF0000"/>
                </a:solidFill>
              </a:rPr>
              <a:t>Available (vector of length m):</a:t>
            </a:r>
            <a:r>
              <a:rPr lang="en-US" altLang="en-US" sz="2400" dirty="0"/>
              <a:t> If Available [ </a:t>
            </a:r>
            <a:r>
              <a:rPr lang="en-US" altLang="en-US" sz="2400" i="1" dirty="0"/>
              <a:t>j </a:t>
            </a:r>
            <a:r>
              <a:rPr lang="en-US" altLang="en-US" sz="2400" dirty="0"/>
              <a:t>] == </a:t>
            </a:r>
            <a:r>
              <a:rPr lang="en-US" altLang="en-US" sz="2400" i="1" dirty="0"/>
              <a:t>k</a:t>
            </a:r>
            <a:r>
              <a:rPr lang="en-US" altLang="en-US" sz="2400" dirty="0"/>
              <a:t>, there are</a:t>
            </a:r>
            <a:r>
              <a:rPr lang="en-US" altLang="en-US" sz="2400" i="1" dirty="0"/>
              <a:t> k</a:t>
            </a:r>
            <a:r>
              <a:rPr lang="en-US" altLang="en-US" sz="2400" dirty="0"/>
              <a:t> instances of resource type </a:t>
            </a:r>
            <a:r>
              <a:rPr lang="en-US" altLang="en-US" sz="2400" i="1" dirty="0" err="1"/>
              <a:t>R</a:t>
            </a:r>
            <a:r>
              <a:rPr lang="en-US" altLang="en-US" sz="2400" i="1" baseline="-25000" dirty="0" err="1"/>
              <a:t>j</a:t>
            </a:r>
            <a:r>
              <a:rPr lang="en-US" altLang="en-US" sz="2400" baseline="-25000" dirty="0"/>
              <a:t>  </a:t>
            </a:r>
            <a:r>
              <a:rPr lang="en-US" altLang="en-US" sz="2400" dirty="0"/>
              <a:t>available</a:t>
            </a:r>
          </a:p>
          <a:p>
            <a:pPr>
              <a:defRPr/>
            </a:pPr>
            <a:r>
              <a:rPr lang="en-US" altLang="en-US" sz="2400" dirty="0">
                <a:solidFill>
                  <a:srgbClr val="FF0000"/>
                </a:solidFill>
              </a:rPr>
              <a:t>Max (n x m matrix):</a:t>
            </a:r>
            <a:r>
              <a:rPr lang="en-US" altLang="en-US" sz="2400" dirty="0"/>
              <a:t> If </a:t>
            </a:r>
            <a:r>
              <a:rPr lang="en-US" altLang="en-US" sz="2400" i="1" dirty="0"/>
              <a:t>Max </a:t>
            </a:r>
            <a:r>
              <a:rPr lang="en-US" altLang="en-US" sz="2400" dirty="0"/>
              <a:t>[ </a:t>
            </a:r>
            <a:r>
              <a:rPr lang="en-US" altLang="en-US" sz="2400" i="1" dirty="0" err="1"/>
              <a:t>i</a:t>
            </a:r>
            <a:r>
              <a:rPr lang="en-US" altLang="en-US" sz="2400" i="1" dirty="0"/>
              <a:t>, j </a:t>
            </a:r>
            <a:r>
              <a:rPr lang="en-US" altLang="en-US" sz="2400" dirty="0"/>
              <a:t>] == </a:t>
            </a:r>
            <a:r>
              <a:rPr lang="en-US" altLang="en-US" sz="2400" i="1" dirty="0"/>
              <a:t>k</a:t>
            </a:r>
            <a:r>
              <a:rPr lang="en-US" altLang="en-US" sz="2400" dirty="0"/>
              <a:t>, then process </a:t>
            </a:r>
            <a:r>
              <a:rPr lang="en-US" altLang="en-US" sz="2400" i="1" dirty="0"/>
              <a:t>P</a:t>
            </a:r>
            <a:r>
              <a:rPr lang="en-US" altLang="en-US" sz="2400" i="1" baseline="-25000" dirty="0"/>
              <a:t>i</a:t>
            </a:r>
            <a:r>
              <a:rPr lang="en-US" altLang="en-US" sz="2400" i="1" dirty="0"/>
              <a:t> </a:t>
            </a:r>
            <a:r>
              <a:rPr lang="en-US" altLang="en-US" sz="2400" dirty="0"/>
              <a:t>may request at most</a:t>
            </a:r>
            <a:r>
              <a:rPr lang="en-US" altLang="en-US" sz="2400" i="1" dirty="0"/>
              <a:t> k </a:t>
            </a:r>
            <a:r>
              <a:rPr lang="en-US" altLang="en-US" sz="2400" dirty="0"/>
              <a:t>instances of resource type </a:t>
            </a:r>
            <a:r>
              <a:rPr lang="en-US" altLang="en-US" sz="2400" i="1" dirty="0" err="1"/>
              <a:t>R</a:t>
            </a:r>
            <a:r>
              <a:rPr lang="en-US" altLang="en-US" sz="2400" i="1" baseline="-25000" dirty="0" err="1"/>
              <a:t>j</a:t>
            </a:r>
            <a:endParaRPr lang="en-US" altLang="en-US" sz="2400" dirty="0">
              <a:solidFill>
                <a:srgbClr val="FF0000"/>
              </a:solidFill>
            </a:endParaRPr>
          </a:p>
          <a:p>
            <a:pPr>
              <a:defRPr/>
            </a:pPr>
            <a:r>
              <a:rPr lang="en-US" altLang="en-US" sz="2400" dirty="0">
                <a:solidFill>
                  <a:srgbClr val="FF0000"/>
                </a:solidFill>
              </a:rPr>
              <a:t>Allocation (n x m matrix):</a:t>
            </a:r>
            <a:r>
              <a:rPr lang="en-US" altLang="en-US" sz="2400" dirty="0"/>
              <a:t> If Allocation [ </a:t>
            </a:r>
            <a:r>
              <a:rPr lang="en-US" altLang="en-US" sz="2400" i="1" dirty="0" err="1"/>
              <a:t>i</a:t>
            </a:r>
            <a:r>
              <a:rPr lang="en-US" altLang="en-US" sz="2400" i="1" dirty="0"/>
              <a:t>, j </a:t>
            </a:r>
            <a:r>
              <a:rPr lang="en-US" altLang="en-US" sz="2400" dirty="0"/>
              <a:t>] == </a:t>
            </a:r>
            <a:r>
              <a:rPr lang="en-US" altLang="en-US" sz="2400" i="1" dirty="0"/>
              <a:t>k,</a:t>
            </a:r>
            <a:r>
              <a:rPr lang="en-US" altLang="en-US" sz="2400" dirty="0"/>
              <a:t> then</a:t>
            </a:r>
            <a:r>
              <a:rPr lang="en-US" altLang="en-US" sz="2400" i="1" dirty="0"/>
              <a:t> P</a:t>
            </a:r>
            <a:r>
              <a:rPr lang="en-US" altLang="en-US" sz="2400" i="1" baseline="-25000" dirty="0"/>
              <a:t>i</a:t>
            </a:r>
            <a:r>
              <a:rPr lang="en-US" altLang="en-US" sz="2400" dirty="0"/>
              <a:t> is currently allocated </a:t>
            </a:r>
            <a:r>
              <a:rPr lang="en-US" altLang="en-US" sz="2400" i="1" dirty="0"/>
              <a:t>k</a:t>
            </a:r>
            <a:r>
              <a:rPr lang="en-US" altLang="en-US" sz="2400" dirty="0"/>
              <a:t> instances of </a:t>
            </a:r>
            <a:r>
              <a:rPr lang="en-US" altLang="en-US" sz="2400" i="1" dirty="0" err="1"/>
              <a:t>R</a:t>
            </a:r>
            <a:r>
              <a:rPr lang="en-US" altLang="en-US" sz="2400" i="1" baseline="-25000" dirty="0" err="1"/>
              <a:t>j</a:t>
            </a:r>
            <a:endParaRPr lang="en-US" altLang="en-US" sz="2400" baseline="-25000" dirty="0"/>
          </a:p>
          <a:p>
            <a:pPr>
              <a:defRPr/>
            </a:pPr>
            <a:r>
              <a:rPr lang="en-US" altLang="en-US" sz="2400" dirty="0">
                <a:solidFill>
                  <a:srgbClr val="FF0000"/>
                </a:solidFill>
              </a:rPr>
              <a:t>Need (n x m matrix):</a:t>
            </a:r>
            <a:r>
              <a:rPr lang="en-US" altLang="en-US" sz="2400" dirty="0"/>
              <a:t> If </a:t>
            </a:r>
            <a:r>
              <a:rPr lang="en-US" altLang="en-US" sz="2400" i="1" dirty="0"/>
              <a:t>Need </a:t>
            </a:r>
            <a:r>
              <a:rPr lang="en-US" altLang="en-US" sz="2400" dirty="0"/>
              <a:t>[ </a:t>
            </a:r>
            <a:r>
              <a:rPr lang="en-US" altLang="en-US" sz="2400" i="1" dirty="0" err="1"/>
              <a:t>i</a:t>
            </a:r>
            <a:r>
              <a:rPr lang="en-US" altLang="en-US" sz="2400" i="1" dirty="0"/>
              <a:t>, j </a:t>
            </a:r>
            <a:r>
              <a:rPr lang="en-US" altLang="en-US" sz="2400" dirty="0"/>
              <a:t>] ==</a:t>
            </a:r>
            <a:r>
              <a:rPr lang="en-US" altLang="en-US" sz="2400" i="1" dirty="0"/>
              <a:t> k</a:t>
            </a:r>
            <a:r>
              <a:rPr lang="en-US" altLang="en-US" sz="2400" dirty="0"/>
              <a:t>, then</a:t>
            </a:r>
            <a:r>
              <a:rPr lang="en-US" altLang="en-US" sz="2400" i="1" dirty="0"/>
              <a:t> P</a:t>
            </a:r>
            <a:r>
              <a:rPr lang="en-US" altLang="en-US" sz="2400" i="1" baseline="-25000" dirty="0"/>
              <a:t>i</a:t>
            </a:r>
            <a:r>
              <a:rPr lang="en-US" altLang="en-US" sz="2400" dirty="0"/>
              <a:t> may need </a:t>
            </a:r>
            <a:r>
              <a:rPr lang="en-US" altLang="en-US" sz="2400" i="1" dirty="0"/>
              <a:t>k</a:t>
            </a:r>
            <a:r>
              <a:rPr lang="en-US" altLang="en-US" sz="2400" dirty="0"/>
              <a:t> more instances of </a:t>
            </a:r>
            <a:r>
              <a:rPr lang="en-US" altLang="en-US" sz="2400" i="1" dirty="0" err="1"/>
              <a:t>R</a:t>
            </a:r>
            <a:r>
              <a:rPr lang="en-US" altLang="en-US" sz="2400" i="1" baseline="-25000" dirty="0" err="1"/>
              <a:t>j</a:t>
            </a:r>
            <a:r>
              <a:rPr lang="en-US" altLang="en-US" sz="2400" baseline="-25000" dirty="0"/>
              <a:t>  </a:t>
            </a:r>
            <a:r>
              <a:rPr lang="en-US" altLang="en-US" sz="2400" dirty="0"/>
              <a:t>to complete its task</a:t>
            </a:r>
          </a:p>
          <a:p>
            <a:pPr marL="0" indent="0" algn="ctr">
              <a:buFontTx/>
              <a:buNone/>
              <a:defRPr/>
            </a:pPr>
            <a:r>
              <a:rPr lang="en-US" altLang="en-US" sz="2800" b="1" dirty="0">
                <a:solidFill>
                  <a:schemeClr val="accent1">
                    <a:lumMod val="75000"/>
                  </a:schemeClr>
                </a:solidFill>
              </a:rPr>
              <a:t>Need [ </a:t>
            </a:r>
            <a:r>
              <a:rPr lang="en-US" altLang="en-US" sz="2800" b="1" dirty="0" err="1">
                <a:solidFill>
                  <a:schemeClr val="accent1">
                    <a:lumMod val="75000"/>
                  </a:schemeClr>
                </a:solidFill>
              </a:rPr>
              <a:t>i</a:t>
            </a:r>
            <a:r>
              <a:rPr lang="en-US" altLang="en-US" sz="2800" b="1" dirty="0">
                <a:solidFill>
                  <a:schemeClr val="accent1">
                    <a:lumMod val="75000"/>
                  </a:schemeClr>
                </a:solidFill>
              </a:rPr>
              <a:t>, j ] = Max [ </a:t>
            </a:r>
            <a:r>
              <a:rPr lang="en-US" altLang="en-US" sz="2800" b="1" dirty="0" err="1">
                <a:solidFill>
                  <a:schemeClr val="accent1">
                    <a:lumMod val="75000"/>
                  </a:schemeClr>
                </a:solidFill>
              </a:rPr>
              <a:t>i</a:t>
            </a:r>
            <a:r>
              <a:rPr lang="en-US" altLang="en-US" sz="2800" b="1" dirty="0">
                <a:solidFill>
                  <a:schemeClr val="accent1">
                    <a:lumMod val="75000"/>
                  </a:schemeClr>
                </a:solidFill>
              </a:rPr>
              <a:t>, j ] – Allocation [ </a:t>
            </a:r>
            <a:r>
              <a:rPr lang="en-US" altLang="en-US" sz="2800" b="1" dirty="0" err="1">
                <a:solidFill>
                  <a:schemeClr val="accent1">
                    <a:lumMod val="75000"/>
                  </a:schemeClr>
                </a:solidFill>
              </a:rPr>
              <a:t>i</a:t>
            </a:r>
            <a:r>
              <a:rPr lang="en-US" altLang="en-US" sz="2800" b="1" dirty="0">
                <a:solidFill>
                  <a:schemeClr val="accent1">
                    <a:lumMod val="75000"/>
                  </a:schemeClr>
                </a:solidFill>
              </a:rPr>
              <a:t>, j ]</a:t>
            </a:r>
          </a:p>
        </p:txBody>
      </p:sp>
      <p:sp>
        <p:nvSpPr>
          <p:cNvPr id="70660" name="Text Box 4">
            <a:extLst>
              <a:ext uri="{FF2B5EF4-FFF2-40B4-BE49-F238E27FC236}">
                <a16:creationId xmlns:a16="http://schemas.microsoft.com/office/drawing/2014/main" id="{1994130E-CC7B-4897-BE80-192C75B96F5E}"/>
              </a:ext>
            </a:extLst>
          </p:cNvPr>
          <p:cNvSpPr txBox="1">
            <a:spLocks noChangeArrowheads="1"/>
          </p:cNvSpPr>
          <p:nvPr/>
        </p:nvSpPr>
        <p:spPr bwMode="auto">
          <a:xfrm>
            <a:off x="231775" y="1271588"/>
            <a:ext cx="917416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buSzTx/>
              <a:buFontTx/>
              <a:buNone/>
            </a:pPr>
            <a:r>
              <a:rPr lang="en-US" altLang="en-US" sz="2300" i="1">
                <a:solidFill>
                  <a:schemeClr val="accent2"/>
                </a:solidFill>
              </a:rPr>
              <a:t>n</a:t>
            </a:r>
            <a:r>
              <a:rPr lang="en-US" altLang="en-US" sz="2300">
                <a:solidFill>
                  <a:schemeClr val="accent2"/>
                </a:solidFill>
              </a:rPr>
              <a:t> = number of processes; </a:t>
            </a:r>
            <a:r>
              <a:rPr lang="en-US" altLang="en-US" sz="2300" i="1">
                <a:solidFill>
                  <a:schemeClr val="accent2"/>
                </a:solidFill>
              </a:rPr>
              <a:t>m </a:t>
            </a:r>
            <a:r>
              <a:rPr lang="en-US" altLang="en-US" sz="2300">
                <a:solidFill>
                  <a:schemeClr val="accent2"/>
                </a:solidFill>
              </a:rPr>
              <a:t>= number of resource types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Footer Placeholder 3">
            <a:extLst>
              <a:ext uri="{FF2B5EF4-FFF2-40B4-BE49-F238E27FC236}">
                <a16:creationId xmlns:a16="http://schemas.microsoft.com/office/drawing/2014/main" id="{6D9F2812-48F7-48E6-9BA6-C92EB79F33A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72706" name="Rectangle 2">
            <a:extLst>
              <a:ext uri="{FF2B5EF4-FFF2-40B4-BE49-F238E27FC236}">
                <a16:creationId xmlns:a16="http://schemas.microsoft.com/office/drawing/2014/main" id="{4EBEAECB-DAB6-43DE-9494-705808CB0E99}"/>
              </a:ext>
            </a:extLst>
          </p:cNvPr>
          <p:cNvSpPr>
            <a:spLocks noGrp="1" noChangeArrowheads="1"/>
          </p:cNvSpPr>
          <p:nvPr>
            <p:ph type="title"/>
          </p:nvPr>
        </p:nvSpPr>
        <p:spPr>
          <a:xfrm>
            <a:off x="731838" y="495300"/>
            <a:ext cx="7726362" cy="457200"/>
          </a:xfrm>
        </p:spPr>
        <p:txBody>
          <a:bodyPr/>
          <a:lstStyle/>
          <a:p>
            <a:r>
              <a:rPr lang="en-US" altLang="en-US"/>
              <a:t>Banker’s Algorithm Part 1: Safety Algorithm</a:t>
            </a:r>
          </a:p>
        </p:txBody>
      </p:sp>
      <p:sp>
        <p:nvSpPr>
          <p:cNvPr id="68611" name="Rectangle 3">
            <a:extLst>
              <a:ext uri="{FF2B5EF4-FFF2-40B4-BE49-F238E27FC236}">
                <a16:creationId xmlns:a16="http://schemas.microsoft.com/office/drawing/2014/main" id="{37AEA545-EFEF-43CF-B472-B31DADA19BCD}"/>
              </a:ext>
            </a:extLst>
          </p:cNvPr>
          <p:cNvSpPr>
            <a:spLocks noGrp="1" noChangeArrowheads="1"/>
          </p:cNvSpPr>
          <p:nvPr>
            <p:ph type="body" idx="1"/>
          </p:nvPr>
        </p:nvSpPr>
        <p:spPr>
          <a:xfrm>
            <a:off x="136525" y="1193800"/>
            <a:ext cx="8878888" cy="4873625"/>
          </a:xfrm>
        </p:spPr>
        <p:txBody>
          <a:bodyPr/>
          <a:lstStyle/>
          <a:p>
            <a:pPr marL="457200" indent="-457200">
              <a:lnSpc>
                <a:spcPct val="90000"/>
              </a:lnSpc>
              <a:buFont typeface="+mj-lt"/>
              <a:buAutoNum type="arabicPeriod"/>
              <a:defRPr/>
            </a:pPr>
            <a:r>
              <a:rPr lang="en-US" altLang="en-US" sz="2400" dirty="0"/>
              <a:t>Let </a:t>
            </a:r>
            <a:r>
              <a:rPr lang="en-US" altLang="en-US" sz="2400" b="1" dirty="0">
                <a:solidFill>
                  <a:schemeClr val="accent1">
                    <a:lumMod val="75000"/>
                  </a:schemeClr>
                </a:solidFill>
              </a:rPr>
              <a:t>Work</a:t>
            </a:r>
            <a:r>
              <a:rPr lang="en-US" altLang="en-US" sz="2400" i="1" dirty="0">
                <a:solidFill>
                  <a:schemeClr val="accent1">
                    <a:lumMod val="75000"/>
                  </a:schemeClr>
                </a:solidFill>
              </a:rPr>
              <a:t> </a:t>
            </a:r>
            <a:r>
              <a:rPr lang="en-US" altLang="en-US" sz="2400" dirty="0"/>
              <a:t>and </a:t>
            </a:r>
            <a:r>
              <a:rPr lang="en-US" altLang="en-US" sz="2400" b="1" dirty="0">
                <a:solidFill>
                  <a:schemeClr val="accent1">
                    <a:lumMod val="75000"/>
                  </a:schemeClr>
                </a:solidFill>
              </a:rPr>
              <a:t>Finish</a:t>
            </a:r>
            <a:r>
              <a:rPr lang="en-US" altLang="en-US" sz="2400" dirty="0"/>
              <a:t> be vectors of length</a:t>
            </a:r>
            <a:r>
              <a:rPr lang="en-US" altLang="en-US" sz="2400" i="1" dirty="0"/>
              <a:t> </a:t>
            </a:r>
            <a:r>
              <a:rPr lang="en-US" altLang="en-US" sz="2400" b="1" dirty="0">
                <a:solidFill>
                  <a:schemeClr val="accent1">
                    <a:lumMod val="75000"/>
                  </a:schemeClr>
                </a:solidFill>
              </a:rPr>
              <a:t>m</a:t>
            </a:r>
            <a:r>
              <a:rPr lang="en-US" altLang="en-US" sz="2400" dirty="0"/>
              <a:t> and </a:t>
            </a:r>
            <a:r>
              <a:rPr lang="en-US" altLang="en-US" sz="2400" b="1" dirty="0">
                <a:solidFill>
                  <a:schemeClr val="accent1">
                    <a:lumMod val="75000"/>
                  </a:schemeClr>
                </a:solidFill>
              </a:rPr>
              <a:t>n</a:t>
            </a:r>
            <a:r>
              <a:rPr lang="en-US" altLang="en-US" sz="2400" dirty="0"/>
              <a:t>, respectively; initially</a:t>
            </a:r>
          </a:p>
          <a:p>
            <a:pPr marL="796925" lvl="1" indent="-282575">
              <a:lnSpc>
                <a:spcPct val="90000"/>
              </a:lnSpc>
              <a:defRPr/>
            </a:pPr>
            <a:r>
              <a:rPr lang="en-US" altLang="en-US" sz="2400" b="1" dirty="0">
                <a:solidFill>
                  <a:schemeClr val="accent1">
                    <a:lumMod val="75000"/>
                  </a:schemeClr>
                </a:solidFill>
              </a:rPr>
              <a:t>Work = Available</a:t>
            </a:r>
          </a:p>
          <a:p>
            <a:pPr marL="796925" lvl="1" indent="-282575">
              <a:lnSpc>
                <a:spcPct val="90000"/>
              </a:lnSpc>
              <a:defRPr/>
            </a:pPr>
            <a:r>
              <a:rPr lang="en-US" altLang="en-US" sz="2400" b="1" dirty="0">
                <a:solidFill>
                  <a:schemeClr val="accent1">
                    <a:lumMod val="75000"/>
                  </a:schemeClr>
                </a:solidFill>
              </a:rPr>
              <a:t>Finish [ </a:t>
            </a:r>
            <a:r>
              <a:rPr lang="en-US" altLang="en-US" sz="2400" b="1" dirty="0" err="1">
                <a:solidFill>
                  <a:schemeClr val="accent1">
                    <a:lumMod val="75000"/>
                  </a:schemeClr>
                </a:solidFill>
              </a:rPr>
              <a:t>i</a:t>
            </a:r>
            <a:r>
              <a:rPr lang="en-US" altLang="en-US" sz="2400" b="1" dirty="0">
                <a:solidFill>
                  <a:schemeClr val="accent1">
                    <a:lumMod val="75000"/>
                  </a:schemeClr>
                </a:solidFill>
              </a:rPr>
              <a:t> ] = false for </a:t>
            </a:r>
            <a:r>
              <a:rPr lang="en-US" altLang="en-US" sz="2400" b="1" dirty="0" err="1">
                <a:solidFill>
                  <a:schemeClr val="accent1">
                    <a:lumMod val="75000"/>
                  </a:schemeClr>
                </a:solidFill>
              </a:rPr>
              <a:t>i</a:t>
            </a:r>
            <a:r>
              <a:rPr lang="en-US" altLang="en-US" sz="2400" b="1" dirty="0">
                <a:solidFill>
                  <a:schemeClr val="accent1">
                    <a:lumMod val="75000"/>
                  </a:schemeClr>
                </a:solidFill>
              </a:rPr>
              <a:t> = 1,2, …, n</a:t>
            </a:r>
          </a:p>
          <a:p>
            <a:pPr marL="2111375" lvl="4" indent="-282575">
              <a:lnSpc>
                <a:spcPct val="90000"/>
              </a:lnSpc>
              <a:defRPr/>
            </a:pPr>
            <a:endParaRPr lang="en-US" altLang="en-US" sz="1200" dirty="0"/>
          </a:p>
          <a:p>
            <a:pPr marL="457200" indent="-457200">
              <a:lnSpc>
                <a:spcPct val="90000"/>
              </a:lnSpc>
              <a:buFont typeface="+mj-lt"/>
              <a:buAutoNum type="arabicPeriod"/>
              <a:defRPr/>
            </a:pPr>
            <a:r>
              <a:rPr lang="en-US" altLang="en-US" sz="2400" dirty="0"/>
              <a:t>Find an </a:t>
            </a:r>
            <a:r>
              <a:rPr lang="en-US" altLang="en-US" sz="2400" b="1" dirty="0" err="1">
                <a:solidFill>
                  <a:schemeClr val="accent1">
                    <a:lumMod val="75000"/>
                  </a:schemeClr>
                </a:solidFill>
              </a:rPr>
              <a:t>i</a:t>
            </a:r>
            <a:r>
              <a:rPr lang="en-US" altLang="en-US" sz="2400" i="1" dirty="0"/>
              <a:t> </a:t>
            </a:r>
            <a:r>
              <a:rPr lang="en-US" altLang="en-US" sz="2400" dirty="0"/>
              <a:t>such that (a)</a:t>
            </a:r>
            <a:r>
              <a:rPr lang="en-US" altLang="en-US" sz="2400" b="1" dirty="0">
                <a:solidFill>
                  <a:schemeClr val="accent1">
                    <a:lumMod val="75000"/>
                  </a:schemeClr>
                </a:solidFill>
              </a:rPr>
              <a:t>Finish [</a:t>
            </a:r>
            <a:r>
              <a:rPr lang="en-US" altLang="en-US" sz="2400" b="1" dirty="0" err="1">
                <a:solidFill>
                  <a:schemeClr val="accent1">
                    <a:lumMod val="75000"/>
                  </a:schemeClr>
                </a:solidFill>
              </a:rPr>
              <a:t>i</a:t>
            </a:r>
            <a:r>
              <a:rPr lang="en-US" altLang="en-US" sz="2400" b="1" dirty="0">
                <a:solidFill>
                  <a:schemeClr val="accent1">
                    <a:lumMod val="75000"/>
                  </a:schemeClr>
                </a:solidFill>
              </a:rPr>
              <a:t>] == false </a:t>
            </a:r>
            <a:r>
              <a:rPr lang="en-US" altLang="en-US" sz="2400" dirty="0"/>
              <a:t>and (b)</a:t>
            </a:r>
            <a:r>
              <a:rPr lang="en-US" altLang="en-US" sz="2400" b="1" dirty="0">
                <a:solidFill>
                  <a:schemeClr val="accent1">
                    <a:lumMod val="75000"/>
                  </a:schemeClr>
                </a:solidFill>
              </a:rPr>
              <a:t>Need [ </a:t>
            </a:r>
            <a:r>
              <a:rPr lang="en-US" altLang="en-US" sz="2400" b="1" dirty="0" err="1">
                <a:solidFill>
                  <a:schemeClr val="accent1">
                    <a:lumMod val="75000"/>
                  </a:schemeClr>
                </a:solidFill>
              </a:rPr>
              <a:t>i</a:t>
            </a:r>
            <a:r>
              <a:rPr lang="en-US" altLang="en-US" sz="2400" b="1" dirty="0">
                <a:solidFill>
                  <a:schemeClr val="accent1">
                    <a:lumMod val="75000"/>
                  </a:schemeClr>
                </a:solidFill>
              </a:rPr>
              <a:t>, * ] </a:t>
            </a:r>
            <a:r>
              <a:rPr lang="en-US" altLang="en-US" sz="2400" b="1" dirty="0">
                <a:solidFill>
                  <a:schemeClr val="accent1">
                    <a:lumMod val="75000"/>
                  </a:schemeClr>
                </a:solidFill>
                <a:sym typeface="Symbol" charset="2"/>
              </a:rPr>
              <a:t> Work</a:t>
            </a:r>
          </a:p>
          <a:p>
            <a:pPr marL="796925" lvl="1" indent="-282575">
              <a:lnSpc>
                <a:spcPct val="90000"/>
              </a:lnSpc>
              <a:defRPr/>
            </a:pPr>
            <a:r>
              <a:rPr lang="en-US" altLang="en-US" sz="2400" dirty="0">
                <a:sym typeface="Symbol" charset="2"/>
              </a:rPr>
              <a:t>If no such </a:t>
            </a:r>
            <a:r>
              <a:rPr lang="en-US" altLang="en-US" sz="2400" b="1" dirty="0" err="1">
                <a:solidFill>
                  <a:schemeClr val="accent1">
                    <a:lumMod val="75000"/>
                  </a:schemeClr>
                </a:solidFill>
                <a:sym typeface="Symbol" charset="2"/>
              </a:rPr>
              <a:t>i</a:t>
            </a:r>
            <a:r>
              <a:rPr lang="en-US" altLang="en-US" sz="2400" i="1" dirty="0">
                <a:sym typeface="Symbol" charset="2"/>
              </a:rPr>
              <a:t> </a:t>
            </a:r>
            <a:r>
              <a:rPr lang="en-US" altLang="en-US" sz="2400" dirty="0">
                <a:sym typeface="Symbol" charset="2"/>
              </a:rPr>
              <a:t>exists, go to step 4</a:t>
            </a:r>
          </a:p>
          <a:p>
            <a:pPr marL="2111375" lvl="4" indent="-282575">
              <a:lnSpc>
                <a:spcPct val="90000"/>
              </a:lnSpc>
              <a:defRPr/>
            </a:pPr>
            <a:endParaRPr lang="en-US" altLang="en-US" sz="1200" dirty="0">
              <a:sym typeface="Symbol" charset="2"/>
            </a:endParaRPr>
          </a:p>
          <a:p>
            <a:pPr marL="457200" indent="-457200">
              <a:lnSpc>
                <a:spcPct val="90000"/>
              </a:lnSpc>
              <a:buFont typeface="+mj-lt"/>
              <a:buAutoNum type="arabicPeriod"/>
              <a:defRPr/>
            </a:pPr>
            <a:r>
              <a:rPr lang="en-US" altLang="en-US" sz="2400" b="1" dirty="0">
                <a:solidFill>
                  <a:schemeClr val="accent1">
                    <a:lumMod val="75000"/>
                  </a:schemeClr>
                </a:solidFill>
              </a:rPr>
              <a:t>Work = Work + Allocation [ </a:t>
            </a:r>
            <a:r>
              <a:rPr lang="en-US" altLang="en-US" sz="2400" b="1" dirty="0" err="1">
                <a:solidFill>
                  <a:schemeClr val="accent1">
                    <a:lumMod val="75000"/>
                  </a:schemeClr>
                </a:solidFill>
              </a:rPr>
              <a:t>i</a:t>
            </a:r>
            <a:r>
              <a:rPr lang="en-US" altLang="en-US" sz="2400" b="1" dirty="0">
                <a:solidFill>
                  <a:schemeClr val="accent1">
                    <a:lumMod val="75000"/>
                  </a:schemeClr>
                </a:solidFill>
              </a:rPr>
              <a:t>, * ]; Finish[</a:t>
            </a:r>
            <a:r>
              <a:rPr lang="en-US" altLang="en-US" sz="2400" b="1" dirty="0" err="1">
                <a:solidFill>
                  <a:schemeClr val="accent1">
                    <a:lumMod val="75000"/>
                  </a:schemeClr>
                </a:solidFill>
              </a:rPr>
              <a:t>i</a:t>
            </a:r>
            <a:r>
              <a:rPr lang="en-US" altLang="en-US" sz="2400" b="1" dirty="0">
                <a:solidFill>
                  <a:schemeClr val="accent1">
                    <a:lumMod val="75000"/>
                  </a:schemeClr>
                </a:solidFill>
              </a:rPr>
              <a:t>] = true </a:t>
            </a:r>
          </a:p>
          <a:p>
            <a:pPr marL="796925" lvl="1" indent="-282575">
              <a:lnSpc>
                <a:spcPct val="90000"/>
              </a:lnSpc>
              <a:defRPr/>
            </a:pPr>
            <a:r>
              <a:rPr lang="en-US" altLang="en-US" sz="2400" dirty="0"/>
              <a:t>Go to step 2</a:t>
            </a:r>
          </a:p>
          <a:p>
            <a:pPr marL="971550" lvl="1" indent="-457200">
              <a:lnSpc>
                <a:spcPct val="90000"/>
              </a:lnSpc>
              <a:buFont typeface="+mj-lt"/>
              <a:buAutoNum type="arabicPeriod"/>
              <a:defRPr/>
            </a:pPr>
            <a:endParaRPr lang="en-US" altLang="en-US" sz="1200" dirty="0"/>
          </a:p>
          <a:p>
            <a:pPr marL="457200" indent="-457200">
              <a:lnSpc>
                <a:spcPct val="90000"/>
              </a:lnSpc>
              <a:buFont typeface="+mj-lt"/>
              <a:buAutoNum type="arabicPeriod"/>
              <a:defRPr/>
            </a:pPr>
            <a:r>
              <a:rPr lang="en-US" altLang="en-US" sz="2400" dirty="0"/>
              <a:t>If </a:t>
            </a:r>
            <a:r>
              <a:rPr lang="en-US" altLang="en-US" sz="2400" b="1" dirty="0">
                <a:solidFill>
                  <a:schemeClr val="accent1">
                    <a:lumMod val="75000"/>
                  </a:schemeClr>
                </a:solidFill>
              </a:rPr>
              <a:t>Finish [</a:t>
            </a:r>
            <a:r>
              <a:rPr lang="en-US" altLang="en-US" sz="2400" b="1" dirty="0" err="1">
                <a:solidFill>
                  <a:schemeClr val="accent1">
                    <a:lumMod val="75000"/>
                  </a:schemeClr>
                </a:solidFill>
              </a:rPr>
              <a:t>i</a:t>
            </a:r>
            <a:r>
              <a:rPr lang="en-US" altLang="en-US" sz="2400" b="1" dirty="0">
                <a:solidFill>
                  <a:schemeClr val="accent1">
                    <a:lumMod val="75000"/>
                  </a:schemeClr>
                </a:solidFill>
              </a:rPr>
              <a:t>] == true </a:t>
            </a:r>
            <a:r>
              <a:rPr lang="en-US" altLang="en-US" sz="2400" dirty="0"/>
              <a:t>for all </a:t>
            </a:r>
            <a:r>
              <a:rPr lang="en-US" altLang="en-US" sz="2400" b="1" dirty="0" err="1">
                <a:solidFill>
                  <a:schemeClr val="accent1">
                    <a:lumMod val="75000"/>
                  </a:schemeClr>
                </a:solidFill>
              </a:rPr>
              <a:t>i</a:t>
            </a:r>
            <a:r>
              <a:rPr lang="en-US" altLang="en-US" sz="2400" dirty="0"/>
              <a:t>, then the system is in a safe state</a:t>
            </a:r>
          </a:p>
          <a:p>
            <a:pPr marL="796925" lvl="1" indent="-282575">
              <a:lnSpc>
                <a:spcPct val="90000"/>
              </a:lnSpc>
              <a:defRPr/>
            </a:pPr>
            <a:r>
              <a:rPr lang="en-US" altLang="en-US" sz="2400" dirty="0"/>
              <a:t>Otherwise the system is in a unsafe state</a:t>
            </a:r>
          </a:p>
        </p:txBody>
      </p:sp>
      <p:sp>
        <p:nvSpPr>
          <p:cNvPr id="24581" name="TextBox 1">
            <a:extLst>
              <a:ext uri="{FF2B5EF4-FFF2-40B4-BE49-F238E27FC236}">
                <a16:creationId xmlns:a16="http://schemas.microsoft.com/office/drawing/2014/main" id="{5E27FA78-842A-46EE-AC73-8A1B0A12289A}"/>
              </a:ext>
            </a:extLst>
          </p:cNvPr>
          <p:cNvSpPr txBox="1">
            <a:spLocks noChangeArrowheads="1"/>
          </p:cNvSpPr>
          <p:nvPr/>
        </p:nvSpPr>
        <p:spPr bwMode="auto">
          <a:xfrm>
            <a:off x="5068888" y="4905375"/>
            <a:ext cx="3746500" cy="6461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latin typeface="Comic Sans MS" panose="030F0702030302020204" pitchFamily="66" charset="0"/>
              </a:rPr>
              <a:t>Work= Available + resources held by all P</a:t>
            </a:r>
            <a:r>
              <a:rPr lang="en-US" altLang="en-US" baseline="-25000">
                <a:solidFill>
                  <a:srgbClr val="FF0000"/>
                </a:solidFill>
                <a:latin typeface="Comic Sans MS" panose="030F0702030302020204" pitchFamily="66" charset="0"/>
              </a:rPr>
              <a:t>j</a:t>
            </a:r>
            <a:r>
              <a:rPr lang="en-US" altLang="en-US">
                <a:solidFill>
                  <a:srgbClr val="FF0000"/>
                </a:solidFill>
                <a:latin typeface="Comic Sans MS" panose="030F0702030302020204" pitchFamily="66" charset="0"/>
              </a:rPr>
              <a:t> (Finish [ j ] = true)</a:t>
            </a:r>
          </a:p>
        </p:txBody>
      </p:sp>
      <p:cxnSp>
        <p:nvCxnSpPr>
          <p:cNvPr id="24582" name="Straight Arrow Connector 3">
            <a:extLst>
              <a:ext uri="{FF2B5EF4-FFF2-40B4-BE49-F238E27FC236}">
                <a16:creationId xmlns:a16="http://schemas.microsoft.com/office/drawing/2014/main" id="{F5B36A7B-820B-4F92-8682-BD5BA66D851B}"/>
              </a:ext>
            </a:extLst>
          </p:cNvPr>
          <p:cNvCxnSpPr>
            <a:cxnSpLocks noChangeShapeType="1"/>
            <a:stCxn id="24581" idx="1"/>
          </p:cNvCxnSpPr>
          <p:nvPr/>
        </p:nvCxnSpPr>
        <p:spPr bwMode="auto">
          <a:xfrm flipH="1" flipV="1">
            <a:off x="1397000" y="4810125"/>
            <a:ext cx="3671888" cy="417513"/>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8" name="TextBox 1">
            <a:extLst>
              <a:ext uri="{FF2B5EF4-FFF2-40B4-BE49-F238E27FC236}">
                <a16:creationId xmlns:a16="http://schemas.microsoft.com/office/drawing/2014/main" id="{5F722CDD-FF3A-462E-91DB-E2F691384FBE}"/>
              </a:ext>
            </a:extLst>
          </p:cNvPr>
          <p:cNvSpPr txBox="1">
            <a:spLocks noChangeArrowheads="1"/>
          </p:cNvSpPr>
          <p:nvPr/>
        </p:nvSpPr>
        <p:spPr bwMode="auto">
          <a:xfrm>
            <a:off x="5815013" y="3521075"/>
            <a:ext cx="3000375" cy="3698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a:solidFill>
                  <a:srgbClr val="FF0000"/>
                </a:solidFill>
                <a:latin typeface="Comic Sans MS" panose="030F0702030302020204" pitchFamily="66" charset="0"/>
              </a:rPr>
              <a:t>What if multiple answers?</a:t>
            </a:r>
          </a:p>
        </p:txBody>
      </p:sp>
      <p:cxnSp>
        <p:nvCxnSpPr>
          <p:cNvPr id="9" name="Straight Arrow Connector 3">
            <a:extLst>
              <a:ext uri="{FF2B5EF4-FFF2-40B4-BE49-F238E27FC236}">
                <a16:creationId xmlns:a16="http://schemas.microsoft.com/office/drawing/2014/main" id="{63080D66-D23A-4DB2-B460-D513934F3EAA}"/>
              </a:ext>
            </a:extLst>
          </p:cNvPr>
          <p:cNvCxnSpPr>
            <a:cxnSpLocks noChangeShapeType="1"/>
            <a:stCxn id="8" idx="1"/>
          </p:cNvCxnSpPr>
          <p:nvPr/>
        </p:nvCxnSpPr>
        <p:spPr bwMode="auto">
          <a:xfrm flipH="1" flipV="1">
            <a:off x="1928813" y="3397250"/>
            <a:ext cx="3886200" cy="309563"/>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61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611">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58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58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861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8611">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8611">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861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Footer Placeholder 3">
            <a:extLst>
              <a:ext uri="{FF2B5EF4-FFF2-40B4-BE49-F238E27FC236}">
                <a16:creationId xmlns:a16="http://schemas.microsoft.com/office/drawing/2014/main" id="{124FA61E-F925-45C7-8745-949B86731E2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74754" name="Rectangle 2">
            <a:extLst>
              <a:ext uri="{FF2B5EF4-FFF2-40B4-BE49-F238E27FC236}">
                <a16:creationId xmlns:a16="http://schemas.microsoft.com/office/drawing/2014/main" id="{C412BA00-40BD-4C56-875B-6EABFBF53A3F}"/>
              </a:ext>
            </a:extLst>
          </p:cNvPr>
          <p:cNvSpPr>
            <a:spLocks noGrp="1" noChangeArrowheads="1"/>
          </p:cNvSpPr>
          <p:nvPr>
            <p:ph type="title"/>
          </p:nvPr>
        </p:nvSpPr>
        <p:spPr/>
        <p:txBody>
          <a:bodyPr/>
          <a:lstStyle/>
          <a:p>
            <a:r>
              <a:rPr lang="en-US" altLang="en-US"/>
              <a:t>Example of Safety Algorithm</a:t>
            </a:r>
          </a:p>
        </p:txBody>
      </p:sp>
      <p:sp>
        <p:nvSpPr>
          <p:cNvPr id="74755" name="Rectangle 3">
            <a:extLst>
              <a:ext uri="{FF2B5EF4-FFF2-40B4-BE49-F238E27FC236}">
                <a16:creationId xmlns:a16="http://schemas.microsoft.com/office/drawing/2014/main" id="{E8D5A259-0FB9-4C4A-9BF1-8FE524DA61C4}"/>
              </a:ext>
            </a:extLst>
          </p:cNvPr>
          <p:cNvSpPr>
            <a:spLocks noGrp="1" noChangeArrowheads="1"/>
          </p:cNvSpPr>
          <p:nvPr>
            <p:ph type="body" idx="1"/>
          </p:nvPr>
        </p:nvSpPr>
        <p:spPr>
          <a:xfrm>
            <a:off x="415925" y="1155700"/>
            <a:ext cx="8458200" cy="5256213"/>
          </a:xfrm>
        </p:spPr>
        <p:txBody>
          <a:bodyPr/>
          <a:lstStyle/>
          <a:p>
            <a:pPr>
              <a:lnSpc>
                <a:spcPct val="80000"/>
              </a:lnSpc>
              <a:tabLst>
                <a:tab pos="1371600" algn="l"/>
                <a:tab pos="2395538" algn="ctr"/>
                <a:tab pos="3594100" algn="ctr"/>
                <a:tab pos="4805363" algn="ctr"/>
              </a:tabLst>
            </a:pPr>
            <a:r>
              <a:rPr lang="en-US" altLang="en-US" sz="2800">
                <a:solidFill>
                  <a:srgbClr val="FF0000"/>
                </a:solidFill>
              </a:rPr>
              <a:t>5 processes: </a:t>
            </a:r>
            <a:r>
              <a:rPr lang="en-US" altLang="en-US" sz="2800"/>
              <a:t>P</a:t>
            </a:r>
            <a:r>
              <a:rPr lang="en-US" altLang="en-US" sz="2800" baseline="-25000"/>
              <a:t>0 </a:t>
            </a:r>
            <a:r>
              <a:rPr lang="en-US" altLang="en-US" sz="2800"/>
              <a:t>through P</a:t>
            </a:r>
            <a:r>
              <a:rPr lang="en-US" altLang="en-US" sz="2800" baseline="-25000"/>
              <a:t>4</a:t>
            </a:r>
            <a:endParaRPr lang="en-US" altLang="en-US" sz="2800"/>
          </a:p>
          <a:p>
            <a:pPr>
              <a:lnSpc>
                <a:spcPct val="80000"/>
              </a:lnSpc>
              <a:tabLst>
                <a:tab pos="1371600" algn="l"/>
                <a:tab pos="2395538" algn="ctr"/>
                <a:tab pos="3594100" algn="ctr"/>
                <a:tab pos="4805363" algn="ctr"/>
              </a:tabLst>
            </a:pPr>
            <a:r>
              <a:rPr lang="en-US" altLang="en-US" sz="2800">
                <a:solidFill>
                  <a:srgbClr val="FF0000"/>
                </a:solidFill>
              </a:rPr>
              <a:t>3 resource types: </a:t>
            </a:r>
            <a:r>
              <a:rPr lang="en-US" altLang="en-US" sz="2800"/>
              <a:t>A (10 instances), B (5 instances) and C (7 instances)</a:t>
            </a:r>
          </a:p>
          <a:p>
            <a:pPr>
              <a:lnSpc>
                <a:spcPct val="80000"/>
              </a:lnSpc>
              <a:tabLst>
                <a:tab pos="1371600" algn="l"/>
                <a:tab pos="2395538" algn="ctr"/>
                <a:tab pos="3594100" algn="ctr"/>
                <a:tab pos="4805363" algn="ctr"/>
              </a:tabLst>
            </a:pPr>
            <a:r>
              <a:rPr lang="en-US" altLang="en-US" sz="2800">
                <a:solidFill>
                  <a:srgbClr val="FF0000"/>
                </a:solidFill>
              </a:rPr>
              <a:t>Snapshot at time T</a:t>
            </a:r>
            <a:r>
              <a:rPr lang="en-US" altLang="en-US" sz="2800" baseline="-25000">
                <a:solidFill>
                  <a:srgbClr val="FF0000"/>
                </a:solidFill>
              </a:rPr>
              <a:t>0</a:t>
            </a:r>
            <a:r>
              <a:rPr lang="en-US" altLang="en-US" sz="2800">
                <a:solidFill>
                  <a:srgbClr val="FF0000"/>
                </a:solidFill>
              </a:rPr>
              <a:t>:  </a:t>
            </a:r>
            <a:r>
              <a:rPr lang="en-US" altLang="en-US" sz="2800" i="1" u="sng">
                <a:solidFill>
                  <a:schemeClr val="accent2"/>
                </a:solidFill>
              </a:rPr>
              <a:t>Allocation</a:t>
            </a:r>
            <a:r>
              <a:rPr lang="en-US" altLang="en-US" sz="2800" i="1">
                <a:solidFill>
                  <a:schemeClr val="accent2"/>
                </a:solidFill>
              </a:rPr>
              <a:t>	 </a:t>
            </a:r>
            <a:r>
              <a:rPr lang="en-US" altLang="en-US" sz="2800" i="1" u="sng">
                <a:solidFill>
                  <a:schemeClr val="accent2"/>
                </a:solidFill>
              </a:rPr>
              <a:t>Max</a:t>
            </a:r>
            <a:r>
              <a:rPr lang="en-US" altLang="en-US" sz="2800" i="1">
                <a:solidFill>
                  <a:schemeClr val="accent2"/>
                </a:solidFill>
              </a:rPr>
              <a:t>	 </a:t>
            </a:r>
            <a:r>
              <a:rPr lang="en-US" altLang="en-US" sz="2800" i="1" u="sng">
                <a:solidFill>
                  <a:schemeClr val="accent2"/>
                </a:solidFill>
              </a:rPr>
              <a:t>Available</a:t>
            </a:r>
            <a:endParaRPr lang="en-US" altLang="en-US" sz="2800" i="1">
              <a:solidFill>
                <a:schemeClr val="accent2"/>
              </a:solidFill>
            </a:endParaRPr>
          </a:p>
          <a:p>
            <a:pPr>
              <a:lnSpc>
                <a:spcPct val="80000"/>
              </a:lnSpc>
              <a:buFontTx/>
              <a:buNone/>
              <a:tabLst>
                <a:tab pos="1371600" algn="l"/>
                <a:tab pos="2395538" algn="ctr"/>
                <a:tab pos="3594100" algn="ctr"/>
                <a:tab pos="4805363" algn="ctr"/>
              </a:tabLst>
            </a:pPr>
            <a:r>
              <a:rPr lang="en-US" altLang="en-US" sz="2800" i="1"/>
              <a:t>				                A B C     A B C     A B C</a:t>
            </a:r>
          </a:p>
          <a:p>
            <a:pPr>
              <a:lnSpc>
                <a:spcPct val="80000"/>
              </a:lnSpc>
              <a:buFontTx/>
              <a:buNone/>
              <a:tabLst>
                <a:tab pos="1371600" algn="l"/>
                <a:tab pos="2395538" algn="ctr"/>
                <a:tab pos="3594100" algn="ctr"/>
                <a:tab pos="4805363" algn="ctr"/>
              </a:tabLst>
            </a:pPr>
            <a:r>
              <a:rPr lang="en-US" altLang="en-US" sz="2800"/>
              <a:t>		</a:t>
            </a:r>
            <a:r>
              <a:rPr lang="en-US" altLang="en-US" sz="2800">
                <a:solidFill>
                  <a:schemeClr val="accent2"/>
                </a:solidFill>
              </a:rPr>
              <a:t>       </a:t>
            </a:r>
            <a:r>
              <a:rPr lang="en-US" altLang="en-US" sz="2800" i="1">
                <a:solidFill>
                  <a:schemeClr val="accent2"/>
                </a:solidFill>
              </a:rPr>
              <a:t>P</a:t>
            </a:r>
            <a:r>
              <a:rPr lang="en-US" altLang="en-US" sz="2800" baseline="-25000">
                <a:solidFill>
                  <a:schemeClr val="accent2"/>
                </a:solidFill>
              </a:rPr>
              <a:t>0	 </a:t>
            </a:r>
            <a:r>
              <a:rPr lang="en-US" altLang="en-US" sz="2800" baseline="-25000"/>
              <a:t>                        </a:t>
            </a:r>
            <a:r>
              <a:rPr lang="en-US" altLang="en-US" sz="2800"/>
              <a:t>0 1 0       7 5 3      3 3 2</a:t>
            </a:r>
          </a:p>
          <a:p>
            <a:pPr>
              <a:lnSpc>
                <a:spcPct val="80000"/>
              </a:lnSpc>
              <a:buFontTx/>
              <a:buNone/>
              <a:tabLst>
                <a:tab pos="1371600" algn="l"/>
                <a:tab pos="2395538" algn="ctr"/>
                <a:tab pos="3594100" algn="ctr"/>
                <a:tab pos="4805363" algn="ctr"/>
              </a:tabLst>
            </a:pPr>
            <a:r>
              <a:rPr lang="en-US" altLang="en-US" sz="2800"/>
              <a:t>	                   </a:t>
            </a:r>
            <a:r>
              <a:rPr lang="en-US" altLang="en-US" sz="2800" i="1">
                <a:solidFill>
                  <a:schemeClr val="accent2"/>
                </a:solidFill>
              </a:rPr>
              <a:t>P</a:t>
            </a:r>
            <a:r>
              <a:rPr lang="en-US" altLang="en-US" sz="2800" baseline="-25000">
                <a:solidFill>
                  <a:schemeClr val="accent2"/>
                </a:solidFill>
              </a:rPr>
              <a:t>1</a:t>
            </a:r>
            <a:r>
              <a:rPr lang="en-US" altLang="en-US" sz="2800" baseline="-25000"/>
              <a:t>	</a:t>
            </a:r>
            <a:r>
              <a:rPr lang="en-US" altLang="en-US" sz="2800"/>
              <a:t>                2 0 0 	 3 2 2  </a:t>
            </a:r>
          </a:p>
          <a:p>
            <a:pPr>
              <a:lnSpc>
                <a:spcPct val="80000"/>
              </a:lnSpc>
              <a:buFontTx/>
              <a:buNone/>
              <a:tabLst>
                <a:tab pos="1371600" algn="l"/>
                <a:tab pos="2395538" algn="ctr"/>
                <a:tab pos="3594100" algn="ctr"/>
                <a:tab pos="4805363" algn="ctr"/>
              </a:tabLst>
            </a:pPr>
            <a:r>
              <a:rPr lang="en-US" altLang="en-US" sz="2800"/>
              <a:t>		       </a:t>
            </a:r>
            <a:r>
              <a:rPr lang="en-US" altLang="en-US" sz="2800" i="1">
                <a:solidFill>
                  <a:schemeClr val="accent2"/>
                </a:solidFill>
              </a:rPr>
              <a:t>P</a:t>
            </a:r>
            <a:r>
              <a:rPr lang="en-US" altLang="en-US" sz="2800" baseline="-25000">
                <a:solidFill>
                  <a:schemeClr val="accent2"/>
                </a:solidFill>
              </a:rPr>
              <a:t>2</a:t>
            </a:r>
            <a:r>
              <a:rPr lang="en-US" altLang="en-US" sz="2800"/>
              <a:t>	                3 0 2 	 9 0 2</a:t>
            </a:r>
          </a:p>
          <a:p>
            <a:pPr>
              <a:lnSpc>
                <a:spcPct val="80000"/>
              </a:lnSpc>
              <a:buFontTx/>
              <a:buNone/>
              <a:tabLst>
                <a:tab pos="1371600" algn="l"/>
                <a:tab pos="2395538" algn="ctr"/>
                <a:tab pos="3594100" algn="ctr"/>
                <a:tab pos="4805363" algn="ctr"/>
              </a:tabLst>
            </a:pPr>
            <a:r>
              <a:rPr lang="en-US" altLang="en-US" sz="2800"/>
              <a:t>		       </a:t>
            </a:r>
            <a:r>
              <a:rPr lang="en-US" altLang="en-US" sz="2800" i="1">
                <a:solidFill>
                  <a:schemeClr val="accent2"/>
                </a:solidFill>
              </a:rPr>
              <a:t>P</a:t>
            </a:r>
            <a:r>
              <a:rPr lang="en-US" altLang="en-US" sz="2800" baseline="-25000">
                <a:solidFill>
                  <a:schemeClr val="accent2"/>
                </a:solidFill>
              </a:rPr>
              <a:t>3</a:t>
            </a:r>
            <a:r>
              <a:rPr lang="en-US" altLang="en-US" sz="2800"/>
              <a:t>	                2 1 1 	 2 2 2</a:t>
            </a:r>
          </a:p>
          <a:p>
            <a:pPr>
              <a:lnSpc>
                <a:spcPct val="80000"/>
              </a:lnSpc>
              <a:buFontTx/>
              <a:buNone/>
              <a:tabLst>
                <a:tab pos="1371600" algn="l"/>
                <a:tab pos="2395538" algn="ctr"/>
                <a:tab pos="3594100" algn="ctr"/>
                <a:tab pos="4805363" algn="ctr"/>
              </a:tabLst>
            </a:pPr>
            <a:r>
              <a:rPr lang="en-US" altLang="en-US" sz="2800"/>
              <a:t>		       </a:t>
            </a:r>
            <a:r>
              <a:rPr lang="en-US" altLang="en-US" sz="2800" i="1">
                <a:solidFill>
                  <a:schemeClr val="accent2"/>
                </a:solidFill>
              </a:rPr>
              <a:t>P</a:t>
            </a:r>
            <a:r>
              <a:rPr lang="en-US" altLang="en-US" sz="2800" baseline="-25000">
                <a:solidFill>
                  <a:schemeClr val="accent2"/>
                </a:solidFill>
              </a:rPr>
              <a:t>4</a:t>
            </a:r>
            <a:r>
              <a:rPr lang="en-US" altLang="en-US" sz="2800"/>
              <a:t>	                0 0 2	        4 3 3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12" name="Rectangle 3">
            <a:extLst>
              <a:ext uri="{FF2B5EF4-FFF2-40B4-BE49-F238E27FC236}">
                <a16:creationId xmlns:a16="http://schemas.microsoft.com/office/drawing/2014/main" id="{44426AE5-2C2E-4BBF-B157-A25288730F3D}"/>
              </a:ext>
            </a:extLst>
          </p:cNvPr>
          <p:cNvSpPr txBox="1">
            <a:spLocks noChangeArrowheads="1"/>
          </p:cNvSpPr>
          <p:nvPr/>
        </p:nvSpPr>
        <p:spPr bwMode="auto">
          <a:xfrm>
            <a:off x="284163" y="1273175"/>
            <a:ext cx="8659812" cy="4914900"/>
          </a:xfrm>
          <a:prstGeom prst="rect">
            <a:avLst/>
          </a:prstGeom>
          <a:noFill/>
          <a:ln>
            <a:noFill/>
          </a:ln>
        </p:spPr>
        <p:txBody>
          <a:bodyPr/>
          <a:lstStyle>
            <a:lvl1pPr marL="228600" indent="-228600">
              <a:spcBef>
                <a:spcPct val="50000"/>
              </a:spcBef>
              <a:buSzPct val="140000"/>
              <a:buChar char="•"/>
              <a:tabLst>
                <a:tab pos="2452688" algn="l"/>
                <a:tab pos="3492500" algn="ctr"/>
              </a:tabLst>
              <a:defRPr>
                <a:solidFill>
                  <a:schemeClr val="tx1"/>
                </a:solidFill>
                <a:latin typeface="Helvetica" charset="0"/>
              </a:defRPr>
            </a:lvl1pPr>
            <a:lvl2pPr marL="742950" indent="-285750">
              <a:spcBef>
                <a:spcPct val="20000"/>
              </a:spcBef>
              <a:buChar char="–"/>
              <a:tabLst>
                <a:tab pos="2452688" algn="l"/>
                <a:tab pos="3492500" algn="ctr"/>
              </a:tabLst>
              <a:defRPr>
                <a:solidFill>
                  <a:schemeClr val="tx1"/>
                </a:solidFill>
                <a:latin typeface="Helvetica" charset="0"/>
              </a:defRPr>
            </a:lvl2pPr>
            <a:lvl3pPr marL="1143000" indent="-228600">
              <a:spcBef>
                <a:spcPct val="20000"/>
              </a:spcBef>
              <a:buSzPct val="85000"/>
              <a:buFont typeface="Monotype Sorts" charset="2"/>
              <a:buChar char="T"/>
              <a:tabLst>
                <a:tab pos="2452688" algn="l"/>
                <a:tab pos="3492500" algn="ctr"/>
              </a:tabLst>
              <a:defRPr>
                <a:solidFill>
                  <a:schemeClr val="tx1"/>
                </a:solidFill>
                <a:latin typeface="Helvetica" charset="0"/>
              </a:defRPr>
            </a:lvl3pPr>
            <a:lvl4pPr marL="1600200" indent="-228600">
              <a:spcBef>
                <a:spcPct val="20000"/>
              </a:spcBef>
              <a:buChar char="–"/>
              <a:tabLst>
                <a:tab pos="2452688" algn="l"/>
                <a:tab pos="3492500" algn="ctr"/>
              </a:tabLst>
              <a:defRPr>
                <a:solidFill>
                  <a:schemeClr val="tx1"/>
                </a:solidFill>
                <a:latin typeface="Helvetica" charset="0"/>
              </a:defRPr>
            </a:lvl4pPr>
            <a:lvl5pPr marL="2057400" indent="-228600">
              <a:spcBef>
                <a:spcPct val="20000"/>
              </a:spcBef>
              <a:buChar char="»"/>
              <a:tabLst>
                <a:tab pos="2452688" algn="l"/>
                <a:tab pos="3492500" algn="ctr"/>
              </a:tabLst>
              <a:defRPr>
                <a:solidFill>
                  <a:schemeClr val="tx1"/>
                </a:solidFill>
                <a:latin typeface="Helvetica" charset="0"/>
              </a:defRPr>
            </a:lvl5pPr>
            <a:lvl6pPr marL="2514600" indent="-228600" eaLnBrk="0" fontAlgn="base" hangingPunct="0">
              <a:spcBef>
                <a:spcPct val="20000"/>
              </a:spcBef>
              <a:spcAft>
                <a:spcPct val="0"/>
              </a:spcAft>
              <a:buChar char="»"/>
              <a:tabLst>
                <a:tab pos="2452688" algn="l"/>
                <a:tab pos="3492500" algn="ctr"/>
              </a:tabLst>
              <a:defRPr>
                <a:solidFill>
                  <a:schemeClr val="tx1"/>
                </a:solidFill>
                <a:latin typeface="Helvetica" charset="0"/>
              </a:defRPr>
            </a:lvl6pPr>
            <a:lvl7pPr marL="2971800" indent="-228600" eaLnBrk="0" fontAlgn="base" hangingPunct="0">
              <a:spcBef>
                <a:spcPct val="20000"/>
              </a:spcBef>
              <a:spcAft>
                <a:spcPct val="0"/>
              </a:spcAft>
              <a:buChar char="»"/>
              <a:tabLst>
                <a:tab pos="2452688" algn="l"/>
                <a:tab pos="3492500" algn="ctr"/>
              </a:tabLst>
              <a:defRPr>
                <a:solidFill>
                  <a:schemeClr val="tx1"/>
                </a:solidFill>
                <a:latin typeface="Helvetica" charset="0"/>
              </a:defRPr>
            </a:lvl7pPr>
            <a:lvl8pPr marL="3429000" indent="-228600" eaLnBrk="0" fontAlgn="base" hangingPunct="0">
              <a:spcBef>
                <a:spcPct val="20000"/>
              </a:spcBef>
              <a:spcAft>
                <a:spcPct val="0"/>
              </a:spcAft>
              <a:buChar char="»"/>
              <a:tabLst>
                <a:tab pos="2452688" algn="l"/>
                <a:tab pos="3492500" algn="ctr"/>
              </a:tabLst>
              <a:defRPr>
                <a:solidFill>
                  <a:schemeClr val="tx1"/>
                </a:solidFill>
                <a:latin typeface="Helvetica" charset="0"/>
              </a:defRPr>
            </a:lvl8pPr>
            <a:lvl9pPr marL="3886200" indent="-228600" eaLnBrk="0" fontAlgn="base" hangingPunct="0">
              <a:spcBef>
                <a:spcPct val="20000"/>
              </a:spcBef>
              <a:spcAft>
                <a:spcPct val="0"/>
              </a:spcAft>
              <a:buChar char="»"/>
              <a:tabLst>
                <a:tab pos="2452688" algn="l"/>
                <a:tab pos="3492500" algn="ctr"/>
              </a:tabLst>
              <a:defRPr>
                <a:solidFill>
                  <a:schemeClr val="tx1"/>
                </a:solidFill>
                <a:latin typeface="Helvetica" charset="0"/>
              </a:defRPr>
            </a:lvl9pPr>
          </a:lstStyle>
          <a:p>
            <a:pPr>
              <a:lnSpc>
                <a:spcPct val="80000"/>
              </a:lnSpc>
              <a:defRPr/>
            </a:pPr>
            <a:r>
              <a:rPr lang="en-US" altLang="en-US" sz="2600" dirty="0"/>
              <a:t>Then the matrix </a:t>
            </a:r>
            <a:r>
              <a:rPr lang="en-US" altLang="en-US" sz="2600" b="1" dirty="0">
                <a:solidFill>
                  <a:schemeClr val="accent1">
                    <a:lumMod val="75000"/>
                  </a:schemeClr>
                </a:solidFill>
              </a:rPr>
              <a:t>Need</a:t>
            </a:r>
            <a:r>
              <a:rPr lang="en-US" altLang="en-US" sz="2600" dirty="0">
                <a:solidFill>
                  <a:schemeClr val="accent1">
                    <a:lumMod val="75000"/>
                  </a:schemeClr>
                </a:solidFill>
              </a:rPr>
              <a:t> </a:t>
            </a:r>
            <a:r>
              <a:rPr lang="en-US" altLang="en-US" sz="2600" dirty="0"/>
              <a:t>is defined to be </a:t>
            </a:r>
            <a:r>
              <a:rPr lang="en-US" altLang="en-US" sz="2600" b="1" dirty="0">
                <a:solidFill>
                  <a:schemeClr val="accent1">
                    <a:lumMod val="75000"/>
                  </a:schemeClr>
                </a:solidFill>
              </a:rPr>
              <a:t>Max – Allocation</a:t>
            </a:r>
          </a:p>
          <a:p>
            <a:pPr>
              <a:lnSpc>
                <a:spcPct val="80000"/>
              </a:lnSpc>
              <a:buFontTx/>
              <a:buNone/>
              <a:defRPr/>
            </a:pPr>
            <a:endParaRPr lang="en-US" altLang="en-US" sz="2400" i="1" u="sng" dirty="0"/>
          </a:p>
          <a:p>
            <a:pPr>
              <a:lnSpc>
                <a:spcPct val="80000"/>
              </a:lnSpc>
              <a:buFontTx/>
              <a:buNone/>
              <a:defRPr/>
            </a:pPr>
            <a:r>
              <a:rPr lang="en-US" altLang="en-US" sz="2400" i="1" dirty="0"/>
              <a:t>	       </a:t>
            </a:r>
            <a:r>
              <a:rPr lang="en-US" altLang="en-US" sz="2400" i="1" u="sng" dirty="0">
                <a:solidFill>
                  <a:schemeClr val="accent2"/>
                </a:solidFill>
              </a:rPr>
              <a:t>Allocation</a:t>
            </a:r>
            <a:r>
              <a:rPr lang="en-US" altLang="en-US" sz="2400" i="1" dirty="0">
                <a:solidFill>
                  <a:schemeClr val="accent2"/>
                </a:solidFill>
              </a:rPr>
              <a:t>           </a:t>
            </a:r>
            <a:r>
              <a:rPr lang="en-US" altLang="en-US" sz="2400" i="1" u="sng" dirty="0">
                <a:solidFill>
                  <a:schemeClr val="accent2"/>
                </a:solidFill>
              </a:rPr>
              <a:t>Max</a:t>
            </a:r>
            <a:r>
              <a:rPr lang="en-US" altLang="en-US" sz="2400" i="1" dirty="0">
                <a:solidFill>
                  <a:schemeClr val="accent2"/>
                </a:solidFill>
              </a:rPr>
              <a:t>	                </a:t>
            </a:r>
            <a:r>
              <a:rPr lang="en-US" altLang="en-US" sz="2400" b="1" i="1" u="sng" dirty="0">
                <a:solidFill>
                  <a:schemeClr val="accent2"/>
                </a:solidFill>
              </a:rPr>
              <a:t>Need</a:t>
            </a:r>
            <a:r>
              <a:rPr lang="en-US" altLang="en-US" sz="2400" i="1" dirty="0">
                <a:solidFill>
                  <a:schemeClr val="accent2"/>
                </a:solidFill>
              </a:rPr>
              <a:t>              </a:t>
            </a:r>
            <a:r>
              <a:rPr lang="en-US" altLang="en-US" sz="2400" i="1" u="sng" dirty="0">
                <a:solidFill>
                  <a:schemeClr val="accent2"/>
                </a:solidFill>
              </a:rPr>
              <a:t>Available</a:t>
            </a:r>
            <a:endParaRPr lang="en-US" altLang="en-US" sz="2400" i="1" dirty="0">
              <a:solidFill>
                <a:schemeClr val="accent2"/>
              </a:solidFill>
            </a:endParaRPr>
          </a:p>
          <a:p>
            <a:pPr>
              <a:lnSpc>
                <a:spcPct val="80000"/>
              </a:lnSpc>
              <a:buFontTx/>
              <a:buNone/>
              <a:defRPr/>
            </a:pPr>
            <a:r>
              <a:rPr lang="en-US" altLang="en-US" sz="2400" i="1" dirty="0"/>
              <a:t>            A B C	      A B C 	     A B C   	         A B C</a:t>
            </a:r>
          </a:p>
          <a:p>
            <a:pPr>
              <a:lnSpc>
                <a:spcPct val="80000"/>
              </a:lnSpc>
              <a:buFontTx/>
              <a:buNone/>
              <a:defRPr/>
            </a:pPr>
            <a:r>
              <a:rPr lang="en-US" altLang="en-US" sz="2400" i="1" dirty="0">
                <a:solidFill>
                  <a:schemeClr val="accent2"/>
                </a:solidFill>
              </a:rPr>
              <a:t>P</a:t>
            </a:r>
            <a:r>
              <a:rPr lang="en-US" altLang="en-US" sz="2400" baseline="-25000" dirty="0">
                <a:solidFill>
                  <a:schemeClr val="accent2"/>
                </a:solidFill>
              </a:rPr>
              <a:t>0</a:t>
            </a:r>
            <a:r>
              <a:rPr lang="en-US" altLang="en-US" sz="2400" dirty="0"/>
              <a:t>         0 1 0	       7 5 3	      	                     3 3 2</a:t>
            </a:r>
          </a:p>
          <a:p>
            <a:pPr>
              <a:lnSpc>
                <a:spcPct val="80000"/>
              </a:lnSpc>
              <a:buFontTx/>
              <a:buNone/>
              <a:defRPr/>
            </a:pPr>
            <a:r>
              <a:rPr lang="en-US" altLang="en-US" sz="2400" i="1" dirty="0">
                <a:solidFill>
                  <a:schemeClr val="accent2"/>
                </a:solidFill>
              </a:rPr>
              <a:t>P</a:t>
            </a:r>
            <a:r>
              <a:rPr lang="en-US" altLang="en-US" sz="2400" baseline="-25000" dirty="0">
                <a:solidFill>
                  <a:schemeClr val="accent2"/>
                </a:solidFill>
              </a:rPr>
              <a:t>1</a:t>
            </a:r>
            <a:r>
              <a:rPr lang="en-US" altLang="en-US" sz="2400" dirty="0"/>
              <a:t>         2 0 0 	       3 2 2</a:t>
            </a:r>
          </a:p>
          <a:p>
            <a:pPr>
              <a:lnSpc>
                <a:spcPct val="80000"/>
              </a:lnSpc>
              <a:buFontTx/>
              <a:buNone/>
              <a:defRPr/>
            </a:pPr>
            <a:r>
              <a:rPr lang="en-US" altLang="en-US" sz="2400" i="1" dirty="0">
                <a:solidFill>
                  <a:schemeClr val="accent2"/>
                </a:solidFill>
              </a:rPr>
              <a:t>P</a:t>
            </a:r>
            <a:r>
              <a:rPr lang="en-US" altLang="en-US" sz="2400" baseline="-25000" dirty="0">
                <a:solidFill>
                  <a:schemeClr val="accent2"/>
                </a:solidFill>
              </a:rPr>
              <a:t>2</a:t>
            </a:r>
            <a:r>
              <a:rPr lang="en-US" altLang="en-US" sz="2400" dirty="0"/>
              <a:t>         3 0 2 	       9 0 2</a:t>
            </a:r>
          </a:p>
          <a:p>
            <a:pPr>
              <a:lnSpc>
                <a:spcPct val="80000"/>
              </a:lnSpc>
              <a:buFontTx/>
              <a:buNone/>
              <a:defRPr/>
            </a:pPr>
            <a:r>
              <a:rPr lang="en-US" altLang="en-US" sz="2400" i="1" dirty="0">
                <a:solidFill>
                  <a:schemeClr val="accent2"/>
                </a:solidFill>
              </a:rPr>
              <a:t>P</a:t>
            </a:r>
            <a:r>
              <a:rPr lang="en-US" altLang="en-US" sz="2400" baseline="-25000" dirty="0">
                <a:solidFill>
                  <a:schemeClr val="accent2"/>
                </a:solidFill>
              </a:rPr>
              <a:t>3</a:t>
            </a:r>
            <a:r>
              <a:rPr lang="en-US" altLang="en-US" sz="2400" dirty="0"/>
              <a:t>         2 1 1 	       2 2 2</a:t>
            </a:r>
          </a:p>
          <a:p>
            <a:pPr>
              <a:lnSpc>
                <a:spcPct val="80000"/>
              </a:lnSpc>
              <a:buFontTx/>
              <a:buNone/>
              <a:defRPr/>
            </a:pPr>
            <a:r>
              <a:rPr lang="en-US" altLang="en-US" sz="2400" i="1" dirty="0">
                <a:solidFill>
                  <a:schemeClr val="accent2"/>
                </a:solidFill>
              </a:rPr>
              <a:t>P</a:t>
            </a:r>
            <a:r>
              <a:rPr lang="en-US" altLang="en-US" sz="2400" baseline="-25000" dirty="0">
                <a:solidFill>
                  <a:schemeClr val="accent2"/>
                </a:solidFill>
              </a:rPr>
              <a:t>4</a:t>
            </a:r>
            <a:r>
              <a:rPr lang="en-US" altLang="en-US" sz="2400" dirty="0"/>
              <a:t>         0 0 2	       4 3 3 </a:t>
            </a:r>
            <a:r>
              <a:rPr lang="en-US" altLang="en-US" sz="2600" dirty="0"/>
              <a:t>	</a:t>
            </a:r>
          </a:p>
        </p:txBody>
      </p:sp>
      <p:sp>
        <p:nvSpPr>
          <p:cNvPr id="76802" name="Footer Placeholder 3">
            <a:extLst>
              <a:ext uri="{FF2B5EF4-FFF2-40B4-BE49-F238E27FC236}">
                <a16:creationId xmlns:a16="http://schemas.microsoft.com/office/drawing/2014/main" id="{967D2105-EF22-45EB-B69B-EE17A51CECC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76803" name="Rectangle 2">
            <a:extLst>
              <a:ext uri="{FF2B5EF4-FFF2-40B4-BE49-F238E27FC236}">
                <a16:creationId xmlns:a16="http://schemas.microsoft.com/office/drawing/2014/main" id="{7C919612-51B1-4D56-AD4E-1530545D41CF}"/>
              </a:ext>
            </a:extLst>
          </p:cNvPr>
          <p:cNvSpPr>
            <a:spLocks noGrp="1" noChangeArrowheads="1"/>
          </p:cNvSpPr>
          <p:nvPr>
            <p:ph type="title"/>
          </p:nvPr>
        </p:nvSpPr>
        <p:spPr/>
        <p:txBody>
          <a:bodyPr/>
          <a:lstStyle/>
          <a:p>
            <a:r>
              <a:rPr lang="en-US" altLang="en-US"/>
              <a:t>Example of Safety Algorithm (Cont.)</a:t>
            </a:r>
          </a:p>
        </p:txBody>
      </p:sp>
      <p:sp>
        <p:nvSpPr>
          <p:cNvPr id="12" name="Rectangle 11">
            <a:extLst>
              <a:ext uri="{FF2B5EF4-FFF2-40B4-BE49-F238E27FC236}">
                <a16:creationId xmlns:a16="http://schemas.microsoft.com/office/drawing/2014/main" id="{422E9954-7A33-4269-8108-16F8FA2E1E20}"/>
              </a:ext>
            </a:extLst>
          </p:cNvPr>
          <p:cNvSpPr>
            <a:spLocks noChangeArrowheads="1"/>
          </p:cNvSpPr>
          <p:nvPr/>
        </p:nvSpPr>
        <p:spPr bwMode="auto">
          <a:xfrm>
            <a:off x="5343525" y="3103563"/>
            <a:ext cx="9540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a:solidFill>
                  <a:srgbClr val="FF0000"/>
                </a:solidFill>
              </a:rPr>
              <a:t>7 4 3 </a:t>
            </a:r>
          </a:p>
        </p:txBody>
      </p:sp>
      <p:sp>
        <p:nvSpPr>
          <p:cNvPr id="13" name="Rectangle 12">
            <a:extLst>
              <a:ext uri="{FF2B5EF4-FFF2-40B4-BE49-F238E27FC236}">
                <a16:creationId xmlns:a16="http://schemas.microsoft.com/office/drawing/2014/main" id="{786969AF-1D81-40E2-A98D-530BF1B4427B}"/>
              </a:ext>
            </a:extLst>
          </p:cNvPr>
          <p:cNvSpPr>
            <a:spLocks noChangeArrowheads="1"/>
          </p:cNvSpPr>
          <p:nvPr/>
        </p:nvSpPr>
        <p:spPr bwMode="auto">
          <a:xfrm>
            <a:off x="5343525" y="3565525"/>
            <a:ext cx="869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a:solidFill>
                  <a:srgbClr val="FF0000"/>
                </a:solidFill>
              </a:rPr>
              <a:t>1 2 2</a:t>
            </a:r>
          </a:p>
        </p:txBody>
      </p:sp>
      <p:sp>
        <p:nvSpPr>
          <p:cNvPr id="14" name="Rectangle 13">
            <a:extLst>
              <a:ext uri="{FF2B5EF4-FFF2-40B4-BE49-F238E27FC236}">
                <a16:creationId xmlns:a16="http://schemas.microsoft.com/office/drawing/2014/main" id="{7A4F20DC-90D4-4098-976D-A10C4EDCAC3F}"/>
              </a:ext>
            </a:extLst>
          </p:cNvPr>
          <p:cNvSpPr>
            <a:spLocks noChangeArrowheads="1"/>
          </p:cNvSpPr>
          <p:nvPr/>
        </p:nvSpPr>
        <p:spPr bwMode="auto">
          <a:xfrm>
            <a:off x="5343525" y="4086225"/>
            <a:ext cx="869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a:solidFill>
                  <a:srgbClr val="FF0000"/>
                </a:solidFill>
              </a:rPr>
              <a:t>6 0 0</a:t>
            </a:r>
          </a:p>
        </p:txBody>
      </p:sp>
      <p:sp>
        <p:nvSpPr>
          <p:cNvPr id="15" name="Rectangle 14">
            <a:extLst>
              <a:ext uri="{FF2B5EF4-FFF2-40B4-BE49-F238E27FC236}">
                <a16:creationId xmlns:a16="http://schemas.microsoft.com/office/drawing/2014/main" id="{D8269764-9051-45CC-A726-B400CAE4210E}"/>
              </a:ext>
            </a:extLst>
          </p:cNvPr>
          <p:cNvSpPr>
            <a:spLocks noChangeArrowheads="1"/>
          </p:cNvSpPr>
          <p:nvPr/>
        </p:nvSpPr>
        <p:spPr bwMode="auto">
          <a:xfrm>
            <a:off x="5346700" y="4559300"/>
            <a:ext cx="954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a:solidFill>
                  <a:srgbClr val="FF0000"/>
                </a:solidFill>
              </a:rPr>
              <a:t>0 1 1 </a:t>
            </a:r>
          </a:p>
        </p:txBody>
      </p:sp>
      <p:sp>
        <p:nvSpPr>
          <p:cNvPr id="16" name="Rectangle 15">
            <a:extLst>
              <a:ext uri="{FF2B5EF4-FFF2-40B4-BE49-F238E27FC236}">
                <a16:creationId xmlns:a16="http://schemas.microsoft.com/office/drawing/2014/main" id="{187B9B59-86B3-4132-A71C-13DEAF46BC3C}"/>
              </a:ext>
            </a:extLst>
          </p:cNvPr>
          <p:cNvSpPr>
            <a:spLocks noChangeArrowheads="1"/>
          </p:cNvSpPr>
          <p:nvPr/>
        </p:nvSpPr>
        <p:spPr bwMode="auto">
          <a:xfrm>
            <a:off x="5343525" y="5040313"/>
            <a:ext cx="869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a:solidFill>
                  <a:srgbClr val="FF0000"/>
                </a:solidFill>
              </a:rPr>
              <a:t>4 3 1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15">
            <a:extLst>
              <a:ext uri="{FF2B5EF4-FFF2-40B4-BE49-F238E27FC236}">
                <a16:creationId xmlns:a16="http://schemas.microsoft.com/office/drawing/2014/main" id="{59953584-6F15-482F-B2C9-97AE156917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1263" y="5764213"/>
            <a:ext cx="52197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0" name="Footer Placeholder 2">
            <a:extLst>
              <a:ext uri="{FF2B5EF4-FFF2-40B4-BE49-F238E27FC236}">
                <a16:creationId xmlns:a16="http://schemas.microsoft.com/office/drawing/2014/main" id="{6A204F6A-CCF8-427B-AB1A-3E0CCB88E32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78851" name="Rectangle 4">
            <a:extLst>
              <a:ext uri="{FF2B5EF4-FFF2-40B4-BE49-F238E27FC236}">
                <a16:creationId xmlns:a16="http://schemas.microsoft.com/office/drawing/2014/main" id="{C7CB9C23-2495-44B7-8AED-AC10C7429C93}"/>
              </a:ext>
            </a:extLst>
          </p:cNvPr>
          <p:cNvSpPr>
            <a:spLocks noChangeArrowheads="1"/>
          </p:cNvSpPr>
          <p:nvPr/>
        </p:nvSpPr>
        <p:spPr bwMode="auto">
          <a:xfrm>
            <a:off x="1120775" y="461963"/>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800" b="1">
                <a:solidFill>
                  <a:schemeClr val="tx2"/>
                </a:solidFill>
              </a:rPr>
              <a:t>Example of Safety Algorithm (Cont.)</a:t>
            </a:r>
          </a:p>
        </p:txBody>
      </p:sp>
      <p:sp>
        <p:nvSpPr>
          <p:cNvPr id="78852" name="Rectangle 3">
            <a:extLst>
              <a:ext uri="{FF2B5EF4-FFF2-40B4-BE49-F238E27FC236}">
                <a16:creationId xmlns:a16="http://schemas.microsoft.com/office/drawing/2014/main" id="{068B89B2-F4B9-4ED6-A0F1-BAB5DCDAF44B}"/>
              </a:ext>
            </a:extLst>
          </p:cNvPr>
          <p:cNvSpPr>
            <a:spLocks noChangeArrowheads="1"/>
          </p:cNvSpPr>
          <p:nvPr/>
        </p:nvSpPr>
        <p:spPr bwMode="auto">
          <a:xfrm>
            <a:off x="485775" y="1319213"/>
            <a:ext cx="8397875"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spcBef>
                <a:spcPct val="50000"/>
              </a:spcBef>
              <a:buSzPct val="140000"/>
              <a:buChar char="•"/>
              <a:tabLst>
                <a:tab pos="1544638" algn="l"/>
                <a:tab pos="2452688" algn="ctr"/>
                <a:tab pos="3767138" algn="ctr"/>
                <a:tab pos="5022850" algn="ctr"/>
              </a:tabLst>
              <a:defRPr>
                <a:solidFill>
                  <a:schemeClr val="tx1"/>
                </a:solidFill>
                <a:latin typeface="Helvetica" panose="020B0604020202020204" pitchFamily="34" charset="0"/>
              </a:defRPr>
            </a:lvl1pPr>
            <a:lvl2pPr marL="742950" indent="-285750">
              <a:spcBef>
                <a:spcPct val="20000"/>
              </a:spcBef>
              <a:buChar char="–"/>
              <a:tabLst>
                <a:tab pos="1544638" algn="l"/>
                <a:tab pos="2452688" algn="ctr"/>
                <a:tab pos="3767138" algn="ctr"/>
                <a:tab pos="5022850" algn="ctr"/>
              </a:tabLst>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tabLst>
                <a:tab pos="1544638" algn="l"/>
                <a:tab pos="2452688" algn="ctr"/>
                <a:tab pos="3767138" algn="ctr"/>
                <a:tab pos="5022850" algn="ctr"/>
              </a:tabLst>
              <a:defRPr>
                <a:solidFill>
                  <a:schemeClr val="tx1"/>
                </a:solidFill>
                <a:latin typeface="Helvetica" panose="020B0604020202020204" pitchFamily="34" charset="0"/>
              </a:defRPr>
            </a:lvl3pPr>
            <a:lvl4pPr marL="1600200" indent="-228600">
              <a:spcBef>
                <a:spcPct val="20000"/>
              </a:spcBef>
              <a:buChar char="–"/>
              <a:tabLst>
                <a:tab pos="1544638" algn="l"/>
                <a:tab pos="2452688" algn="ctr"/>
                <a:tab pos="3767138" algn="ctr"/>
                <a:tab pos="5022850" algn="ctr"/>
              </a:tabLst>
              <a:defRPr>
                <a:solidFill>
                  <a:schemeClr val="tx1"/>
                </a:solidFill>
                <a:latin typeface="Helvetica" panose="020B0604020202020204" pitchFamily="34" charset="0"/>
              </a:defRPr>
            </a:lvl4pPr>
            <a:lvl5pPr marL="2057400" indent="-228600">
              <a:spcBef>
                <a:spcPct val="20000"/>
              </a:spcBef>
              <a:buChar char="»"/>
              <a:tabLst>
                <a:tab pos="1544638" algn="l"/>
                <a:tab pos="2452688" algn="ctr"/>
                <a:tab pos="3767138" algn="ctr"/>
                <a:tab pos="5022850" algn="ctr"/>
              </a:tabLst>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tabLst>
                <a:tab pos="1544638" algn="l"/>
                <a:tab pos="2452688" algn="ctr"/>
                <a:tab pos="3767138" algn="ctr"/>
                <a:tab pos="5022850" algn="ctr"/>
              </a:tabLst>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tabLst>
                <a:tab pos="1544638" algn="l"/>
                <a:tab pos="2452688" algn="ctr"/>
                <a:tab pos="3767138" algn="ctr"/>
                <a:tab pos="5022850" algn="ctr"/>
              </a:tabLst>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tabLst>
                <a:tab pos="1544638" algn="l"/>
                <a:tab pos="2452688" algn="ctr"/>
                <a:tab pos="3767138" algn="ctr"/>
                <a:tab pos="5022850" algn="ctr"/>
              </a:tabLst>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tabLst>
                <a:tab pos="1544638" algn="l"/>
                <a:tab pos="2452688" algn="ctr"/>
                <a:tab pos="3767138" algn="ctr"/>
                <a:tab pos="5022850" algn="ctr"/>
              </a:tabLst>
              <a:defRPr>
                <a:solidFill>
                  <a:schemeClr val="tx1"/>
                </a:solidFill>
                <a:latin typeface="Helvetica" panose="020B0604020202020204" pitchFamily="34" charset="0"/>
              </a:defRPr>
            </a:lvl9pPr>
          </a:lstStyle>
          <a:p>
            <a:pPr>
              <a:lnSpc>
                <a:spcPct val="80000"/>
              </a:lnSpc>
            </a:pPr>
            <a:r>
              <a:rPr lang="en-US" altLang="en-US" sz="2600">
                <a:solidFill>
                  <a:srgbClr val="FF0000"/>
                </a:solidFill>
              </a:rPr>
              <a:t>The working is as follows:</a:t>
            </a:r>
          </a:p>
          <a:p>
            <a:pPr>
              <a:lnSpc>
                <a:spcPct val="80000"/>
              </a:lnSpc>
            </a:pPr>
            <a:endParaRPr lang="en-US" altLang="en-US" sz="2600"/>
          </a:p>
        </p:txBody>
      </p:sp>
      <p:pic>
        <p:nvPicPr>
          <p:cNvPr id="78853" name="Picture 8">
            <a:extLst>
              <a:ext uri="{FF2B5EF4-FFF2-40B4-BE49-F238E27FC236}">
                <a16:creationId xmlns:a16="http://schemas.microsoft.com/office/drawing/2014/main" id="{39120301-C762-410A-B769-6E90971402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675" y="1974850"/>
            <a:ext cx="264795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0">
            <a:extLst>
              <a:ext uri="{FF2B5EF4-FFF2-40B4-BE49-F238E27FC236}">
                <a16:creationId xmlns:a16="http://schemas.microsoft.com/office/drawing/2014/main" id="{F13C7994-49C9-4C9B-819E-493FD52861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8563" y="3001963"/>
            <a:ext cx="52324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1">
            <a:extLst>
              <a:ext uri="{FF2B5EF4-FFF2-40B4-BE49-F238E27FC236}">
                <a16:creationId xmlns:a16="http://schemas.microsoft.com/office/drawing/2014/main" id="{0373664E-ED42-42BF-BCF0-937092C2D30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60788" y="3646488"/>
            <a:ext cx="5160962"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23">
            <a:extLst>
              <a:ext uri="{FF2B5EF4-FFF2-40B4-BE49-F238E27FC236}">
                <a16:creationId xmlns:a16="http://schemas.microsoft.com/office/drawing/2014/main" id="{68432D34-0A5C-4432-A10A-6A580E4546CE}"/>
              </a:ext>
            </a:extLst>
          </p:cNvPr>
          <p:cNvSpPr>
            <a:spLocks/>
          </p:cNvSpPr>
          <p:nvPr/>
        </p:nvSpPr>
        <p:spPr bwMode="auto">
          <a:xfrm>
            <a:off x="1682750" y="3044825"/>
            <a:ext cx="201613" cy="136525"/>
          </a:xfrm>
          <a:custGeom>
            <a:avLst/>
            <a:gdLst>
              <a:gd name="T0" fmla="*/ 0 w 201706"/>
              <a:gd name="T1" fmla="*/ 73447 h 135623"/>
              <a:gd name="T2" fmla="*/ 52615 w 201706"/>
              <a:gd name="T3" fmla="*/ 183624 h 135623"/>
              <a:gd name="T4" fmla="*/ 197337 w 201706"/>
              <a:gd name="T5" fmla="*/ 0 h 135623"/>
              <a:gd name="T6" fmla="*/ 0 60000 65536"/>
              <a:gd name="T7" fmla="*/ 0 60000 65536"/>
              <a:gd name="T8" fmla="*/ 0 60000 65536"/>
              <a:gd name="T9" fmla="*/ 0 w 201706"/>
              <a:gd name="T10" fmla="*/ 0 h 135623"/>
              <a:gd name="T11" fmla="*/ 201706 w 201706"/>
              <a:gd name="T12" fmla="*/ 135623 h 135623"/>
            </a:gdLst>
            <a:ahLst/>
            <a:cxnLst>
              <a:cxn ang="T6">
                <a:pos x="T0" y="T1"/>
              </a:cxn>
              <a:cxn ang="T7">
                <a:pos x="T2" y="T3"/>
              </a:cxn>
              <a:cxn ang="T8">
                <a:pos x="T4" y="T5"/>
              </a:cxn>
            </a:cxnLst>
            <a:rect l="T9" t="T10" r="T11" b="T12"/>
            <a:pathLst>
              <a:path w="201706" h="135623">
                <a:moveTo>
                  <a:pt x="0" y="53788"/>
                </a:moveTo>
                <a:cubicBezTo>
                  <a:pt x="10085" y="98611"/>
                  <a:pt x="20170" y="143435"/>
                  <a:pt x="53788" y="134470"/>
                </a:cubicBezTo>
                <a:cubicBezTo>
                  <a:pt x="87406" y="125505"/>
                  <a:pt x="144556" y="62752"/>
                  <a:pt x="201706"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25" name="Freeform 24">
            <a:extLst>
              <a:ext uri="{FF2B5EF4-FFF2-40B4-BE49-F238E27FC236}">
                <a16:creationId xmlns:a16="http://schemas.microsoft.com/office/drawing/2014/main" id="{3E8DE617-3D73-4910-B03A-781B72C5CD24}"/>
              </a:ext>
            </a:extLst>
          </p:cNvPr>
          <p:cNvSpPr>
            <a:spLocks/>
          </p:cNvSpPr>
          <p:nvPr/>
        </p:nvSpPr>
        <p:spPr bwMode="auto">
          <a:xfrm>
            <a:off x="1673225" y="3452813"/>
            <a:ext cx="201613" cy="136525"/>
          </a:xfrm>
          <a:custGeom>
            <a:avLst/>
            <a:gdLst>
              <a:gd name="T0" fmla="*/ 0 w 201706"/>
              <a:gd name="T1" fmla="*/ 73447 h 135623"/>
              <a:gd name="T2" fmla="*/ 52615 w 201706"/>
              <a:gd name="T3" fmla="*/ 183624 h 135623"/>
              <a:gd name="T4" fmla="*/ 197337 w 201706"/>
              <a:gd name="T5" fmla="*/ 0 h 135623"/>
              <a:gd name="T6" fmla="*/ 0 60000 65536"/>
              <a:gd name="T7" fmla="*/ 0 60000 65536"/>
              <a:gd name="T8" fmla="*/ 0 60000 65536"/>
              <a:gd name="T9" fmla="*/ 0 w 201706"/>
              <a:gd name="T10" fmla="*/ 0 h 135623"/>
              <a:gd name="T11" fmla="*/ 201706 w 201706"/>
              <a:gd name="T12" fmla="*/ 135623 h 135623"/>
            </a:gdLst>
            <a:ahLst/>
            <a:cxnLst>
              <a:cxn ang="T6">
                <a:pos x="T0" y="T1"/>
              </a:cxn>
              <a:cxn ang="T7">
                <a:pos x="T2" y="T3"/>
              </a:cxn>
              <a:cxn ang="T8">
                <a:pos x="T4" y="T5"/>
              </a:cxn>
            </a:cxnLst>
            <a:rect l="T9" t="T10" r="T11" b="T12"/>
            <a:pathLst>
              <a:path w="201706" h="135623">
                <a:moveTo>
                  <a:pt x="0" y="53788"/>
                </a:moveTo>
                <a:cubicBezTo>
                  <a:pt x="10085" y="98611"/>
                  <a:pt x="20170" y="143435"/>
                  <a:pt x="53788" y="134470"/>
                </a:cubicBezTo>
                <a:cubicBezTo>
                  <a:pt x="87406" y="125505"/>
                  <a:pt x="144556" y="62752"/>
                  <a:pt x="201706"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26" name="Freeform 25">
            <a:extLst>
              <a:ext uri="{FF2B5EF4-FFF2-40B4-BE49-F238E27FC236}">
                <a16:creationId xmlns:a16="http://schemas.microsoft.com/office/drawing/2014/main" id="{299E0AA6-3FE3-4F55-98BA-0DC4A40E334C}"/>
              </a:ext>
            </a:extLst>
          </p:cNvPr>
          <p:cNvSpPr>
            <a:spLocks/>
          </p:cNvSpPr>
          <p:nvPr/>
        </p:nvSpPr>
        <p:spPr bwMode="auto">
          <a:xfrm>
            <a:off x="1687513" y="3990975"/>
            <a:ext cx="201612" cy="134938"/>
          </a:xfrm>
          <a:custGeom>
            <a:avLst/>
            <a:gdLst>
              <a:gd name="T0" fmla="*/ 0 w 201706"/>
              <a:gd name="T1" fmla="*/ 42382 h 135623"/>
              <a:gd name="T2" fmla="*/ 52631 w 201706"/>
              <a:gd name="T3" fmla="*/ 105957 h 135623"/>
              <a:gd name="T4" fmla="*/ 197379 w 201706"/>
              <a:gd name="T5" fmla="*/ 0 h 135623"/>
              <a:gd name="T6" fmla="*/ 0 60000 65536"/>
              <a:gd name="T7" fmla="*/ 0 60000 65536"/>
              <a:gd name="T8" fmla="*/ 0 60000 65536"/>
              <a:gd name="T9" fmla="*/ 0 w 201706"/>
              <a:gd name="T10" fmla="*/ 0 h 135623"/>
              <a:gd name="T11" fmla="*/ 201706 w 201706"/>
              <a:gd name="T12" fmla="*/ 135623 h 135623"/>
            </a:gdLst>
            <a:ahLst/>
            <a:cxnLst>
              <a:cxn ang="T6">
                <a:pos x="T0" y="T1"/>
              </a:cxn>
              <a:cxn ang="T7">
                <a:pos x="T2" y="T3"/>
              </a:cxn>
              <a:cxn ang="T8">
                <a:pos x="T4" y="T5"/>
              </a:cxn>
            </a:cxnLst>
            <a:rect l="T9" t="T10" r="T11" b="T12"/>
            <a:pathLst>
              <a:path w="201706" h="135623">
                <a:moveTo>
                  <a:pt x="0" y="53788"/>
                </a:moveTo>
                <a:cubicBezTo>
                  <a:pt x="10085" y="98611"/>
                  <a:pt x="20170" y="143435"/>
                  <a:pt x="53788" y="134470"/>
                </a:cubicBezTo>
                <a:cubicBezTo>
                  <a:pt x="87406" y="125505"/>
                  <a:pt x="144556" y="62752"/>
                  <a:pt x="201706"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27" name="Freeform 26">
            <a:extLst>
              <a:ext uri="{FF2B5EF4-FFF2-40B4-BE49-F238E27FC236}">
                <a16:creationId xmlns:a16="http://schemas.microsoft.com/office/drawing/2014/main" id="{E6D8E471-12FE-42F5-8F6F-B82E05CBBF4D}"/>
              </a:ext>
            </a:extLst>
          </p:cNvPr>
          <p:cNvSpPr>
            <a:spLocks/>
          </p:cNvSpPr>
          <p:nvPr/>
        </p:nvSpPr>
        <p:spPr bwMode="auto">
          <a:xfrm>
            <a:off x="1677988" y="4506913"/>
            <a:ext cx="201612" cy="134937"/>
          </a:xfrm>
          <a:custGeom>
            <a:avLst/>
            <a:gdLst>
              <a:gd name="T0" fmla="*/ 0 w 201706"/>
              <a:gd name="T1" fmla="*/ 42393 h 135623"/>
              <a:gd name="T2" fmla="*/ 52631 w 201706"/>
              <a:gd name="T3" fmla="*/ 105989 h 135623"/>
              <a:gd name="T4" fmla="*/ 197379 w 201706"/>
              <a:gd name="T5" fmla="*/ 0 h 135623"/>
              <a:gd name="T6" fmla="*/ 0 60000 65536"/>
              <a:gd name="T7" fmla="*/ 0 60000 65536"/>
              <a:gd name="T8" fmla="*/ 0 60000 65536"/>
              <a:gd name="T9" fmla="*/ 0 w 201706"/>
              <a:gd name="T10" fmla="*/ 0 h 135623"/>
              <a:gd name="T11" fmla="*/ 201706 w 201706"/>
              <a:gd name="T12" fmla="*/ 135623 h 135623"/>
            </a:gdLst>
            <a:ahLst/>
            <a:cxnLst>
              <a:cxn ang="T6">
                <a:pos x="T0" y="T1"/>
              </a:cxn>
              <a:cxn ang="T7">
                <a:pos x="T2" y="T3"/>
              </a:cxn>
              <a:cxn ang="T8">
                <a:pos x="T4" y="T5"/>
              </a:cxn>
            </a:cxnLst>
            <a:rect l="T9" t="T10" r="T11" b="T12"/>
            <a:pathLst>
              <a:path w="201706" h="135623">
                <a:moveTo>
                  <a:pt x="0" y="53788"/>
                </a:moveTo>
                <a:cubicBezTo>
                  <a:pt x="10085" y="98611"/>
                  <a:pt x="20170" y="143435"/>
                  <a:pt x="53788" y="134470"/>
                </a:cubicBezTo>
                <a:cubicBezTo>
                  <a:pt x="87406" y="125505"/>
                  <a:pt x="144556" y="62752"/>
                  <a:pt x="201706"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sp>
        <p:nvSpPr>
          <p:cNvPr id="28" name="Freeform 27">
            <a:extLst>
              <a:ext uri="{FF2B5EF4-FFF2-40B4-BE49-F238E27FC236}">
                <a16:creationId xmlns:a16="http://schemas.microsoft.com/office/drawing/2014/main" id="{B7626CA1-079B-4ABD-868C-372B6C316A0B}"/>
              </a:ext>
            </a:extLst>
          </p:cNvPr>
          <p:cNvSpPr>
            <a:spLocks/>
          </p:cNvSpPr>
          <p:nvPr/>
        </p:nvSpPr>
        <p:spPr bwMode="auto">
          <a:xfrm>
            <a:off x="1665288" y="4991100"/>
            <a:ext cx="201612" cy="134938"/>
          </a:xfrm>
          <a:custGeom>
            <a:avLst/>
            <a:gdLst>
              <a:gd name="T0" fmla="*/ 0 w 201706"/>
              <a:gd name="T1" fmla="*/ 42382 h 135623"/>
              <a:gd name="T2" fmla="*/ 52631 w 201706"/>
              <a:gd name="T3" fmla="*/ 105957 h 135623"/>
              <a:gd name="T4" fmla="*/ 197379 w 201706"/>
              <a:gd name="T5" fmla="*/ 0 h 135623"/>
              <a:gd name="T6" fmla="*/ 0 60000 65536"/>
              <a:gd name="T7" fmla="*/ 0 60000 65536"/>
              <a:gd name="T8" fmla="*/ 0 60000 65536"/>
              <a:gd name="T9" fmla="*/ 0 w 201706"/>
              <a:gd name="T10" fmla="*/ 0 h 135623"/>
              <a:gd name="T11" fmla="*/ 201706 w 201706"/>
              <a:gd name="T12" fmla="*/ 135623 h 135623"/>
            </a:gdLst>
            <a:ahLst/>
            <a:cxnLst>
              <a:cxn ang="T6">
                <a:pos x="T0" y="T1"/>
              </a:cxn>
              <a:cxn ang="T7">
                <a:pos x="T2" y="T3"/>
              </a:cxn>
              <a:cxn ang="T8">
                <a:pos x="T4" y="T5"/>
              </a:cxn>
            </a:cxnLst>
            <a:rect l="T9" t="T10" r="T11" b="T12"/>
            <a:pathLst>
              <a:path w="201706" h="135623">
                <a:moveTo>
                  <a:pt x="0" y="53788"/>
                </a:moveTo>
                <a:cubicBezTo>
                  <a:pt x="10085" y="98611"/>
                  <a:pt x="20170" y="143435"/>
                  <a:pt x="53788" y="134470"/>
                </a:cubicBezTo>
                <a:cubicBezTo>
                  <a:pt x="87406" y="125505"/>
                  <a:pt x="144556" y="62752"/>
                  <a:pt x="201706"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pic>
        <p:nvPicPr>
          <p:cNvPr id="29" name="Picture 13">
            <a:extLst>
              <a:ext uri="{FF2B5EF4-FFF2-40B4-BE49-F238E27FC236}">
                <a16:creationId xmlns:a16="http://schemas.microsoft.com/office/drawing/2014/main" id="{517A0BF6-065A-4B96-8B95-48CCDDF3036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35388" y="4346575"/>
            <a:ext cx="521493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14">
            <a:extLst>
              <a:ext uri="{FF2B5EF4-FFF2-40B4-BE49-F238E27FC236}">
                <a16:creationId xmlns:a16="http://schemas.microsoft.com/office/drawing/2014/main" id="{DE803746-DB42-43C2-BE78-0A89B9E7C8B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6188" y="5087938"/>
            <a:ext cx="517842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63" name="Picture 18">
            <a:extLst>
              <a:ext uri="{FF2B5EF4-FFF2-40B4-BE49-F238E27FC236}">
                <a16:creationId xmlns:a16="http://schemas.microsoft.com/office/drawing/2014/main" id="{C984A1AE-789E-4D1F-8275-6317B540F19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1825" y="2017713"/>
            <a:ext cx="1655763"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64" name="Picture 9">
            <a:extLst>
              <a:ext uri="{FF2B5EF4-FFF2-40B4-BE49-F238E27FC236}">
                <a16:creationId xmlns:a16="http://schemas.microsoft.com/office/drawing/2014/main" id="{D07FCEEE-A919-4B93-8BB4-366DCB937AC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25850" y="1947863"/>
            <a:ext cx="532130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65" name="TextBox 1">
            <a:extLst>
              <a:ext uri="{FF2B5EF4-FFF2-40B4-BE49-F238E27FC236}">
                <a16:creationId xmlns:a16="http://schemas.microsoft.com/office/drawing/2014/main" id="{78F2BC7E-75CB-496B-A596-316F506C2754}"/>
              </a:ext>
            </a:extLst>
          </p:cNvPr>
          <p:cNvSpPr txBox="1">
            <a:spLocks noChangeArrowheads="1"/>
          </p:cNvSpPr>
          <p:nvPr/>
        </p:nvSpPr>
        <p:spPr bwMode="auto">
          <a:xfrm>
            <a:off x="5362575" y="1820863"/>
            <a:ext cx="1295400"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b="1">
                <a:solidFill>
                  <a:schemeClr val="accent2"/>
                </a:solidFill>
              </a:rPr>
              <a:t>Work</a:t>
            </a:r>
          </a:p>
        </p:txBody>
      </p:sp>
      <p:sp>
        <p:nvSpPr>
          <p:cNvPr id="78866" name="TextBox 1">
            <a:extLst>
              <a:ext uri="{FF2B5EF4-FFF2-40B4-BE49-F238E27FC236}">
                <a16:creationId xmlns:a16="http://schemas.microsoft.com/office/drawing/2014/main" id="{A723900D-1AE7-488D-A6CF-524450E479E8}"/>
              </a:ext>
            </a:extLst>
          </p:cNvPr>
          <p:cNvSpPr txBox="1">
            <a:spLocks noChangeArrowheads="1"/>
          </p:cNvSpPr>
          <p:nvPr/>
        </p:nvSpPr>
        <p:spPr bwMode="auto">
          <a:xfrm>
            <a:off x="209550" y="2854325"/>
            <a:ext cx="584200" cy="240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sz="3000">
                <a:solidFill>
                  <a:schemeClr val="accent2"/>
                </a:solidFill>
              </a:rPr>
              <a:t>P</a:t>
            </a:r>
            <a:r>
              <a:rPr lang="en-US" altLang="en-US" sz="3000" baseline="-25000">
                <a:solidFill>
                  <a:schemeClr val="accent2"/>
                </a:solidFill>
              </a:rPr>
              <a:t>0</a:t>
            </a:r>
          </a:p>
          <a:p>
            <a:pPr>
              <a:spcBef>
                <a:spcPct val="0"/>
              </a:spcBef>
              <a:buSzTx/>
              <a:buFontTx/>
              <a:buNone/>
            </a:pPr>
            <a:r>
              <a:rPr lang="en-US" altLang="en-US" sz="3000">
                <a:solidFill>
                  <a:schemeClr val="accent2"/>
                </a:solidFill>
              </a:rPr>
              <a:t>P</a:t>
            </a:r>
            <a:r>
              <a:rPr lang="en-US" altLang="en-US" sz="3000" baseline="-25000">
                <a:solidFill>
                  <a:schemeClr val="accent2"/>
                </a:solidFill>
              </a:rPr>
              <a:t>1</a:t>
            </a:r>
          </a:p>
          <a:p>
            <a:pPr>
              <a:spcBef>
                <a:spcPct val="0"/>
              </a:spcBef>
              <a:buSzTx/>
              <a:buFontTx/>
              <a:buNone/>
            </a:pPr>
            <a:r>
              <a:rPr lang="en-US" altLang="en-US" sz="3000">
                <a:solidFill>
                  <a:schemeClr val="accent2"/>
                </a:solidFill>
              </a:rPr>
              <a:t>P</a:t>
            </a:r>
            <a:r>
              <a:rPr lang="en-US" altLang="en-US" sz="3000" baseline="-25000">
                <a:solidFill>
                  <a:schemeClr val="accent2"/>
                </a:solidFill>
              </a:rPr>
              <a:t>2</a:t>
            </a:r>
          </a:p>
          <a:p>
            <a:pPr>
              <a:spcBef>
                <a:spcPct val="0"/>
              </a:spcBef>
              <a:buSzTx/>
              <a:buFontTx/>
              <a:buNone/>
            </a:pPr>
            <a:r>
              <a:rPr lang="en-US" altLang="en-US" sz="3000">
                <a:solidFill>
                  <a:schemeClr val="accent2"/>
                </a:solidFill>
              </a:rPr>
              <a:t>P</a:t>
            </a:r>
            <a:r>
              <a:rPr lang="en-US" altLang="en-US" sz="3000" baseline="-25000">
                <a:solidFill>
                  <a:schemeClr val="accent2"/>
                </a:solidFill>
              </a:rPr>
              <a:t>3</a:t>
            </a:r>
          </a:p>
          <a:p>
            <a:pPr>
              <a:spcBef>
                <a:spcPct val="0"/>
              </a:spcBef>
              <a:buSzTx/>
              <a:buFontTx/>
              <a:buNone/>
            </a:pPr>
            <a:r>
              <a:rPr lang="en-US" altLang="en-US" sz="3000">
                <a:solidFill>
                  <a:schemeClr val="accent2"/>
                </a:solidFill>
              </a:rPr>
              <a:t>P</a:t>
            </a:r>
            <a:r>
              <a:rPr lang="en-US" altLang="en-US" sz="3000" baseline="-25000">
                <a:solidFill>
                  <a:schemeClr val="accent2"/>
                </a:solidFill>
              </a:rPr>
              <a:t>4</a:t>
            </a:r>
          </a:p>
        </p:txBody>
      </p:sp>
      <p:sp>
        <p:nvSpPr>
          <p:cNvPr id="78867" name="Rounded Rectangle 2">
            <a:extLst>
              <a:ext uri="{FF2B5EF4-FFF2-40B4-BE49-F238E27FC236}">
                <a16:creationId xmlns:a16="http://schemas.microsoft.com/office/drawing/2014/main" id="{1DE483F6-7F6E-4F74-ADA7-28447D7EA99D}"/>
              </a:ext>
            </a:extLst>
          </p:cNvPr>
          <p:cNvSpPr>
            <a:spLocks noChangeArrowheads="1"/>
          </p:cNvSpPr>
          <p:nvPr/>
        </p:nvSpPr>
        <p:spPr bwMode="auto">
          <a:xfrm>
            <a:off x="1984375" y="3001963"/>
            <a:ext cx="493713" cy="2282825"/>
          </a:xfrm>
          <a:prstGeom prst="roundRect">
            <a:avLst>
              <a:gd name="adj" fmla="val 16667"/>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4" name="TextBox 3">
            <a:extLst>
              <a:ext uri="{FF2B5EF4-FFF2-40B4-BE49-F238E27FC236}">
                <a16:creationId xmlns:a16="http://schemas.microsoft.com/office/drawing/2014/main" id="{1C60BE26-0260-4E0F-92C6-C11284DC5B0A}"/>
              </a:ext>
            </a:extLst>
          </p:cNvPr>
          <p:cNvSpPr txBox="1">
            <a:spLocks noChangeArrowheads="1"/>
          </p:cNvSpPr>
          <p:nvPr/>
        </p:nvSpPr>
        <p:spPr bwMode="auto">
          <a:xfrm>
            <a:off x="296863" y="5365750"/>
            <a:ext cx="3416300" cy="6477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b="1">
                <a:solidFill>
                  <a:srgbClr val="FF0000"/>
                </a:solidFill>
              </a:rPr>
              <a:t>The system is safe </a:t>
            </a:r>
          </a:p>
          <a:p>
            <a:pPr>
              <a:spcBef>
                <a:spcPct val="0"/>
              </a:spcBef>
              <a:buSzTx/>
              <a:buFontTx/>
              <a:buNone/>
            </a:pPr>
            <a:r>
              <a:rPr lang="en-US" altLang="en-US" b="1">
                <a:solidFill>
                  <a:srgbClr val="FF0000"/>
                </a:solidFill>
              </a:rPr>
              <a:t>(sequence &lt;P</a:t>
            </a:r>
            <a:r>
              <a:rPr lang="en-US" altLang="en-US" b="1" baseline="-25000">
                <a:solidFill>
                  <a:srgbClr val="FF0000"/>
                </a:solidFill>
              </a:rPr>
              <a:t>1</a:t>
            </a:r>
            <a:r>
              <a:rPr lang="en-US" altLang="en-US" b="1">
                <a:solidFill>
                  <a:srgbClr val="FF0000"/>
                </a:solidFill>
              </a:rPr>
              <a:t>, P</a:t>
            </a:r>
            <a:r>
              <a:rPr lang="en-US" altLang="en-US" b="1" baseline="-25000">
                <a:solidFill>
                  <a:srgbClr val="FF0000"/>
                </a:solidFill>
              </a:rPr>
              <a:t>3</a:t>
            </a:r>
            <a:r>
              <a:rPr lang="en-US" altLang="en-US" b="1">
                <a:solidFill>
                  <a:srgbClr val="FF0000"/>
                </a:solidFill>
              </a:rPr>
              <a:t>, P</a:t>
            </a:r>
            <a:r>
              <a:rPr lang="en-US" altLang="en-US" b="1" baseline="-25000">
                <a:solidFill>
                  <a:srgbClr val="FF0000"/>
                </a:solidFill>
              </a:rPr>
              <a:t>4</a:t>
            </a:r>
            <a:r>
              <a:rPr lang="en-US" altLang="en-US" b="1">
                <a:solidFill>
                  <a:srgbClr val="FF0000"/>
                </a:solidFill>
              </a:rPr>
              <a:t>, P</a:t>
            </a:r>
            <a:r>
              <a:rPr lang="en-US" altLang="en-US" b="1" baseline="-25000">
                <a:solidFill>
                  <a:srgbClr val="FF0000"/>
                </a:solidFill>
              </a:rPr>
              <a:t>2</a:t>
            </a:r>
            <a:r>
              <a:rPr lang="en-US" altLang="en-US" b="1">
                <a:solidFill>
                  <a:srgbClr val="FF0000"/>
                </a:solidFill>
              </a:rPr>
              <a:t>, P</a:t>
            </a:r>
            <a:r>
              <a:rPr lang="en-US" altLang="en-US" b="1" baseline="-25000">
                <a:solidFill>
                  <a:srgbClr val="FF0000"/>
                </a:solidFill>
              </a:rPr>
              <a:t>0</a:t>
            </a:r>
            <a:r>
              <a:rPr lang="en-US" altLang="en-US" b="1">
                <a:solidFill>
                  <a:srgbClr val="FF0000"/>
                </a:solidFill>
              </a:rPr>
              <a:t>&gt;)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1" end="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bg/>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Footer Placeholder 3">
            <a:extLst>
              <a:ext uri="{FF2B5EF4-FFF2-40B4-BE49-F238E27FC236}">
                <a16:creationId xmlns:a16="http://schemas.microsoft.com/office/drawing/2014/main" id="{B7372667-5235-4D08-8691-3BDCC3AEBCA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80898" name="Rectangle 2">
            <a:extLst>
              <a:ext uri="{FF2B5EF4-FFF2-40B4-BE49-F238E27FC236}">
                <a16:creationId xmlns:a16="http://schemas.microsoft.com/office/drawing/2014/main" id="{0B639A25-C10F-4A42-B0E9-F25AC18604BA}"/>
              </a:ext>
            </a:extLst>
          </p:cNvPr>
          <p:cNvSpPr>
            <a:spLocks noGrp="1" noChangeArrowheads="1"/>
          </p:cNvSpPr>
          <p:nvPr>
            <p:ph type="title"/>
          </p:nvPr>
        </p:nvSpPr>
        <p:spPr>
          <a:xfrm>
            <a:off x="649288" y="292100"/>
            <a:ext cx="7934325" cy="901700"/>
          </a:xfrm>
        </p:spPr>
        <p:txBody>
          <a:bodyPr/>
          <a:lstStyle/>
          <a:p>
            <a:r>
              <a:rPr lang="en-US" altLang="en-US"/>
              <a:t>Banker’s Part 2: Resource-Request Algorithm</a:t>
            </a:r>
          </a:p>
        </p:txBody>
      </p:sp>
      <p:sp>
        <p:nvSpPr>
          <p:cNvPr id="77827" name="Rectangle 3">
            <a:extLst>
              <a:ext uri="{FF2B5EF4-FFF2-40B4-BE49-F238E27FC236}">
                <a16:creationId xmlns:a16="http://schemas.microsoft.com/office/drawing/2014/main" id="{D41CBAB5-F01C-4443-87B6-21697BC8A720}"/>
              </a:ext>
            </a:extLst>
          </p:cNvPr>
          <p:cNvSpPr>
            <a:spLocks noGrp="1" noChangeArrowheads="1"/>
          </p:cNvSpPr>
          <p:nvPr>
            <p:ph type="body" idx="1"/>
          </p:nvPr>
        </p:nvSpPr>
        <p:spPr>
          <a:xfrm>
            <a:off x="292100" y="1193800"/>
            <a:ext cx="8391525" cy="5006975"/>
          </a:xfrm>
        </p:spPr>
        <p:txBody>
          <a:bodyPr/>
          <a:lstStyle/>
          <a:p>
            <a:pPr>
              <a:lnSpc>
                <a:spcPct val="90000"/>
              </a:lnSpc>
              <a:buFontTx/>
              <a:buNone/>
              <a:defRPr/>
            </a:pPr>
            <a:r>
              <a:rPr lang="en-US" altLang="en-US" sz="2800" b="1" dirty="0" err="1">
                <a:solidFill>
                  <a:schemeClr val="accent1">
                    <a:lumMod val="75000"/>
                  </a:schemeClr>
                </a:solidFill>
              </a:rPr>
              <a:t>Request</a:t>
            </a:r>
            <a:r>
              <a:rPr lang="en-US" altLang="en-US" sz="2800" b="1" baseline="-25000" dirty="0" err="1">
                <a:solidFill>
                  <a:schemeClr val="accent1">
                    <a:lumMod val="75000"/>
                  </a:schemeClr>
                </a:solidFill>
              </a:rPr>
              <a:t>i</a:t>
            </a:r>
            <a:r>
              <a:rPr lang="en-US" altLang="en-US" sz="2800" b="1" dirty="0">
                <a:solidFill>
                  <a:schemeClr val="accent1">
                    <a:lumMod val="75000"/>
                  </a:schemeClr>
                </a:solidFill>
              </a:rPr>
              <a:t> </a:t>
            </a:r>
            <a:r>
              <a:rPr lang="en-US" altLang="en-US" sz="2800" dirty="0"/>
              <a:t>= Request vector for process </a:t>
            </a:r>
            <a:r>
              <a:rPr lang="en-US" altLang="en-US" sz="2800" b="1" dirty="0">
                <a:solidFill>
                  <a:schemeClr val="accent1">
                    <a:lumMod val="75000"/>
                  </a:schemeClr>
                </a:solidFill>
              </a:rPr>
              <a:t>P</a:t>
            </a:r>
            <a:r>
              <a:rPr lang="en-US" altLang="en-US" sz="2800" b="1" baseline="-25000" dirty="0">
                <a:solidFill>
                  <a:schemeClr val="accent1">
                    <a:lumMod val="75000"/>
                  </a:schemeClr>
                </a:solidFill>
              </a:rPr>
              <a:t>i</a:t>
            </a:r>
            <a:endParaRPr lang="en-US" altLang="en-US" sz="2800" dirty="0"/>
          </a:p>
          <a:p>
            <a:pPr lvl="1">
              <a:lnSpc>
                <a:spcPct val="90000"/>
              </a:lnSpc>
              <a:defRPr/>
            </a:pPr>
            <a:r>
              <a:rPr lang="en-US" altLang="en-US" sz="2400" dirty="0"/>
              <a:t>If </a:t>
            </a:r>
            <a:r>
              <a:rPr lang="en-US" altLang="en-US" sz="2400" b="1" dirty="0" err="1">
                <a:solidFill>
                  <a:schemeClr val="accent1">
                    <a:lumMod val="75000"/>
                  </a:schemeClr>
                </a:solidFill>
              </a:rPr>
              <a:t>Request</a:t>
            </a:r>
            <a:r>
              <a:rPr lang="en-US" altLang="en-US" sz="2400" b="1" baseline="-25000" dirty="0" err="1">
                <a:solidFill>
                  <a:schemeClr val="accent1">
                    <a:lumMod val="75000"/>
                  </a:schemeClr>
                </a:solidFill>
              </a:rPr>
              <a:t>i</a:t>
            </a:r>
            <a:r>
              <a:rPr lang="en-US" altLang="en-US" sz="2400" b="1" baseline="-25000" dirty="0">
                <a:solidFill>
                  <a:schemeClr val="accent1">
                    <a:lumMod val="75000"/>
                  </a:schemeClr>
                </a:solidFill>
              </a:rPr>
              <a:t> </a:t>
            </a:r>
            <a:r>
              <a:rPr lang="en-US" altLang="en-US" sz="2400" b="1" dirty="0">
                <a:solidFill>
                  <a:schemeClr val="accent1">
                    <a:lumMod val="75000"/>
                  </a:schemeClr>
                </a:solidFill>
              </a:rPr>
              <a:t>[ j ] == k</a:t>
            </a:r>
            <a:r>
              <a:rPr lang="en-US" altLang="en-US" sz="2400" dirty="0"/>
              <a:t> then process </a:t>
            </a:r>
            <a:r>
              <a:rPr lang="en-US" altLang="en-US" sz="2400" b="1" dirty="0">
                <a:solidFill>
                  <a:schemeClr val="accent1">
                    <a:lumMod val="75000"/>
                  </a:schemeClr>
                </a:solidFill>
              </a:rPr>
              <a:t>P</a:t>
            </a:r>
            <a:r>
              <a:rPr lang="en-US" altLang="en-US" sz="2400" b="1" baseline="-25000" dirty="0">
                <a:solidFill>
                  <a:schemeClr val="accent1">
                    <a:lumMod val="75000"/>
                  </a:schemeClr>
                </a:solidFill>
              </a:rPr>
              <a:t>i</a:t>
            </a:r>
            <a:r>
              <a:rPr lang="en-US" altLang="en-US" sz="2400" dirty="0"/>
              <a:t> wants </a:t>
            </a:r>
            <a:r>
              <a:rPr lang="en-US" altLang="en-US" sz="2400" b="1" dirty="0">
                <a:solidFill>
                  <a:schemeClr val="accent1">
                    <a:lumMod val="75000"/>
                  </a:schemeClr>
                </a:solidFill>
              </a:rPr>
              <a:t>k</a:t>
            </a:r>
            <a:r>
              <a:rPr lang="en-US" altLang="en-US" sz="2400" dirty="0">
                <a:solidFill>
                  <a:schemeClr val="accent1">
                    <a:lumMod val="75000"/>
                  </a:schemeClr>
                </a:solidFill>
              </a:rPr>
              <a:t> </a:t>
            </a:r>
            <a:r>
              <a:rPr lang="en-US" altLang="en-US" sz="2400" dirty="0"/>
              <a:t>instances of resource type </a:t>
            </a:r>
            <a:r>
              <a:rPr lang="en-US" altLang="en-US" sz="2400" b="1" dirty="0" err="1">
                <a:solidFill>
                  <a:schemeClr val="accent1">
                    <a:lumMod val="75000"/>
                  </a:schemeClr>
                </a:solidFill>
              </a:rPr>
              <a:t>R</a:t>
            </a:r>
            <a:r>
              <a:rPr lang="en-US" altLang="en-US" sz="2400" b="1" baseline="-25000" dirty="0" err="1">
                <a:solidFill>
                  <a:schemeClr val="accent1">
                    <a:lumMod val="75000"/>
                  </a:schemeClr>
                </a:solidFill>
              </a:rPr>
              <a:t>j</a:t>
            </a:r>
            <a:endParaRPr lang="en-US" altLang="en-US" sz="2400" b="1" baseline="-25000" dirty="0">
              <a:solidFill>
                <a:schemeClr val="accent1">
                  <a:lumMod val="75000"/>
                </a:schemeClr>
              </a:solidFill>
            </a:endParaRPr>
          </a:p>
          <a:p>
            <a:pPr>
              <a:lnSpc>
                <a:spcPct val="90000"/>
              </a:lnSpc>
              <a:buFontTx/>
              <a:buNone/>
              <a:defRPr/>
            </a:pPr>
            <a:endParaRPr lang="en-US" altLang="en-US" sz="2800" baseline="-25000" dirty="0"/>
          </a:p>
          <a:p>
            <a:pPr>
              <a:lnSpc>
                <a:spcPct val="90000"/>
              </a:lnSpc>
              <a:buFontTx/>
              <a:buNone/>
              <a:defRPr/>
            </a:pPr>
            <a:endParaRPr lang="en-US" altLang="en-US" sz="2800" baseline="-25000" dirty="0"/>
          </a:p>
          <a:p>
            <a:pPr>
              <a:lnSpc>
                <a:spcPct val="90000"/>
              </a:lnSpc>
              <a:buFontTx/>
              <a:buNone/>
              <a:defRPr/>
            </a:pPr>
            <a:endParaRPr lang="en-US" altLang="en-US" sz="2800" baseline="-25000" dirty="0"/>
          </a:p>
          <a:p>
            <a:pPr marL="971550" lvl="1" indent="-514350">
              <a:lnSpc>
                <a:spcPct val="90000"/>
              </a:lnSpc>
              <a:buFontTx/>
              <a:buAutoNum type="arabicPeriod"/>
              <a:defRPr/>
            </a:pPr>
            <a:r>
              <a:rPr lang="en-US" altLang="en-US" sz="2800" dirty="0"/>
              <a:t>If </a:t>
            </a:r>
            <a:r>
              <a:rPr lang="en-US" altLang="en-US" sz="2800" b="1" dirty="0" err="1">
                <a:solidFill>
                  <a:schemeClr val="accent1">
                    <a:lumMod val="75000"/>
                  </a:schemeClr>
                </a:solidFill>
              </a:rPr>
              <a:t>Request</a:t>
            </a:r>
            <a:r>
              <a:rPr lang="en-US" altLang="en-US" sz="2800" b="1" baseline="-25000" dirty="0" err="1">
                <a:solidFill>
                  <a:schemeClr val="accent1">
                    <a:lumMod val="75000"/>
                  </a:schemeClr>
                </a:solidFill>
              </a:rPr>
              <a:t>i</a:t>
            </a:r>
            <a:r>
              <a:rPr lang="en-US" altLang="en-US" sz="2800" b="1" dirty="0">
                <a:solidFill>
                  <a:schemeClr val="accent1">
                    <a:lumMod val="75000"/>
                  </a:schemeClr>
                </a:solidFill>
              </a:rPr>
              <a:t> </a:t>
            </a:r>
            <a:r>
              <a:rPr lang="en-US" altLang="en-US" sz="2800" b="1" dirty="0">
                <a:solidFill>
                  <a:schemeClr val="accent1">
                    <a:lumMod val="75000"/>
                  </a:schemeClr>
                </a:solidFill>
                <a:sym typeface="Symbol" charset="2"/>
              </a:rPr>
              <a:t> </a:t>
            </a:r>
            <a:r>
              <a:rPr lang="en-US" altLang="en-US" sz="2800" b="1" dirty="0" err="1">
                <a:solidFill>
                  <a:schemeClr val="accent1">
                    <a:lumMod val="75000"/>
                  </a:schemeClr>
                </a:solidFill>
                <a:sym typeface="Symbol" charset="2"/>
              </a:rPr>
              <a:t>Need</a:t>
            </a:r>
            <a:r>
              <a:rPr lang="en-US" altLang="en-US" sz="2800" b="1" baseline="-25000" dirty="0" err="1">
                <a:solidFill>
                  <a:schemeClr val="accent1">
                    <a:lumMod val="75000"/>
                  </a:schemeClr>
                </a:solidFill>
                <a:sym typeface="Symbol" charset="2"/>
              </a:rPr>
              <a:t>i</a:t>
            </a:r>
            <a:r>
              <a:rPr lang="en-US" altLang="en-US" sz="2800" dirty="0">
                <a:sym typeface="Symbol" charset="2"/>
              </a:rPr>
              <a:t>, go to step 2</a:t>
            </a:r>
          </a:p>
          <a:p>
            <a:pPr marL="1371600" lvl="2" indent="-514350">
              <a:lnSpc>
                <a:spcPct val="90000"/>
              </a:lnSpc>
              <a:buFont typeface="Monotype Sorts" charset="2"/>
              <a:buChar char="T"/>
              <a:defRPr/>
            </a:pPr>
            <a:r>
              <a:rPr lang="en-US" altLang="en-US" sz="2800" dirty="0">
                <a:sym typeface="Symbol" charset="2"/>
              </a:rPr>
              <a:t>Otherwise, raise error condition, since process has exceeded its maximum claim</a:t>
            </a:r>
          </a:p>
          <a:p>
            <a:pPr marL="971550" lvl="1" indent="-514350">
              <a:lnSpc>
                <a:spcPct val="90000"/>
              </a:lnSpc>
              <a:buFontTx/>
              <a:buAutoNum type="arabicPeriod"/>
              <a:defRPr/>
            </a:pPr>
            <a:endParaRPr lang="en-US" altLang="en-US" sz="1200" dirty="0">
              <a:sym typeface="Symbol" charset="2"/>
            </a:endParaRPr>
          </a:p>
          <a:p>
            <a:pPr marL="971550" lvl="1" indent="-514350">
              <a:lnSpc>
                <a:spcPct val="90000"/>
              </a:lnSpc>
              <a:buFontTx/>
              <a:buAutoNum type="arabicPeriod" startAt="2"/>
              <a:defRPr/>
            </a:pPr>
            <a:r>
              <a:rPr lang="en-US" altLang="en-US" sz="2800" dirty="0">
                <a:sym typeface="Symbol" charset="2"/>
              </a:rPr>
              <a:t>If </a:t>
            </a:r>
            <a:r>
              <a:rPr lang="en-US" altLang="en-US" sz="2800" b="1" dirty="0" err="1">
                <a:solidFill>
                  <a:schemeClr val="accent1">
                    <a:lumMod val="75000"/>
                  </a:schemeClr>
                </a:solidFill>
              </a:rPr>
              <a:t>Request</a:t>
            </a:r>
            <a:r>
              <a:rPr lang="en-US" altLang="en-US" sz="2800" b="1" baseline="-25000" dirty="0" err="1">
                <a:solidFill>
                  <a:schemeClr val="accent1">
                    <a:lumMod val="75000"/>
                  </a:schemeClr>
                </a:solidFill>
              </a:rPr>
              <a:t>i</a:t>
            </a:r>
            <a:r>
              <a:rPr lang="en-US" altLang="en-US" sz="2800" b="1" dirty="0">
                <a:solidFill>
                  <a:schemeClr val="accent1">
                    <a:lumMod val="75000"/>
                  </a:schemeClr>
                </a:solidFill>
              </a:rPr>
              <a:t> </a:t>
            </a:r>
            <a:r>
              <a:rPr lang="en-US" altLang="en-US" sz="2800" b="1" dirty="0">
                <a:solidFill>
                  <a:schemeClr val="accent1">
                    <a:lumMod val="75000"/>
                  </a:schemeClr>
                </a:solidFill>
                <a:sym typeface="Symbol" charset="2"/>
              </a:rPr>
              <a:t> Available</a:t>
            </a:r>
            <a:r>
              <a:rPr lang="en-US" altLang="en-US" sz="2800" dirty="0">
                <a:sym typeface="Symbol" charset="2"/>
              </a:rPr>
              <a:t>, go to step 3</a:t>
            </a:r>
          </a:p>
          <a:p>
            <a:pPr marL="1223963" lvl="2" indent="-366713">
              <a:lnSpc>
                <a:spcPct val="90000"/>
              </a:lnSpc>
              <a:buFont typeface="Monotype Sorts" charset="2"/>
              <a:buChar char="T"/>
              <a:defRPr/>
            </a:pPr>
            <a:r>
              <a:rPr lang="en-US" altLang="en-US" sz="2800" dirty="0">
                <a:sym typeface="Symbol" charset="2"/>
              </a:rPr>
              <a:t>Otherwise </a:t>
            </a:r>
            <a:r>
              <a:rPr lang="en-US" altLang="en-US" sz="2800" i="1" dirty="0">
                <a:sym typeface="Symbol" charset="2"/>
              </a:rPr>
              <a:t>P</a:t>
            </a:r>
            <a:r>
              <a:rPr lang="en-US" altLang="en-US" sz="2800" i="1" baseline="-25000" dirty="0">
                <a:sym typeface="Symbol" charset="2"/>
              </a:rPr>
              <a:t>i</a:t>
            </a:r>
            <a:r>
              <a:rPr lang="en-US" altLang="en-US" sz="2800" dirty="0">
                <a:sym typeface="Symbol" charset="2"/>
              </a:rPr>
              <a:t>  must wait, since resources are not available</a:t>
            </a:r>
          </a:p>
        </p:txBody>
      </p:sp>
      <p:sp>
        <p:nvSpPr>
          <p:cNvPr id="3" name="TextBox 2">
            <a:extLst>
              <a:ext uri="{FF2B5EF4-FFF2-40B4-BE49-F238E27FC236}">
                <a16:creationId xmlns:a16="http://schemas.microsoft.com/office/drawing/2014/main" id="{75AF3FA8-58F5-4B36-971A-DAD0150521CA}"/>
              </a:ext>
            </a:extLst>
          </p:cNvPr>
          <p:cNvSpPr txBox="1"/>
          <p:nvPr/>
        </p:nvSpPr>
        <p:spPr>
          <a:xfrm>
            <a:off x="592138" y="2819400"/>
            <a:ext cx="3797300" cy="400050"/>
          </a:xfrm>
          <a:prstGeom prst="rect">
            <a:avLst/>
          </a:prstGeom>
          <a:noFill/>
          <a:ln w="3175">
            <a:solidFill>
              <a:schemeClr val="tx1">
                <a:lumMod val="95000"/>
                <a:lumOff val="5000"/>
              </a:schemeClr>
            </a:solidFill>
          </a:ln>
        </p:spPr>
        <p:txBody>
          <a:bodyPr wrap="none">
            <a:spAutoFit/>
          </a:bodyPr>
          <a:lstStyle/>
          <a:p>
            <a:pPr algn="ctr">
              <a:defRPr/>
            </a:pPr>
            <a:r>
              <a:rPr lang="en-US" sz="2000" dirty="0">
                <a:solidFill>
                  <a:srgbClr val="FF0000"/>
                </a:solidFill>
                <a:latin typeface="Comic Sans MS" pitchFamily="66" charset="0"/>
              </a:rPr>
              <a:t>V1&lt;=V2 ≣ V1[j]&lt;=V2[j], for all j</a:t>
            </a:r>
          </a:p>
        </p:txBody>
      </p:sp>
      <p:cxnSp>
        <p:nvCxnSpPr>
          <p:cNvPr id="77829" name="Straight Arrow Connector 4">
            <a:extLst>
              <a:ext uri="{FF2B5EF4-FFF2-40B4-BE49-F238E27FC236}">
                <a16:creationId xmlns:a16="http://schemas.microsoft.com/office/drawing/2014/main" id="{EFFEEABB-33A9-40BB-9A46-BE04402A88CA}"/>
              </a:ext>
            </a:extLst>
          </p:cNvPr>
          <p:cNvCxnSpPr>
            <a:cxnSpLocks noChangeShapeType="1"/>
            <a:endCxn id="3" idx="2"/>
          </p:cNvCxnSpPr>
          <p:nvPr/>
        </p:nvCxnSpPr>
        <p:spPr bwMode="auto">
          <a:xfrm flipH="1" flipV="1">
            <a:off x="2490788" y="3219450"/>
            <a:ext cx="665162" cy="539750"/>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
        <p:nvSpPr>
          <p:cNvPr id="77830" name="TextBox 1">
            <a:extLst>
              <a:ext uri="{FF2B5EF4-FFF2-40B4-BE49-F238E27FC236}">
                <a16:creationId xmlns:a16="http://schemas.microsoft.com/office/drawing/2014/main" id="{025A0090-507A-4CD1-A2E6-108AF3E40169}"/>
              </a:ext>
            </a:extLst>
          </p:cNvPr>
          <p:cNvSpPr txBox="1">
            <a:spLocks noChangeArrowheads="1"/>
          </p:cNvSpPr>
          <p:nvPr/>
        </p:nvSpPr>
        <p:spPr bwMode="auto">
          <a:xfrm>
            <a:off x="5491163" y="2849563"/>
            <a:ext cx="3192462" cy="3857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1900">
                <a:solidFill>
                  <a:srgbClr val="FF0000"/>
                </a:solidFill>
                <a:latin typeface="Comic Sans MS" panose="030F0702030302020204" pitchFamily="66" charset="0"/>
              </a:rPr>
              <a:t>The i</a:t>
            </a:r>
            <a:r>
              <a:rPr lang="en-US" altLang="en-US" sz="1900" baseline="30000">
                <a:solidFill>
                  <a:srgbClr val="FF0000"/>
                </a:solidFill>
                <a:latin typeface="Comic Sans MS" panose="030F0702030302020204" pitchFamily="66" charset="0"/>
              </a:rPr>
              <a:t>th</a:t>
            </a:r>
            <a:r>
              <a:rPr lang="en-US" altLang="en-US" sz="1900">
                <a:solidFill>
                  <a:srgbClr val="FF0000"/>
                </a:solidFill>
                <a:latin typeface="Comic Sans MS" panose="030F0702030302020204" pitchFamily="66" charset="0"/>
              </a:rPr>
              <a:t> row of the matrix</a:t>
            </a:r>
          </a:p>
        </p:txBody>
      </p:sp>
      <p:cxnSp>
        <p:nvCxnSpPr>
          <p:cNvPr id="77831" name="Straight Arrow Connector 3">
            <a:extLst>
              <a:ext uri="{FF2B5EF4-FFF2-40B4-BE49-F238E27FC236}">
                <a16:creationId xmlns:a16="http://schemas.microsoft.com/office/drawing/2014/main" id="{577F7283-BE93-49FC-AE6C-DE8FC95DFCA8}"/>
              </a:ext>
            </a:extLst>
          </p:cNvPr>
          <p:cNvCxnSpPr>
            <a:cxnSpLocks noChangeShapeType="1"/>
            <a:endCxn id="77830" idx="1"/>
          </p:cNvCxnSpPr>
          <p:nvPr/>
        </p:nvCxnSpPr>
        <p:spPr bwMode="auto">
          <a:xfrm flipV="1">
            <a:off x="4206875" y="3043238"/>
            <a:ext cx="1284288" cy="587375"/>
          </a:xfrm>
          <a:prstGeom prst="straightConnector1">
            <a:avLst/>
          </a:prstGeom>
          <a:noFill/>
          <a:ln w="9525">
            <a:solidFill>
              <a:srgbClr val="FF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8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78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78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782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7827">
                                            <p:txEl>
                                              <p:pRg st="6" end="6"/>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7827">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782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783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Footer Placeholder 3">
            <a:extLst>
              <a:ext uri="{FF2B5EF4-FFF2-40B4-BE49-F238E27FC236}">
                <a16:creationId xmlns:a16="http://schemas.microsoft.com/office/drawing/2014/main" id="{252F9031-CAFC-4880-A880-5BFFC17AF5C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82946" name="Rectangle 2">
            <a:extLst>
              <a:ext uri="{FF2B5EF4-FFF2-40B4-BE49-F238E27FC236}">
                <a16:creationId xmlns:a16="http://schemas.microsoft.com/office/drawing/2014/main" id="{926497E9-8DE8-4A8F-AFE0-72B51F2C4773}"/>
              </a:ext>
            </a:extLst>
          </p:cNvPr>
          <p:cNvSpPr>
            <a:spLocks noGrp="1" noChangeArrowheads="1"/>
          </p:cNvSpPr>
          <p:nvPr>
            <p:ph type="title"/>
          </p:nvPr>
        </p:nvSpPr>
        <p:spPr>
          <a:xfrm>
            <a:off x="685800" y="495300"/>
            <a:ext cx="7924800" cy="457200"/>
          </a:xfrm>
        </p:spPr>
        <p:txBody>
          <a:bodyPr/>
          <a:lstStyle/>
          <a:p>
            <a:r>
              <a:rPr lang="en-US" altLang="en-US"/>
              <a:t>Resource-Request Algorithm (Cont.)</a:t>
            </a:r>
          </a:p>
        </p:txBody>
      </p:sp>
      <p:sp>
        <p:nvSpPr>
          <p:cNvPr id="79875" name="Rectangle 3">
            <a:extLst>
              <a:ext uri="{FF2B5EF4-FFF2-40B4-BE49-F238E27FC236}">
                <a16:creationId xmlns:a16="http://schemas.microsoft.com/office/drawing/2014/main" id="{EBA19D51-F1A6-4C34-ACD0-114BBBBF951E}"/>
              </a:ext>
            </a:extLst>
          </p:cNvPr>
          <p:cNvSpPr>
            <a:spLocks noGrp="1" noChangeArrowheads="1"/>
          </p:cNvSpPr>
          <p:nvPr>
            <p:ph type="body" idx="1"/>
          </p:nvPr>
        </p:nvSpPr>
        <p:spPr>
          <a:xfrm>
            <a:off x="466725" y="1193800"/>
            <a:ext cx="8061325" cy="5006975"/>
          </a:xfrm>
        </p:spPr>
        <p:txBody>
          <a:bodyPr/>
          <a:lstStyle/>
          <a:p>
            <a:pPr marL="971550" lvl="1" indent="-514350">
              <a:lnSpc>
                <a:spcPct val="90000"/>
              </a:lnSpc>
              <a:buFont typeface="+mj-lt"/>
              <a:buAutoNum type="arabicPeriod" startAt="3"/>
              <a:defRPr/>
            </a:pPr>
            <a:r>
              <a:rPr lang="en-US" altLang="en-US" sz="2800" dirty="0">
                <a:solidFill>
                  <a:schemeClr val="accent2"/>
                </a:solidFill>
                <a:sym typeface="Symbol" charset="2"/>
              </a:rPr>
              <a:t>Pretend </a:t>
            </a:r>
            <a:r>
              <a:rPr lang="en-US" altLang="en-US" sz="2800" dirty="0">
                <a:sym typeface="Symbol" charset="2"/>
              </a:rPr>
              <a:t>to allocate requested resources to </a:t>
            </a:r>
            <a:r>
              <a:rPr lang="en-US" altLang="en-US" sz="2800" b="1" dirty="0">
                <a:solidFill>
                  <a:schemeClr val="accent1">
                    <a:lumMod val="75000"/>
                  </a:schemeClr>
                </a:solidFill>
                <a:sym typeface="Symbol" charset="2"/>
              </a:rPr>
              <a:t>P</a:t>
            </a:r>
            <a:r>
              <a:rPr lang="en-US" altLang="en-US" sz="2800" b="1" baseline="-25000" dirty="0">
                <a:solidFill>
                  <a:schemeClr val="accent1">
                    <a:lumMod val="75000"/>
                  </a:schemeClr>
                </a:solidFill>
                <a:sym typeface="Symbol" charset="2"/>
              </a:rPr>
              <a:t>i</a:t>
            </a:r>
            <a:r>
              <a:rPr lang="en-US" altLang="en-US" sz="2800" dirty="0">
                <a:sym typeface="Symbol" charset="2"/>
              </a:rPr>
              <a:t>  by modifying the state as follows:</a:t>
            </a:r>
          </a:p>
          <a:p>
            <a:pPr marL="1187450" lvl="2" indent="-330200">
              <a:lnSpc>
                <a:spcPct val="90000"/>
              </a:lnSpc>
              <a:buFont typeface="Monotype Sorts" charset="2"/>
              <a:buChar char="T"/>
              <a:defRPr/>
            </a:pPr>
            <a:r>
              <a:rPr lang="en-US" altLang="en-US" sz="2800" b="1" dirty="0">
                <a:solidFill>
                  <a:schemeClr val="accent1">
                    <a:lumMod val="75000"/>
                  </a:schemeClr>
                </a:solidFill>
                <a:sym typeface="Symbol" charset="2"/>
              </a:rPr>
              <a:t>Available = Available – </a:t>
            </a:r>
            <a:r>
              <a:rPr lang="en-US" altLang="en-US" sz="2800" b="1" dirty="0" err="1">
                <a:solidFill>
                  <a:schemeClr val="accent1">
                    <a:lumMod val="75000"/>
                  </a:schemeClr>
                </a:solidFill>
                <a:sym typeface="Symbol" charset="2"/>
              </a:rPr>
              <a:t>Request</a:t>
            </a:r>
            <a:r>
              <a:rPr lang="en-US" altLang="en-US" sz="2800" b="1" baseline="-25000" dirty="0" err="1">
                <a:solidFill>
                  <a:schemeClr val="accent1">
                    <a:lumMod val="75000"/>
                  </a:schemeClr>
                </a:solidFill>
                <a:sym typeface="Symbol" charset="2"/>
              </a:rPr>
              <a:t>i</a:t>
            </a:r>
            <a:r>
              <a:rPr lang="en-US" altLang="en-US" sz="2800" b="1" dirty="0">
                <a:solidFill>
                  <a:schemeClr val="accent1">
                    <a:lumMod val="75000"/>
                  </a:schemeClr>
                </a:solidFill>
                <a:sym typeface="Symbol" charset="2"/>
              </a:rPr>
              <a:t>;</a:t>
            </a:r>
          </a:p>
          <a:p>
            <a:pPr marL="1187450" lvl="2" indent="-330200">
              <a:lnSpc>
                <a:spcPct val="90000"/>
              </a:lnSpc>
              <a:buFont typeface="Monotype Sorts" charset="2"/>
              <a:buChar char="T"/>
              <a:defRPr/>
            </a:pPr>
            <a:r>
              <a:rPr lang="en-US" altLang="en-US" sz="2800" b="1" dirty="0" err="1">
                <a:solidFill>
                  <a:schemeClr val="accent1">
                    <a:lumMod val="75000"/>
                  </a:schemeClr>
                </a:solidFill>
                <a:sym typeface="Symbol" charset="2"/>
              </a:rPr>
              <a:t>Allocation</a:t>
            </a:r>
            <a:r>
              <a:rPr lang="en-US" altLang="en-US" sz="2800" b="1" baseline="-25000" dirty="0" err="1">
                <a:solidFill>
                  <a:schemeClr val="accent1">
                    <a:lumMod val="75000"/>
                  </a:schemeClr>
                </a:solidFill>
                <a:sym typeface="Symbol" charset="2"/>
              </a:rPr>
              <a:t>i</a:t>
            </a:r>
            <a:r>
              <a:rPr lang="en-US" altLang="en-US" sz="2800" b="1" baseline="-25000" dirty="0">
                <a:solidFill>
                  <a:schemeClr val="accent1">
                    <a:lumMod val="75000"/>
                  </a:schemeClr>
                </a:solidFill>
                <a:sym typeface="Symbol" charset="2"/>
              </a:rPr>
              <a:t> </a:t>
            </a:r>
            <a:r>
              <a:rPr lang="en-US" altLang="en-US" sz="2800" b="1" dirty="0">
                <a:solidFill>
                  <a:schemeClr val="accent1">
                    <a:lumMod val="75000"/>
                  </a:schemeClr>
                </a:solidFill>
                <a:sym typeface="Symbol" charset="2"/>
              </a:rPr>
              <a:t>= </a:t>
            </a:r>
            <a:r>
              <a:rPr lang="en-US" altLang="en-US" sz="2800" b="1" dirty="0" err="1">
                <a:solidFill>
                  <a:schemeClr val="accent1">
                    <a:lumMod val="75000"/>
                  </a:schemeClr>
                </a:solidFill>
                <a:sym typeface="Symbol" charset="2"/>
              </a:rPr>
              <a:t>Allocation</a:t>
            </a:r>
            <a:r>
              <a:rPr lang="en-US" altLang="en-US" sz="2800" b="1" baseline="-25000" dirty="0" err="1">
                <a:solidFill>
                  <a:schemeClr val="accent1">
                    <a:lumMod val="75000"/>
                  </a:schemeClr>
                </a:solidFill>
                <a:sym typeface="Symbol" charset="2"/>
              </a:rPr>
              <a:t>i</a:t>
            </a:r>
            <a:r>
              <a:rPr lang="en-US" altLang="en-US" sz="2800" b="1" dirty="0">
                <a:solidFill>
                  <a:schemeClr val="accent1">
                    <a:lumMod val="75000"/>
                  </a:schemeClr>
                </a:solidFill>
                <a:sym typeface="Symbol" charset="2"/>
              </a:rPr>
              <a:t> + </a:t>
            </a:r>
            <a:r>
              <a:rPr lang="en-US" altLang="en-US" sz="2800" b="1" dirty="0" err="1">
                <a:solidFill>
                  <a:schemeClr val="accent1">
                    <a:lumMod val="75000"/>
                  </a:schemeClr>
                </a:solidFill>
                <a:sym typeface="Symbol" charset="2"/>
              </a:rPr>
              <a:t>Request</a:t>
            </a:r>
            <a:r>
              <a:rPr lang="en-US" altLang="en-US" sz="2800" b="1" baseline="-25000" dirty="0" err="1">
                <a:solidFill>
                  <a:schemeClr val="accent1">
                    <a:lumMod val="75000"/>
                  </a:schemeClr>
                </a:solidFill>
                <a:sym typeface="Symbol" charset="2"/>
              </a:rPr>
              <a:t>i</a:t>
            </a:r>
            <a:r>
              <a:rPr lang="en-US" altLang="en-US" sz="2800" b="1" dirty="0">
                <a:solidFill>
                  <a:schemeClr val="accent1">
                    <a:lumMod val="75000"/>
                  </a:schemeClr>
                </a:solidFill>
                <a:sym typeface="Symbol" charset="2"/>
              </a:rPr>
              <a:t>;</a:t>
            </a:r>
          </a:p>
          <a:p>
            <a:pPr marL="1187450" lvl="2" indent="-330200">
              <a:lnSpc>
                <a:spcPct val="90000"/>
              </a:lnSpc>
              <a:buFont typeface="Monotype Sorts" charset="2"/>
              <a:buChar char="T"/>
              <a:defRPr/>
            </a:pPr>
            <a:r>
              <a:rPr lang="en-US" altLang="en-US" sz="2800" b="1" dirty="0" err="1">
                <a:solidFill>
                  <a:schemeClr val="accent1">
                    <a:lumMod val="75000"/>
                  </a:schemeClr>
                </a:solidFill>
                <a:sym typeface="Symbol" charset="2"/>
              </a:rPr>
              <a:t>Need</a:t>
            </a:r>
            <a:r>
              <a:rPr lang="en-US" altLang="en-US" sz="2800" b="1" baseline="-25000" dirty="0" err="1">
                <a:solidFill>
                  <a:schemeClr val="accent1">
                    <a:lumMod val="75000"/>
                  </a:schemeClr>
                </a:solidFill>
                <a:sym typeface="Symbol" charset="2"/>
              </a:rPr>
              <a:t>i</a:t>
            </a:r>
            <a:r>
              <a:rPr lang="en-US" altLang="en-US" sz="2800" b="1" dirty="0">
                <a:solidFill>
                  <a:schemeClr val="accent1">
                    <a:lumMod val="75000"/>
                  </a:schemeClr>
                </a:solidFill>
                <a:sym typeface="Symbol" charset="2"/>
              </a:rPr>
              <a:t> = </a:t>
            </a:r>
            <a:r>
              <a:rPr lang="en-US" altLang="en-US" sz="2800" b="1" dirty="0" err="1">
                <a:solidFill>
                  <a:schemeClr val="accent1">
                    <a:lumMod val="75000"/>
                  </a:schemeClr>
                </a:solidFill>
                <a:sym typeface="Symbol" charset="2"/>
              </a:rPr>
              <a:t>Need</a:t>
            </a:r>
            <a:r>
              <a:rPr lang="en-US" altLang="en-US" sz="2800" b="1" baseline="-25000" dirty="0" err="1">
                <a:solidFill>
                  <a:schemeClr val="accent1">
                    <a:lumMod val="75000"/>
                  </a:schemeClr>
                </a:solidFill>
                <a:sym typeface="Symbol" charset="2"/>
              </a:rPr>
              <a:t>i</a:t>
            </a:r>
            <a:r>
              <a:rPr lang="en-US" altLang="en-US" sz="2800" b="1" dirty="0">
                <a:solidFill>
                  <a:schemeClr val="accent1">
                    <a:lumMod val="75000"/>
                  </a:schemeClr>
                </a:solidFill>
                <a:sym typeface="Symbol" charset="2"/>
              </a:rPr>
              <a:t> – </a:t>
            </a:r>
            <a:r>
              <a:rPr lang="en-US" altLang="en-US" sz="2800" b="1" dirty="0" err="1">
                <a:solidFill>
                  <a:schemeClr val="accent1">
                    <a:lumMod val="75000"/>
                  </a:schemeClr>
                </a:solidFill>
                <a:sym typeface="Symbol" charset="2"/>
              </a:rPr>
              <a:t>Request</a:t>
            </a:r>
            <a:r>
              <a:rPr lang="en-US" altLang="en-US" sz="2800" b="1" baseline="-25000" dirty="0" err="1">
                <a:solidFill>
                  <a:schemeClr val="accent1">
                    <a:lumMod val="75000"/>
                  </a:schemeClr>
                </a:solidFill>
                <a:sym typeface="Symbol" charset="2"/>
              </a:rPr>
              <a:t>i</a:t>
            </a:r>
            <a:r>
              <a:rPr lang="en-US" altLang="en-US" sz="2800" b="1" dirty="0">
                <a:solidFill>
                  <a:schemeClr val="accent1">
                    <a:lumMod val="75000"/>
                  </a:schemeClr>
                </a:solidFill>
                <a:sym typeface="Symbol" charset="2"/>
              </a:rPr>
              <a:t>;</a:t>
            </a:r>
          </a:p>
          <a:p>
            <a:pPr marL="787400" lvl="1" indent="-330200">
              <a:lnSpc>
                <a:spcPct val="90000"/>
              </a:lnSpc>
              <a:defRPr/>
            </a:pPr>
            <a:endParaRPr lang="en-US" altLang="en-US" sz="2800" b="1" dirty="0">
              <a:solidFill>
                <a:schemeClr val="accent1">
                  <a:lumMod val="75000"/>
                </a:schemeClr>
              </a:solidFill>
              <a:sym typeface="Symbol" charset="2"/>
            </a:endParaRPr>
          </a:p>
          <a:p>
            <a:pPr marL="971550" lvl="1" indent="-514350">
              <a:lnSpc>
                <a:spcPct val="90000"/>
              </a:lnSpc>
              <a:buFont typeface="+mj-lt"/>
              <a:buAutoNum type="arabicPeriod" startAt="4"/>
              <a:defRPr/>
            </a:pPr>
            <a:r>
              <a:rPr lang="en-US" altLang="en-US" sz="2800" dirty="0">
                <a:sym typeface="Symbol" charset="2"/>
              </a:rPr>
              <a:t>Run the safety algorithm</a:t>
            </a:r>
          </a:p>
          <a:p>
            <a:pPr marL="1223963" lvl="2" indent="-366713">
              <a:lnSpc>
                <a:spcPct val="90000"/>
              </a:lnSpc>
              <a:buFont typeface="Monotype Sorts" charset="2"/>
              <a:buChar char="T"/>
              <a:defRPr/>
            </a:pPr>
            <a:r>
              <a:rPr lang="en-US" altLang="en-US" sz="2800" dirty="0">
                <a:sym typeface="Symbol" charset="2"/>
              </a:rPr>
              <a:t>Safe  the resources are allocated to P</a:t>
            </a:r>
            <a:r>
              <a:rPr lang="en-US" altLang="en-US" sz="2800" baseline="-25000" dirty="0">
                <a:sym typeface="Symbol" charset="2"/>
              </a:rPr>
              <a:t>i</a:t>
            </a:r>
            <a:endParaRPr lang="en-US" altLang="en-US" sz="2800" dirty="0">
              <a:sym typeface="Symbol" charset="2"/>
            </a:endParaRPr>
          </a:p>
          <a:p>
            <a:pPr marL="1223963" lvl="2" indent="-366713">
              <a:lnSpc>
                <a:spcPct val="90000"/>
              </a:lnSpc>
              <a:buFont typeface="Monotype Sorts" charset="2"/>
              <a:buChar char="T"/>
              <a:defRPr/>
            </a:pPr>
            <a:r>
              <a:rPr lang="en-US" altLang="en-US" sz="2800" dirty="0">
                <a:sym typeface="Symbol" charset="2"/>
              </a:rPr>
              <a:t>Unsafe  P</a:t>
            </a:r>
            <a:r>
              <a:rPr lang="en-US" altLang="en-US" sz="2800" baseline="-25000" dirty="0">
                <a:sym typeface="Symbol" charset="2"/>
              </a:rPr>
              <a:t>i</a:t>
            </a:r>
            <a:r>
              <a:rPr lang="en-US" altLang="en-US" sz="2800" dirty="0">
                <a:sym typeface="Symbol" charset="2"/>
              </a:rPr>
              <a:t> must wait, and the old resource-allocation state is restored</a:t>
            </a:r>
            <a:endParaRPr lang="en-US" altLang="en-US" sz="2800" baseline="-25000" dirty="0">
              <a:sym typeface="Symbol"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987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987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98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Footer Placeholder 3">
            <a:extLst>
              <a:ext uri="{FF2B5EF4-FFF2-40B4-BE49-F238E27FC236}">
                <a16:creationId xmlns:a16="http://schemas.microsoft.com/office/drawing/2014/main" id="{CF77E428-016F-45E1-9B0D-8094216F414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84994" name="Rectangle 2">
            <a:extLst>
              <a:ext uri="{FF2B5EF4-FFF2-40B4-BE49-F238E27FC236}">
                <a16:creationId xmlns:a16="http://schemas.microsoft.com/office/drawing/2014/main" id="{C94840F4-661C-4347-BD6A-2EF952CF2D97}"/>
              </a:ext>
            </a:extLst>
          </p:cNvPr>
          <p:cNvSpPr>
            <a:spLocks noGrp="1" noChangeArrowheads="1"/>
          </p:cNvSpPr>
          <p:nvPr>
            <p:ph type="title"/>
          </p:nvPr>
        </p:nvSpPr>
        <p:spPr>
          <a:xfrm>
            <a:off x="712788" y="495300"/>
            <a:ext cx="7781925" cy="457200"/>
          </a:xfrm>
        </p:spPr>
        <p:txBody>
          <a:bodyPr/>
          <a:lstStyle/>
          <a:p>
            <a:r>
              <a:rPr lang="en-US" altLang="en-US"/>
              <a:t>Example of Resource-Request Algorithm</a:t>
            </a:r>
          </a:p>
        </p:txBody>
      </p:sp>
      <p:sp>
        <p:nvSpPr>
          <p:cNvPr id="31748" name="Rectangle 3">
            <a:extLst>
              <a:ext uri="{FF2B5EF4-FFF2-40B4-BE49-F238E27FC236}">
                <a16:creationId xmlns:a16="http://schemas.microsoft.com/office/drawing/2014/main" id="{33289160-DDC3-439E-A96B-CFD3CA97C12C}"/>
              </a:ext>
            </a:extLst>
          </p:cNvPr>
          <p:cNvSpPr>
            <a:spLocks noGrp="1" noChangeArrowheads="1"/>
          </p:cNvSpPr>
          <p:nvPr>
            <p:ph type="body" idx="1"/>
          </p:nvPr>
        </p:nvSpPr>
        <p:spPr>
          <a:xfrm>
            <a:off x="485775" y="1319213"/>
            <a:ext cx="8399463" cy="5145087"/>
          </a:xfrm>
        </p:spPr>
        <p:txBody>
          <a:bodyPr/>
          <a:lstStyle/>
          <a:p>
            <a:pPr>
              <a:lnSpc>
                <a:spcPct val="80000"/>
              </a:lnSpc>
              <a:tabLst>
                <a:tab pos="1544638" algn="l"/>
                <a:tab pos="2452688" algn="ctr"/>
                <a:tab pos="3767138" algn="ctr"/>
                <a:tab pos="5022850" algn="ctr"/>
              </a:tabLst>
            </a:pPr>
            <a:r>
              <a:rPr lang="en-US" altLang="en-US" sz="2000">
                <a:solidFill>
                  <a:schemeClr val="accent2"/>
                </a:solidFill>
              </a:rPr>
              <a:t>Suppose </a:t>
            </a:r>
            <a:r>
              <a:rPr lang="en-US" altLang="en-US" sz="2000" i="1">
                <a:solidFill>
                  <a:schemeClr val="accent2"/>
                </a:solidFill>
              </a:rPr>
              <a:t>P</a:t>
            </a:r>
            <a:r>
              <a:rPr lang="en-US" altLang="en-US" sz="2000" baseline="-25000">
                <a:solidFill>
                  <a:schemeClr val="accent2"/>
                </a:solidFill>
              </a:rPr>
              <a:t>1 </a:t>
            </a:r>
            <a:r>
              <a:rPr lang="en-US" altLang="en-US" sz="2000">
                <a:solidFill>
                  <a:schemeClr val="accent2"/>
                </a:solidFill>
              </a:rPr>
              <a:t>requests (1, 0, 2) resources</a:t>
            </a:r>
          </a:p>
          <a:p>
            <a:pPr marL="457200" lvl="1" indent="0">
              <a:lnSpc>
                <a:spcPct val="80000"/>
              </a:lnSpc>
              <a:buFontTx/>
              <a:buNone/>
              <a:tabLst>
                <a:tab pos="1544638" algn="l"/>
                <a:tab pos="2452688" algn="ctr"/>
                <a:tab pos="3767138" algn="ctr"/>
                <a:tab pos="5022850" algn="ctr"/>
              </a:tabLst>
            </a:pPr>
            <a:endParaRPr lang="en-US" altLang="en-US" sz="1200">
              <a:solidFill>
                <a:schemeClr val="accent2"/>
              </a:solidFill>
            </a:endParaRPr>
          </a:p>
          <a:p>
            <a:pPr>
              <a:lnSpc>
                <a:spcPct val="80000"/>
              </a:lnSpc>
              <a:tabLst>
                <a:tab pos="1544638" algn="l"/>
                <a:tab pos="2452688" algn="ctr"/>
                <a:tab pos="3767138" algn="ctr"/>
                <a:tab pos="5022850" algn="ctr"/>
              </a:tabLst>
            </a:pPr>
            <a:r>
              <a:rPr lang="en-US" altLang="en-US" sz="2000">
                <a:solidFill>
                  <a:srgbClr val="FF0000"/>
                </a:solidFill>
              </a:rPr>
              <a:t>Step1: </a:t>
            </a:r>
            <a:r>
              <a:rPr lang="en-US" altLang="en-US" sz="2000"/>
              <a:t>Check Request</a:t>
            </a:r>
            <a:r>
              <a:rPr lang="en-US" altLang="en-US" sz="2000" baseline="-25000"/>
              <a:t>1</a:t>
            </a:r>
            <a:r>
              <a:rPr lang="en-US" altLang="en-US" sz="2000"/>
              <a:t> </a:t>
            </a:r>
            <a:r>
              <a:rPr lang="en-US" altLang="en-US" sz="2000">
                <a:sym typeface="Symbol" panose="05050102010706020507" pitchFamily="18" charset="2"/>
              </a:rPr>
              <a:t> Need</a:t>
            </a:r>
            <a:r>
              <a:rPr lang="en-US" altLang="en-US" sz="2000" baseline="-25000"/>
              <a:t>1,</a:t>
            </a:r>
            <a:r>
              <a:rPr lang="en-US" altLang="en-US" sz="2000"/>
              <a:t> </a:t>
            </a:r>
            <a:r>
              <a:rPr lang="en-US" altLang="en-US" sz="2000">
                <a:sym typeface="Symbol" panose="05050102010706020507" pitchFamily="18" charset="2"/>
              </a:rPr>
              <a:t>(1,0,2)  (1,2,2)  </a:t>
            </a:r>
            <a:r>
              <a:rPr lang="en-US" altLang="en-US" sz="2000" i="1">
                <a:sym typeface="Symbol" panose="05050102010706020507" pitchFamily="18" charset="2"/>
              </a:rPr>
              <a:t>true</a:t>
            </a:r>
            <a:endParaRPr lang="en-US" altLang="en-US" sz="2000"/>
          </a:p>
          <a:p>
            <a:pPr>
              <a:lnSpc>
                <a:spcPct val="80000"/>
              </a:lnSpc>
              <a:tabLst>
                <a:tab pos="1544638" algn="l"/>
                <a:tab pos="2452688" algn="ctr"/>
                <a:tab pos="3767138" algn="ctr"/>
                <a:tab pos="5022850" algn="ctr"/>
              </a:tabLst>
            </a:pPr>
            <a:r>
              <a:rPr lang="en-US" altLang="en-US" sz="2000">
                <a:solidFill>
                  <a:srgbClr val="FF0000"/>
                </a:solidFill>
              </a:rPr>
              <a:t>Step2: </a:t>
            </a:r>
            <a:r>
              <a:rPr lang="en-US" altLang="en-US" sz="2000"/>
              <a:t>Check that Request</a:t>
            </a:r>
            <a:r>
              <a:rPr lang="en-US" altLang="en-US" sz="2000" baseline="-25000"/>
              <a:t>1</a:t>
            </a:r>
            <a:r>
              <a:rPr lang="en-US" altLang="en-US" sz="2000"/>
              <a:t> </a:t>
            </a:r>
            <a:r>
              <a:rPr lang="en-US" altLang="en-US" sz="2000">
                <a:sym typeface="Symbol" panose="05050102010706020507" pitchFamily="18" charset="2"/>
              </a:rPr>
              <a:t> Available, i.e. (1,0,2)  (3,3,2)  </a:t>
            </a:r>
            <a:r>
              <a:rPr lang="en-US" altLang="en-US" sz="2000" i="1">
                <a:sym typeface="Symbol" panose="05050102010706020507" pitchFamily="18" charset="2"/>
              </a:rPr>
              <a:t>true</a:t>
            </a:r>
          </a:p>
          <a:p>
            <a:pPr>
              <a:lnSpc>
                <a:spcPct val="80000"/>
              </a:lnSpc>
              <a:tabLst>
                <a:tab pos="1544638" algn="l"/>
                <a:tab pos="2452688" algn="ctr"/>
                <a:tab pos="3767138" algn="ctr"/>
                <a:tab pos="5022850" algn="ctr"/>
              </a:tabLst>
            </a:pPr>
            <a:r>
              <a:rPr lang="en-US" altLang="en-US" sz="2000">
                <a:solidFill>
                  <a:srgbClr val="FF0000"/>
                </a:solidFill>
                <a:sym typeface="Symbol" panose="05050102010706020507" pitchFamily="18" charset="2"/>
              </a:rPr>
              <a:t>Steps 3 &amp; 4: </a:t>
            </a:r>
          </a:p>
          <a:p>
            <a:pPr>
              <a:lnSpc>
                <a:spcPct val="80000"/>
              </a:lnSpc>
              <a:buFontTx/>
              <a:buNone/>
              <a:tabLst>
                <a:tab pos="1544638" algn="l"/>
                <a:tab pos="2452688" algn="ctr"/>
                <a:tab pos="3767138" algn="ctr"/>
                <a:tab pos="5022850" algn="ctr"/>
              </a:tabLst>
            </a:pPr>
            <a:r>
              <a:rPr lang="en-US" altLang="en-US" sz="2400" i="1" u="sng">
                <a:solidFill>
                  <a:schemeClr val="accent2"/>
                </a:solidFill>
              </a:rPr>
              <a:t>Allocation</a:t>
            </a:r>
            <a:r>
              <a:rPr lang="en-US" altLang="en-US" sz="2400" i="1">
                <a:solidFill>
                  <a:schemeClr val="accent2"/>
                </a:solidFill>
              </a:rPr>
              <a:t>	</a:t>
            </a:r>
            <a:r>
              <a:rPr lang="en-US" altLang="en-US" sz="2400" i="1" u="sng">
                <a:solidFill>
                  <a:schemeClr val="accent2"/>
                </a:solidFill>
              </a:rPr>
              <a:t>Max</a:t>
            </a:r>
            <a:r>
              <a:rPr lang="en-US" altLang="en-US" sz="2400" i="1">
                <a:solidFill>
                  <a:schemeClr val="accent2"/>
                </a:solidFill>
              </a:rPr>
              <a:t>	    </a:t>
            </a:r>
            <a:r>
              <a:rPr lang="en-US" altLang="en-US" sz="2400" i="1" u="sng">
                <a:solidFill>
                  <a:schemeClr val="accent2"/>
                </a:solidFill>
              </a:rPr>
              <a:t>Need</a:t>
            </a:r>
            <a:r>
              <a:rPr lang="en-US" altLang="en-US" sz="2400" i="1">
                <a:solidFill>
                  <a:schemeClr val="accent2"/>
                </a:solidFill>
              </a:rPr>
              <a:t>   </a:t>
            </a:r>
            <a:r>
              <a:rPr lang="en-US" altLang="en-US" sz="2400" i="1" u="sng">
                <a:solidFill>
                  <a:schemeClr val="accent2"/>
                </a:solidFill>
              </a:rPr>
              <a:t>Available</a:t>
            </a:r>
            <a:endParaRPr lang="en-US" altLang="en-US" sz="2400" i="1">
              <a:solidFill>
                <a:schemeClr val="accent2"/>
              </a:solidFill>
            </a:endParaRPr>
          </a:p>
          <a:p>
            <a:pPr>
              <a:lnSpc>
                <a:spcPct val="80000"/>
              </a:lnSpc>
              <a:buFontTx/>
              <a:buNone/>
              <a:tabLst>
                <a:tab pos="1544638" algn="l"/>
                <a:tab pos="2452688" algn="ctr"/>
                <a:tab pos="3767138" algn="ctr"/>
                <a:tab pos="5022850" algn="ctr"/>
              </a:tabLst>
            </a:pPr>
            <a:r>
              <a:rPr lang="en-US" altLang="en-US" sz="2400" i="1"/>
              <a:t>	   A B C	A B C	   A B C	   A B C</a:t>
            </a:r>
          </a:p>
          <a:p>
            <a:pPr>
              <a:lnSpc>
                <a:spcPct val="80000"/>
              </a:lnSpc>
              <a:buFontTx/>
              <a:buNone/>
              <a:tabLst>
                <a:tab pos="1544638" algn="l"/>
                <a:tab pos="2452688" algn="ctr"/>
                <a:tab pos="3767138" algn="ctr"/>
                <a:tab pos="5022850" algn="ctr"/>
              </a:tabLst>
            </a:pPr>
            <a:r>
              <a:rPr lang="en-US" altLang="en-US" sz="2400" i="1">
                <a:solidFill>
                  <a:schemeClr val="accent2"/>
                </a:solidFill>
              </a:rPr>
              <a:t>P</a:t>
            </a:r>
            <a:r>
              <a:rPr lang="en-US" altLang="en-US" sz="2400" baseline="-25000">
                <a:solidFill>
                  <a:schemeClr val="accent2"/>
                </a:solidFill>
              </a:rPr>
              <a:t>0</a:t>
            </a:r>
            <a:r>
              <a:rPr lang="en-US" altLang="en-US" sz="2400"/>
              <a:t>  0 1 0	7 5 3 	   7 4 3	    3 3 2</a:t>
            </a:r>
          </a:p>
          <a:p>
            <a:pPr>
              <a:lnSpc>
                <a:spcPct val="80000"/>
              </a:lnSpc>
              <a:buFontTx/>
              <a:buNone/>
              <a:tabLst>
                <a:tab pos="1544638" algn="l"/>
                <a:tab pos="2452688" algn="ctr"/>
                <a:tab pos="3767138" algn="ctr"/>
                <a:tab pos="5022850" algn="ctr"/>
              </a:tabLst>
            </a:pPr>
            <a:r>
              <a:rPr lang="en-US" altLang="en-US" sz="2400" i="1">
                <a:solidFill>
                  <a:schemeClr val="accent2"/>
                </a:solidFill>
              </a:rPr>
              <a:t>P</a:t>
            </a:r>
            <a:r>
              <a:rPr lang="en-US" altLang="en-US" sz="2400" baseline="-25000">
                <a:solidFill>
                  <a:schemeClr val="accent2"/>
                </a:solidFill>
              </a:rPr>
              <a:t>1</a:t>
            </a:r>
            <a:r>
              <a:rPr lang="en-US" altLang="en-US" sz="2400"/>
              <a:t>  2 0 0 	3 2 2 	   1 2 2</a:t>
            </a:r>
          </a:p>
          <a:p>
            <a:pPr>
              <a:lnSpc>
                <a:spcPct val="80000"/>
              </a:lnSpc>
              <a:buFontTx/>
              <a:buNone/>
              <a:tabLst>
                <a:tab pos="1544638" algn="l"/>
                <a:tab pos="2452688" algn="ctr"/>
                <a:tab pos="3767138" algn="ctr"/>
                <a:tab pos="5022850" algn="ctr"/>
              </a:tabLst>
            </a:pPr>
            <a:r>
              <a:rPr lang="en-US" altLang="en-US" sz="2400" i="1">
                <a:solidFill>
                  <a:schemeClr val="accent2"/>
                </a:solidFill>
              </a:rPr>
              <a:t>P</a:t>
            </a:r>
            <a:r>
              <a:rPr lang="en-US" altLang="en-US" sz="2400" baseline="-25000">
                <a:solidFill>
                  <a:schemeClr val="accent2"/>
                </a:solidFill>
              </a:rPr>
              <a:t>2</a:t>
            </a:r>
            <a:r>
              <a:rPr lang="en-US" altLang="en-US" sz="2400"/>
              <a:t>  3 0 2 	9 0 2	    6 0 0</a:t>
            </a:r>
          </a:p>
          <a:p>
            <a:pPr>
              <a:lnSpc>
                <a:spcPct val="80000"/>
              </a:lnSpc>
              <a:buFontTx/>
              <a:buNone/>
              <a:tabLst>
                <a:tab pos="1544638" algn="l"/>
                <a:tab pos="2452688" algn="ctr"/>
                <a:tab pos="3767138" algn="ctr"/>
                <a:tab pos="5022850" algn="ctr"/>
              </a:tabLst>
            </a:pPr>
            <a:r>
              <a:rPr lang="en-US" altLang="en-US" sz="2400" i="1">
                <a:solidFill>
                  <a:schemeClr val="accent2"/>
                </a:solidFill>
              </a:rPr>
              <a:t>P</a:t>
            </a:r>
            <a:r>
              <a:rPr lang="en-US" altLang="en-US" sz="2400" baseline="-25000">
                <a:solidFill>
                  <a:schemeClr val="accent2"/>
                </a:solidFill>
              </a:rPr>
              <a:t>3</a:t>
            </a:r>
            <a:r>
              <a:rPr lang="en-US" altLang="en-US" sz="2400"/>
              <a:t>  2 1 1 	2 2 2 	   0 1 1</a:t>
            </a:r>
          </a:p>
          <a:p>
            <a:pPr>
              <a:lnSpc>
                <a:spcPct val="80000"/>
              </a:lnSpc>
              <a:buFontTx/>
              <a:buNone/>
              <a:tabLst>
                <a:tab pos="1544638" algn="l"/>
                <a:tab pos="2452688" algn="ctr"/>
                <a:tab pos="3767138" algn="ctr"/>
                <a:tab pos="5022850" algn="ctr"/>
              </a:tabLst>
            </a:pPr>
            <a:r>
              <a:rPr lang="en-US" altLang="en-US" sz="2400" i="1">
                <a:solidFill>
                  <a:schemeClr val="accent2"/>
                </a:solidFill>
              </a:rPr>
              <a:t>P</a:t>
            </a:r>
            <a:r>
              <a:rPr lang="en-US" altLang="en-US" sz="2400" baseline="-25000">
                <a:solidFill>
                  <a:schemeClr val="accent2"/>
                </a:solidFill>
              </a:rPr>
              <a:t>4</a:t>
            </a:r>
            <a:r>
              <a:rPr lang="en-US" altLang="en-US" sz="2400"/>
              <a:t>  0 0 2	4 3 3	    4 3 1</a:t>
            </a:r>
            <a:endParaRPr lang="en-US" altLang="en-US" sz="2600"/>
          </a:p>
        </p:txBody>
      </p:sp>
      <p:sp>
        <p:nvSpPr>
          <p:cNvPr id="31749" name="Rectangle 4">
            <a:extLst>
              <a:ext uri="{FF2B5EF4-FFF2-40B4-BE49-F238E27FC236}">
                <a16:creationId xmlns:a16="http://schemas.microsoft.com/office/drawing/2014/main" id="{3245B9C6-AD91-435B-98E8-DCFD56606705}"/>
              </a:ext>
            </a:extLst>
          </p:cNvPr>
          <p:cNvSpPr>
            <a:spLocks noChangeArrowheads="1"/>
          </p:cNvSpPr>
          <p:nvPr/>
        </p:nvSpPr>
        <p:spPr bwMode="auto">
          <a:xfrm>
            <a:off x="5240338" y="4030663"/>
            <a:ext cx="3784600" cy="68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tabLst>
                <a:tab pos="457200" algn="l"/>
                <a:tab pos="1946275" algn="l"/>
                <a:tab pos="2860675" algn="l"/>
                <a:tab pos="3775075" algn="l"/>
              </a:tabLst>
              <a:defRPr>
                <a:solidFill>
                  <a:schemeClr val="tx1"/>
                </a:solidFill>
                <a:latin typeface="Helvetica" panose="020B0604020202020204" pitchFamily="34" charset="0"/>
              </a:defRPr>
            </a:lvl1pPr>
            <a:lvl2pPr marL="742950" indent="-285750">
              <a:spcBef>
                <a:spcPct val="20000"/>
              </a:spcBef>
              <a:buChar char="–"/>
              <a:tabLst>
                <a:tab pos="457200" algn="l"/>
                <a:tab pos="1946275" algn="l"/>
                <a:tab pos="2860675" algn="l"/>
                <a:tab pos="3775075" algn="l"/>
              </a:tabLst>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tabLst>
                <a:tab pos="457200" algn="l"/>
                <a:tab pos="1946275" algn="l"/>
                <a:tab pos="2860675" algn="l"/>
                <a:tab pos="3775075" algn="l"/>
              </a:tabLst>
              <a:defRPr>
                <a:solidFill>
                  <a:schemeClr val="tx1"/>
                </a:solidFill>
                <a:latin typeface="Helvetica" panose="020B0604020202020204" pitchFamily="34" charset="0"/>
              </a:defRPr>
            </a:lvl3pPr>
            <a:lvl4pPr marL="1600200" indent="-228600">
              <a:spcBef>
                <a:spcPct val="20000"/>
              </a:spcBef>
              <a:buChar char="–"/>
              <a:tabLst>
                <a:tab pos="457200" algn="l"/>
                <a:tab pos="1946275" algn="l"/>
                <a:tab pos="2860675" algn="l"/>
                <a:tab pos="3775075" algn="l"/>
              </a:tabLst>
              <a:defRPr>
                <a:solidFill>
                  <a:schemeClr val="tx1"/>
                </a:solidFill>
                <a:latin typeface="Helvetica" panose="020B0604020202020204" pitchFamily="34" charset="0"/>
              </a:defRPr>
            </a:lvl4pPr>
            <a:lvl5pPr marL="2057400" indent="-228600">
              <a:spcBef>
                <a:spcPct val="20000"/>
              </a:spcBef>
              <a:buChar char="»"/>
              <a:tabLst>
                <a:tab pos="457200" algn="l"/>
                <a:tab pos="1946275" algn="l"/>
                <a:tab pos="2860675" algn="l"/>
                <a:tab pos="3775075" algn="l"/>
              </a:tabLst>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tabLst>
                <a:tab pos="457200" algn="l"/>
                <a:tab pos="1946275" algn="l"/>
                <a:tab pos="2860675" algn="l"/>
                <a:tab pos="3775075" algn="l"/>
              </a:tabLst>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tabLst>
                <a:tab pos="457200" algn="l"/>
                <a:tab pos="1946275" algn="l"/>
                <a:tab pos="2860675" algn="l"/>
                <a:tab pos="3775075" algn="l"/>
              </a:tabLst>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tabLst>
                <a:tab pos="457200" algn="l"/>
                <a:tab pos="1946275" algn="l"/>
                <a:tab pos="2860675" algn="l"/>
                <a:tab pos="3775075" algn="l"/>
              </a:tabLst>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tabLst>
                <a:tab pos="457200" algn="l"/>
                <a:tab pos="1946275" algn="l"/>
                <a:tab pos="2860675" algn="l"/>
                <a:tab pos="3775075" algn="l"/>
              </a:tabLst>
              <a:defRPr>
                <a:solidFill>
                  <a:schemeClr val="tx1"/>
                </a:solidFill>
                <a:latin typeface="Helvetica" panose="020B0604020202020204" pitchFamily="34" charset="0"/>
              </a:defRPr>
            </a:lvl9pPr>
          </a:lstStyle>
          <a:p>
            <a:pPr>
              <a:lnSpc>
                <a:spcPct val="80000"/>
              </a:lnSpc>
              <a:spcBef>
                <a:spcPct val="0"/>
              </a:spcBef>
              <a:buSzTx/>
              <a:buFontTx/>
              <a:buNone/>
            </a:pPr>
            <a:r>
              <a:rPr lang="en-US" altLang="en-US" sz="2400">
                <a:solidFill>
                  <a:srgbClr val="FF0000"/>
                </a:solidFill>
                <a:sym typeface="Symbol" panose="05050102010706020507" pitchFamily="18" charset="2"/>
              </a:rPr>
              <a:t>Step 3: </a:t>
            </a:r>
            <a:r>
              <a:rPr lang="en-US" altLang="en-US" sz="2400">
                <a:sym typeface="Symbol" panose="05050102010706020507" pitchFamily="18" charset="2"/>
              </a:rPr>
              <a:t>Pretend to allocate requested resources</a:t>
            </a:r>
            <a:endParaRPr lang="en-US" altLang="en-US" sz="2400"/>
          </a:p>
        </p:txBody>
      </p:sp>
      <p:sp>
        <p:nvSpPr>
          <p:cNvPr id="6" name="Rectangle 5">
            <a:extLst>
              <a:ext uri="{FF2B5EF4-FFF2-40B4-BE49-F238E27FC236}">
                <a16:creationId xmlns:a16="http://schemas.microsoft.com/office/drawing/2014/main" id="{515ADFF6-4BD8-48BF-A6BE-8B076185F1FB}"/>
              </a:ext>
            </a:extLst>
          </p:cNvPr>
          <p:cNvSpPr>
            <a:spLocks noChangeArrowheads="1"/>
          </p:cNvSpPr>
          <p:nvPr/>
        </p:nvSpPr>
        <p:spPr bwMode="auto">
          <a:xfrm>
            <a:off x="965200" y="4716463"/>
            <a:ext cx="8699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b="1">
                <a:solidFill>
                  <a:srgbClr val="FF0000"/>
                </a:solidFill>
              </a:rPr>
              <a:t>3 0 2</a:t>
            </a:r>
          </a:p>
        </p:txBody>
      </p:sp>
      <p:sp>
        <p:nvSpPr>
          <p:cNvPr id="7" name="Rectangle 6">
            <a:extLst>
              <a:ext uri="{FF2B5EF4-FFF2-40B4-BE49-F238E27FC236}">
                <a16:creationId xmlns:a16="http://schemas.microsoft.com/office/drawing/2014/main" id="{FCFCAA6D-865C-4DFF-8AA3-35F8F9B70094}"/>
              </a:ext>
            </a:extLst>
          </p:cNvPr>
          <p:cNvSpPr>
            <a:spLocks noChangeArrowheads="1"/>
          </p:cNvSpPr>
          <p:nvPr/>
        </p:nvSpPr>
        <p:spPr bwMode="auto">
          <a:xfrm>
            <a:off x="3044825" y="4713288"/>
            <a:ext cx="9540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b="1">
                <a:solidFill>
                  <a:srgbClr val="FF0000"/>
                </a:solidFill>
              </a:rPr>
              <a:t>0 2 0 </a:t>
            </a:r>
          </a:p>
        </p:txBody>
      </p:sp>
      <p:sp>
        <p:nvSpPr>
          <p:cNvPr id="9" name="Rectangle 8">
            <a:extLst>
              <a:ext uri="{FF2B5EF4-FFF2-40B4-BE49-F238E27FC236}">
                <a16:creationId xmlns:a16="http://schemas.microsoft.com/office/drawing/2014/main" id="{DE0C0321-2566-4DF4-8C05-3834201E7110}"/>
              </a:ext>
            </a:extLst>
          </p:cNvPr>
          <p:cNvSpPr>
            <a:spLocks noChangeArrowheads="1"/>
          </p:cNvSpPr>
          <p:nvPr/>
        </p:nvSpPr>
        <p:spPr bwMode="auto">
          <a:xfrm>
            <a:off x="4092575" y="4286250"/>
            <a:ext cx="869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b="1">
                <a:solidFill>
                  <a:srgbClr val="FF0000"/>
                </a:solidFill>
              </a:rPr>
              <a:t>2 3 0</a:t>
            </a:r>
          </a:p>
        </p:txBody>
      </p:sp>
      <p:cxnSp>
        <p:nvCxnSpPr>
          <p:cNvPr id="10" name="Straight Connector 9">
            <a:extLst>
              <a:ext uri="{FF2B5EF4-FFF2-40B4-BE49-F238E27FC236}">
                <a16:creationId xmlns:a16="http://schemas.microsoft.com/office/drawing/2014/main" id="{316E8EE9-4539-4E86-B7BF-3D3B88597C54}"/>
              </a:ext>
            </a:extLst>
          </p:cNvPr>
          <p:cNvCxnSpPr>
            <a:cxnSpLocks noChangeShapeType="1"/>
          </p:cNvCxnSpPr>
          <p:nvPr/>
        </p:nvCxnSpPr>
        <p:spPr bwMode="auto">
          <a:xfrm flipV="1">
            <a:off x="4092575" y="4224338"/>
            <a:ext cx="86995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11" name="Straight Connector 10">
            <a:extLst>
              <a:ext uri="{FF2B5EF4-FFF2-40B4-BE49-F238E27FC236}">
                <a16:creationId xmlns:a16="http://schemas.microsoft.com/office/drawing/2014/main" id="{9CF3F672-E7AA-4E83-B11E-64FA8D081C85}"/>
              </a:ext>
            </a:extLst>
          </p:cNvPr>
          <p:cNvCxnSpPr>
            <a:cxnSpLocks noChangeShapeType="1"/>
          </p:cNvCxnSpPr>
          <p:nvPr/>
        </p:nvCxnSpPr>
        <p:spPr bwMode="auto">
          <a:xfrm flipV="1">
            <a:off x="1011238" y="4699000"/>
            <a:ext cx="86995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12" name="Straight Connector 11">
            <a:extLst>
              <a:ext uri="{FF2B5EF4-FFF2-40B4-BE49-F238E27FC236}">
                <a16:creationId xmlns:a16="http://schemas.microsoft.com/office/drawing/2014/main" id="{7060B93A-08EF-466E-84C6-C8250ADF3C31}"/>
              </a:ext>
            </a:extLst>
          </p:cNvPr>
          <p:cNvCxnSpPr>
            <a:cxnSpLocks noChangeShapeType="1"/>
          </p:cNvCxnSpPr>
          <p:nvPr/>
        </p:nvCxnSpPr>
        <p:spPr bwMode="auto">
          <a:xfrm flipV="1">
            <a:off x="3063875" y="4689475"/>
            <a:ext cx="86995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cxnSp>
      <p:sp>
        <p:nvSpPr>
          <p:cNvPr id="13" name="Rectangle 4">
            <a:extLst>
              <a:ext uri="{FF2B5EF4-FFF2-40B4-BE49-F238E27FC236}">
                <a16:creationId xmlns:a16="http://schemas.microsoft.com/office/drawing/2014/main" id="{11B80E21-3622-423A-97D7-A09B49DCC914}"/>
              </a:ext>
            </a:extLst>
          </p:cNvPr>
          <p:cNvSpPr>
            <a:spLocks noChangeArrowheads="1"/>
          </p:cNvSpPr>
          <p:nvPr/>
        </p:nvSpPr>
        <p:spPr bwMode="auto">
          <a:xfrm>
            <a:off x="5240338" y="4943475"/>
            <a:ext cx="364490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tabLst>
                <a:tab pos="457200" algn="l"/>
                <a:tab pos="1946275" algn="l"/>
                <a:tab pos="2860675" algn="l"/>
                <a:tab pos="3775075" algn="l"/>
              </a:tabLst>
              <a:defRPr>
                <a:solidFill>
                  <a:schemeClr val="tx1"/>
                </a:solidFill>
                <a:latin typeface="Helvetica" panose="020B0604020202020204" pitchFamily="34" charset="0"/>
              </a:defRPr>
            </a:lvl1pPr>
            <a:lvl2pPr marL="742950" indent="-285750">
              <a:spcBef>
                <a:spcPct val="20000"/>
              </a:spcBef>
              <a:buChar char="–"/>
              <a:tabLst>
                <a:tab pos="457200" algn="l"/>
                <a:tab pos="1946275" algn="l"/>
                <a:tab pos="2860675" algn="l"/>
                <a:tab pos="3775075" algn="l"/>
              </a:tabLst>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tabLst>
                <a:tab pos="457200" algn="l"/>
                <a:tab pos="1946275" algn="l"/>
                <a:tab pos="2860675" algn="l"/>
                <a:tab pos="3775075" algn="l"/>
              </a:tabLst>
              <a:defRPr>
                <a:solidFill>
                  <a:schemeClr val="tx1"/>
                </a:solidFill>
                <a:latin typeface="Helvetica" panose="020B0604020202020204" pitchFamily="34" charset="0"/>
              </a:defRPr>
            </a:lvl3pPr>
            <a:lvl4pPr marL="1600200" indent="-228600">
              <a:spcBef>
                <a:spcPct val="20000"/>
              </a:spcBef>
              <a:buChar char="–"/>
              <a:tabLst>
                <a:tab pos="457200" algn="l"/>
                <a:tab pos="1946275" algn="l"/>
                <a:tab pos="2860675" algn="l"/>
                <a:tab pos="3775075" algn="l"/>
              </a:tabLst>
              <a:defRPr>
                <a:solidFill>
                  <a:schemeClr val="tx1"/>
                </a:solidFill>
                <a:latin typeface="Helvetica" panose="020B0604020202020204" pitchFamily="34" charset="0"/>
              </a:defRPr>
            </a:lvl4pPr>
            <a:lvl5pPr marL="2057400" indent="-228600">
              <a:spcBef>
                <a:spcPct val="20000"/>
              </a:spcBef>
              <a:buChar char="»"/>
              <a:tabLst>
                <a:tab pos="457200" algn="l"/>
                <a:tab pos="1946275" algn="l"/>
                <a:tab pos="2860675" algn="l"/>
                <a:tab pos="3775075" algn="l"/>
              </a:tabLst>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tabLst>
                <a:tab pos="457200" algn="l"/>
                <a:tab pos="1946275" algn="l"/>
                <a:tab pos="2860675" algn="l"/>
                <a:tab pos="3775075" algn="l"/>
              </a:tabLst>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tabLst>
                <a:tab pos="457200" algn="l"/>
                <a:tab pos="1946275" algn="l"/>
                <a:tab pos="2860675" algn="l"/>
                <a:tab pos="3775075" algn="l"/>
              </a:tabLst>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tabLst>
                <a:tab pos="457200" algn="l"/>
                <a:tab pos="1946275" algn="l"/>
                <a:tab pos="2860675" algn="l"/>
                <a:tab pos="3775075" algn="l"/>
              </a:tabLst>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tabLst>
                <a:tab pos="457200" algn="l"/>
                <a:tab pos="1946275" algn="l"/>
                <a:tab pos="2860675" algn="l"/>
                <a:tab pos="3775075" algn="l"/>
              </a:tabLst>
              <a:defRPr>
                <a:solidFill>
                  <a:schemeClr val="tx1"/>
                </a:solidFill>
                <a:latin typeface="Helvetica" panose="020B0604020202020204" pitchFamily="34" charset="0"/>
              </a:defRPr>
            </a:lvl9pPr>
          </a:lstStyle>
          <a:p>
            <a:pPr>
              <a:lnSpc>
                <a:spcPct val="90000"/>
              </a:lnSpc>
              <a:buFontTx/>
              <a:buNone/>
            </a:pPr>
            <a:r>
              <a:rPr lang="en-US" altLang="en-US" sz="2400">
                <a:solidFill>
                  <a:srgbClr val="FF0000"/>
                </a:solidFill>
                <a:sym typeface="Symbol" panose="05050102010706020507" pitchFamily="18" charset="2"/>
              </a:rPr>
              <a:t>Step 4: </a:t>
            </a:r>
            <a:r>
              <a:rPr lang="en-US" altLang="en-US" sz="2400"/>
              <a:t>Executing safety algorithm shows that sequence &lt;</a:t>
            </a:r>
            <a:r>
              <a:rPr lang="en-US" altLang="en-US" sz="2400" i="1"/>
              <a:t>P</a:t>
            </a:r>
            <a:r>
              <a:rPr lang="en-US" altLang="en-US" sz="2400" baseline="-25000"/>
              <a:t>1</a:t>
            </a:r>
            <a:r>
              <a:rPr lang="en-US" altLang="en-US" sz="2400"/>
              <a:t>, </a:t>
            </a:r>
            <a:r>
              <a:rPr lang="en-US" altLang="en-US" sz="2400" i="1"/>
              <a:t>P</a:t>
            </a:r>
            <a:r>
              <a:rPr lang="en-US" altLang="en-US" sz="2400" baseline="-25000"/>
              <a:t>3</a:t>
            </a:r>
            <a:r>
              <a:rPr lang="en-US" altLang="en-US" sz="2400"/>
              <a:t>, </a:t>
            </a:r>
            <a:r>
              <a:rPr lang="en-US" altLang="en-US" sz="2400" i="1"/>
              <a:t>P</a:t>
            </a:r>
            <a:r>
              <a:rPr lang="en-US" altLang="en-US" sz="2400" baseline="-25000"/>
              <a:t>4</a:t>
            </a:r>
            <a:r>
              <a:rPr lang="en-US" altLang="en-US" sz="2400"/>
              <a:t>, </a:t>
            </a:r>
            <a:r>
              <a:rPr lang="en-US" altLang="en-US" sz="2400" i="1"/>
              <a:t>P</a:t>
            </a:r>
            <a:r>
              <a:rPr lang="en-US" altLang="en-US" sz="2400" baseline="-25000"/>
              <a:t>0</a:t>
            </a:r>
            <a:r>
              <a:rPr lang="en-US" altLang="en-US" sz="2400"/>
              <a:t>, </a:t>
            </a:r>
            <a:r>
              <a:rPr lang="en-US" altLang="en-US" sz="2400" i="1"/>
              <a:t>P</a:t>
            </a:r>
            <a:r>
              <a:rPr lang="en-US" altLang="en-US" sz="2400" baseline="-25000"/>
              <a:t>2</a:t>
            </a:r>
            <a:r>
              <a:rPr lang="en-US" altLang="en-US" sz="2400"/>
              <a:t>&gt; is safe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748">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1748">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74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p:bldP spid="6" grpId="0"/>
      <p:bldP spid="7" grpId="0"/>
      <p:bldP spid="9" grpId="0"/>
      <p:bldP spid="1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Footer Placeholder 3">
            <a:extLst>
              <a:ext uri="{FF2B5EF4-FFF2-40B4-BE49-F238E27FC236}">
                <a16:creationId xmlns:a16="http://schemas.microsoft.com/office/drawing/2014/main" id="{D8ED66E6-6BA8-4450-B611-797D23A9CDD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87042" name="Rectangle 2">
            <a:extLst>
              <a:ext uri="{FF2B5EF4-FFF2-40B4-BE49-F238E27FC236}">
                <a16:creationId xmlns:a16="http://schemas.microsoft.com/office/drawing/2014/main" id="{1B87C65C-E62B-441C-A32E-4BA96A0E5E30}"/>
              </a:ext>
            </a:extLst>
          </p:cNvPr>
          <p:cNvSpPr>
            <a:spLocks noGrp="1" noChangeArrowheads="1"/>
          </p:cNvSpPr>
          <p:nvPr>
            <p:ph type="title"/>
          </p:nvPr>
        </p:nvSpPr>
        <p:spPr>
          <a:xfrm>
            <a:off x="731838" y="495300"/>
            <a:ext cx="7735887" cy="457200"/>
          </a:xfrm>
        </p:spPr>
        <p:txBody>
          <a:bodyPr/>
          <a:lstStyle/>
          <a:p>
            <a:r>
              <a:rPr lang="en-US" altLang="en-US"/>
              <a:t>Example of Resource-Request Algorithm</a:t>
            </a:r>
          </a:p>
        </p:txBody>
      </p:sp>
      <p:sp>
        <p:nvSpPr>
          <p:cNvPr id="88067" name="Rectangle 3">
            <a:extLst>
              <a:ext uri="{FF2B5EF4-FFF2-40B4-BE49-F238E27FC236}">
                <a16:creationId xmlns:a16="http://schemas.microsoft.com/office/drawing/2014/main" id="{94E96C79-286F-4537-9A08-E8B1D10FF9FA}"/>
              </a:ext>
            </a:extLst>
          </p:cNvPr>
          <p:cNvSpPr>
            <a:spLocks noGrp="1" noChangeArrowheads="1"/>
          </p:cNvSpPr>
          <p:nvPr>
            <p:ph type="body" idx="1"/>
          </p:nvPr>
        </p:nvSpPr>
        <p:spPr>
          <a:xfrm>
            <a:off x="485775" y="1319213"/>
            <a:ext cx="8397875" cy="5051425"/>
          </a:xfrm>
        </p:spPr>
        <p:txBody>
          <a:bodyPr/>
          <a:lstStyle/>
          <a:p>
            <a:pPr>
              <a:lnSpc>
                <a:spcPct val="90000"/>
              </a:lnSpc>
              <a:tabLst>
                <a:tab pos="1544638" algn="l"/>
                <a:tab pos="2452688" algn="ctr"/>
                <a:tab pos="3767138" algn="ctr"/>
                <a:tab pos="5022850" algn="ctr"/>
              </a:tabLst>
            </a:pPr>
            <a:r>
              <a:rPr lang="en-US" altLang="en-US" sz="2400"/>
              <a:t>Can a further request for (1,0,2) by </a:t>
            </a:r>
            <a:r>
              <a:rPr lang="en-US" altLang="en-US" sz="2400" i="1"/>
              <a:t>P</a:t>
            </a:r>
            <a:r>
              <a:rPr lang="en-US" altLang="en-US" sz="2400" baseline="-25000"/>
              <a:t>1</a:t>
            </a:r>
            <a:r>
              <a:rPr lang="en-US" altLang="en-US" sz="2400"/>
              <a:t> be granted?</a:t>
            </a:r>
          </a:p>
          <a:p>
            <a:pPr lvl="1">
              <a:lnSpc>
                <a:spcPct val="90000"/>
              </a:lnSpc>
              <a:tabLst>
                <a:tab pos="1544638" algn="l"/>
                <a:tab pos="2452688" algn="ctr"/>
                <a:tab pos="3767138" algn="ctr"/>
                <a:tab pos="5022850" algn="ctr"/>
              </a:tabLst>
            </a:pPr>
            <a:r>
              <a:rPr lang="en-US" altLang="en-US" sz="2000">
                <a:solidFill>
                  <a:srgbClr val="FF0000"/>
                </a:solidFill>
              </a:rPr>
              <a:t>Step 1: </a:t>
            </a:r>
            <a:r>
              <a:rPr lang="en-US" altLang="en-US" sz="2000"/>
              <a:t>Check if Request</a:t>
            </a:r>
            <a:r>
              <a:rPr lang="en-US" altLang="en-US" sz="2000" baseline="-25000"/>
              <a:t>1</a:t>
            </a:r>
            <a:r>
              <a:rPr lang="en-US" altLang="en-US" sz="2000"/>
              <a:t> </a:t>
            </a:r>
            <a:r>
              <a:rPr lang="en-US" altLang="en-US" sz="2000">
                <a:sym typeface="Symbol" panose="05050102010706020507" pitchFamily="18" charset="2"/>
              </a:rPr>
              <a:t> Need</a:t>
            </a:r>
            <a:r>
              <a:rPr lang="en-US" altLang="en-US" sz="2000" baseline="-25000"/>
              <a:t>1,</a:t>
            </a:r>
            <a:r>
              <a:rPr lang="en-US" altLang="en-US" sz="2000"/>
              <a:t> </a:t>
            </a:r>
            <a:r>
              <a:rPr lang="en-US" altLang="en-US" sz="2000">
                <a:sym typeface="Symbol" panose="05050102010706020507" pitchFamily="18" charset="2"/>
              </a:rPr>
              <a:t>(1,0,2)  (0,2,0)  </a:t>
            </a:r>
            <a:r>
              <a:rPr lang="en-US" altLang="en-US" sz="2000" i="1">
                <a:solidFill>
                  <a:schemeClr val="accent2"/>
                </a:solidFill>
                <a:sym typeface="Symbol" panose="05050102010706020507" pitchFamily="18" charset="2"/>
              </a:rPr>
              <a:t>false</a:t>
            </a:r>
            <a:endParaRPr lang="en-US" altLang="en-US" sz="2000">
              <a:solidFill>
                <a:schemeClr val="accent2"/>
              </a:solidFill>
            </a:endParaRPr>
          </a:p>
          <a:p>
            <a:pPr>
              <a:lnSpc>
                <a:spcPct val="90000"/>
              </a:lnSpc>
              <a:tabLst>
                <a:tab pos="1544638" algn="l"/>
                <a:tab pos="2452688" algn="ctr"/>
                <a:tab pos="3767138" algn="ctr"/>
                <a:tab pos="5022850" algn="ctr"/>
              </a:tabLst>
            </a:pPr>
            <a:r>
              <a:rPr lang="en-US" altLang="en-US" sz="2400"/>
              <a:t>Can a further request for (0,2,0) by </a:t>
            </a:r>
            <a:r>
              <a:rPr lang="en-US" altLang="en-US" sz="2400" i="1"/>
              <a:t>P</a:t>
            </a:r>
            <a:r>
              <a:rPr lang="en-US" altLang="en-US" sz="2400" baseline="-25000"/>
              <a:t>0 </a:t>
            </a:r>
            <a:r>
              <a:rPr lang="en-US" altLang="en-US" sz="2400"/>
              <a:t>be granted?</a:t>
            </a:r>
            <a:endParaRPr lang="en-US" altLang="en-US" sz="2400" baseline="-25000"/>
          </a:p>
          <a:p>
            <a:pPr lvl="1">
              <a:lnSpc>
                <a:spcPct val="90000"/>
              </a:lnSpc>
              <a:tabLst>
                <a:tab pos="1544638" algn="l"/>
                <a:tab pos="2452688" algn="ctr"/>
                <a:tab pos="3767138" algn="ctr"/>
                <a:tab pos="5022850" algn="ctr"/>
              </a:tabLst>
            </a:pPr>
            <a:r>
              <a:rPr lang="en-US" altLang="en-US" sz="2000">
                <a:solidFill>
                  <a:srgbClr val="FF0000"/>
                </a:solidFill>
              </a:rPr>
              <a:t>Step 1:</a:t>
            </a:r>
            <a:r>
              <a:rPr lang="en-US" altLang="en-US" sz="2000"/>
              <a:t> Check if Request</a:t>
            </a:r>
            <a:r>
              <a:rPr lang="en-US" altLang="en-US" sz="2000" baseline="-25000"/>
              <a:t>0</a:t>
            </a:r>
            <a:r>
              <a:rPr lang="en-US" altLang="en-US" sz="2000"/>
              <a:t> </a:t>
            </a:r>
            <a:r>
              <a:rPr lang="en-US" altLang="en-US" sz="2000">
                <a:sym typeface="Symbol" panose="05050102010706020507" pitchFamily="18" charset="2"/>
              </a:rPr>
              <a:t> Need</a:t>
            </a:r>
            <a:r>
              <a:rPr lang="en-US" altLang="en-US" sz="2000" baseline="-25000">
                <a:sym typeface="Symbol" panose="05050102010706020507" pitchFamily="18" charset="2"/>
              </a:rPr>
              <a:t>0</a:t>
            </a:r>
            <a:r>
              <a:rPr lang="en-US" altLang="en-US" sz="2000" baseline="-25000"/>
              <a:t>,</a:t>
            </a:r>
            <a:r>
              <a:rPr lang="en-US" altLang="en-US" sz="2000"/>
              <a:t> </a:t>
            </a:r>
            <a:r>
              <a:rPr lang="en-US" altLang="en-US" sz="2000">
                <a:sym typeface="Symbol" panose="05050102010706020507" pitchFamily="18" charset="2"/>
              </a:rPr>
              <a:t>(0,2,0)  (7,4,3)  </a:t>
            </a:r>
            <a:r>
              <a:rPr lang="en-US" altLang="en-US" sz="2000" i="1">
                <a:sym typeface="Symbol" panose="05050102010706020507" pitchFamily="18" charset="2"/>
              </a:rPr>
              <a:t>true</a:t>
            </a:r>
          </a:p>
          <a:p>
            <a:pPr lvl="1">
              <a:lnSpc>
                <a:spcPct val="90000"/>
              </a:lnSpc>
              <a:tabLst>
                <a:tab pos="1544638" algn="l"/>
                <a:tab pos="2452688" algn="ctr"/>
                <a:tab pos="3767138" algn="ctr"/>
                <a:tab pos="5022850" algn="ctr"/>
              </a:tabLst>
            </a:pPr>
            <a:r>
              <a:rPr lang="en-US" altLang="en-US" sz="2000">
                <a:solidFill>
                  <a:srgbClr val="FF0000"/>
                </a:solidFill>
              </a:rPr>
              <a:t>Step 2:</a:t>
            </a:r>
            <a:r>
              <a:rPr lang="en-US" altLang="en-US" sz="2000"/>
              <a:t> Check if Request</a:t>
            </a:r>
            <a:r>
              <a:rPr lang="en-US" altLang="en-US" sz="2000" baseline="-25000"/>
              <a:t>0</a:t>
            </a:r>
            <a:r>
              <a:rPr lang="en-US" altLang="en-US" sz="2000"/>
              <a:t> </a:t>
            </a:r>
            <a:r>
              <a:rPr lang="en-US" altLang="en-US" sz="2000">
                <a:sym typeface="Symbol" panose="05050102010706020507" pitchFamily="18" charset="2"/>
              </a:rPr>
              <a:t> Available, (0,2,0)  (2,3,0)  </a:t>
            </a:r>
            <a:r>
              <a:rPr lang="en-US" altLang="en-US" sz="2000" i="1">
                <a:sym typeface="Symbol" panose="05050102010706020507" pitchFamily="18" charset="2"/>
              </a:rPr>
              <a:t>true</a:t>
            </a:r>
            <a:endParaRPr lang="en-US" altLang="en-US" sz="2000"/>
          </a:p>
          <a:p>
            <a:pPr>
              <a:lnSpc>
                <a:spcPct val="80000"/>
              </a:lnSpc>
              <a:buFontTx/>
              <a:buNone/>
              <a:tabLst>
                <a:tab pos="1544638" algn="l"/>
                <a:tab pos="2452688" algn="ctr"/>
                <a:tab pos="3767138" algn="ctr"/>
                <a:tab pos="5022850" algn="ctr"/>
              </a:tabLst>
            </a:pPr>
            <a:r>
              <a:rPr lang="en-US" altLang="en-US" sz="2000" i="1">
                <a:solidFill>
                  <a:schemeClr val="accent2"/>
                </a:solidFill>
              </a:rPr>
              <a:t>	</a:t>
            </a:r>
            <a:r>
              <a:rPr lang="en-US" altLang="en-US" sz="2000" i="1" u="sng">
                <a:solidFill>
                  <a:schemeClr val="accent2"/>
                </a:solidFill>
              </a:rPr>
              <a:t>Allocation</a:t>
            </a:r>
            <a:r>
              <a:rPr lang="en-US" altLang="en-US" sz="2000" i="1">
                <a:solidFill>
                  <a:schemeClr val="accent2"/>
                </a:solidFill>
              </a:rPr>
              <a:t>	</a:t>
            </a:r>
            <a:r>
              <a:rPr lang="en-US" altLang="en-US" sz="2000" i="1" u="sng">
                <a:solidFill>
                  <a:schemeClr val="accent2"/>
                </a:solidFill>
              </a:rPr>
              <a:t>Need</a:t>
            </a:r>
            <a:r>
              <a:rPr lang="en-US" altLang="en-US" sz="2000" i="1">
                <a:solidFill>
                  <a:schemeClr val="accent2"/>
                </a:solidFill>
              </a:rPr>
              <a:t>	   </a:t>
            </a:r>
            <a:r>
              <a:rPr lang="en-US" altLang="en-US" sz="2000" i="1" u="sng">
                <a:solidFill>
                  <a:schemeClr val="accent2"/>
                </a:solidFill>
              </a:rPr>
              <a:t>Available</a:t>
            </a:r>
          </a:p>
          <a:p>
            <a:pPr>
              <a:lnSpc>
                <a:spcPct val="80000"/>
              </a:lnSpc>
              <a:buFontTx/>
              <a:buNone/>
              <a:tabLst>
                <a:tab pos="1544638" algn="l"/>
                <a:tab pos="2452688" algn="ctr"/>
                <a:tab pos="3767138" algn="ctr"/>
                <a:tab pos="5022850" algn="ctr"/>
              </a:tabLst>
            </a:pPr>
            <a:r>
              <a:rPr lang="en-US" altLang="en-US" sz="2000" i="1"/>
              <a:t>	    A B C 	A B C   	A B C </a:t>
            </a:r>
          </a:p>
          <a:p>
            <a:pPr>
              <a:lnSpc>
                <a:spcPct val="80000"/>
              </a:lnSpc>
              <a:buFontTx/>
              <a:buNone/>
              <a:tabLst>
                <a:tab pos="1544638" algn="l"/>
                <a:tab pos="2452688" algn="ctr"/>
                <a:tab pos="3767138" algn="ctr"/>
                <a:tab pos="5022850" algn="ctr"/>
              </a:tabLst>
            </a:pPr>
            <a:r>
              <a:rPr lang="en-US" altLang="en-US" sz="2000" i="1">
                <a:solidFill>
                  <a:schemeClr val="accent2"/>
                </a:solidFill>
              </a:rPr>
              <a:t>P</a:t>
            </a:r>
            <a:r>
              <a:rPr lang="en-US" altLang="en-US" sz="2000" baseline="-25000">
                <a:solidFill>
                  <a:schemeClr val="accent2"/>
                </a:solidFill>
              </a:rPr>
              <a:t>0</a:t>
            </a:r>
            <a:r>
              <a:rPr lang="en-US" altLang="en-US" sz="2000"/>
              <a:t>    0 1 0	7 4 3	     2 3 0</a:t>
            </a:r>
          </a:p>
          <a:p>
            <a:pPr>
              <a:lnSpc>
                <a:spcPct val="80000"/>
              </a:lnSpc>
              <a:buFontTx/>
              <a:buNone/>
              <a:tabLst>
                <a:tab pos="1544638" algn="l"/>
                <a:tab pos="2452688" algn="ctr"/>
                <a:tab pos="3767138" algn="ctr"/>
                <a:tab pos="5022850" algn="ctr"/>
              </a:tabLst>
            </a:pPr>
            <a:r>
              <a:rPr lang="en-US" altLang="en-US" sz="2000" i="1">
                <a:solidFill>
                  <a:schemeClr val="accent2"/>
                </a:solidFill>
              </a:rPr>
              <a:t>P</a:t>
            </a:r>
            <a:r>
              <a:rPr lang="en-US" altLang="en-US" sz="2000" baseline="-25000">
                <a:solidFill>
                  <a:schemeClr val="accent2"/>
                </a:solidFill>
              </a:rPr>
              <a:t>1</a:t>
            </a:r>
            <a:r>
              <a:rPr lang="en-US" altLang="en-US" sz="2000">
                <a:solidFill>
                  <a:schemeClr val="accent2"/>
                </a:solidFill>
              </a:rPr>
              <a:t> </a:t>
            </a:r>
            <a:r>
              <a:rPr lang="en-US" altLang="en-US" sz="2000"/>
              <a:t>   3 0 2	0 2 0 	</a:t>
            </a:r>
          </a:p>
          <a:p>
            <a:pPr>
              <a:lnSpc>
                <a:spcPct val="80000"/>
              </a:lnSpc>
              <a:buFontTx/>
              <a:buNone/>
              <a:tabLst>
                <a:tab pos="1544638" algn="l"/>
                <a:tab pos="2452688" algn="ctr"/>
                <a:tab pos="3767138" algn="ctr"/>
                <a:tab pos="5022850" algn="ctr"/>
              </a:tabLst>
            </a:pPr>
            <a:r>
              <a:rPr lang="en-US" altLang="en-US" sz="2000" i="1">
                <a:solidFill>
                  <a:schemeClr val="accent2"/>
                </a:solidFill>
              </a:rPr>
              <a:t>P</a:t>
            </a:r>
            <a:r>
              <a:rPr lang="en-US" altLang="en-US" sz="2000" baseline="-25000">
                <a:solidFill>
                  <a:schemeClr val="accent2"/>
                </a:solidFill>
              </a:rPr>
              <a:t>2</a:t>
            </a:r>
            <a:r>
              <a:rPr lang="en-US" altLang="en-US" sz="2000"/>
              <a:t>    3 0 2	6 0 0 </a:t>
            </a:r>
          </a:p>
          <a:p>
            <a:pPr>
              <a:lnSpc>
                <a:spcPct val="80000"/>
              </a:lnSpc>
              <a:buFontTx/>
              <a:buNone/>
              <a:tabLst>
                <a:tab pos="1544638" algn="l"/>
                <a:tab pos="2452688" algn="ctr"/>
                <a:tab pos="3767138" algn="ctr"/>
                <a:tab pos="5022850" algn="ctr"/>
              </a:tabLst>
            </a:pPr>
            <a:r>
              <a:rPr lang="en-US" altLang="en-US" sz="2000" i="1">
                <a:solidFill>
                  <a:schemeClr val="accent2"/>
                </a:solidFill>
              </a:rPr>
              <a:t>P</a:t>
            </a:r>
            <a:r>
              <a:rPr lang="en-US" altLang="en-US" sz="2000" baseline="-25000">
                <a:solidFill>
                  <a:schemeClr val="accent2"/>
                </a:solidFill>
              </a:rPr>
              <a:t>3</a:t>
            </a:r>
            <a:r>
              <a:rPr lang="en-US" altLang="en-US" sz="2000"/>
              <a:t>    2 1 1	0 1 1</a:t>
            </a:r>
          </a:p>
          <a:p>
            <a:pPr>
              <a:lnSpc>
                <a:spcPct val="80000"/>
              </a:lnSpc>
              <a:buFontTx/>
              <a:buNone/>
              <a:tabLst>
                <a:tab pos="1544638" algn="l"/>
                <a:tab pos="2452688" algn="ctr"/>
                <a:tab pos="3767138" algn="ctr"/>
                <a:tab pos="5022850" algn="ctr"/>
              </a:tabLst>
            </a:pPr>
            <a:r>
              <a:rPr lang="en-US" altLang="en-US" sz="2000" i="1">
                <a:solidFill>
                  <a:schemeClr val="accent2"/>
                </a:solidFill>
              </a:rPr>
              <a:t>P</a:t>
            </a:r>
            <a:r>
              <a:rPr lang="en-US" altLang="en-US" sz="2000" baseline="-25000">
                <a:solidFill>
                  <a:schemeClr val="accent2"/>
                </a:solidFill>
              </a:rPr>
              <a:t>4</a:t>
            </a:r>
            <a:r>
              <a:rPr lang="en-US" altLang="en-US" sz="2000">
                <a:solidFill>
                  <a:schemeClr val="accent2"/>
                </a:solidFill>
              </a:rPr>
              <a:t> </a:t>
            </a:r>
            <a:r>
              <a:rPr lang="en-US" altLang="en-US" sz="2000"/>
              <a:t>   0 0 2	4 3 1</a:t>
            </a:r>
          </a:p>
          <a:p>
            <a:pPr>
              <a:lnSpc>
                <a:spcPct val="90000"/>
              </a:lnSpc>
              <a:tabLst>
                <a:tab pos="1544638" algn="l"/>
                <a:tab pos="2452688" algn="ctr"/>
                <a:tab pos="3767138" algn="ctr"/>
                <a:tab pos="5022850" algn="ctr"/>
              </a:tabLst>
            </a:pPr>
            <a:r>
              <a:rPr lang="en-US" altLang="en-US" sz="2200"/>
              <a:t>How about a request for (2,3,0) by </a:t>
            </a:r>
            <a:r>
              <a:rPr lang="en-US" altLang="en-US" sz="2200" i="1"/>
              <a:t>P</a:t>
            </a:r>
            <a:r>
              <a:rPr lang="en-US" altLang="en-US" sz="2200" baseline="-25000"/>
              <a:t>4</a:t>
            </a:r>
            <a:r>
              <a:rPr lang="en-US" altLang="en-US" sz="2200"/>
              <a:t>? </a:t>
            </a:r>
          </a:p>
        </p:txBody>
      </p:sp>
      <p:cxnSp>
        <p:nvCxnSpPr>
          <p:cNvPr id="33797" name="Straight Connector 5">
            <a:extLst>
              <a:ext uri="{FF2B5EF4-FFF2-40B4-BE49-F238E27FC236}">
                <a16:creationId xmlns:a16="http://schemas.microsoft.com/office/drawing/2014/main" id="{28DEAFEB-4DB7-41AF-9660-BFF5FF00D8F8}"/>
              </a:ext>
            </a:extLst>
          </p:cNvPr>
          <p:cNvCxnSpPr>
            <a:cxnSpLocks noChangeShapeType="1"/>
          </p:cNvCxnSpPr>
          <p:nvPr/>
        </p:nvCxnSpPr>
        <p:spPr bwMode="auto">
          <a:xfrm rot="5400000">
            <a:off x="6053138" y="1820862"/>
            <a:ext cx="279400" cy="1174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 name="Straight Connector 5">
            <a:extLst>
              <a:ext uri="{FF2B5EF4-FFF2-40B4-BE49-F238E27FC236}">
                <a16:creationId xmlns:a16="http://schemas.microsoft.com/office/drawing/2014/main" id="{F55D6A2D-F081-47B0-9D93-6CDE3F46596F}"/>
              </a:ext>
            </a:extLst>
          </p:cNvPr>
          <p:cNvCxnSpPr>
            <a:cxnSpLocks noChangeShapeType="1"/>
          </p:cNvCxnSpPr>
          <p:nvPr/>
        </p:nvCxnSpPr>
        <p:spPr bwMode="auto">
          <a:xfrm>
            <a:off x="2900363" y="4252913"/>
            <a:ext cx="86042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cxnSp>
      <p:sp>
        <p:nvSpPr>
          <p:cNvPr id="7" name="TextBox 6">
            <a:extLst>
              <a:ext uri="{FF2B5EF4-FFF2-40B4-BE49-F238E27FC236}">
                <a16:creationId xmlns:a16="http://schemas.microsoft.com/office/drawing/2014/main" id="{1976A6D8-9716-4536-811D-5E01BE135957}"/>
              </a:ext>
            </a:extLst>
          </p:cNvPr>
          <p:cNvSpPr txBox="1">
            <a:spLocks noChangeArrowheads="1"/>
          </p:cNvSpPr>
          <p:nvPr/>
        </p:nvSpPr>
        <p:spPr bwMode="auto">
          <a:xfrm>
            <a:off x="2936875" y="4254500"/>
            <a:ext cx="7540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000">
                <a:solidFill>
                  <a:srgbClr val="FF0000"/>
                </a:solidFill>
              </a:rPr>
              <a:t>2 1 0</a:t>
            </a:r>
          </a:p>
        </p:txBody>
      </p:sp>
      <p:sp>
        <p:nvSpPr>
          <p:cNvPr id="8" name="TextBox 7">
            <a:extLst>
              <a:ext uri="{FF2B5EF4-FFF2-40B4-BE49-F238E27FC236}">
                <a16:creationId xmlns:a16="http://schemas.microsoft.com/office/drawing/2014/main" id="{B2A84D21-9C34-444E-AD80-2C7A751D0E19}"/>
              </a:ext>
            </a:extLst>
          </p:cNvPr>
          <p:cNvSpPr txBox="1">
            <a:spLocks noChangeArrowheads="1"/>
          </p:cNvSpPr>
          <p:nvPr/>
        </p:nvSpPr>
        <p:spPr bwMode="auto">
          <a:xfrm>
            <a:off x="4494213" y="4398963"/>
            <a:ext cx="43846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 typeface="Wingdings" panose="05000000000000000000" pitchFamily="2" charset="2"/>
              <a:buChar char="L"/>
            </a:pPr>
            <a:r>
              <a:rPr lang="en-US" altLang="en-US" sz="2000">
                <a:solidFill>
                  <a:srgbClr val="FF0000"/>
                </a:solidFill>
                <a:latin typeface="Comic Sans MS" panose="030F0702030302020204" pitchFamily="66" charset="0"/>
                <a:sym typeface="Wingdings" panose="05000000000000000000" pitchFamily="2" charset="2"/>
              </a:rPr>
              <a:t>We cannot find Need</a:t>
            </a:r>
            <a:r>
              <a:rPr lang="en-US" altLang="en-US" sz="2000" baseline="-25000">
                <a:solidFill>
                  <a:srgbClr val="FF0000"/>
                </a:solidFill>
                <a:latin typeface="Comic Sans MS" panose="030F0702030302020204" pitchFamily="66" charset="0"/>
                <a:sym typeface="Wingdings" panose="05000000000000000000" pitchFamily="2" charset="2"/>
              </a:rPr>
              <a:t>i </a:t>
            </a:r>
            <a:r>
              <a:rPr lang="en-US" altLang="en-US" sz="2000">
                <a:solidFill>
                  <a:srgbClr val="FF0000"/>
                </a:solidFill>
                <a:latin typeface="Comic Sans MS" panose="030F0702030302020204" pitchFamily="66" charset="0"/>
                <a:sym typeface="Wingdings" panose="05000000000000000000" pitchFamily="2" charset="2"/>
              </a:rPr>
              <a:t>&lt; Available </a:t>
            </a:r>
          </a:p>
          <a:p>
            <a:pPr>
              <a:spcBef>
                <a:spcPct val="0"/>
              </a:spcBef>
              <a:buSzTx/>
              <a:buFontTx/>
              <a:buNone/>
            </a:pPr>
            <a:r>
              <a:rPr lang="en-US" altLang="en-US" sz="2000">
                <a:solidFill>
                  <a:srgbClr val="FF0000"/>
                </a:solidFill>
                <a:latin typeface="Comic Sans MS" panose="030F0702030302020204" pitchFamily="66" charset="0"/>
                <a:sym typeface="Wingdings" panose="05000000000000000000" pitchFamily="2" charset="2"/>
              </a:rPr>
              <a:t> Restore the state</a:t>
            </a:r>
            <a:endParaRPr lang="en-US" altLang="en-US" sz="2000">
              <a:solidFill>
                <a:srgbClr val="FF0000"/>
              </a:solidFill>
              <a:latin typeface="Comic Sans MS" panose="030F0702030302020204" pitchFamily="66" charset="0"/>
            </a:endParaRPr>
          </a:p>
        </p:txBody>
      </p:sp>
      <p:cxnSp>
        <p:nvCxnSpPr>
          <p:cNvPr id="9" name="Straight Connector 8">
            <a:extLst>
              <a:ext uri="{FF2B5EF4-FFF2-40B4-BE49-F238E27FC236}">
                <a16:creationId xmlns:a16="http://schemas.microsoft.com/office/drawing/2014/main" id="{A18193F5-2E00-4338-A8E5-B0F3AF06DE0F}"/>
              </a:ext>
            </a:extLst>
          </p:cNvPr>
          <p:cNvCxnSpPr>
            <a:cxnSpLocks noChangeShapeType="1"/>
          </p:cNvCxnSpPr>
          <p:nvPr/>
        </p:nvCxnSpPr>
        <p:spPr bwMode="auto">
          <a:xfrm>
            <a:off x="1982788" y="4252913"/>
            <a:ext cx="86042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cxnSp>
      <p:sp>
        <p:nvSpPr>
          <p:cNvPr id="10" name="TextBox 9">
            <a:extLst>
              <a:ext uri="{FF2B5EF4-FFF2-40B4-BE49-F238E27FC236}">
                <a16:creationId xmlns:a16="http://schemas.microsoft.com/office/drawing/2014/main" id="{794EF0D0-E5BF-4C14-9C9B-958FCD5A4DA9}"/>
              </a:ext>
            </a:extLst>
          </p:cNvPr>
          <p:cNvSpPr txBox="1">
            <a:spLocks noChangeArrowheads="1"/>
          </p:cNvSpPr>
          <p:nvPr/>
        </p:nvSpPr>
        <p:spPr bwMode="auto">
          <a:xfrm>
            <a:off x="2024063" y="4241800"/>
            <a:ext cx="752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000">
                <a:solidFill>
                  <a:srgbClr val="FF0000"/>
                </a:solidFill>
              </a:rPr>
              <a:t>7 2 3</a:t>
            </a:r>
          </a:p>
        </p:txBody>
      </p:sp>
      <p:cxnSp>
        <p:nvCxnSpPr>
          <p:cNvPr id="11" name="Straight Connector 10">
            <a:extLst>
              <a:ext uri="{FF2B5EF4-FFF2-40B4-BE49-F238E27FC236}">
                <a16:creationId xmlns:a16="http://schemas.microsoft.com/office/drawing/2014/main" id="{5E819415-BF9B-478A-BED0-6C36EF1077F2}"/>
              </a:ext>
            </a:extLst>
          </p:cNvPr>
          <p:cNvCxnSpPr>
            <a:cxnSpLocks noChangeShapeType="1"/>
          </p:cNvCxnSpPr>
          <p:nvPr/>
        </p:nvCxnSpPr>
        <p:spPr bwMode="auto">
          <a:xfrm>
            <a:off x="969963" y="4252913"/>
            <a:ext cx="86042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cxnSp>
      <p:sp>
        <p:nvSpPr>
          <p:cNvPr id="12" name="TextBox 11">
            <a:extLst>
              <a:ext uri="{FF2B5EF4-FFF2-40B4-BE49-F238E27FC236}">
                <a16:creationId xmlns:a16="http://schemas.microsoft.com/office/drawing/2014/main" id="{258B4868-352D-4909-8284-0ECE39C50D1A}"/>
              </a:ext>
            </a:extLst>
          </p:cNvPr>
          <p:cNvSpPr txBox="1">
            <a:spLocks noChangeArrowheads="1"/>
          </p:cNvSpPr>
          <p:nvPr/>
        </p:nvSpPr>
        <p:spPr bwMode="auto">
          <a:xfrm>
            <a:off x="1031875" y="4241800"/>
            <a:ext cx="752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000">
                <a:solidFill>
                  <a:srgbClr val="FF0000"/>
                </a:solidFill>
              </a:rPr>
              <a:t>0 3 0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806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379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88067">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88067">
                                            <p:txEl>
                                              <p:pRg st="3" end="3"/>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88067">
                                            <p:txEl>
                                              <p:pRg st="4" end="4"/>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xit" presetSubtype="0" fill="hold" nodeType="clickEffect">
                                  <p:stCondLst>
                                    <p:cond delay="0"/>
                                  </p:stCondLst>
                                  <p:childTnLst>
                                    <p:set>
                                      <p:cBhvr>
                                        <p:cTn id="46" dur="1" fill="hold">
                                          <p:stCondLst>
                                            <p:cond delay="0"/>
                                          </p:stCondLst>
                                        </p:cTn>
                                        <p:tgtEl>
                                          <p:spTgt spid="6"/>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7"/>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8"/>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1"/>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12"/>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9"/>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0"/>
                                        </p:tgtEl>
                                        <p:attrNameLst>
                                          <p:attrName>style.visibility</p:attrName>
                                        </p:attrNameLst>
                                      </p:cBhvr>
                                      <p:to>
                                        <p:strVal val="hidden"/>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8806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P spid="10" grpId="0"/>
      <p:bldP spid="10" grpId="1"/>
      <p:bldP spid="12" grpId="0"/>
      <p:bldP spid="12"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Footer Placeholder 3">
            <a:extLst>
              <a:ext uri="{FF2B5EF4-FFF2-40B4-BE49-F238E27FC236}">
                <a16:creationId xmlns:a16="http://schemas.microsoft.com/office/drawing/2014/main" id="{874575F2-F3BD-4BD3-8773-6F7A955608E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89090" name="Rectangle 2">
            <a:extLst>
              <a:ext uri="{FF2B5EF4-FFF2-40B4-BE49-F238E27FC236}">
                <a16:creationId xmlns:a16="http://schemas.microsoft.com/office/drawing/2014/main" id="{A5F9AECD-D825-44FC-9FE9-03B7B509E523}"/>
              </a:ext>
            </a:extLst>
          </p:cNvPr>
          <p:cNvSpPr>
            <a:spLocks noGrp="1" noChangeArrowheads="1"/>
          </p:cNvSpPr>
          <p:nvPr>
            <p:ph type="title"/>
          </p:nvPr>
        </p:nvSpPr>
        <p:spPr/>
        <p:txBody>
          <a:bodyPr/>
          <a:lstStyle/>
          <a:p>
            <a:r>
              <a:rPr lang="en-US" altLang="en-US"/>
              <a:t>Part 5:  Deadlocks and Starvation</a:t>
            </a:r>
          </a:p>
        </p:txBody>
      </p:sp>
      <p:sp>
        <p:nvSpPr>
          <p:cNvPr id="89091" name="Rectangle 3">
            <a:extLst>
              <a:ext uri="{FF2B5EF4-FFF2-40B4-BE49-F238E27FC236}">
                <a16:creationId xmlns:a16="http://schemas.microsoft.com/office/drawing/2014/main" id="{EC41F3E5-B250-48BC-96B2-CC9A028DF6E7}"/>
              </a:ext>
            </a:extLst>
          </p:cNvPr>
          <p:cNvSpPr>
            <a:spLocks noGrp="1" noChangeArrowheads="1"/>
          </p:cNvSpPr>
          <p:nvPr>
            <p:ph type="body" idx="1"/>
          </p:nvPr>
        </p:nvSpPr>
        <p:spPr>
          <a:xfrm>
            <a:off x="573088" y="1239838"/>
            <a:ext cx="7902575" cy="5222875"/>
          </a:xfrm>
        </p:spPr>
        <p:txBody>
          <a:bodyPr/>
          <a:lstStyle/>
          <a:p>
            <a:r>
              <a:rPr lang="en-US" altLang="en-US" sz="2800"/>
              <a:t>Deadlock Problem</a:t>
            </a:r>
          </a:p>
          <a:p>
            <a:r>
              <a:rPr lang="en-US" altLang="en-US" sz="2800"/>
              <a:t>System Model</a:t>
            </a:r>
          </a:p>
          <a:p>
            <a:r>
              <a:rPr lang="en-US" altLang="en-US" sz="2800"/>
              <a:t>Deadlock Conditions</a:t>
            </a:r>
          </a:p>
          <a:p>
            <a:r>
              <a:rPr lang="en-US" altLang="en-US" sz="2800"/>
              <a:t>Deadlock Prevention</a:t>
            </a:r>
          </a:p>
          <a:p>
            <a:r>
              <a:rPr lang="en-US" altLang="en-US" sz="2800"/>
              <a:t>Deadlock Avoidance</a:t>
            </a:r>
          </a:p>
          <a:p>
            <a:r>
              <a:rPr lang="en-US" altLang="en-US" sz="2800" b="1"/>
              <a:t>Deadlock Detection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Footer Placeholder 3">
            <a:extLst>
              <a:ext uri="{FF2B5EF4-FFF2-40B4-BE49-F238E27FC236}">
                <a16:creationId xmlns:a16="http://schemas.microsoft.com/office/drawing/2014/main" id="{FDD9E025-ACF8-4CF1-9B7C-1436FC05CEE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91138" name="Rectangle 2">
            <a:extLst>
              <a:ext uri="{FF2B5EF4-FFF2-40B4-BE49-F238E27FC236}">
                <a16:creationId xmlns:a16="http://schemas.microsoft.com/office/drawing/2014/main" id="{C7FF0208-807F-43C3-A57D-B0AB59D55272}"/>
              </a:ext>
            </a:extLst>
          </p:cNvPr>
          <p:cNvSpPr>
            <a:spLocks noGrp="1" noChangeArrowheads="1"/>
          </p:cNvSpPr>
          <p:nvPr>
            <p:ph type="title"/>
          </p:nvPr>
        </p:nvSpPr>
        <p:spPr/>
        <p:txBody>
          <a:bodyPr/>
          <a:lstStyle/>
          <a:p>
            <a:r>
              <a:rPr lang="en-US" altLang="en-US"/>
              <a:t>Deadlock Detection</a:t>
            </a:r>
          </a:p>
        </p:txBody>
      </p:sp>
      <p:sp>
        <p:nvSpPr>
          <p:cNvPr id="91139" name="Rectangle 3">
            <a:extLst>
              <a:ext uri="{FF2B5EF4-FFF2-40B4-BE49-F238E27FC236}">
                <a16:creationId xmlns:a16="http://schemas.microsoft.com/office/drawing/2014/main" id="{A60C6A9E-70F8-4350-82B4-04BE893739E7}"/>
              </a:ext>
            </a:extLst>
          </p:cNvPr>
          <p:cNvSpPr>
            <a:spLocks noGrp="1" noChangeArrowheads="1"/>
          </p:cNvSpPr>
          <p:nvPr>
            <p:ph type="body" idx="1"/>
          </p:nvPr>
        </p:nvSpPr>
        <p:spPr>
          <a:xfrm>
            <a:off x="635000" y="1087438"/>
            <a:ext cx="8031163" cy="4486275"/>
          </a:xfrm>
        </p:spPr>
        <p:txBody>
          <a:bodyPr/>
          <a:lstStyle/>
          <a:p>
            <a:r>
              <a:rPr lang="en-US" altLang="en-US" sz="2800"/>
              <a:t>Allow system to enter deadlock state</a:t>
            </a:r>
          </a:p>
          <a:p>
            <a:pPr lvl="1"/>
            <a:endParaRPr lang="en-US" altLang="en-US" sz="1200"/>
          </a:p>
          <a:p>
            <a:r>
              <a:rPr lang="en-US" altLang="en-US" sz="2800"/>
              <a:t>Then invoke detection algorithms</a:t>
            </a:r>
          </a:p>
          <a:p>
            <a:pPr lvl="1"/>
            <a:r>
              <a:rPr lang="en-US" altLang="en-US" sz="2800"/>
              <a:t>For single instance of each resource type (in textbook based on identifying cycle in resource-allocation graph)</a:t>
            </a:r>
          </a:p>
          <a:p>
            <a:pPr lvl="1"/>
            <a:r>
              <a:rPr lang="en-US" altLang="en-US" sz="2800"/>
              <a:t>For multiple instances of each resource type (next few slides)</a:t>
            </a:r>
          </a:p>
          <a:p>
            <a:pPr lvl="1"/>
            <a:endParaRPr lang="en-US" altLang="en-US" sz="1200"/>
          </a:p>
          <a:p>
            <a:r>
              <a:rPr lang="en-US" altLang="en-US" sz="2800"/>
              <a:t>Then invoke recovery algorithm (in textbook)</a:t>
            </a:r>
          </a:p>
        </p:txBody>
      </p:sp>
      <p:sp>
        <p:nvSpPr>
          <p:cNvPr id="91140" name="TextBox 1">
            <a:extLst>
              <a:ext uri="{FF2B5EF4-FFF2-40B4-BE49-F238E27FC236}">
                <a16:creationId xmlns:a16="http://schemas.microsoft.com/office/drawing/2014/main" id="{D9C2213E-ABCC-4CF8-8A39-5DA84BB44DFC}"/>
              </a:ext>
            </a:extLst>
          </p:cNvPr>
          <p:cNvSpPr txBox="1">
            <a:spLocks noChangeArrowheads="1"/>
          </p:cNvSpPr>
          <p:nvPr/>
        </p:nvSpPr>
        <p:spPr bwMode="auto">
          <a:xfrm>
            <a:off x="1011238" y="5575300"/>
            <a:ext cx="74549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800" u="sng">
                <a:solidFill>
                  <a:srgbClr val="FF0000"/>
                </a:solidFill>
                <a:latin typeface="Comic Sans MS" panose="030F0702030302020204" pitchFamily="66" charset="0"/>
              </a:rPr>
              <a:t>This slide and the later slides in this chapter are not examinable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Footer Placeholder 3">
            <a:extLst>
              <a:ext uri="{FF2B5EF4-FFF2-40B4-BE49-F238E27FC236}">
                <a16:creationId xmlns:a16="http://schemas.microsoft.com/office/drawing/2014/main" id="{75972572-C6FE-463D-A55D-EFD68BD9DA8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93186" name="Rectangle 2">
            <a:extLst>
              <a:ext uri="{FF2B5EF4-FFF2-40B4-BE49-F238E27FC236}">
                <a16:creationId xmlns:a16="http://schemas.microsoft.com/office/drawing/2014/main" id="{162584B8-876D-47B0-94CD-FBD23910A747}"/>
              </a:ext>
            </a:extLst>
          </p:cNvPr>
          <p:cNvSpPr>
            <a:spLocks noGrp="1" noChangeArrowheads="1"/>
          </p:cNvSpPr>
          <p:nvPr>
            <p:ph type="title"/>
          </p:nvPr>
        </p:nvSpPr>
        <p:spPr>
          <a:xfrm>
            <a:off x="777875" y="495300"/>
            <a:ext cx="7443788" cy="457200"/>
          </a:xfrm>
        </p:spPr>
        <p:txBody>
          <a:bodyPr/>
          <a:lstStyle/>
          <a:p>
            <a:r>
              <a:rPr lang="en-US" altLang="en-US"/>
              <a:t>Multiple Instances of Each Resource Type</a:t>
            </a:r>
          </a:p>
        </p:txBody>
      </p:sp>
      <p:sp>
        <p:nvSpPr>
          <p:cNvPr id="94211" name="Rectangle 3">
            <a:extLst>
              <a:ext uri="{FF2B5EF4-FFF2-40B4-BE49-F238E27FC236}">
                <a16:creationId xmlns:a16="http://schemas.microsoft.com/office/drawing/2014/main" id="{E767A754-3FF2-4102-A746-45DED0DEA9F4}"/>
              </a:ext>
            </a:extLst>
          </p:cNvPr>
          <p:cNvSpPr>
            <a:spLocks noGrp="1" noChangeArrowheads="1"/>
          </p:cNvSpPr>
          <p:nvPr>
            <p:ph type="body" idx="1"/>
          </p:nvPr>
        </p:nvSpPr>
        <p:spPr>
          <a:xfrm>
            <a:off x="552450" y="1341438"/>
            <a:ext cx="8113713" cy="4838700"/>
          </a:xfrm>
        </p:spPr>
        <p:txBody>
          <a:bodyPr/>
          <a:lstStyle/>
          <a:p>
            <a:pPr>
              <a:defRPr/>
            </a:pPr>
            <a:r>
              <a:rPr lang="en-US" altLang="en-US" sz="2800" dirty="0">
                <a:solidFill>
                  <a:srgbClr val="FF0000"/>
                </a:solidFill>
              </a:rPr>
              <a:t>Available: </a:t>
            </a:r>
            <a:r>
              <a:rPr lang="en-US" altLang="en-US" sz="2800" dirty="0"/>
              <a:t>A vector of length </a:t>
            </a:r>
            <a:r>
              <a:rPr lang="en-US" altLang="en-US" sz="2800" i="1" dirty="0"/>
              <a:t>m</a:t>
            </a:r>
            <a:r>
              <a:rPr lang="en-US" altLang="en-US" sz="2800" dirty="0"/>
              <a:t> indicates the number of available resource types</a:t>
            </a:r>
          </a:p>
          <a:p>
            <a:pPr>
              <a:defRPr/>
            </a:pPr>
            <a:r>
              <a:rPr lang="en-US" altLang="en-US" sz="2800" dirty="0">
                <a:solidFill>
                  <a:srgbClr val="FF0000"/>
                </a:solidFill>
              </a:rPr>
              <a:t>Allocation:</a:t>
            </a:r>
            <a:r>
              <a:rPr lang="en-US" altLang="en-US" sz="2800" dirty="0"/>
              <a:t> An </a:t>
            </a:r>
            <a:r>
              <a:rPr lang="en-US" altLang="en-US" sz="2800" i="1" dirty="0"/>
              <a:t>n x m</a:t>
            </a:r>
            <a:r>
              <a:rPr lang="en-US" altLang="en-US" sz="2800" dirty="0"/>
              <a:t> matrix defines the number of resources of each type currently allocated to each process</a:t>
            </a:r>
          </a:p>
          <a:p>
            <a:pPr>
              <a:defRPr/>
            </a:pPr>
            <a:r>
              <a:rPr lang="en-US" altLang="en-US" sz="2800" dirty="0">
                <a:solidFill>
                  <a:srgbClr val="FF0000"/>
                </a:solidFill>
              </a:rPr>
              <a:t>Request:</a:t>
            </a:r>
            <a:r>
              <a:rPr lang="en-US" altLang="en-US" sz="2800" dirty="0"/>
              <a:t> An </a:t>
            </a:r>
            <a:r>
              <a:rPr lang="en-US" altLang="en-US" sz="2800" i="1" dirty="0"/>
              <a:t>n x m</a:t>
            </a:r>
            <a:r>
              <a:rPr lang="en-US" altLang="en-US" sz="2800" dirty="0"/>
              <a:t> matrix indicates the current request  of each process.  If </a:t>
            </a:r>
            <a:r>
              <a:rPr lang="en-US" altLang="en-US" sz="2800" b="1" i="1" dirty="0">
                <a:solidFill>
                  <a:schemeClr val="accent1">
                    <a:lumMod val="75000"/>
                  </a:schemeClr>
                </a:solidFill>
              </a:rPr>
              <a:t>Request </a:t>
            </a:r>
            <a:r>
              <a:rPr lang="en-US" altLang="en-US" sz="2800" b="1" dirty="0">
                <a:solidFill>
                  <a:schemeClr val="accent1">
                    <a:lumMod val="75000"/>
                  </a:schemeClr>
                </a:solidFill>
              </a:rPr>
              <a:t>[</a:t>
            </a:r>
            <a:r>
              <a:rPr lang="en-US" altLang="en-US" sz="2800" b="1" i="1" dirty="0">
                <a:solidFill>
                  <a:schemeClr val="accent1">
                    <a:lumMod val="75000"/>
                  </a:schemeClr>
                </a:solidFill>
              </a:rPr>
              <a:t> </a:t>
            </a:r>
            <a:r>
              <a:rPr lang="en-US" altLang="en-US" sz="2800" b="1" i="1" dirty="0" err="1">
                <a:solidFill>
                  <a:schemeClr val="accent1">
                    <a:lumMod val="75000"/>
                  </a:schemeClr>
                </a:solidFill>
              </a:rPr>
              <a:t>i</a:t>
            </a:r>
            <a:r>
              <a:rPr lang="en-US" altLang="en-US" sz="2800" b="1" i="1" dirty="0">
                <a:solidFill>
                  <a:schemeClr val="accent1">
                    <a:lumMod val="75000"/>
                  </a:schemeClr>
                </a:solidFill>
              </a:rPr>
              <a:t>, j </a:t>
            </a:r>
            <a:r>
              <a:rPr lang="en-US" altLang="en-US" sz="2800" b="1" dirty="0">
                <a:solidFill>
                  <a:schemeClr val="accent1">
                    <a:lumMod val="75000"/>
                  </a:schemeClr>
                </a:solidFill>
              </a:rPr>
              <a:t>] = </a:t>
            </a:r>
            <a:r>
              <a:rPr lang="en-US" altLang="en-US" sz="2800" b="1" i="1" dirty="0">
                <a:solidFill>
                  <a:schemeClr val="accent1">
                    <a:lumMod val="75000"/>
                  </a:schemeClr>
                </a:solidFill>
              </a:rPr>
              <a:t>k</a:t>
            </a:r>
            <a:r>
              <a:rPr lang="en-US" altLang="en-US" sz="2800" dirty="0"/>
              <a:t>, then process</a:t>
            </a:r>
            <a:r>
              <a:rPr lang="en-US" altLang="en-US" sz="2800" i="1" dirty="0"/>
              <a:t> </a:t>
            </a:r>
            <a:r>
              <a:rPr lang="en-US" altLang="en-US" sz="2800" b="1" i="1" dirty="0">
                <a:solidFill>
                  <a:schemeClr val="accent1">
                    <a:lumMod val="75000"/>
                  </a:schemeClr>
                </a:solidFill>
              </a:rPr>
              <a:t>P</a:t>
            </a:r>
            <a:r>
              <a:rPr lang="en-US" altLang="en-US" sz="2800" b="1" i="1" baseline="-25000" dirty="0">
                <a:solidFill>
                  <a:schemeClr val="accent1">
                    <a:lumMod val="75000"/>
                  </a:schemeClr>
                </a:solidFill>
              </a:rPr>
              <a:t>i</a:t>
            </a:r>
            <a:r>
              <a:rPr lang="en-US" altLang="en-US" sz="2800" dirty="0"/>
              <a:t>  is requesting</a:t>
            </a:r>
            <a:r>
              <a:rPr lang="en-US" altLang="en-US" sz="2800" i="1" dirty="0"/>
              <a:t> k</a:t>
            </a:r>
            <a:r>
              <a:rPr lang="en-US" altLang="en-US" sz="2800" dirty="0"/>
              <a:t> more instances of resource type </a:t>
            </a:r>
            <a:r>
              <a:rPr lang="en-US" altLang="en-US" sz="2800" b="1" dirty="0" err="1">
                <a:solidFill>
                  <a:schemeClr val="accent1">
                    <a:lumMod val="75000"/>
                  </a:schemeClr>
                </a:solidFill>
              </a:rPr>
              <a:t>R</a:t>
            </a:r>
            <a:r>
              <a:rPr lang="en-US" altLang="en-US" sz="2800" b="1" baseline="-25000" dirty="0" err="1">
                <a:solidFill>
                  <a:schemeClr val="accent1">
                    <a:lumMod val="75000"/>
                  </a:schemeClr>
                </a:solidFill>
              </a:rPr>
              <a:t>j</a:t>
            </a:r>
            <a:endParaRPr lang="en-US" altLang="en-US" sz="2800" b="1" dirty="0">
              <a:solidFill>
                <a:schemeClr val="accent1">
                  <a:lumMod val="75000"/>
                </a:schemeClr>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Footer Placeholder 3">
            <a:extLst>
              <a:ext uri="{FF2B5EF4-FFF2-40B4-BE49-F238E27FC236}">
                <a16:creationId xmlns:a16="http://schemas.microsoft.com/office/drawing/2014/main" id="{FDBB84A0-2FD0-43BB-9820-AC27F9130BC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95234" name="Rectangle 2">
            <a:extLst>
              <a:ext uri="{FF2B5EF4-FFF2-40B4-BE49-F238E27FC236}">
                <a16:creationId xmlns:a16="http://schemas.microsoft.com/office/drawing/2014/main" id="{BFFB186A-7B51-47BE-A862-B052CC0931C4}"/>
              </a:ext>
            </a:extLst>
          </p:cNvPr>
          <p:cNvSpPr>
            <a:spLocks noGrp="1" noChangeArrowheads="1"/>
          </p:cNvSpPr>
          <p:nvPr>
            <p:ph type="title"/>
          </p:nvPr>
        </p:nvSpPr>
        <p:spPr>
          <a:xfrm>
            <a:off x="731838" y="495300"/>
            <a:ext cx="7726362" cy="457200"/>
          </a:xfrm>
        </p:spPr>
        <p:txBody>
          <a:bodyPr/>
          <a:lstStyle/>
          <a:p>
            <a:r>
              <a:rPr lang="en-US" altLang="en-US"/>
              <a:t>Detection Algorithm</a:t>
            </a:r>
          </a:p>
        </p:txBody>
      </p:sp>
      <p:sp>
        <p:nvSpPr>
          <p:cNvPr id="68611" name="Rectangle 3">
            <a:extLst>
              <a:ext uri="{FF2B5EF4-FFF2-40B4-BE49-F238E27FC236}">
                <a16:creationId xmlns:a16="http://schemas.microsoft.com/office/drawing/2014/main" id="{26D681A8-2E7B-42C3-B196-76B2B2B90610}"/>
              </a:ext>
            </a:extLst>
          </p:cNvPr>
          <p:cNvSpPr>
            <a:spLocks noGrp="1" noChangeArrowheads="1"/>
          </p:cNvSpPr>
          <p:nvPr>
            <p:ph type="body" idx="1"/>
          </p:nvPr>
        </p:nvSpPr>
        <p:spPr>
          <a:xfrm>
            <a:off x="238125" y="1065213"/>
            <a:ext cx="8878888" cy="4873625"/>
          </a:xfrm>
        </p:spPr>
        <p:txBody>
          <a:bodyPr/>
          <a:lstStyle/>
          <a:p>
            <a:pPr marL="457200" indent="-457200">
              <a:lnSpc>
                <a:spcPct val="90000"/>
              </a:lnSpc>
              <a:buFont typeface="+mj-lt"/>
              <a:buAutoNum type="arabicPeriod"/>
              <a:defRPr/>
            </a:pPr>
            <a:r>
              <a:rPr lang="en-US" altLang="en-US" sz="2400" dirty="0"/>
              <a:t>Let </a:t>
            </a:r>
            <a:r>
              <a:rPr lang="en-US" altLang="en-US" sz="2400" b="1" dirty="0">
                <a:solidFill>
                  <a:schemeClr val="accent1">
                    <a:lumMod val="75000"/>
                  </a:schemeClr>
                </a:solidFill>
              </a:rPr>
              <a:t>Work</a:t>
            </a:r>
            <a:r>
              <a:rPr lang="en-US" altLang="en-US" sz="2400" i="1" dirty="0">
                <a:solidFill>
                  <a:schemeClr val="accent1">
                    <a:lumMod val="75000"/>
                  </a:schemeClr>
                </a:solidFill>
              </a:rPr>
              <a:t> </a:t>
            </a:r>
            <a:r>
              <a:rPr lang="en-US" altLang="en-US" sz="2400" dirty="0"/>
              <a:t>and </a:t>
            </a:r>
            <a:r>
              <a:rPr lang="en-US" altLang="en-US" sz="2400" b="1" dirty="0">
                <a:solidFill>
                  <a:schemeClr val="accent1">
                    <a:lumMod val="75000"/>
                  </a:schemeClr>
                </a:solidFill>
              </a:rPr>
              <a:t>Finish</a:t>
            </a:r>
            <a:r>
              <a:rPr lang="en-US" altLang="en-US" sz="2400" dirty="0"/>
              <a:t> be vectors of length</a:t>
            </a:r>
            <a:r>
              <a:rPr lang="en-US" altLang="en-US" sz="2400" i="1" dirty="0"/>
              <a:t> </a:t>
            </a:r>
            <a:r>
              <a:rPr lang="en-US" altLang="en-US" sz="2400" b="1" dirty="0">
                <a:solidFill>
                  <a:schemeClr val="accent1">
                    <a:lumMod val="75000"/>
                  </a:schemeClr>
                </a:solidFill>
              </a:rPr>
              <a:t>m</a:t>
            </a:r>
            <a:r>
              <a:rPr lang="en-US" altLang="en-US" sz="2400" dirty="0"/>
              <a:t> and </a:t>
            </a:r>
            <a:r>
              <a:rPr lang="en-US" altLang="en-US" sz="2400" b="1" dirty="0">
                <a:solidFill>
                  <a:schemeClr val="accent1">
                    <a:lumMod val="75000"/>
                  </a:schemeClr>
                </a:solidFill>
              </a:rPr>
              <a:t>n</a:t>
            </a:r>
            <a:r>
              <a:rPr lang="en-US" altLang="en-US" sz="2400" dirty="0"/>
              <a:t>, respectively; initially</a:t>
            </a:r>
          </a:p>
          <a:p>
            <a:pPr marL="796925" lvl="1" indent="-282575">
              <a:lnSpc>
                <a:spcPct val="90000"/>
              </a:lnSpc>
              <a:defRPr/>
            </a:pPr>
            <a:r>
              <a:rPr lang="en-US" altLang="en-US" sz="2400" b="1" dirty="0">
                <a:solidFill>
                  <a:schemeClr val="accent1">
                    <a:lumMod val="75000"/>
                  </a:schemeClr>
                </a:solidFill>
              </a:rPr>
              <a:t>Work = Available</a:t>
            </a:r>
          </a:p>
          <a:p>
            <a:pPr marL="796925" lvl="1" indent="-282575">
              <a:lnSpc>
                <a:spcPct val="90000"/>
              </a:lnSpc>
              <a:defRPr/>
            </a:pPr>
            <a:r>
              <a:rPr lang="en-US" altLang="en-US" sz="2400" dirty="0"/>
              <a:t>For </a:t>
            </a:r>
            <a:r>
              <a:rPr lang="en-US" altLang="en-US" sz="2400" dirty="0" err="1"/>
              <a:t>i</a:t>
            </a:r>
            <a:r>
              <a:rPr lang="en-US" altLang="en-US" sz="2400" dirty="0"/>
              <a:t> = 1,2, …, n, if </a:t>
            </a:r>
            <a:r>
              <a:rPr lang="en-US" altLang="en-US" sz="2400" b="1" dirty="0" err="1">
                <a:solidFill>
                  <a:schemeClr val="accent1">
                    <a:lumMod val="75000"/>
                  </a:schemeClr>
                </a:solidFill>
              </a:rPr>
              <a:t>Allocation</a:t>
            </a:r>
            <a:r>
              <a:rPr lang="en-US" altLang="en-US" sz="2400" b="1" baseline="-25000" dirty="0" err="1">
                <a:solidFill>
                  <a:schemeClr val="accent1">
                    <a:lumMod val="75000"/>
                  </a:schemeClr>
                </a:solidFill>
              </a:rPr>
              <a:t>i</a:t>
            </a:r>
            <a:r>
              <a:rPr lang="en-US" altLang="en-US" sz="2400" b="1" dirty="0">
                <a:solidFill>
                  <a:schemeClr val="accent1">
                    <a:lumMod val="75000"/>
                  </a:schemeClr>
                </a:solidFill>
              </a:rPr>
              <a:t> !=</a:t>
            </a:r>
            <a:r>
              <a:rPr lang="en-US" altLang="en-US" sz="2400" b="1" dirty="0">
                <a:solidFill>
                  <a:schemeClr val="accent1">
                    <a:lumMod val="75000"/>
                  </a:schemeClr>
                </a:solidFill>
                <a:sym typeface="Symbol" charset="2"/>
              </a:rPr>
              <a:t> 0</a:t>
            </a:r>
            <a:r>
              <a:rPr lang="en-US" altLang="en-US" sz="2400" dirty="0">
                <a:sym typeface="Symbol" charset="2"/>
              </a:rPr>
              <a:t>, then </a:t>
            </a:r>
            <a:r>
              <a:rPr lang="en-US" altLang="en-US" sz="2400" b="1" dirty="0">
                <a:solidFill>
                  <a:schemeClr val="accent1">
                    <a:lumMod val="75000"/>
                  </a:schemeClr>
                </a:solidFill>
                <a:sym typeface="Symbol" charset="2"/>
              </a:rPr>
              <a:t>Finish[ </a:t>
            </a:r>
            <a:r>
              <a:rPr lang="en-US" altLang="en-US" sz="2400" b="1" dirty="0" err="1">
                <a:solidFill>
                  <a:schemeClr val="accent1">
                    <a:lumMod val="75000"/>
                  </a:schemeClr>
                </a:solidFill>
                <a:sym typeface="Symbol" charset="2"/>
              </a:rPr>
              <a:t>i</a:t>
            </a:r>
            <a:r>
              <a:rPr lang="en-US" altLang="en-US" sz="2400" b="1" dirty="0">
                <a:solidFill>
                  <a:schemeClr val="accent1">
                    <a:lumMod val="75000"/>
                  </a:schemeClr>
                </a:solidFill>
                <a:sym typeface="Symbol" charset="2"/>
              </a:rPr>
              <a:t> ] = false</a:t>
            </a:r>
            <a:r>
              <a:rPr lang="en-US" altLang="en-US" sz="2400" dirty="0">
                <a:sym typeface="Symbol" charset="2"/>
              </a:rPr>
              <a:t>, else </a:t>
            </a:r>
            <a:r>
              <a:rPr lang="en-US" altLang="en-US" sz="2400" b="1" dirty="0">
                <a:solidFill>
                  <a:schemeClr val="accent1">
                    <a:lumMod val="75000"/>
                  </a:schemeClr>
                </a:solidFill>
                <a:sym typeface="Symbol" charset="2"/>
              </a:rPr>
              <a:t>Finish[</a:t>
            </a:r>
            <a:r>
              <a:rPr lang="en-US" altLang="en-US" sz="2400" b="1" dirty="0" err="1">
                <a:solidFill>
                  <a:schemeClr val="accent1">
                    <a:lumMod val="75000"/>
                  </a:schemeClr>
                </a:solidFill>
                <a:sym typeface="Symbol" charset="2"/>
              </a:rPr>
              <a:t>i</a:t>
            </a:r>
            <a:r>
              <a:rPr lang="en-US" altLang="en-US" sz="2400" b="1" dirty="0">
                <a:solidFill>
                  <a:schemeClr val="accent1">
                    <a:lumMod val="75000"/>
                  </a:schemeClr>
                </a:solidFill>
                <a:sym typeface="Symbol" charset="2"/>
              </a:rPr>
              <a:t>] = true</a:t>
            </a:r>
            <a:endParaRPr lang="en-US" altLang="en-US" sz="2400" dirty="0">
              <a:sym typeface="Symbol" charset="2"/>
            </a:endParaRPr>
          </a:p>
          <a:p>
            <a:pPr marL="2111375" lvl="4" indent="-282575">
              <a:lnSpc>
                <a:spcPct val="90000"/>
              </a:lnSpc>
              <a:defRPr/>
            </a:pPr>
            <a:endParaRPr lang="en-US" altLang="en-US" sz="1200" dirty="0"/>
          </a:p>
          <a:p>
            <a:pPr marL="457200" indent="-457200">
              <a:lnSpc>
                <a:spcPct val="90000"/>
              </a:lnSpc>
              <a:buFont typeface="+mj-lt"/>
              <a:buAutoNum type="arabicPeriod"/>
              <a:defRPr/>
            </a:pPr>
            <a:r>
              <a:rPr lang="en-US" altLang="en-US" sz="2400" dirty="0"/>
              <a:t>Find an </a:t>
            </a:r>
            <a:r>
              <a:rPr lang="en-US" altLang="en-US" sz="2400" b="1" dirty="0" err="1">
                <a:solidFill>
                  <a:schemeClr val="accent1">
                    <a:lumMod val="75000"/>
                  </a:schemeClr>
                </a:solidFill>
              </a:rPr>
              <a:t>i</a:t>
            </a:r>
            <a:r>
              <a:rPr lang="en-US" altLang="en-US" sz="2400" i="1" dirty="0"/>
              <a:t> </a:t>
            </a:r>
            <a:r>
              <a:rPr lang="en-US" altLang="en-US" sz="2400" dirty="0"/>
              <a:t>such that (a)</a:t>
            </a:r>
            <a:r>
              <a:rPr lang="en-US" altLang="en-US" sz="2400" b="1" dirty="0">
                <a:solidFill>
                  <a:schemeClr val="accent1">
                    <a:lumMod val="75000"/>
                  </a:schemeClr>
                </a:solidFill>
              </a:rPr>
              <a:t>Finish [</a:t>
            </a:r>
            <a:r>
              <a:rPr lang="en-US" altLang="en-US" sz="2400" b="1" dirty="0" err="1">
                <a:solidFill>
                  <a:schemeClr val="accent1">
                    <a:lumMod val="75000"/>
                  </a:schemeClr>
                </a:solidFill>
              </a:rPr>
              <a:t>i</a:t>
            </a:r>
            <a:r>
              <a:rPr lang="en-US" altLang="en-US" sz="2400" b="1" dirty="0">
                <a:solidFill>
                  <a:schemeClr val="accent1">
                    <a:lumMod val="75000"/>
                  </a:schemeClr>
                </a:solidFill>
              </a:rPr>
              <a:t>] == false </a:t>
            </a:r>
            <a:r>
              <a:rPr lang="en-US" altLang="en-US" sz="2400" dirty="0"/>
              <a:t>and (b)</a:t>
            </a:r>
            <a:r>
              <a:rPr lang="en-US" altLang="en-US" sz="2400" b="1" dirty="0">
                <a:solidFill>
                  <a:schemeClr val="accent1">
                    <a:lumMod val="75000"/>
                  </a:schemeClr>
                </a:solidFill>
              </a:rPr>
              <a:t>Request [ </a:t>
            </a:r>
            <a:r>
              <a:rPr lang="en-US" altLang="en-US" sz="2400" b="1" dirty="0" err="1">
                <a:solidFill>
                  <a:schemeClr val="accent1">
                    <a:lumMod val="75000"/>
                  </a:schemeClr>
                </a:solidFill>
              </a:rPr>
              <a:t>i</a:t>
            </a:r>
            <a:r>
              <a:rPr lang="en-US" altLang="en-US" sz="2400" b="1" dirty="0">
                <a:solidFill>
                  <a:schemeClr val="accent1">
                    <a:lumMod val="75000"/>
                  </a:schemeClr>
                </a:solidFill>
              </a:rPr>
              <a:t>, * ] </a:t>
            </a:r>
            <a:r>
              <a:rPr lang="en-US" altLang="en-US" sz="2400" b="1" dirty="0">
                <a:solidFill>
                  <a:schemeClr val="accent1">
                    <a:lumMod val="75000"/>
                  </a:schemeClr>
                </a:solidFill>
                <a:sym typeface="Symbol" charset="2"/>
              </a:rPr>
              <a:t> Work</a:t>
            </a:r>
          </a:p>
          <a:p>
            <a:pPr marL="796925" lvl="1" indent="-282575">
              <a:lnSpc>
                <a:spcPct val="90000"/>
              </a:lnSpc>
              <a:defRPr/>
            </a:pPr>
            <a:r>
              <a:rPr lang="en-US" altLang="en-US" sz="2400" dirty="0">
                <a:sym typeface="Symbol" charset="2"/>
              </a:rPr>
              <a:t>If no such </a:t>
            </a:r>
            <a:r>
              <a:rPr lang="en-US" altLang="en-US" sz="2400" b="1" dirty="0" err="1">
                <a:solidFill>
                  <a:schemeClr val="accent1">
                    <a:lumMod val="75000"/>
                  </a:schemeClr>
                </a:solidFill>
                <a:sym typeface="Symbol" charset="2"/>
              </a:rPr>
              <a:t>i</a:t>
            </a:r>
            <a:r>
              <a:rPr lang="en-US" altLang="en-US" sz="2400" i="1" dirty="0">
                <a:sym typeface="Symbol" charset="2"/>
              </a:rPr>
              <a:t> </a:t>
            </a:r>
            <a:r>
              <a:rPr lang="en-US" altLang="en-US" sz="2400" dirty="0">
                <a:sym typeface="Symbol" charset="2"/>
              </a:rPr>
              <a:t>exists, go to step 4</a:t>
            </a:r>
          </a:p>
          <a:p>
            <a:pPr marL="2111375" lvl="4" indent="-282575">
              <a:lnSpc>
                <a:spcPct val="90000"/>
              </a:lnSpc>
              <a:defRPr/>
            </a:pPr>
            <a:endParaRPr lang="en-US" altLang="en-US" sz="1200" dirty="0">
              <a:sym typeface="Symbol" charset="2"/>
            </a:endParaRPr>
          </a:p>
          <a:p>
            <a:pPr marL="457200" indent="-457200">
              <a:lnSpc>
                <a:spcPct val="90000"/>
              </a:lnSpc>
              <a:buFont typeface="+mj-lt"/>
              <a:buAutoNum type="arabicPeriod"/>
              <a:defRPr/>
            </a:pPr>
            <a:r>
              <a:rPr lang="en-US" altLang="en-US" sz="2400" b="1" dirty="0">
                <a:solidFill>
                  <a:schemeClr val="accent1">
                    <a:lumMod val="75000"/>
                  </a:schemeClr>
                </a:solidFill>
              </a:rPr>
              <a:t>Work = Work + Allocation [ </a:t>
            </a:r>
            <a:r>
              <a:rPr lang="en-US" altLang="en-US" sz="2400" b="1" dirty="0" err="1">
                <a:solidFill>
                  <a:schemeClr val="accent1">
                    <a:lumMod val="75000"/>
                  </a:schemeClr>
                </a:solidFill>
              </a:rPr>
              <a:t>i</a:t>
            </a:r>
            <a:r>
              <a:rPr lang="en-US" altLang="en-US" sz="2400" b="1" dirty="0">
                <a:solidFill>
                  <a:schemeClr val="accent1">
                    <a:lumMod val="75000"/>
                  </a:schemeClr>
                </a:solidFill>
              </a:rPr>
              <a:t>, * ]; Finish[</a:t>
            </a:r>
            <a:r>
              <a:rPr lang="en-US" altLang="en-US" sz="2400" b="1" dirty="0" err="1">
                <a:solidFill>
                  <a:schemeClr val="accent1">
                    <a:lumMod val="75000"/>
                  </a:schemeClr>
                </a:solidFill>
              </a:rPr>
              <a:t>i</a:t>
            </a:r>
            <a:r>
              <a:rPr lang="en-US" altLang="en-US" sz="2400" b="1" dirty="0">
                <a:solidFill>
                  <a:schemeClr val="accent1">
                    <a:lumMod val="75000"/>
                  </a:schemeClr>
                </a:solidFill>
              </a:rPr>
              <a:t>] = true </a:t>
            </a:r>
          </a:p>
          <a:p>
            <a:pPr marL="796925" lvl="1" indent="-282575">
              <a:lnSpc>
                <a:spcPct val="90000"/>
              </a:lnSpc>
              <a:defRPr/>
            </a:pPr>
            <a:r>
              <a:rPr lang="en-US" altLang="en-US" sz="2400" dirty="0"/>
              <a:t>Go to step 2</a:t>
            </a:r>
          </a:p>
          <a:p>
            <a:pPr marL="971550" lvl="1" indent="-457200">
              <a:lnSpc>
                <a:spcPct val="90000"/>
              </a:lnSpc>
              <a:buFont typeface="+mj-lt"/>
              <a:buAutoNum type="arabicPeriod"/>
              <a:defRPr/>
            </a:pPr>
            <a:endParaRPr lang="en-US" altLang="en-US" sz="1200" dirty="0"/>
          </a:p>
          <a:p>
            <a:pPr marL="457200" indent="-457200">
              <a:lnSpc>
                <a:spcPct val="90000"/>
              </a:lnSpc>
              <a:buFont typeface="+mj-lt"/>
              <a:buAutoNum type="arabicPeriod"/>
              <a:defRPr/>
            </a:pPr>
            <a:r>
              <a:rPr lang="en-US" altLang="en-US" sz="2400" dirty="0"/>
              <a:t>If </a:t>
            </a:r>
            <a:r>
              <a:rPr lang="en-US" altLang="en-US" sz="2400" b="1" dirty="0">
                <a:solidFill>
                  <a:schemeClr val="accent1">
                    <a:lumMod val="75000"/>
                  </a:schemeClr>
                </a:solidFill>
              </a:rPr>
              <a:t>Finish [</a:t>
            </a:r>
            <a:r>
              <a:rPr lang="en-US" altLang="en-US" sz="2400" b="1" dirty="0" err="1">
                <a:solidFill>
                  <a:schemeClr val="accent1">
                    <a:lumMod val="75000"/>
                  </a:schemeClr>
                </a:solidFill>
              </a:rPr>
              <a:t>i</a:t>
            </a:r>
            <a:r>
              <a:rPr lang="en-US" altLang="en-US" sz="2400" b="1" dirty="0">
                <a:solidFill>
                  <a:schemeClr val="accent1">
                    <a:lumMod val="75000"/>
                  </a:schemeClr>
                </a:solidFill>
              </a:rPr>
              <a:t>] == false </a:t>
            </a:r>
            <a:r>
              <a:rPr lang="en-US" altLang="en-US" sz="2400" dirty="0"/>
              <a:t>for some </a:t>
            </a:r>
            <a:r>
              <a:rPr lang="en-US" altLang="en-US" sz="2400" b="1" dirty="0" err="1">
                <a:solidFill>
                  <a:schemeClr val="accent1">
                    <a:lumMod val="75000"/>
                  </a:schemeClr>
                </a:solidFill>
              </a:rPr>
              <a:t>i</a:t>
            </a:r>
            <a:r>
              <a:rPr lang="en-US" altLang="en-US" sz="2400" dirty="0"/>
              <a:t>, then system (process </a:t>
            </a:r>
            <a:r>
              <a:rPr lang="en-US" altLang="en-US" sz="2400" b="1" dirty="0">
                <a:solidFill>
                  <a:schemeClr val="accent1">
                    <a:lumMod val="75000"/>
                  </a:schemeClr>
                </a:solidFill>
              </a:rPr>
              <a:t>P</a:t>
            </a:r>
            <a:r>
              <a:rPr lang="en-US" altLang="en-US" sz="2400" b="1" baseline="-25000" dirty="0">
                <a:solidFill>
                  <a:schemeClr val="accent1">
                    <a:lumMod val="75000"/>
                  </a:schemeClr>
                </a:solidFill>
              </a:rPr>
              <a:t>i</a:t>
            </a:r>
            <a:r>
              <a:rPr lang="en-US" altLang="en-US" sz="2400" dirty="0"/>
              <a:t>) is deadlocked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Footer Placeholder 3">
            <a:extLst>
              <a:ext uri="{FF2B5EF4-FFF2-40B4-BE49-F238E27FC236}">
                <a16:creationId xmlns:a16="http://schemas.microsoft.com/office/drawing/2014/main" id="{DCC1239A-481B-4182-90D6-3D5B161B1EC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97282" name="Rectangle 2">
            <a:extLst>
              <a:ext uri="{FF2B5EF4-FFF2-40B4-BE49-F238E27FC236}">
                <a16:creationId xmlns:a16="http://schemas.microsoft.com/office/drawing/2014/main" id="{E6A38FF0-7787-418E-AC1B-94D53E4D088A}"/>
              </a:ext>
            </a:extLst>
          </p:cNvPr>
          <p:cNvSpPr>
            <a:spLocks noGrp="1" noChangeArrowheads="1"/>
          </p:cNvSpPr>
          <p:nvPr>
            <p:ph type="title"/>
          </p:nvPr>
        </p:nvSpPr>
        <p:spPr/>
        <p:txBody>
          <a:bodyPr/>
          <a:lstStyle/>
          <a:p>
            <a:r>
              <a:rPr lang="en-US" altLang="en-US"/>
              <a:t>Example of Detection Algorithm</a:t>
            </a:r>
          </a:p>
        </p:txBody>
      </p:sp>
      <p:sp>
        <p:nvSpPr>
          <p:cNvPr id="99331" name="Rectangle 3">
            <a:extLst>
              <a:ext uri="{FF2B5EF4-FFF2-40B4-BE49-F238E27FC236}">
                <a16:creationId xmlns:a16="http://schemas.microsoft.com/office/drawing/2014/main" id="{B628B6BE-05EA-4BC7-86A6-0A8E6F18B101}"/>
              </a:ext>
            </a:extLst>
          </p:cNvPr>
          <p:cNvSpPr>
            <a:spLocks noGrp="1" noChangeArrowheads="1"/>
          </p:cNvSpPr>
          <p:nvPr>
            <p:ph type="body" idx="1"/>
          </p:nvPr>
        </p:nvSpPr>
        <p:spPr>
          <a:xfrm>
            <a:off x="452438" y="1195388"/>
            <a:ext cx="8361362" cy="5141912"/>
          </a:xfrm>
        </p:spPr>
        <p:txBody>
          <a:bodyPr/>
          <a:lstStyle/>
          <a:p>
            <a:pPr>
              <a:lnSpc>
                <a:spcPct val="90000"/>
              </a:lnSpc>
              <a:tabLst>
                <a:tab pos="1428750" algn="l"/>
                <a:tab pos="2338388" algn="ctr"/>
                <a:tab pos="3594100" algn="ctr"/>
                <a:tab pos="4921250" algn="ctr"/>
              </a:tabLst>
              <a:defRPr/>
            </a:pPr>
            <a:r>
              <a:rPr lang="en-US" altLang="en-US" sz="2200" dirty="0">
                <a:solidFill>
                  <a:srgbClr val="FF0000"/>
                </a:solidFill>
              </a:rPr>
              <a:t>Five processes:</a:t>
            </a:r>
            <a:r>
              <a:rPr lang="en-US" altLang="en-US" sz="2200" dirty="0"/>
              <a:t> </a:t>
            </a:r>
            <a:r>
              <a:rPr lang="en-US" altLang="en-US" sz="2200" i="1" dirty="0"/>
              <a:t>P</a:t>
            </a:r>
            <a:r>
              <a:rPr lang="en-US" altLang="en-US" sz="2200" baseline="-25000" dirty="0"/>
              <a:t>0</a:t>
            </a:r>
            <a:r>
              <a:rPr lang="en-US" altLang="en-US" sz="2200" dirty="0"/>
              <a:t> through </a:t>
            </a:r>
            <a:r>
              <a:rPr lang="en-US" altLang="en-US" sz="2200" i="1" dirty="0"/>
              <a:t>P</a:t>
            </a:r>
            <a:r>
              <a:rPr lang="en-US" altLang="en-US" sz="2200" baseline="-25000" dirty="0"/>
              <a:t>4</a:t>
            </a:r>
            <a:endParaRPr lang="en-US" altLang="en-US" sz="2200" dirty="0"/>
          </a:p>
          <a:p>
            <a:pPr>
              <a:lnSpc>
                <a:spcPct val="90000"/>
              </a:lnSpc>
              <a:tabLst>
                <a:tab pos="1428750" algn="l"/>
                <a:tab pos="2338388" algn="ctr"/>
                <a:tab pos="3594100" algn="ctr"/>
                <a:tab pos="4921250" algn="ctr"/>
              </a:tabLst>
              <a:defRPr/>
            </a:pPr>
            <a:r>
              <a:rPr lang="en-US" altLang="en-US" sz="2200" dirty="0">
                <a:solidFill>
                  <a:srgbClr val="FF0000"/>
                </a:solidFill>
              </a:rPr>
              <a:t>Three resource types:</a:t>
            </a:r>
            <a:r>
              <a:rPr lang="en-US" altLang="en-US" sz="2200" dirty="0"/>
              <a:t> A (7 instances), </a:t>
            </a:r>
            <a:r>
              <a:rPr lang="en-US" altLang="en-US" sz="2200" i="1" dirty="0"/>
              <a:t>B </a:t>
            </a:r>
            <a:r>
              <a:rPr lang="en-US" altLang="en-US" sz="2200" dirty="0"/>
              <a:t>(2 instances), and </a:t>
            </a:r>
            <a:r>
              <a:rPr lang="en-US" altLang="en-US" sz="2200" i="1" dirty="0"/>
              <a:t>C</a:t>
            </a:r>
            <a:r>
              <a:rPr lang="en-US" altLang="en-US" sz="2200" dirty="0"/>
              <a:t> (6 instances)</a:t>
            </a:r>
          </a:p>
          <a:p>
            <a:pPr>
              <a:lnSpc>
                <a:spcPct val="90000"/>
              </a:lnSpc>
              <a:tabLst>
                <a:tab pos="1428750" algn="l"/>
                <a:tab pos="2338388" algn="ctr"/>
                <a:tab pos="3594100" algn="ctr"/>
                <a:tab pos="4921250" algn="ctr"/>
              </a:tabLst>
              <a:defRPr/>
            </a:pPr>
            <a:r>
              <a:rPr lang="en-US" altLang="en-US" sz="2200" dirty="0">
                <a:solidFill>
                  <a:srgbClr val="FF0000"/>
                </a:solidFill>
              </a:rPr>
              <a:t>Snapshot at time </a:t>
            </a:r>
            <a:r>
              <a:rPr lang="en-US" altLang="en-US" sz="2200" i="1" dirty="0">
                <a:solidFill>
                  <a:srgbClr val="FF0000"/>
                </a:solidFill>
              </a:rPr>
              <a:t>T</a:t>
            </a:r>
            <a:r>
              <a:rPr lang="en-US" altLang="en-US" sz="2200" baseline="-25000" dirty="0">
                <a:solidFill>
                  <a:srgbClr val="FF0000"/>
                </a:solidFill>
              </a:rPr>
              <a:t>0</a:t>
            </a:r>
            <a:r>
              <a:rPr lang="en-US" altLang="en-US" sz="2200" dirty="0">
                <a:solidFill>
                  <a:srgbClr val="FF0000"/>
                </a:solidFill>
              </a:rPr>
              <a:t>:    </a:t>
            </a:r>
            <a:r>
              <a:rPr lang="en-US" altLang="en-US" sz="2200" i="1" u="sng" dirty="0">
                <a:solidFill>
                  <a:schemeClr val="accent2"/>
                </a:solidFill>
              </a:rPr>
              <a:t>Allocation</a:t>
            </a:r>
            <a:r>
              <a:rPr lang="en-US" altLang="en-US" sz="2200" i="1" dirty="0">
                <a:solidFill>
                  <a:schemeClr val="accent2"/>
                </a:solidFill>
              </a:rPr>
              <a:t>	</a:t>
            </a:r>
            <a:r>
              <a:rPr lang="en-US" altLang="en-US" sz="2200" i="1" u="sng" dirty="0">
                <a:solidFill>
                  <a:schemeClr val="accent2"/>
                </a:solidFill>
              </a:rPr>
              <a:t>Request</a:t>
            </a:r>
            <a:r>
              <a:rPr lang="en-US" altLang="en-US" sz="2200" i="1" dirty="0">
                <a:solidFill>
                  <a:schemeClr val="accent2"/>
                </a:solidFill>
              </a:rPr>
              <a:t>	  </a:t>
            </a:r>
            <a:r>
              <a:rPr lang="en-US" altLang="en-US" sz="2200" i="1" u="sng" dirty="0">
                <a:solidFill>
                  <a:schemeClr val="accent2"/>
                </a:solidFill>
              </a:rPr>
              <a:t>Available</a:t>
            </a:r>
            <a:endParaRPr lang="en-US" altLang="en-US" sz="2200" i="1" dirty="0">
              <a:solidFill>
                <a:schemeClr val="accent2"/>
              </a:solidFill>
            </a:endParaRPr>
          </a:p>
          <a:p>
            <a:pPr>
              <a:lnSpc>
                <a:spcPct val="90000"/>
              </a:lnSpc>
              <a:buFontTx/>
              <a:buNone/>
              <a:tabLst>
                <a:tab pos="1428750" algn="l"/>
                <a:tab pos="2338388" algn="ctr"/>
                <a:tab pos="3594100" algn="ctr"/>
                <a:tab pos="4921250" algn="ctr"/>
              </a:tabLst>
              <a:defRPr/>
            </a:pPr>
            <a:r>
              <a:rPr lang="en-US" altLang="en-US" sz="2200" dirty="0"/>
              <a:t>				</a:t>
            </a:r>
            <a:r>
              <a:rPr lang="en-US" altLang="en-US" sz="2200" i="1" dirty="0"/>
              <a:t>A B C 	A B C 	    A B C</a:t>
            </a:r>
          </a:p>
          <a:p>
            <a:pPr>
              <a:lnSpc>
                <a:spcPct val="90000"/>
              </a:lnSpc>
              <a:buFontTx/>
              <a:buNone/>
              <a:tabLst>
                <a:tab pos="1428750" algn="l"/>
                <a:tab pos="2338388" algn="ctr"/>
                <a:tab pos="3594100" algn="ctr"/>
                <a:tab pos="4921250" algn="ctr"/>
              </a:tabLst>
              <a:defRPr/>
            </a:pPr>
            <a:r>
              <a:rPr lang="en-US" altLang="en-US" sz="2200" dirty="0"/>
              <a:t>		</a:t>
            </a:r>
            <a:r>
              <a:rPr lang="en-US" altLang="en-US" sz="2200" i="1" dirty="0">
                <a:solidFill>
                  <a:schemeClr val="accent2"/>
                </a:solidFill>
              </a:rPr>
              <a:t>P</a:t>
            </a:r>
            <a:r>
              <a:rPr lang="en-US" altLang="en-US" sz="2200" baseline="-25000" dirty="0">
                <a:solidFill>
                  <a:schemeClr val="accent2"/>
                </a:solidFill>
              </a:rPr>
              <a:t>0</a:t>
            </a:r>
            <a:r>
              <a:rPr lang="en-US" altLang="en-US" sz="2200" dirty="0"/>
              <a:t>		0 1 0 	0 0 0 	     0 0 0</a:t>
            </a:r>
          </a:p>
          <a:p>
            <a:pPr>
              <a:lnSpc>
                <a:spcPct val="90000"/>
              </a:lnSpc>
              <a:buFontTx/>
              <a:buNone/>
              <a:tabLst>
                <a:tab pos="1428750" algn="l"/>
                <a:tab pos="2338388" algn="ctr"/>
                <a:tab pos="3594100" algn="ctr"/>
                <a:tab pos="4921250" algn="ctr"/>
              </a:tabLst>
              <a:defRPr/>
            </a:pPr>
            <a:r>
              <a:rPr lang="en-US" altLang="en-US" sz="2200" dirty="0"/>
              <a:t>		</a:t>
            </a:r>
            <a:r>
              <a:rPr lang="en-US" altLang="en-US" sz="2200" i="1" dirty="0">
                <a:solidFill>
                  <a:schemeClr val="accent2"/>
                </a:solidFill>
              </a:rPr>
              <a:t>P</a:t>
            </a:r>
            <a:r>
              <a:rPr lang="en-US" altLang="en-US" sz="2200" baseline="-25000" dirty="0">
                <a:solidFill>
                  <a:schemeClr val="accent2"/>
                </a:solidFill>
              </a:rPr>
              <a:t>1</a:t>
            </a:r>
            <a:r>
              <a:rPr lang="en-US" altLang="en-US" sz="2200" dirty="0"/>
              <a:t>		2 0 0 	2 0 2</a:t>
            </a:r>
          </a:p>
          <a:p>
            <a:pPr>
              <a:lnSpc>
                <a:spcPct val="90000"/>
              </a:lnSpc>
              <a:buFontTx/>
              <a:buNone/>
              <a:tabLst>
                <a:tab pos="1428750" algn="l"/>
                <a:tab pos="2338388" algn="ctr"/>
                <a:tab pos="3594100" algn="ctr"/>
                <a:tab pos="4921250" algn="ctr"/>
              </a:tabLst>
              <a:defRPr/>
            </a:pPr>
            <a:r>
              <a:rPr lang="en-US" altLang="en-US" sz="2200" dirty="0"/>
              <a:t>		</a:t>
            </a:r>
            <a:r>
              <a:rPr lang="en-US" altLang="en-US" sz="2200" i="1" dirty="0">
                <a:solidFill>
                  <a:schemeClr val="accent2"/>
                </a:solidFill>
              </a:rPr>
              <a:t>P</a:t>
            </a:r>
            <a:r>
              <a:rPr lang="en-US" altLang="en-US" sz="2200" baseline="-25000" dirty="0">
                <a:solidFill>
                  <a:schemeClr val="accent2"/>
                </a:solidFill>
              </a:rPr>
              <a:t>2</a:t>
            </a:r>
            <a:r>
              <a:rPr lang="en-US" altLang="en-US" sz="2200" dirty="0"/>
              <a:t>		3 0 3	0 0 0 </a:t>
            </a:r>
          </a:p>
          <a:p>
            <a:pPr>
              <a:lnSpc>
                <a:spcPct val="90000"/>
              </a:lnSpc>
              <a:buFontTx/>
              <a:buNone/>
              <a:tabLst>
                <a:tab pos="1428750" algn="l"/>
                <a:tab pos="2338388" algn="ctr"/>
                <a:tab pos="3594100" algn="ctr"/>
                <a:tab pos="4921250" algn="ctr"/>
              </a:tabLst>
              <a:defRPr/>
            </a:pPr>
            <a:r>
              <a:rPr lang="en-US" altLang="en-US" sz="2200" dirty="0"/>
              <a:t>		</a:t>
            </a:r>
            <a:r>
              <a:rPr lang="en-US" altLang="en-US" sz="2200" i="1" dirty="0">
                <a:solidFill>
                  <a:schemeClr val="accent2"/>
                </a:solidFill>
              </a:rPr>
              <a:t>P</a:t>
            </a:r>
            <a:r>
              <a:rPr lang="en-US" altLang="en-US" sz="2200" baseline="-25000" dirty="0">
                <a:solidFill>
                  <a:schemeClr val="accent2"/>
                </a:solidFill>
              </a:rPr>
              <a:t>3</a:t>
            </a:r>
            <a:r>
              <a:rPr lang="en-US" altLang="en-US" sz="2200" dirty="0"/>
              <a:t>		2 1 1 	1 0 0 </a:t>
            </a:r>
          </a:p>
          <a:p>
            <a:pPr>
              <a:lnSpc>
                <a:spcPct val="90000"/>
              </a:lnSpc>
              <a:buFontTx/>
              <a:buNone/>
              <a:tabLst>
                <a:tab pos="1428750" algn="l"/>
                <a:tab pos="2338388" algn="ctr"/>
                <a:tab pos="3594100" algn="ctr"/>
                <a:tab pos="4921250" algn="ctr"/>
              </a:tabLst>
              <a:defRPr/>
            </a:pPr>
            <a:r>
              <a:rPr lang="en-US" altLang="en-US" sz="2200" dirty="0"/>
              <a:t>		</a:t>
            </a:r>
            <a:r>
              <a:rPr lang="en-US" altLang="en-US" sz="2200" i="1" dirty="0">
                <a:solidFill>
                  <a:schemeClr val="accent2"/>
                </a:solidFill>
              </a:rPr>
              <a:t>P</a:t>
            </a:r>
            <a:r>
              <a:rPr lang="en-US" altLang="en-US" sz="2200" baseline="-25000" dirty="0">
                <a:solidFill>
                  <a:schemeClr val="accent2"/>
                </a:solidFill>
              </a:rPr>
              <a:t>4</a:t>
            </a:r>
            <a:r>
              <a:rPr lang="en-US" altLang="en-US" sz="2200" dirty="0"/>
              <a:t>		0 0 2 	0 0 2</a:t>
            </a:r>
          </a:p>
          <a:p>
            <a:pPr>
              <a:lnSpc>
                <a:spcPct val="90000"/>
              </a:lnSpc>
              <a:buFontTx/>
              <a:buNone/>
              <a:tabLst>
                <a:tab pos="1428750" algn="l"/>
                <a:tab pos="2338388" algn="ctr"/>
                <a:tab pos="3594100" algn="ctr"/>
                <a:tab pos="4921250" algn="ctr"/>
              </a:tabLst>
              <a:defRPr/>
            </a:pPr>
            <a:endParaRPr lang="en-US" altLang="en-US" sz="1200" dirty="0"/>
          </a:p>
          <a:p>
            <a:pPr marL="0" indent="0">
              <a:lnSpc>
                <a:spcPct val="90000"/>
              </a:lnSpc>
              <a:buFontTx/>
              <a:buNone/>
              <a:tabLst>
                <a:tab pos="1428750" algn="l"/>
                <a:tab pos="2338388" algn="ctr"/>
                <a:tab pos="3594100" algn="ctr"/>
                <a:tab pos="4921250" algn="ctr"/>
              </a:tabLst>
              <a:defRPr/>
            </a:pPr>
            <a:r>
              <a:rPr lang="en-US" altLang="en-US" sz="2200" b="1" dirty="0">
                <a:solidFill>
                  <a:srgbClr val="FF0000"/>
                </a:solidFill>
              </a:rPr>
              <a:t>Sequence &lt;</a:t>
            </a:r>
            <a:r>
              <a:rPr lang="en-US" altLang="en-US" sz="2200" b="1" i="1" dirty="0">
                <a:solidFill>
                  <a:srgbClr val="FF0000"/>
                </a:solidFill>
              </a:rPr>
              <a:t>P</a:t>
            </a:r>
            <a:r>
              <a:rPr lang="en-US" altLang="en-US" sz="2200" b="1" baseline="-25000" dirty="0">
                <a:solidFill>
                  <a:srgbClr val="FF0000"/>
                </a:solidFill>
              </a:rPr>
              <a:t>0</a:t>
            </a:r>
            <a:r>
              <a:rPr lang="en-US" altLang="en-US" sz="2200" b="1" dirty="0">
                <a:solidFill>
                  <a:srgbClr val="FF0000"/>
                </a:solidFill>
              </a:rPr>
              <a:t>, </a:t>
            </a:r>
            <a:r>
              <a:rPr lang="en-US" altLang="en-US" sz="2200" b="1" i="1" dirty="0">
                <a:solidFill>
                  <a:srgbClr val="FF0000"/>
                </a:solidFill>
              </a:rPr>
              <a:t>P</a:t>
            </a:r>
            <a:r>
              <a:rPr lang="en-US" altLang="en-US" sz="2200" b="1" baseline="-25000" dirty="0">
                <a:solidFill>
                  <a:srgbClr val="FF0000"/>
                </a:solidFill>
              </a:rPr>
              <a:t>2</a:t>
            </a:r>
            <a:r>
              <a:rPr lang="en-US" altLang="en-US" sz="2200" b="1" dirty="0">
                <a:solidFill>
                  <a:srgbClr val="FF0000"/>
                </a:solidFill>
              </a:rPr>
              <a:t>, </a:t>
            </a:r>
            <a:r>
              <a:rPr lang="en-US" altLang="en-US" sz="2200" b="1" i="1" dirty="0">
                <a:solidFill>
                  <a:srgbClr val="FF0000"/>
                </a:solidFill>
              </a:rPr>
              <a:t>P</a:t>
            </a:r>
            <a:r>
              <a:rPr lang="en-US" altLang="en-US" sz="2200" b="1" baseline="-25000" dirty="0">
                <a:solidFill>
                  <a:srgbClr val="FF0000"/>
                </a:solidFill>
              </a:rPr>
              <a:t>3</a:t>
            </a:r>
            <a:r>
              <a:rPr lang="en-US" altLang="en-US" sz="2200" b="1" dirty="0">
                <a:solidFill>
                  <a:srgbClr val="FF0000"/>
                </a:solidFill>
              </a:rPr>
              <a:t>, </a:t>
            </a:r>
            <a:r>
              <a:rPr lang="en-US" altLang="en-US" sz="2200" b="1" i="1" dirty="0">
                <a:solidFill>
                  <a:srgbClr val="FF0000"/>
                </a:solidFill>
              </a:rPr>
              <a:t>P</a:t>
            </a:r>
            <a:r>
              <a:rPr lang="en-US" altLang="en-US" sz="2200" b="1" baseline="-25000" dirty="0">
                <a:solidFill>
                  <a:srgbClr val="FF0000"/>
                </a:solidFill>
              </a:rPr>
              <a:t>1</a:t>
            </a:r>
            <a:r>
              <a:rPr lang="en-US" altLang="en-US" sz="2200" b="1" dirty="0">
                <a:solidFill>
                  <a:srgbClr val="FF0000"/>
                </a:solidFill>
              </a:rPr>
              <a:t>, </a:t>
            </a:r>
            <a:r>
              <a:rPr lang="en-US" altLang="en-US" sz="2200" b="1" i="1" dirty="0">
                <a:solidFill>
                  <a:srgbClr val="FF0000"/>
                </a:solidFill>
              </a:rPr>
              <a:t>P</a:t>
            </a:r>
            <a:r>
              <a:rPr lang="en-US" altLang="en-US" sz="2200" b="1" baseline="-25000" dirty="0">
                <a:solidFill>
                  <a:srgbClr val="FF0000"/>
                </a:solidFill>
              </a:rPr>
              <a:t>4</a:t>
            </a:r>
            <a:r>
              <a:rPr lang="en-US" altLang="en-US" sz="2200" b="1" dirty="0">
                <a:solidFill>
                  <a:srgbClr val="FF0000"/>
                </a:solidFill>
              </a:rPr>
              <a:t>&gt; results in Finish[</a:t>
            </a:r>
            <a:r>
              <a:rPr lang="en-US" altLang="en-US" sz="2200" b="1" dirty="0" err="1">
                <a:solidFill>
                  <a:srgbClr val="FF0000"/>
                </a:solidFill>
              </a:rPr>
              <a:t>i</a:t>
            </a:r>
            <a:r>
              <a:rPr lang="en-US" altLang="en-US" sz="2200" b="1" dirty="0">
                <a:solidFill>
                  <a:srgbClr val="FF0000"/>
                </a:solidFill>
              </a:rPr>
              <a:t>] = true for all </a:t>
            </a:r>
            <a:r>
              <a:rPr lang="en-US" altLang="en-US" sz="2200" b="1" dirty="0" err="1">
                <a:solidFill>
                  <a:srgbClr val="FF0000"/>
                </a:solidFill>
              </a:rPr>
              <a:t>i</a:t>
            </a:r>
            <a:endParaRPr lang="en-US" altLang="en-US" sz="2200" b="1"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Footer Placeholder 3">
            <a:extLst>
              <a:ext uri="{FF2B5EF4-FFF2-40B4-BE49-F238E27FC236}">
                <a16:creationId xmlns:a16="http://schemas.microsoft.com/office/drawing/2014/main" id="{B919EDAA-0385-4877-82C4-5ADAA2AF1B1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98306" name="Rectangle 2">
            <a:extLst>
              <a:ext uri="{FF2B5EF4-FFF2-40B4-BE49-F238E27FC236}">
                <a16:creationId xmlns:a16="http://schemas.microsoft.com/office/drawing/2014/main" id="{C56F90B4-EF72-42F4-B858-F374141EEA27}"/>
              </a:ext>
            </a:extLst>
          </p:cNvPr>
          <p:cNvSpPr>
            <a:spLocks noGrp="1" noChangeArrowheads="1"/>
          </p:cNvSpPr>
          <p:nvPr>
            <p:ph type="title"/>
          </p:nvPr>
        </p:nvSpPr>
        <p:spPr/>
        <p:txBody>
          <a:bodyPr/>
          <a:lstStyle/>
          <a:p>
            <a:r>
              <a:rPr lang="en-US" altLang="en-US"/>
              <a:t>Example of Detection Algorithm (Cont.)</a:t>
            </a:r>
          </a:p>
        </p:txBody>
      </p:sp>
      <p:sp>
        <p:nvSpPr>
          <p:cNvPr id="100355" name="Rectangle 3">
            <a:extLst>
              <a:ext uri="{FF2B5EF4-FFF2-40B4-BE49-F238E27FC236}">
                <a16:creationId xmlns:a16="http://schemas.microsoft.com/office/drawing/2014/main" id="{C4C2FADA-23A8-47BF-8E5D-95F2F39CD080}"/>
              </a:ext>
            </a:extLst>
          </p:cNvPr>
          <p:cNvSpPr>
            <a:spLocks noGrp="1" noChangeArrowheads="1"/>
          </p:cNvSpPr>
          <p:nvPr>
            <p:ph type="body" idx="1"/>
          </p:nvPr>
        </p:nvSpPr>
        <p:spPr>
          <a:xfrm>
            <a:off x="371475" y="1246188"/>
            <a:ext cx="8680450" cy="4965700"/>
          </a:xfrm>
        </p:spPr>
        <p:txBody>
          <a:bodyPr/>
          <a:lstStyle/>
          <a:p>
            <a:pPr marL="0" indent="0">
              <a:lnSpc>
                <a:spcPct val="80000"/>
              </a:lnSpc>
              <a:buFontTx/>
              <a:buNone/>
              <a:tabLst>
                <a:tab pos="2800350" algn="l"/>
                <a:tab pos="3708400" algn="ctr"/>
              </a:tabLst>
              <a:defRPr/>
            </a:pPr>
            <a:r>
              <a:rPr lang="en-US" altLang="en-US" sz="2800" dirty="0"/>
              <a:t>Suppose</a:t>
            </a:r>
            <a:r>
              <a:rPr lang="en-US" altLang="en-US" sz="2800" i="1" dirty="0"/>
              <a:t> P</a:t>
            </a:r>
            <a:r>
              <a:rPr lang="en-US" altLang="en-US" sz="2800" baseline="-25000" dirty="0"/>
              <a:t>2</a:t>
            </a:r>
            <a:r>
              <a:rPr lang="en-US" altLang="en-US" sz="2800" dirty="0"/>
              <a:t> requests an additional instance of type</a:t>
            </a:r>
            <a:r>
              <a:rPr lang="en-US" altLang="en-US" sz="2800" i="1" dirty="0"/>
              <a:t> C</a:t>
            </a:r>
          </a:p>
          <a:p>
            <a:pPr marL="0" indent="0">
              <a:lnSpc>
                <a:spcPct val="80000"/>
              </a:lnSpc>
              <a:buFontTx/>
              <a:buNone/>
              <a:tabLst>
                <a:tab pos="2800350" algn="l"/>
                <a:tab pos="3708400" algn="ctr"/>
              </a:tabLst>
              <a:defRPr/>
            </a:pPr>
            <a:endParaRPr lang="en-US" altLang="en-US" sz="2800" dirty="0"/>
          </a:p>
          <a:p>
            <a:pPr>
              <a:lnSpc>
                <a:spcPct val="90000"/>
              </a:lnSpc>
              <a:buFontTx/>
              <a:buNone/>
              <a:tabLst>
                <a:tab pos="2800350" algn="l"/>
                <a:tab pos="3708400" algn="ctr"/>
              </a:tabLst>
              <a:defRPr/>
            </a:pPr>
            <a:r>
              <a:rPr lang="en-US" altLang="en-US" sz="2200" dirty="0"/>
              <a:t>	</a:t>
            </a:r>
            <a:r>
              <a:rPr lang="en-US" altLang="en-US" sz="2200" i="1" u="sng" dirty="0">
                <a:solidFill>
                  <a:schemeClr val="accent2"/>
                </a:solidFill>
              </a:rPr>
              <a:t>Allocation</a:t>
            </a:r>
            <a:r>
              <a:rPr lang="en-US" altLang="en-US" sz="2200" i="1" dirty="0">
                <a:solidFill>
                  <a:schemeClr val="accent2"/>
                </a:solidFill>
              </a:rPr>
              <a:t>   </a:t>
            </a:r>
            <a:r>
              <a:rPr lang="en-US" altLang="en-US" sz="2200" i="1" u="sng" dirty="0">
                <a:solidFill>
                  <a:schemeClr val="accent2"/>
                </a:solidFill>
              </a:rPr>
              <a:t>Request</a:t>
            </a:r>
            <a:r>
              <a:rPr lang="en-US" altLang="en-US" sz="2200" i="1" dirty="0">
                <a:solidFill>
                  <a:schemeClr val="accent2"/>
                </a:solidFill>
              </a:rPr>
              <a:t>	</a:t>
            </a:r>
            <a:r>
              <a:rPr lang="en-US" altLang="en-US" sz="2200" i="1" u="sng" dirty="0">
                <a:solidFill>
                  <a:schemeClr val="accent2"/>
                </a:solidFill>
              </a:rPr>
              <a:t>Available</a:t>
            </a:r>
            <a:endParaRPr lang="en-US" altLang="en-US" sz="2200" i="1" dirty="0">
              <a:solidFill>
                <a:schemeClr val="accent2"/>
              </a:solidFill>
            </a:endParaRPr>
          </a:p>
          <a:p>
            <a:pPr>
              <a:lnSpc>
                <a:spcPct val="90000"/>
              </a:lnSpc>
              <a:buFontTx/>
              <a:buNone/>
              <a:tabLst>
                <a:tab pos="2800350" algn="l"/>
                <a:tab pos="3708400" algn="ctr"/>
              </a:tabLst>
              <a:defRPr/>
            </a:pPr>
            <a:r>
              <a:rPr lang="en-US" altLang="en-US" sz="2200" dirty="0"/>
              <a:t>	 </a:t>
            </a:r>
            <a:r>
              <a:rPr lang="en-US" altLang="en-US" sz="2200" i="1" dirty="0"/>
              <a:t>A B C        A B C 	A B C</a:t>
            </a:r>
          </a:p>
          <a:p>
            <a:pPr>
              <a:lnSpc>
                <a:spcPct val="90000"/>
              </a:lnSpc>
              <a:buFontTx/>
              <a:buNone/>
              <a:tabLst>
                <a:tab pos="2800350" algn="l"/>
                <a:tab pos="3708400" algn="ctr"/>
              </a:tabLst>
              <a:defRPr/>
            </a:pPr>
            <a:r>
              <a:rPr lang="en-US" altLang="en-US" sz="2200" i="1" dirty="0">
                <a:solidFill>
                  <a:schemeClr val="accent2"/>
                </a:solidFill>
              </a:rPr>
              <a:t>P</a:t>
            </a:r>
            <a:r>
              <a:rPr lang="en-US" altLang="en-US" sz="2200" baseline="-25000" dirty="0">
                <a:solidFill>
                  <a:schemeClr val="accent2"/>
                </a:solidFill>
              </a:rPr>
              <a:t>0</a:t>
            </a:r>
            <a:r>
              <a:rPr lang="en-US" altLang="en-US" sz="2200" baseline="-25000" dirty="0"/>
              <a:t> </a:t>
            </a:r>
            <a:r>
              <a:rPr lang="en-US" altLang="en-US" sz="2200" dirty="0"/>
              <a:t>0 1 0         0 0 0 	0 0 0</a:t>
            </a:r>
          </a:p>
          <a:p>
            <a:pPr>
              <a:lnSpc>
                <a:spcPct val="90000"/>
              </a:lnSpc>
              <a:buFontTx/>
              <a:buNone/>
              <a:tabLst>
                <a:tab pos="2800350" algn="l"/>
                <a:tab pos="3708400" algn="ctr"/>
              </a:tabLst>
              <a:defRPr/>
            </a:pPr>
            <a:r>
              <a:rPr lang="en-US" altLang="en-US" sz="2200" i="1" dirty="0">
                <a:solidFill>
                  <a:schemeClr val="accent2"/>
                </a:solidFill>
              </a:rPr>
              <a:t>P</a:t>
            </a:r>
            <a:r>
              <a:rPr lang="en-US" altLang="en-US" sz="2200" baseline="-25000" dirty="0">
                <a:solidFill>
                  <a:schemeClr val="accent2"/>
                </a:solidFill>
              </a:rPr>
              <a:t>1</a:t>
            </a:r>
            <a:r>
              <a:rPr lang="en-US" altLang="en-US" sz="2200" baseline="-25000" dirty="0"/>
              <a:t> </a:t>
            </a:r>
            <a:r>
              <a:rPr lang="en-US" altLang="en-US" sz="2200" dirty="0"/>
              <a:t>2 0 0         2 0 2</a:t>
            </a:r>
          </a:p>
          <a:p>
            <a:pPr>
              <a:lnSpc>
                <a:spcPct val="90000"/>
              </a:lnSpc>
              <a:buFontTx/>
              <a:buNone/>
              <a:tabLst>
                <a:tab pos="2800350" algn="l"/>
                <a:tab pos="3708400" algn="ctr"/>
              </a:tabLst>
              <a:defRPr/>
            </a:pPr>
            <a:r>
              <a:rPr lang="en-US" altLang="en-US" sz="2200" i="1" dirty="0">
                <a:solidFill>
                  <a:schemeClr val="accent2"/>
                </a:solidFill>
              </a:rPr>
              <a:t>P</a:t>
            </a:r>
            <a:r>
              <a:rPr lang="en-US" altLang="en-US" sz="2200" baseline="-25000" dirty="0">
                <a:solidFill>
                  <a:schemeClr val="accent2"/>
                </a:solidFill>
              </a:rPr>
              <a:t>2</a:t>
            </a:r>
            <a:r>
              <a:rPr lang="en-US" altLang="en-US" sz="2200" baseline="-25000" dirty="0"/>
              <a:t> </a:t>
            </a:r>
            <a:r>
              <a:rPr lang="en-US" altLang="en-US" sz="2200" dirty="0"/>
              <a:t>3 0 3         0 0 </a:t>
            </a:r>
            <a:r>
              <a:rPr lang="en-US" altLang="en-US" sz="2200" dirty="0">
                <a:solidFill>
                  <a:srgbClr val="FF0000"/>
                </a:solidFill>
              </a:rPr>
              <a:t>1</a:t>
            </a:r>
            <a:r>
              <a:rPr lang="en-US" altLang="en-US" sz="2200" dirty="0"/>
              <a:t> </a:t>
            </a:r>
          </a:p>
          <a:p>
            <a:pPr>
              <a:lnSpc>
                <a:spcPct val="90000"/>
              </a:lnSpc>
              <a:buFontTx/>
              <a:buNone/>
              <a:tabLst>
                <a:tab pos="2800350" algn="l"/>
                <a:tab pos="3708400" algn="ctr"/>
              </a:tabLst>
              <a:defRPr/>
            </a:pPr>
            <a:r>
              <a:rPr lang="en-US" altLang="en-US" sz="2200" i="1" dirty="0">
                <a:solidFill>
                  <a:schemeClr val="accent2"/>
                </a:solidFill>
              </a:rPr>
              <a:t>P</a:t>
            </a:r>
            <a:r>
              <a:rPr lang="en-US" altLang="en-US" sz="2200" baseline="-25000" dirty="0">
                <a:solidFill>
                  <a:schemeClr val="accent2"/>
                </a:solidFill>
              </a:rPr>
              <a:t>3</a:t>
            </a:r>
            <a:r>
              <a:rPr lang="en-US" altLang="en-US" sz="2200" baseline="-25000" dirty="0"/>
              <a:t> </a:t>
            </a:r>
            <a:r>
              <a:rPr lang="en-US" altLang="en-US" sz="2200" dirty="0"/>
              <a:t>2 1 1         1 0 0 </a:t>
            </a:r>
          </a:p>
          <a:p>
            <a:pPr>
              <a:lnSpc>
                <a:spcPct val="90000"/>
              </a:lnSpc>
              <a:buFontTx/>
              <a:buNone/>
              <a:tabLst>
                <a:tab pos="2800350" algn="l"/>
                <a:tab pos="3708400" algn="ctr"/>
              </a:tabLst>
              <a:defRPr/>
            </a:pPr>
            <a:r>
              <a:rPr lang="en-US" altLang="en-US" sz="2200" i="1" dirty="0">
                <a:solidFill>
                  <a:schemeClr val="accent2"/>
                </a:solidFill>
              </a:rPr>
              <a:t>P</a:t>
            </a:r>
            <a:r>
              <a:rPr lang="en-US" altLang="en-US" sz="2200" baseline="-25000" dirty="0">
                <a:solidFill>
                  <a:schemeClr val="accent2"/>
                </a:solidFill>
              </a:rPr>
              <a:t>4</a:t>
            </a:r>
            <a:r>
              <a:rPr lang="en-US" altLang="en-US" sz="2200" baseline="-25000" dirty="0"/>
              <a:t> </a:t>
            </a:r>
            <a:r>
              <a:rPr lang="en-US" altLang="en-US" sz="2200" dirty="0"/>
              <a:t>0 0 2         0 0 2</a:t>
            </a:r>
          </a:p>
          <a:p>
            <a:pPr>
              <a:lnSpc>
                <a:spcPct val="80000"/>
              </a:lnSpc>
              <a:tabLst>
                <a:tab pos="2800350" algn="l"/>
                <a:tab pos="3708400" algn="ctr"/>
              </a:tabLst>
              <a:defRPr/>
            </a:pPr>
            <a:endParaRPr lang="en-US" altLang="en-US" sz="2800" dirty="0"/>
          </a:p>
          <a:p>
            <a:pPr>
              <a:lnSpc>
                <a:spcPct val="80000"/>
              </a:lnSpc>
              <a:buFontTx/>
              <a:buNone/>
              <a:tabLst>
                <a:tab pos="2800350" algn="l"/>
                <a:tab pos="3708400" algn="ctr"/>
              </a:tabLst>
              <a:defRPr/>
            </a:pPr>
            <a:endParaRPr lang="en-US" altLang="en-US" sz="2800" dirty="0"/>
          </a:p>
        </p:txBody>
      </p:sp>
      <p:sp>
        <p:nvSpPr>
          <p:cNvPr id="5" name="TextBox 4">
            <a:extLst>
              <a:ext uri="{FF2B5EF4-FFF2-40B4-BE49-F238E27FC236}">
                <a16:creationId xmlns:a16="http://schemas.microsoft.com/office/drawing/2014/main" id="{6E430184-D84D-41D9-90B2-DCB3A02B2354}"/>
              </a:ext>
            </a:extLst>
          </p:cNvPr>
          <p:cNvSpPr txBox="1">
            <a:spLocks noChangeArrowheads="1"/>
          </p:cNvSpPr>
          <p:nvPr/>
        </p:nvSpPr>
        <p:spPr bwMode="auto">
          <a:xfrm>
            <a:off x="5745163" y="2322513"/>
            <a:ext cx="846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000">
                <a:latin typeface="Comic Sans MS" panose="030F0702030302020204" pitchFamily="66" charset="0"/>
              </a:rPr>
              <a:t>Work</a:t>
            </a:r>
          </a:p>
        </p:txBody>
      </p:sp>
      <p:sp>
        <p:nvSpPr>
          <p:cNvPr id="6" name="Rectangle 5">
            <a:extLst>
              <a:ext uri="{FF2B5EF4-FFF2-40B4-BE49-F238E27FC236}">
                <a16:creationId xmlns:a16="http://schemas.microsoft.com/office/drawing/2014/main" id="{D8B44913-0C52-4293-A6D6-822E2D6DA337}"/>
              </a:ext>
            </a:extLst>
          </p:cNvPr>
          <p:cNvSpPr>
            <a:spLocks noChangeArrowheads="1"/>
          </p:cNvSpPr>
          <p:nvPr/>
        </p:nvSpPr>
        <p:spPr bwMode="auto">
          <a:xfrm>
            <a:off x="5808663" y="3114675"/>
            <a:ext cx="868362"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tabLst>
                <a:tab pos="168275" algn="l"/>
                <a:tab pos="854075" algn="l"/>
                <a:tab pos="2346325" algn="l"/>
                <a:tab pos="3597275" algn="l"/>
              </a:tabLst>
              <a:defRPr>
                <a:solidFill>
                  <a:schemeClr val="tx1"/>
                </a:solidFill>
                <a:latin typeface="Helvetica" panose="020B0604020202020204" pitchFamily="34" charset="0"/>
              </a:defRPr>
            </a:lvl1pPr>
            <a:lvl2pPr marL="742950" indent="-285750">
              <a:spcBef>
                <a:spcPct val="20000"/>
              </a:spcBef>
              <a:buChar char="–"/>
              <a:tabLst>
                <a:tab pos="168275" algn="l"/>
                <a:tab pos="854075" algn="l"/>
                <a:tab pos="2346325" algn="l"/>
                <a:tab pos="3597275" algn="l"/>
              </a:tabLst>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tabLst>
                <a:tab pos="168275" algn="l"/>
                <a:tab pos="854075" algn="l"/>
                <a:tab pos="2346325" algn="l"/>
                <a:tab pos="3597275" algn="l"/>
              </a:tabLst>
              <a:defRPr>
                <a:solidFill>
                  <a:schemeClr val="tx1"/>
                </a:solidFill>
                <a:latin typeface="Helvetica" panose="020B0604020202020204" pitchFamily="34" charset="0"/>
              </a:defRPr>
            </a:lvl3pPr>
            <a:lvl4pPr marL="1600200" indent="-228600">
              <a:spcBef>
                <a:spcPct val="20000"/>
              </a:spcBef>
              <a:buChar char="–"/>
              <a:tabLst>
                <a:tab pos="168275" algn="l"/>
                <a:tab pos="854075" algn="l"/>
                <a:tab pos="2346325" algn="l"/>
                <a:tab pos="3597275" algn="l"/>
              </a:tabLst>
              <a:defRPr>
                <a:solidFill>
                  <a:schemeClr val="tx1"/>
                </a:solidFill>
                <a:latin typeface="Helvetica" panose="020B0604020202020204" pitchFamily="34" charset="0"/>
              </a:defRPr>
            </a:lvl4pPr>
            <a:lvl5pPr marL="2057400" indent="-228600">
              <a:spcBef>
                <a:spcPct val="20000"/>
              </a:spcBef>
              <a:buChar char="»"/>
              <a:tabLst>
                <a:tab pos="168275" algn="l"/>
                <a:tab pos="854075" algn="l"/>
                <a:tab pos="2346325" algn="l"/>
                <a:tab pos="3597275" algn="l"/>
              </a:tabLst>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9pPr>
          </a:lstStyle>
          <a:p>
            <a:pPr algn="ctr">
              <a:lnSpc>
                <a:spcPct val="90000"/>
              </a:lnSpc>
              <a:spcBef>
                <a:spcPct val="0"/>
              </a:spcBef>
              <a:buSzTx/>
              <a:buFontTx/>
              <a:buNone/>
            </a:pPr>
            <a:r>
              <a:rPr lang="en-US" altLang="en-US" sz="2400"/>
              <a:t>0 0 0</a:t>
            </a:r>
          </a:p>
        </p:txBody>
      </p:sp>
      <p:sp>
        <p:nvSpPr>
          <p:cNvPr id="7" name="Rectangle 6">
            <a:extLst>
              <a:ext uri="{FF2B5EF4-FFF2-40B4-BE49-F238E27FC236}">
                <a16:creationId xmlns:a16="http://schemas.microsoft.com/office/drawing/2014/main" id="{71490528-8128-41EF-8838-DAB13A3D9E5C}"/>
              </a:ext>
            </a:extLst>
          </p:cNvPr>
          <p:cNvSpPr>
            <a:spLocks noChangeArrowheads="1"/>
          </p:cNvSpPr>
          <p:nvPr/>
        </p:nvSpPr>
        <p:spPr bwMode="auto">
          <a:xfrm>
            <a:off x="5713413" y="2755900"/>
            <a:ext cx="97631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tabLst>
                <a:tab pos="168275" algn="l"/>
                <a:tab pos="854075" algn="l"/>
                <a:tab pos="2346325" algn="l"/>
                <a:tab pos="3597275" algn="l"/>
              </a:tabLst>
              <a:defRPr>
                <a:solidFill>
                  <a:schemeClr val="tx1"/>
                </a:solidFill>
                <a:latin typeface="Helvetica" panose="020B0604020202020204" pitchFamily="34" charset="0"/>
              </a:defRPr>
            </a:lvl1pPr>
            <a:lvl2pPr marL="742950" indent="-285750">
              <a:spcBef>
                <a:spcPct val="20000"/>
              </a:spcBef>
              <a:buChar char="–"/>
              <a:tabLst>
                <a:tab pos="168275" algn="l"/>
                <a:tab pos="854075" algn="l"/>
                <a:tab pos="2346325" algn="l"/>
                <a:tab pos="3597275" algn="l"/>
              </a:tabLst>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tabLst>
                <a:tab pos="168275" algn="l"/>
                <a:tab pos="854075" algn="l"/>
                <a:tab pos="2346325" algn="l"/>
                <a:tab pos="3597275" algn="l"/>
              </a:tabLst>
              <a:defRPr>
                <a:solidFill>
                  <a:schemeClr val="tx1"/>
                </a:solidFill>
                <a:latin typeface="Helvetica" panose="020B0604020202020204" pitchFamily="34" charset="0"/>
              </a:defRPr>
            </a:lvl3pPr>
            <a:lvl4pPr marL="1600200" indent="-228600">
              <a:spcBef>
                <a:spcPct val="20000"/>
              </a:spcBef>
              <a:buChar char="–"/>
              <a:tabLst>
                <a:tab pos="168275" algn="l"/>
                <a:tab pos="854075" algn="l"/>
                <a:tab pos="2346325" algn="l"/>
                <a:tab pos="3597275" algn="l"/>
              </a:tabLst>
              <a:defRPr>
                <a:solidFill>
                  <a:schemeClr val="tx1"/>
                </a:solidFill>
                <a:latin typeface="Helvetica" panose="020B0604020202020204" pitchFamily="34" charset="0"/>
              </a:defRPr>
            </a:lvl4pPr>
            <a:lvl5pPr marL="2057400" indent="-228600">
              <a:spcBef>
                <a:spcPct val="20000"/>
              </a:spcBef>
              <a:buChar char="»"/>
              <a:tabLst>
                <a:tab pos="168275" algn="l"/>
                <a:tab pos="854075" algn="l"/>
                <a:tab pos="2346325" algn="l"/>
                <a:tab pos="3597275" algn="l"/>
              </a:tabLst>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9pPr>
          </a:lstStyle>
          <a:p>
            <a:pPr algn="ctr">
              <a:lnSpc>
                <a:spcPct val="90000"/>
              </a:lnSpc>
              <a:spcBef>
                <a:spcPct val="0"/>
              </a:spcBef>
              <a:buSzTx/>
              <a:buFontTx/>
              <a:buNone/>
            </a:pPr>
            <a:r>
              <a:rPr lang="en-US" altLang="en-US" sz="2400" i="1"/>
              <a:t>A B C</a:t>
            </a:r>
          </a:p>
        </p:txBody>
      </p:sp>
      <p:sp>
        <p:nvSpPr>
          <p:cNvPr id="8" name="Rectangle 7">
            <a:extLst>
              <a:ext uri="{FF2B5EF4-FFF2-40B4-BE49-F238E27FC236}">
                <a16:creationId xmlns:a16="http://schemas.microsoft.com/office/drawing/2014/main" id="{1B7D08B1-76BC-401E-A1A4-3D76EB3BD9C2}"/>
              </a:ext>
            </a:extLst>
          </p:cNvPr>
          <p:cNvSpPr>
            <a:spLocks noChangeArrowheads="1"/>
          </p:cNvSpPr>
          <p:nvPr/>
        </p:nvSpPr>
        <p:spPr bwMode="auto">
          <a:xfrm>
            <a:off x="7062788" y="2968625"/>
            <a:ext cx="504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i="1"/>
              <a:t>P</a:t>
            </a:r>
            <a:r>
              <a:rPr lang="en-US" altLang="en-US" sz="2400" baseline="-25000"/>
              <a:t>0</a:t>
            </a:r>
            <a:endParaRPr lang="en-US" altLang="en-US" sz="2400"/>
          </a:p>
        </p:txBody>
      </p:sp>
      <p:sp>
        <p:nvSpPr>
          <p:cNvPr id="9" name="Rectangle 8">
            <a:extLst>
              <a:ext uri="{FF2B5EF4-FFF2-40B4-BE49-F238E27FC236}">
                <a16:creationId xmlns:a16="http://schemas.microsoft.com/office/drawing/2014/main" id="{8C5381A2-797C-4216-86C3-15883F02882F}"/>
              </a:ext>
            </a:extLst>
          </p:cNvPr>
          <p:cNvSpPr>
            <a:spLocks noChangeArrowheads="1"/>
          </p:cNvSpPr>
          <p:nvPr/>
        </p:nvSpPr>
        <p:spPr bwMode="auto">
          <a:xfrm>
            <a:off x="5821363" y="3419475"/>
            <a:ext cx="868362"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tabLst>
                <a:tab pos="168275" algn="l"/>
                <a:tab pos="854075" algn="l"/>
                <a:tab pos="2346325" algn="l"/>
                <a:tab pos="3597275" algn="l"/>
              </a:tabLst>
              <a:defRPr>
                <a:solidFill>
                  <a:schemeClr val="tx1"/>
                </a:solidFill>
                <a:latin typeface="Helvetica" panose="020B0604020202020204" pitchFamily="34" charset="0"/>
              </a:defRPr>
            </a:lvl1pPr>
            <a:lvl2pPr marL="742950" indent="-285750">
              <a:spcBef>
                <a:spcPct val="20000"/>
              </a:spcBef>
              <a:buChar char="–"/>
              <a:tabLst>
                <a:tab pos="168275" algn="l"/>
                <a:tab pos="854075" algn="l"/>
                <a:tab pos="2346325" algn="l"/>
                <a:tab pos="3597275" algn="l"/>
              </a:tabLst>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tabLst>
                <a:tab pos="168275" algn="l"/>
                <a:tab pos="854075" algn="l"/>
                <a:tab pos="2346325" algn="l"/>
                <a:tab pos="3597275" algn="l"/>
              </a:tabLst>
              <a:defRPr>
                <a:solidFill>
                  <a:schemeClr val="tx1"/>
                </a:solidFill>
                <a:latin typeface="Helvetica" panose="020B0604020202020204" pitchFamily="34" charset="0"/>
              </a:defRPr>
            </a:lvl3pPr>
            <a:lvl4pPr marL="1600200" indent="-228600">
              <a:spcBef>
                <a:spcPct val="20000"/>
              </a:spcBef>
              <a:buChar char="–"/>
              <a:tabLst>
                <a:tab pos="168275" algn="l"/>
                <a:tab pos="854075" algn="l"/>
                <a:tab pos="2346325" algn="l"/>
                <a:tab pos="3597275" algn="l"/>
              </a:tabLst>
              <a:defRPr>
                <a:solidFill>
                  <a:schemeClr val="tx1"/>
                </a:solidFill>
                <a:latin typeface="Helvetica" panose="020B0604020202020204" pitchFamily="34" charset="0"/>
              </a:defRPr>
            </a:lvl4pPr>
            <a:lvl5pPr marL="2057400" indent="-228600">
              <a:spcBef>
                <a:spcPct val="20000"/>
              </a:spcBef>
              <a:buChar char="»"/>
              <a:tabLst>
                <a:tab pos="168275" algn="l"/>
                <a:tab pos="854075" algn="l"/>
                <a:tab pos="2346325" algn="l"/>
                <a:tab pos="3597275" algn="l"/>
              </a:tabLst>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9pPr>
          </a:lstStyle>
          <a:p>
            <a:pPr algn="ctr">
              <a:lnSpc>
                <a:spcPct val="90000"/>
              </a:lnSpc>
              <a:spcBef>
                <a:spcPct val="0"/>
              </a:spcBef>
              <a:buSzTx/>
              <a:buFontTx/>
              <a:buNone/>
            </a:pPr>
            <a:r>
              <a:rPr lang="en-US" altLang="en-US" sz="2400"/>
              <a:t>0 1 0</a:t>
            </a:r>
          </a:p>
        </p:txBody>
      </p:sp>
      <p:sp>
        <p:nvSpPr>
          <p:cNvPr id="10" name="TextBox 9">
            <a:extLst>
              <a:ext uri="{FF2B5EF4-FFF2-40B4-BE49-F238E27FC236}">
                <a16:creationId xmlns:a16="http://schemas.microsoft.com/office/drawing/2014/main" id="{0A14C98C-3116-436B-A2E0-E8CE9F599E3C}"/>
              </a:ext>
            </a:extLst>
          </p:cNvPr>
          <p:cNvSpPr txBox="1">
            <a:spLocks noChangeArrowheads="1"/>
          </p:cNvSpPr>
          <p:nvPr/>
        </p:nvSpPr>
        <p:spPr bwMode="auto">
          <a:xfrm>
            <a:off x="5443538" y="3381375"/>
            <a:ext cx="365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a:t>+</a:t>
            </a:r>
          </a:p>
        </p:txBody>
      </p:sp>
      <p:cxnSp>
        <p:nvCxnSpPr>
          <p:cNvPr id="11" name="Straight Connector 10">
            <a:extLst>
              <a:ext uri="{FF2B5EF4-FFF2-40B4-BE49-F238E27FC236}">
                <a16:creationId xmlns:a16="http://schemas.microsoft.com/office/drawing/2014/main" id="{6A127C11-C6CC-46A7-BB6F-C2AEAA125CCA}"/>
              </a:ext>
            </a:extLst>
          </p:cNvPr>
          <p:cNvCxnSpPr>
            <a:cxnSpLocks noChangeShapeType="1"/>
          </p:cNvCxnSpPr>
          <p:nvPr/>
        </p:nvCxnSpPr>
        <p:spPr bwMode="auto">
          <a:xfrm>
            <a:off x="5318125" y="3789363"/>
            <a:ext cx="15525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12" name="Rectangle 11">
            <a:extLst>
              <a:ext uri="{FF2B5EF4-FFF2-40B4-BE49-F238E27FC236}">
                <a16:creationId xmlns:a16="http://schemas.microsoft.com/office/drawing/2014/main" id="{F4AE8598-EF14-498A-BDA4-61D6D5FF867C}"/>
              </a:ext>
            </a:extLst>
          </p:cNvPr>
          <p:cNvSpPr>
            <a:spLocks noChangeArrowheads="1"/>
          </p:cNvSpPr>
          <p:nvPr/>
        </p:nvSpPr>
        <p:spPr bwMode="auto">
          <a:xfrm>
            <a:off x="5816600" y="3775075"/>
            <a:ext cx="86995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tabLst>
                <a:tab pos="168275" algn="l"/>
                <a:tab pos="854075" algn="l"/>
                <a:tab pos="2346325" algn="l"/>
                <a:tab pos="3597275" algn="l"/>
              </a:tabLst>
              <a:defRPr>
                <a:solidFill>
                  <a:schemeClr val="tx1"/>
                </a:solidFill>
                <a:latin typeface="Helvetica" panose="020B0604020202020204" pitchFamily="34" charset="0"/>
              </a:defRPr>
            </a:lvl1pPr>
            <a:lvl2pPr marL="742950" indent="-285750">
              <a:spcBef>
                <a:spcPct val="20000"/>
              </a:spcBef>
              <a:buChar char="–"/>
              <a:tabLst>
                <a:tab pos="168275" algn="l"/>
                <a:tab pos="854075" algn="l"/>
                <a:tab pos="2346325" algn="l"/>
                <a:tab pos="3597275" algn="l"/>
              </a:tabLst>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tabLst>
                <a:tab pos="168275" algn="l"/>
                <a:tab pos="854075" algn="l"/>
                <a:tab pos="2346325" algn="l"/>
                <a:tab pos="3597275" algn="l"/>
              </a:tabLst>
              <a:defRPr>
                <a:solidFill>
                  <a:schemeClr val="tx1"/>
                </a:solidFill>
                <a:latin typeface="Helvetica" panose="020B0604020202020204" pitchFamily="34" charset="0"/>
              </a:defRPr>
            </a:lvl3pPr>
            <a:lvl4pPr marL="1600200" indent="-228600">
              <a:spcBef>
                <a:spcPct val="20000"/>
              </a:spcBef>
              <a:buChar char="–"/>
              <a:tabLst>
                <a:tab pos="168275" algn="l"/>
                <a:tab pos="854075" algn="l"/>
                <a:tab pos="2346325" algn="l"/>
                <a:tab pos="3597275" algn="l"/>
              </a:tabLst>
              <a:defRPr>
                <a:solidFill>
                  <a:schemeClr val="tx1"/>
                </a:solidFill>
                <a:latin typeface="Helvetica" panose="020B0604020202020204" pitchFamily="34" charset="0"/>
              </a:defRPr>
            </a:lvl4pPr>
            <a:lvl5pPr marL="2057400" indent="-228600">
              <a:spcBef>
                <a:spcPct val="20000"/>
              </a:spcBef>
              <a:buChar char="»"/>
              <a:tabLst>
                <a:tab pos="168275" algn="l"/>
                <a:tab pos="854075" algn="l"/>
                <a:tab pos="2346325" algn="l"/>
                <a:tab pos="3597275" algn="l"/>
              </a:tabLst>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tabLst>
                <a:tab pos="168275" algn="l"/>
                <a:tab pos="854075" algn="l"/>
                <a:tab pos="2346325" algn="l"/>
                <a:tab pos="3597275" algn="l"/>
              </a:tabLst>
              <a:defRPr>
                <a:solidFill>
                  <a:schemeClr val="tx1"/>
                </a:solidFill>
                <a:latin typeface="Helvetica" panose="020B0604020202020204" pitchFamily="34" charset="0"/>
              </a:defRPr>
            </a:lvl9pPr>
          </a:lstStyle>
          <a:p>
            <a:pPr algn="ctr">
              <a:lnSpc>
                <a:spcPct val="90000"/>
              </a:lnSpc>
              <a:spcBef>
                <a:spcPct val="0"/>
              </a:spcBef>
              <a:buSzTx/>
              <a:buFontTx/>
              <a:buNone/>
            </a:pPr>
            <a:r>
              <a:rPr lang="en-US" altLang="en-US" sz="2400"/>
              <a:t>0 1 0</a:t>
            </a:r>
          </a:p>
        </p:txBody>
      </p:sp>
      <p:sp>
        <p:nvSpPr>
          <p:cNvPr id="13" name="TextBox 12">
            <a:extLst>
              <a:ext uri="{FF2B5EF4-FFF2-40B4-BE49-F238E27FC236}">
                <a16:creationId xmlns:a16="http://schemas.microsoft.com/office/drawing/2014/main" id="{9CDA61B4-E770-448F-97B5-495FA9DFB770}"/>
              </a:ext>
            </a:extLst>
          </p:cNvPr>
          <p:cNvSpPr txBox="1">
            <a:spLocks noChangeArrowheads="1"/>
          </p:cNvSpPr>
          <p:nvPr/>
        </p:nvSpPr>
        <p:spPr bwMode="auto">
          <a:xfrm>
            <a:off x="6870700" y="2309813"/>
            <a:ext cx="1182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000">
                <a:latin typeface="Comic Sans MS" panose="030F0702030302020204" pitchFamily="66" charset="0"/>
              </a:rPr>
              <a:t>Finished</a:t>
            </a:r>
          </a:p>
        </p:txBody>
      </p:sp>
      <p:sp>
        <p:nvSpPr>
          <p:cNvPr id="14" name="Freeform 13">
            <a:extLst>
              <a:ext uri="{FF2B5EF4-FFF2-40B4-BE49-F238E27FC236}">
                <a16:creationId xmlns:a16="http://schemas.microsoft.com/office/drawing/2014/main" id="{2B033630-A113-47A0-82F0-70FD3D250C4E}"/>
              </a:ext>
            </a:extLst>
          </p:cNvPr>
          <p:cNvSpPr>
            <a:spLocks/>
          </p:cNvSpPr>
          <p:nvPr/>
        </p:nvSpPr>
        <p:spPr bwMode="auto">
          <a:xfrm>
            <a:off x="2851150" y="3173413"/>
            <a:ext cx="201613" cy="136525"/>
          </a:xfrm>
          <a:custGeom>
            <a:avLst/>
            <a:gdLst>
              <a:gd name="T0" fmla="*/ 0 w 201706"/>
              <a:gd name="T1" fmla="*/ 73447 h 135623"/>
              <a:gd name="T2" fmla="*/ 52631 w 201706"/>
              <a:gd name="T3" fmla="*/ 183624 h 135623"/>
              <a:gd name="T4" fmla="*/ 197353 w 201706"/>
              <a:gd name="T5" fmla="*/ 0 h 135623"/>
              <a:gd name="T6" fmla="*/ 0 60000 65536"/>
              <a:gd name="T7" fmla="*/ 0 60000 65536"/>
              <a:gd name="T8" fmla="*/ 0 60000 65536"/>
              <a:gd name="T9" fmla="*/ 0 w 201706"/>
              <a:gd name="T10" fmla="*/ 0 h 135623"/>
              <a:gd name="T11" fmla="*/ 201706 w 201706"/>
              <a:gd name="T12" fmla="*/ 135623 h 135623"/>
            </a:gdLst>
            <a:ahLst/>
            <a:cxnLst>
              <a:cxn ang="T6">
                <a:pos x="T0" y="T1"/>
              </a:cxn>
              <a:cxn ang="T7">
                <a:pos x="T2" y="T3"/>
              </a:cxn>
              <a:cxn ang="T8">
                <a:pos x="T4" y="T5"/>
              </a:cxn>
            </a:cxnLst>
            <a:rect l="T9" t="T10" r="T11" b="T12"/>
            <a:pathLst>
              <a:path w="201706" h="135623">
                <a:moveTo>
                  <a:pt x="0" y="53788"/>
                </a:moveTo>
                <a:cubicBezTo>
                  <a:pt x="10085" y="98611"/>
                  <a:pt x="20170" y="143435"/>
                  <a:pt x="53788" y="134470"/>
                </a:cubicBezTo>
                <a:cubicBezTo>
                  <a:pt x="87406" y="125505"/>
                  <a:pt x="144556" y="62752"/>
                  <a:pt x="201706"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SG"/>
          </a:p>
        </p:txBody>
      </p:sp>
      <p:grpSp>
        <p:nvGrpSpPr>
          <p:cNvPr id="2" name="Group 15">
            <a:extLst>
              <a:ext uri="{FF2B5EF4-FFF2-40B4-BE49-F238E27FC236}">
                <a16:creationId xmlns:a16="http://schemas.microsoft.com/office/drawing/2014/main" id="{D1F0D008-07A9-4673-A62C-3B7F27EC86C3}"/>
              </a:ext>
            </a:extLst>
          </p:cNvPr>
          <p:cNvGrpSpPr>
            <a:grpSpLocks/>
          </p:cNvGrpSpPr>
          <p:nvPr/>
        </p:nvGrpSpPr>
        <p:grpSpPr bwMode="auto">
          <a:xfrm>
            <a:off x="2717800" y="3443288"/>
            <a:ext cx="442913" cy="1885950"/>
            <a:chOff x="3487016" y="3443916"/>
            <a:chExt cx="444354" cy="1886096"/>
          </a:xfrm>
        </p:grpSpPr>
        <p:sp>
          <p:nvSpPr>
            <p:cNvPr id="98319" name="TextBox 14">
              <a:extLst>
                <a:ext uri="{FF2B5EF4-FFF2-40B4-BE49-F238E27FC236}">
                  <a16:creationId xmlns:a16="http://schemas.microsoft.com/office/drawing/2014/main" id="{76D14EAE-D52E-44A3-914D-3334CFC65E5F}"/>
                </a:ext>
              </a:extLst>
            </p:cNvPr>
            <p:cNvSpPr txBox="1">
              <a:spLocks noChangeArrowheads="1"/>
            </p:cNvSpPr>
            <p:nvPr/>
          </p:nvSpPr>
          <p:spPr bwMode="auto">
            <a:xfrm>
              <a:off x="3487016" y="3905581"/>
              <a:ext cx="4443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a:solidFill>
                    <a:srgbClr val="FF0000"/>
                  </a:solidFill>
                  <a:sym typeface="Wingdings" panose="05000000000000000000" pitchFamily="2" charset="2"/>
                </a:rPr>
                <a:t></a:t>
              </a:r>
              <a:endParaRPr lang="en-US" altLang="en-US" sz="2400">
                <a:solidFill>
                  <a:srgbClr val="FF0000"/>
                </a:solidFill>
              </a:endParaRPr>
            </a:p>
          </p:txBody>
        </p:sp>
        <p:sp>
          <p:nvSpPr>
            <p:cNvPr id="98320" name="TextBox 21">
              <a:extLst>
                <a:ext uri="{FF2B5EF4-FFF2-40B4-BE49-F238E27FC236}">
                  <a16:creationId xmlns:a16="http://schemas.microsoft.com/office/drawing/2014/main" id="{E2456CC2-2F14-4060-A27B-526599B94FC3}"/>
                </a:ext>
              </a:extLst>
            </p:cNvPr>
            <p:cNvSpPr txBox="1">
              <a:spLocks noChangeArrowheads="1"/>
            </p:cNvSpPr>
            <p:nvPr/>
          </p:nvSpPr>
          <p:spPr bwMode="auto">
            <a:xfrm>
              <a:off x="3487017" y="3443916"/>
              <a:ext cx="4443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a:solidFill>
                    <a:srgbClr val="FF0000"/>
                  </a:solidFill>
                  <a:sym typeface="Wingdings" panose="05000000000000000000" pitchFamily="2" charset="2"/>
                </a:rPr>
                <a:t></a:t>
              </a:r>
              <a:endParaRPr lang="en-US" altLang="en-US" sz="2400">
                <a:solidFill>
                  <a:srgbClr val="FF0000"/>
                </a:solidFill>
              </a:endParaRPr>
            </a:p>
          </p:txBody>
        </p:sp>
        <p:sp>
          <p:nvSpPr>
            <p:cNvPr id="98321" name="TextBox 22">
              <a:extLst>
                <a:ext uri="{FF2B5EF4-FFF2-40B4-BE49-F238E27FC236}">
                  <a16:creationId xmlns:a16="http://schemas.microsoft.com/office/drawing/2014/main" id="{AF80F5BA-3823-4AC6-A511-82C012A5FB8D}"/>
                </a:ext>
              </a:extLst>
            </p:cNvPr>
            <p:cNvSpPr txBox="1">
              <a:spLocks noChangeArrowheads="1"/>
            </p:cNvSpPr>
            <p:nvPr/>
          </p:nvSpPr>
          <p:spPr bwMode="auto">
            <a:xfrm>
              <a:off x="3487017" y="4406682"/>
              <a:ext cx="4443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a:solidFill>
                    <a:srgbClr val="FF0000"/>
                  </a:solidFill>
                  <a:sym typeface="Wingdings" panose="05000000000000000000" pitchFamily="2" charset="2"/>
                </a:rPr>
                <a:t></a:t>
              </a:r>
              <a:endParaRPr lang="en-US" altLang="en-US" sz="2400">
                <a:solidFill>
                  <a:srgbClr val="FF0000"/>
                </a:solidFill>
              </a:endParaRPr>
            </a:p>
          </p:txBody>
        </p:sp>
        <p:sp>
          <p:nvSpPr>
            <p:cNvPr id="98322" name="TextBox 23">
              <a:extLst>
                <a:ext uri="{FF2B5EF4-FFF2-40B4-BE49-F238E27FC236}">
                  <a16:creationId xmlns:a16="http://schemas.microsoft.com/office/drawing/2014/main" id="{611172AF-A3FF-4BE4-A193-69F9799EDB31}"/>
                </a:ext>
              </a:extLst>
            </p:cNvPr>
            <p:cNvSpPr txBox="1">
              <a:spLocks noChangeArrowheads="1"/>
            </p:cNvSpPr>
            <p:nvPr/>
          </p:nvSpPr>
          <p:spPr bwMode="auto">
            <a:xfrm>
              <a:off x="3487017" y="4868347"/>
              <a:ext cx="4443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lgn="ctr">
                <a:spcBef>
                  <a:spcPct val="0"/>
                </a:spcBef>
                <a:buSzTx/>
                <a:buFontTx/>
                <a:buNone/>
              </a:pPr>
              <a:r>
                <a:rPr lang="en-US" altLang="en-US" sz="2400">
                  <a:solidFill>
                    <a:srgbClr val="FF0000"/>
                  </a:solidFill>
                  <a:sym typeface="Wingdings" panose="05000000000000000000" pitchFamily="2" charset="2"/>
                </a:rPr>
                <a:t></a:t>
              </a:r>
              <a:endParaRPr lang="en-US" altLang="en-US" sz="2400">
                <a:solidFill>
                  <a:srgbClr val="FF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2" grpId="0"/>
      <p:bldP spid="1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Footer Placeholder 3">
            <a:extLst>
              <a:ext uri="{FF2B5EF4-FFF2-40B4-BE49-F238E27FC236}">
                <a16:creationId xmlns:a16="http://schemas.microsoft.com/office/drawing/2014/main" id="{08A85074-695F-4CB8-8F40-DF146A58671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99330" name="Rectangle 2">
            <a:extLst>
              <a:ext uri="{FF2B5EF4-FFF2-40B4-BE49-F238E27FC236}">
                <a16:creationId xmlns:a16="http://schemas.microsoft.com/office/drawing/2014/main" id="{0AA8747C-E8FE-4999-AD01-DAAAFE3AAA5D}"/>
              </a:ext>
            </a:extLst>
          </p:cNvPr>
          <p:cNvSpPr>
            <a:spLocks noGrp="1" noChangeArrowheads="1"/>
          </p:cNvSpPr>
          <p:nvPr>
            <p:ph type="title"/>
          </p:nvPr>
        </p:nvSpPr>
        <p:spPr/>
        <p:txBody>
          <a:bodyPr/>
          <a:lstStyle/>
          <a:p>
            <a:r>
              <a:rPr lang="en-US" altLang="en-US"/>
              <a:t>Example of Detection Algorithm (Cont.)</a:t>
            </a:r>
          </a:p>
        </p:txBody>
      </p:sp>
      <p:sp>
        <p:nvSpPr>
          <p:cNvPr id="99331" name="Rectangle 3">
            <a:extLst>
              <a:ext uri="{FF2B5EF4-FFF2-40B4-BE49-F238E27FC236}">
                <a16:creationId xmlns:a16="http://schemas.microsoft.com/office/drawing/2014/main" id="{6CDBE3D3-A309-4C94-872C-9182AAC5EEF8}"/>
              </a:ext>
            </a:extLst>
          </p:cNvPr>
          <p:cNvSpPr>
            <a:spLocks noGrp="1" noChangeArrowheads="1"/>
          </p:cNvSpPr>
          <p:nvPr>
            <p:ph type="body" idx="1"/>
          </p:nvPr>
        </p:nvSpPr>
        <p:spPr>
          <a:xfrm>
            <a:off x="582613" y="1246188"/>
            <a:ext cx="8126412" cy="4965700"/>
          </a:xfrm>
        </p:spPr>
        <p:txBody>
          <a:bodyPr/>
          <a:lstStyle/>
          <a:p>
            <a:pPr>
              <a:lnSpc>
                <a:spcPct val="90000"/>
              </a:lnSpc>
              <a:tabLst>
                <a:tab pos="2800350" algn="l"/>
                <a:tab pos="3708400" algn="ctr"/>
              </a:tabLst>
            </a:pPr>
            <a:r>
              <a:rPr lang="en-US" altLang="en-US" sz="2800"/>
              <a:t>State of system?</a:t>
            </a:r>
          </a:p>
          <a:p>
            <a:pPr lvl="4">
              <a:lnSpc>
                <a:spcPct val="90000"/>
              </a:lnSpc>
              <a:tabLst>
                <a:tab pos="2800350" algn="l"/>
                <a:tab pos="3708400" algn="ctr"/>
              </a:tabLst>
            </a:pPr>
            <a:endParaRPr lang="en-US" altLang="en-US" sz="1200"/>
          </a:p>
          <a:p>
            <a:pPr lvl="1">
              <a:lnSpc>
                <a:spcPct val="90000"/>
              </a:lnSpc>
              <a:tabLst>
                <a:tab pos="2800350" algn="l"/>
                <a:tab pos="3708400" algn="ctr"/>
              </a:tabLst>
            </a:pPr>
            <a:r>
              <a:rPr lang="en-US" altLang="en-US" sz="2800"/>
              <a:t>Can reclaim resources held by process </a:t>
            </a:r>
            <a:r>
              <a:rPr lang="en-US" altLang="en-US" sz="2800" i="1"/>
              <a:t>P</a:t>
            </a:r>
            <a:r>
              <a:rPr lang="en-US" altLang="en-US" sz="2800" baseline="-25000"/>
              <a:t>0</a:t>
            </a:r>
            <a:r>
              <a:rPr lang="en-US" altLang="en-US" sz="2800"/>
              <a:t>, but insufficient resources to fulfill other process requests</a:t>
            </a:r>
          </a:p>
          <a:p>
            <a:pPr lvl="4">
              <a:lnSpc>
                <a:spcPct val="90000"/>
              </a:lnSpc>
              <a:tabLst>
                <a:tab pos="2800350" algn="l"/>
                <a:tab pos="3708400" algn="ctr"/>
              </a:tabLst>
            </a:pPr>
            <a:endParaRPr lang="en-US" altLang="en-US" sz="1200"/>
          </a:p>
          <a:p>
            <a:pPr lvl="1">
              <a:lnSpc>
                <a:spcPct val="90000"/>
              </a:lnSpc>
              <a:tabLst>
                <a:tab pos="2800350" algn="l"/>
                <a:tab pos="3708400" algn="ctr"/>
              </a:tabLst>
            </a:pPr>
            <a:r>
              <a:rPr lang="en-US" altLang="en-US" sz="2800"/>
              <a:t>Deadlock exists, consisting of processes </a:t>
            </a:r>
            <a:r>
              <a:rPr lang="en-US" altLang="en-US" sz="2800" i="1"/>
              <a:t>P</a:t>
            </a:r>
            <a:r>
              <a:rPr lang="en-US" altLang="en-US" sz="2800" baseline="-25000"/>
              <a:t>1</a:t>
            </a:r>
            <a:r>
              <a:rPr lang="en-US" altLang="en-US" sz="2800"/>
              <a:t>, </a:t>
            </a:r>
            <a:r>
              <a:rPr lang="en-US" altLang="en-US" sz="2800" baseline="-25000"/>
              <a:t> </a:t>
            </a:r>
            <a:r>
              <a:rPr lang="en-US" altLang="en-US" sz="2800" i="1"/>
              <a:t>P</a:t>
            </a:r>
            <a:r>
              <a:rPr lang="en-US" altLang="en-US" sz="2800" baseline="-25000"/>
              <a:t>2</a:t>
            </a:r>
            <a:r>
              <a:rPr lang="en-US" altLang="en-US" sz="2800"/>
              <a:t>, </a:t>
            </a:r>
            <a:r>
              <a:rPr lang="en-US" altLang="en-US" sz="2800" i="1"/>
              <a:t>P</a:t>
            </a:r>
            <a:r>
              <a:rPr lang="en-US" altLang="en-US" sz="2800" baseline="-25000"/>
              <a:t>3</a:t>
            </a:r>
            <a:r>
              <a:rPr lang="en-US" altLang="en-US" sz="2800"/>
              <a:t>, and </a:t>
            </a:r>
            <a:r>
              <a:rPr lang="en-US" altLang="en-US" sz="2800" i="1"/>
              <a:t>P</a:t>
            </a:r>
            <a:r>
              <a:rPr lang="en-US" altLang="en-US" sz="2800" baseline="-25000"/>
              <a:t>4</a:t>
            </a:r>
            <a:endParaRPr lang="en-US" altLang="en-US" sz="28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C0BE4-A6C1-B7DA-5DD9-FED4750F1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C9039-BE1B-C16C-679B-10CF267A0997}"/>
              </a:ext>
            </a:extLst>
          </p:cNvPr>
          <p:cNvSpPr>
            <a:spLocks noGrp="1"/>
          </p:cNvSpPr>
          <p:nvPr>
            <p:ph type="title"/>
          </p:nvPr>
        </p:nvSpPr>
        <p:spPr/>
        <p:txBody>
          <a:bodyPr/>
          <a:lstStyle/>
          <a:p>
            <a:r>
              <a:rPr lang="en-US" dirty="0"/>
              <a:t>Course Overview</a:t>
            </a:r>
          </a:p>
        </p:txBody>
      </p:sp>
      <p:sp>
        <p:nvSpPr>
          <p:cNvPr id="4" name="Footer Placeholder 3">
            <a:extLst>
              <a:ext uri="{FF2B5EF4-FFF2-40B4-BE49-F238E27FC236}">
                <a16:creationId xmlns:a16="http://schemas.microsoft.com/office/drawing/2014/main" id="{5C8FD2DC-CDC9-D952-1AC4-9C7F134EA549}"/>
              </a:ext>
            </a:extLst>
          </p:cNvPr>
          <p:cNvSpPr>
            <a:spLocks noGrp="1"/>
          </p:cNvSpPr>
          <p:nvPr>
            <p:ph type="ftr" sz="quarter" idx="10"/>
          </p:nvPr>
        </p:nvSpPr>
        <p:spPr/>
        <p:txBody>
          <a:bodyPr/>
          <a:lstStyle/>
          <a:p>
            <a:pPr>
              <a:defRPr/>
            </a:pPr>
            <a:r>
              <a:rPr lang="en-US"/>
              <a:t>Operating Systems</a:t>
            </a:r>
          </a:p>
          <a:p>
            <a:pPr>
              <a:defRPr/>
            </a:pPr>
            <a:endParaRPr lang="en-US"/>
          </a:p>
        </p:txBody>
      </p:sp>
      <p:sp>
        <p:nvSpPr>
          <p:cNvPr id="5" name="TextBox 4">
            <a:extLst>
              <a:ext uri="{FF2B5EF4-FFF2-40B4-BE49-F238E27FC236}">
                <a16:creationId xmlns:a16="http://schemas.microsoft.com/office/drawing/2014/main" id="{C3EF2BA5-3683-C87F-E1AA-EA463DC82A75}"/>
              </a:ext>
            </a:extLst>
          </p:cNvPr>
          <p:cNvSpPr txBox="1"/>
          <p:nvPr/>
        </p:nvSpPr>
        <p:spPr>
          <a:xfrm>
            <a:off x="3306871" y="1114817"/>
            <a:ext cx="2743200" cy="646331"/>
          </a:xfrm>
          <a:prstGeom prst="rect">
            <a:avLst/>
          </a:prstGeom>
          <a:noFill/>
        </p:spPr>
        <p:txBody>
          <a:bodyPr wrap="square" rtlCol="0">
            <a:spAutoFit/>
          </a:bodyPr>
          <a:lstStyle/>
          <a:p>
            <a:pPr algn="ctr"/>
            <a:r>
              <a:rPr lang="en-US" sz="3600" u="sng" dirty="0"/>
              <a:t>OS goals</a:t>
            </a:r>
          </a:p>
        </p:txBody>
      </p:sp>
      <p:sp>
        <p:nvSpPr>
          <p:cNvPr id="6" name="TextBox 5">
            <a:extLst>
              <a:ext uri="{FF2B5EF4-FFF2-40B4-BE49-F238E27FC236}">
                <a16:creationId xmlns:a16="http://schemas.microsoft.com/office/drawing/2014/main" id="{EC78D68D-54C8-6159-A698-E1DBC922A0F3}"/>
              </a:ext>
            </a:extLst>
          </p:cNvPr>
          <p:cNvSpPr txBox="1"/>
          <p:nvPr/>
        </p:nvSpPr>
        <p:spPr>
          <a:xfrm>
            <a:off x="703545" y="2190096"/>
            <a:ext cx="2290176" cy="954107"/>
          </a:xfrm>
          <a:prstGeom prst="rect">
            <a:avLst/>
          </a:prstGeom>
          <a:noFill/>
        </p:spPr>
        <p:txBody>
          <a:bodyPr wrap="square" rtlCol="0">
            <a:spAutoFit/>
          </a:bodyPr>
          <a:lstStyle/>
          <a:p>
            <a:pPr algn="ctr"/>
            <a:r>
              <a:rPr lang="en-US" sz="2800" dirty="0"/>
              <a:t>CPU management</a:t>
            </a:r>
          </a:p>
        </p:txBody>
      </p:sp>
      <p:sp>
        <p:nvSpPr>
          <p:cNvPr id="7" name="TextBox 6">
            <a:extLst>
              <a:ext uri="{FF2B5EF4-FFF2-40B4-BE49-F238E27FC236}">
                <a16:creationId xmlns:a16="http://schemas.microsoft.com/office/drawing/2014/main" id="{C537E43D-7164-C92D-A2A4-1723EB555293}"/>
              </a:ext>
            </a:extLst>
          </p:cNvPr>
          <p:cNvSpPr txBox="1"/>
          <p:nvPr/>
        </p:nvSpPr>
        <p:spPr>
          <a:xfrm>
            <a:off x="3533383" y="2213359"/>
            <a:ext cx="2290176" cy="954107"/>
          </a:xfrm>
          <a:prstGeom prst="rect">
            <a:avLst/>
          </a:prstGeom>
          <a:noFill/>
        </p:spPr>
        <p:txBody>
          <a:bodyPr wrap="square" rtlCol="0">
            <a:spAutoFit/>
          </a:bodyPr>
          <a:lstStyle/>
          <a:p>
            <a:pPr algn="ctr"/>
            <a:r>
              <a:rPr lang="en-US" sz="2800" dirty="0"/>
              <a:t>Memory management</a:t>
            </a:r>
          </a:p>
        </p:txBody>
      </p:sp>
      <p:sp>
        <p:nvSpPr>
          <p:cNvPr id="8" name="TextBox 7">
            <a:extLst>
              <a:ext uri="{FF2B5EF4-FFF2-40B4-BE49-F238E27FC236}">
                <a16:creationId xmlns:a16="http://schemas.microsoft.com/office/drawing/2014/main" id="{59D040EB-1282-AFE3-9D08-E7E87CF05862}"/>
              </a:ext>
            </a:extLst>
          </p:cNvPr>
          <p:cNvSpPr txBox="1"/>
          <p:nvPr/>
        </p:nvSpPr>
        <p:spPr>
          <a:xfrm>
            <a:off x="6270581" y="2209644"/>
            <a:ext cx="2290176" cy="954107"/>
          </a:xfrm>
          <a:prstGeom prst="rect">
            <a:avLst/>
          </a:prstGeom>
          <a:noFill/>
        </p:spPr>
        <p:txBody>
          <a:bodyPr wrap="square" rtlCol="0">
            <a:spAutoFit/>
          </a:bodyPr>
          <a:lstStyle/>
          <a:p>
            <a:pPr algn="ctr"/>
            <a:r>
              <a:rPr lang="en-US" sz="2800" dirty="0"/>
              <a:t>Filesystem management</a:t>
            </a:r>
          </a:p>
        </p:txBody>
      </p:sp>
      <p:cxnSp>
        <p:nvCxnSpPr>
          <p:cNvPr id="10" name="Straight Arrow Connector 9">
            <a:extLst>
              <a:ext uri="{FF2B5EF4-FFF2-40B4-BE49-F238E27FC236}">
                <a16:creationId xmlns:a16="http://schemas.microsoft.com/office/drawing/2014/main" id="{6E4701A5-A6A7-9274-6DB3-8B735ABAA361}"/>
              </a:ext>
            </a:extLst>
          </p:cNvPr>
          <p:cNvCxnSpPr>
            <a:stCxn id="5" idx="2"/>
            <a:endCxn id="6" idx="0"/>
          </p:cNvCxnSpPr>
          <p:nvPr/>
        </p:nvCxnSpPr>
        <p:spPr bwMode="auto">
          <a:xfrm flipH="1">
            <a:off x="1848633" y="1761148"/>
            <a:ext cx="2829838" cy="428948"/>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9F90CC5E-5367-9654-6D10-A8E0D029E172}"/>
              </a:ext>
            </a:extLst>
          </p:cNvPr>
          <p:cNvCxnSpPr>
            <a:cxnSpLocks/>
            <a:stCxn id="5" idx="2"/>
            <a:endCxn id="8" idx="0"/>
          </p:cNvCxnSpPr>
          <p:nvPr/>
        </p:nvCxnSpPr>
        <p:spPr bwMode="auto">
          <a:xfrm>
            <a:off x="4678471" y="1761148"/>
            <a:ext cx="2737198" cy="44849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708EF0ED-88CF-A57E-7D68-AA53AC6DAF2D}"/>
              </a:ext>
            </a:extLst>
          </p:cNvPr>
          <p:cNvCxnSpPr>
            <a:cxnSpLocks/>
            <a:stCxn id="5" idx="2"/>
            <a:endCxn id="7" idx="0"/>
          </p:cNvCxnSpPr>
          <p:nvPr/>
        </p:nvCxnSpPr>
        <p:spPr bwMode="auto">
          <a:xfrm>
            <a:off x="4678471" y="1761148"/>
            <a:ext cx="0" cy="452211"/>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0" name="TextBox 19">
            <a:extLst>
              <a:ext uri="{FF2B5EF4-FFF2-40B4-BE49-F238E27FC236}">
                <a16:creationId xmlns:a16="http://schemas.microsoft.com/office/drawing/2014/main" id="{2B00A1A3-664D-83C8-6136-949A225A053D}"/>
              </a:ext>
            </a:extLst>
          </p:cNvPr>
          <p:cNvSpPr txBox="1"/>
          <p:nvPr/>
        </p:nvSpPr>
        <p:spPr>
          <a:xfrm>
            <a:off x="1162050" y="5227761"/>
            <a:ext cx="3299304" cy="646331"/>
          </a:xfrm>
          <a:prstGeom prst="rect">
            <a:avLst/>
          </a:prstGeom>
          <a:noFill/>
          <a:ln>
            <a:solidFill>
              <a:schemeClr val="tx1"/>
            </a:solidFill>
          </a:ln>
        </p:spPr>
        <p:txBody>
          <a:bodyPr wrap="square" rtlCol="0">
            <a:spAutoFit/>
          </a:bodyPr>
          <a:lstStyle/>
          <a:p>
            <a:pPr marL="342900" indent="-342900">
              <a:buFontTx/>
              <a:buChar char="-"/>
            </a:pPr>
            <a:r>
              <a:rPr lang="en-US" i="1" dirty="0">
                <a:solidFill>
                  <a:srgbClr val="FF0000"/>
                </a:solidFill>
              </a:rPr>
              <a:t>Synchronization (L5-6)</a:t>
            </a:r>
          </a:p>
          <a:p>
            <a:pPr marL="342900" indent="-342900">
              <a:buFontTx/>
              <a:buChar char="-"/>
            </a:pPr>
            <a:r>
              <a:rPr lang="en-US" i="1" dirty="0">
                <a:solidFill>
                  <a:srgbClr val="FF0000"/>
                </a:solidFill>
              </a:rPr>
              <a:t>Deadlocks (L7)</a:t>
            </a:r>
          </a:p>
        </p:txBody>
      </p:sp>
      <p:sp>
        <p:nvSpPr>
          <p:cNvPr id="22" name="TextBox 21">
            <a:extLst>
              <a:ext uri="{FF2B5EF4-FFF2-40B4-BE49-F238E27FC236}">
                <a16:creationId xmlns:a16="http://schemas.microsoft.com/office/drawing/2014/main" id="{EB5AD737-6A0F-7DE1-5588-F1E7DB4A1078}"/>
              </a:ext>
            </a:extLst>
          </p:cNvPr>
          <p:cNvSpPr txBox="1"/>
          <p:nvPr/>
        </p:nvSpPr>
        <p:spPr>
          <a:xfrm>
            <a:off x="5010150" y="5366260"/>
            <a:ext cx="3550607" cy="369332"/>
          </a:xfrm>
          <a:prstGeom prst="rect">
            <a:avLst/>
          </a:prstGeom>
          <a:noFill/>
          <a:ln>
            <a:solidFill>
              <a:schemeClr val="tx1"/>
            </a:solidFill>
          </a:ln>
        </p:spPr>
        <p:txBody>
          <a:bodyPr wrap="square" rtlCol="0">
            <a:spAutoFit/>
          </a:bodyPr>
          <a:lstStyle/>
          <a:p>
            <a:pPr algn="ctr"/>
            <a:r>
              <a:rPr lang="en-US" i="1" dirty="0"/>
              <a:t>I/O &amp; disk (L12)</a:t>
            </a:r>
          </a:p>
        </p:txBody>
      </p:sp>
      <p:cxnSp>
        <p:nvCxnSpPr>
          <p:cNvPr id="24" name="Straight Arrow Connector 23">
            <a:extLst>
              <a:ext uri="{FF2B5EF4-FFF2-40B4-BE49-F238E27FC236}">
                <a16:creationId xmlns:a16="http://schemas.microsoft.com/office/drawing/2014/main" id="{83289540-B40E-77AD-BD97-68FC983A536F}"/>
              </a:ext>
            </a:extLst>
          </p:cNvPr>
          <p:cNvCxnSpPr>
            <a:cxnSpLocks/>
            <a:stCxn id="6" idx="2"/>
            <a:endCxn id="19" idx="0"/>
          </p:cNvCxnSpPr>
          <p:nvPr/>
        </p:nvCxnSpPr>
        <p:spPr bwMode="auto">
          <a:xfrm flipH="1">
            <a:off x="1750121" y="3144203"/>
            <a:ext cx="98512" cy="44716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8299DA3E-8B72-03FF-366C-E64CBD812CC2}"/>
              </a:ext>
            </a:extLst>
          </p:cNvPr>
          <p:cNvCxnSpPr>
            <a:cxnSpLocks/>
            <a:stCxn id="7" idx="2"/>
            <a:endCxn id="21" idx="0"/>
          </p:cNvCxnSpPr>
          <p:nvPr/>
        </p:nvCxnSpPr>
        <p:spPr bwMode="auto">
          <a:xfrm flipH="1">
            <a:off x="4675601" y="3167466"/>
            <a:ext cx="2870" cy="409917"/>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7826799A-3363-9DAD-5081-FD1661F89691}"/>
              </a:ext>
            </a:extLst>
          </p:cNvPr>
          <p:cNvCxnSpPr>
            <a:cxnSpLocks/>
            <a:stCxn id="8" idx="2"/>
            <a:endCxn id="23" idx="0"/>
          </p:cNvCxnSpPr>
          <p:nvPr/>
        </p:nvCxnSpPr>
        <p:spPr bwMode="auto">
          <a:xfrm>
            <a:off x="7415669" y="3163751"/>
            <a:ext cx="111820" cy="552319"/>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2104DD30-9708-3F3D-4331-E7B498B795DF}"/>
              </a:ext>
            </a:extLst>
          </p:cNvPr>
          <p:cNvCxnSpPr>
            <a:cxnSpLocks/>
            <a:stCxn id="6" idx="2"/>
          </p:cNvCxnSpPr>
          <p:nvPr/>
        </p:nvCxnSpPr>
        <p:spPr bwMode="auto">
          <a:xfrm>
            <a:off x="1848633" y="3144203"/>
            <a:ext cx="884653" cy="190378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19" name="TextBox 18">
            <a:extLst>
              <a:ext uri="{FF2B5EF4-FFF2-40B4-BE49-F238E27FC236}">
                <a16:creationId xmlns:a16="http://schemas.microsoft.com/office/drawing/2014/main" id="{65D20767-250D-F3B2-D6BD-EFE2A439D290}"/>
              </a:ext>
            </a:extLst>
          </p:cNvPr>
          <p:cNvSpPr txBox="1"/>
          <p:nvPr/>
        </p:nvSpPr>
        <p:spPr>
          <a:xfrm>
            <a:off x="506521" y="3591369"/>
            <a:ext cx="2487200" cy="646331"/>
          </a:xfrm>
          <a:prstGeom prst="rect">
            <a:avLst/>
          </a:prstGeom>
          <a:solidFill>
            <a:srgbClr val="FFFFFF">
              <a:alpha val="77647"/>
            </a:srgbClr>
          </a:solidFill>
          <a:ln>
            <a:solidFill>
              <a:schemeClr val="tx1"/>
            </a:solidFill>
          </a:ln>
        </p:spPr>
        <p:txBody>
          <a:bodyPr wrap="square" rtlCol="0">
            <a:spAutoFit/>
          </a:bodyPr>
          <a:lstStyle/>
          <a:p>
            <a:pPr marL="342900" indent="-342900">
              <a:buFontTx/>
              <a:buChar char="-"/>
            </a:pPr>
            <a:r>
              <a:rPr lang="en-US" i="1" dirty="0">
                <a:solidFill>
                  <a:srgbClr val="FF0000"/>
                </a:solidFill>
              </a:rPr>
              <a:t>Processes (L2)</a:t>
            </a:r>
          </a:p>
          <a:p>
            <a:pPr marL="342900" indent="-342900">
              <a:buFontTx/>
              <a:buChar char="-"/>
            </a:pPr>
            <a:r>
              <a:rPr lang="en-US" i="1" dirty="0">
                <a:solidFill>
                  <a:srgbClr val="FF0000"/>
                </a:solidFill>
              </a:rPr>
              <a:t>Scheduling (L3)</a:t>
            </a:r>
          </a:p>
        </p:txBody>
      </p:sp>
      <p:cxnSp>
        <p:nvCxnSpPr>
          <p:cNvPr id="37" name="Straight Arrow Connector 36">
            <a:extLst>
              <a:ext uri="{FF2B5EF4-FFF2-40B4-BE49-F238E27FC236}">
                <a16:creationId xmlns:a16="http://schemas.microsoft.com/office/drawing/2014/main" id="{56D0200A-9542-5ADD-3644-93BEEA5B4C1A}"/>
              </a:ext>
            </a:extLst>
          </p:cNvPr>
          <p:cNvCxnSpPr>
            <a:cxnSpLocks/>
            <a:stCxn id="7" idx="2"/>
          </p:cNvCxnSpPr>
          <p:nvPr/>
        </p:nvCxnSpPr>
        <p:spPr bwMode="auto">
          <a:xfrm flipH="1">
            <a:off x="3013814" y="3167466"/>
            <a:ext cx="1664657" cy="1880523"/>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6D27F1E4-E72B-0ED8-E586-30BC77E23B35}"/>
              </a:ext>
            </a:extLst>
          </p:cNvPr>
          <p:cNvCxnSpPr>
            <a:cxnSpLocks/>
            <a:stCxn id="8" idx="2"/>
          </p:cNvCxnSpPr>
          <p:nvPr/>
        </p:nvCxnSpPr>
        <p:spPr bwMode="auto">
          <a:xfrm flipH="1">
            <a:off x="6877050" y="3163751"/>
            <a:ext cx="538619" cy="2064010"/>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3" name="TextBox 22">
            <a:extLst>
              <a:ext uri="{FF2B5EF4-FFF2-40B4-BE49-F238E27FC236}">
                <a16:creationId xmlns:a16="http://schemas.microsoft.com/office/drawing/2014/main" id="{5DB37A69-758C-D38A-4C65-7FF1E6C05E10}"/>
              </a:ext>
            </a:extLst>
          </p:cNvPr>
          <p:cNvSpPr txBox="1"/>
          <p:nvPr/>
        </p:nvSpPr>
        <p:spPr>
          <a:xfrm>
            <a:off x="6517707" y="3716070"/>
            <a:ext cx="2019564" cy="369332"/>
          </a:xfrm>
          <a:prstGeom prst="rect">
            <a:avLst/>
          </a:prstGeom>
          <a:solidFill>
            <a:srgbClr val="FFFFFF">
              <a:alpha val="77647"/>
            </a:srgbClr>
          </a:solidFill>
          <a:ln>
            <a:solidFill>
              <a:schemeClr val="tx1"/>
            </a:solidFill>
          </a:ln>
        </p:spPr>
        <p:txBody>
          <a:bodyPr wrap="square" rtlCol="0">
            <a:spAutoFit/>
          </a:bodyPr>
          <a:lstStyle/>
          <a:p>
            <a:pPr algn="ctr"/>
            <a:r>
              <a:rPr lang="en-US" i="1" dirty="0"/>
              <a:t>Filesystems (L11) </a:t>
            </a:r>
          </a:p>
        </p:txBody>
      </p:sp>
      <p:cxnSp>
        <p:nvCxnSpPr>
          <p:cNvPr id="46" name="Straight Arrow Connector 45">
            <a:extLst>
              <a:ext uri="{FF2B5EF4-FFF2-40B4-BE49-F238E27FC236}">
                <a16:creationId xmlns:a16="http://schemas.microsoft.com/office/drawing/2014/main" id="{A246D483-9AD9-9B2F-275F-C4D11F486227}"/>
              </a:ext>
            </a:extLst>
          </p:cNvPr>
          <p:cNvCxnSpPr>
            <a:cxnSpLocks/>
            <a:stCxn id="6" idx="2"/>
          </p:cNvCxnSpPr>
          <p:nvPr/>
        </p:nvCxnSpPr>
        <p:spPr bwMode="auto">
          <a:xfrm>
            <a:off x="1848633" y="3144203"/>
            <a:ext cx="4936820" cy="2083558"/>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1" name="TextBox 20">
            <a:extLst>
              <a:ext uri="{FF2B5EF4-FFF2-40B4-BE49-F238E27FC236}">
                <a16:creationId xmlns:a16="http://schemas.microsoft.com/office/drawing/2014/main" id="{2E3FACE5-95D5-FB00-D641-0A3E38C30940}"/>
              </a:ext>
            </a:extLst>
          </p:cNvPr>
          <p:cNvSpPr txBox="1"/>
          <p:nvPr/>
        </p:nvSpPr>
        <p:spPr>
          <a:xfrm>
            <a:off x="3100713" y="3577383"/>
            <a:ext cx="3149775" cy="646331"/>
          </a:xfrm>
          <a:prstGeom prst="rect">
            <a:avLst/>
          </a:prstGeom>
          <a:solidFill>
            <a:srgbClr val="FFFFFF">
              <a:alpha val="77647"/>
            </a:srgbClr>
          </a:solidFill>
          <a:ln>
            <a:solidFill>
              <a:schemeClr val="tx1"/>
            </a:solidFill>
          </a:ln>
        </p:spPr>
        <p:txBody>
          <a:bodyPr wrap="square" rtlCol="0">
            <a:spAutoFit/>
          </a:bodyPr>
          <a:lstStyle/>
          <a:p>
            <a:pPr marL="342900" indent="-342900">
              <a:buFontTx/>
              <a:buChar char="-"/>
            </a:pPr>
            <a:r>
              <a:rPr lang="en-US" i="1" dirty="0"/>
              <a:t>Memory organization (L8)</a:t>
            </a:r>
          </a:p>
          <a:p>
            <a:pPr marL="342900" indent="-342900">
              <a:buFontTx/>
              <a:buChar char="-"/>
            </a:pPr>
            <a:r>
              <a:rPr lang="en-US" i="1" dirty="0"/>
              <a:t>Virtual memory (L9-10)</a:t>
            </a:r>
          </a:p>
        </p:txBody>
      </p:sp>
      <p:sp>
        <p:nvSpPr>
          <p:cNvPr id="50" name="TextBox 49">
            <a:extLst>
              <a:ext uri="{FF2B5EF4-FFF2-40B4-BE49-F238E27FC236}">
                <a16:creationId xmlns:a16="http://schemas.microsoft.com/office/drawing/2014/main" id="{9606F85F-4B3E-2AAE-B644-072A52927ADB}"/>
              </a:ext>
            </a:extLst>
          </p:cNvPr>
          <p:cNvSpPr txBox="1"/>
          <p:nvPr/>
        </p:nvSpPr>
        <p:spPr>
          <a:xfrm>
            <a:off x="2590017" y="6033156"/>
            <a:ext cx="4171166" cy="369332"/>
          </a:xfrm>
          <a:prstGeom prst="rect">
            <a:avLst/>
          </a:prstGeom>
          <a:noFill/>
          <a:ln>
            <a:solidFill>
              <a:schemeClr val="tx1"/>
            </a:solidFill>
          </a:ln>
        </p:spPr>
        <p:txBody>
          <a:bodyPr wrap="square" rtlCol="0">
            <a:spAutoFit/>
          </a:bodyPr>
          <a:lstStyle/>
          <a:p>
            <a:pPr algn="ctr"/>
            <a:r>
              <a:rPr lang="en-US" i="1" dirty="0"/>
              <a:t>Special: Real-time OS &amp; virtualization</a:t>
            </a:r>
          </a:p>
        </p:txBody>
      </p:sp>
    </p:spTree>
    <p:extLst>
      <p:ext uri="{BB962C8B-B14F-4D97-AF65-F5344CB8AC3E}">
        <p14:creationId xmlns:p14="http://schemas.microsoft.com/office/powerpoint/2010/main" val="23690994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16991-48F3-59C0-4901-60AD019882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5C024-5232-9CF6-1A3B-C902DDE5F6BE}"/>
              </a:ext>
            </a:extLst>
          </p:cNvPr>
          <p:cNvSpPr>
            <a:spLocks noGrp="1"/>
          </p:cNvSpPr>
          <p:nvPr>
            <p:ph type="title"/>
          </p:nvPr>
        </p:nvSpPr>
        <p:spPr/>
        <p:txBody>
          <a:bodyPr/>
          <a:lstStyle/>
          <a:p>
            <a:r>
              <a:rPr lang="en-US" dirty="0"/>
              <a:t>Putting All Concepts Together</a:t>
            </a:r>
          </a:p>
        </p:txBody>
      </p:sp>
      <p:sp>
        <p:nvSpPr>
          <p:cNvPr id="4" name="Footer Placeholder 3">
            <a:extLst>
              <a:ext uri="{FF2B5EF4-FFF2-40B4-BE49-F238E27FC236}">
                <a16:creationId xmlns:a16="http://schemas.microsoft.com/office/drawing/2014/main" id="{52111673-83A2-557D-051C-9AF71F43585F}"/>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DF1730E1-3FE7-BF66-0BBC-64CE90B31CD2}"/>
                  </a:ext>
                </a:extLst>
              </p:cNvPr>
              <p:cNvGraphicFramePr>
                <a:graphicFrameLocks noGrp="1"/>
              </p:cNvGraphicFramePr>
              <p:nvPr/>
            </p:nvGraphicFramePr>
            <p:xfrm>
              <a:off x="0" y="952500"/>
              <a:ext cx="9144000" cy="494853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DF1730E1-3FE7-BF66-0BBC-64CE90B31CD2}"/>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952500"/>
                <a:ext cx="9144000" cy="4948535"/>
              </a:xfrm>
              <a:prstGeom prst="rect">
                <a:avLst/>
              </a:prstGeom>
            </p:spPr>
          </p:pic>
        </mc:Fallback>
      </mc:AlternateContent>
    </p:spTree>
    <p:extLst>
      <p:ext uri="{BB962C8B-B14F-4D97-AF65-F5344CB8AC3E}">
        <p14:creationId xmlns:p14="http://schemas.microsoft.com/office/powerpoint/2010/main" val="12824220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56771-8941-4BF6-E801-F837EA7185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233B1-8386-8968-876A-5EDBB449AA34}"/>
              </a:ext>
            </a:extLst>
          </p:cNvPr>
          <p:cNvSpPr>
            <a:spLocks noGrp="1"/>
          </p:cNvSpPr>
          <p:nvPr>
            <p:ph type="title"/>
          </p:nvPr>
        </p:nvSpPr>
        <p:spPr/>
        <p:txBody>
          <a:bodyPr/>
          <a:lstStyle/>
          <a:p>
            <a:r>
              <a:rPr lang="en-US" dirty="0"/>
              <a:t>Putting All Concepts Together</a:t>
            </a:r>
          </a:p>
        </p:txBody>
      </p:sp>
      <p:sp>
        <p:nvSpPr>
          <p:cNvPr id="4" name="Footer Placeholder 3">
            <a:extLst>
              <a:ext uri="{FF2B5EF4-FFF2-40B4-BE49-F238E27FC236}">
                <a16:creationId xmlns:a16="http://schemas.microsoft.com/office/drawing/2014/main" id="{7AD4A7E8-2D4A-86AD-2DFD-BBBAF4BB3978}"/>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8574C744-884D-939C-C71E-A701F0F51D90}"/>
                  </a:ext>
                </a:extLst>
              </p:cNvPr>
              <p:cNvGraphicFramePr>
                <a:graphicFrameLocks noGrp="1"/>
              </p:cNvGraphicFramePr>
              <p:nvPr/>
            </p:nvGraphicFramePr>
            <p:xfrm>
              <a:off x="0" y="952500"/>
              <a:ext cx="9144000" cy="494853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8574C744-884D-939C-C71E-A701F0F51D90}"/>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952500"/>
                <a:ext cx="9144000" cy="4948535"/>
              </a:xfrm>
              <a:prstGeom prst="rect">
                <a:avLst/>
              </a:prstGeom>
            </p:spPr>
          </p:pic>
        </mc:Fallback>
      </mc:AlternateContent>
    </p:spTree>
    <p:extLst>
      <p:ext uri="{BB962C8B-B14F-4D97-AF65-F5344CB8AC3E}">
        <p14:creationId xmlns:p14="http://schemas.microsoft.com/office/powerpoint/2010/main" val="7820010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3EBE5-E527-6A2F-5E93-DFDCCA4EE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918FD-8573-90DA-D0B4-6D73DD633212}"/>
              </a:ext>
            </a:extLst>
          </p:cNvPr>
          <p:cNvSpPr>
            <a:spLocks noGrp="1"/>
          </p:cNvSpPr>
          <p:nvPr>
            <p:ph type="title"/>
          </p:nvPr>
        </p:nvSpPr>
        <p:spPr/>
        <p:txBody>
          <a:bodyPr/>
          <a:lstStyle/>
          <a:p>
            <a:r>
              <a:rPr lang="en-US" dirty="0"/>
              <a:t>Putting All Concepts Together</a:t>
            </a:r>
          </a:p>
        </p:txBody>
      </p:sp>
      <p:sp>
        <p:nvSpPr>
          <p:cNvPr id="4" name="Footer Placeholder 3">
            <a:extLst>
              <a:ext uri="{FF2B5EF4-FFF2-40B4-BE49-F238E27FC236}">
                <a16:creationId xmlns:a16="http://schemas.microsoft.com/office/drawing/2014/main" id="{82B93C58-D117-F72D-F7C5-2068EFD79455}"/>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6" name="Add-in 5">
                <a:extLst>
                  <a:ext uri="{FF2B5EF4-FFF2-40B4-BE49-F238E27FC236}">
                    <a16:creationId xmlns:a16="http://schemas.microsoft.com/office/drawing/2014/main" id="{C3105419-5E9F-6C07-818F-849CD0BEA145}"/>
                  </a:ext>
                </a:extLst>
              </p:cNvPr>
              <p:cNvGraphicFramePr>
                <a:graphicFrameLocks noGrp="1"/>
              </p:cNvGraphicFramePr>
              <p:nvPr/>
            </p:nvGraphicFramePr>
            <p:xfrm>
              <a:off x="0" y="952500"/>
              <a:ext cx="9144000" cy="494853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6" name="Add-in 5">
                <a:extLst>
                  <a:ext uri="{FF2B5EF4-FFF2-40B4-BE49-F238E27FC236}">
                    <a16:creationId xmlns:a16="http://schemas.microsoft.com/office/drawing/2014/main" id="{C3105419-5E9F-6C07-818F-849CD0BEA145}"/>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952500"/>
                <a:ext cx="9144000" cy="4948535"/>
              </a:xfrm>
              <a:prstGeom prst="rect">
                <a:avLst/>
              </a:prstGeom>
            </p:spPr>
          </p:pic>
        </mc:Fallback>
      </mc:AlternateContent>
    </p:spTree>
    <p:extLst>
      <p:ext uri="{BB962C8B-B14F-4D97-AF65-F5344CB8AC3E}">
        <p14:creationId xmlns:p14="http://schemas.microsoft.com/office/powerpoint/2010/main" val="24877705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Footer Placeholder 3">
            <a:extLst>
              <a:ext uri="{FF2B5EF4-FFF2-40B4-BE49-F238E27FC236}">
                <a16:creationId xmlns:a16="http://schemas.microsoft.com/office/drawing/2014/main" id="{109AFB18-A7A2-4ADA-9F2A-F8AF86E2766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100354" name="Rectangle 2">
            <a:extLst>
              <a:ext uri="{FF2B5EF4-FFF2-40B4-BE49-F238E27FC236}">
                <a16:creationId xmlns:a16="http://schemas.microsoft.com/office/drawing/2014/main" id="{5A521C89-D8E8-42EB-8D1F-DF0DCB63B5FA}"/>
              </a:ext>
            </a:extLst>
          </p:cNvPr>
          <p:cNvSpPr>
            <a:spLocks noGrp="1" noChangeArrowheads="1"/>
          </p:cNvSpPr>
          <p:nvPr>
            <p:ph type="title"/>
          </p:nvPr>
        </p:nvSpPr>
        <p:spPr/>
        <p:txBody>
          <a:bodyPr/>
          <a:lstStyle/>
          <a:p>
            <a:r>
              <a:rPr lang="en-US" altLang="en-US"/>
              <a:t>Advanced Readings</a:t>
            </a:r>
          </a:p>
        </p:txBody>
      </p:sp>
      <p:sp>
        <p:nvSpPr>
          <p:cNvPr id="100355" name="Rectangle 3">
            <a:extLst>
              <a:ext uri="{FF2B5EF4-FFF2-40B4-BE49-F238E27FC236}">
                <a16:creationId xmlns:a16="http://schemas.microsoft.com/office/drawing/2014/main" id="{3C33C5B8-7156-494F-BB4D-C4A66A7897CF}"/>
              </a:ext>
            </a:extLst>
          </p:cNvPr>
          <p:cNvSpPr>
            <a:spLocks noGrp="1" noChangeArrowheads="1"/>
          </p:cNvSpPr>
          <p:nvPr>
            <p:ph type="body" idx="1"/>
          </p:nvPr>
        </p:nvSpPr>
        <p:spPr>
          <a:xfrm>
            <a:off x="638175" y="1439863"/>
            <a:ext cx="7970838" cy="4956175"/>
          </a:xfrm>
        </p:spPr>
        <p:txBody>
          <a:bodyPr/>
          <a:lstStyle/>
          <a:p>
            <a:r>
              <a:rPr lang="en-US" altLang="en-US" sz="2800"/>
              <a:t>“The Deadlock Problem:  An Overview”, By Sreekaanth S. Isloor, T. Anthony Marsland. (pdf in NTULearn)</a:t>
            </a:r>
          </a:p>
          <a:p>
            <a:r>
              <a:rPr lang="en-US" altLang="en-US" sz="2800"/>
              <a:t> Other readings</a:t>
            </a:r>
          </a:p>
          <a:p>
            <a:pPr lvl="1"/>
            <a:r>
              <a:rPr lang="en-US" altLang="en-US" sz="2800"/>
              <a:t>Java Concurrency, </a:t>
            </a:r>
            <a:r>
              <a:rPr lang="en-US" altLang="en-US" sz="2800">
                <a:hlinkClick r:id="rId3"/>
              </a:rPr>
              <a:t>http://docs.oracle.com/javase/tutorial/essential/concurrency/index.html</a:t>
            </a:r>
            <a:endParaRPr lang="en-US" altLang="en-US" sz="2800"/>
          </a:p>
          <a:p>
            <a:pPr lvl="1"/>
            <a:r>
              <a:rPr lang="en-US" altLang="en-US" sz="2800"/>
              <a:t>Deadlock, </a:t>
            </a:r>
            <a:r>
              <a:rPr lang="en-US" altLang="en-US" sz="2800">
                <a:hlinkClick r:id="rId4"/>
              </a:rPr>
              <a:t>http://en.wikipedia.org/wiki/Deadlock</a:t>
            </a:r>
            <a:endParaRPr lang="en-US" altLang="en-US" sz="2800"/>
          </a:p>
          <a:p>
            <a:endParaRPr lang="en-US" altLang="en-US" sz="2800"/>
          </a:p>
          <a:p>
            <a:pPr lvl="1"/>
            <a:endParaRPr lang="en-US" altLang="en-US" sz="2800"/>
          </a:p>
          <a:p>
            <a:endParaRPr lang="en-US" altLang="en-US" sz="2800"/>
          </a:p>
        </p:txBody>
      </p:sp>
    </p:spTree>
  </p:cSld>
  <p:clrMapOvr>
    <a:masterClrMapping/>
  </p:clrMapOvr>
</p:sld>
</file>

<file path=ppt/theme/theme1.xml><?xml version="1.0" encoding="utf-8"?>
<a:theme xmlns:a="http://schemas.openxmlformats.org/drawingml/2006/main" name="avi">
  <a:themeElements>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avi">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av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avi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avi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avi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avi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avi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avi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webextension1.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ZUJTNO&quot;"/>
    <we:property name="selectedQuestionId" value="&quot;66eb89d58f45dc85ca84d7f1&quot;"/>
    <we:property name="ZUJTNO:66eb89d58f45dc85ca84d7f1:SlideId" value="431"/>
  </we:properties>
  <we:bindings/>
  <we:snapshot xmlns:r="http://schemas.openxmlformats.org/officeDocument/2006/relationships"/>
</we:webextension>
</file>

<file path=ppt/webextensions/webextension2.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ZUJTNO&quot;"/>
    <we:property name="selectedQuestionId" value="&quot;66ea8f6aafc18ba9112d0d30&quot;"/>
    <we:property name="ZUJTNO:66ea8f6aafc18ba9112d0d30:SlideId" value="425"/>
  </we:properties>
  <we:bindings/>
  <we:snapshot xmlns:r="http://schemas.openxmlformats.org/officeDocument/2006/relationships"/>
</we:webextension>
</file>

<file path=ppt/webextensions/webextension3.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ZUJTNO&quot;"/>
    <we:property name="selectedQuestionId" value="&quot;66ea8e40604b24b16ec7cf44&quot;"/>
    <we:property name="ZUJTNO:66ea8e40604b24b16ec7cf44:SlideId" value="424"/>
  </we:properties>
  <we:bindings/>
  <we:snapshot xmlns:r="http://schemas.openxmlformats.org/officeDocument/2006/relationships"/>
</we:webextension>
</file>

<file path=ppt/webextensions/webextension4.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ZUJTNO&quot;"/>
    <we:property name="selectedQuestionId" value="&quot;66ea93e0777e8af2548c74ca&quot;"/>
    <we:property name="ZUJTNO:66ea93e0777e8af2548c74ca:SlideId" value="426"/>
  </we:properties>
  <we:bindings/>
  <we:snapshot xmlns:r="http://schemas.openxmlformats.org/officeDocument/2006/relationships"/>
</we:webextension>
</file>

<file path=ppt/webextensions/webextension5.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ZUJTNO&quot;"/>
    <we:property name="selectedQuestionId" value="&quot;66ea93e0777e8af2548c74d0&quot;"/>
    <we:property name="ZUJTNO:66ea93e0777e8af2548c74d0:SlideId" value="427"/>
  </we:properties>
  <we:bindings/>
  <we:snapshot xmlns:r="http://schemas.openxmlformats.org/officeDocument/2006/relationships"/>
</we:webextension>
</file>

<file path=ppt/webextensions/webextension6.xml><?xml version="1.0" encoding="utf-8"?>
<we:webextension xmlns:we="http://schemas.microsoft.com/office/webextensions/webextension/2010/11" id="{77C6F012-9CBD-8147-8C3B-05125D006127}">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ZUJTNO&quot;"/>
    <we:property name="selectedQuestionId" value="&quot;66ea93e0777e8af2548c74d6&quot;"/>
    <we:property name="ZUJTNO:66ea93e0777e8af2548c74d6:SlideId" value="428"/>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C:\Apps\Microsoft Office\Templates\Presentations\avi.pot</Template>
  <TotalTime>2519</TotalTime>
  <Words>6434</Words>
  <Application>Microsoft Macintosh PowerPoint</Application>
  <PresentationFormat>On-screen Show (4:3)</PresentationFormat>
  <Paragraphs>675</Paragraphs>
  <Slides>53</Slides>
  <Notes>47</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Calibri</vt:lpstr>
      <vt:lpstr>Comic Sans MS</vt:lpstr>
      <vt:lpstr>Helvetica</vt:lpstr>
      <vt:lpstr>Monotype Sorts</vt:lpstr>
      <vt:lpstr>Symbol</vt:lpstr>
      <vt:lpstr>Times New Roman</vt:lpstr>
      <vt:lpstr>Wingdings</vt:lpstr>
      <vt:lpstr>avi</vt:lpstr>
      <vt:lpstr>Comments are Welcome</vt:lpstr>
      <vt:lpstr>Synchronization Concept</vt:lpstr>
      <vt:lpstr>Synchronization Concepts</vt:lpstr>
      <vt:lpstr>Course Overview</vt:lpstr>
      <vt:lpstr>Part 5:  Deadlocks and Starvation</vt:lpstr>
      <vt:lpstr>The Deadlock Problem</vt:lpstr>
      <vt:lpstr>Bridge Crossing Example</vt:lpstr>
      <vt:lpstr>Part 5:  Deadlocks and Starvation</vt:lpstr>
      <vt:lpstr>System Model</vt:lpstr>
      <vt:lpstr>Resource-Allocation Graph</vt:lpstr>
      <vt:lpstr>Resource-Allocation Graph (Cont.)</vt:lpstr>
      <vt:lpstr>Example of a Resource Allocation Graph</vt:lpstr>
      <vt:lpstr>Resource Allocation Graph With A Deadlock</vt:lpstr>
      <vt:lpstr>Resource Allocation Graph With A Cycle But No Deadlock</vt:lpstr>
      <vt:lpstr>Basic Facts</vt:lpstr>
      <vt:lpstr>Part 5:  Deadlocks and Starvation</vt:lpstr>
      <vt:lpstr>Deadlock Conditions</vt:lpstr>
      <vt:lpstr>Deadlock Conditions (Cont.)</vt:lpstr>
      <vt:lpstr>Deadlock Conditions</vt:lpstr>
      <vt:lpstr>Part 5:  Deadlocks and Starvation</vt:lpstr>
      <vt:lpstr>Methods for Handling Deadlocks</vt:lpstr>
      <vt:lpstr>Deadlock Prevention</vt:lpstr>
      <vt:lpstr>Deadlock Prevention (Cont.)</vt:lpstr>
      <vt:lpstr>Deadlock Prevention (Cont.)</vt:lpstr>
      <vt:lpstr>Chopstick Ordering to Prevent Circular Wait</vt:lpstr>
      <vt:lpstr>Part 5:  Deadlocks and Starvation</vt:lpstr>
      <vt:lpstr>Deadlock Avoidance</vt:lpstr>
      <vt:lpstr>Deadlock Avoidance: Intuition</vt:lpstr>
      <vt:lpstr>Safe State</vt:lpstr>
      <vt:lpstr>Example of Safe Process Sequence</vt:lpstr>
      <vt:lpstr>Safe, Unsafe and Deadlock States</vt:lpstr>
      <vt:lpstr>Banker’s Algorithm</vt:lpstr>
      <vt:lpstr>Data Structures for Banker’s Algorithm </vt:lpstr>
      <vt:lpstr>Banker’s Algorithm Part 1: Safety Algorithm</vt:lpstr>
      <vt:lpstr>Example of Safety Algorithm</vt:lpstr>
      <vt:lpstr>Example of Safety Algorithm (Cont.)</vt:lpstr>
      <vt:lpstr>PowerPoint Presentation</vt:lpstr>
      <vt:lpstr>Banker’s Part 2: Resource-Request Algorithm</vt:lpstr>
      <vt:lpstr>Resource-Request Algorithm (Cont.)</vt:lpstr>
      <vt:lpstr>Example of Resource-Request Algorithm</vt:lpstr>
      <vt:lpstr>Example of Resource-Request Algorithm</vt:lpstr>
      <vt:lpstr>Part 5:  Deadlocks and Starvation</vt:lpstr>
      <vt:lpstr>Deadlock Detection</vt:lpstr>
      <vt:lpstr>Multiple Instances of Each Resource Type</vt:lpstr>
      <vt:lpstr>Detection Algorithm</vt:lpstr>
      <vt:lpstr>Example of Detection Algorithm</vt:lpstr>
      <vt:lpstr>Example of Detection Algorithm (Cont.)</vt:lpstr>
      <vt:lpstr>Example of Detection Algorithm (Cont.)</vt:lpstr>
      <vt:lpstr>Course Overview</vt:lpstr>
      <vt:lpstr>Putting All Concepts Together</vt:lpstr>
      <vt:lpstr>Putting All Concepts Together</vt:lpstr>
      <vt:lpstr>Putting All Concepts Together</vt:lpstr>
      <vt:lpstr>Advanced 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5:  Deadlocks and Starvation</dc:title>
  <dc:creator>Arvind Easwaran</dc:creator>
  <cp:lastModifiedBy>Arvind Easwaran</cp:lastModifiedBy>
  <cp:revision>11</cp:revision>
  <cp:lastPrinted>2017-08-07T05:42:56Z</cp:lastPrinted>
  <dcterms:created xsi:type="dcterms:W3CDTF">2017-08-07T06:09:34Z</dcterms:created>
  <dcterms:modified xsi:type="dcterms:W3CDTF">2025-01-09T08:15:44Z</dcterms:modified>
</cp:coreProperties>
</file>