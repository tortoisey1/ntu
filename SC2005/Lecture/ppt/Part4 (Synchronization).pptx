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webextensions/webextension1.xml" ContentType="application/vnd.ms-office.webextension+xml"/>
  <Override PartName="/ppt/notesSlides/notesSlide3.xml" ContentType="application/vnd.openxmlformats-officedocument.presentationml.notesSlide+xml"/>
  <Override PartName="/ppt/webextensions/webextension2.xml" ContentType="application/vnd.ms-office.webextension+xml"/>
  <Override PartName="/ppt/notesSlides/notesSlide4.xml" ContentType="application/vnd.openxmlformats-officedocument.presentationml.notesSlide+xml"/>
  <Override PartName="/ppt/webextensions/webextension3.xml" ContentType="application/vnd.ms-office.webextension+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webextensions/webextension4.xml" ContentType="application/vnd.ms-office.webextension+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webextensions/webextension5.xml" ContentType="application/vnd.ms-office.webextension+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webextensions/webextension6.xml" ContentType="application/vnd.ms-office.webextension+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webextensions/webextension7.xml" ContentType="application/vnd.ms-office.webextension+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webextensions/webextension8.xml" ContentType="application/vnd.ms-office.webextension+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webextensions/webextension9.xml" ContentType="application/vnd.ms-office.webextension+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webextensions/webextension10.xml" ContentType="application/vnd.ms-office.webextension+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webextensions/webextension11.xml" ContentType="application/vnd.ms-office.webextension+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webextensions/webextension12.xml" ContentType="application/vnd.ms-office.webextension+xml"/>
  <Override PartName="/ppt/notesSlides/notesSlide48.xml" ContentType="application/vnd.openxmlformats-officedocument.presentationml.notesSlide+xml"/>
  <Override PartName="/ppt/webextensions/webextension13.xml" ContentType="application/vnd.ms-office.webextension+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webextensions/webextension14.xml" ContentType="application/vnd.ms-office.webextension+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5"/>
  </p:notesMasterIdLst>
  <p:handoutMasterIdLst>
    <p:handoutMasterId r:id="rId76"/>
  </p:handoutMasterIdLst>
  <p:sldIdLst>
    <p:sldId id="419" r:id="rId2"/>
    <p:sldId id="420" r:id="rId3"/>
    <p:sldId id="310" r:id="rId4"/>
    <p:sldId id="421" r:id="rId5"/>
    <p:sldId id="423" r:id="rId6"/>
    <p:sldId id="256" r:id="rId7"/>
    <p:sldId id="257" r:id="rId8"/>
    <p:sldId id="258" r:id="rId9"/>
    <p:sldId id="336" r:id="rId10"/>
    <p:sldId id="259" r:id="rId11"/>
    <p:sldId id="337" r:id="rId12"/>
    <p:sldId id="370" r:id="rId13"/>
    <p:sldId id="260" r:id="rId14"/>
    <p:sldId id="338" r:id="rId15"/>
    <p:sldId id="261" r:id="rId16"/>
    <p:sldId id="339" r:id="rId17"/>
    <p:sldId id="425" r:id="rId18"/>
    <p:sldId id="396" r:id="rId19"/>
    <p:sldId id="431" r:id="rId20"/>
    <p:sldId id="430" r:id="rId21"/>
    <p:sldId id="378" r:id="rId22"/>
    <p:sldId id="275" r:id="rId23"/>
    <p:sldId id="428" r:id="rId24"/>
    <p:sldId id="341" r:id="rId25"/>
    <p:sldId id="432" r:id="rId26"/>
    <p:sldId id="276" r:id="rId27"/>
    <p:sldId id="433" r:id="rId28"/>
    <p:sldId id="343" r:id="rId29"/>
    <p:sldId id="277" r:id="rId30"/>
    <p:sldId id="427" r:id="rId31"/>
    <p:sldId id="344" r:id="rId32"/>
    <p:sldId id="397" r:id="rId33"/>
    <p:sldId id="373" r:id="rId34"/>
    <p:sldId id="374" r:id="rId35"/>
    <p:sldId id="281" r:id="rId36"/>
    <p:sldId id="399" r:id="rId37"/>
    <p:sldId id="434" r:id="rId38"/>
    <p:sldId id="400" r:id="rId39"/>
    <p:sldId id="441" r:id="rId40"/>
    <p:sldId id="282" r:id="rId41"/>
    <p:sldId id="442" r:id="rId42"/>
    <p:sldId id="435" r:id="rId43"/>
    <p:sldId id="283" r:id="rId44"/>
    <p:sldId id="376" r:id="rId45"/>
    <p:sldId id="401" r:id="rId46"/>
    <p:sldId id="436" r:id="rId47"/>
    <p:sldId id="284" r:id="rId48"/>
    <p:sldId id="365" r:id="rId49"/>
    <p:sldId id="285" r:id="rId50"/>
    <p:sldId id="403" r:id="rId51"/>
    <p:sldId id="404" r:id="rId52"/>
    <p:sldId id="437" r:id="rId53"/>
    <p:sldId id="438" r:id="rId54"/>
    <p:sldId id="398" r:id="rId55"/>
    <p:sldId id="381" r:id="rId56"/>
    <p:sldId id="286" r:id="rId57"/>
    <p:sldId id="287" r:id="rId58"/>
    <p:sldId id="379" r:id="rId59"/>
    <p:sldId id="380" r:id="rId60"/>
    <p:sldId id="382" r:id="rId61"/>
    <p:sldId id="383" r:id="rId62"/>
    <p:sldId id="384" r:id="rId63"/>
    <p:sldId id="439" r:id="rId64"/>
    <p:sldId id="440" r:id="rId65"/>
    <p:sldId id="385" r:id="rId66"/>
    <p:sldId id="386" r:id="rId67"/>
    <p:sldId id="387" r:id="rId68"/>
    <p:sldId id="389" r:id="rId69"/>
    <p:sldId id="391" r:id="rId70"/>
    <p:sldId id="392" r:id="rId71"/>
    <p:sldId id="402" r:id="rId72"/>
    <p:sldId id="393" r:id="rId73"/>
    <p:sldId id="394" r:id="rId7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11"/>
    <p:restoredTop sz="84898" autoAdjust="0"/>
  </p:normalViewPr>
  <p:slideViewPr>
    <p:cSldViewPr snapToGrid="0">
      <p:cViewPr varScale="1">
        <p:scale>
          <a:sx n="108" d="100"/>
          <a:sy n="108" d="100"/>
        </p:scale>
        <p:origin x="180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50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Easwaran" userId="S::arvinde@staff.main.ntu.edu.sg::6059df8d-17bf-4148-9f7c-190b13d86f35" providerId="AD" clId="Web-{7A9EFBF0-419B-D26B-7448-B1B815C6FDF0}"/>
    <pc:docChg chg="modSld">
      <pc:chgData name="Arvind Easwaran" userId="S::arvinde@staff.main.ntu.edu.sg::6059df8d-17bf-4148-9f7c-190b13d86f35" providerId="AD" clId="Web-{7A9EFBF0-419B-D26B-7448-B1B815C6FDF0}" dt="2024-02-06T10:16:49.578" v="10" actId="14100"/>
      <pc:docMkLst>
        <pc:docMk/>
      </pc:docMkLst>
      <pc:sldChg chg="modSp">
        <pc:chgData name="Arvind Easwaran" userId="S::arvinde@staff.main.ntu.edu.sg::6059df8d-17bf-4148-9f7c-190b13d86f35" providerId="AD" clId="Web-{7A9EFBF0-419B-D26B-7448-B1B815C6FDF0}" dt="2024-02-06T10:16:49.578" v="10" actId="14100"/>
        <pc:sldMkLst>
          <pc:docMk/>
          <pc:sldMk cId="0" sldId="277"/>
        </pc:sldMkLst>
      </pc:sldChg>
    </pc:docChg>
  </pc:docChgLst>
  <pc:docChgLst>
    <pc:chgData name="Arvind Easwaran" userId="6059df8d-17bf-4148-9f7c-190b13d86f35" providerId="ADAL" clId="{12F59211-C366-134E-9743-B1F6324D0576}"/>
    <pc:docChg chg="undo custSel delSld modSld">
      <pc:chgData name="Arvind Easwaran" userId="6059df8d-17bf-4148-9f7c-190b13d86f35" providerId="ADAL" clId="{12F59211-C366-134E-9743-B1F6324D0576}" dt="2025-01-09T08:10:14.308" v="31" actId="2696"/>
      <pc:docMkLst>
        <pc:docMk/>
      </pc:docMkLst>
      <pc:sldChg chg="modSp mod">
        <pc:chgData name="Arvind Easwaran" userId="6059df8d-17bf-4148-9f7c-190b13d86f35" providerId="ADAL" clId="{12F59211-C366-134E-9743-B1F6324D0576}" dt="2025-01-09T08:05:32.328" v="11" actId="20577"/>
        <pc:sldMkLst>
          <pc:docMk/>
          <pc:sldMk cId="1696502551" sldId="419"/>
        </pc:sldMkLst>
        <pc:spChg chg="mod">
          <ac:chgData name="Arvind Easwaran" userId="6059df8d-17bf-4148-9f7c-190b13d86f35" providerId="ADAL" clId="{12F59211-C366-134E-9743-B1F6324D0576}" dt="2025-01-09T08:05:32.328" v="11" actId="20577"/>
          <ac:spMkLst>
            <pc:docMk/>
            <pc:sldMk cId="1696502551" sldId="419"/>
            <ac:spMk id="3" creationId="{43F50D15-9A48-1148-80EA-3F17CEB4B293}"/>
          </ac:spMkLst>
        </pc:spChg>
      </pc:sldChg>
      <pc:sldChg chg="delSp mod">
        <pc:chgData name="Arvind Easwaran" userId="6059df8d-17bf-4148-9f7c-190b13d86f35" providerId="ADAL" clId="{12F59211-C366-134E-9743-B1F6324D0576}" dt="2025-01-09T08:05:45.681" v="12" actId="478"/>
        <pc:sldMkLst>
          <pc:docMk/>
          <pc:sldMk cId="2295144436" sldId="420"/>
        </pc:sldMkLst>
        <pc:spChg chg="del">
          <ac:chgData name="Arvind Easwaran" userId="6059df8d-17bf-4148-9f7c-190b13d86f35" providerId="ADAL" clId="{12F59211-C366-134E-9743-B1F6324D0576}" dt="2025-01-09T08:05:45.681" v="12" actId="478"/>
          <ac:spMkLst>
            <pc:docMk/>
            <pc:sldMk cId="2295144436" sldId="420"/>
            <ac:spMk id="3" creationId="{349791C5-06C2-459A-0DDE-7279815404AC}"/>
          </ac:spMkLst>
        </pc:spChg>
      </pc:sldChg>
      <pc:sldChg chg="delSp mod">
        <pc:chgData name="Arvind Easwaran" userId="6059df8d-17bf-4148-9f7c-190b13d86f35" providerId="ADAL" clId="{12F59211-C366-134E-9743-B1F6324D0576}" dt="2025-01-09T08:06:03.202" v="13" actId="478"/>
        <pc:sldMkLst>
          <pc:docMk/>
          <pc:sldMk cId="3723643173" sldId="421"/>
        </pc:sldMkLst>
        <pc:spChg chg="del">
          <ac:chgData name="Arvind Easwaran" userId="6059df8d-17bf-4148-9f7c-190b13d86f35" providerId="ADAL" clId="{12F59211-C366-134E-9743-B1F6324D0576}" dt="2025-01-09T08:06:03.202" v="13" actId="478"/>
          <ac:spMkLst>
            <pc:docMk/>
            <pc:sldMk cId="3723643173" sldId="421"/>
            <ac:spMk id="3" creationId="{375386D4-B122-6902-7FB1-7A4D2F31E129}"/>
          </ac:spMkLst>
        </pc:spChg>
      </pc:sldChg>
      <pc:sldChg chg="delSp mod">
        <pc:chgData name="Arvind Easwaran" userId="6059df8d-17bf-4148-9f7c-190b13d86f35" providerId="ADAL" clId="{12F59211-C366-134E-9743-B1F6324D0576}" dt="2025-01-09T08:06:09.198" v="14" actId="478"/>
        <pc:sldMkLst>
          <pc:docMk/>
          <pc:sldMk cId="1343236250" sldId="423"/>
        </pc:sldMkLst>
        <pc:spChg chg="del">
          <ac:chgData name="Arvind Easwaran" userId="6059df8d-17bf-4148-9f7c-190b13d86f35" providerId="ADAL" clId="{12F59211-C366-134E-9743-B1F6324D0576}" dt="2025-01-09T08:06:09.198" v="14" actId="478"/>
          <ac:spMkLst>
            <pc:docMk/>
            <pc:sldMk cId="1343236250" sldId="423"/>
            <ac:spMk id="3" creationId="{0AD90CEF-8223-B1F9-0310-CE4DF97E6B03}"/>
          </ac:spMkLst>
        </pc:spChg>
      </pc:sldChg>
      <pc:sldChg chg="del">
        <pc:chgData name="Arvind Easwaran" userId="6059df8d-17bf-4148-9f7c-190b13d86f35" providerId="ADAL" clId="{12F59211-C366-134E-9743-B1F6324D0576}" dt="2025-01-09T08:10:14.308" v="31" actId="2696"/>
        <pc:sldMkLst>
          <pc:docMk/>
          <pc:sldMk cId="3043342712" sldId="424"/>
        </pc:sldMkLst>
      </pc:sldChg>
      <pc:sldChg chg="delSp mod">
        <pc:chgData name="Arvind Easwaran" userId="6059df8d-17bf-4148-9f7c-190b13d86f35" providerId="ADAL" clId="{12F59211-C366-134E-9743-B1F6324D0576}" dt="2025-01-09T08:06:31.146" v="15" actId="478"/>
        <pc:sldMkLst>
          <pc:docMk/>
          <pc:sldMk cId="3119174732" sldId="425"/>
        </pc:sldMkLst>
        <pc:spChg chg="del">
          <ac:chgData name="Arvind Easwaran" userId="6059df8d-17bf-4148-9f7c-190b13d86f35" providerId="ADAL" clId="{12F59211-C366-134E-9743-B1F6324D0576}" dt="2025-01-09T08:06:31.146" v="15" actId="478"/>
          <ac:spMkLst>
            <pc:docMk/>
            <pc:sldMk cId="3119174732" sldId="425"/>
            <ac:spMk id="3" creationId="{6B395E1A-9C1A-E40D-5254-A168FD8761F2}"/>
          </ac:spMkLst>
        </pc:spChg>
      </pc:sldChg>
      <pc:sldChg chg="delSp mod">
        <pc:chgData name="Arvind Easwaran" userId="6059df8d-17bf-4148-9f7c-190b13d86f35" providerId="ADAL" clId="{12F59211-C366-134E-9743-B1F6324D0576}" dt="2025-01-09T08:07:29.978" v="21" actId="478"/>
        <pc:sldMkLst>
          <pc:docMk/>
          <pc:sldMk cId="2266582433" sldId="427"/>
        </pc:sldMkLst>
        <pc:spChg chg="del">
          <ac:chgData name="Arvind Easwaran" userId="6059df8d-17bf-4148-9f7c-190b13d86f35" providerId="ADAL" clId="{12F59211-C366-134E-9743-B1F6324D0576}" dt="2025-01-09T08:07:29.978" v="21" actId="478"/>
          <ac:spMkLst>
            <pc:docMk/>
            <pc:sldMk cId="2266582433" sldId="427"/>
            <ac:spMk id="3" creationId="{D85F6A76-BA78-C455-544E-CC90AEB34F75}"/>
          </ac:spMkLst>
        </pc:spChg>
      </pc:sldChg>
      <pc:sldChg chg="delSp mod">
        <pc:chgData name="Arvind Easwaran" userId="6059df8d-17bf-4148-9f7c-190b13d86f35" providerId="ADAL" clId="{12F59211-C366-134E-9743-B1F6324D0576}" dt="2025-01-09T08:06:51.714" v="16" actId="478"/>
        <pc:sldMkLst>
          <pc:docMk/>
          <pc:sldMk cId="3630468618" sldId="428"/>
        </pc:sldMkLst>
        <pc:spChg chg="del">
          <ac:chgData name="Arvind Easwaran" userId="6059df8d-17bf-4148-9f7c-190b13d86f35" providerId="ADAL" clId="{12F59211-C366-134E-9743-B1F6324D0576}" dt="2025-01-09T08:06:51.714" v="16" actId="478"/>
          <ac:spMkLst>
            <pc:docMk/>
            <pc:sldMk cId="3630468618" sldId="428"/>
            <ac:spMk id="3" creationId="{BD062EDD-E793-019F-2E7C-A5C13F552129}"/>
          </ac:spMkLst>
        </pc:spChg>
      </pc:sldChg>
      <pc:sldChg chg="addSp delSp mod modShow">
        <pc:chgData name="Arvind Easwaran" userId="6059df8d-17bf-4148-9f7c-190b13d86f35" providerId="ADAL" clId="{12F59211-C366-134E-9743-B1F6324D0576}" dt="2025-01-09T08:07:10.164" v="19" actId="729"/>
        <pc:sldMkLst>
          <pc:docMk/>
          <pc:sldMk cId="3071077182" sldId="432"/>
        </pc:sldMkLst>
        <pc:spChg chg="add del">
          <ac:chgData name="Arvind Easwaran" userId="6059df8d-17bf-4148-9f7c-190b13d86f35" providerId="ADAL" clId="{12F59211-C366-134E-9743-B1F6324D0576}" dt="2025-01-09T08:07:04.232" v="18" actId="478"/>
          <ac:spMkLst>
            <pc:docMk/>
            <pc:sldMk cId="3071077182" sldId="432"/>
            <ac:spMk id="3" creationId="{5B80EBEB-AD3D-5394-C233-6A93D2C8BAC9}"/>
          </ac:spMkLst>
        </pc:spChg>
      </pc:sldChg>
      <pc:sldChg chg="delSp mod">
        <pc:chgData name="Arvind Easwaran" userId="6059df8d-17bf-4148-9f7c-190b13d86f35" providerId="ADAL" clId="{12F59211-C366-134E-9743-B1F6324D0576}" dt="2025-01-09T08:07:21.514" v="20" actId="478"/>
        <pc:sldMkLst>
          <pc:docMk/>
          <pc:sldMk cId="3999547638" sldId="433"/>
        </pc:sldMkLst>
        <pc:spChg chg="del">
          <ac:chgData name="Arvind Easwaran" userId="6059df8d-17bf-4148-9f7c-190b13d86f35" providerId="ADAL" clId="{12F59211-C366-134E-9743-B1F6324D0576}" dt="2025-01-09T08:07:21.514" v="20" actId="478"/>
          <ac:spMkLst>
            <pc:docMk/>
            <pc:sldMk cId="3999547638" sldId="433"/>
            <ac:spMk id="3" creationId="{6CB50B0C-BE95-4F92-7FCE-043E66ED76BB}"/>
          </ac:spMkLst>
        </pc:spChg>
      </pc:sldChg>
      <pc:sldChg chg="delSp mod">
        <pc:chgData name="Arvind Easwaran" userId="6059df8d-17bf-4148-9f7c-190b13d86f35" providerId="ADAL" clId="{12F59211-C366-134E-9743-B1F6324D0576}" dt="2025-01-09T08:07:45.106" v="22" actId="478"/>
        <pc:sldMkLst>
          <pc:docMk/>
          <pc:sldMk cId="272017901" sldId="434"/>
        </pc:sldMkLst>
        <pc:spChg chg="del">
          <ac:chgData name="Arvind Easwaran" userId="6059df8d-17bf-4148-9f7c-190b13d86f35" providerId="ADAL" clId="{12F59211-C366-134E-9743-B1F6324D0576}" dt="2025-01-09T08:07:45.106" v="22" actId="478"/>
          <ac:spMkLst>
            <pc:docMk/>
            <pc:sldMk cId="272017901" sldId="434"/>
            <ac:spMk id="3" creationId="{7D486ADB-B6EE-BE2E-38DF-5977E8167E1E}"/>
          </ac:spMkLst>
        </pc:spChg>
      </pc:sldChg>
      <pc:sldChg chg="delSp mod">
        <pc:chgData name="Arvind Easwaran" userId="6059df8d-17bf-4148-9f7c-190b13d86f35" providerId="ADAL" clId="{12F59211-C366-134E-9743-B1F6324D0576}" dt="2025-01-09T08:08:10.802" v="23" actId="478"/>
        <pc:sldMkLst>
          <pc:docMk/>
          <pc:sldMk cId="1053778454" sldId="435"/>
        </pc:sldMkLst>
        <pc:spChg chg="del">
          <ac:chgData name="Arvind Easwaran" userId="6059df8d-17bf-4148-9f7c-190b13d86f35" providerId="ADAL" clId="{12F59211-C366-134E-9743-B1F6324D0576}" dt="2025-01-09T08:08:10.802" v="23" actId="478"/>
          <ac:spMkLst>
            <pc:docMk/>
            <pc:sldMk cId="1053778454" sldId="435"/>
            <ac:spMk id="3" creationId="{57FCA555-C2E5-968C-84B4-92A809951144}"/>
          </ac:spMkLst>
        </pc:spChg>
      </pc:sldChg>
      <pc:sldChg chg="delSp mod">
        <pc:chgData name="Arvind Easwaran" userId="6059df8d-17bf-4148-9f7c-190b13d86f35" providerId="ADAL" clId="{12F59211-C366-134E-9743-B1F6324D0576}" dt="2025-01-09T08:08:20.643" v="24" actId="478"/>
        <pc:sldMkLst>
          <pc:docMk/>
          <pc:sldMk cId="2439369588" sldId="436"/>
        </pc:sldMkLst>
        <pc:spChg chg="del">
          <ac:chgData name="Arvind Easwaran" userId="6059df8d-17bf-4148-9f7c-190b13d86f35" providerId="ADAL" clId="{12F59211-C366-134E-9743-B1F6324D0576}" dt="2025-01-09T08:08:20.643" v="24" actId="478"/>
          <ac:spMkLst>
            <pc:docMk/>
            <pc:sldMk cId="2439369588" sldId="436"/>
            <ac:spMk id="3" creationId="{F91BC35D-130D-61B9-12EC-575F40D2C9A6}"/>
          </ac:spMkLst>
        </pc:spChg>
      </pc:sldChg>
      <pc:sldChg chg="delSp mod">
        <pc:chgData name="Arvind Easwaran" userId="6059df8d-17bf-4148-9f7c-190b13d86f35" providerId="ADAL" clId="{12F59211-C366-134E-9743-B1F6324D0576}" dt="2025-01-09T08:09:20.944" v="25" actId="478"/>
        <pc:sldMkLst>
          <pc:docMk/>
          <pc:sldMk cId="1152949546" sldId="437"/>
        </pc:sldMkLst>
        <pc:spChg chg="del">
          <ac:chgData name="Arvind Easwaran" userId="6059df8d-17bf-4148-9f7c-190b13d86f35" providerId="ADAL" clId="{12F59211-C366-134E-9743-B1F6324D0576}" dt="2025-01-09T08:09:20.944" v="25" actId="478"/>
          <ac:spMkLst>
            <pc:docMk/>
            <pc:sldMk cId="1152949546" sldId="437"/>
            <ac:spMk id="3" creationId="{84347FA9-9BE7-928C-7950-D43258367ACB}"/>
          </ac:spMkLst>
        </pc:spChg>
      </pc:sldChg>
      <pc:sldChg chg="delSp mod">
        <pc:chgData name="Arvind Easwaran" userId="6059df8d-17bf-4148-9f7c-190b13d86f35" providerId="ADAL" clId="{12F59211-C366-134E-9743-B1F6324D0576}" dt="2025-01-09T08:09:25.817" v="26" actId="478"/>
        <pc:sldMkLst>
          <pc:docMk/>
          <pc:sldMk cId="2587751046" sldId="438"/>
        </pc:sldMkLst>
        <pc:spChg chg="del">
          <ac:chgData name="Arvind Easwaran" userId="6059df8d-17bf-4148-9f7c-190b13d86f35" providerId="ADAL" clId="{12F59211-C366-134E-9743-B1F6324D0576}" dt="2025-01-09T08:09:25.817" v="26" actId="478"/>
          <ac:spMkLst>
            <pc:docMk/>
            <pc:sldMk cId="2587751046" sldId="438"/>
            <ac:spMk id="3" creationId="{88D8F431-89E6-2451-48F3-08C32E0CBCE5}"/>
          </ac:spMkLst>
        </pc:spChg>
      </pc:sldChg>
      <pc:sldChg chg="delSp modSp mod">
        <pc:chgData name="Arvind Easwaran" userId="6059df8d-17bf-4148-9f7c-190b13d86f35" providerId="ADAL" clId="{12F59211-C366-134E-9743-B1F6324D0576}" dt="2025-01-09T08:09:53.605" v="29" actId="1076"/>
        <pc:sldMkLst>
          <pc:docMk/>
          <pc:sldMk cId="1342832180" sldId="440"/>
        </pc:sldMkLst>
        <pc:spChg chg="del">
          <ac:chgData name="Arvind Easwaran" userId="6059df8d-17bf-4148-9f7c-190b13d86f35" providerId="ADAL" clId="{12F59211-C366-134E-9743-B1F6324D0576}" dt="2025-01-09T08:09:41.922" v="27" actId="478"/>
          <ac:spMkLst>
            <pc:docMk/>
            <pc:sldMk cId="1342832180" sldId="440"/>
            <ac:spMk id="3" creationId="{42AD3F92-7AB8-3093-E779-C6A89E035862}"/>
          </ac:spMkLst>
        </pc:spChg>
        <pc:graphicFrameChg chg="mod">
          <ac:chgData name="Arvind Easwaran" userId="6059df8d-17bf-4148-9f7c-190b13d86f35" providerId="ADAL" clId="{12F59211-C366-134E-9743-B1F6324D0576}" dt="2025-01-09T08:09:53.605" v="29" actId="1076"/>
          <ac:graphicFrameMkLst>
            <pc:docMk/>
            <pc:sldMk cId="1342832180" sldId="440"/>
            <ac:graphicFrameMk id="6" creationId="{5314D851-1D14-3F59-C42E-E9BCB2B36E17}"/>
          </ac:graphicFrameMkLst>
        </pc:graphicFrameChg>
      </pc:sldChg>
      <pc:sldChg chg="del">
        <pc:chgData name="Arvind Easwaran" userId="6059df8d-17bf-4148-9f7c-190b13d86f35" providerId="ADAL" clId="{12F59211-C366-134E-9743-B1F6324D0576}" dt="2025-01-09T08:10:05.941" v="30" actId="2696"/>
        <pc:sldMkLst>
          <pc:docMk/>
          <pc:sldMk cId="1774381597" sldId="443"/>
        </pc:sldMkLst>
      </pc:sldChg>
    </pc:docChg>
  </pc:docChgLst>
  <pc:docChgLst>
    <pc:chgData name="Dmitrii Ustiugov" userId="fee3c4a0-c40b-4de8-8e1d-1d3cf97580eb" providerId="ADAL" clId="{A3E04F20-5593-D749-81D3-83F46A0338EF}"/>
    <pc:docChg chg="addSld modSld">
      <pc:chgData name="Dmitrii Ustiugov" userId="fee3c4a0-c40b-4de8-8e1d-1d3cf97580eb" providerId="ADAL" clId="{A3E04F20-5593-D749-81D3-83F46A0338EF}" dt="2025-01-08T13:42:22.195" v="6" actId="20577"/>
      <pc:docMkLst>
        <pc:docMk/>
      </pc:docMkLst>
      <pc:sldChg chg="modSp new mod">
        <pc:chgData name="Dmitrii Ustiugov" userId="fee3c4a0-c40b-4de8-8e1d-1d3cf97580eb" providerId="ADAL" clId="{A3E04F20-5593-D749-81D3-83F46A0338EF}" dt="2025-01-08T13:42:22.195" v="6" actId="20577"/>
        <pc:sldMkLst>
          <pc:docMk/>
          <pc:sldMk cId="1774381597" sldId="443"/>
        </pc:sldMkLst>
        <pc:spChg chg="mod">
          <ac:chgData name="Dmitrii Ustiugov" userId="fee3c4a0-c40b-4de8-8e1d-1d3cf97580eb" providerId="ADAL" clId="{A3E04F20-5593-D749-81D3-83F46A0338EF}" dt="2025-01-08T13:42:22.195" v="6" actId="20577"/>
          <ac:spMkLst>
            <pc:docMk/>
            <pc:sldMk cId="1774381597" sldId="443"/>
            <ac:spMk id="2" creationId="{CEDECBAE-FBE3-F0EA-15C4-2A553C08A3D2}"/>
          </ac:spMkLst>
        </pc:spChg>
      </pc:sldChg>
    </pc:docChg>
  </pc:docChgLst>
  <pc:docChgLst>
    <pc:chgData name="Dmitrii Ustiugov" userId="fee3c4a0-c40b-4de8-8e1d-1d3cf97580eb" providerId="ADAL" clId="{D67FA9FE-1D49-184B-A909-3CEC13CFF201}"/>
    <pc:docChg chg="undo custSel addSld delSld modSld sldOrd">
      <pc:chgData name="Dmitrii Ustiugov" userId="fee3c4a0-c40b-4de8-8e1d-1d3cf97580eb" providerId="ADAL" clId="{D67FA9FE-1D49-184B-A909-3CEC13CFF201}" dt="2024-09-20T04:49:57.208" v="1288" actId="20577"/>
      <pc:docMkLst>
        <pc:docMk/>
      </pc:docMkLst>
      <pc:sldChg chg="modSp add mod">
        <pc:chgData name="Dmitrii Ustiugov" userId="fee3c4a0-c40b-4de8-8e1d-1d3cf97580eb" providerId="ADAL" clId="{D67FA9FE-1D49-184B-A909-3CEC13CFF201}" dt="2024-09-04T13:17:49.855" v="378" actId="207"/>
        <pc:sldMkLst>
          <pc:docMk/>
          <pc:sldMk cId="172071730" sldId="310"/>
        </pc:sldMkLst>
      </pc:sldChg>
      <pc:sldChg chg="addSp delSp modSp add mod">
        <pc:chgData name="Dmitrii Ustiugov" userId="fee3c4a0-c40b-4de8-8e1d-1d3cf97580eb" providerId="ADAL" clId="{D67FA9FE-1D49-184B-A909-3CEC13CFF201}" dt="2024-09-04T12:39:00.736" v="12" actId="1076"/>
        <pc:sldMkLst>
          <pc:docMk/>
          <pc:sldMk cId="1696502551" sldId="419"/>
        </pc:sldMkLst>
      </pc:sldChg>
      <pc:sldChg chg="addSp delSp modSp add mod">
        <pc:chgData name="Dmitrii Ustiugov" userId="fee3c4a0-c40b-4de8-8e1d-1d3cf97580eb" providerId="ADAL" clId="{D67FA9FE-1D49-184B-A909-3CEC13CFF201}" dt="2024-09-04T12:42:24.437" v="79" actId="14100"/>
        <pc:sldMkLst>
          <pc:docMk/>
          <pc:sldMk cId="2295144436" sldId="420"/>
        </pc:sldMkLst>
      </pc:sldChg>
      <pc:sldChg chg="addSp delSp modSp add mod">
        <pc:chgData name="Dmitrii Ustiugov" userId="fee3c4a0-c40b-4de8-8e1d-1d3cf97580eb" providerId="ADAL" clId="{D67FA9FE-1D49-184B-A909-3CEC13CFF201}" dt="2024-09-04T12:43:38.671" v="112" actId="14100"/>
        <pc:sldMkLst>
          <pc:docMk/>
          <pc:sldMk cId="3723643173" sldId="421"/>
        </pc:sldMkLst>
      </pc:sldChg>
      <pc:sldChg chg="add del">
        <pc:chgData name="Dmitrii Ustiugov" userId="fee3c4a0-c40b-4de8-8e1d-1d3cf97580eb" providerId="ADAL" clId="{D67FA9FE-1D49-184B-A909-3CEC13CFF201}" dt="2024-09-04T12:44:15.544" v="115" actId="2696"/>
        <pc:sldMkLst>
          <pc:docMk/>
          <pc:sldMk cId="4278822713" sldId="422"/>
        </pc:sldMkLst>
      </pc:sldChg>
      <pc:sldChg chg="add">
        <pc:chgData name="Dmitrii Ustiugov" userId="fee3c4a0-c40b-4de8-8e1d-1d3cf97580eb" providerId="ADAL" clId="{D67FA9FE-1D49-184B-A909-3CEC13CFF201}" dt="2024-09-04T12:44:05.694" v="114" actId="2890"/>
        <pc:sldMkLst>
          <pc:docMk/>
          <pc:sldMk cId="1343236250" sldId="423"/>
        </pc:sldMkLst>
      </pc:sldChg>
      <pc:sldChg chg="add del">
        <pc:chgData name="Dmitrii Ustiugov" userId="fee3c4a0-c40b-4de8-8e1d-1d3cf97580eb" providerId="ADAL" clId="{D67FA9FE-1D49-184B-A909-3CEC13CFF201}" dt="2024-09-04T12:45:11.761" v="118" actId="2696"/>
        <pc:sldMkLst>
          <pc:docMk/>
          <pc:sldMk cId="1308117535" sldId="424"/>
        </pc:sldMkLst>
      </pc:sldChg>
      <pc:sldChg chg="modSp add mod">
        <pc:chgData name="Dmitrii Ustiugov" userId="fee3c4a0-c40b-4de8-8e1d-1d3cf97580eb" providerId="ADAL" clId="{D67FA9FE-1D49-184B-A909-3CEC13CFF201}" dt="2024-09-18T08:33:34.388" v="1276" actId="14100"/>
        <pc:sldMkLst>
          <pc:docMk/>
          <pc:sldMk cId="3043342712" sldId="424"/>
        </pc:sldMkLst>
      </pc:sldChg>
      <pc:sldChg chg="modSp add del mod">
        <pc:chgData name="Dmitrii Ustiugov" userId="fee3c4a0-c40b-4de8-8e1d-1d3cf97580eb" providerId="ADAL" clId="{D67FA9FE-1D49-184B-A909-3CEC13CFF201}" dt="2024-09-04T12:50:16.116" v="144"/>
        <pc:sldMkLst>
          <pc:docMk/>
          <pc:sldMk cId="1290731925" sldId="425"/>
        </pc:sldMkLst>
      </pc:sldChg>
      <pc:sldChg chg="modSp add del mod ord">
        <pc:chgData name="Dmitrii Ustiugov" userId="fee3c4a0-c40b-4de8-8e1d-1d3cf97580eb" providerId="ADAL" clId="{D67FA9FE-1D49-184B-A909-3CEC13CFF201}" dt="2024-09-04T12:50:40.180" v="164" actId="20577"/>
        <pc:sldMkLst>
          <pc:docMk/>
          <pc:sldMk cId="3119174732" sldId="425"/>
        </pc:sldMkLst>
      </pc:sldChg>
      <pc:sldChg chg="modSp add del mod">
        <pc:chgData name="Dmitrii Ustiugov" userId="fee3c4a0-c40b-4de8-8e1d-1d3cf97580eb" providerId="ADAL" clId="{D67FA9FE-1D49-184B-A909-3CEC13CFF201}" dt="2024-09-05T03:54:39.787" v="381" actId="2696"/>
        <pc:sldMkLst>
          <pc:docMk/>
          <pc:sldMk cId="272618502" sldId="426"/>
        </pc:sldMkLst>
      </pc:sldChg>
      <pc:sldChg chg="add">
        <pc:chgData name="Dmitrii Ustiugov" userId="fee3c4a0-c40b-4de8-8e1d-1d3cf97580eb" providerId="ADAL" clId="{D67FA9FE-1D49-184B-A909-3CEC13CFF201}" dt="2024-09-04T12:53:48.577" v="171"/>
        <pc:sldMkLst>
          <pc:docMk/>
          <pc:sldMk cId="2266582433" sldId="427"/>
        </pc:sldMkLst>
      </pc:sldChg>
      <pc:sldChg chg="add">
        <pc:chgData name="Dmitrii Ustiugov" userId="fee3c4a0-c40b-4de8-8e1d-1d3cf97580eb" providerId="ADAL" clId="{D67FA9FE-1D49-184B-A909-3CEC13CFF201}" dt="2024-09-04T12:54:22.829" v="172"/>
        <pc:sldMkLst>
          <pc:docMk/>
          <pc:sldMk cId="3630468618" sldId="428"/>
        </pc:sldMkLst>
      </pc:sldChg>
      <pc:sldChg chg="addSp delSp modSp new del mod ord">
        <pc:chgData name="Dmitrii Ustiugov" userId="fee3c4a0-c40b-4de8-8e1d-1d3cf97580eb" providerId="ADAL" clId="{D67FA9FE-1D49-184B-A909-3CEC13CFF201}" dt="2024-09-04T13:15:57.490" v="372" actId="2696"/>
        <pc:sldMkLst>
          <pc:docMk/>
          <pc:sldMk cId="3628255" sldId="429"/>
        </pc:sldMkLst>
      </pc:sldChg>
      <pc:sldChg chg="add">
        <pc:chgData name="Dmitrii Ustiugov" userId="fee3c4a0-c40b-4de8-8e1d-1d3cf97580eb" providerId="ADAL" clId="{D67FA9FE-1D49-184B-A909-3CEC13CFF201}" dt="2024-09-04T13:17:01.608" v="376"/>
        <pc:sldMkLst>
          <pc:docMk/>
          <pc:sldMk cId="2507441405" sldId="430"/>
        </pc:sldMkLst>
      </pc:sldChg>
      <pc:sldChg chg="addSp delSp modSp add del mod ord">
        <pc:chgData name="Dmitrii Ustiugov" userId="fee3c4a0-c40b-4de8-8e1d-1d3cf97580eb" providerId="ADAL" clId="{D67FA9FE-1D49-184B-A909-3CEC13CFF201}" dt="2024-09-04T13:16:50.579" v="375" actId="2696"/>
        <pc:sldMkLst>
          <pc:docMk/>
          <pc:sldMk cId="3667540731" sldId="430"/>
        </pc:sldMkLst>
      </pc:sldChg>
      <pc:sldChg chg="add">
        <pc:chgData name="Dmitrii Ustiugov" userId="fee3c4a0-c40b-4de8-8e1d-1d3cf97580eb" providerId="ADAL" clId="{D67FA9FE-1D49-184B-A909-3CEC13CFF201}" dt="2024-09-04T13:17:01.608" v="376"/>
        <pc:sldMkLst>
          <pc:docMk/>
          <pc:sldMk cId="1146221264" sldId="431"/>
        </pc:sldMkLst>
      </pc:sldChg>
      <pc:sldChg chg="add del ord">
        <pc:chgData name="Dmitrii Ustiugov" userId="fee3c4a0-c40b-4de8-8e1d-1d3cf97580eb" providerId="ADAL" clId="{D67FA9FE-1D49-184B-A909-3CEC13CFF201}" dt="2024-09-04T13:16:50.579" v="375" actId="2696"/>
        <pc:sldMkLst>
          <pc:docMk/>
          <pc:sldMk cId="3282319143" sldId="431"/>
        </pc:sldMkLst>
      </pc:sldChg>
      <pc:sldChg chg="add">
        <pc:chgData name="Dmitrii Ustiugov" userId="fee3c4a0-c40b-4de8-8e1d-1d3cf97580eb" providerId="ADAL" clId="{D67FA9FE-1D49-184B-A909-3CEC13CFF201}" dt="2024-09-05T02:30:25.989" v="379"/>
        <pc:sldMkLst>
          <pc:docMk/>
          <pc:sldMk cId="3071077182" sldId="432"/>
        </pc:sldMkLst>
      </pc:sldChg>
      <pc:sldChg chg="add">
        <pc:chgData name="Dmitrii Ustiugov" userId="fee3c4a0-c40b-4de8-8e1d-1d3cf97580eb" providerId="ADAL" clId="{D67FA9FE-1D49-184B-A909-3CEC13CFF201}" dt="2024-09-05T03:54:38.453" v="380"/>
        <pc:sldMkLst>
          <pc:docMk/>
          <pc:sldMk cId="3999547638" sldId="433"/>
        </pc:sldMkLst>
      </pc:sldChg>
      <pc:sldChg chg="modSp add mod">
        <pc:chgData name="Dmitrii Ustiugov" userId="fee3c4a0-c40b-4de8-8e1d-1d3cf97580eb" providerId="ADAL" clId="{D67FA9FE-1D49-184B-A909-3CEC13CFF201}" dt="2024-09-11T09:43:59.736" v="414" actId="20577"/>
        <pc:sldMkLst>
          <pc:docMk/>
          <pc:sldMk cId="272017901" sldId="434"/>
        </pc:sldMkLst>
      </pc:sldChg>
      <pc:sldChg chg="modSp add mod">
        <pc:chgData name="Dmitrii Ustiugov" userId="fee3c4a0-c40b-4de8-8e1d-1d3cf97580eb" providerId="ADAL" clId="{D67FA9FE-1D49-184B-A909-3CEC13CFF201}" dt="2024-09-11T09:55:40.216" v="440" actId="20577"/>
        <pc:sldMkLst>
          <pc:docMk/>
          <pc:sldMk cId="1053778454" sldId="435"/>
        </pc:sldMkLst>
      </pc:sldChg>
      <pc:sldChg chg="add">
        <pc:chgData name="Dmitrii Ustiugov" userId="fee3c4a0-c40b-4de8-8e1d-1d3cf97580eb" providerId="ADAL" clId="{D67FA9FE-1D49-184B-A909-3CEC13CFF201}" dt="2024-09-11T09:56:08.999" v="441"/>
        <pc:sldMkLst>
          <pc:docMk/>
          <pc:sldMk cId="2439369588" sldId="436"/>
        </pc:sldMkLst>
      </pc:sldChg>
      <pc:sldChg chg="add">
        <pc:chgData name="Dmitrii Ustiugov" userId="fee3c4a0-c40b-4de8-8e1d-1d3cf97580eb" providerId="ADAL" clId="{D67FA9FE-1D49-184B-A909-3CEC13CFF201}" dt="2024-09-11T09:56:39.064" v="442"/>
        <pc:sldMkLst>
          <pc:docMk/>
          <pc:sldMk cId="1152949546" sldId="437"/>
        </pc:sldMkLst>
      </pc:sldChg>
      <pc:sldChg chg="add">
        <pc:chgData name="Dmitrii Ustiugov" userId="fee3c4a0-c40b-4de8-8e1d-1d3cf97580eb" providerId="ADAL" clId="{D67FA9FE-1D49-184B-A909-3CEC13CFF201}" dt="2024-09-11T09:56:51.126" v="443"/>
        <pc:sldMkLst>
          <pc:docMk/>
          <pc:sldMk cId="2587751046" sldId="438"/>
        </pc:sldMkLst>
      </pc:sldChg>
      <pc:sldChg chg="modSp add ord modAnim">
        <pc:chgData name="Dmitrii Ustiugov" userId="fee3c4a0-c40b-4de8-8e1d-1d3cf97580eb" providerId="ADAL" clId="{D67FA9FE-1D49-184B-A909-3CEC13CFF201}" dt="2024-09-12T02:20:45.170" v="448" actId="20578"/>
        <pc:sldMkLst>
          <pc:docMk/>
          <pc:sldMk cId="1483824116" sldId="439"/>
        </pc:sldMkLst>
      </pc:sldChg>
      <pc:sldChg chg="add del">
        <pc:chgData name="Dmitrii Ustiugov" userId="fee3c4a0-c40b-4de8-8e1d-1d3cf97580eb" providerId="ADAL" clId="{D67FA9FE-1D49-184B-A909-3CEC13CFF201}" dt="2024-09-11T09:57:29.421" v="445" actId="2696"/>
        <pc:sldMkLst>
          <pc:docMk/>
          <pc:sldMk cId="4025704897" sldId="439"/>
        </pc:sldMkLst>
      </pc:sldChg>
      <pc:sldChg chg="add">
        <pc:chgData name="Dmitrii Ustiugov" userId="fee3c4a0-c40b-4de8-8e1d-1d3cf97580eb" providerId="ADAL" clId="{D67FA9FE-1D49-184B-A909-3CEC13CFF201}" dt="2024-09-12T02:21:02.119" v="449"/>
        <pc:sldMkLst>
          <pc:docMk/>
          <pc:sldMk cId="1342832180" sldId="440"/>
        </pc:sldMkLst>
      </pc:sldChg>
      <pc:sldChg chg="addSp delSp modSp new mod">
        <pc:chgData name="Dmitrii Ustiugov" userId="fee3c4a0-c40b-4de8-8e1d-1d3cf97580eb" providerId="ADAL" clId="{D67FA9FE-1D49-184B-A909-3CEC13CFF201}" dt="2024-09-17T09:59:03.234" v="895" actId="1076"/>
        <pc:sldMkLst>
          <pc:docMk/>
          <pc:sldMk cId="297373880" sldId="441"/>
        </pc:sldMkLst>
      </pc:sldChg>
      <pc:sldChg chg="modSp add mod">
        <pc:chgData name="Dmitrii Ustiugov" userId="fee3c4a0-c40b-4de8-8e1d-1d3cf97580eb" providerId="ADAL" clId="{D67FA9FE-1D49-184B-A909-3CEC13CFF201}" dt="2024-09-20T04:49:57.208" v="1288" actId="20577"/>
        <pc:sldMkLst>
          <pc:docMk/>
          <pc:sldMk cId="3185421672" sldId="4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7EA1BADE-A67F-4237-AFEE-0EB88CE6687E}"/>
              </a:ext>
            </a:extLst>
          </p:cNvPr>
          <p:cNvSpPr>
            <a:spLocks noGrp="1" noChangeArrowheads="1"/>
          </p:cNvSpPr>
          <p:nvPr>
            <p:ph type="hdr" sz="quarter"/>
          </p:nvPr>
        </p:nvSpPr>
        <p:spPr bwMode="auto">
          <a:xfrm>
            <a:off x="0" y="0"/>
            <a:ext cx="3211513"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Helvetica" pitchFamily="34" charset="0"/>
              </a:defRPr>
            </a:lvl1pPr>
          </a:lstStyle>
          <a:p>
            <a:pPr>
              <a:defRPr/>
            </a:pPr>
            <a:endParaRPr lang="en-US"/>
          </a:p>
        </p:txBody>
      </p:sp>
      <p:sp>
        <p:nvSpPr>
          <p:cNvPr id="150531" name="Rectangle 3">
            <a:extLst>
              <a:ext uri="{FF2B5EF4-FFF2-40B4-BE49-F238E27FC236}">
                <a16:creationId xmlns:a16="http://schemas.microsoft.com/office/drawing/2014/main" id="{48931923-BBDD-4322-A6C5-64A4987A5363}"/>
              </a:ext>
            </a:extLst>
          </p:cNvPr>
          <p:cNvSpPr>
            <a:spLocks noGrp="1" noChangeArrowheads="1"/>
          </p:cNvSpPr>
          <p:nvPr>
            <p:ph type="dt" sz="quarter" idx="1"/>
          </p:nvPr>
        </p:nvSpPr>
        <p:spPr bwMode="auto">
          <a:xfrm>
            <a:off x="4117975" y="0"/>
            <a:ext cx="3211513"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Helvetica" pitchFamily="34" charset="0"/>
              </a:defRPr>
            </a:lvl1pPr>
          </a:lstStyle>
          <a:p>
            <a:pPr>
              <a:defRPr/>
            </a:pPr>
            <a:endParaRPr lang="en-US"/>
          </a:p>
        </p:txBody>
      </p:sp>
      <p:sp>
        <p:nvSpPr>
          <p:cNvPr id="150532" name="Rectangle 4">
            <a:extLst>
              <a:ext uri="{FF2B5EF4-FFF2-40B4-BE49-F238E27FC236}">
                <a16:creationId xmlns:a16="http://schemas.microsoft.com/office/drawing/2014/main" id="{293B3D4A-40A4-4DEA-8E57-3DD84BD0C9AA}"/>
              </a:ext>
            </a:extLst>
          </p:cNvPr>
          <p:cNvSpPr>
            <a:spLocks noGrp="1" noChangeArrowheads="1"/>
          </p:cNvSpPr>
          <p:nvPr>
            <p:ph type="ftr" sz="quarter" idx="2"/>
          </p:nvPr>
        </p:nvSpPr>
        <p:spPr bwMode="auto">
          <a:xfrm>
            <a:off x="0" y="9083675"/>
            <a:ext cx="3211513"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Helvetica" pitchFamily="34" charset="0"/>
              </a:defRPr>
            </a:lvl1pPr>
          </a:lstStyle>
          <a:p>
            <a:pPr>
              <a:defRPr/>
            </a:pPr>
            <a:endParaRPr lang="en-US"/>
          </a:p>
        </p:txBody>
      </p:sp>
      <p:sp>
        <p:nvSpPr>
          <p:cNvPr id="150533" name="Rectangle 5">
            <a:extLst>
              <a:ext uri="{FF2B5EF4-FFF2-40B4-BE49-F238E27FC236}">
                <a16:creationId xmlns:a16="http://schemas.microsoft.com/office/drawing/2014/main" id="{570E2DCB-BF8E-47B0-83F5-F78B72F23C89}"/>
              </a:ext>
            </a:extLst>
          </p:cNvPr>
          <p:cNvSpPr>
            <a:spLocks noGrp="1" noChangeArrowheads="1"/>
          </p:cNvSpPr>
          <p:nvPr>
            <p:ph type="sldNum" sz="quarter" idx="3"/>
          </p:nvPr>
        </p:nvSpPr>
        <p:spPr bwMode="auto">
          <a:xfrm>
            <a:off x="4117975" y="9083675"/>
            <a:ext cx="3211513"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27CBD7C-450D-460D-AC79-8F774CC640F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CB2FA81-710E-4A45-861F-9D0375E95212}"/>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lvl1pPr algn="l" defTabSz="930275">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11DEAA3A-2986-4BDD-BD0C-F9521BBAC4EC}"/>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lvl1pPr algn="r" defTabSz="930275">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D49FCAE2-8159-45B8-B97D-2DBD6F73CB69}"/>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5D3018CC-78E1-4F95-B712-652DE0696A4B}"/>
              </a:ext>
            </a:extLst>
          </p:cNvPr>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7BA83B17-4990-4BDE-8AFE-193AD0A3C173}"/>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3104" tIns="46552" rIns="93104" bIns="46552" numCol="1" anchor="b" anchorCtr="0" compatLnSpc="1">
            <a:prstTxWarp prst="textNoShape">
              <a:avLst/>
            </a:prstTxWarp>
          </a:bodyPr>
          <a:lstStyle>
            <a:lvl1pPr algn="l" defTabSz="930275">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1E2DA47F-BB69-412C-89A3-2588051E9F1E}"/>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3104" tIns="46552" rIns="93104" bIns="46552" numCol="1" anchor="b" anchorCtr="0" compatLnSpc="1">
            <a:prstTxWarp prst="textNoShape">
              <a:avLst/>
            </a:prstTxWarp>
          </a:bodyPr>
          <a:lstStyle>
            <a:lvl1pPr algn="r" defTabSz="930275">
              <a:defRPr sz="1200">
                <a:latin typeface="Times New Roman" panose="02020603050405020304" pitchFamily="18" charset="0"/>
              </a:defRPr>
            </a:lvl1pPr>
          </a:lstStyle>
          <a:p>
            <a:fld id="{E67E337F-6044-4231-B9C1-A6EA7653524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a:t>
            </a:fld>
            <a:endParaRPr lang="en-US" altLang="en-US"/>
          </a:p>
        </p:txBody>
      </p:sp>
    </p:spTree>
    <p:extLst>
      <p:ext uri="{BB962C8B-B14F-4D97-AF65-F5344CB8AC3E}">
        <p14:creationId xmlns:p14="http://schemas.microsoft.com/office/powerpoint/2010/main" val="4211224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6476B-C719-7F8A-AF68-2DB7FC976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092B2-F997-AED5-C218-231FA2C1A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8987C-5F5E-771E-5F0C-50B1936CFE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6691DA-0F8D-19F5-D264-7FC91F9C8361}"/>
              </a:ext>
            </a:extLst>
          </p:cNvPr>
          <p:cNvSpPr>
            <a:spLocks noGrp="1"/>
          </p:cNvSpPr>
          <p:nvPr>
            <p:ph type="sldNum" sz="quarter" idx="5"/>
          </p:nvPr>
        </p:nvSpPr>
        <p:spPr/>
        <p:txBody>
          <a:bodyPr/>
          <a:lstStyle/>
          <a:p>
            <a:fld id="{94971001-0765-4275-A0AB-CEBA9F47F0D7}" type="slidenum">
              <a:rPr lang="en-US" altLang="en-US" smtClean="0"/>
              <a:pPr/>
              <a:t>2</a:t>
            </a:fld>
            <a:endParaRPr lang="en-US" altLang="en-US"/>
          </a:p>
        </p:txBody>
      </p:sp>
    </p:spTree>
    <p:extLst>
      <p:ext uri="{BB962C8B-B14F-4D97-AF65-F5344CB8AC3E}">
        <p14:creationId xmlns:p14="http://schemas.microsoft.com/office/powerpoint/2010/main" val="679096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C197F-6A4D-464A-98C2-BFCE5CA3F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A7136-988C-6711-82FF-37B61DCE2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25EAD-0C6D-93B9-F2F8-1D6D6A396A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24C504-35CE-D424-1908-D03FE837F19F}"/>
              </a:ext>
            </a:extLst>
          </p:cNvPr>
          <p:cNvSpPr>
            <a:spLocks noGrp="1"/>
          </p:cNvSpPr>
          <p:nvPr>
            <p:ph type="sldNum" sz="quarter" idx="5"/>
          </p:nvPr>
        </p:nvSpPr>
        <p:spPr/>
        <p:txBody>
          <a:bodyPr/>
          <a:lstStyle/>
          <a:p>
            <a:fld id="{94971001-0765-4275-A0AB-CEBA9F47F0D7}" type="slidenum">
              <a:rPr lang="en-US" altLang="en-US" smtClean="0"/>
              <a:pPr/>
              <a:t>4</a:t>
            </a:fld>
            <a:endParaRPr lang="en-US" altLang="en-US"/>
          </a:p>
        </p:txBody>
      </p:sp>
    </p:spTree>
    <p:extLst>
      <p:ext uri="{BB962C8B-B14F-4D97-AF65-F5344CB8AC3E}">
        <p14:creationId xmlns:p14="http://schemas.microsoft.com/office/powerpoint/2010/main" val="3987097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D8CA-F783-5FD0-6316-10A74F5B7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5E35F-5FD8-8709-36BD-E5733C6CB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3DA1F-9DED-6E6B-296B-C6FD6AE24B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0F245D-9410-CEC8-E1FC-B57416E23762}"/>
              </a:ext>
            </a:extLst>
          </p:cNvPr>
          <p:cNvSpPr>
            <a:spLocks noGrp="1"/>
          </p:cNvSpPr>
          <p:nvPr>
            <p:ph type="sldNum" sz="quarter" idx="5"/>
          </p:nvPr>
        </p:nvSpPr>
        <p:spPr/>
        <p:txBody>
          <a:bodyPr/>
          <a:lstStyle/>
          <a:p>
            <a:fld id="{94971001-0765-4275-A0AB-CEBA9F47F0D7}" type="slidenum">
              <a:rPr lang="en-US" altLang="en-US" smtClean="0"/>
              <a:pPr/>
              <a:t>5</a:t>
            </a:fld>
            <a:endParaRPr lang="en-US" altLang="en-US"/>
          </a:p>
        </p:txBody>
      </p:sp>
    </p:spTree>
    <p:extLst>
      <p:ext uri="{BB962C8B-B14F-4D97-AF65-F5344CB8AC3E}">
        <p14:creationId xmlns:p14="http://schemas.microsoft.com/office/powerpoint/2010/main" val="1830595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77577F22-D761-4346-B3D2-5BB26C2E4B3B}"/>
              </a:ext>
            </a:extLst>
          </p:cNvPr>
          <p:cNvSpPr>
            <a:spLocks noGrp="1" noRot="1" noChangeAspect="1" noChangeArrowheads="1" noTextEdit="1"/>
          </p:cNvSpPr>
          <p:nvPr>
            <p:ph type="sldImg"/>
          </p:nvPr>
        </p:nvSpPr>
        <p:spPr>
          <a:ln/>
        </p:spPr>
      </p:sp>
      <p:sp>
        <p:nvSpPr>
          <p:cNvPr id="16386" name="Notes Placeholder 2">
            <a:extLst>
              <a:ext uri="{FF2B5EF4-FFF2-40B4-BE49-F238E27FC236}">
                <a16:creationId xmlns:a16="http://schemas.microsoft.com/office/drawing/2014/main" id="{2E0CEE6E-4DD7-4359-B92B-5E0C5A2795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this chapter, we will talk about process synchronization. I have two points to highlight. Firstly, this is one of the most difficult but also the most important parts in an operating system. That is why we will spend two weeks’ time on process synchronization. We will learn the concepts with concrete examples, animations and also the scripts in the comment of the ppt. An extra slide stack has been uploaded to </a:t>
            </a:r>
            <a:r>
              <a:rPr lang="en-US" altLang="en-US">
                <a:solidFill>
                  <a:srgbClr val="FF0000"/>
                </a:solidFill>
                <a:latin typeface="Comic Sans MS" panose="030F0702030302020204" pitchFamily="66" charset="0"/>
                <a:sym typeface="Wingdings" panose="05000000000000000000" pitchFamily="2" charset="2"/>
              </a:rPr>
              <a:t>NTULearn</a:t>
            </a:r>
            <a:r>
              <a:rPr lang="en-US" altLang="en-US"/>
              <a:t>. I hope those additional animations can help you to better understand the concepts.</a:t>
            </a:r>
          </a:p>
          <a:p>
            <a:endParaRPr lang="en-US" altLang="en-US"/>
          </a:p>
          <a:p>
            <a:r>
              <a:rPr lang="en-US" altLang="en-US"/>
              <a:t>We first talk about critical-section problem. Next we will talk about the operating system support for process synchronization. </a:t>
            </a:r>
          </a:p>
        </p:txBody>
      </p:sp>
      <p:sp>
        <p:nvSpPr>
          <p:cNvPr id="16387" name="Slide Number Placeholder 3">
            <a:extLst>
              <a:ext uri="{FF2B5EF4-FFF2-40B4-BE49-F238E27FC236}">
                <a16:creationId xmlns:a16="http://schemas.microsoft.com/office/drawing/2014/main" id="{2A80F781-87D8-4445-A949-3300BA5BBA0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E4549EFA-F155-4C10-B01D-AAF565E478DC}"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9413321C-FAC6-424C-AD94-31C06B359055}"/>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55BD19B4-AB66-4876-9BDD-60B4601F27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Why we need process synchronization? Remember that cooperating/concurrent processes usually share some data. Concurrent access to shared data may result in data inconsistency. We should consider context switches in any place of process execution in order to consider all the possible interleaving orders.</a:t>
            </a:r>
          </a:p>
          <a:p>
            <a:r>
              <a:rPr lang="en-US" altLang="en-US"/>
              <a:t> </a:t>
            </a:r>
          </a:p>
          <a:p>
            <a:r>
              <a:rPr lang="en-US" altLang="en-US"/>
              <a:t>We need some mechanisms to ensure the orderly execution of cooperating processes. </a:t>
            </a:r>
          </a:p>
        </p:txBody>
      </p:sp>
      <p:sp>
        <p:nvSpPr>
          <p:cNvPr id="18435" name="Slide Number Placeholder 3">
            <a:extLst>
              <a:ext uri="{FF2B5EF4-FFF2-40B4-BE49-F238E27FC236}">
                <a16:creationId xmlns:a16="http://schemas.microsoft.com/office/drawing/2014/main" id="{2116B25E-3DF3-4AFA-8BD2-9C21AA578D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E69A49F4-8EB8-47C6-A8AC-C483E8CDF3C7}"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B13214A3-D901-406F-A155-F66068AE41EE}"/>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8A18B223-A758-48E1-A097-8076FFA1EF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look at one example. Suppose we have two processes in the producer and consumer example: producer and consumer. They share a variable counter to keep track of the number of items in the shared buffer. </a:t>
            </a:r>
          </a:p>
          <a:p>
            <a:endParaRPr lang="en-US" altLang="en-US"/>
          </a:p>
          <a:p>
            <a:r>
              <a:rPr lang="en-US" altLang="en-US"/>
              <a:t>Buffer is the shared buffer with BUFFER_SIZE size.</a:t>
            </a:r>
          </a:p>
          <a:p>
            <a:r>
              <a:rPr lang="en-US" altLang="en-US"/>
              <a:t>in and out are pointers.</a:t>
            </a:r>
          </a:p>
          <a:p>
            <a:r>
              <a:rPr lang="en-US" altLang="en-US"/>
              <a:t>in: the current empty slot in the buffer that the producer wants to put in.</a:t>
            </a:r>
          </a:p>
          <a:p>
            <a:r>
              <a:rPr lang="en-US" altLang="en-US"/>
              <a:t>out: the item in the buffer that the consumer wants to take from. </a:t>
            </a:r>
          </a:p>
          <a:p>
            <a:r>
              <a:rPr lang="en-US" altLang="en-US"/>
              <a:t>counter is the number of items in the buffer.</a:t>
            </a:r>
          </a:p>
          <a:p>
            <a:r>
              <a:rPr lang="en-US" altLang="en-US"/>
              <a:t>in and out are initialized with zero, and counter is also equal to zero.</a:t>
            </a:r>
          </a:p>
        </p:txBody>
      </p:sp>
      <p:sp>
        <p:nvSpPr>
          <p:cNvPr id="20483" name="Slide Number Placeholder 3">
            <a:extLst>
              <a:ext uri="{FF2B5EF4-FFF2-40B4-BE49-F238E27FC236}">
                <a16:creationId xmlns:a16="http://schemas.microsoft.com/office/drawing/2014/main" id="{AF5C0440-D7DD-4270-911C-4E0517127DC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F35DAF3A-78AE-4DC4-AA03-6CB401D9E655}"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E14B2BA5-1FBA-41FA-9423-4ACE96EF203A}"/>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6A4096E2-D27E-48F9-96F1-AFC68E34C5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the buffer is full, wait (pay attention to the semicolon).  Otherwise, we put the item into the buffer and increase the counter by one.</a:t>
            </a:r>
          </a:p>
          <a:p>
            <a:r>
              <a:rPr lang="en-US" altLang="en-US"/>
              <a:t>We use (in+1) mod BUFFER_SIZE, meaning that the buffer is a circular buffer. When the in value reaches the end of the buffer, it goes back to zero. </a:t>
            </a:r>
          </a:p>
        </p:txBody>
      </p:sp>
      <p:sp>
        <p:nvSpPr>
          <p:cNvPr id="22531" name="Slide Number Placeholder 3">
            <a:extLst>
              <a:ext uri="{FF2B5EF4-FFF2-40B4-BE49-F238E27FC236}">
                <a16:creationId xmlns:a16="http://schemas.microsoft.com/office/drawing/2014/main" id="{154DE0A4-C331-4464-9198-2ED737F3D2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4E4C0A8B-55A0-427B-AA35-DD3E289236CA}"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D854FCA8-8266-470C-9E51-99CBE29E4B58}"/>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7543571F-BA69-4297-83F4-49F3F3518D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Consumer: we check whether the buffer is empty. If it is empty, the consumer waits.</a:t>
            </a:r>
          </a:p>
          <a:p>
            <a:endParaRPr lang="en-US" altLang="en-US"/>
          </a:p>
          <a:p>
            <a:r>
              <a:rPr lang="en-US" altLang="en-US"/>
              <a:t>So, now, let’s see what are the shared variables in those two processes?</a:t>
            </a:r>
          </a:p>
          <a:p>
            <a:r>
              <a:rPr lang="en-US" altLang="en-US"/>
              <a:t>Between producer and consumer:</a:t>
            </a:r>
          </a:p>
          <a:p>
            <a:r>
              <a:rPr lang="en-US" altLang="en-US"/>
              <a:t>Counter is the shared variable.</a:t>
            </a:r>
          </a:p>
          <a:p>
            <a:r>
              <a:rPr lang="en-US" altLang="en-US"/>
              <a:t>Buffer is the address shared by both processes. However, it is read-only.</a:t>
            </a:r>
          </a:p>
        </p:txBody>
      </p:sp>
      <p:sp>
        <p:nvSpPr>
          <p:cNvPr id="24579" name="Slide Number Placeholder 3">
            <a:extLst>
              <a:ext uri="{FF2B5EF4-FFF2-40B4-BE49-F238E27FC236}">
                <a16:creationId xmlns:a16="http://schemas.microsoft.com/office/drawing/2014/main" id="{3C13DDC1-4624-4802-830A-7FE92C2786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0F89D10-10B8-4EB2-8507-FE7D596C72EB}"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37E9F875-E311-4ABE-B1E5-CA03C84C2BA4}"/>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613B5A6C-1C5B-441A-9DCC-3272578621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two statements counter++ and counter– may create inconsistent value due to race condition. Race condition means that the actual value depends on the order of process executions. Let’s see the details with an example. </a:t>
            </a:r>
          </a:p>
          <a:p>
            <a:endParaRPr lang="en-US" altLang="en-US"/>
          </a:p>
        </p:txBody>
      </p:sp>
      <p:sp>
        <p:nvSpPr>
          <p:cNvPr id="26627" name="Slide Number Placeholder 3">
            <a:extLst>
              <a:ext uri="{FF2B5EF4-FFF2-40B4-BE49-F238E27FC236}">
                <a16:creationId xmlns:a16="http://schemas.microsoft.com/office/drawing/2014/main" id="{D7EEA8EB-276A-4FA0-8BCC-A51BA15F5D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72F6AD2E-9408-49E1-82D0-39D2392D5254}"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ED288E01-A24E-4640-925C-61331D8EAFC8}"/>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BCFB5A02-410B-4585-98D3-5716AB139D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@one animation in the additional slide.</a:t>
            </a:r>
          </a:p>
          <a:p>
            <a:endParaRPr lang="en-US" altLang="en-US"/>
          </a:p>
          <a:p>
            <a:r>
              <a:rPr lang="en-US" altLang="en-US"/>
              <a:t>This example shows that different execution orders of multiple processes may result in data inconsistency. The actual value of the shared variable depends on the order of process executions. We need to consider all possible context switch places to check whether inconsistency is possible. </a:t>
            </a:r>
          </a:p>
        </p:txBody>
      </p:sp>
      <p:sp>
        <p:nvSpPr>
          <p:cNvPr id="28675" name="Slide Number Placeholder 3">
            <a:extLst>
              <a:ext uri="{FF2B5EF4-FFF2-40B4-BE49-F238E27FC236}">
                <a16:creationId xmlns:a16="http://schemas.microsoft.com/office/drawing/2014/main" id="{E56CC727-9F98-4D82-BE87-8E3BC80210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7544F096-6148-4079-BDCF-B52709D1E1D6}"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1B5BD039-8291-43F0-BE03-0FC68144589D}"/>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046AAD75-C01A-4F6C-A21C-4747B024C8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we define the critical section problem. In this problem, we have multiple processes all competing to use some shared data. Each process has a code segment called critical section, where the shared data is accessed. At least one of the processes is updating the data.</a:t>
            </a:r>
          </a:p>
          <a:p>
            <a:endParaRPr lang="en-US" altLang="en-US"/>
          </a:p>
          <a:p>
            <a:r>
              <a:rPr lang="en-US" altLang="en-US"/>
              <a:t>So, the critical section problem is to design a protocol to ensure that when a process is executing in its critical section, no other process is allowed to execute in its critical section. That means, at any time, there is at most one process in the critical section.</a:t>
            </a:r>
          </a:p>
          <a:p>
            <a:endParaRPr lang="en-US" altLang="en-US"/>
          </a:p>
          <a:p>
            <a:r>
              <a:rPr lang="en-US" altLang="en-US"/>
              <a:t>In the previous example, counter++ and counter-- are critical section code. If at any time, there is at most one process in its critical session </a:t>
            </a:r>
            <a:r>
              <a:rPr lang="en-US" altLang="en-US">
                <a:sym typeface="Wingdings" panose="05000000000000000000" pitchFamily="2" charset="2"/>
              </a:rPr>
              <a:t> no context switch in the middle of the critical session  data consistency is achieved. </a:t>
            </a:r>
            <a:endParaRPr lang="en-SG" altLang="en-US"/>
          </a:p>
          <a:p>
            <a:endParaRPr lang="en-SG" altLang="en-US"/>
          </a:p>
        </p:txBody>
      </p:sp>
      <p:sp>
        <p:nvSpPr>
          <p:cNvPr id="30723" name="Slide Number Placeholder 3">
            <a:extLst>
              <a:ext uri="{FF2B5EF4-FFF2-40B4-BE49-F238E27FC236}">
                <a16:creationId xmlns:a16="http://schemas.microsoft.com/office/drawing/2014/main" id="{40CAFCB0-B89E-4C52-87DA-2345B105C0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7C384E0-404A-414F-BDFC-0A829657ECD3}"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B2A66C53-89DD-474A-BB0A-903F98D2C526}"/>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A9109204-174C-4492-9177-52090150EE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model each process with a program structure. Each process must ask permission to enter the critical section in entry section, then enter the critical section to access the shared variables, and exit it in the exit section. In the exit section it indicates that the other processes can go into the critical section. Remainder sections are for other (non critical section) logic.</a:t>
            </a:r>
          </a:p>
          <a:p>
            <a:r>
              <a:rPr lang="en-US" altLang="en-US"/>
              <a:t> </a:t>
            </a:r>
          </a:p>
          <a:p>
            <a:r>
              <a:rPr lang="en-US" altLang="en-US"/>
              <a:t>The loop is to allow you to explore all possible orders of executions (different places to perform context switches). </a:t>
            </a:r>
            <a:r>
              <a:rPr lang="en-US" altLang="en-US">
                <a:sym typeface="Wingdings" panose="05000000000000000000" pitchFamily="2" charset="2"/>
              </a:rPr>
              <a:t>Our implementation of the entry section/exit section should be correct for all the possible orders of executions. </a:t>
            </a:r>
          </a:p>
          <a:p>
            <a:endParaRPr lang="en-US" altLang="en-US"/>
          </a:p>
          <a:p>
            <a:r>
              <a:rPr lang="en-US" altLang="en-US"/>
              <a:t>We will now offer some solutions in implementing entry section and exit section in order to solve the critical section problem.</a:t>
            </a:r>
          </a:p>
          <a:p>
            <a:endParaRPr lang="en-US" altLang="en-US"/>
          </a:p>
        </p:txBody>
      </p:sp>
      <p:sp>
        <p:nvSpPr>
          <p:cNvPr id="32771" name="Slide Number Placeholder 3">
            <a:extLst>
              <a:ext uri="{FF2B5EF4-FFF2-40B4-BE49-F238E27FC236}">
                <a16:creationId xmlns:a16="http://schemas.microsoft.com/office/drawing/2014/main" id="{551A92E8-9277-4D16-AA3E-50A310DA92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AFE3FF8E-C8D3-42E4-B9AE-5E3C8485C955}"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010479EC-2B61-41FD-8A55-578E98B03FD0}"/>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139463C7-A1CC-4942-8B49-9F3DB64C22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Mutual exclusion means the solution must guarantee that, at any time, there is at most one process in the critical section. </a:t>
            </a:r>
          </a:p>
          <a:p>
            <a:endParaRPr lang="en-US" altLang="en-US"/>
          </a:p>
          <a:p>
            <a:endParaRPr lang="en-US" altLang="en-US"/>
          </a:p>
        </p:txBody>
      </p:sp>
      <p:sp>
        <p:nvSpPr>
          <p:cNvPr id="34819" name="Slide Number Placeholder 3">
            <a:extLst>
              <a:ext uri="{FF2B5EF4-FFF2-40B4-BE49-F238E27FC236}">
                <a16:creationId xmlns:a16="http://schemas.microsoft.com/office/drawing/2014/main" id="{88AC7369-8F91-43AE-A965-0A40F4B22D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9ECDEBAB-C105-4D8F-A86A-3CA580A5DA68}"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7FEA2CF1-15AE-4AE7-8634-00E4328D5DCD}"/>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BD0F48DF-1C17-4E2D-A022-4CD9A015DF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Progress: If there is no process in the critical section, a process requesting to enter the critical section will eventually enter it. Progress means that a process that is not in the critical section cannot block other processes from entering the critical section. Bounded waiting means a process can eventually get the chance to enter the critical section. </a:t>
            </a:r>
          </a:p>
          <a:p>
            <a:endParaRPr lang="en-US" altLang="en-US"/>
          </a:p>
          <a:p>
            <a:r>
              <a:rPr lang="en-US" altLang="en-US"/>
              <a:t>A correct solution to a critical section problem should satisfy all the three requirements. If any of the three requirements is violated, the solution is wrong. </a:t>
            </a:r>
          </a:p>
          <a:p>
            <a:endParaRPr lang="en-US" altLang="en-US"/>
          </a:p>
          <a:p>
            <a:r>
              <a:rPr lang="en-US" altLang="en-US"/>
              <a:t>There is a circumstance called live-lock (corresponding to deadlock), in which two or more processes are organized as a process group, all the processes can acquire or release lock, which satisfies bounded waiting, but the process group cannot progress (or why we call it live-lock. :-)).</a:t>
            </a:r>
          </a:p>
          <a:p>
            <a:endParaRPr lang="en-US" altLang="en-US"/>
          </a:p>
        </p:txBody>
      </p:sp>
      <p:sp>
        <p:nvSpPr>
          <p:cNvPr id="36867" name="Slide Number Placeholder 3">
            <a:extLst>
              <a:ext uri="{FF2B5EF4-FFF2-40B4-BE49-F238E27FC236}">
                <a16:creationId xmlns:a16="http://schemas.microsoft.com/office/drawing/2014/main" id="{CAC9164A-1C45-4905-B202-086E757AF1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A5B56E61-6431-48A8-81B9-A35B2DA65046}"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FBDA9-3BF0-1C09-2146-A56C4C0D3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567F2-B355-7C08-993B-045576B93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D38862-3522-2D2A-7F57-25B1018F90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EA8CD-FF53-0412-1544-C66724CC84E7}"/>
              </a:ext>
            </a:extLst>
          </p:cNvPr>
          <p:cNvSpPr>
            <a:spLocks noGrp="1"/>
          </p:cNvSpPr>
          <p:nvPr>
            <p:ph type="sldNum" sz="quarter" idx="5"/>
          </p:nvPr>
        </p:nvSpPr>
        <p:spPr/>
        <p:txBody>
          <a:bodyPr/>
          <a:lstStyle/>
          <a:p>
            <a:fld id="{94971001-0765-4275-A0AB-CEBA9F47F0D7}" type="slidenum">
              <a:rPr lang="en-US" altLang="en-US" smtClean="0"/>
              <a:pPr/>
              <a:t>17</a:t>
            </a:fld>
            <a:endParaRPr lang="en-US" altLang="en-US"/>
          </a:p>
        </p:txBody>
      </p:sp>
    </p:spTree>
    <p:extLst>
      <p:ext uri="{BB962C8B-B14F-4D97-AF65-F5344CB8AC3E}">
        <p14:creationId xmlns:p14="http://schemas.microsoft.com/office/powerpoint/2010/main" val="282877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48001C0D-5D74-4729-AB5D-82FA94D83AAD}"/>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C4B398D5-47B6-45A0-A910-DB42294DED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a:p>
        </p:txBody>
      </p:sp>
      <p:sp>
        <p:nvSpPr>
          <p:cNvPr id="38915" name="Slide Number Placeholder 3">
            <a:extLst>
              <a:ext uri="{FF2B5EF4-FFF2-40B4-BE49-F238E27FC236}">
                <a16:creationId xmlns:a16="http://schemas.microsoft.com/office/drawing/2014/main" id="{4C6AD034-0FB1-4D4D-9D02-E27640F295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56BD6D90-C38F-4DAA-8DCE-AE266CDC7C2A}"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96298CBD-F511-4A6A-88F9-95BC3D868DAE}"/>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FEEB5578-0B07-4EAC-BFAC-F6494E857D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Before we talk about operating system support for the critical section problem, we look at software solutions without operating system support. </a:t>
            </a:r>
          </a:p>
          <a:p>
            <a:r>
              <a:rPr lang="en-US" altLang="en-US"/>
              <a:t>Two points:</a:t>
            </a:r>
          </a:p>
          <a:p>
            <a:r>
              <a:rPr lang="en-US" altLang="en-US"/>
              <a:t>1. We learn how to analyze whether a solution can satisfy the three requirements.</a:t>
            </a:r>
          </a:p>
          <a:p>
            <a:r>
              <a:rPr lang="en-US" altLang="en-US"/>
              <a:t>2. These solutions are implemented by users, without any special support from OS. </a:t>
            </a:r>
          </a:p>
          <a:p>
            <a:endParaRPr lang="en-US" altLang="en-US"/>
          </a:p>
          <a:p>
            <a:r>
              <a:rPr lang="en-US" altLang="en-US"/>
              <a:t>Here, we want to use these examples to show you: these software approaches are difficult to write, even for two processes. Thus, it is necessary for OS to provide support.</a:t>
            </a:r>
          </a:p>
        </p:txBody>
      </p:sp>
      <p:sp>
        <p:nvSpPr>
          <p:cNvPr id="40963" name="Slide Number Placeholder 3">
            <a:extLst>
              <a:ext uri="{FF2B5EF4-FFF2-40B4-BE49-F238E27FC236}">
                <a16:creationId xmlns:a16="http://schemas.microsoft.com/office/drawing/2014/main" id="{35020CDA-19D7-4C6F-AA9E-210D8324F8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C5C1D42E-BBFF-4398-B068-91D94E7B6557}"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9C5CFDED-3FA7-4586-BF8B-18CCE091898B}"/>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72AA157D-5146-487D-AED0-451D67927D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First try: Algorithm 1. We define one shared variable: turn. If turn=0, P0 can enter its critical section, otherwise P1 can enter its critical section. </a:t>
            </a:r>
          </a:p>
        </p:txBody>
      </p:sp>
      <p:sp>
        <p:nvSpPr>
          <p:cNvPr id="43011" name="Slide Number Placeholder 3">
            <a:extLst>
              <a:ext uri="{FF2B5EF4-FFF2-40B4-BE49-F238E27FC236}">
                <a16:creationId xmlns:a16="http://schemas.microsoft.com/office/drawing/2014/main" id="{9A6C3F33-4A9D-442D-B6D7-650F8A673A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C737218E-4407-46F6-90AA-BB73CB86ECBB}"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B79AE-5999-5D8F-6724-5D8C3FDCA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03C87-4DA7-557D-ED61-6920100D0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73DAB-C1AC-D894-1B3F-2A39F216F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64B388-508A-93CA-39DF-7B125D9ABD72}"/>
              </a:ext>
            </a:extLst>
          </p:cNvPr>
          <p:cNvSpPr>
            <a:spLocks noGrp="1"/>
          </p:cNvSpPr>
          <p:nvPr>
            <p:ph type="sldNum" sz="quarter" idx="5"/>
          </p:nvPr>
        </p:nvSpPr>
        <p:spPr/>
        <p:txBody>
          <a:bodyPr/>
          <a:lstStyle/>
          <a:p>
            <a:fld id="{94971001-0765-4275-A0AB-CEBA9F47F0D7}" type="slidenum">
              <a:rPr lang="en-US" altLang="en-US" smtClean="0"/>
              <a:pPr/>
              <a:t>23</a:t>
            </a:fld>
            <a:endParaRPr lang="en-US" altLang="en-US"/>
          </a:p>
        </p:txBody>
      </p:sp>
    </p:spTree>
    <p:extLst>
      <p:ext uri="{BB962C8B-B14F-4D97-AF65-F5344CB8AC3E}">
        <p14:creationId xmlns:p14="http://schemas.microsoft.com/office/powerpoint/2010/main" val="3265341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D7859CC6-29C2-422D-8388-6443920C66DE}"/>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808426D8-0F21-4BCE-9AA0-11EA00D08E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**Best practices for analyzing BMP (Bounded Waiting, Mutual Exclusion, Progress)***</a:t>
            </a:r>
          </a:p>
          <a:p>
            <a:endParaRPr lang="en-US" altLang="en-US" b="1"/>
          </a:p>
          <a:p>
            <a:r>
              <a:rPr lang="en-US" altLang="en-US" sz="1400" b="1"/>
              <a:t>- Mutual exclusion: we assume that one process is in the critical session, and then see if the other process can enter the critical section. If yes, mutual exclusion is violated. Otherwise, mutual exclusion is satisfied in this scenario. we can check the other way around. </a:t>
            </a:r>
          </a:p>
          <a:p>
            <a:endParaRPr lang="en-US" altLang="en-US" sz="1400" b="1"/>
          </a:p>
          <a:p>
            <a:r>
              <a:rPr lang="en-US" altLang="en-US" sz="1400" b="1"/>
              <a:t>- Progress: we consider the scenario if no process is in the critical section. Let’s consider if a process is in the entry/exit section, will it stop other processes to go into the critical section? If yes, progress is violated.</a:t>
            </a:r>
          </a:p>
          <a:p>
            <a:endParaRPr lang="en-US" altLang="en-US" sz="1400" b="1"/>
          </a:p>
          <a:p>
            <a:r>
              <a:rPr lang="en-US" altLang="en-US" sz="1400" b="1"/>
              <a:t>- Bounded wait: whether it allows infinite cutting in. usually no problem.</a:t>
            </a:r>
          </a:p>
        </p:txBody>
      </p:sp>
      <p:sp>
        <p:nvSpPr>
          <p:cNvPr id="45059" name="Slide Number Placeholder 3">
            <a:extLst>
              <a:ext uri="{FF2B5EF4-FFF2-40B4-BE49-F238E27FC236}">
                <a16:creationId xmlns:a16="http://schemas.microsoft.com/office/drawing/2014/main" id="{090AA670-B50E-4499-8BE4-D71AF8982DD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8EA98CE6-0C75-4965-B7E6-D09BB8C2375D}"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D808E-39FC-BF21-BAE9-B41145D82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60800-213E-B371-9031-386E1BACE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2A74C-C737-A61E-F901-F285A936BB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BECC0F-862B-BF8C-4D75-26543BCF956E}"/>
              </a:ext>
            </a:extLst>
          </p:cNvPr>
          <p:cNvSpPr>
            <a:spLocks noGrp="1"/>
          </p:cNvSpPr>
          <p:nvPr>
            <p:ph type="sldNum" sz="quarter" idx="5"/>
          </p:nvPr>
        </p:nvSpPr>
        <p:spPr/>
        <p:txBody>
          <a:bodyPr/>
          <a:lstStyle/>
          <a:p>
            <a:fld id="{94971001-0765-4275-A0AB-CEBA9F47F0D7}" type="slidenum">
              <a:rPr lang="en-US" altLang="en-US" smtClean="0"/>
              <a:pPr/>
              <a:t>25</a:t>
            </a:fld>
            <a:endParaRPr lang="en-US" altLang="en-US"/>
          </a:p>
        </p:txBody>
      </p:sp>
    </p:spTree>
    <p:extLst>
      <p:ext uri="{BB962C8B-B14F-4D97-AF65-F5344CB8AC3E}">
        <p14:creationId xmlns:p14="http://schemas.microsoft.com/office/powerpoint/2010/main" val="1934592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ECE21CE1-613A-44CF-BA05-B89349B6825C}"/>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E6267E53-C5DA-42D9-9750-393FEB35E8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Shortcoming of Algorithm 1: The single shared variable is not sufficient to remember the state of each process. It only records the process that is allowed to enter its critical section. To address this problem, we use two shared variables. Flag[0] and flag[1].</a:t>
            </a:r>
          </a:p>
          <a:p>
            <a:endParaRPr lang="en-US" altLang="en-US"/>
          </a:p>
          <a:p>
            <a:r>
              <a:rPr lang="en-US" altLang="en-US"/>
              <a:t>In the entry section, we set our flag to be true. Then, we wait for flag[k] to be false, that means pk has left the critical section.</a:t>
            </a:r>
          </a:p>
          <a:p>
            <a:endParaRPr lang="en-US" altLang="en-US"/>
          </a:p>
          <a:p>
            <a:r>
              <a:rPr lang="en-US" altLang="en-US"/>
              <a:t>In the exit section, we set flag[i] to be false, meaning that Pi has left the critical section.</a:t>
            </a:r>
          </a:p>
        </p:txBody>
      </p:sp>
      <p:sp>
        <p:nvSpPr>
          <p:cNvPr id="47107" name="Slide Number Placeholder 3">
            <a:extLst>
              <a:ext uri="{FF2B5EF4-FFF2-40B4-BE49-F238E27FC236}">
                <a16:creationId xmlns:a16="http://schemas.microsoft.com/office/drawing/2014/main" id="{A6DC0855-4014-4AF4-A66C-6329E2987A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DE76BC52-F2EF-437A-9CAF-A809EC3682E7}"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210AB-2F4D-0302-8203-39EDCCB55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B7DE7-26B9-859B-D76D-5DB015150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8D572-2803-4596-5FB0-8C8F338855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101C1C-6C87-6052-5B2D-247D15C2D2C6}"/>
              </a:ext>
            </a:extLst>
          </p:cNvPr>
          <p:cNvSpPr>
            <a:spLocks noGrp="1"/>
          </p:cNvSpPr>
          <p:nvPr>
            <p:ph type="sldNum" sz="quarter" idx="5"/>
          </p:nvPr>
        </p:nvSpPr>
        <p:spPr/>
        <p:txBody>
          <a:bodyPr/>
          <a:lstStyle/>
          <a:p>
            <a:fld id="{94971001-0765-4275-A0AB-CEBA9F47F0D7}" type="slidenum">
              <a:rPr lang="en-US" altLang="en-US" smtClean="0"/>
              <a:pPr/>
              <a:t>27</a:t>
            </a:fld>
            <a:endParaRPr lang="en-US" altLang="en-US"/>
          </a:p>
        </p:txBody>
      </p:sp>
    </p:spTree>
    <p:extLst>
      <p:ext uri="{BB962C8B-B14F-4D97-AF65-F5344CB8AC3E}">
        <p14:creationId xmlns:p14="http://schemas.microsoft.com/office/powerpoint/2010/main" val="34527852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2B135228-170A-4FAE-90E6-EF8315472691}"/>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1D9FAC52-D287-4B94-8D9A-DF49970D14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5" name="Slide Number Placeholder 3">
            <a:extLst>
              <a:ext uri="{FF2B5EF4-FFF2-40B4-BE49-F238E27FC236}">
                <a16:creationId xmlns:a16="http://schemas.microsoft.com/office/drawing/2014/main" id="{4319F3EC-033F-4EC5-8F1C-F32530FDF1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2C416D43-A447-4C94-951E-F203A13413D5}"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891459F7-885B-4A69-860D-20B8A0C9FD6D}"/>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5217E59D-2296-49C8-BF13-5221001A21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algorithm combines the ideas of algorithms 1 and 2. </a:t>
            </a:r>
          </a:p>
          <a:p>
            <a:endParaRPr lang="en-US" altLang="en-US"/>
          </a:p>
          <a:p>
            <a:r>
              <a:rPr lang="en-US" altLang="en-US"/>
              <a:t>This algorithm satisfies the three requirements of a solution to the critical section problem. Let’s see how it solves the problem of algorithms 1 and 2.</a:t>
            </a:r>
          </a:p>
          <a:p>
            <a:r>
              <a:rPr lang="en-US" altLang="en-US"/>
              <a:t>In the entry section: we indicate the intension of entering the critical section by setting flag[i]=true, and also set turn to be k. If flag[k]=true and turn=k, that means process Pk has expressed intent to enter the critical section and it is its turn. If either condition is false, we can enter the critical section. </a:t>
            </a:r>
          </a:p>
        </p:txBody>
      </p:sp>
      <p:sp>
        <p:nvSpPr>
          <p:cNvPr id="51203" name="Slide Number Placeholder 3">
            <a:extLst>
              <a:ext uri="{FF2B5EF4-FFF2-40B4-BE49-F238E27FC236}">
                <a16:creationId xmlns:a16="http://schemas.microsoft.com/office/drawing/2014/main" id="{4C47CB71-8B56-4EBB-9F46-061314886B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129D395A-7CE0-4995-A2CE-FED73677698A}"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EEF64-6D78-54D1-C90E-9A162AD80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A7C5D-2183-A459-4C64-320D17541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82F00-4381-4CB2-B212-9206F31164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07EE41-BF24-190F-B237-C9A14BDEF8A1}"/>
              </a:ext>
            </a:extLst>
          </p:cNvPr>
          <p:cNvSpPr>
            <a:spLocks noGrp="1"/>
          </p:cNvSpPr>
          <p:nvPr>
            <p:ph type="sldNum" sz="quarter" idx="5"/>
          </p:nvPr>
        </p:nvSpPr>
        <p:spPr/>
        <p:txBody>
          <a:bodyPr/>
          <a:lstStyle/>
          <a:p>
            <a:fld id="{94971001-0765-4275-A0AB-CEBA9F47F0D7}" type="slidenum">
              <a:rPr lang="en-US" altLang="en-US" smtClean="0"/>
              <a:pPr/>
              <a:t>30</a:t>
            </a:fld>
            <a:endParaRPr lang="en-US" altLang="en-US"/>
          </a:p>
        </p:txBody>
      </p:sp>
    </p:spTree>
    <p:extLst>
      <p:ext uri="{BB962C8B-B14F-4D97-AF65-F5344CB8AC3E}">
        <p14:creationId xmlns:p14="http://schemas.microsoft.com/office/powerpoint/2010/main" val="3860053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81D06E02-72F3-49CA-9375-6C1C25F63F12}"/>
              </a:ext>
            </a:extLst>
          </p:cNvPr>
          <p:cNvSpPr>
            <a:spLocks noGrp="1" noRot="1" noChangeAspect="1" noChangeArrowheads="1" noTextEdit="1"/>
          </p:cNvSpPr>
          <p:nvPr>
            <p:ph type="sldImg"/>
          </p:nvPr>
        </p:nvSpPr>
        <p:spPr>
          <a:ln/>
        </p:spPr>
      </p:sp>
      <p:sp>
        <p:nvSpPr>
          <p:cNvPr id="53250" name="Notes Placeholder 2">
            <a:extLst>
              <a:ext uri="{FF2B5EF4-FFF2-40B4-BE49-F238E27FC236}">
                <a16:creationId xmlns:a16="http://schemas.microsoft.com/office/drawing/2014/main" id="{0A0C987D-DAF4-4B11-A60A-6E4502C7C0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Algorithm 3 meets all the three requirements. It solves the critical section problem for two processes. Please refer the textbook for the proof. The proof is just for your reference.</a:t>
            </a:r>
          </a:p>
          <a:p>
            <a:endParaRPr lang="en-US" altLang="en-US"/>
          </a:p>
          <a:p>
            <a:r>
              <a:rPr lang="en-US" altLang="en-US"/>
              <a:t>The algorithm is developed by a famous Microsoft researcher named Leslie Lamport.  I have shown you how difficult it is to implement a solution with software approaches (via shared variable).</a:t>
            </a:r>
          </a:p>
          <a:p>
            <a:endParaRPr lang="en-US" altLang="en-US"/>
          </a:p>
          <a:p>
            <a:r>
              <a:rPr lang="en-US" altLang="en-US"/>
              <a:t>In summary, we have learnt different implementations for the critical section problem. Here, the important point is to show you how to analyze whether an implementation can solve the problem. You are not required to remember the detailed algorithm, for example, in our exam, we will *not* examine you the detailed algorithm. We will not ask you what algorithm 1 is, what algorithm 2 is… the important thing is that, given an algorithm/example, you should be able to analyze whether it satisfies the three requirements. There is one question in the tutorial. Please attempt it. </a:t>
            </a:r>
          </a:p>
        </p:txBody>
      </p:sp>
      <p:sp>
        <p:nvSpPr>
          <p:cNvPr id="53251" name="Slide Number Placeholder 3">
            <a:extLst>
              <a:ext uri="{FF2B5EF4-FFF2-40B4-BE49-F238E27FC236}">
                <a16:creationId xmlns:a16="http://schemas.microsoft.com/office/drawing/2014/main" id="{433DA96C-7E09-4631-81BB-D89B77C15FC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BA097CD7-1BF4-4A31-8F2C-39704F093BEC}"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5B37B2CC-6D37-4646-9C2B-475F06FF6BDD}"/>
              </a:ext>
            </a:extLst>
          </p:cNvPr>
          <p:cNvSpPr>
            <a:spLocks noGrp="1" noRot="1" noChangeAspect="1" noChangeArrowheads="1" noTextEdit="1"/>
          </p:cNvSpPr>
          <p:nvPr>
            <p:ph type="sldImg"/>
          </p:nvPr>
        </p:nvSpPr>
        <p:spPr>
          <a:ln/>
        </p:spPr>
      </p:sp>
      <p:sp>
        <p:nvSpPr>
          <p:cNvPr id="55298" name="Notes Placeholder 2">
            <a:extLst>
              <a:ext uri="{FF2B5EF4-FFF2-40B4-BE49-F238E27FC236}">
                <a16:creationId xmlns:a16="http://schemas.microsoft.com/office/drawing/2014/main" id="{612BC4C9-446B-4D7C-9CB6-17FE404402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a:p>
        </p:txBody>
      </p:sp>
      <p:sp>
        <p:nvSpPr>
          <p:cNvPr id="55299" name="Slide Number Placeholder 3">
            <a:extLst>
              <a:ext uri="{FF2B5EF4-FFF2-40B4-BE49-F238E27FC236}">
                <a16:creationId xmlns:a16="http://schemas.microsoft.com/office/drawing/2014/main" id="{FFF5F830-6409-40D0-B29C-A2C67E3296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47B32CA6-3578-480A-8AF3-55259B284253}"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6F12EDA7-EE42-4A71-BCDA-62446C4F3691}"/>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46FEECE8-F146-4881-8339-31013BA964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review what we have learnt in our last lecture. We started with talking about the critical section problem. there are three requirements: mutual exclusion, progress and bounded waiting. You can refer to the previous slides for the detailed definition of each requirement. Then, we talk about software approaches to solve this problem, and those approaches are without operating system support. There are three algorithms for solving the critical section problem of two processes. Algorithm 1, 2, and 3. Algorithms 1 and 2 have progress violations, and Algorithm 3 satisfies all the three requirements. However, software approaches are too difficult to implement for multiple processes. Thus, we need the support from operating system. </a:t>
            </a:r>
          </a:p>
          <a:p>
            <a:endParaRPr lang="en-US" altLang="en-US"/>
          </a:p>
          <a:p>
            <a:r>
              <a:rPr lang="en-US" altLang="en-US"/>
              <a:t>Operating system has the following three kinds of support for critical section: synchronization hardware, semaphore and monitor (we focus on the first two). They are from low level to high level. We will discuss it one by one. For each kind, we first look at how operating system implements the process synchronization mechanisms. Then we talk about how we can use the mechanisms to implement process synchronization. </a:t>
            </a:r>
          </a:p>
          <a:p>
            <a:endParaRPr lang="en-US" altLang="en-US"/>
          </a:p>
          <a:p>
            <a:endParaRPr lang="en-US" altLang="en-US"/>
          </a:p>
        </p:txBody>
      </p:sp>
      <p:sp>
        <p:nvSpPr>
          <p:cNvPr id="57347" name="Slide Number Placeholder 3">
            <a:extLst>
              <a:ext uri="{FF2B5EF4-FFF2-40B4-BE49-F238E27FC236}">
                <a16:creationId xmlns:a16="http://schemas.microsoft.com/office/drawing/2014/main" id="{8E58670A-E6F3-424F-8C8D-1E85975920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BC4501C-0046-4B70-802B-70C81085B777}"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57CFD148-0462-4522-9A87-EDB438ED8406}"/>
              </a:ext>
            </a:extLst>
          </p:cNvPr>
          <p:cNvSpPr>
            <a:spLocks noGrp="1" noRot="1" noChangeAspect="1" noChangeArrowheads="1" noTextEdit="1"/>
          </p:cNvSpPr>
          <p:nvPr>
            <p:ph type="sldImg"/>
          </p:nvPr>
        </p:nvSpPr>
        <p:spPr>
          <a:ln/>
        </p:spPr>
      </p:sp>
      <p:sp>
        <p:nvSpPr>
          <p:cNvPr id="59394" name="Notes Placeholder 2">
            <a:extLst>
              <a:ext uri="{FF2B5EF4-FFF2-40B4-BE49-F238E27FC236}">
                <a16:creationId xmlns:a16="http://schemas.microsoft.com/office/drawing/2014/main" id="{833B68D9-104C-4860-9678-4E211339DF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Modern hardware usually offer some atomic operations or instructions. An atomic operation means that the operation is executed in order without preemption. The execution of an atomic operation is non-interruptible, meaning that there is no context switch from the first line till the last line.</a:t>
            </a:r>
          </a:p>
          <a:p>
            <a:r>
              <a:rPr lang="en-US" altLang="en-US"/>
              <a:t> </a:t>
            </a:r>
          </a:p>
          <a:p>
            <a:r>
              <a:rPr lang="en-US" altLang="en-US"/>
              <a:t>TestAndSet is a common one. It reads a value and changes the value of the target word atomically. The return value is the old value of the target word. Note * denotes a pointer in c/c++.</a:t>
            </a:r>
          </a:p>
          <a:p>
            <a:endParaRPr lang="en-US" altLang="en-US"/>
          </a:p>
          <a:p>
            <a:r>
              <a:rPr lang="en-US" altLang="en-US"/>
              <a:t>Interrupt is disabled -&gt; OS will disable the context switch before the first line is executed. OS will enable the context switch after the last line is executed.</a:t>
            </a:r>
          </a:p>
        </p:txBody>
      </p:sp>
      <p:sp>
        <p:nvSpPr>
          <p:cNvPr id="59395" name="Slide Number Placeholder 3">
            <a:extLst>
              <a:ext uri="{FF2B5EF4-FFF2-40B4-BE49-F238E27FC236}">
                <a16:creationId xmlns:a16="http://schemas.microsoft.com/office/drawing/2014/main" id="{EDAED9AD-FECE-4235-ADF3-6B2E375B53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28ADAA1A-A043-4A63-B26B-40A2703FC388}"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CC9ECB70-DAB2-4669-B074-70B89936513A}"/>
              </a:ext>
            </a:extLst>
          </p:cNvPr>
          <p:cNvSpPr>
            <a:spLocks noGrp="1" noRot="1" noChangeAspect="1" noChangeArrowheads="1" noTextEdit="1"/>
          </p:cNvSpPr>
          <p:nvPr>
            <p:ph type="sldImg"/>
          </p:nvPr>
        </p:nvSpPr>
        <p:spPr>
          <a:ln/>
        </p:spPr>
      </p:sp>
      <p:sp>
        <p:nvSpPr>
          <p:cNvPr id="61442" name="Notes Placeholder 2">
            <a:extLst>
              <a:ext uri="{FF2B5EF4-FFF2-40B4-BE49-F238E27FC236}">
                <a16:creationId xmlns:a16="http://schemas.microsoft.com/office/drawing/2014/main" id="{9D4CFD96-D9E7-4712-843C-FCBB7A27275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can use TestAndSet to implement mutual exclusion. We define a lock boolean variable. Initially, it is false. &amp; is the address of the variable in c/c++.</a:t>
            </a:r>
          </a:p>
          <a:p>
            <a:endParaRPr lang="en-US" altLang="en-US"/>
          </a:p>
        </p:txBody>
      </p:sp>
      <p:sp>
        <p:nvSpPr>
          <p:cNvPr id="61443" name="Slide Number Placeholder 3">
            <a:extLst>
              <a:ext uri="{FF2B5EF4-FFF2-40B4-BE49-F238E27FC236}">
                <a16:creationId xmlns:a16="http://schemas.microsoft.com/office/drawing/2014/main" id="{AD0C2DD1-39F1-4279-AD71-EC4D56E6C0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D5F8840C-ECF4-4FF8-A582-7DFE5F5CB749}"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61A35997-211B-4527-B6CB-4EBA258839A4}"/>
              </a:ext>
            </a:extLst>
          </p:cNvPr>
          <p:cNvSpPr>
            <a:spLocks noGrp="1" noRot="1" noChangeAspect="1" noChangeArrowheads="1" noTextEdit="1"/>
          </p:cNvSpPr>
          <p:nvPr>
            <p:ph type="sldImg"/>
          </p:nvPr>
        </p:nvSpPr>
        <p:spPr>
          <a:ln/>
        </p:spPr>
      </p:sp>
      <p:sp>
        <p:nvSpPr>
          <p:cNvPr id="63490" name="Notes Placeholder 2">
            <a:extLst>
              <a:ext uri="{FF2B5EF4-FFF2-40B4-BE49-F238E27FC236}">
                <a16:creationId xmlns:a16="http://schemas.microsoft.com/office/drawing/2014/main" id="{4C12BA8E-2B4E-44DC-8E97-44F8E2AA20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1" name="Slide Number Placeholder 3">
            <a:extLst>
              <a:ext uri="{FF2B5EF4-FFF2-40B4-BE49-F238E27FC236}">
                <a16:creationId xmlns:a16="http://schemas.microsoft.com/office/drawing/2014/main" id="{1DD10EF5-0C9A-431E-BDCF-7B4DC4507E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C30ED285-D112-464A-A300-52B2F9E3C26B}"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D1FA7-6D03-6D53-69F4-DE3F102D5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D9C11-F76C-E64B-5ABB-BDFAC620F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E6B5C-E99C-5057-1527-1868958388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D35A81-2E82-8490-C5E0-68471B317F65}"/>
              </a:ext>
            </a:extLst>
          </p:cNvPr>
          <p:cNvSpPr>
            <a:spLocks noGrp="1"/>
          </p:cNvSpPr>
          <p:nvPr>
            <p:ph type="sldNum" sz="quarter" idx="5"/>
          </p:nvPr>
        </p:nvSpPr>
        <p:spPr/>
        <p:txBody>
          <a:bodyPr/>
          <a:lstStyle/>
          <a:p>
            <a:fld id="{94971001-0765-4275-A0AB-CEBA9F47F0D7}" type="slidenum">
              <a:rPr lang="en-US" altLang="en-US" smtClean="0"/>
              <a:pPr/>
              <a:t>37</a:t>
            </a:fld>
            <a:endParaRPr lang="en-US" altLang="en-US"/>
          </a:p>
        </p:txBody>
      </p:sp>
    </p:spTree>
    <p:extLst>
      <p:ext uri="{BB962C8B-B14F-4D97-AF65-F5344CB8AC3E}">
        <p14:creationId xmlns:p14="http://schemas.microsoft.com/office/powerpoint/2010/main" val="39860206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CF1CE472-272F-4D01-BA3F-666B1402B1D9}"/>
              </a:ext>
            </a:extLst>
          </p:cNvPr>
          <p:cNvSpPr>
            <a:spLocks noGrp="1" noRot="1" noChangeAspect="1" noChangeArrowheads="1" noTextEdit="1"/>
          </p:cNvSpPr>
          <p:nvPr>
            <p:ph type="sldImg"/>
          </p:nvPr>
        </p:nvSpPr>
        <p:spPr>
          <a:ln/>
        </p:spPr>
      </p:sp>
      <p:sp>
        <p:nvSpPr>
          <p:cNvPr id="65538" name="Notes Placeholder 2">
            <a:extLst>
              <a:ext uri="{FF2B5EF4-FFF2-40B4-BE49-F238E27FC236}">
                <a16:creationId xmlns:a16="http://schemas.microsoft.com/office/drawing/2014/main" id="{6F9648E5-F3ED-443A-B2BB-2FD3955070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5539" name="Slide Number Placeholder 3">
            <a:extLst>
              <a:ext uri="{FF2B5EF4-FFF2-40B4-BE49-F238E27FC236}">
                <a16:creationId xmlns:a16="http://schemas.microsoft.com/office/drawing/2014/main" id="{5AF30D3A-E49F-4A28-A9F8-DCCDDA2E5D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921DB0E7-0770-4EBD-91B6-FB9E542DB044}"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E3E7F996-7E6E-4485-A563-7FEFB94E6926}"/>
              </a:ext>
            </a:extLst>
          </p:cNvPr>
          <p:cNvSpPr>
            <a:spLocks noGrp="1" noRot="1" noChangeAspect="1" noChangeArrowheads="1" noTextEdit="1"/>
          </p:cNvSpPr>
          <p:nvPr>
            <p:ph type="sldImg"/>
          </p:nvPr>
        </p:nvSpPr>
        <p:spPr>
          <a:ln/>
        </p:spPr>
      </p:sp>
      <p:sp>
        <p:nvSpPr>
          <p:cNvPr id="67586" name="Notes Placeholder 2">
            <a:extLst>
              <a:ext uri="{FF2B5EF4-FFF2-40B4-BE49-F238E27FC236}">
                <a16:creationId xmlns:a16="http://schemas.microsoft.com/office/drawing/2014/main" id="{B9252580-B080-4859-9DDF-1403AFAC6E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hardware solutions are too low level, and are complicated to use. So, operating system provides a higher level synchronization mechanism called semaphore. Semaphore is very important, not only because we have questions on this part in every past exam paper, but also because semaphore is a widely used process synchronization mechanism. </a:t>
            </a:r>
          </a:p>
          <a:p>
            <a:endParaRPr lang="en-US" altLang="en-US"/>
          </a:p>
          <a:p>
            <a:r>
              <a:rPr lang="en-US" altLang="en-US"/>
              <a:t>Semaphore is an integer shared variable. Operating system offers two atomic operations to manipulate this shared variable: Wait and Signal. We will talk about the details of implementation in later slides.</a:t>
            </a:r>
          </a:p>
          <a:p>
            <a:endParaRPr lang="en-US" altLang="en-US"/>
          </a:p>
          <a:p>
            <a:r>
              <a:rPr lang="en-US" altLang="en-US"/>
              <a:t>When we execute Wait, if S value is one, we can finish waiting and go to the next step. If S value is zero, we have to wait. Its value can only be changed by these two atomic operations. You can not directly change the value.</a:t>
            </a:r>
          </a:p>
          <a:p>
            <a:endParaRPr lang="en-US" altLang="en-US"/>
          </a:p>
          <a:p>
            <a:r>
              <a:rPr lang="en-US" altLang="en-US"/>
              <a:t>There are two types of semaphore, depending on the values it can take. For a counter semaphore, its integer value can range over an unrestricted domain. This is for the scenario that the shared resource has many instances, for example, there can be multiple printers in the office. The second kind is called binary semaphore whose integer value can either be 0 or 1. It is usually used for a lock for mutual exclusion.</a:t>
            </a:r>
          </a:p>
          <a:p>
            <a:endParaRPr lang="en-US" altLang="en-US"/>
          </a:p>
        </p:txBody>
      </p:sp>
      <p:sp>
        <p:nvSpPr>
          <p:cNvPr id="67587" name="Slide Number Placeholder 3">
            <a:extLst>
              <a:ext uri="{FF2B5EF4-FFF2-40B4-BE49-F238E27FC236}">
                <a16:creationId xmlns:a16="http://schemas.microsoft.com/office/drawing/2014/main" id="{2DC9F734-51E6-42AD-8404-2DE6EB348C4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E323965-23F6-452B-BC2E-326BB761FBB3}"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DEB9-CE2A-ECA9-856C-4CFD9DC05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858F4-E2C6-D0CE-D82C-8B36A5E427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8652C-5F43-E54D-6B8C-31F57C783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B53EE0-2852-CCD1-F31F-6806CBCE8A5A}"/>
              </a:ext>
            </a:extLst>
          </p:cNvPr>
          <p:cNvSpPr>
            <a:spLocks noGrp="1"/>
          </p:cNvSpPr>
          <p:nvPr>
            <p:ph type="sldNum" sz="quarter" idx="5"/>
          </p:nvPr>
        </p:nvSpPr>
        <p:spPr/>
        <p:txBody>
          <a:bodyPr/>
          <a:lstStyle/>
          <a:p>
            <a:fld id="{94971001-0765-4275-A0AB-CEBA9F47F0D7}" type="slidenum">
              <a:rPr lang="en-US" altLang="en-US" smtClean="0"/>
              <a:pPr/>
              <a:t>42</a:t>
            </a:fld>
            <a:endParaRPr lang="en-US" altLang="en-US"/>
          </a:p>
        </p:txBody>
      </p:sp>
    </p:spTree>
    <p:extLst>
      <p:ext uri="{BB962C8B-B14F-4D97-AF65-F5344CB8AC3E}">
        <p14:creationId xmlns:p14="http://schemas.microsoft.com/office/powerpoint/2010/main" val="36454125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4794700F-2F80-40AB-B16A-3F7E2201B126}"/>
              </a:ext>
            </a:extLst>
          </p:cNvPr>
          <p:cNvSpPr>
            <a:spLocks noGrp="1" noRot="1" noChangeAspect="1" noChangeArrowheads="1" noTextEdit="1"/>
          </p:cNvSpPr>
          <p:nvPr>
            <p:ph type="sldImg"/>
          </p:nvPr>
        </p:nvSpPr>
        <p:spPr>
          <a:ln/>
        </p:spPr>
      </p:sp>
      <p:sp>
        <p:nvSpPr>
          <p:cNvPr id="69634" name="Notes Placeholder 2">
            <a:extLst>
              <a:ext uri="{FF2B5EF4-FFF2-40B4-BE49-F238E27FC236}">
                <a16:creationId xmlns:a16="http://schemas.microsoft.com/office/drawing/2014/main" id="{C772A3CE-5341-4478-9365-7C672C5C7E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With the semaphore, we can easily develop a solution to the critical section problem. The mutex value is initialized with 1, a binary semaphore. You can see, this implementation is simpler than the previous solution using atomic instructions. There is no while-loop, because it is already implemented in wait. We will see more details later.</a:t>
            </a:r>
          </a:p>
        </p:txBody>
      </p:sp>
      <p:sp>
        <p:nvSpPr>
          <p:cNvPr id="69635" name="Slide Number Placeholder 3">
            <a:extLst>
              <a:ext uri="{FF2B5EF4-FFF2-40B4-BE49-F238E27FC236}">
                <a16:creationId xmlns:a16="http://schemas.microsoft.com/office/drawing/2014/main" id="{05A5A553-7D68-4323-ABC6-41EC1EAD9E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CC1D9A4C-351B-4213-A7C1-DA63FA287B2C}"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75B27EDE-4B77-46CB-BF1D-0414A3D63CBC}"/>
              </a:ext>
            </a:extLst>
          </p:cNvPr>
          <p:cNvSpPr>
            <a:spLocks noGrp="1" noRot="1" noChangeAspect="1" noChangeArrowheads="1" noTextEdit="1"/>
          </p:cNvSpPr>
          <p:nvPr>
            <p:ph type="sldImg"/>
          </p:nvPr>
        </p:nvSpPr>
        <p:spPr>
          <a:ln/>
        </p:spPr>
      </p:sp>
      <p:sp>
        <p:nvSpPr>
          <p:cNvPr id="71682" name="Notes Placeholder 2">
            <a:extLst>
              <a:ext uri="{FF2B5EF4-FFF2-40B4-BE49-F238E27FC236}">
                <a16:creationId xmlns:a16="http://schemas.microsoft.com/office/drawing/2014/main" id="{387AE0D1-4A33-4F1E-A628-C9D4738EE7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let’s see how semaphore is implemented in OS. The classical implementation for Wait and Signal uses busy waiting. </a:t>
            </a:r>
          </a:p>
          <a:p>
            <a:endParaRPr lang="en-US" altLang="en-US"/>
          </a:p>
          <a:p>
            <a:r>
              <a:rPr lang="en-US" altLang="en-US"/>
              <a:t>Why the implementation is called busy waiting? Because if S&lt;=0, the process needs to busy wait in a while loop, and keeps polling the value of S. Busy waiting has the advantage that no context switches occur. That is particularly good for a short waiting time. However, the constraint is that busy waiting is inefficient if the critical section is long, because the while loop will consume too many CPU cycles. </a:t>
            </a:r>
          </a:p>
          <a:p>
            <a:endParaRPr lang="en-US" altLang="en-US"/>
          </a:p>
          <a:p>
            <a:r>
              <a:rPr lang="en-US" altLang="en-US"/>
              <a:t>Note, if Wait(S) is not implemented in an atomic manner, mutual exclusion is violated. See next slide and the tutorial question on this.</a:t>
            </a:r>
          </a:p>
          <a:p>
            <a:endParaRPr lang="en-US" altLang="en-US"/>
          </a:p>
        </p:txBody>
      </p:sp>
      <p:sp>
        <p:nvSpPr>
          <p:cNvPr id="71683" name="Slide Number Placeholder 3">
            <a:extLst>
              <a:ext uri="{FF2B5EF4-FFF2-40B4-BE49-F238E27FC236}">
                <a16:creationId xmlns:a16="http://schemas.microsoft.com/office/drawing/2014/main" id="{5E7FBCF8-D7A7-4AF6-BF1A-C799920667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0D3CEEFD-19D5-46A1-9659-323A1FD9BE35}"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D7B6F7B0-7BE9-4348-AAA2-D5605CF7D8D9}"/>
              </a:ext>
            </a:extLst>
          </p:cNvPr>
          <p:cNvSpPr>
            <a:spLocks noGrp="1" noRot="1" noChangeAspect="1" noChangeArrowheads="1" noTextEdit="1"/>
          </p:cNvSpPr>
          <p:nvPr>
            <p:ph type="sldImg"/>
          </p:nvPr>
        </p:nvSpPr>
        <p:spPr>
          <a:ln/>
        </p:spPr>
      </p:sp>
      <p:sp>
        <p:nvSpPr>
          <p:cNvPr id="73730" name="Notes Placeholder 2">
            <a:extLst>
              <a:ext uri="{FF2B5EF4-FFF2-40B4-BE49-F238E27FC236}">
                <a16:creationId xmlns:a16="http://schemas.microsoft.com/office/drawing/2014/main" id="{F5FE3273-A071-4966-9349-405BF51EFD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3731" name="Slide Number Placeholder 3">
            <a:extLst>
              <a:ext uri="{FF2B5EF4-FFF2-40B4-BE49-F238E27FC236}">
                <a16:creationId xmlns:a16="http://schemas.microsoft.com/office/drawing/2014/main" id="{80E6E529-1432-4DF2-B1CF-3EBA3C5364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62274C81-2CA9-40EB-A55C-5417913E0489}"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F8C97-A935-1122-66FB-F675B5F16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DF4E8-0B22-3A4D-709D-347463DE6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5A717-8648-05C2-2934-AFAD61EAF9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DB430-40FE-6BD9-6584-9D6BC631AD14}"/>
              </a:ext>
            </a:extLst>
          </p:cNvPr>
          <p:cNvSpPr>
            <a:spLocks noGrp="1"/>
          </p:cNvSpPr>
          <p:nvPr>
            <p:ph type="sldNum" sz="quarter" idx="5"/>
          </p:nvPr>
        </p:nvSpPr>
        <p:spPr/>
        <p:txBody>
          <a:bodyPr/>
          <a:lstStyle/>
          <a:p>
            <a:fld id="{94971001-0765-4275-A0AB-CEBA9F47F0D7}" type="slidenum">
              <a:rPr lang="en-US" altLang="en-US" smtClean="0"/>
              <a:pPr/>
              <a:t>46</a:t>
            </a:fld>
            <a:endParaRPr lang="en-US" altLang="en-US"/>
          </a:p>
        </p:txBody>
      </p:sp>
    </p:spTree>
    <p:extLst>
      <p:ext uri="{BB962C8B-B14F-4D97-AF65-F5344CB8AC3E}">
        <p14:creationId xmlns:p14="http://schemas.microsoft.com/office/powerpoint/2010/main" val="7786143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4A5A9555-969A-4E82-ABC8-6A6784271071}"/>
              </a:ext>
            </a:extLst>
          </p:cNvPr>
          <p:cNvSpPr>
            <a:spLocks noGrp="1" noRot="1" noChangeAspect="1" noChangeArrowheads="1" noTextEdit="1"/>
          </p:cNvSpPr>
          <p:nvPr>
            <p:ph type="sldImg"/>
          </p:nvPr>
        </p:nvSpPr>
        <p:spPr>
          <a:ln/>
        </p:spPr>
      </p:sp>
      <p:sp>
        <p:nvSpPr>
          <p:cNvPr id="75778" name="Notes Placeholder 2">
            <a:extLst>
              <a:ext uri="{FF2B5EF4-FFF2-40B4-BE49-F238E27FC236}">
                <a16:creationId xmlns:a16="http://schemas.microsoft.com/office/drawing/2014/main" id="{33C1C61B-33A0-4AF7-863F-959324D4B2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Because the busy waiting implementation is not feasible on a single processor system, current operating systems have another implementation: blocking. The basic idea is that when a process enters its critical section, other processes that want to enter their critical section will be blocked. A process is blocked, meaning it will be put into the waiting state. So, the process waiting to enter the critical section does not consume CPU cycles. </a:t>
            </a:r>
          </a:p>
          <a:p>
            <a:endParaRPr lang="en-US" altLang="en-US"/>
          </a:p>
          <a:p>
            <a:r>
              <a:rPr lang="en-US" altLang="en-US"/>
              <a:t>Before we go into the implementation details, we define the relevant data structure and two operations. </a:t>
            </a:r>
          </a:p>
          <a:p>
            <a:endParaRPr lang="en-US" altLang="en-US"/>
          </a:p>
          <a:p>
            <a:endParaRPr lang="en-US" altLang="en-US"/>
          </a:p>
        </p:txBody>
      </p:sp>
      <p:sp>
        <p:nvSpPr>
          <p:cNvPr id="75779" name="Slide Number Placeholder 3">
            <a:extLst>
              <a:ext uri="{FF2B5EF4-FFF2-40B4-BE49-F238E27FC236}">
                <a16:creationId xmlns:a16="http://schemas.microsoft.com/office/drawing/2014/main" id="{77434D5B-72D0-45B7-AF1C-C4375FF415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32184ED-0507-4763-8899-2F90B017DEF0}"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0FFF4F9D-A0E5-461D-8378-FBC772FC4689}"/>
              </a:ext>
            </a:extLst>
          </p:cNvPr>
          <p:cNvSpPr>
            <a:spLocks noGrp="1" noRot="1" noChangeAspect="1" noChangeArrowheads="1" noTextEdit="1"/>
          </p:cNvSpPr>
          <p:nvPr>
            <p:ph type="sldImg"/>
          </p:nvPr>
        </p:nvSpPr>
        <p:spPr>
          <a:ln/>
        </p:spPr>
      </p:sp>
      <p:sp>
        <p:nvSpPr>
          <p:cNvPr id="77826" name="Notes Placeholder 2">
            <a:extLst>
              <a:ext uri="{FF2B5EF4-FFF2-40B4-BE49-F238E27FC236}">
                <a16:creationId xmlns:a16="http://schemas.microsoft.com/office/drawing/2014/main" id="{B66B366C-19BD-473E-8491-57DA40888F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take a closer look at those two operations. </a:t>
            </a:r>
          </a:p>
          <a:p>
            <a:endParaRPr lang="en-US" altLang="en-US"/>
          </a:p>
          <a:p>
            <a:r>
              <a:rPr lang="en-US" altLang="en-US"/>
              <a:t>Block: first dequeue current process from ready queue (we suppose that the PCB of the running process is also stored in the head of the ready queue), and then enqueue current process to list L.  The process state changes from running to waiting.</a:t>
            </a:r>
          </a:p>
          <a:p>
            <a:r>
              <a:rPr lang="en-US" altLang="en-US"/>
              <a:t>Wakeup: dequeue a process P from list L. We can have different policies here, just like process scheduling. Then enqueue P to the ready queue. The process state changes from waiting to ready.</a:t>
            </a:r>
          </a:p>
        </p:txBody>
      </p:sp>
      <p:sp>
        <p:nvSpPr>
          <p:cNvPr id="77827" name="Slide Number Placeholder 3">
            <a:extLst>
              <a:ext uri="{FF2B5EF4-FFF2-40B4-BE49-F238E27FC236}">
                <a16:creationId xmlns:a16="http://schemas.microsoft.com/office/drawing/2014/main" id="{A491CFA3-28B1-4C9E-A6A0-A71BD52BEA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A7CFA203-12E4-4C67-931C-B87835FC3CBC}"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0B01D90E-7A02-433D-87A8-0A97A31C0101}"/>
              </a:ext>
            </a:extLst>
          </p:cNvPr>
          <p:cNvSpPr>
            <a:spLocks noGrp="1" noRot="1" noChangeAspect="1" noChangeArrowheads="1" noTextEdit="1"/>
          </p:cNvSpPr>
          <p:nvPr>
            <p:ph type="sldImg"/>
          </p:nvPr>
        </p:nvSpPr>
        <p:spPr>
          <a:ln/>
        </p:spPr>
      </p:sp>
      <p:sp>
        <p:nvSpPr>
          <p:cNvPr id="79874" name="Notes Placeholder 2">
            <a:extLst>
              <a:ext uri="{FF2B5EF4-FFF2-40B4-BE49-F238E27FC236}">
                <a16:creationId xmlns:a16="http://schemas.microsoft.com/office/drawing/2014/main" id="{5CDDC973-C35C-4C6C-ADFB-09D0881B0A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Wait(S): We first decrease the value by one. If S.value&lt;0, then it means we need to block because the value before we decreased it was already &lt;=0. Hence we block the process.</a:t>
            </a:r>
          </a:p>
          <a:p>
            <a:endParaRPr lang="en-US" altLang="en-US"/>
          </a:p>
          <a:p>
            <a:r>
              <a:rPr lang="en-US" altLang="en-US"/>
              <a:t>Signal(S): We first increase the value by one. If S.value is smaller than or equal to zero, we wakeup a process from list L. Why we need to check if(s.value&lt;=0) and not if(s.value&lt;0)? Consider s.value=-1 (only one process waiting in list L), before executing signal. After S.value++, what is the value? S.value=0. That is why we need to consider s.value==0 as well for waking up processes.</a:t>
            </a:r>
          </a:p>
          <a:p>
            <a:endParaRPr lang="en-US" altLang="en-US"/>
          </a:p>
        </p:txBody>
      </p:sp>
      <p:sp>
        <p:nvSpPr>
          <p:cNvPr id="79875" name="Slide Number Placeholder 3">
            <a:extLst>
              <a:ext uri="{FF2B5EF4-FFF2-40B4-BE49-F238E27FC236}">
                <a16:creationId xmlns:a16="http://schemas.microsoft.com/office/drawing/2014/main" id="{40C85B42-9897-4A4B-9E50-3EB23F7FBF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0FB281AE-B0E0-4B37-AC9E-923FEE8753CD}"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a:extLst>
              <a:ext uri="{FF2B5EF4-FFF2-40B4-BE49-F238E27FC236}">
                <a16:creationId xmlns:a16="http://schemas.microsoft.com/office/drawing/2014/main" id="{DEAD0271-E9BE-4F5A-AFBB-7AFB5E12D6AC}"/>
              </a:ext>
            </a:extLst>
          </p:cNvPr>
          <p:cNvSpPr>
            <a:spLocks noGrp="1" noRot="1" noChangeAspect="1" noChangeArrowheads="1" noTextEdit="1"/>
          </p:cNvSpPr>
          <p:nvPr>
            <p:ph type="sldImg"/>
          </p:nvPr>
        </p:nvSpPr>
        <p:spPr>
          <a:ln/>
        </p:spPr>
      </p:sp>
      <p:sp>
        <p:nvSpPr>
          <p:cNvPr id="81922" name="Notes Placeholder 2">
            <a:extLst>
              <a:ext uri="{FF2B5EF4-FFF2-40B4-BE49-F238E27FC236}">
                <a16:creationId xmlns:a16="http://schemas.microsoft.com/office/drawing/2014/main" id="{95A297AB-8543-4C46-8EF3-7DD6287D721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Both Wait() and Signal() must be executed atomically (at least all updates and checks for semaphore S), even if the blocking semaphore implementation is used. If these updates and checks are not atomic, then progress can be violated as shown in the slide. It can also lead to violation of mutual exclusion because of the update to S (same issue as with the counter variable in the producer-consumer problem in Slide 4.7).</a:t>
            </a:r>
          </a:p>
          <a:p>
            <a:endParaRPr lang="en-US" altLang="en-US"/>
          </a:p>
          <a:p>
            <a:r>
              <a:rPr lang="en-US" altLang="en-US"/>
              <a:t>There is some possibility to allow limited context switches inside Wait() and Signal(). More details about this are in the tutorial. </a:t>
            </a:r>
          </a:p>
        </p:txBody>
      </p:sp>
      <p:sp>
        <p:nvSpPr>
          <p:cNvPr id="81923" name="Slide Number Placeholder 3">
            <a:extLst>
              <a:ext uri="{FF2B5EF4-FFF2-40B4-BE49-F238E27FC236}">
                <a16:creationId xmlns:a16="http://schemas.microsoft.com/office/drawing/2014/main" id="{86BFFE8E-56F1-466B-BB27-0305AAFA973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D5C886BD-2066-498C-86E7-1E010F8A02F5}"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a:extLst>
              <a:ext uri="{FF2B5EF4-FFF2-40B4-BE49-F238E27FC236}">
                <a16:creationId xmlns:a16="http://schemas.microsoft.com/office/drawing/2014/main" id="{47647439-577C-41CF-A36A-A07ACD20159F}"/>
              </a:ext>
            </a:extLst>
          </p:cNvPr>
          <p:cNvSpPr>
            <a:spLocks noGrp="1" noRot="1" noChangeAspect="1" noChangeArrowheads="1" noTextEdit="1"/>
          </p:cNvSpPr>
          <p:nvPr>
            <p:ph type="sldImg"/>
          </p:nvPr>
        </p:nvSpPr>
        <p:spPr>
          <a:ln/>
        </p:spPr>
      </p:sp>
      <p:sp>
        <p:nvSpPr>
          <p:cNvPr id="83970" name="Notes Placeholder 2">
            <a:extLst>
              <a:ext uri="{FF2B5EF4-FFF2-40B4-BE49-F238E27FC236}">
                <a16:creationId xmlns:a16="http://schemas.microsoft.com/office/drawing/2014/main" id="{230C3A8C-7447-435A-81E7-F45BF2F7EB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Why should we update the value of S before blocking? If we update the value after blocking, then this means we need to allow for a context switch inside Wait(). The process that is blocked cannot execute, because it is in the Waiting state. This means another process must be allowed to execute, otherwise the process that is currently holding the semaphore cannot release it.</a:t>
            </a:r>
          </a:p>
          <a:p>
            <a:endParaRPr lang="en-US" altLang="en-US"/>
          </a:p>
          <a:p>
            <a:r>
              <a:rPr lang="en-US" altLang="en-US"/>
              <a:t>If we allow context switch between block() and S.value-- inside Wait(), this can lead to violation of mutual exclusion. Suppose a process P0 executes block() and moves to the Waiting state (semaphore value currently is 0). Later, process P1 which is currently holding the semaphore, increments its value to 1 and wakes up P0 (P0 moves to Ready state). While P0 is in Ready state, another process P2 executes Wait(), locks semaphore by decrementing its value to 0 and enters its critical section. While P2 is in the critical section, P0 starts running, decrements the value of the semaphore to -1 and enters critical section. This is a violation of mutual exclusion. Note, P0 will not check again whether the value of semaphore is &lt;=0, because it has already executed block() and will now resume its execution from S.value--.</a:t>
            </a:r>
          </a:p>
        </p:txBody>
      </p:sp>
      <p:sp>
        <p:nvSpPr>
          <p:cNvPr id="83971" name="Slide Number Placeholder 3">
            <a:extLst>
              <a:ext uri="{FF2B5EF4-FFF2-40B4-BE49-F238E27FC236}">
                <a16:creationId xmlns:a16="http://schemas.microsoft.com/office/drawing/2014/main" id="{D9FB9A62-6AC6-4149-AB58-4DBB897425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709CA14D-79C1-4A64-9ED8-2AB0D571A55D}"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C2B4-72F1-53B3-8A71-A313CE8A3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BB63A-567F-D646-008D-30E8F60E0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FDF8B-DC31-FAC2-964F-21DA926EAF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A1B467-9C22-CC30-DFCB-74D10BAFDB86}"/>
              </a:ext>
            </a:extLst>
          </p:cNvPr>
          <p:cNvSpPr>
            <a:spLocks noGrp="1"/>
          </p:cNvSpPr>
          <p:nvPr>
            <p:ph type="sldNum" sz="quarter" idx="5"/>
          </p:nvPr>
        </p:nvSpPr>
        <p:spPr/>
        <p:txBody>
          <a:bodyPr/>
          <a:lstStyle/>
          <a:p>
            <a:fld id="{94971001-0765-4275-A0AB-CEBA9F47F0D7}" type="slidenum">
              <a:rPr lang="en-US" altLang="en-US" smtClean="0"/>
              <a:pPr/>
              <a:t>52</a:t>
            </a:fld>
            <a:endParaRPr lang="en-US" altLang="en-US"/>
          </a:p>
        </p:txBody>
      </p:sp>
    </p:spTree>
    <p:extLst>
      <p:ext uri="{BB962C8B-B14F-4D97-AF65-F5344CB8AC3E}">
        <p14:creationId xmlns:p14="http://schemas.microsoft.com/office/powerpoint/2010/main" val="7766594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429F-CE98-867E-06D8-815D25985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1B1CA-66AF-BBD2-4283-687A4597C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AF1338-F2F4-AB4A-71A1-2F0FA8733D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6F0B5E-BC1A-8BA0-CE16-5207024F70F6}"/>
              </a:ext>
            </a:extLst>
          </p:cNvPr>
          <p:cNvSpPr>
            <a:spLocks noGrp="1"/>
          </p:cNvSpPr>
          <p:nvPr>
            <p:ph type="sldNum" sz="quarter" idx="5"/>
          </p:nvPr>
        </p:nvSpPr>
        <p:spPr/>
        <p:txBody>
          <a:bodyPr/>
          <a:lstStyle/>
          <a:p>
            <a:fld id="{94971001-0765-4275-A0AB-CEBA9F47F0D7}" type="slidenum">
              <a:rPr lang="en-US" altLang="en-US" smtClean="0"/>
              <a:pPr/>
              <a:t>53</a:t>
            </a:fld>
            <a:endParaRPr lang="en-US" altLang="en-US"/>
          </a:p>
        </p:txBody>
      </p:sp>
    </p:spTree>
    <p:extLst>
      <p:ext uri="{BB962C8B-B14F-4D97-AF65-F5344CB8AC3E}">
        <p14:creationId xmlns:p14="http://schemas.microsoft.com/office/powerpoint/2010/main" val="626168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a:extLst>
              <a:ext uri="{FF2B5EF4-FFF2-40B4-BE49-F238E27FC236}">
                <a16:creationId xmlns:a16="http://schemas.microsoft.com/office/drawing/2014/main" id="{544FC117-6F40-4F24-8A7E-78282E1C6C20}"/>
              </a:ext>
            </a:extLst>
          </p:cNvPr>
          <p:cNvSpPr>
            <a:spLocks noGrp="1" noRot="1" noChangeAspect="1" noChangeArrowheads="1" noTextEdit="1"/>
          </p:cNvSpPr>
          <p:nvPr>
            <p:ph type="sldImg"/>
          </p:nvPr>
        </p:nvSpPr>
        <p:spPr>
          <a:ln/>
        </p:spPr>
      </p:sp>
      <p:sp>
        <p:nvSpPr>
          <p:cNvPr id="86018" name="Notes Placeholder 2">
            <a:extLst>
              <a:ext uri="{FF2B5EF4-FFF2-40B4-BE49-F238E27FC236}">
                <a16:creationId xmlns:a16="http://schemas.microsoft.com/office/drawing/2014/main" id="{F6BB29E6-AE5F-46D2-9259-AA7114FBF9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a:p>
        </p:txBody>
      </p:sp>
      <p:sp>
        <p:nvSpPr>
          <p:cNvPr id="86019" name="Slide Number Placeholder 3">
            <a:extLst>
              <a:ext uri="{FF2B5EF4-FFF2-40B4-BE49-F238E27FC236}">
                <a16:creationId xmlns:a16="http://schemas.microsoft.com/office/drawing/2014/main" id="{A6268F10-54C2-4783-9BFC-1E61C200A7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71928D3-06A7-4F61-B74E-2B48CE814F9F}"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a:extLst>
              <a:ext uri="{FF2B5EF4-FFF2-40B4-BE49-F238E27FC236}">
                <a16:creationId xmlns:a16="http://schemas.microsoft.com/office/drawing/2014/main" id="{5157E58D-8956-4924-AC68-604B62422D99}"/>
              </a:ext>
            </a:extLst>
          </p:cNvPr>
          <p:cNvSpPr>
            <a:spLocks noGrp="1" noRot="1" noChangeAspect="1" noChangeArrowheads="1" noTextEdit="1"/>
          </p:cNvSpPr>
          <p:nvPr>
            <p:ph type="sldImg"/>
          </p:nvPr>
        </p:nvSpPr>
        <p:spPr>
          <a:ln/>
        </p:spPr>
      </p:sp>
      <p:sp>
        <p:nvSpPr>
          <p:cNvPr id="88066" name="Notes Placeholder 2">
            <a:extLst>
              <a:ext uri="{FF2B5EF4-FFF2-40B4-BE49-F238E27FC236}">
                <a16:creationId xmlns:a16="http://schemas.microsoft.com/office/drawing/2014/main" id="{127FBA44-E689-456A-9451-9EC7EB8B7D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Step 1, 2, 3 for semaphores. Those are the three typical steps for solving process synchronization problems with semaphores.  </a:t>
            </a:r>
          </a:p>
          <a:p>
            <a:endParaRPr lang="en-US" altLang="en-US"/>
          </a:p>
          <a:p>
            <a:r>
              <a:rPr lang="en-US" altLang="en-US"/>
              <a:t>Shared variables is logical: counter in producer/consumer.</a:t>
            </a:r>
          </a:p>
          <a:p>
            <a:r>
              <a:rPr lang="en-US" altLang="en-US"/>
              <a:t>Shared resources are physical: Number of printers.</a:t>
            </a:r>
          </a:p>
          <a:p>
            <a:endParaRPr lang="en-US" altLang="en-US"/>
          </a:p>
          <a:p>
            <a:r>
              <a:rPr lang="en-US" altLang="en-US"/>
              <a:t>If you remove all the Wait/Signal, the *logic* of the code is still correct in sequential executions. However, it is not correct in concurrent executions.</a:t>
            </a:r>
          </a:p>
          <a:p>
            <a:endParaRPr lang="en-US" altLang="en-US"/>
          </a:p>
          <a:p>
            <a:r>
              <a:rPr lang="en-US" altLang="en-US"/>
              <a:t>The semaphore value represents the number of instances for that kind of resource (&gt;0). Otherwise, represents the number of processes waiting in the waiting queue (list L).</a:t>
            </a:r>
          </a:p>
        </p:txBody>
      </p:sp>
      <p:sp>
        <p:nvSpPr>
          <p:cNvPr id="88067" name="Slide Number Placeholder 3">
            <a:extLst>
              <a:ext uri="{FF2B5EF4-FFF2-40B4-BE49-F238E27FC236}">
                <a16:creationId xmlns:a16="http://schemas.microsoft.com/office/drawing/2014/main" id="{2ADEC6A4-9BEF-4788-A16B-F72DD8A459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1129499E-DF10-4ECD-9BA0-6C0B2CF80660}"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29F77A4A-E380-4806-97A0-B43F2DFA83BD}"/>
              </a:ext>
            </a:extLst>
          </p:cNvPr>
          <p:cNvSpPr>
            <a:spLocks noGrp="1" noRot="1" noChangeAspect="1" noChangeArrowheads="1" noTextEdit="1"/>
          </p:cNvSpPr>
          <p:nvPr>
            <p:ph type="sldImg"/>
          </p:nvPr>
        </p:nvSpPr>
        <p:spPr>
          <a:ln/>
        </p:spPr>
      </p:sp>
      <p:sp>
        <p:nvSpPr>
          <p:cNvPr id="90114" name="Notes Placeholder 2">
            <a:extLst>
              <a:ext uri="{FF2B5EF4-FFF2-40B4-BE49-F238E27FC236}">
                <a16:creationId xmlns:a16="http://schemas.microsoft.com/office/drawing/2014/main" id="{9B7BD21A-88E4-40BA-89FF-4B05B52F81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review what we have learnt so far. We start with talking about atomic operations. There is no context switches from the first line to the last line of the execution of an atomic operation. We give one example of showing how to implement process synchronization with atomic operation TestAndSet. Semaphore is implemented as a shared integer variable. It supports two atomic operations: Wait and Signal. With the semaphore, it is easy to implement the process synchronization among multiple processes. Then, we have talked about two implementations of semaphores in operating systems. Busy waiting and blocking. Busy waiting may waste CPU cycles when the critical section is long. Blocking results in context switches. The process waiting to enter the critical section is put to the waiting queue of the semaphore (list L).</a:t>
            </a:r>
          </a:p>
          <a:p>
            <a:endParaRPr lang="en-US" altLang="en-US"/>
          </a:p>
          <a:p>
            <a:r>
              <a:rPr lang="en-US" altLang="en-US"/>
              <a:t>After talking about the implementation of semaphore in OS, we now talk about the usage of semaphores. We will talk about the first issue: semaphore as general process synchronization tool. </a:t>
            </a:r>
          </a:p>
          <a:p>
            <a:endParaRPr lang="en-US" altLang="en-US"/>
          </a:p>
          <a:p>
            <a:r>
              <a:rPr lang="en-US" altLang="en-US"/>
              <a:t>Semaphore can be used as a general synchronization tool (to enforce some execution order). In the above example, think what happens for different interleavings. It is guaranteed that B will execute after A, because Wait(flag) will only complete after Signal(flag) is executed. </a:t>
            </a:r>
          </a:p>
        </p:txBody>
      </p:sp>
      <p:sp>
        <p:nvSpPr>
          <p:cNvPr id="90115" name="Slide Number Placeholder 3">
            <a:extLst>
              <a:ext uri="{FF2B5EF4-FFF2-40B4-BE49-F238E27FC236}">
                <a16:creationId xmlns:a16="http://schemas.microsoft.com/office/drawing/2014/main" id="{61041103-A5A7-43DB-9865-1B59C7E906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A5057C68-5EBA-4E01-B187-58E1F80FE79B}"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a:extLst>
              <a:ext uri="{FF2B5EF4-FFF2-40B4-BE49-F238E27FC236}">
                <a16:creationId xmlns:a16="http://schemas.microsoft.com/office/drawing/2014/main" id="{23DB9C69-84AC-46D4-BF16-A654E55A3D11}"/>
              </a:ext>
            </a:extLst>
          </p:cNvPr>
          <p:cNvSpPr>
            <a:spLocks noGrp="1" noRot="1" noChangeAspect="1" noChangeArrowheads="1" noTextEdit="1"/>
          </p:cNvSpPr>
          <p:nvPr>
            <p:ph type="sldImg"/>
          </p:nvPr>
        </p:nvSpPr>
        <p:spPr>
          <a:ln/>
        </p:spPr>
      </p:sp>
      <p:sp>
        <p:nvSpPr>
          <p:cNvPr id="92162" name="Notes Placeholder 2">
            <a:extLst>
              <a:ext uri="{FF2B5EF4-FFF2-40B4-BE49-F238E27FC236}">
                <a16:creationId xmlns:a16="http://schemas.microsoft.com/office/drawing/2014/main" id="{8EF3226B-77FA-4CEA-B6C8-1A8296CD7A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However, incorrect usage of semaphore can cause problems. We will talk about two problems: deadlocks and starvation.</a:t>
            </a:r>
          </a:p>
          <a:p>
            <a:endParaRPr lang="en-US" altLang="en-US"/>
          </a:p>
          <a:p>
            <a:r>
              <a:rPr lang="en-US" altLang="en-US"/>
              <a:t>Deadlock means two or more processes are waiting indefinitely for an event that can be caused by only one of the waiting processes. Simply speaking, for two processes, A and B, a deadlock occurs if A waits for B, and B waits for A. That means, none of them can make any progress.</a:t>
            </a:r>
          </a:p>
        </p:txBody>
      </p:sp>
      <p:sp>
        <p:nvSpPr>
          <p:cNvPr id="92163" name="Slide Number Placeholder 3">
            <a:extLst>
              <a:ext uri="{FF2B5EF4-FFF2-40B4-BE49-F238E27FC236}">
                <a16:creationId xmlns:a16="http://schemas.microsoft.com/office/drawing/2014/main" id="{FE930085-C7C8-4D46-B536-3AB274ABFC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1CFC95FC-A948-430D-AF1F-8CC592F781CE}"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a:extLst>
              <a:ext uri="{FF2B5EF4-FFF2-40B4-BE49-F238E27FC236}">
                <a16:creationId xmlns:a16="http://schemas.microsoft.com/office/drawing/2014/main" id="{3631ED9F-C469-4571-9C86-57C75166176C}"/>
              </a:ext>
            </a:extLst>
          </p:cNvPr>
          <p:cNvSpPr>
            <a:spLocks noGrp="1" noRot="1" noChangeAspect="1" noChangeArrowheads="1" noTextEdit="1"/>
          </p:cNvSpPr>
          <p:nvPr>
            <p:ph type="sldImg"/>
          </p:nvPr>
        </p:nvSpPr>
        <p:spPr>
          <a:ln/>
        </p:spPr>
      </p:sp>
      <p:sp>
        <p:nvSpPr>
          <p:cNvPr id="94210" name="Notes Placeholder 2">
            <a:extLst>
              <a:ext uri="{FF2B5EF4-FFF2-40B4-BE49-F238E27FC236}">
                <a16:creationId xmlns:a16="http://schemas.microsoft.com/office/drawing/2014/main" id="{9F8A7F31-CAEB-4E5A-A6C9-7F91B79BBF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Starvation– a process may never have a chance to be removed from the semaphore queue (list L). For example, if the dequeue method is priority based, or LIFO (Last in first out).</a:t>
            </a:r>
          </a:p>
          <a:p>
            <a:endParaRPr lang="en-US" altLang="en-US"/>
          </a:p>
          <a:p>
            <a:r>
              <a:rPr lang="en-US" altLang="en-US"/>
              <a:t>What is the solution? Aging.</a:t>
            </a:r>
          </a:p>
          <a:p>
            <a:endParaRPr lang="en-US" altLang="en-US"/>
          </a:p>
        </p:txBody>
      </p:sp>
      <p:sp>
        <p:nvSpPr>
          <p:cNvPr id="94211" name="Slide Number Placeholder 3">
            <a:extLst>
              <a:ext uri="{FF2B5EF4-FFF2-40B4-BE49-F238E27FC236}">
                <a16:creationId xmlns:a16="http://schemas.microsoft.com/office/drawing/2014/main" id="{C353234D-D033-48F1-87BA-BC1518556A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106C11DE-E92D-4760-ACED-52C913FE2035}"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a:extLst>
              <a:ext uri="{FF2B5EF4-FFF2-40B4-BE49-F238E27FC236}">
                <a16:creationId xmlns:a16="http://schemas.microsoft.com/office/drawing/2014/main" id="{71101AC2-3BC1-43F9-8F5B-416CE4E46183}"/>
              </a:ext>
            </a:extLst>
          </p:cNvPr>
          <p:cNvSpPr>
            <a:spLocks noGrp="1" noRot="1" noChangeAspect="1" noChangeArrowheads="1" noTextEdit="1"/>
          </p:cNvSpPr>
          <p:nvPr>
            <p:ph type="sldImg"/>
          </p:nvPr>
        </p:nvSpPr>
        <p:spPr>
          <a:ln/>
        </p:spPr>
      </p:sp>
      <p:sp>
        <p:nvSpPr>
          <p:cNvPr id="96258" name="Notes Placeholder 2">
            <a:extLst>
              <a:ext uri="{FF2B5EF4-FFF2-40B4-BE49-F238E27FC236}">
                <a16:creationId xmlns:a16="http://schemas.microsoft.com/office/drawing/2014/main" id="{21D03DF4-A60C-46BE-83D1-6E4DACBE9D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now talk about three classical problems of synchronization. We see how developers can use semaphore to implement the process synchronization in those three problems. </a:t>
            </a:r>
          </a:p>
          <a:p>
            <a:r>
              <a:rPr lang="en-US" altLang="en-US"/>
              <a:t>Bounded buffer problem, dining philosopher problem, and readers and writer problems.</a:t>
            </a:r>
          </a:p>
          <a:p>
            <a:r>
              <a:rPr lang="en-US" altLang="en-US"/>
              <a:t>After learning those examples, we should learn two things: firstly we should know how to write a process synchronization with semaphore; Secondly, we should be able to analyze the correctness of the program with semaphore. </a:t>
            </a:r>
          </a:p>
        </p:txBody>
      </p:sp>
      <p:sp>
        <p:nvSpPr>
          <p:cNvPr id="96259" name="Slide Number Placeholder 3">
            <a:extLst>
              <a:ext uri="{FF2B5EF4-FFF2-40B4-BE49-F238E27FC236}">
                <a16:creationId xmlns:a16="http://schemas.microsoft.com/office/drawing/2014/main" id="{C92C87BA-9686-4DDE-8FEE-862DB64367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E58DAC24-61C7-45A3-BCBA-EE3F5006BB3E}"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a:extLst>
              <a:ext uri="{FF2B5EF4-FFF2-40B4-BE49-F238E27FC236}">
                <a16:creationId xmlns:a16="http://schemas.microsoft.com/office/drawing/2014/main" id="{A79AB72A-6C84-4D1E-9572-02D3F85ACEA8}"/>
              </a:ext>
            </a:extLst>
          </p:cNvPr>
          <p:cNvSpPr>
            <a:spLocks noGrp="1" noRot="1" noChangeAspect="1" noChangeArrowheads="1" noTextEdit="1"/>
          </p:cNvSpPr>
          <p:nvPr>
            <p:ph type="sldImg"/>
          </p:nvPr>
        </p:nvSpPr>
        <p:spPr>
          <a:ln/>
        </p:spPr>
      </p:sp>
      <p:sp>
        <p:nvSpPr>
          <p:cNvPr id="79875" name="Notes Placeholder 2">
            <a:extLst>
              <a:ext uri="{FF2B5EF4-FFF2-40B4-BE49-F238E27FC236}">
                <a16:creationId xmlns:a16="http://schemas.microsoft.com/office/drawing/2014/main" id="{D918855A-04BC-4476-99C6-C7EE145FC826}"/>
              </a:ext>
            </a:extLst>
          </p:cNvPr>
          <p:cNvSpPr>
            <a:spLocks noGrp="1"/>
          </p:cNvSpPr>
          <p:nvPr>
            <p:ph type="body" idx="1"/>
          </p:nvPr>
        </p:nvSpPr>
        <p:spPr>
          <a:ln/>
        </p:spPr>
        <p:txBody>
          <a:bodyPr/>
          <a:lstStyle/>
          <a:p>
            <a:pPr>
              <a:defRPr/>
            </a:pPr>
            <a:r>
              <a:rPr lang="en-US" dirty="0"/>
              <a:t>In general, we use counting semaphore to represent shared resources that requires process synchronization, and use binary semaphore to protect shared variable for mutual exclusions.</a:t>
            </a:r>
          </a:p>
          <a:p>
            <a:pPr>
              <a:defRPr/>
            </a:pPr>
            <a:endParaRPr lang="en-US" dirty="0"/>
          </a:p>
          <a:p>
            <a:pPr>
              <a:defRPr/>
            </a:pPr>
            <a:r>
              <a:rPr lang="en-US" dirty="0" err="1"/>
              <a:t>Mutex</a:t>
            </a:r>
            <a:r>
              <a:rPr lang="en-US" dirty="0"/>
              <a:t> for mutual </a:t>
            </a:r>
            <a:r>
              <a:rPr lang="en-US" dirty="0">
                <a:solidFill>
                  <a:schemeClr val="accent1">
                    <a:lumMod val="50000"/>
                  </a:schemeClr>
                </a:solidFill>
                <a:latin typeface="Comic Sans MS" pitchFamily="66" charset="0"/>
              </a:rPr>
              <a:t>exclusion </a:t>
            </a:r>
            <a:r>
              <a:rPr lang="en-US" dirty="0"/>
              <a:t>on the buffer (semaphore </a:t>
            </a:r>
            <a:r>
              <a:rPr lang="en-US" dirty="0" err="1"/>
              <a:t>mutex</a:t>
            </a:r>
            <a:r>
              <a:rPr lang="en-US" dirty="0"/>
              <a:t>). Any access to the buffer must be protected by this semaphore.</a:t>
            </a:r>
          </a:p>
          <a:p>
            <a:pPr>
              <a:defRPr/>
            </a:pPr>
            <a:endParaRPr lang="en-US" dirty="0"/>
          </a:p>
          <a:p>
            <a:pPr>
              <a:defRPr/>
            </a:pPr>
            <a:r>
              <a:rPr lang="en-US" dirty="0"/>
              <a:t>What are the shared resources that we need to protect?  What are the counting semaphores that we need to define? Consider if the system has multiple producers and consumers.</a:t>
            </a:r>
          </a:p>
          <a:p>
            <a:pPr marL="228600" indent="-228600">
              <a:buFontTx/>
              <a:buAutoNum type="arabicPeriod"/>
              <a:defRPr/>
            </a:pPr>
            <a:r>
              <a:rPr lang="en-US" dirty="0"/>
              <a:t>The number of items in the buffer (semaphore full). They are the same resource among multiple consumers. We must make sure the orderly consumption on the items. </a:t>
            </a:r>
          </a:p>
          <a:p>
            <a:pPr marL="228600" indent="-228600">
              <a:buFontTx/>
              <a:buAutoNum type="arabicPeriod"/>
              <a:defRPr/>
            </a:pPr>
            <a:r>
              <a:rPr lang="en-US" dirty="0"/>
              <a:t>The number of empty slots in the buffer (semaphore empty). They are the same resource among multiple producers. We must make sure the orderly execution on taking the slots.</a:t>
            </a:r>
          </a:p>
          <a:p>
            <a:pPr>
              <a:defRPr/>
            </a:pPr>
            <a:endParaRPr lang="en-US" dirty="0"/>
          </a:p>
          <a:p>
            <a:pPr>
              <a:defRPr/>
            </a:pPr>
            <a:endParaRPr lang="en-US" dirty="0"/>
          </a:p>
        </p:txBody>
      </p:sp>
      <p:sp>
        <p:nvSpPr>
          <p:cNvPr id="98307" name="Slide Number Placeholder 3">
            <a:extLst>
              <a:ext uri="{FF2B5EF4-FFF2-40B4-BE49-F238E27FC236}">
                <a16:creationId xmlns:a16="http://schemas.microsoft.com/office/drawing/2014/main" id="{21870EC5-54EB-4202-9F3D-65F6F478E1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9FDFBC41-431C-42C0-80BD-20CDF8BDB570}" type="slidenum">
              <a:rPr lang="en-US" altLang="en-US">
                <a:latin typeface="Times New Roman" panose="02020603050405020304" pitchFamily="18" charset="0"/>
              </a:rPr>
              <a:pPr/>
              <a:t>60</a:t>
            </a:fld>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413F5515-9165-4370-A022-08950ADE7D34}"/>
              </a:ext>
            </a:extLst>
          </p:cNvPr>
          <p:cNvSpPr>
            <a:spLocks noGrp="1" noRot="1" noChangeAspect="1" noChangeArrowheads="1" noTextEdit="1"/>
          </p:cNvSpPr>
          <p:nvPr>
            <p:ph type="sldImg"/>
          </p:nvPr>
        </p:nvSpPr>
        <p:spPr>
          <a:ln/>
        </p:spPr>
      </p:sp>
      <p:sp>
        <p:nvSpPr>
          <p:cNvPr id="100354" name="Notes Placeholder 2">
            <a:extLst>
              <a:ext uri="{FF2B5EF4-FFF2-40B4-BE49-F238E27FC236}">
                <a16:creationId xmlns:a16="http://schemas.microsoft.com/office/drawing/2014/main" id="{DFFE26BA-252B-4308-B674-F969B1DEE5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Original code: no synchronization.</a:t>
            </a:r>
          </a:p>
          <a:p>
            <a:endParaRPr lang="en-US" altLang="en-US"/>
          </a:p>
          <a:p>
            <a:r>
              <a:rPr lang="en-US" altLang="en-US"/>
              <a:t>First, we protect the critical section, i.e., buffer update with the binary semaphore mutex. Say, we need to increment the number of items in the buffer, and manipulate the buffer. “add </a:t>
            </a:r>
            <a:r>
              <a:rPr lang="en-US" altLang="en-US" i="1"/>
              <a:t>nextProduced</a:t>
            </a:r>
            <a:r>
              <a:rPr lang="en-US" altLang="en-US"/>
              <a:t> to </a:t>
            </a:r>
            <a:r>
              <a:rPr lang="en-US" altLang="en-US" i="1"/>
              <a:t>buffer;</a:t>
            </a:r>
            <a:r>
              <a:rPr lang="en-US" altLang="en-US"/>
              <a:t>” is a critical section.</a:t>
            </a:r>
          </a:p>
        </p:txBody>
      </p:sp>
      <p:sp>
        <p:nvSpPr>
          <p:cNvPr id="100355" name="Slide Number Placeholder 3">
            <a:extLst>
              <a:ext uri="{FF2B5EF4-FFF2-40B4-BE49-F238E27FC236}">
                <a16:creationId xmlns:a16="http://schemas.microsoft.com/office/drawing/2014/main" id="{A5BBE642-560C-4C56-9005-85273ECEB4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143B891D-4AF2-4F43-B1BE-6773F831B529}" type="slidenum">
              <a:rPr lang="en-US" altLang="en-US">
                <a:latin typeface="Times New Roman" panose="02020603050405020304" pitchFamily="18" charset="0"/>
              </a:rPr>
              <a:pPr/>
              <a:t>61</a:t>
            </a:fld>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a:extLst>
              <a:ext uri="{FF2B5EF4-FFF2-40B4-BE49-F238E27FC236}">
                <a16:creationId xmlns:a16="http://schemas.microsoft.com/office/drawing/2014/main" id="{122E2629-8A44-44FD-9806-B50586B126B7}"/>
              </a:ext>
            </a:extLst>
          </p:cNvPr>
          <p:cNvSpPr>
            <a:spLocks noGrp="1" noRot="1" noChangeAspect="1" noChangeArrowheads="1" noTextEdit="1"/>
          </p:cNvSpPr>
          <p:nvPr>
            <p:ph type="sldImg"/>
          </p:nvPr>
        </p:nvSpPr>
        <p:spPr>
          <a:ln/>
        </p:spPr>
      </p:sp>
      <p:sp>
        <p:nvSpPr>
          <p:cNvPr id="102402" name="Notes Placeholder 2">
            <a:extLst>
              <a:ext uri="{FF2B5EF4-FFF2-40B4-BE49-F238E27FC236}">
                <a16:creationId xmlns:a16="http://schemas.microsoft.com/office/drawing/2014/main" id="{41D9DACB-34F2-4B88-80C1-66E53FFA4F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Step 3: protect the shared resources.</a:t>
            </a:r>
          </a:p>
          <a:p>
            <a:endParaRPr lang="en-US" altLang="en-US"/>
          </a:p>
        </p:txBody>
      </p:sp>
      <p:sp>
        <p:nvSpPr>
          <p:cNvPr id="102403" name="Slide Number Placeholder 3">
            <a:extLst>
              <a:ext uri="{FF2B5EF4-FFF2-40B4-BE49-F238E27FC236}">
                <a16:creationId xmlns:a16="http://schemas.microsoft.com/office/drawing/2014/main" id="{E3D84042-A055-40B9-ADB6-1263EF1621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88A47A8A-053B-4D98-AF5A-92E1DA9C22FE}"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E670C-DF35-1BB7-F2C7-0710B9012D42}"/>
            </a:ext>
          </a:extLst>
        </p:cNvPr>
        <p:cNvGrpSpPr/>
        <p:nvPr/>
      </p:nvGrpSpPr>
      <p:grpSpPr>
        <a:xfrm>
          <a:off x="0" y="0"/>
          <a:ext cx="0" cy="0"/>
          <a:chOff x="0" y="0"/>
          <a:chExt cx="0" cy="0"/>
        </a:xfrm>
      </p:grpSpPr>
      <p:sp>
        <p:nvSpPr>
          <p:cNvPr id="104449" name="Slide Image Placeholder 1">
            <a:extLst>
              <a:ext uri="{FF2B5EF4-FFF2-40B4-BE49-F238E27FC236}">
                <a16:creationId xmlns:a16="http://schemas.microsoft.com/office/drawing/2014/main" id="{A5C3E0A3-B05B-F887-479B-3E1265BBE16B}"/>
              </a:ext>
            </a:extLst>
          </p:cNvPr>
          <p:cNvSpPr>
            <a:spLocks noGrp="1" noRot="1" noChangeAspect="1" noChangeArrowheads="1" noTextEdit="1"/>
          </p:cNvSpPr>
          <p:nvPr>
            <p:ph type="sldImg"/>
          </p:nvPr>
        </p:nvSpPr>
        <p:spPr>
          <a:ln/>
        </p:spPr>
      </p:sp>
      <p:sp>
        <p:nvSpPr>
          <p:cNvPr id="104450" name="Notes Placeholder 2">
            <a:extLst>
              <a:ext uri="{FF2B5EF4-FFF2-40B4-BE49-F238E27FC236}">
                <a16:creationId xmlns:a16="http://schemas.microsoft.com/office/drawing/2014/main" id="{C9072F1D-A96C-D4FB-9055-94500D0C3F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You can think of different scenarios to see that they are correctly synchornized. For example, when the buffer is full. consumer can go in; but producer cannot. You can consider other cases as well.</a:t>
            </a:r>
          </a:p>
          <a:p>
            <a:r>
              <a:rPr lang="en-US" altLang="en-US"/>
              <a:t>Now, let’s consider one question: the order of Wait(full) and Wait(mutex) cannot be swapped. Why?</a:t>
            </a:r>
          </a:p>
          <a:p>
            <a:endParaRPr lang="en-US" altLang="en-US"/>
          </a:p>
          <a:p>
            <a:endParaRPr lang="en-US" altLang="en-US"/>
          </a:p>
        </p:txBody>
      </p:sp>
      <p:sp>
        <p:nvSpPr>
          <p:cNvPr id="104451" name="Slide Number Placeholder 3">
            <a:extLst>
              <a:ext uri="{FF2B5EF4-FFF2-40B4-BE49-F238E27FC236}">
                <a16:creationId xmlns:a16="http://schemas.microsoft.com/office/drawing/2014/main" id="{631ACE4F-C6BA-5F00-78EE-8A58D43E7F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6CF24F67-F3D3-4FE8-AE01-6F0B303F10FE}"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42518662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D71EC-C629-BD1F-96C0-8C31F86A7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D2411-FF66-7EB6-FABA-4FE07D4D9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42C51-F03B-680B-CC1F-A282FEE67E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D930CA-CD61-46DF-F0CA-F7466F2D7AC1}"/>
              </a:ext>
            </a:extLst>
          </p:cNvPr>
          <p:cNvSpPr>
            <a:spLocks noGrp="1"/>
          </p:cNvSpPr>
          <p:nvPr>
            <p:ph type="sldNum" sz="quarter" idx="5"/>
          </p:nvPr>
        </p:nvSpPr>
        <p:spPr/>
        <p:txBody>
          <a:bodyPr/>
          <a:lstStyle/>
          <a:p>
            <a:fld id="{94971001-0765-4275-A0AB-CEBA9F47F0D7}" type="slidenum">
              <a:rPr lang="en-US" altLang="en-US" smtClean="0"/>
              <a:pPr/>
              <a:t>64</a:t>
            </a:fld>
            <a:endParaRPr lang="en-US" altLang="en-US"/>
          </a:p>
        </p:txBody>
      </p:sp>
    </p:spTree>
    <p:extLst>
      <p:ext uri="{BB962C8B-B14F-4D97-AF65-F5344CB8AC3E}">
        <p14:creationId xmlns:p14="http://schemas.microsoft.com/office/powerpoint/2010/main" val="42510745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a:extLst>
              <a:ext uri="{FF2B5EF4-FFF2-40B4-BE49-F238E27FC236}">
                <a16:creationId xmlns:a16="http://schemas.microsoft.com/office/drawing/2014/main" id="{C75E84B6-2E2F-4D3A-AC02-259C6277791B}"/>
              </a:ext>
            </a:extLst>
          </p:cNvPr>
          <p:cNvSpPr>
            <a:spLocks noGrp="1" noRot="1" noChangeAspect="1" noChangeArrowheads="1" noTextEdit="1"/>
          </p:cNvSpPr>
          <p:nvPr>
            <p:ph type="sldImg"/>
          </p:nvPr>
        </p:nvSpPr>
        <p:spPr>
          <a:ln/>
        </p:spPr>
      </p:sp>
      <p:sp>
        <p:nvSpPr>
          <p:cNvPr id="104450" name="Notes Placeholder 2">
            <a:extLst>
              <a:ext uri="{FF2B5EF4-FFF2-40B4-BE49-F238E27FC236}">
                <a16:creationId xmlns:a16="http://schemas.microsoft.com/office/drawing/2014/main" id="{7768A3F3-92ED-4FEF-BF8D-FE51BE8066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You can think of different scenarios to see that they are correctly synchornized. For example, when the buffer is full. consumer can go in; but producer cannot. You can consider other cases as well.</a:t>
            </a:r>
          </a:p>
          <a:p>
            <a:r>
              <a:rPr lang="en-US" altLang="en-US"/>
              <a:t>Now, let’s consider one question: the order of Wait(full) and Wait(mutex) cannot be swapped. Why?</a:t>
            </a:r>
          </a:p>
          <a:p>
            <a:endParaRPr lang="en-US" altLang="en-US"/>
          </a:p>
          <a:p>
            <a:endParaRPr lang="en-US" altLang="en-US"/>
          </a:p>
        </p:txBody>
      </p:sp>
      <p:sp>
        <p:nvSpPr>
          <p:cNvPr id="104451" name="Slide Number Placeholder 3">
            <a:extLst>
              <a:ext uri="{FF2B5EF4-FFF2-40B4-BE49-F238E27FC236}">
                <a16:creationId xmlns:a16="http://schemas.microsoft.com/office/drawing/2014/main" id="{96B89926-D637-4E0E-8703-14D796DBB3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6CF24F67-F3D3-4FE8-AE01-6F0B303F10FE}" type="slidenum">
              <a:rPr lang="en-US" altLang="en-US">
                <a:latin typeface="Times New Roman" panose="02020603050405020304" pitchFamily="18" charset="0"/>
              </a:rPr>
              <a:pPr/>
              <a:t>65</a:t>
            </a:fld>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a:extLst>
              <a:ext uri="{FF2B5EF4-FFF2-40B4-BE49-F238E27FC236}">
                <a16:creationId xmlns:a16="http://schemas.microsoft.com/office/drawing/2014/main" id="{1420116C-697C-4391-A886-E18839719379}"/>
              </a:ext>
            </a:extLst>
          </p:cNvPr>
          <p:cNvSpPr>
            <a:spLocks noGrp="1" noRot="1" noChangeAspect="1" noChangeArrowheads="1" noTextEdit="1"/>
          </p:cNvSpPr>
          <p:nvPr>
            <p:ph type="sldImg"/>
          </p:nvPr>
        </p:nvSpPr>
        <p:spPr>
          <a:ln/>
        </p:spPr>
      </p:sp>
      <p:sp>
        <p:nvSpPr>
          <p:cNvPr id="106498" name="Notes Placeholder 2">
            <a:extLst>
              <a:ext uri="{FF2B5EF4-FFF2-40B4-BE49-F238E27FC236}">
                <a16:creationId xmlns:a16="http://schemas.microsoft.com/office/drawing/2014/main" id="{754771D2-3CEF-4BE2-A158-BD1F65DCCBB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What is the five philosopher problem?</a:t>
            </a:r>
          </a:p>
          <a:p>
            <a:r>
              <a:rPr lang="en-US" altLang="en-US"/>
              <a:t>Each philosopher is either eating or thinking. They share a circular table with five chairs. A philosopher sits on a chair. There are only five chopsticks. When a philosopher becomes hungry, he will try to pick up the two chopsticks (on his left and right hand side). A philosopher can only pick the chopstick one at a time. He cannot take the chopsticks from others. He can eat only when he picks both chopsticks.  When he finishes eating, he puts down the chopsticks.</a:t>
            </a:r>
          </a:p>
          <a:p>
            <a:endParaRPr lang="en-US" altLang="en-US"/>
          </a:p>
          <a:p>
            <a:r>
              <a:rPr lang="en-US" altLang="en-US"/>
              <a:t>What are the shared data here? Five chopsticks. So, we can define five semaphores, one semaphore for each chopstick.</a:t>
            </a:r>
          </a:p>
          <a:p>
            <a:endParaRPr lang="en-US" altLang="en-US"/>
          </a:p>
          <a:p>
            <a:r>
              <a:rPr lang="en-US" altLang="en-US"/>
              <a:t>Each chopstick is one semaphore. Why? Each chopstick is shared by two different processes. </a:t>
            </a:r>
          </a:p>
          <a:p>
            <a:endParaRPr lang="en-US" altLang="en-US"/>
          </a:p>
        </p:txBody>
      </p:sp>
      <p:sp>
        <p:nvSpPr>
          <p:cNvPr id="106499" name="Slide Number Placeholder 3">
            <a:extLst>
              <a:ext uri="{FF2B5EF4-FFF2-40B4-BE49-F238E27FC236}">
                <a16:creationId xmlns:a16="http://schemas.microsoft.com/office/drawing/2014/main" id="{6B6BD691-D193-4558-99AA-403F308F03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68532462-9317-4C2D-B38B-EB7349246EF6}" type="slidenum">
              <a:rPr lang="en-US" altLang="en-US">
                <a:latin typeface="Times New Roman" panose="02020603050405020304" pitchFamily="18" charset="0"/>
              </a:rPr>
              <a:pPr/>
              <a:t>66</a:t>
            </a:fld>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a:extLst>
              <a:ext uri="{FF2B5EF4-FFF2-40B4-BE49-F238E27FC236}">
                <a16:creationId xmlns:a16="http://schemas.microsoft.com/office/drawing/2014/main" id="{7247CB3E-F2F1-4EDD-85F9-DE6C63CEF5C4}"/>
              </a:ext>
            </a:extLst>
          </p:cNvPr>
          <p:cNvSpPr>
            <a:spLocks noGrp="1" noRot="1" noChangeAspect="1" noChangeArrowheads="1" noTextEdit="1"/>
          </p:cNvSpPr>
          <p:nvPr>
            <p:ph type="sldImg"/>
          </p:nvPr>
        </p:nvSpPr>
        <p:spPr>
          <a:ln/>
        </p:spPr>
      </p:sp>
      <p:sp>
        <p:nvSpPr>
          <p:cNvPr id="108546" name="Notes Placeholder 2">
            <a:extLst>
              <a:ext uri="{FF2B5EF4-FFF2-40B4-BE49-F238E27FC236}">
                <a16:creationId xmlns:a16="http://schemas.microsoft.com/office/drawing/2014/main" id="{E78F1210-A769-47BA-B0B8-9D01BDF5C6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For philosopher i ( 0&lt;=i&lt;5): He first picks up his left chopstick, and then the right chopstick. This is done by calling the Wait operation on the corresponding semaphore. If both operations can succeed, the philosopher can eat. After eating, he releases the left chopstick and then the right one. After that, the philosopher will think, and then repeat the process. </a:t>
            </a:r>
          </a:p>
          <a:p>
            <a:endParaRPr lang="en-US" altLang="en-US"/>
          </a:p>
          <a:p>
            <a:r>
              <a:rPr lang="en-US" altLang="en-US" b="1"/>
              <a:t>Does this solution have any problem? </a:t>
            </a:r>
            <a:r>
              <a:rPr lang="en-US" altLang="en-US"/>
              <a:t>Each philosopher executes the first line and a context switch occurs. </a:t>
            </a:r>
            <a:r>
              <a:rPr lang="en-US" altLang="en-US">
                <a:sym typeface="Wingdings" panose="05000000000000000000" pitchFamily="2" charset="2"/>
              </a:rPr>
              <a:t> deadlock.</a:t>
            </a:r>
            <a:endParaRPr lang="en-US" altLang="en-US"/>
          </a:p>
        </p:txBody>
      </p:sp>
      <p:sp>
        <p:nvSpPr>
          <p:cNvPr id="108547" name="Slide Number Placeholder 3">
            <a:extLst>
              <a:ext uri="{FF2B5EF4-FFF2-40B4-BE49-F238E27FC236}">
                <a16:creationId xmlns:a16="http://schemas.microsoft.com/office/drawing/2014/main" id="{9F06111B-7730-4FAE-9023-C5440F9ECD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D8E056EB-0DD6-4214-955F-A5D5A9139A4F}" type="slidenum">
              <a:rPr lang="en-US" altLang="en-US">
                <a:latin typeface="Times New Roman" panose="02020603050405020304" pitchFamily="18" charset="0"/>
              </a:rPr>
              <a:pPr/>
              <a:t>67</a:t>
            </a:fld>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a:extLst>
              <a:ext uri="{FF2B5EF4-FFF2-40B4-BE49-F238E27FC236}">
                <a16:creationId xmlns:a16="http://schemas.microsoft.com/office/drawing/2014/main" id="{69913717-A733-4CE6-9C0F-67DC0E856FA6}"/>
              </a:ext>
            </a:extLst>
          </p:cNvPr>
          <p:cNvSpPr>
            <a:spLocks noGrp="1" noRot="1" noChangeAspect="1" noChangeArrowheads="1" noTextEdit="1"/>
          </p:cNvSpPr>
          <p:nvPr>
            <p:ph type="sldImg"/>
          </p:nvPr>
        </p:nvSpPr>
        <p:spPr>
          <a:ln/>
        </p:spPr>
      </p:sp>
      <p:sp>
        <p:nvSpPr>
          <p:cNvPr id="110594" name="Notes Placeholder 2">
            <a:extLst>
              <a:ext uri="{FF2B5EF4-FFF2-40B4-BE49-F238E27FC236}">
                <a16:creationId xmlns:a16="http://schemas.microsoft.com/office/drawing/2014/main" id="{8FF4DD1C-2004-4416-BF89-3A4BE9060BF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problem occurs when all five philosophers become hungry simultaneously, and each grabs his left chopstick. Now all the semaphores of chopstick will be equal to 0. When each philosopher tries to grab his right chopstick, he will be delayed forever. That is called deadlock. You can consider there is a context switch after the philosopher process executes the first line. You can see, incorrect use of semaphores can easily lead to the deadlock problem.</a:t>
            </a:r>
          </a:p>
          <a:p>
            <a:endParaRPr lang="en-US" altLang="en-US"/>
          </a:p>
        </p:txBody>
      </p:sp>
      <p:sp>
        <p:nvSpPr>
          <p:cNvPr id="110595" name="Slide Number Placeholder 3">
            <a:extLst>
              <a:ext uri="{FF2B5EF4-FFF2-40B4-BE49-F238E27FC236}">
                <a16:creationId xmlns:a16="http://schemas.microsoft.com/office/drawing/2014/main" id="{C14B4EA3-3F9D-4B26-90F5-17D7876E87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527BF105-030C-4571-B05B-642BE4F8C3C4}" type="slidenum">
              <a:rPr lang="en-US" altLang="en-US">
                <a:latin typeface="Times New Roman" panose="02020603050405020304" pitchFamily="18" charset="0"/>
              </a:rPr>
              <a:pPr/>
              <a:t>68</a:t>
            </a:fld>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a:extLst>
              <a:ext uri="{FF2B5EF4-FFF2-40B4-BE49-F238E27FC236}">
                <a16:creationId xmlns:a16="http://schemas.microsoft.com/office/drawing/2014/main" id="{AB304D8A-073E-49FE-924C-E7974D9F6FEA}"/>
              </a:ext>
            </a:extLst>
          </p:cNvPr>
          <p:cNvSpPr>
            <a:spLocks noGrp="1" noRot="1" noChangeAspect="1" noChangeArrowheads="1" noTextEdit="1"/>
          </p:cNvSpPr>
          <p:nvPr>
            <p:ph type="sldImg"/>
          </p:nvPr>
        </p:nvSpPr>
        <p:spPr>
          <a:ln/>
        </p:spPr>
      </p:sp>
      <p:sp>
        <p:nvSpPr>
          <p:cNvPr id="112642" name="Notes Placeholder 2">
            <a:extLst>
              <a:ext uri="{FF2B5EF4-FFF2-40B4-BE49-F238E27FC236}">
                <a16:creationId xmlns:a16="http://schemas.microsoft.com/office/drawing/2014/main" id="{518FF6DC-D6D5-4AFE-8A31-834CBEB3E6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Can you think of a solution for this problem? There are many possible solutions. We give some examples here. We will talk more in our next chapter. Here, you just need to know that, those solutions will make sure: even when all the five philosophers are hungry at the same time, at least one philosopher can eat.</a:t>
            </a:r>
          </a:p>
          <a:p>
            <a:endParaRPr lang="en-US" altLang="en-US"/>
          </a:p>
          <a:p>
            <a:r>
              <a:rPr lang="en-US" altLang="en-US"/>
              <a:t>First, we allow at most four philosophers to be hungry at the same time. In this case, at least one philosopher can pick up both chopsticks. </a:t>
            </a:r>
          </a:p>
          <a:p>
            <a:r>
              <a:rPr lang="en-US" altLang="en-US"/>
              <a:t>Second, we allow a philosopher to pick up his chopsticks only if both are available. There is no deadlock, because one philosopher can take both chopsticks. </a:t>
            </a:r>
          </a:p>
          <a:p>
            <a:r>
              <a:rPr lang="en-US" altLang="en-US"/>
              <a:t>Third, we use an asymmetric solution: give an id to each philosopher. an odd philosopher picks up first his left chopstick and then his right one, whereas the even philosophers pick up his right chopstick first and then his left chopstick.  We make sure there is at least one philosopher who gets both chopsticks.</a:t>
            </a:r>
          </a:p>
        </p:txBody>
      </p:sp>
      <p:sp>
        <p:nvSpPr>
          <p:cNvPr id="112643" name="Slide Number Placeholder 3">
            <a:extLst>
              <a:ext uri="{FF2B5EF4-FFF2-40B4-BE49-F238E27FC236}">
                <a16:creationId xmlns:a16="http://schemas.microsoft.com/office/drawing/2014/main" id="{7339AC28-7D82-4D42-83E6-4A304E6C41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ECDAB4F9-3E64-4113-BD20-09110140F0EF}" type="slidenum">
              <a:rPr lang="en-US" altLang="en-US">
                <a:latin typeface="Times New Roman" panose="02020603050405020304" pitchFamily="18" charset="0"/>
              </a:rPr>
              <a:pPr/>
              <a:t>69</a:t>
            </a:fld>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a:extLst>
              <a:ext uri="{FF2B5EF4-FFF2-40B4-BE49-F238E27FC236}">
                <a16:creationId xmlns:a16="http://schemas.microsoft.com/office/drawing/2014/main" id="{55C341B3-1E20-4E68-89F0-EAD4068C8B27}"/>
              </a:ext>
            </a:extLst>
          </p:cNvPr>
          <p:cNvSpPr>
            <a:spLocks noGrp="1" noRot="1" noChangeAspect="1" noChangeArrowheads="1" noTextEdit="1"/>
          </p:cNvSpPr>
          <p:nvPr>
            <p:ph type="sldImg"/>
          </p:nvPr>
        </p:nvSpPr>
        <p:spPr>
          <a:ln/>
        </p:spPr>
      </p:sp>
      <p:sp>
        <p:nvSpPr>
          <p:cNvPr id="114690" name="Notes Placeholder 2">
            <a:extLst>
              <a:ext uri="{FF2B5EF4-FFF2-40B4-BE49-F238E27FC236}">
                <a16:creationId xmlns:a16="http://schemas.microsoft.com/office/drawing/2014/main" id="{9040DE7E-4759-47D8-840B-AF271D76EA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database system, or file systems, we need to synchronize the reads and writes to shared data. The difference here is that we allow two readers to concurrently read the data. But if there is a writer, the access is exclusive and we require that writer has exclusive access to the shared data.</a:t>
            </a:r>
          </a:p>
          <a:p>
            <a:endParaRPr lang="en-US" altLang="en-US"/>
          </a:p>
          <a:p>
            <a:r>
              <a:rPr lang="en-US" altLang="en-US"/>
              <a:t>For system throughput, we try to maximize the probability of concurrent accesses from readers. Suppose a reader is accessing the database. During this period, if another reader comes to the database, we allow multiple readers to access and block the writers. Only after the last reader has exited the database, we allow the writers to access the database. That means, the first reader should block the writer before reading, and the last reader should signal the writer after finishing access to the database.</a:t>
            </a:r>
          </a:p>
        </p:txBody>
      </p:sp>
      <p:sp>
        <p:nvSpPr>
          <p:cNvPr id="114691" name="Slide Number Placeholder 3">
            <a:extLst>
              <a:ext uri="{FF2B5EF4-FFF2-40B4-BE49-F238E27FC236}">
                <a16:creationId xmlns:a16="http://schemas.microsoft.com/office/drawing/2014/main" id="{DAE77358-4233-459E-B83E-0DBDEA0646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64D59D35-218F-4954-A920-B502E3034777}" type="slidenum">
              <a:rPr lang="en-US" altLang="en-US">
                <a:latin typeface="Times New Roman" panose="02020603050405020304" pitchFamily="18" charset="0"/>
              </a:rPr>
              <a:pPr/>
              <a:t>70</a:t>
            </a:fld>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a:extLst>
              <a:ext uri="{FF2B5EF4-FFF2-40B4-BE49-F238E27FC236}">
                <a16:creationId xmlns:a16="http://schemas.microsoft.com/office/drawing/2014/main" id="{CC8FC54B-5157-465F-9398-1AE9121A2AC0}"/>
              </a:ext>
            </a:extLst>
          </p:cNvPr>
          <p:cNvSpPr>
            <a:spLocks noGrp="1" noRot="1" noChangeAspect="1" noChangeArrowheads="1" noTextEdit="1"/>
          </p:cNvSpPr>
          <p:nvPr>
            <p:ph type="sldImg"/>
          </p:nvPr>
        </p:nvSpPr>
        <p:spPr>
          <a:ln/>
        </p:spPr>
      </p:sp>
      <p:sp>
        <p:nvSpPr>
          <p:cNvPr id="116738" name="Notes Placeholder 2">
            <a:extLst>
              <a:ext uri="{FF2B5EF4-FFF2-40B4-BE49-F238E27FC236}">
                <a16:creationId xmlns:a16="http://schemas.microsoft.com/office/drawing/2014/main" id="{CCAD36B9-4A1D-4F93-B00F-91269A56588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6739" name="Slide Number Placeholder 3">
            <a:extLst>
              <a:ext uri="{FF2B5EF4-FFF2-40B4-BE49-F238E27FC236}">
                <a16:creationId xmlns:a16="http://schemas.microsoft.com/office/drawing/2014/main" id="{9FE16400-E5D7-4D97-A62A-4A14F838BD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F71DBCFC-6995-41B2-8EB3-F7D840018AD0}"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Slide Image Placeholder 1">
            <a:extLst>
              <a:ext uri="{FF2B5EF4-FFF2-40B4-BE49-F238E27FC236}">
                <a16:creationId xmlns:a16="http://schemas.microsoft.com/office/drawing/2014/main" id="{431D14A3-03D2-4C97-8263-7273AB89919F}"/>
              </a:ext>
            </a:extLst>
          </p:cNvPr>
          <p:cNvSpPr>
            <a:spLocks noGrp="1" noRot="1" noChangeAspect="1" noChangeArrowheads="1" noTextEdit="1"/>
          </p:cNvSpPr>
          <p:nvPr>
            <p:ph type="sldImg"/>
          </p:nvPr>
        </p:nvSpPr>
        <p:spPr>
          <a:ln/>
        </p:spPr>
      </p:sp>
      <p:sp>
        <p:nvSpPr>
          <p:cNvPr id="118786" name="Notes Placeholder 2">
            <a:extLst>
              <a:ext uri="{FF2B5EF4-FFF2-40B4-BE49-F238E27FC236}">
                <a16:creationId xmlns:a16="http://schemas.microsoft.com/office/drawing/2014/main" id="{2D5A9CAD-EAF2-416A-B1AC-74BC489507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first reader holds the wrt semaphore, and blocks the writer. The last reader signals on this semaphore.</a:t>
            </a:r>
          </a:p>
          <a:p>
            <a:r>
              <a:rPr lang="en-US" altLang="en-US"/>
              <a:t> </a:t>
            </a:r>
          </a:p>
          <a:p>
            <a:r>
              <a:rPr lang="en-US" altLang="en-US"/>
              <a:t>Readcount is the shared variable. So we need to use a mutex for synchronization.</a:t>
            </a:r>
          </a:p>
        </p:txBody>
      </p:sp>
      <p:sp>
        <p:nvSpPr>
          <p:cNvPr id="118787" name="Slide Number Placeholder 3">
            <a:extLst>
              <a:ext uri="{FF2B5EF4-FFF2-40B4-BE49-F238E27FC236}">
                <a16:creationId xmlns:a16="http://schemas.microsoft.com/office/drawing/2014/main" id="{E0DFEBDC-58E4-43DB-B092-72924DC503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51DE33D-8A26-446C-9912-A95C19EC1269}"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Slide Image Placeholder 1">
            <a:extLst>
              <a:ext uri="{FF2B5EF4-FFF2-40B4-BE49-F238E27FC236}">
                <a16:creationId xmlns:a16="http://schemas.microsoft.com/office/drawing/2014/main" id="{C2EB17BC-4EBE-41B3-969A-F26898ED321A}"/>
              </a:ext>
            </a:extLst>
          </p:cNvPr>
          <p:cNvSpPr>
            <a:spLocks noGrp="1" noRot="1" noChangeAspect="1" noChangeArrowheads="1" noTextEdit="1"/>
          </p:cNvSpPr>
          <p:nvPr>
            <p:ph type="sldImg"/>
          </p:nvPr>
        </p:nvSpPr>
        <p:spPr>
          <a:ln/>
        </p:spPr>
      </p:sp>
      <p:sp>
        <p:nvSpPr>
          <p:cNvPr id="120834" name="Notes Placeholder 2">
            <a:extLst>
              <a:ext uri="{FF2B5EF4-FFF2-40B4-BE49-F238E27FC236}">
                <a16:creationId xmlns:a16="http://schemas.microsoft.com/office/drawing/2014/main" id="{177AF8C6-8FB7-4705-B5A6-5043D3864D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have already seen that semaphore can solve the process synchronization problem, but also induce other problems such as deadlock. OS actually introduces a higher level construct for developers named monitor. With monitor, it is even easier to implement a solution for process synchronization.</a:t>
            </a:r>
          </a:p>
          <a:p>
            <a:endParaRPr lang="en-US" altLang="en-US"/>
          </a:p>
          <a:p>
            <a:r>
              <a:rPr lang="en-US" altLang="en-US"/>
              <a:t>Monitor is a higher level abstraction that allows the sharing of variable among concurrent processes. In its definition, it is a collection of procedures and data. You can consider it as a java class. Processes call the procedures within monitor to access the shared data. The operating system ensures that only one process can be active in the monitor at any time. That is, </a:t>
            </a:r>
            <a:r>
              <a:rPr lang="en-GB" altLang="en-US"/>
              <a:t>only one process can be executing a monitor procedure at any one time. That property is very important.</a:t>
            </a:r>
          </a:p>
        </p:txBody>
      </p:sp>
      <p:sp>
        <p:nvSpPr>
          <p:cNvPr id="120835" name="Slide Number Placeholder 3">
            <a:extLst>
              <a:ext uri="{FF2B5EF4-FFF2-40B4-BE49-F238E27FC236}">
                <a16:creationId xmlns:a16="http://schemas.microsoft.com/office/drawing/2014/main" id="{0FAEF892-0C36-4DA0-8A3E-87EE636ACB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05098319-8AB4-44C7-9426-19098D2F03B2}" type="slidenum">
              <a:rPr lang="en-US" altLang="en-US">
                <a:latin typeface="Times New Roman" panose="02020603050405020304" pitchFamily="18" charset="0"/>
              </a:rPr>
              <a:pPr/>
              <a:t>73</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409529EF-9731-40B0-BACD-264BE6085827}"/>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47189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B0D4175A-B6EE-4625-B5F7-6D7ADAB0D2AC}"/>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586631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15BE9B81-4964-4A3D-9F1B-07D3233149A0}"/>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594192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EFA42B5-7EA9-4A10-A0C4-9052F758BA7F}"/>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22435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6BF6897D-7D80-416D-A4B2-4D409613EAF5}"/>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64069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D84263E-8D0C-475F-9674-8F77F584EEF8}"/>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016024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8C2D502-3776-48A7-811F-8F58C6F0E8D8}"/>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172870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4C9BEA14-8466-423A-B79E-ACB7E5E01E6D}"/>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57901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E5219E8-3096-4998-AB95-137F020D7145}"/>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40546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D06BFF9-03FC-4866-A1E7-385751D6E8A2}"/>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862454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B8D1A93-4A69-4F9A-87E1-2212057127AF}"/>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843996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B28E866-B7DA-49C5-9FA4-CC235DF90ED8}"/>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F62DB3F-2C5D-4B51-9D06-6EB6EE9772EF}"/>
              </a:ext>
            </a:extLst>
          </p:cNvPr>
          <p:cNvSpPr>
            <a:spLocks noGrp="1" noChangeArrowheads="1"/>
          </p:cNvSpPr>
          <p:nvPr>
            <p:ph type="body" idx="1"/>
          </p:nvPr>
        </p:nvSpPr>
        <p:spPr bwMode="auto">
          <a:xfrm>
            <a:off x="1047750" y="1724025"/>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6412BF9A-E388-48DA-9463-B86D1E06A0B6}"/>
              </a:ext>
            </a:extLst>
          </p:cNvPr>
          <p:cNvSpPr>
            <a:spLocks noGrp="1" noChangeArrowheads="1"/>
          </p:cNvSpPr>
          <p:nvPr>
            <p:ph type="ftr" sz="quarter" idx="3"/>
          </p:nvPr>
        </p:nvSpPr>
        <p:spPr bwMode="auto">
          <a:xfrm>
            <a:off x="42863" y="6623050"/>
            <a:ext cx="3544887"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Operating Systems</a:t>
            </a:r>
          </a:p>
          <a:p>
            <a:pPr>
              <a:defRPr/>
            </a:pPr>
            <a:endParaRPr lang="en-US"/>
          </a:p>
        </p:txBody>
      </p:sp>
      <p:sp>
        <p:nvSpPr>
          <p:cNvPr id="2" name="Rectangle 8">
            <a:extLst>
              <a:ext uri="{FF2B5EF4-FFF2-40B4-BE49-F238E27FC236}">
                <a16:creationId xmlns:a16="http://schemas.microsoft.com/office/drawing/2014/main" id="{35856108-78F2-4C7A-B5AC-BCDEBA9C512E}"/>
              </a:ext>
            </a:extLst>
          </p:cNvPr>
          <p:cNvSpPr>
            <a:spLocks noChangeArrowheads="1"/>
          </p:cNvSpPr>
          <p:nvPr/>
        </p:nvSpPr>
        <p:spPr bwMode="auto">
          <a:xfrm>
            <a:off x="6248400" y="6580188"/>
            <a:ext cx="2895600" cy="320675"/>
          </a:xfrm>
          <a:prstGeom prst="rect">
            <a:avLst/>
          </a:prstGeom>
          <a:noFill/>
          <a:ln>
            <a:noFill/>
          </a:ln>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r>
              <a:rPr lang="en-US" altLang="en-US" sz="1000"/>
              <a:t>Part 4 Process Synchronization</a:t>
            </a:r>
            <a:r>
              <a:rPr lang="en-US" altLang="en-US" sz="1400">
                <a:latin typeface="Times New Roman" pitchFamily="18" charset="0"/>
              </a:rPr>
              <a:t> </a:t>
            </a:r>
          </a:p>
        </p:txBody>
      </p:sp>
      <p:sp>
        <p:nvSpPr>
          <p:cNvPr id="1030" name="AutoShape 9">
            <a:extLst>
              <a:ext uri="{FF2B5EF4-FFF2-40B4-BE49-F238E27FC236}">
                <a16:creationId xmlns:a16="http://schemas.microsoft.com/office/drawing/2014/main" id="{950C3AD6-9DB3-46BB-A2BC-CAE47AF89B90}"/>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endParaRPr lang="en-US" altLang="en-US"/>
          </a:p>
        </p:txBody>
      </p:sp>
      <p:sp>
        <p:nvSpPr>
          <p:cNvPr id="1031" name="Text Box 10">
            <a:extLst>
              <a:ext uri="{FF2B5EF4-FFF2-40B4-BE49-F238E27FC236}">
                <a16:creationId xmlns:a16="http://schemas.microsoft.com/office/drawing/2014/main" id="{82D104EA-0696-4BDC-8EC5-BC72914448FF}"/>
              </a:ext>
            </a:extLst>
          </p:cNvPr>
          <p:cNvSpPr txBox="1">
            <a:spLocks noChangeArrowheads="1"/>
          </p:cNvSpPr>
          <p:nvPr/>
        </p:nvSpPr>
        <p:spPr bwMode="auto">
          <a:xfrm>
            <a:off x="4081463" y="6505575"/>
            <a:ext cx="817562" cy="460375"/>
          </a:xfrm>
          <a:prstGeom prst="rect">
            <a:avLst/>
          </a:prstGeom>
          <a:noFill/>
          <a:ln>
            <a:noFill/>
          </a:ln>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2400"/>
              <a:t>4.</a:t>
            </a:r>
            <a:fld id="{A377F67F-7002-4E1D-AAE0-1E12AD2BD336}" type="slidenum">
              <a:rPr lang="en-US" altLang="en-US" sz="2400"/>
              <a:pPr algn="ctr">
                <a:spcBef>
                  <a:spcPct val="50000"/>
                </a:spcBef>
              </a:pPr>
              <a:t>‹#›</a:t>
            </a:fld>
            <a:endParaRPr lang="en-US"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11/relationships/webextension" Target="../webextensions/webextension7.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11/relationships/webextension" Target="../webextensions/webextension8.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11/relationships/webextension" Target="../webextensions/webextension9.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11/relationships/webextension" Target="../webextensions/webextension10.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11/relationships/webextension" Target="../webextensions/webextension11.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microsoft.com/office/2011/relationships/webextension" Target="../webextensions/webextension12.xm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microsoft.com/office/2011/relationships/webextension" Target="../webextensions/webextension13.xm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microsoft.com/office/2011/relationships/webextension" Target="../webextensions/webextension14.xml"/><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dirty="0" err="1"/>
              <a:t>Wooclap</a:t>
            </a:r>
            <a:endParaRPr lang="en-US" dirty="0"/>
          </a:p>
        </p:txBody>
      </p:sp>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
        <p:nvSpPr>
          <p:cNvPr id="3" name="TextBox 2">
            <a:extLst>
              <a:ext uri="{FF2B5EF4-FFF2-40B4-BE49-F238E27FC236}">
                <a16:creationId xmlns:a16="http://schemas.microsoft.com/office/drawing/2014/main" id="{43F50D15-9A48-1148-80EA-3F17CEB4B293}"/>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begins</a:t>
            </a:r>
          </a:p>
        </p:txBody>
      </p:sp>
      <p:sp>
        <p:nvSpPr>
          <p:cNvPr id="6" name="Content Placeholder 2">
            <a:extLst>
              <a:ext uri="{FF2B5EF4-FFF2-40B4-BE49-F238E27FC236}">
                <a16:creationId xmlns:a16="http://schemas.microsoft.com/office/drawing/2014/main" id="{B5EA5168-21F6-3EA2-BF8D-86E093F604D5}"/>
              </a:ext>
            </a:extLst>
          </p:cNvPr>
          <p:cNvSpPr>
            <a:spLocks noGrp="1"/>
          </p:cNvSpPr>
          <p:nvPr>
            <p:ph idx="1"/>
          </p:nvPr>
        </p:nvSpPr>
        <p:spPr>
          <a:xfrm>
            <a:off x="1019175" y="1368791"/>
            <a:ext cx="7029450" cy="1192170"/>
          </a:xfrm>
        </p:spPr>
        <p:txBody>
          <a:bodyPr/>
          <a:lstStyle/>
          <a:p>
            <a:r>
              <a:rPr lang="en-US" dirty="0"/>
              <a:t>Follow the same QR</a:t>
            </a:r>
          </a:p>
          <a:p>
            <a:r>
              <a:rPr lang="en-US" dirty="0"/>
              <a:t>The question will appear on your device</a:t>
            </a:r>
          </a:p>
        </p:txBody>
      </p:sp>
      <p:pic>
        <p:nvPicPr>
          <p:cNvPr id="7" name="Picture 6">
            <a:extLst>
              <a:ext uri="{FF2B5EF4-FFF2-40B4-BE49-F238E27FC236}">
                <a16:creationId xmlns:a16="http://schemas.microsoft.com/office/drawing/2014/main" id="{A8FF22FF-2831-26A8-8575-A9E7E94CF54E}"/>
              </a:ext>
            </a:extLst>
          </p:cNvPr>
          <p:cNvPicPr>
            <a:picLocks noChangeAspect="1"/>
          </p:cNvPicPr>
          <p:nvPr/>
        </p:nvPicPr>
        <p:blipFill>
          <a:blip r:embed="rId3"/>
          <a:stretch>
            <a:fillRect/>
          </a:stretch>
        </p:blipFill>
        <p:spPr>
          <a:xfrm>
            <a:off x="719137" y="2486959"/>
            <a:ext cx="7772400" cy="3407898"/>
          </a:xfrm>
          <a:prstGeom prst="rect">
            <a:avLst/>
          </a:prstGeom>
        </p:spPr>
      </p:pic>
    </p:spTree>
    <p:extLst>
      <p:ext uri="{BB962C8B-B14F-4D97-AF65-F5344CB8AC3E}">
        <p14:creationId xmlns:p14="http://schemas.microsoft.com/office/powerpoint/2010/main" val="169650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F42B2-CB16-2991-7FA8-9D9649F0C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D1FF3-4940-0E80-2D80-D310F0856AC2}"/>
              </a:ext>
            </a:extLst>
          </p:cNvPr>
          <p:cNvSpPr>
            <a:spLocks noGrp="1"/>
          </p:cNvSpPr>
          <p:nvPr>
            <p:ph type="title"/>
          </p:nvPr>
        </p:nvSpPr>
        <p:spPr/>
        <p:txBody>
          <a:bodyPr/>
          <a:lstStyle/>
          <a:p>
            <a:r>
              <a:rPr lang="en-US" dirty="0"/>
              <a:t>CPU Scheduling Lecture Concepts</a:t>
            </a:r>
          </a:p>
        </p:txBody>
      </p:sp>
      <p:sp>
        <p:nvSpPr>
          <p:cNvPr id="4" name="Footer Placeholder 3">
            <a:extLst>
              <a:ext uri="{FF2B5EF4-FFF2-40B4-BE49-F238E27FC236}">
                <a16:creationId xmlns:a16="http://schemas.microsoft.com/office/drawing/2014/main" id="{BACBCFA7-B86B-9714-CC11-D652C1E0B1B8}"/>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1A9E8F1B-5079-3366-55CF-22FFDC269FF5}"/>
                  </a:ext>
                </a:extLst>
              </p:cNvPr>
              <p:cNvGraphicFramePr>
                <a:graphicFrameLocks noGrp="1"/>
              </p:cNvGraphicFramePr>
              <p:nvPr>
                <p:extLst>
                  <p:ext uri="{D42A27DB-BD31-4B8C-83A1-F6EECF244321}">
                    <p14:modId xmlns:p14="http://schemas.microsoft.com/office/powerpoint/2010/main" val="4065238490"/>
                  </p:ext>
                </p:extLst>
              </p:nvPr>
            </p:nvGraphicFramePr>
            <p:xfrm>
              <a:off x="11906" y="1212850"/>
              <a:ext cx="9132093" cy="468818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a:extLst>
                  <a:ext uri="{FF2B5EF4-FFF2-40B4-BE49-F238E27FC236}">
                    <a16:creationId xmlns:a16="http://schemas.microsoft.com/office/drawing/2014/main" id="{1A9E8F1B-5079-3366-55CF-22FFDC269FF5}"/>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11906" y="1212850"/>
                <a:ext cx="9132093" cy="4688185"/>
              </a:xfrm>
              <a:prstGeom prst="rect">
                <a:avLst/>
              </a:prstGeom>
            </p:spPr>
          </p:pic>
        </mc:Fallback>
      </mc:AlternateContent>
      <p:sp>
        <p:nvSpPr>
          <p:cNvPr id="8" name="Content Placeholder 7">
            <a:extLst>
              <a:ext uri="{FF2B5EF4-FFF2-40B4-BE49-F238E27FC236}">
                <a16:creationId xmlns:a16="http://schemas.microsoft.com/office/drawing/2014/main" id="{103C0EC8-7BB0-67A4-440F-23C44A78FAA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95144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E37C-D648-62AB-79DD-BE12C60273D7}"/>
              </a:ext>
            </a:extLst>
          </p:cNvPr>
          <p:cNvSpPr>
            <a:spLocks noGrp="1"/>
          </p:cNvSpPr>
          <p:nvPr>
            <p:ph type="title"/>
          </p:nvPr>
        </p:nvSpPr>
        <p:spPr/>
        <p:txBody>
          <a:bodyPr/>
          <a:lstStyle/>
          <a:p>
            <a:r>
              <a:rPr lang="en-US" dirty="0"/>
              <a:t>Course Overview</a:t>
            </a:r>
          </a:p>
        </p:txBody>
      </p:sp>
      <p:sp>
        <p:nvSpPr>
          <p:cNvPr id="4" name="Footer Placeholder 3">
            <a:extLst>
              <a:ext uri="{FF2B5EF4-FFF2-40B4-BE49-F238E27FC236}">
                <a16:creationId xmlns:a16="http://schemas.microsoft.com/office/drawing/2014/main" id="{2AB58029-CCA3-2962-F8C9-30EEC52B4DA1}"/>
              </a:ext>
            </a:extLst>
          </p:cNvPr>
          <p:cNvSpPr>
            <a:spLocks noGrp="1"/>
          </p:cNvSpPr>
          <p:nvPr>
            <p:ph type="ftr" sz="quarter" idx="10"/>
          </p:nvPr>
        </p:nvSpPr>
        <p:spPr/>
        <p:txBody>
          <a:bodyPr/>
          <a:lstStyle/>
          <a:p>
            <a:pPr>
              <a:defRPr/>
            </a:pPr>
            <a:r>
              <a:rPr lang="en-US"/>
              <a:t>Operating Systems</a:t>
            </a:r>
          </a:p>
          <a:p>
            <a:pPr>
              <a:defRPr/>
            </a:pPr>
            <a:endParaRPr lang="en-US"/>
          </a:p>
        </p:txBody>
      </p:sp>
      <p:sp>
        <p:nvSpPr>
          <p:cNvPr id="5" name="TextBox 4">
            <a:extLst>
              <a:ext uri="{FF2B5EF4-FFF2-40B4-BE49-F238E27FC236}">
                <a16:creationId xmlns:a16="http://schemas.microsoft.com/office/drawing/2014/main" id="{E8CDAB8E-895E-6DF4-D571-864BCF9B761D}"/>
              </a:ext>
            </a:extLst>
          </p:cNvPr>
          <p:cNvSpPr txBox="1"/>
          <p:nvPr/>
        </p:nvSpPr>
        <p:spPr>
          <a:xfrm>
            <a:off x="3306871" y="1114817"/>
            <a:ext cx="2743200" cy="646331"/>
          </a:xfrm>
          <a:prstGeom prst="rect">
            <a:avLst/>
          </a:prstGeom>
          <a:noFill/>
        </p:spPr>
        <p:txBody>
          <a:bodyPr wrap="square" rtlCol="0">
            <a:spAutoFit/>
          </a:bodyPr>
          <a:lstStyle/>
          <a:p>
            <a:pPr algn="ctr"/>
            <a:r>
              <a:rPr lang="en-US" sz="3600" u="sng" dirty="0"/>
              <a:t>OS goals</a:t>
            </a:r>
          </a:p>
        </p:txBody>
      </p:sp>
      <p:sp>
        <p:nvSpPr>
          <p:cNvPr id="6" name="TextBox 5">
            <a:extLst>
              <a:ext uri="{FF2B5EF4-FFF2-40B4-BE49-F238E27FC236}">
                <a16:creationId xmlns:a16="http://schemas.microsoft.com/office/drawing/2014/main" id="{AFFAA270-F49D-B5B6-6624-06718A29A0F4}"/>
              </a:ext>
            </a:extLst>
          </p:cNvPr>
          <p:cNvSpPr txBox="1"/>
          <p:nvPr/>
        </p:nvSpPr>
        <p:spPr>
          <a:xfrm>
            <a:off x="703545" y="2190096"/>
            <a:ext cx="2290176" cy="954107"/>
          </a:xfrm>
          <a:prstGeom prst="rect">
            <a:avLst/>
          </a:prstGeom>
          <a:noFill/>
        </p:spPr>
        <p:txBody>
          <a:bodyPr wrap="square" rtlCol="0">
            <a:spAutoFit/>
          </a:bodyPr>
          <a:lstStyle/>
          <a:p>
            <a:pPr algn="ctr"/>
            <a:r>
              <a:rPr lang="en-US" sz="2800" dirty="0"/>
              <a:t>CPU management</a:t>
            </a:r>
          </a:p>
        </p:txBody>
      </p:sp>
      <p:sp>
        <p:nvSpPr>
          <p:cNvPr id="7" name="TextBox 6">
            <a:extLst>
              <a:ext uri="{FF2B5EF4-FFF2-40B4-BE49-F238E27FC236}">
                <a16:creationId xmlns:a16="http://schemas.microsoft.com/office/drawing/2014/main" id="{B2A68BF2-6C5D-82BB-1EBD-4B22D672B24D}"/>
              </a:ext>
            </a:extLst>
          </p:cNvPr>
          <p:cNvSpPr txBox="1"/>
          <p:nvPr/>
        </p:nvSpPr>
        <p:spPr>
          <a:xfrm>
            <a:off x="3533383" y="2213359"/>
            <a:ext cx="2290176" cy="954107"/>
          </a:xfrm>
          <a:prstGeom prst="rect">
            <a:avLst/>
          </a:prstGeom>
          <a:noFill/>
        </p:spPr>
        <p:txBody>
          <a:bodyPr wrap="square" rtlCol="0">
            <a:spAutoFit/>
          </a:bodyPr>
          <a:lstStyle/>
          <a:p>
            <a:pPr algn="ctr"/>
            <a:r>
              <a:rPr lang="en-US" sz="2800" dirty="0"/>
              <a:t>Memory management</a:t>
            </a:r>
          </a:p>
        </p:txBody>
      </p:sp>
      <p:sp>
        <p:nvSpPr>
          <p:cNvPr id="8" name="TextBox 7">
            <a:extLst>
              <a:ext uri="{FF2B5EF4-FFF2-40B4-BE49-F238E27FC236}">
                <a16:creationId xmlns:a16="http://schemas.microsoft.com/office/drawing/2014/main" id="{7026B318-0276-D407-BE2C-5323F61FBA41}"/>
              </a:ext>
            </a:extLst>
          </p:cNvPr>
          <p:cNvSpPr txBox="1"/>
          <p:nvPr/>
        </p:nvSpPr>
        <p:spPr>
          <a:xfrm>
            <a:off x="6270581" y="2209644"/>
            <a:ext cx="2290176" cy="954107"/>
          </a:xfrm>
          <a:prstGeom prst="rect">
            <a:avLst/>
          </a:prstGeom>
          <a:noFill/>
        </p:spPr>
        <p:txBody>
          <a:bodyPr wrap="square" rtlCol="0">
            <a:spAutoFit/>
          </a:bodyPr>
          <a:lstStyle/>
          <a:p>
            <a:pPr algn="ctr"/>
            <a:r>
              <a:rPr lang="en-US" sz="2800" dirty="0"/>
              <a:t>Filesystem management</a:t>
            </a:r>
          </a:p>
        </p:txBody>
      </p:sp>
      <p:cxnSp>
        <p:nvCxnSpPr>
          <p:cNvPr id="10" name="Straight Arrow Connector 9">
            <a:extLst>
              <a:ext uri="{FF2B5EF4-FFF2-40B4-BE49-F238E27FC236}">
                <a16:creationId xmlns:a16="http://schemas.microsoft.com/office/drawing/2014/main" id="{F8E28BDE-592A-9B76-0302-3CDC54E9D09C}"/>
              </a:ext>
            </a:extLst>
          </p:cNvPr>
          <p:cNvCxnSpPr>
            <a:stCxn id="5" idx="2"/>
            <a:endCxn id="6" idx="0"/>
          </p:cNvCxnSpPr>
          <p:nvPr/>
        </p:nvCxnSpPr>
        <p:spPr bwMode="auto">
          <a:xfrm flipH="1">
            <a:off x="1848633" y="1761148"/>
            <a:ext cx="2829838" cy="42894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FDE19395-CD15-FACE-5D91-BCF380D788CE}"/>
              </a:ext>
            </a:extLst>
          </p:cNvPr>
          <p:cNvCxnSpPr>
            <a:cxnSpLocks/>
            <a:stCxn id="5" idx="2"/>
            <a:endCxn id="8" idx="0"/>
          </p:cNvCxnSpPr>
          <p:nvPr/>
        </p:nvCxnSpPr>
        <p:spPr bwMode="auto">
          <a:xfrm>
            <a:off x="4678471" y="1761148"/>
            <a:ext cx="2737198" cy="44849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F5F8C69-32F4-BD16-93F7-BD56CF2CBACC}"/>
              </a:ext>
            </a:extLst>
          </p:cNvPr>
          <p:cNvCxnSpPr>
            <a:cxnSpLocks/>
            <a:stCxn id="5" idx="2"/>
            <a:endCxn id="7" idx="0"/>
          </p:cNvCxnSpPr>
          <p:nvPr/>
        </p:nvCxnSpPr>
        <p:spPr bwMode="auto">
          <a:xfrm>
            <a:off x="4678471" y="1761148"/>
            <a:ext cx="0" cy="45221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712DE5A6-DBDF-51BE-DB3A-6FC80529063D}"/>
              </a:ext>
            </a:extLst>
          </p:cNvPr>
          <p:cNvSpPr txBox="1"/>
          <p:nvPr/>
        </p:nvSpPr>
        <p:spPr>
          <a:xfrm>
            <a:off x="1162050" y="5227761"/>
            <a:ext cx="3299304" cy="646331"/>
          </a:xfrm>
          <a:prstGeom prst="rect">
            <a:avLst/>
          </a:prstGeom>
          <a:noFill/>
          <a:ln>
            <a:solidFill>
              <a:schemeClr val="tx1"/>
            </a:solidFill>
          </a:ln>
        </p:spPr>
        <p:txBody>
          <a:bodyPr wrap="square" rtlCol="0">
            <a:spAutoFit/>
          </a:bodyPr>
          <a:lstStyle/>
          <a:p>
            <a:pPr marL="342900" indent="-342900">
              <a:buFontTx/>
              <a:buChar char="-"/>
            </a:pPr>
            <a:r>
              <a:rPr lang="en-US" b="1" i="1" dirty="0">
                <a:solidFill>
                  <a:srgbClr val="FF0000"/>
                </a:solidFill>
              </a:rPr>
              <a:t>Synchronization (L5-6)</a:t>
            </a:r>
          </a:p>
          <a:p>
            <a:pPr marL="342900" indent="-342900">
              <a:buFontTx/>
              <a:buChar char="-"/>
            </a:pPr>
            <a:r>
              <a:rPr lang="en-US" i="1" dirty="0"/>
              <a:t>Deadlocks (L7)</a:t>
            </a:r>
          </a:p>
        </p:txBody>
      </p:sp>
      <p:sp>
        <p:nvSpPr>
          <p:cNvPr id="22" name="TextBox 21">
            <a:extLst>
              <a:ext uri="{FF2B5EF4-FFF2-40B4-BE49-F238E27FC236}">
                <a16:creationId xmlns:a16="http://schemas.microsoft.com/office/drawing/2014/main" id="{7A2D67A4-22D5-2C0F-632D-A2011031AC69}"/>
              </a:ext>
            </a:extLst>
          </p:cNvPr>
          <p:cNvSpPr txBox="1"/>
          <p:nvPr/>
        </p:nvSpPr>
        <p:spPr>
          <a:xfrm>
            <a:off x="5010150" y="5366260"/>
            <a:ext cx="3550607" cy="369332"/>
          </a:xfrm>
          <a:prstGeom prst="rect">
            <a:avLst/>
          </a:prstGeom>
          <a:noFill/>
          <a:ln>
            <a:solidFill>
              <a:schemeClr val="tx1"/>
            </a:solidFill>
          </a:ln>
        </p:spPr>
        <p:txBody>
          <a:bodyPr wrap="square" rtlCol="0">
            <a:spAutoFit/>
          </a:bodyPr>
          <a:lstStyle/>
          <a:p>
            <a:pPr algn="ctr"/>
            <a:r>
              <a:rPr lang="en-US" i="1" dirty="0"/>
              <a:t>I/O &amp; disk (L12)</a:t>
            </a:r>
          </a:p>
        </p:txBody>
      </p:sp>
      <p:cxnSp>
        <p:nvCxnSpPr>
          <p:cNvPr id="24" name="Straight Arrow Connector 23">
            <a:extLst>
              <a:ext uri="{FF2B5EF4-FFF2-40B4-BE49-F238E27FC236}">
                <a16:creationId xmlns:a16="http://schemas.microsoft.com/office/drawing/2014/main" id="{E26D7182-418D-1A8C-CA35-2C4EACD615A6}"/>
              </a:ext>
            </a:extLst>
          </p:cNvPr>
          <p:cNvCxnSpPr>
            <a:cxnSpLocks/>
            <a:stCxn id="6" idx="2"/>
            <a:endCxn id="19" idx="0"/>
          </p:cNvCxnSpPr>
          <p:nvPr/>
        </p:nvCxnSpPr>
        <p:spPr bwMode="auto">
          <a:xfrm flipH="1">
            <a:off x="1750121" y="3144203"/>
            <a:ext cx="98512" cy="44716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06D2220-1B46-51FF-93B7-FEB0BDD1F037}"/>
              </a:ext>
            </a:extLst>
          </p:cNvPr>
          <p:cNvCxnSpPr>
            <a:cxnSpLocks/>
            <a:stCxn id="7" idx="2"/>
            <a:endCxn id="21" idx="0"/>
          </p:cNvCxnSpPr>
          <p:nvPr/>
        </p:nvCxnSpPr>
        <p:spPr bwMode="auto">
          <a:xfrm flipH="1">
            <a:off x="4675601" y="3167466"/>
            <a:ext cx="2870" cy="409917"/>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9CFAA15E-7F5B-D6D8-3A81-99F3D2AA0269}"/>
              </a:ext>
            </a:extLst>
          </p:cNvPr>
          <p:cNvCxnSpPr>
            <a:cxnSpLocks/>
            <a:stCxn id="8" idx="2"/>
            <a:endCxn id="23" idx="0"/>
          </p:cNvCxnSpPr>
          <p:nvPr/>
        </p:nvCxnSpPr>
        <p:spPr bwMode="auto">
          <a:xfrm>
            <a:off x="7415669" y="3163751"/>
            <a:ext cx="111820" cy="552319"/>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958DD35-66CB-1CDC-983C-BA2E67A9DC7F}"/>
              </a:ext>
            </a:extLst>
          </p:cNvPr>
          <p:cNvCxnSpPr>
            <a:cxnSpLocks/>
            <a:stCxn id="6" idx="2"/>
          </p:cNvCxnSpPr>
          <p:nvPr/>
        </p:nvCxnSpPr>
        <p:spPr bwMode="auto">
          <a:xfrm>
            <a:off x="1848633" y="3144203"/>
            <a:ext cx="884653" cy="190378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9" name="TextBox 18">
            <a:extLst>
              <a:ext uri="{FF2B5EF4-FFF2-40B4-BE49-F238E27FC236}">
                <a16:creationId xmlns:a16="http://schemas.microsoft.com/office/drawing/2014/main" id="{FB5EA5D8-7888-BD95-FFE7-60608354B022}"/>
              </a:ext>
            </a:extLst>
          </p:cNvPr>
          <p:cNvSpPr txBox="1"/>
          <p:nvPr/>
        </p:nvSpPr>
        <p:spPr>
          <a:xfrm>
            <a:off x="506521" y="3591369"/>
            <a:ext cx="2487200"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Processes (L2)</a:t>
            </a:r>
          </a:p>
          <a:p>
            <a:pPr marL="342900" indent="-342900">
              <a:buFontTx/>
              <a:buChar char="-"/>
            </a:pPr>
            <a:r>
              <a:rPr lang="en-US" i="1" dirty="0"/>
              <a:t>Scheduling (L3)</a:t>
            </a:r>
          </a:p>
        </p:txBody>
      </p:sp>
      <p:cxnSp>
        <p:nvCxnSpPr>
          <p:cNvPr id="37" name="Straight Arrow Connector 36">
            <a:extLst>
              <a:ext uri="{FF2B5EF4-FFF2-40B4-BE49-F238E27FC236}">
                <a16:creationId xmlns:a16="http://schemas.microsoft.com/office/drawing/2014/main" id="{661EAEBD-F3E4-1FBA-78D2-8582F33AA6EB}"/>
              </a:ext>
            </a:extLst>
          </p:cNvPr>
          <p:cNvCxnSpPr>
            <a:cxnSpLocks/>
            <a:stCxn id="7" idx="2"/>
          </p:cNvCxnSpPr>
          <p:nvPr/>
        </p:nvCxnSpPr>
        <p:spPr bwMode="auto">
          <a:xfrm flipH="1">
            <a:off x="3013814" y="3167466"/>
            <a:ext cx="1664657" cy="1880523"/>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12F746E9-2FFA-042B-E36D-854D03D7AE4F}"/>
              </a:ext>
            </a:extLst>
          </p:cNvPr>
          <p:cNvCxnSpPr>
            <a:cxnSpLocks/>
            <a:stCxn id="8" idx="2"/>
          </p:cNvCxnSpPr>
          <p:nvPr/>
        </p:nvCxnSpPr>
        <p:spPr bwMode="auto">
          <a:xfrm flipH="1">
            <a:off x="6877050" y="3163751"/>
            <a:ext cx="538619" cy="2064010"/>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8DF748DE-F3BD-1F2A-F532-C6421E95CAA8}"/>
              </a:ext>
            </a:extLst>
          </p:cNvPr>
          <p:cNvSpPr txBox="1"/>
          <p:nvPr/>
        </p:nvSpPr>
        <p:spPr>
          <a:xfrm>
            <a:off x="6517707" y="3716070"/>
            <a:ext cx="2019564" cy="369332"/>
          </a:xfrm>
          <a:prstGeom prst="rect">
            <a:avLst/>
          </a:prstGeom>
          <a:solidFill>
            <a:srgbClr val="FFFFFF">
              <a:alpha val="77647"/>
            </a:srgbClr>
          </a:solidFill>
          <a:ln>
            <a:solidFill>
              <a:schemeClr val="tx1"/>
            </a:solidFill>
          </a:ln>
        </p:spPr>
        <p:txBody>
          <a:bodyPr wrap="square" rtlCol="0">
            <a:spAutoFit/>
          </a:bodyPr>
          <a:lstStyle/>
          <a:p>
            <a:pPr algn="ctr"/>
            <a:r>
              <a:rPr lang="en-US" i="1" dirty="0"/>
              <a:t>Filesystems (L11) </a:t>
            </a:r>
          </a:p>
        </p:txBody>
      </p:sp>
      <p:cxnSp>
        <p:nvCxnSpPr>
          <p:cNvPr id="46" name="Straight Arrow Connector 45">
            <a:extLst>
              <a:ext uri="{FF2B5EF4-FFF2-40B4-BE49-F238E27FC236}">
                <a16:creationId xmlns:a16="http://schemas.microsoft.com/office/drawing/2014/main" id="{EB7CD25E-AD72-4834-0D85-402FD2876148}"/>
              </a:ext>
            </a:extLst>
          </p:cNvPr>
          <p:cNvCxnSpPr>
            <a:cxnSpLocks/>
            <a:stCxn id="6" idx="2"/>
          </p:cNvCxnSpPr>
          <p:nvPr/>
        </p:nvCxnSpPr>
        <p:spPr bwMode="auto">
          <a:xfrm>
            <a:off x="1848633" y="3144203"/>
            <a:ext cx="4936820" cy="208355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1" name="TextBox 20">
            <a:extLst>
              <a:ext uri="{FF2B5EF4-FFF2-40B4-BE49-F238E27FC236}">
                <a16:creationId xmlns:a16="http://schemas.microsoft.com/office/drawing/2014/main" id="{CDA502AC-AB7B-E936-0F17-B35C2FF86E07}"/>
              </a:ext>
            </a:extLst>
          </p:cNvPr>
          <p:cNvSpPr txBox="1"/>
          <p:nvPr/>
        </p:nvSpPr>
        <p:spPr>
          <a:xfrm>
            <a:off x="3100713" y="3577383"/>
            <a:ext cx="3149775"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Memory organization (L8)</a:t>
            </a:r>
          </a:p>
          <a:p>
            <a:pPr marL="342900" indent="-342900">
              <a:buFontTx/>
              <a:buChar char="-"/>
            </a:pPr>
            <a:r>
              <a:rPr lang="en-US" i="1" dirty="0"/>
              <a:t>Virtual memory (L9-10)</a:t>
            </a:r>
          </a:p>
        </p:txBody>
      </p:sp>
      <p:sp>
        <p:nvSpPr>
          <p:cNvPr id="50" name="TextBox 49">
            <a:extLst>
              <a:ext uri="{FF2B5EF4-FFF2-40B4-BE49-F238E27FC236}">
                <a16:creationId xmlns:a16="http://schemas.microsoft.com/office/drawing/2014/main" id="{20C2B103-1BEA-0854-1B6D-4C522BA63A93}"/>
              </a:ext>
            </a:extLst>
          </p:cNvPr>
          <p:cNvSpPr txBox="1"/>
          <p:nvPr/>
        </p:nvSpPr>
        <p:spPr>
          <a:xfrm>
            <a:off x="2590017" y="6033156"/>
            <a:ext cx="4171166" cy="369332"/>
          </a:xfrm>
          <a:prstGeom prst="rect">
            <a:avLst/>
          </a:prstGeom>
          <a:noFill/>
          <a:ln>
            <a:solidFill>
              <a:schemeClr val="tx1"/>
            </a:solidFill>
          </a:ln>
        </p:spPr>
        <p:txBody>
          <a:bodyPr wrap="square" rtlCol="0">
            <a:spAutoFit/>
          </a:bodyPr>
          <a:lstStyle/>
          <a:p>
            <a:pPr algn="ctr"/>
            <a:r>
              <a:rPr lang="en-US" i="1" dirty="0"/>
              <a:t>Special: Real-time OS &amp; virtualization</a:t>
            </a:r>
          </a:p>
        </p:txBody>
      </p:sp>
    </p:spTree>
    <p:extLst>
      <p:ext uri="{BB962C8B-B14F-4D97-AF65-F5344CB8AC3E}">
        <p14:creationId xmlns:p14="http://schemas.microsoft.com/office/powerpoint/2010/main" val="172071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19961-AF77-920A-134C-EC85E3CB0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BAB13-2F9A-AEFF-04C8-3C884FE15402}"/>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43C5C709-1415-32FA-F9DC-4351718BE542}"/>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B0B28E4-72F2-BC6E-A5B4-ACC4D59A3635}"/>
                  </a:ext>
                </a:extLst>
              </p:cNvPr>
              <p:cNvGraphicFramePr>
                <a:graphicFrameLocks noGrp="1"/>
              </p:cNvGraphicFramePr>
              <p:nvPr>
                <p:extLst>
                  <p:ext uri="{D42A27DB-BD31-4B8C-83A1-F6EECF244321}">
                    <p14:modId xmlns:p14="http://schemas.microsoft.com/office/powerpoint/2010/main" val="1808859327"/>
                  </p:ext>
                </p:extLst>
              </p:nvPr>
            </p:nvGraphicFramePr>
            <p:xfrm>
              <a:off x="0" y="803188"/>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DB0B28E4-72F2-BC6E-A5B4-ACC4D59A3635}"/>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803188"/>
                <a:ext cx="9144000" cy="5097847"/>
              </a:xfrm>
              <a:prstGeom prst="rect">
                <a:avLst/>
              </a:prstGeom>
            </p:spPr>
          </p:pic>
        </mc:Fallback>
      </mc:AlternateContent>
    </p:spTree>
    <p:extLst>
      <p:ext uri="{BB962C8B-B14F-4D97-AF65-F5344CB8AC3E}">
        <p14:creationId xmlns:p14="http://schemas.microsoft.com/office/powerpoint/2010/main" val="3723643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6840-0701-C888-60B9-BF121404C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FA2D3-3EFD-2F99-3EE2-320DF18ECA7A}"/>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9DCFD645-654A-A4FA-EDCF-71EF252E1D2C}"/>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22C0E969-DA54-D33E-553A-7EA6A77DAEDD}"/>
                  </a:ext>
                </a:extLst>
              </p:cNvPr>
              <p:cNvGraphicFramePr>
                <a:graphicFrameLocks noGrp="1"/>
              </p:cNvGraphicFramePr>
              <p:nvPr/>
            </p:nvGraphicFramePr>
            <p:xfrm>
              <a:off x="0" y="803188"/>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22C0E969-DA54-D33E-553A-7EA6A77DAEDD}"/>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803188"/>
                <a:ext cx="9144000" cy="5097847"/>
              </a:xfrm>
              <a:prstGeom prst="rect">
                <a:avLst/>
              </a:prstGeom>
            </p:spPr>
          </p:pic>
        </mc:Fallback>
      </mc:AlternateContent>
    </p:spTree>
    <p:extLst>
      <p:ext uri="{BB962C8B-B14F-4D97-AF65-F5344CB8AC3E}">
        <p14:creationId xmlns:p14="http://schemas.microsoft.com/office/powerpoint/2010/main" val="1343236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2973E8CB-EAFF-4BB7-9E04-1C75FAC390E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051" name="Rectangle 4">
            <a:extLst>
              <a:ext uri="{FF2B5EF4-FFF2-40B4-BE49-F238E27FC236}">
                <a16:creationId xmlns:a16="http://schemas.microsoft.com/office/drawing/2014/main" id="{D9869CFD-9819-42EA-B860-92A9AE5A539B}"/>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5363" name="Rectangle 2">
            <a:extLst>
              <a:ext uri="{FF2B5EF4-FFF2-40B4-BE49-F238E27FC236}">
                <a16:creationId xmlns:a16="http://schemas.microsoft.com/office/drawing/2014/main" id="{E9A4B1BD-FC95-4A70-8E01-7FD6B4056892}"/>
              </a:ext>
            </a:extLst>
          </p:cNvPr>
          <p:cNvSpPr>
            <a:spLocks noGrp="1" noChangeArrowheads="1"/>
          </p:cNvSpPr>
          <p:nvPr>
            <p:ph type="title"/>
          </p:nvPr>
        </p:nvSpPr>
        <p:spPr/>
        <p:txBody>
          <a:bodyPr/>
          <a:lstStyle/>
          <a:p>
            <a:r>
              <a:rPr lang="en-US" altLang="en-US"/>
              <a:t>Part 4:  Process Synchronization</a:t>
            </a:r>
          </a:p>
        </p:txBody>
      </p:sp>
      <p:sp>
        <p:nvSpPr>
          <p:cNvPr id="15364" name="Rectangle 3">
            <a:extLst>
              <a:ext uri="{FF2B5EF4-FFF2-40B4-BE49-F238E27FC236}">
                <a16:creationId xmlns:a16="http://schemas.microsoft.com/office/drawing/2014/main" id="{062FA3EC-26B2-4A08-A597-CBF2C9AE87A4}"/>
              </a:ext>
            </a:extLst>
          </p:cNvPr>
          <p:cNvSpPr>
            <a:spLocks noGrp="1" noChangeArrowheads="1"/>
          </p:cNvSpPr>
          <p:nvPr>
            <p:ph type="body" idx="1"/>
          </p:nvPr>
        </p:nvSpPr>
        <p:spPr>
          <a:xfrm>
            <a:off x="1047750" y="1412875"/>
            <a:ext cx="7029450" cy="4546600"/>
          </a:xfrm>
        </p:spPr>
        <p:txBody>
          <a:bodyPr/>
          <a:lstStyle/>
          <a:p>
            <a:r>
              <a:rPr lang="en-US" altLang="en-US" sz="2800" b="1"/>
              <a:t>Race Condition &amp; Critical-Section</a:t>
            </a:r>
          </a:p>
          <a:p>
            <a:r>
              <a:rPr lang="en-US" altLang="en-US" sz="2800"/>
              <a:t>User-level Solutions</a:t>
            </a:r>
          </a:p>
          <a:p>
            <a:r>
              <a:rPr lang="en-US" altLang="en-US" sz="2800"/>
              <a:t>OS-level Solutions</a:t>
            </a:r>
          </a:p>
          <a:p>
            <a:pPr lvl="1"/>
            <a:r>
              <a:rPr lang="en-US" altLang="en-US" sz="2800"/>
              <a:t>Synchronization Hardware</a:t>
            </a:r>
          </a:p>
          <a:p>
            <a:pPr lvl="1"/>
            <a:r>
              <a:rPr lang="en-US" altLang="en-US" sz="2800"/>
              <a:t>Semaphores</a:t>
            </a:r>
          </a:p>
          <a:p>
            <a:r>
              <a:rPr lang="en-US" altLang="en-US" sz="2800"/>
              <a:t>Classical Problems of Synchronization</a:t>
            </a:r>
          </a:p>
          <a:p>
            <a:endParaRPr lang="en-US" altLang="en-US" sz="2800"/>
          </a:p>
        </p:txBody>
      </p:sp>
      <p:sp>
        <p:nvSpPr>
          <p:cNvPr id="15365" name="Rectangle 2">
            <a:extLst>
              <a:ext uri="{FF2B5EF4-FFF2-40B4-BE49-F238E27FC236}">
                <a16:creationId xmlns:a16="http://schemas.microsoft.com/office/drawing/2014/main" id="{D13B0A43-56B3-4889-947C-001098083970}"/>
              </a:ext>
            </a:extLst>
          </p:cNvPr>
          <p:cNvSpPr>
            <a:spLocks noChangeArrowheads="1"/>
          </p:cNvSpPr>
          <p:nvPr/>
        </p:nvSpPr>
        <p:spPr bwMode="auto">
          <a:xfrm>
            <a:off x="3065463" y="5549900"/>
            <a:ext cx="5599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000">
                <a:solidFill>
                  <a:srgbClr val="FF0000"/>
                </a:solidFill>
                <a:latin typeface="Comic Sans MS" panose="030F0702030302020204" pitchFamily="66" charset="0"/>
              </a:rPr>
              <a:t>* Important but difficult </a:t>
            </a:r>
            <a:r>
              <a:rPr lang="en-US" altLang="en-US" sz="2000">
                <a:solidFill>
                  <a:srgbClr val="FF0000"/>
                </a:solidFill>
                <a:latin typeface="Comic Sans MS" panose="030F0702030302020204" pitchFamily="66" charset="0"/>
                <a:sym typeface="Wingdings" panose="05000000000000000000" pitchFamily="2" charset="2"/>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2E8F2FDA-9F63-4B70-8301-102E986A493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075" name="Rectangle 4">
            <a:extLst>
              <a:ext uri="{FF2B5EF4-FFF2-40B4-BE49-F238E27FC236}">
                <a16:creationId xmlns:a16="http://schemas.microsoft.com/office/drawing/2014/main" id="{62EFD32A-0302-47D4-B705-CCA7F0BD7513}"/>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7411" name="Rectangle 2">
            <a:extLst>
              <a:ext uri="{FF2B5EF4-FFF2-40B4-BE49-F238E27FC236}">
                <a16:creationId xmlns:a16="http://schemas.microsoft.com/office/drawing/2014/main" id="{A7C21962-EF9B-457E-9C3D-1429512909B6}"/>
              </a:ext>
            </a:extLst>
          </p:cNvPr>
          <p:cNvSpPr>
            <a:spLocks noGrp="1" noChangeArrowheads="1"/>
          </p:cNvSpPr>
          <p:nvPr>
            <p:ph type="title"/>
          </p:nvPr>
        </p:nvSpPr>
        <p:spPr/>
        <p:txBody>
          <a:bodyPr/>
          <a:lstStyle/>
          <a:p>
            <a:r>
              <a:rPr lang="en-US" altLang="en-US"/>
              <a:t>Background</a:t>
            </a:r>
          </a:p>
        </p:txBody>
      </p:sp>
      <p:sp>
        <p:nvSpPr>
          <p:cNvPr id="3077" name="Rectangle 3">
            <a:extLst>
              <a:ext uri="{FF2B5EF4-FFF2-40B4-BE49-F238E27FC236}">
                <a16:creationId xmlns:a16="http://schemas.microsoft.com/office/drawing/2014/main" id="{42CD8A9F-F17E-49CB-B7C3-A257C069B001}"/>
              </a:ext>
            </a:extLst>
          </p:cNvPr>
          <p:cNvSpPr>
            <a:spLocks noGrp="1" noChangeArrowheads="1"/>
          </p:cNvSpPr>
          <p:nvPr>
            <p:ph type="body" idx="1"/>
          </p:nvPr>
        </p:nvSpPr>
        <p:spPr>
          <a:xfrm>
            <a:off x="452438" y="1387475"/>
            <a:ext cx="8321675" cy="5018088"/>
          </a:xfrm>
        </p:spPr>
        <p:txBody>
          <a:bodyPr/>
          <a:lstStyle/>
          <a:p>
            <a:r>
              <a:rPr lang="en-US" altLang="en-US" sz="2500"/>
              <a:t>Access to shared data from concurrent processes may result in </a:t>
            </a:r>
            <a:r>
              <a:rPr lang="en-US" altLang="en-US" sz="2500">
                <a:solidFill>
                  <a:schemeClr val="accent2"/>
                </a:solidFill>
              </a:rPr>
              <a:t>data inconsistency</a:t>
            </a:r>
          </a:p>
          <a:p>
            <a:pPr lvl="1"/>
            <a:r>
              <a:rPr lang="en-US" altLang="en-US" sz="2500">
                <a:solidFill>
                  <a:srgbClr val="FF0000"/>
                </a:solidFill>
              </a:rPr>
              <a:t>Inconsistent Data: </a:t>
            </a:r>
            <a:r>
              <a:rPr lang="en-US" altLang="en-US" sz="2500"/>
              <a:t>Data value depends on the order of instruction executions from concurrent processes</a:t>
            </a:r>
          </a:p>
          <a:p>
            <a:pPr lvl="1"/>
            <a:r>
              <a:rPr lang="en-US" altLang="en-US" sz="2500"/>
              <a:t>That is, data value depends on </a:t>
            </a:r>
            <a:r>
              <a:rPr lang="en-US" altLang="en-US" sz="2500">
                <a:solidFill>
                  <a:schemeClr val="accent2"/>
                </a:solidFill>
              </a:rPr>
              <a:t>when context switches occur between the concurrent processes</a:t>
            </a:r>
          </a:p>
          <a:p>
            <a:pPr lvl="4"/>
            <a:endParaRPr lang="en-US" altLang="en-US" sz="1900"/>
          </a:p>
          <a:p>
            <a:r>
              <a:rPr lang="en-US" altLang="en-US" sz="2500"/>
              <a:t>Maintaining data consistency requires mechanisms to ensure the orderly execution of concurrent processes</a:t>
            </a:r>
          </a:p>
          <a:p>
            <a:pPr lvl="1"/>
            <a:r>
              <a:rPr lang="en-US" altLang="en-US" sz="2500">
                <a:solidFill>
                  <a:srgbClr val="FF0000"/>
                </a:solidFill>
              </a:rPr>
              <a:t>Causal ordering (sequencing) of reads and writes to the shared data from concurrent processes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7">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3">
            <a:extLst>
              <a:ext uri="{FF2B5EF4-FFF2-40B4-BE49-F238E27FC236}">
                <a16:creationId xmlns:a16="http://schemas.microsoft.com/office/drawing/2014/main" id="{B5BB111B-5F0F-4C51-99F9-DFEADC17604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099" name="Rectangle 4">
            <a:extLst>
              <a:ext uri="{FF2B5EF4-FFF2-40B4-BE49-F238E27FC236}">
                <a16:creationId xmlns:a16="http://schemas.microsoft.com/office/drawing/2014/main" id="{5022F97B-0011-4A63-902B-E13C43A3D377}"/>
              </a:ext>
            </a:extLst>
          </p:cNvPr>
          <p:cNvSpPr>
            <a:spLocks noChangeArrowheads="1"/>
          </p:cNvSpPr>
          <p:nvPr/>
        </p:nvSpPr>
        <p:spPr bwMode="auto">
          <a:xfrm>
            <a:off x="684213" y="311150"/>
            <a:ext cx="7831137" cy="877888"/>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9459" name="Rectangle 2">
            <a:extLst>
              <a:ext uri="{FF2B5EF4-FFF2-40B4-BE49-F238E27FC236}">
                <a16:creationId xmlns:a16="http://schemas.microsoft.com/office/drawing/2014/main" id="{3C9FCE13-07FE-4E82-A7E9-AC8728F3F118}"/>
              </a:ext>
            </a:extLst>
          </p:cNvPr>
          <p:cNvSpPr>
            <a:spLocks noGrp="1" noChangeArrowheads="1"/>
          </p:cNvSpPr>
          <p:nvPr>
            <p:ph type="title"/>
          </p:nvPr>
        </p:nvSpPr>
        <p:spPr>
          <a:xfrm>
            <a:off x="790575" y="495300"/>
            <a:ext cx="7642225" cy="457200"/>
          </a:xfrm>
        </p:spPr>
        <p:txBody>
          <a:bodyPr/>
          <a:lstStyle/>
          <a:p>
            <a:r>
              <a:rPr lang="en-US" altLang="en-US"/>
              <a:t>Example: Producer-Consumer </a:t>
            </a:r>
            <a:br>
              <a:rPr lang="en-US" altLang="en-US"/>
            </a:br>
            <a:r>
              <a:rPr lang="en-US" altLang="en-US"/>
              <a:t>(with bounded buffer)</a:t>
            </a:r>
          </a:p>
        </p:txBody>
      </p:sp>
      <p:sp>
        <p:nvSpPr>
          <p:cNvPr id="19460" name="Rectangle 3">
            <a:extLst>
              <a:ext uri="{FF2B5EF4-FFF2-40B4-BE49-F238E27FC236}">
                <a16:creationId xmlns:a16="http://schemas.microsoft.com/office/drawing/2014/main" id="{7E1E6F7C-4CD8-4B2C-A0C7-528820DB5C6B}"/>
              </a:ext>
            </a:extLst>
          </p:cNvPr>
          <p:cNvSpPr>
            <a:spLocks noGrp="1" noChangeArrowheads="1"/>
          </p:cNvSpPr>
          <p:nvPr>
            <p:ph type="body" idx="1"/>
          </p:nvPr>
        </p:nvSpPr>
        <p:spPr>
          <a:xfrm>
            <a:off x="331788" y="1371600"/>
            <a:ext cx="8570912" cy="4857750"/>
          </a:xfrm>
        </p:spPr>
        <p:txBody>
          <a:bodyPr/>
          <a:lstStyle/>
          <a:p>
            <a:pPr lvl="1">
              <a:defRPr/>
            </a:pPr>
            <a:r>
              <a:rPr lang="en-US" altLang="en-US" sz="2800" b="1" dirty="0">
                <a:solidFill>
                  <a:schemeClr val="accent1">
                    <a:lumMod val="75000"/>
                  </a:schemeClr>
                </a:solidFill>
              </a:rPr>
              <a:t>#define BUFFER_SIZE 10</a:t>
            </a:r>
          </a:p>
          <a:p>
            <a:pPr lvl="1">
              <a:defRPr/>
            </a:pPr>
            <a:r>
              <a:rPr lang="en-US" altLang="en-US" sz="2800" b="1" dirty="0" err="1">
                <a:solidFill>
                  <a:schemeClr val="accent1">
                    <a:lumMod val="75000"/>
                  </a:schemeClr>
                </a:solidFill>
              </a:rPr>
              <a:t>typedef</a:t>
            </a:r>
            <a:r>
              <a:rPr lang="en-US" altLang="en-US" sz="2800" b="1" dirty="0">
                <a:solidFill>
                  <a:schemeClr val="accent1">
                    <a:lumMod val="75000"/>
                  </a:schemeClr>
                </a:solidFill>
              </a:rPr>
              <a:t> </a:t>
            </a:r>
            <a:r>
              <a:rPr lang="en-US" altLang="en-US" sz="2800" b="1" dirty="0" err="1">
                <a:solidFill>
                  <a:schemeClr val="accent1">
                    <a:lumMod val="75000"/>
                  </a:schemeClr>
                </a:solidFill>
              </a:rPr>
              <a:t>struct</a:t>
            </a:r>
            <a:r>
              <a:rPr lang="en-US" altLang="en-US" sz="2800" b="1" dirty="0">
                <a:solidFill>
                  <a:schemeClr val="accent1">
                    <a:lumMod val="75000"/>
                  </a:schemeClr>
                </a:solidFill>
              </a:rPr>
              <a:t> {. . .} item;</a:t>
            </a:r>
          </a:p>
          <a:p>
            <a:pPr lvl="1">
              <a:defRPr/>
            </a:pPr>
            <a:r>
              <a:rPr lang="en-US" altLang="en-US" sz="2800" b="1" dirty="0" err="1">
                <a:solidFill>
                  <a:schemeClr val="accent1">
                    <a:lumMod val="75000"/>
                  </a:schemeClr>
                </a:solidFill>
              </a:rPr>
              <a:t>int</a:t>
            </a:r>
            <a:r>
              <a:rPr lang="en-US" altLang="en-US" sz="2800" b="1" dirty="0">
                <a:solidFill>
                  <a:schemeClr val="accent1">
                    <a:lumMod val="75000"/>
                  </a:schemeClr>
                </a:solidFill>
              </a:rPr>
              <a:t> in=0; </a:t>
            </a:r>
            <a:r>
              <a:rPr lang="en-US" altLang="en-US" sz="2800" dirty="0">
                <a:solidFill>
                  <a:schemeClr val="accent2"/>
                </a:solidFill>
              </a:rPr>
              <a:t>//the next-to-fill empty slot (producer variable)</a:t>
            </a:r>
          </a:p>
          <a:p>
            <a:pPr lvl="1">
              <a:defRPr/>
            </a:pPr>
            <a:r>
              <a:rPr lang="en-US" altLang="en-US" sz="2800" b="1" dirty="0" err="1">
                <a:solidFill>
                  <a:schemeClr val="accent1">
                    <a:lumMod val="75000"/>
                  </a:schemeClr>
                </a:solidFill>
              </a:rPr>
              <a:t>int</a:t>
            </a:r>
            <a:r>
              <a:rPr lang="en-US" altLang="en-US" sz="2800" b="1" dirty="0">
                <a:solidFill>
                  <a:schemeClr val="accent1">
                    <a:lumMod val="75000"/>
                  </a:schemeClr>
                </a:solidFill>
              </a:rPr>
              <a:t> out=0; </a:t>
            </a:r>
            <a:r>
              <a:rPr lang="en-US" altLang="en-US" sz="2800" dirty="0">
                <a:solidFill>
                  <a:schemeClr val="accent2"/>
                </a:solidFill>
              </a:rPr>
              <a:t>//the next-to-process item (consumer variable)</a:t>
            </a:r>
            <a:endParaRPr lang="en-US" altLang="en-US" sz="2800" b="1" dirty="0"/>
          </a:p>
          <a:p>
            <a:pPr lvl="4">
              <a:defRPr/>
            </a:pPr>
            <a:endParaRPr lang="en-US" altLang="en-US" sz="2200" b="1" dirty="0"/>
          </a:p>
          <a:p>
            <a:pPr>
              <a:spcBef>
                <a:spcPct val="20000"/>
              </a:spcBef>
              <a:defRPr/>
            </a:pPr>
            <a:r>
              <a:rPr lang="en-US" altLang="en-US" sz="2800" dirty="0">
                <a:solidFill>
                  <a:srgbClr val="FF0000"/>
                </a:solidFill>
              </a:rPr>
              <a:t>Shared Data </a:t>
            </a:r>
            <a:r>
              <a:rPr lang="en-US" altLang="en-US" sz="2800" dirty="0"/>
              <a:t>	</a:t>
            </a:r>
          </a:p>
          <a:p>
            <a:pPr lvl="1">
              <a:defRPr/>
            </a:pPr>
            <a:r>
              <a:rPr lang="en-US" altLang="en-US" sz="2800" b="1" dirty="0">
                <a:solidFill>
                  <a:schemeClr val="accent1">
                    <a:lumMod val="75000"/>
                  </a:schemeClr>
                </a:solidFill>
              </a:rPr>
              <a:t>item buffer[BUFFER_SIZE];</a:t>
            </a:r>
          </a:p>
          <a:p>
            <a:pPr lvl="1">
              <a:defRPr/>
            </a:pPr>
            <a:r>
              <a:rPr lang="en-US" altLang="en-US" sz="2800" b="1" dirty="0" err="1">
                <a:solidFill>
                  <a:schemeClr val="accent1">
                    <a:lumMod val="75000"/>
                  </a:schemeClr>
                </a:solidFill>
              </a:rPr>
              <a:t>int</a:t>
            </a:r>
            <a:r>
              <a:rPr lang="en-US" altLang="en-US" sz="2800" b="1" dirty="0">
                <a:solidFill>
                  <a:schemeClr val="accent1">
                    <a:lumMod val="75000"/>
                  </a:schemeClr>
                </a:solidFill>
              </a:rPr>
              <a:t> counter = 0;</a:t>
            </a:r>
            <a:r>
              <a:rPr lang="en-US" altLang="en-US" sz="2800" dirty="0">
                <a:solidFill>
                  <a:schemeClr val="accent2"/>
                </a:solidFill>
              </a:rPr>
              <a:t> // Number of items in buffer</a:t>
            </a:r>
            <a:endParaRPr lang="en-US" altLang="en-US" sz="2800" b="1" dirty="0">
              <a:solidFill>
                <a:schemeClr val="accent1">
                  <a:lumMod val="7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3">
            <a:extLst>
              <a:ext uri="{FF2B5EF4-FFF2-40B4-BE49-F238E27FC236}">
                <a16:creationId xmlns:a16="http://schemas.microsoft.com/office/drawing/2014/main" id="{114CF5FF-35F9-4A7B-91C5-45DF27DAC3D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123" name="Rectangle 2050">
            <a:extLst>
              <a:ext uri="{FF2B5EF4-FFF2-40B4-BE49-F238E27FC236}">
                <a16:creationId xmlns:a16="http://schemas.microsoft.com/office/drawing/2014/main" id="{DB62582A-6157-4611-B6F9-463D49D500EA}"/>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21507" name="Rectangle 2051">
            <a:extLst>
              <a:ext uri="{FF2B5EF4-FFF2-40B4-BE49-F238E27FC236}">
                <a16:creationId xmlns:a16="http://schemas.microsoft.com/office/drawing/2014/main" id="{76DD892E-B2CB-4A9A-94CF-D825235119BA}"/>
              </a:ext>
            </a:extLst>
          </p:cNvPr>
          <p:cNvSpPr>
            <a:spLocks noGrp="1" noChangeArrowheads="1"/>
          </p:cNvSpPr>
          <p:nvPr>
            <p:ph type="title"/>
          </p:nvPr>
        </p:nvSpPr>
        <p:spPr/>
        <p:txBody>
          <a:bodyPr/>
          <a:lstStyle/>
          <a:p>
            <a:r>
              <a:rPr lang="en-US" altLang="en-US"/>
              <a:t>Bounded-Buffer (Cont.)</a:t>
            </a:r>
          </a:p>
        </p:txBody>
      </p:sp>
      <p:sp>
        <p:nvSpPr>
          <p:cNvPr id="21508" name="Rectangle 2052">
            <a:extLst>
              <a:ext uri="{FF2B5EF4-FFF2-40B4-BE49-F238E27FC236}">
                <a16:creationId xmlns:a16="http://schemas.microsoft.com/office/drawing/2014/main" id="{1996CC86-EC0E-497C-9C28-7CD9909F6926}"/>
              </a:ext>
            </a:extLst>
          </p:cNvPr>
          <p:cNvSpPr>
            <a:spLocks noGrp="1" noChangeArrowheads="1"/>
          </p:cNvSpPr>
          <p:nvPr>
            <p:ph type="body" idx="1"/>
          </p:nvPr>
        </p:nvSpPr>
        <p:spPr>
          <a:xfrm>
            <a:off x="296863" y="1371600"/>
            <a:ext cx="8524875" cy="5064125"/>
          </a:xfrm>
        </p:spPr>
        <p:txBody>
          <a:bodyPr/>
          <a:lstStyle/>
          <a:p>
            <a:pPr>
              <a:lnSpc>
                <a:spcPct val="90000"/>
              </a:lnSpc>
              <a:defRPr/>
            </a:pPr>
            <a:r>
              <a:rPr lang="en-US" altLang="en-US" sz="3200" dirty="0">
                <a:solidFill>
                  <a:srgbClr val="FF0000"/>
                </a:solidFill>
              </a:rPr>
              <a:t>Producer process</a:t>
            </a:r>
          </a:p>
          <a:p>
            <a:pPr marL="0" indent="0">
              <a:lnSpc>
                <a:spcPct val="90000"/>
              </a:lnSpc>
              <a:buFontTx/>
              <a:buNone/>
              <a:defRPr/>
            </a:pPr>
            <a:r>
              <a:rPr lang="en-US" altLang="en-US" sz="3200" b="1" dirty="0">
                <a:solidFill>
                  <a:srgbClr val="FF0000"/>
                </a:solidFill>
              </a:rPr>
              <a:t>  </a:t>
            </a:r>
            <a:r>
              <a:rPr lang="en-US" altLang="en-US" sz="2800" dirty="0"/>
              <a:t>item </a:t>
            </a:r>
            <a:r>
              <a:rPr lang="en-US" altLang="en-US" sz="2800" i="1" dirty="0" err="1"/>
              <a:t>nextProduced</a:t>
            </a:r>
            <a:r>
              <a:rPr lang="en-US" altLang="en-US" sz="2800" dirty="0"/>
              <a:t>;</a:t>
            </a:r>
            <a:br>
              <a:rPr lang="en-US" altLang="en-US" sz="2800" dirty="0"/>
            </a:br>
            <a:r>
              <a:rPr lang="en-US" altLang="en-US" sz="2800" dirty="0"/>
              <a:t>  while (1) {</a:t>
            </a:r>
          </a:p>
          <a:p>
            <a:pPr>
              <a:buFontTx/>
              <a:buNone/>
              <a:defRPr/>
            </a:pPr>
            <a:r>
              <a:rPr lang="en-US" altLang="en-US" sz="2800" dirty="0"/>
              <a:t>		while (</a:t>
            </a:r>
            <a:r>
              <a:rPr lang="en-US" altLang="en-US" sz="2800" i="1" dirty="0"/>
              <a:t>counter</a:t>
            </a:r>
            <a:r>
              <a:rPr lang="en-US" altLang="en-US" sz="2800" dirty="0"/>
              <a:t> == BUFFER_SIZE)</a:t>
            </a:r>
            <a:r>
              <a:rPr lang="en-US" altLang="en-US" sz="2800" b="1" dirty="0"/>
              <a:t>; </a:t>
            </a:r>
            <a:r>
              <a:rPr lang="en-US" altLang="en-US" dirty="0">
                <a:solidFill>
                  <a:schemeClr val="accent2"/>
                </a:solidFill>
              </a:rPr>
              <a:t>// wait for space</a:t>
            </a:r>
            <a:r>
              <a:rPr lang="en-US" altLang="en-US" sz="2800" dirty="0"/>
              <a:t> </a:t>
            </a:r>
          </a:p>
          <a:p>
            <a:pPr>
              <a:buFontTx/>
              <a:buNone/>
              <a:defRPr/>
            </a:pPr>
            <a:r>
              <a:rPr lang="en-US" altLang="en-US" sz="2800" dirty="0"/>
              <a:t>		</a:t>
            </a:r>
            <a:r>
              <a:rPr lang="en-US" altLang="en-US" sz="2800" i="1" dirty="0"/>
              <a:t>buffer</a:t>
            </a:r>
            <a:r>
              <a:rPr lang="en-US" altLang="en-US" sz="2800" dirty="0"/>
              <a:t>[</a:t>
            </a:r>
            <a:r>
              <a:rPr lang="en-US" altLang="en-US" sz="2800" i="1" dirty="0"/>
              <a:t>in</a:t>
            </a:r>
            <a:r>
              <a:rPr lang="en-US" altLang="en-US" sz="2800" dirty="0"/>
              <a:t>] = </a:t>
            </a:r>
            <a:r>
              <a:rPr lang="en-US" altLang="en-US" sz="2800" i="1" dirty="0" err="1"/>
              <a:t>nextProduced</a:t>
            </a:r>
            <a:r>
              <a:rPr lang="en-US" altLang="en-US" sz="2800" dirty="0"/>
              <a:t>; </a:t>
            </a:r>
            <a:r>
              <a:rPr lang="en-US" altLang="en-US" dirty="0">
                <a:solidFill>
                  <a:srgbClr val="3333CC"/>
                </a:solidFill>
              </a:rPr>
              <a:t>// produce item</a:t>
            </a:r>
            <a:endParaRPr lang="en-US" altLang="en-US" sz="2800" dirty="0"/>
          </a:p>
          <a:p>
            <a:pPr>
              <a:buFontTx/>
              <a:buNone/>
              <a:defRPr/>
            </a:pPr>
            <a:r>
              <a:rPr lang="en-US" altLang="en-US" sz="2800" dirty="0"/>
              <a:t>		</a:t>
            </a:r>
            <a:r>
              <a:rPr lang="en-US" altLang="en-US" sz="2800" i="1" dirty="0"/>
              <a:t>in</a:t>
            </a:r>
            <a:r>
              <a:rPr lang="en-US" altLang="en-US" sz="2800" dirty="0"/>
              <a:t> = (</a:t>
            </a:r>
            <a:r>
              <a:rPr lang="en-US" altLang="en-US" sz="2800" i="1" dirty="0"/>
              <a:t>in</a:t>
            </a:r>
            <a:r>
              <a:rPr lang="en-US" altLang="en-US" sz="2800" dirty="0"/>
              <a:t> + 1) % BUFFER_SIZE;</a:t>
            </a:r>
            <a:r>
              <a:rPr lang="en-US" altLang="en-US" dirty="0">
                <a:solidFill>
                  <a:srgbClr val="3333CC"/>
                </a:solidFill>
              </a:rPr>
              <a:t> // prepare for next item</a:t>
            </a:r>
            <a:endParaRPr lang="en-US" altLang="en-US" sz="2800" dirty="0"/>
          </a:p>
          <a:p>
            <a:pPr>
              <a:buFontTx/>
              <a:buNone/>
              <a:defRPr/>
            </a:pPr>
            <a:r>
              <a:rPr lang="en-US" altLang="en-US" sz="2800" dirty="0"/>
              <a:t>		</a:t>
            </a:r>
            <a:r>
              <a:rPr lang="en-US" altLang="en-US" sz="2800" i="1" dirty="0"/>
              <a:t>counter</a:t>
            </a:r>
            <a:r>
              <a:rPr lang="en-US" altLang="en-US" sz="2800" dirty="0"/>
              <a:t>++;</a:t>
            </a:r>
          </a:p>
          <a:p>
            <a:pPr>
              <a:buFontTx/>
              <a:buNone/>
              <a:defRPr/>
            </a:pPr>
            <a:r>
              <a:rPr lang="en-US" altLang="en-US" sz="2800" dirty="0"/>
              <a:t>	}	</a:t>
            </a:r>
          </a:p>
        </p:txBody>
      </p:sp>
      <p:sp>
        <p:nvSpPr>
          <p:cNvPr id="6" name="Rectangle 4">
            <a:extLst>
              <a:ext uri="{FF2B5EF4-FFF2-40B4-BE49-F238E27FC236}">
                <a16:creationId xmlns:a16="http://schemas.microsoft.com/office/drawing/2014/main" id="{E2D21175-9BE0-458A-9950-10DBB51B8EFC}"/>
              </a:ext>
            </a:extLst>
          </p:cNvPr>
          <p:cNvSpPr>
            <a:spLocks noChangeArrowheads="1"/>
          </p:cNvSpPr>
          <p:nvPr/>
        </p:nvSpPr>
        <p:spPr bwMode="auto">
          <a:xfrm>
            <a:off x="684213" y="311150"/>
            <a:ext cx="7831137" cy="877888"/>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 name="Rectangle 2">
            <a:extLst>
              <a:ext uri="{FF2B5EF4-FFF2-40B4-BE49-F238E27FC236}">
                <a16:creationId xmlns:a16="http://schemas.microsoft.com/office/drawing/2014/main" id="{8FF2C645-D922-4FB8-B8E0-806B18739026}"/>
              </a:ext>
            </a:extLst>
          </p:cNvPr>
          <p:cNvSpPr txBox="1">
            <a:spLocks noChangeArrowheads="1"/>
          </p:cNvSpPr>
          <p:nvPr/>
        </p:nvSpPr>
        <p:spPr bwMode="auto">
          <a:xfrm>
            <a:off x="790575" y="495300"/>
            <a:ext cx="7642225" cy="457200"/>
          </a:xfrm>
          <a:prstGeom prst="rect">
            <a:avLst/>
          </a:prstGeom>
          <a:noFill/>
          <a:ln>
            <a:noFill/>
          </a:ln>
        </p:spPr>
        <p:txBody>
          <a:bodyPr anchor="ctr"/>
          <a:lst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a:lstStyle>
          <a:p>
            <a:pPr>
              <a:defRPr/>
            </a:pPr>
            <a:r>
              <a:rPr lang="en-US" altLang="en-US" kern="0"/>
              <a:t>Example: Producer-Consumer </a:t>
            </a:r>
            <a:br>
              <a:rPr lang="en-US" altLang="en-US" kern="0"/>
            </a:br>
            <a:r>
              <a:rPr lang="en-US" altLang="en-US" kern="0"/>
              <a:t>(with bounded buffer)</a:t>
            </a:r>
            <a:endParaRPr lang="en-US" altLang="en-US" kern="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3">
            <a:extLst>
              <a:ext uri="{FF2B5EF4-FFF2-40B4-BE49-F238E27FC236}">
                <a16:creationId xmlns:a16="http://schemas.microsoft.com/office/drawing/2014/main" id="{F4E9DCC0-8C67-4027-8770-765256185D8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6147" name="Rectangle 4">
            <a:extLst>
              <a:ext uri="{FF2B5EF4-FFF2-40B4-BE49-F238E27FC236}">
                <a16:creationId xmlns:a16="http://schemas.microsoft.com/office/drawing/2014/main" id="{B9A7BABD-DE61-4533-AF6D-9CBD551D0668}"/>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23555" name="Rectangle 2">
            <a:extLst>
              <a:ext uri="{FF2B5EF4-FFF2-40B4-BE49-F238E27FC236}">
                <a16:creationId xmlns:a16="http://schemas.microsoft.com/office/drawing/2014/main" id="{5EF936DF-E5ED-415F-9580-063D54A93835}"/>
              </a:ext>
            </a:extLst>
          </p:cNvPr>
          <p:cNvSpPr>
            <a:spLocks noGrp="1" noChangeArrowheads="1"/>
          </p:cNvSpPr>
          <p:nvPr>
            <p:ph type="title"/>
          </p:nvPr>
        </p:nvSpPr>
        <p:spPr/>
        <p:txBody>
          <a:bodyPr/>
          <a:lstStyle/>
          <a:p>
            <a:r>
              <a:rPr lang="en-US" altLang="en-US"/>
              <a:t>Bounded-Buffer (Cont.)</a:t>
            </a:r>
          </a:p>
        </p:txBody>
      </p:sp>
      <p:sp>
        <p:nvSpPr>
          <p:cNvPr id="23556" name="Rectangle 3">
            <a:extLst>
              <a:ext uri="{FF2B5EF4-FFF2-40B4-BE49-F238E27FC236}">
                <a16:creationId xmlns:a16="http://schemas.microsoft.com/office/drawing/2014/main" id="{7C54A7E3-B4E4-42D1-B4C5-48F060DAC8B9}"/>
              </a:ext>
            </a:extLst>
          </p:cNvPr>
          <p:cNvSpPr>
            <a:spLocks noGrp="1" noChangeArrowheads="1"/>
          </p:cNvSpPr>
          <p:nvPr>
            <p:ph type="body" idx="1"/>
          </p:nvPr>
        </p:nvSpPr>
        <p:spPr>
          <a:xfrm>
            <a:off x="280988" y="1406525"/>
            <a:ext cx="8863012" cy="4992688"/>
          </a:xfrm>
        </p:spPr>
        <p:txBody>
          <a:bodyPr/>
          <a:lstStyle/>
          <a:p>
            <a:pPr>
              <a:lnSpc>
                <a:spcPct val="90000"/>
              </a:lnSpc>
              <a:defRPr/>
            </a:pPr>
            <a:r>
              <a:rPr lang="en-US" altLang="en-US" sz="3200" dirty="0">
                <a:solidFill>
                  <a:srgbClr val="FF0000"/>
                </a:solidFill>
              </a:rPr>
              <a:t>Consumer process</a:t>
            </a:r>
            <a:endParaRPr lang="en-US" altLang="en-US" sz="2800" dirty="0"/>
          </a:p>
          <a:p>
            <a:pPr marL="0" indent="0">
              <a:lnSpc>
                <a:spcPct val="90000"/>
              </a:lnSpc>
              <a:buFontTx/>
              <a:buNone/>
              <a:defRPr/>
            </a:pPr>
            <a:r>
              <a:rPr lang="en-US" altLang="en-US" sz="3200" b="1" dirty="0">
                <a:solidFill>
                  <a:srgbClr val="FF0000"/>
                </a:solidFill>
              </a:rPr>
              <a:t>  </a:t>
            </a:r>
            <a:r>
              <a:rPr lang="en-US" altLang="en-US" sz="2800" dirty="0"/>
              <a:t>item </a:t>
            </a:r>
            <a:r>
              <a:rPr lang="en-US" altLang="en-US" sz="2800" i="1" dirty="0" err="1"/>
              <a:t>nextConsumed</a:t>
            </a:r>
            <a:r>
              <a:rPr lang="en-US" altLang="en-US" sz="2800" dirty="0"/>
              <a:t>;</a:t>
            </a:r>
            <a:br>
              <a:rPr lang="en-US" altLang="en-US" sz="2800" dirty="0"/>
            </a:br>
            <a:r>
              <a:rPr lang="en-US" altLang="en-US" sz="2800" dirty="0"/>
              <a:t>  while (1) {</a:t>
            </a:r>
          </a:p>
          <a:p>
            <a:pPr>
              <a:buFontTx/>
              <a:buNone/>
              <a:defRPr/>
            </a:pPr>
            <a:r>
              <a:rPr lang="en-US" altLang="en-US" sz="2800" dirty="0"/>
              <a:t>		while (</a:t>
            </a:r>
            <a:r>
              <a:rPr lang="en-US" altLang="en-US" sz="2800" i="1" dirty="0"/>
              <a:t>counter</a:t>
            </a:r>
            <a:r>
              <a:rPr lang="en-US" altLang="en-US" sz="2800" dirty="0"/>
              <a:t> == 0)</a:t>
            </a:r>
            <a:r>
              <a:rPr lang="en-US" altLang="en-US" sz="2800" b="1" dirty="0"/>
              <a:t>;</a:t>
            </a:r>
            <a:r>
              <a:rPr lang="en-US" altLang="en-US" sz="2800" dirty="0"/>
              <a:t> </a:t>
            </a:r>
            <a:r>
              <a:rPr lang="en-US" altLang="en-US" dirty="0">
                <a:solidFill>
                  <a:srgbClr val="3333CC"/>
                </a:solidFill>
              </a:rPr>
              <a:t>// wait for buffer to receive an item</a:t>
            </a:r>
            <a:endParaRPr lang="en-US" altLang="en-US" sz="2800" dirty="0"/>
          </a:p>
          <a:p>
            <a:pPr>
              <a:buFontTx/>
              <a:buNone/>
              <a:defRPr/>
            </a:pPr>
            <a:r>
              <a:rPr lang="en-US" altLang="en-US" sz="2800" dirty="0"/>
              <a:t>		</a:t>
            </a:r>
            <a:r>
              <a:rPr lang="en-US" altLang="en-US" sz="2800" dirty="0" err="1"/>
              <a:t>nextConsumed</a:t>
            </a:r>
            <a:r>
              <a:rPr lang="en-US" altLang="en-US" sz="2800" dirty="0"/>
              <a:t> = </a:t>
            </a:r>
            <a:r>
              <a:rPr lang="en-US" altLang="en-US" sz="2800" i="1" dirty="0"/>
              <a:t>buffer</a:t>
            </a:r>
            <a:r>
              <a:rPr lang="en-US" altLang="en-US" sz="2800" dirty="0"/>
              <a:t>[</a:t>
            </a:r>
            <a:r>
              <a:rPr lang="en-US" altLang="en-US" sz="2800" i="1" dirty="0"/>
              <a:t>out</a:t>
            </a:r>
            <a:r>
              <a:rPr lang="en-US" altLang="en-US" sz="2800" dirty="0"/>
              <a:t>]; </a:t>
            </a:r>
            <a:r>
              <a:rPr lang="en-US" altLang="en-US" dirty="0">
                <a:solidFill>
                  <a:srgbClr val="3333CC"/>
                </a:solidFill>
              </a:rPr>
              <a:t>// Consume the item</a:t>
            </a:r>
            <a:endParaRPr lang="en-US" altLang="en-US" sz="2800" dirty="0"/>
          </a:p>
          <a:p>
            <a:pPr>
              <a:buFontTx/>
              <a:buNone/>
              <a:defRPr/>
            </a:pPr>
            <a:r>
              <a:rPr lang="en-US" altLang="en-US" sz="2800" dirty="0"/>
              <a:t>		</a:t>
            </a:r>
            <a:r>
              <a:rPr lang="en-US" altLang="en-US" sz="2800" i="1" dirty="0"/>
              <a:t>out</a:t>
            </a:r>
            <a:r>
              <a:rPr lang="en-US" altLang="en-US" sz="2800" dirty="0"/>
              <a:t> = (</a:t>
            </a:r>
            <a:r>
              <a:rPr lang="en-US" altLang="en-US" sz="2800" i="1" dirty="0"/>
              <a:t>out</a:t>
            </a:r>
            <a:r>
              <a:rPr lang="en-US" altLang="en-US" sz="2800" dirty="0"/>
              <a:t> + 1) % BUFFER_SIZE; </a:t>
            </a:r>
            <a:r>
              <a:rPr lang="en-US" altLang="en-US" dirty="0">
                <a:solidFill>
                  <a:srgbClr val="3333CC"/>
                </a:solidFill>
              </a:rPr>
              <a:t>// Prepare for next item</a:t>
            </a:r>
            <a:endParaRPr lang="en-US" altLang="en-US" sz="2800" dirty="0"/>
          </a:p>
          <a:p>
            <a:pPr>
              <a:buFontTx/>
              <a:buNone/>
              <a:defRPr/>
            </a:pPr>
            <a:r>
              <a:rPr lang="en-US" altLang="en-US" sz="2800" dirty="0"/>
              <a:t>		</a:t>
            </a:r>
            <a:r>
              <a:rPr lang="en-US" altLang="en-US" sz="2800" i="1" dirty="0"/>
              <a:t>counter</a:t>
            </a:r>
            <a:r>
              <a:rPr lang="en-US" altLang="en-US" sz="2800" dirty="0"/>
              <a:t>--;</a:t>
            </a:r>
          </a:p>
          <a:p>
            <a:pPr>
              <a:buFontTx/>
              <a:buNone/>
              <a:defRPr/>
            </a:pPr>
            <a:r>
              <a:rPr lang="en-US" altLang="en-US" sz="2800" dirty="0"/>
              <a:t>	}</a:t>
            </a:r>
          </a:p>
        </p:txBody>
      </p:sp>
      <p:sp>
        <p:nvSpPr>
          <p:cNvPr id="7" name="Rectangle 4">
            <a:extLst>
              <a:ext uri="{FF2B5EF4-FFF2-40B4-BE49-F238E27FC236}">
                <a16:creationId xmlns:a16="http://schemas.microsoft.com/office/drawing/2014/main" id="{21FCF957-ACAC-44FA-B210-5E172754275C}"/>
              </a:ext>
            </a:extLst>
          </p:cNvPr>
          <p:cNvSpPr>
            <a:spLocks noChangeArrowheads="1"/>
          </p:cNvSpPr>
          <p:nvPr/>
        </p:nvSpPr>
        <p:spPr bwMode="auto">
          <a:xfrm>
            <a:off x="684213" y="311150"/>
            <a:ext cx="7831137" cy="877888"/>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8" name="Rectangle 2">
            <a:extLst>
              <a:ext uri="{FF2B5EF4-FFF2-40B4-BE49-F238E27FC236}">
                <a16:creationId xmlns:a16="http://schemas.microsoft.com/office/drawing/2014/main" id="{C9AD07F9-78A4-46C7-BDA0-D44AA5025FCF}"/>
              </a:ext>
            </a:extLst>
          </p:cNvPr>
          <p:cNvSpPr txBox="1">
            <a:spLocks noChangeArrowheads="1"/>
          </p:cNvSpPr>
          <p:nvPr/>
        </p:nvSpPr>
        <p:spPr bwMode="auto">
          <a:xfrm>
            <a:off x="790575" y="495300"/>
            <a:ext cx="7642225" cy="457200"/>
          </a:xfrm>
          <a:prstGeom prst="rect">
            <a:avLst/>
          </a:prstGeom>
          <a:noFill/>
          <a:ln>
            <a:noFill/>
          </a:ln>
        </p:spPr>
        <p:txBody>
          <a:bodyPr anchor="ctr"/>
          <a:lst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a:lstStyle>
          <a:p>
            <a:pPr>
              <a:defRPr/>
            </a:pPr>
            <a:r>
              <a:rPr lang="en-US" altLang="en-US" kern="0" dirty="0"/>
              <a:t>Example: Producer-Consumer </a:t>
            </a:r>
            <a:br>
              <a:rPr lang="en-US" altLang="en-US" kern="0" dirty="0"/>
            </a:br>
            <a:r>
              <a:rPr lang="en-US" altLang="en-US" kern="0" dirty="0"/>
              <a:t>(with bounded buffer)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3">
            <a:extLst>
              <a:ext uri="{FF2B5EF4-FFF2-40B4-BE49-F238E27FC236}">
                <a16:creationId xmlns:a16="http://schemas.microsoft.com/office/drawing/2014/main" id="{7967A422-AB07-44AB-AB59-67A1F659F91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7171" name="Rectangle 2">
            <a:extLst>
              <a:ext uri="{FF2B5EF4-FFF2-40B4-BE49-F238E27FC236}">
                <a16:creationId xmlns:a16="http://schemas.microsoft.com/office/drawing/2014/main" id="{0854F59D-9B88-4F4A-AF35-EF4FC0CA80E4}"/>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25603" name="Rectangle 3">
            <a:extLst>
              <a:ext uri="{FF2B5EF4-FFF2-40B4-BE49-F238E27FC236}">
                <a16:creationId xmlns:a16="http://schemas.microsoft.com/office/drawing/2014/main" id="{083009CB-A56D-4248-9882-2C401A02A4B7}"/>
              </a:ext>
            </a:extLst>
          </p:cNvPr>
          <p:cNvSpPr>
            <a:spLocks noGrp="1" noChangeArrowheads="1"/>
          </p:cNvSpPr>
          <p:nvPr>
            <p:ph type="title"/>
          </p:nvPr>
        </p:nvSpPr>
        <p:spPr/>
        <p:txBody>
          <a:bodyPr/>
          <a:lstStyle/>
          <a:p>
            <a:r>
              <a:rPr lang="en-US" altLang="en-US"/>
              <a:t>Bounded-Buffer (Cont.)</a:t>
            </a:r>
          </a:p>
        </p:txBody>
      </p:sp>
      <p:sp>
        <p:nvSpPr>
          <p:cNvPr id="25604" name="Rectangle 4">
            <a:extLst>
              <a:ext uri="{FF2B5EF4-FFF2-40B4-BE49-F238E27FC236}">
                <a16:creationId xmlns:a16="http://schemas.microsoft.com/office/drawing/2014/main" id="{9B13150F-F760-4CAB-9703-AF71DE12783B}"/>
              </a:ext>
            </a:extLst>
          </p:cNvPr>
          <p:cNvSpPr>
            <a:spLocks noGrp="1" noChangeArrowheads="1"/>
          </p:cNvSpPr>
          <p:nvPr>
            <p:ph type="body" idx="1"/>
          </p:nvPr>
        </p:nvSpPr>
        <p:spPr>
          <a:xfrm>
            <a:off x="422275" y="1557338"/>
            <a:ext cx="8470900" cy="4992687"/>
          </a:xfrm>
        </p:spPr>
        <p:txBody>
          <a:bodyPr/>
          <a:lstStyle/>
          <a:p>
            <a:pPr>
              <a:defRPr/>
            </a:pPr>
            <a:r>
              <a:rPr lang="en-US" altLang="en-US" sz="2800" dirty="0"/>
              <a:t>Lets take a close look at these instructions</a:t>
            </a:r>
          </a:p>
          <a:p>
            <a:pPr lvl="1">
              <a:defRPr/>
            </a:pPr>
            <a:r>
              <a:rPr lang="en-US" altLang="en-US" sz="2800" i="1" dirty="0">
                <a:solidFill>
                  <a:srgbClr val="FF0000"/>
                </a:solidFill>
              </a:rPr>
              <a:t>Producer process: </a:t>
            </a:r>
            <a:r>
              <a:rPr lang="en-US" altLang="en-US" sz="2800" b="1" i="1" dirty="0">
                <a:solidFill>
                  <a:schemeClr val="accent1">
                    <a:lumMod val="75000"/>
                  </a:schemeClr>
                </a:solidFill>
              </a:rPr>
              <a:t>counter</a:t>
            </a:r>
            <a:r>
              <a:rPr lang="en-US" altLang="en-US" sz="2800" b="1" dirty="0">
                <a:solidFill>
                  <a:schemeClr val="accent1">
                    <a:lumMod val="75000"/>
                  </a:schemeClr>
                </a:solidFill>
              </a:rPr>
              <a:t>++;</a:t>
            </a:r>
            <a:r>
              <a:rPr lang="en-US" altLang="en-US" sz="2800" b="1" i="1" dirty="0">
                <a:solidFill>
                  <a:schemeClr val="accent1">
                    <a:lumMod val="75000"/>
                  </a:schemeClr>
                </a:solidFill>
              </a:rPr>
              <a:t> </a:t>
            </a:r>
          </a:p>
          <a:p>
            <a:pPr lvl="1">
              <a:defRPr/>
            </a:pPr>
            <a:r>
              <a:rPr lang="en-US" altLang="en-US" sz="2800" i="1" dirty="0">
                <a:solidFill>
                  <a:srgbClr val="FF0000"/>
                </a:solidFill>
              </a:rPr>
              <a:t>Consumer process: </a:t>
            </a:r>
            <a:r>
              <a:rPr lang="en-US" altLang="en-US" sz="2800" b="1" i="1" dirty="0">
                <a:solidFill>
                  <a:schemeClr val="accent1">
                    <a:lumMod val="75000"/>
                  </a:schemeClr>
                </a:solidFill>
              </a:rPr>
              <a:t>counter</a:t>
            </a:r>
            <a:r>
              <a:rPr lang="en-US" altLang="en-US" sz="2800" b="1" dirty="0">
                <a:solidFill>
                  <a:schemeClr val="accent1">
                    <a:lumMod val="75000"/>
                  </a:schemeClr>
                </a:solidFill>
              </a:rPr>
              <a:t>--;</a:t>
            </a:r>
          </a:p>
          <a:p>
            <a:pPr lvl="4">
              <a:defRPr/>
            </a:pPr>
            <a:endParaRPr lang="en-US" altLang="en-US" sz="2200" dirty="0">
              <a:solidFill>
                <a:schemeClr val="accent2"/>
              </a:solidFill>
            </a:endParaRPr>
          </a:p>
          <a:p>
            <a:pPr>
              <a:defRPr/>
            </a:pPr>
            <a:r>
              <a:rPr lang="en-US" altLang="en-US" sz="2800" dirty="0"/>
              <a:t>They may create inconsistent value for variable counter due to </a:t>
            </a:r>
            <a:r>
              <a:rPr lang="en-US" altLang="en-US" sz="2800" i="1" dirty="0">
                <a:solidFill>
                  <a:schemeClr val="accent2"/>
                </a:solidFill>
              </a:rPr>
              <a:t>race</a:t>
            </a:r>
            <a:r>
              <a:rPr lang="en-US" altLang="en-US" sz="2800" dirty="0">
                <a:solidFill>
                  <a:schemeClr val="accent2"/>
                </a:solidFill>
              </a:rPr>
              <a:t> </a:t>
            </a:r>
            <a:r>
              <a:rPr lang="en-US" altLang="en-US" sz="2800" i="1" dirty="0">
                <a:solidFill>
                  <a:schemeClr val="accent2"/>
                </a:solidFill>
              </a:rPr>
              <a:t>condition</a:t>
            </a:r>
          </a:p>
          <a:p>
            <a:pPr lvl="1">
              <a:defRPr/>
            </a:pPr>
            <a:r>
              <a:rPr lang="en-US" altLang="en-US" sz="2800" dirty="0">
                <a:solidFill>
                  <a:srgbClr val="FF0000"/>
                </a:solidFill>
              </a:rPr>
              <a:t>The actual value depends on when the producer or consumer process context switches</a:t>
            </a:r>
          </a:p>
        </p:txBody>
      </p:sp>
      <p:sp>
        <p:nvSpPr>
          <p:cNvPr id="6" name="Rectangle 4">
            <a:extLst>
              <a:ext uri="{FF2B5EF4-FFF2-40B4-BE49-F238E27FC236}">
                <a16:creationId xmlns:a16="http://schemas.microsoft.com/office/drawing/2014/main" id="{E3239EEC-0ABC-4C0B-9254-CC9034FCC4AF}"/>
              </a:ext>
            </a:extLst>
          </p:cNvPr>
          <p:cNvSpPr>
            <a:spLocks noChangeArrowheads="1"/>
          </p:cNvSpPr>
          <p:nvPr/>
        </p:nvSpPr>
        <p:spPr bwMode="auto">
          <a:xfrm>
            <a:off x="684213" y="311150"/>
            <a:ext cx="7831137" cy="877888"/>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 name="Rectangle 2">
            <a:extLst>
              <a:ext uri="{FF2B5EF4-FFF2-40B4-BE49-F238E27FC236}">
                <a16:creationId xmlns:a16="http://schemas.microsoft.com/office/drawing/2014/main" id="{967B751D-73D2-4555-8555-F82B51B30AC0}"/>
              </a:ext>
            </a:extLst>
          </p:cNvPr>
          <p:cNvSpPr txBox="1">
            <a:spLocks noChangeArrowheads="1"/>
          </p:cNvSpPr>
          <p:nvPr/>
        </p:nvSpPr>
        <p:spPr bwMode="auto">
          <a:xfrm>
            <a:off x="790575" y="495300"/>
            <a:ext cx="7642225" cy="457200"/>
          </a:xfrm>
          <a:prstGeom prst="rect">
            <a:avLst/>
          </a:prstGeom>
          <a:noFill/>
          <a:ln>
            <a:noFill/>
          </a:ln>
        </p:spPr>
        <p:txBody>
          <a:bodyPr anchor="ctr"/>
          <a:lst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a:lstStyle>
          <a:p>
            <a:pPr>
              <a:defRPr/>
            </a:pPr>
            <a:r>
              <a:rPr lang="en-US" altLang="en-US" kern="0"/>
              <a:t>Example: Producer-Consumer </a:t>
            </a:r>
            <a:br>
              <a:rPr lang="en-US" altLang="en-US" kern="0"/>
            </a:br>
            <a:r>
              <a:rPr lang="en-US" altLang="en-US" kern="0"/>
              <a:t>(with bounded buffer)</a:t>
            </a:r>
            <a:endParaRPr lang="en-US" altLang="en-US" kern="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3">
            <a:extLst>
              <a:ext uri="{FF2B5EF4-FFF2-40B4-BE49-F238E27FC236}">
                <a16:creationId xmlns:a16="http://schemas.microsoft.com/office/drawing/2014/main" id="{BDDEF687-48BB-490A-B7BE-5F7C54942AE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8195" name="Rectangle 2">
            <a:extLst>
              <a:ext uri="{FF2B5EF4-FFF2-40B4-BE49-F238E27FC236}">
                <a16:creationId xmlns:a16="http://schemas.microsoft.com/office/drawing/2014/main" id="{3F92903A-1F42-485B-BFFE-3A01B403F9E2}"/>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27651" name="Rectangle 3">
            <a:extLst>
              <a:ext uri="{FF2B5EF4-FFF2-40B4-BE49-F238E27FC236}">
                <a16:creationId xmlns:a16="http://schemas.microsoft.com/office/drawing/2014/main" id="{DACA1D5D-3F8A-4C6A-AEE9-C1B481495409}"/>
              </a:ext>
            </a:extLst>
          </p:cNvPr>
          <p:cNvSpPr>
            <a:spLocks noGrp="1" noChangeArrowheads="1"/>
          </p:cNvSpPr>
          <p:nvPr>
            <p:ph type="title"/>
          </p:nvPr>
        </p:nvSpPr>
        <p:spPr/>
        <p:txBody>
          <a:bodyPr/>
          <a:lstStyle/>
          <a:p>
            <a:r>
              <a:rPr lang="en-US" altLang="en-US"/>
              <a:t>Race Condition</a:t>
            </a:r>
          </a:p>
        </p:txBody>
      </p:sp>
      <p:sp>
        <p:nvSpPr>
          <p:cNvPr id="27652" name="Rectangle 4">
            <a:extLst>
              <a:ext uri="{FF2B5EF4-FFF2-40B4-BE49-F238E27FC236}">
                <a16:creationId xmlns:a16="http://schemas.microsoft.com/office/drawing/2014/main" id="{9741AE9D-E396-41F7-8775-2E0080741126}"/>
              </a:ext>
            </a:extLst>
          </p:cNvPr>
          <p:cNvSpPr>
            <a:spLocks noGrp="1" noChangeArrowheads="1"/>
          </p:cNvSpPr>
          <p:nvPr>
            <p:ph type="body" idx="1"/>
          </p:nvPr>
        </p:nvSpPr>
        <p:spPr>
          <a:xfrm>
            <a:off x="1022350" y="2279650"/>
            <a:ext cx="7045325" cy="3516313"/>
          </a:xfrm>
        </p:spPr>
        <p:txBody>
          <a:bodyPr/>
          <a:lstStyle/>
          <a:p>
            <a:pPr marL="0" indent="0">
              <a:buFontTx/>
              <a:buNone/>
              <a:defRPr/>
            </a:pPr>
            <a:r>
              <a:rPr lang="en-US" altLang="en-US" sz="2000" dirty="0">
                <a:solidFill>
                  <a:srgbClr val="FF0000"/>
                </a:solidFill>
              </a:rPr>
              <a:t>With “counter = 5” initially, suppose we execute producer and consumer once using the following interleaving</a:t>
            </a:r>
          </a:p>
          <a:p>
            <a:pPr marL="800100" lvl="1" indent="-342900">
              <a:buFont typeface="+mj-lt"/>
              <a:buAutoNum type="arabicPeriod"/>
              <a:defRPr/>
            </a:pPr>
            <a:r>
              <a:rPr lang="en-US" altLang="en-US" dirty="0"/>
              <a:t>Producer executes </a:t>
            </a:r>
            <a:r>
              <a:rPr lang="en-US" altLang="en-US" dirty="0">
                <a:solidFill>
                  <a:schemeClr val="accent2"/>
                </a:solidFill>
              </a:rPr>
              <a:t>register1 = counter </a:t>
            </a:r>
            <a:r>
              <a:rPr lang="en-US" altLang="en-US" dirty="0"/>
              <a:t>{register1 = 5}</a:t>
            </a:r>
          </a:p>
          <a:p>
            <a:pPr marL="800100" lvl="1" indent="-342900">
              <a:buFont typeface="+mj-lt"/>
              <a:buAutoNum type="arabicPeriod"/>
              <a:defRPr/>
            </a:pPr>
            <a:r>
              <a:rPr lang="en-US" altLang="en-US" dirty="0"/>
              <a:t>Producer executes </a:t>
            </a:r>
            <a:r>
              <a:rPr lang="en-US" altLang="en-US" dirty="0">
                <a:solidFill>
                  <a:schemeClr val="accent2"/>
                </a:solidFill>
              </a:rPr>
              <a:t>register1 = register1 + 1 </a:t>
            </a:r>
            <a:r>
              <a:rPr lang="en-US" altLang="en-US" dirty="0"/>
              <a:t>{register1 = 6}</a:t>
            </a:r>
          </a:p>
          <a:p>
            <a:pPr marL="800100" lvl="1" indent="-342900">
              <a:buFont typeface="+mj-lt"/>
              <a:buAutoNum type="arabicPeriod"/>
              <a:defRPr/>
            </a:pPr>
            <a:r>
              <a:rPr lang="en-US" altLang="en-US" b="1" dirty="0"/>
              <a:t>Context switch occurs from Producer to Consumer</a:t>
            </a:r>
          </a:p>
          <a:p>
            <a:pPr marL="800100" lvl="1" indent="-342900">
              <a:buFont typeface="+mj-lt"/>
              <a:buAutoNum type="arabicPeriod"/>
              <a:defRPr/>
            </a:pPr>
            <a:r>
              <a:rPr lang="en-US" altLang="en-US" dirty="0"/>
              <a:t>Consumer executes </a:t>
            </a:r>
            <a:r>
              <a:rPr lang="en-US" altLang="en-US" dirty="0">
                <a:solidFill>
                  <a:schemeClr val="accent1">
                    <a:lumMod val="75000"/>
                  </a:schemeClr>
                </a:solidFill>
              </a:rPr>
              <a:t>register2 = counter </a:t>
            </a:r>
            <a:r>
              <a:rPr lang="en-US" altLang="en-US" dirty="0"/>
              <a:t>{register2 = 5} </a:t>
            </a:r>
          </a:p>
          <a:p>
            <a:pPr marL="800100" lvl="1" indent="-342900">
              <a:buFont typeface="+mj-lt"/>
              <a:buAutoNum type="arabicPeriod"/>
              <a:defRPr/>
            </a:pPr>
            <a:r>
              <a:rPr lang="en-US" altLang="en-US" dirty="0"/>
              <a:t>Consumer executes </a:t>
            </a:r>
            <a:r>
              <a:rPr lang="en-US" altLang="en-US" dirty="0">
                <a:solidFill>
                  <a:schemeClr val="accent1">
                    <a:lumMod val="75000"/>
                  </a:schemeClr>
                </a:solidFill>
              </a:rPr>
              <a:t>register2 = register2 – 1 </a:t>
            </a:r>
            <a:r>
              <a:rPr lang="en-US" altLang="en-US" dirty="0"/>
              <a:t>{register2 = 4} </a:t>
            </a:r>
          </a:p>
          <a:p>
            <a:pPr marL="800100" lvl="1" indent="-342900">
              <a:buFont typeface="+mj-lt"/>
              <a:buAutoNum type="arabicPeriod"/>
              <a:defRPr/>
            </a:pPr>
            <a:r>
              <a:rPr lang="en-US" altLang="en-US" b="1" dirty="0"/>
              <a:t>Context switch occurs from Consumer to Producer</a:t>
            </a:r>
          </a:p>
          <a:p>
            <a:pPr marL="800100" lvl="1" indent="-342900">
              <a:buFont typeface="+mj-lt"/>
              <a:buAutoNum type="arabicPeriod"/>
              <a:defRPr/>
            </a:pPr>
            <a:r>
              <a:rPr lang="en-US" altLang="en-US" dirty="0"/>
              <a:t>Producer executes </a:t>
            </a:r>
            <a:r>
              <a:rPr lang="en-US" altLang="en-US" dirty="0">
                <a:solidFill>
                  <a:schemeClr val="accent2"/>
                </a:solidFill>
              </a:rPr>
              <a:t>counter = register1 </a:t>
            </a:r>
            <a:r>
              <a:rPr lang="en-US" altLang="en-US" dirty="0"/>
              <a:t>{counter = 6 } </a:t>
            </a:r>
          </a:p>
          <a:p>
            <a:pPr marL="800100" lvl="1" indent="-342900">
              <a:buFont typeface="+mj-lt"/>
              <a:buAutoNum type="arabicPeriod"/>
              <a:defRPr/>
            </a:pPr>
            <a:r>
              <a:rPr lang="en-US" altLang="en-US" b="1" dirty="0"/>
              <a:t>Context switch occurs from Producer to Consumer</a:t>
            </a:r>
            <a:endParaRPr lang="en-US" altLang="en-US" dirty="0"/>
          </a:p>
          <a:p>
            <a:pPr marL="800100" lvl="1" indent="-342900">
              <a:buFont typeface="+mj-lt"/>
              <a:buAutoNum type="arabicPeriod"/>
              <a:defRPr/>
            </a:pPr>
            <a:r>
              <a:rPr lang="en-US" altLang="en-US" dirty="0"/>
              <a:t>Consumer executes </a:t>
            </a:r>
            <a:r>
              <a:rPr lang="en-US" altLang="en-US" dirty="0">
                <a:solidFill>
                  <a:schemeClr val="accent1">
                    <a:lumMod val="75000"/>
                  </a:schemeClr>
                </a:solidFill>
              </a:rPr>
              <a:t>counter = register2 </a:t>
            </a:r>
            <a:r>
              <a:rPr lang="en-US" altLang="en-US" dirty="0"/>
              <a:t>{counter = 4}</a:t>
            </a:r>
          </a:p>
          <a:p>
            <a:pPr lvl="4">
              <a:defRPr/>
            </a:pPr>
            <a:endParaRPr lang="en-US" altLang="en-US" sz="1400" dirty="0"/>
          </a:p>
          <a:p>
            <a:pPr marL="457200" lvl="1" indent="0" algn="ctr">
              <a:buFontTx/>
              <a:buNone/>
              <a:defRPr/>
            </a:pPr>
            <a:r>
              <a:rPr lang="en-US" altLang="en-US" sz="2000" b="1" dirty="0">
                <a:solidFill>
                  <a:srgbClr val="FF0000"/>
                </a:solidFill>
              </a:rPr>
              <a:t>Counter value is 4 instead of 5!</a:t>
            </a:r>
          </a:p>
        </p:txBody>
      </p:sp>
      <p:sp>
        <p:nvSpPr>
          <p:cNvPr id="5" name="TextBox 4">
            <a:extLst>
              <a:ext uri="{FF2B5EF4-FFF2-40B4-BE49-F238E27FC236}">
                <a16:creationId xmlns:a16="http://schemas.microsoft.com/office/drawing/2014/main" id="{94C14C21-AAF3-42CD-9D10-FEC5584B0C4C}"/>
              </a:ext>
            </a:extLst>
          </p:cNvPr>
          <p:cNvSpPr txBox="1"/>
          <p:nvPr/>
        </p:nvSpPr>
        <p:spPr>
          <a:xfrm>
            <a:off x="4708525" y="1125538"/>
            <a:ext cx="4389438" cy="1477962"/>
          </a:xfrm>
          <a:prstGeom prst="rect">
            <a:avLst/>
          </a:prstGeom>
          <a:noFill/>
        </p:spPr>
        <p:txBody>
          <a:bodyPr wrap="none">
            <a:spAutoFit/>
          </a:bodyPr>
          <a:lstStyle/>
          <a:p>
            <a:pPr>
              <a:defRPr/>
            </a:pPr>
            <a:r>
              <a:rPr lang="en-US" altLang="en-US" b="1" dirty="0">
                <a:latin typeface="Helvetica" charset="0"/>
              </a:rPr>
              <a:t>In Consumer </a:t>
            </a:r>
            <a:r>
              <a:rPr lang="en-US" altLang="en-US" dirty="0">
                <a:solidFill>
                  <a:schemeClr val="accent1">
                    <a:lumMod val="75000"/>
                  </a:schemeClr>
                </a:solidFill>
                <a:latin typeface="Helvetica" charset="0"/>
              </a:rPr>
              <a:t>counter-- </a:t>
            </a:r>
            <a:r>
              <a:rPr lang="en-US" altLang="en-US" dirty="0">
                <a:latin typeface="Helvetica" charset="0"/>
              </a:rPr>
              <a:t>implemented as:</a:t>
            </a:r>
            <a:br>
              <a:rPr lang="en-US" altLang="en-US" dirty="0">
                <a:latin typeface="Helvetica" charset="0"/>
              </a:rPr>
            </a:br>
            <a:r>
              <a:rPr lang="en-US" altLang="en-US" dirty="0">
                <a:latin typeface="Helvetica" charset="0"/>
              </a:rPr>
              <a:t>     </a:t>
            </a:r>
            <a:r>
              <a:rPr lang="en-US" altLang="en-US" dirty="0">
                <a:solidFill>
                  <a:schemeClr val="accent1">
                    <a:lumMod val="75000"/>
                  </a:schemeClr>
                </a:solidFill>
                <a:latin typeface="Helvetica" charset="0"/>
              </a:rPr>
              <a:t>register2 = counter</a:t>
            </a:r>
            <a:br>
              <a:rPr lang="en-US" altLang="en-US" dirty="0">
                <a:solidFill>
                  <a:schemeClr val="accent1">
                    <a:lumMod val="75000"/>
                  </a:schemeClr>
                </a:solidFill>
                <a:latin typeface="Helvetica" charset="0"/>
              </a:rPr>
            </a:br>
            <a:r>
              <a:rPr lang="en-US" altLang="en-US" dirty="0">
                <a:solidFill>
                  <a:schemeClr val="accent1">
                    <a:lumMod val="75000"/>
                  </a:schemeClr>
                </a:solidFill>
                <a:latin typeface="Helvetica" charset="0"/>
              </a:rPr>
              <a:t>     register2 = register2 - 1</a:t>
            </a:r>
            <a:br>
              <a:rPr lang="en-US" altLang="en-US" dirty="0">
                <a:solidFill>
                  <a:schemeClr val="accent1">
                    <a:lumMod val="75000"/>
                  </a:schemeClr>
                </a:solidFill>
                <a:latin typeface="Helvetica" charset="0"/>
              </a:rPr>
            </a:br>
            <a:r>
              <a:rPr lang="en-US" altLang="en-US" dirty="0">
                <a:solidFill>
                  <a:schemeClr val="accent1">
                    <a:lumMod val="75000"/>
                  </a:schemeClr>
                </a:solidFill>
                <a:latin typeface="Helvetica" charset="0"/>
              </a:rPr>
              <a:t>     counter = register2</a:t>
            </a:r>
          </a:p>
          <a:p>
            <a:pPr>
              <a:defRPr/>
            </a:pPr>
            <a:endParaRPr lang="en-US" dirty="0">
              <a:latin typeface="Helvetica" charset="0"/>
            </a:endParaRPr>
          </a:p>
        </p:txBody>
      </p:sp>
      <p:sp>
        <p:nvSpPr>
          <p:cNvPr id="27654" name="TextBox 5">
            <a:extLst>
              <a:ext uri="{FF2B5EF4-FFF2-40B4-BE49-F238E27FC236}">
                <a16:creationId xmlns:a16="http://schemas.microsoft.com/office/drawing/2014/main" id="{CE9EC5C4-4AFC-4C08-80FC-138A68082772}"/>
              </a:ext>
            </a:extLst>
          </p:cNvPr>
          <p:cNvSpPr txBox="1">
            <a:spLocks noChangeArrowheads="1"/>
          </p:cNvSpPr>
          <p:nvPr/>
        </p:nvSpPr>
        <p:spPr bwMode="auto">
          <a:xfrm>
            <a:off x="179388" y="1106488"/>
            <a:ext cx="4325937"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b="1"/>
              <a:t>In Producer </a:t>
            </a:r>
            <a:r>
              <a:rPr lang="en-US" altLang="en-US">
                <a:solidFill>
                  <a:schemeClr val="accent2"/>
                </a:solidFill>
              </a:rPr>
              <a:t>counter++ </a:t>
            </a:r>
            <a:r>
              <a:rPr lang="en-US" altLang="en-US"/>
              <a:t>implemented as:</a:t>
            </a:r>
            <a:br>
              <a:rPr lang="en-US" altLang="en-US"/>
            </a:br>
            <a:r>
              <a:rPr lang="en-US" altLang="en-US">
                <a:solidFill>
                  <a:schemeClr val="accent2"/>
                </a:solidFill>
              </a:rPr>
              <a:t>     register1 = counter</a:t>
            </a:r>
            <a:br>
              <a:rPr lang="en-US" altLang="en-US">
                <a:solidFill>
                  <a:schemeClr val="accent2"/>
                </a:solidFill>
              </a:rPr>
            </a:br>
            <a:r>
              <a:rPr lang="en-US" altLang="en-US">
                <a:solidFill>
                  <a:schemeClr val="accent2"/>
                </a:solidFill>
              </a:rPr>
              <a:t>     register1 = register1 + 1</a:t>
            </a:r>
            <a:br>
              <a:rPr lang="en-US" altLang="en-US">
                <a:solidFill>
                  <a:schemeClr val="accent2"/>
                </a:solidFill>
              </a:rPr>
            </a:br>
            <a:r>
              <a:rPr lang="en-US" altLang="en-US">
                <a:solidFill>
                  <a:schemeClr val="accent2"/>
                </a:solidFill>
              </a:rPr>
              <a:t>     counter = register1</a:t>
            </a:r>
          </a:p>
          <a:p>
            <a:pPr>
              <a:spcBef>
                <a:spcPct val="0"/>
              </a:spcBef>
              <a:buSzTx/>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65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65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765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7652">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652">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7652">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7652">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2765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3">
            <a:extLst>
              <a:ext uri="{FF2B5EF4-FFF2-40B4-BE49-F238E27FC236}">
                <a16:creationId xmlns:a16="http://schemas.microsoft.com/office/drawing/2014/main" id="{49F308D2-9E00-4EEB-AD90-41F6529DAB9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219" name="Rectangle 6">
            <a:extLst>
              <a:ext uri="{FF2B5EF4-FFF2-40B4-BE49-F238E27FC236}">
                <a16:creationId xmlns:a16="http://schemas.microsoft.com/office/drawing/2014/main" id="{5A459367-B47F-4EBE-99FD-EF5ED1429860}"/>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29699" name="Rectangle 2">
            <a:extLst>
              <a:ext uri="{FF2B5EF4-FFF2-40B4-BE49-F238E27FC236}">
                <a16:creationId xmlns:a16="http://schemas.microsoft.com/office/drawing/2014/main" id="{050B5AA3-5A86-4E9F-81B1-89A0BEEF353B}"/>
              </a:ext>
            </a:extLst>
          </p:cNvPr>
          <p:cNvSpPr>
            <a:spLocks noGrp="1" noChangeArrowheads="1"/>
          </p:cNvSpPr>
          <p:nvPr>
            <p:ph type="title"/>
          </p:nvPr>
        </p:nvSpPr>
        <p:spPr/>
        <p:txBody>
          <a:bodyPr/>
          <a:lstStyle/>
          <a:p>
            <a:r>
              <a:rPr lang="en-US" altLang="en-US"/>
              <a:t>The Critical-Section Problem</a:t>
            </a:r>
          </a:p>
        </p:txBody>
      </p:sp>
      <p:sp>
        <p:nvSpPr>
          <p:cNvPr id="9221" name="Rectangle 3">
            <a:extLst>
              <a:ext uri="{FF2B5EF4-FFF2-40B4-BE49-F238E27FC236}">
                <a16:creationId xmlns:a16="http://schemas.microsoft.com/office/drawing/2014/main" id="{173E14F4-1A96-4F45-A304-99B65E2FD2CB}"/>
              </a:ext>
            </a:extLst>
          </p:cNvPr>
          <p:cNvSpPr>
            <a:spLocks noGrp="1" noChangeArrowheads="1"/>
          </p:cNvSpPr>
          <p:nvPr>
            <p:ph type="body" idx="1"/>
          </p:nvPr>
        </p:nvSpPr>
        <p:spPr>
          <a:xfrm>
            <a:off x="292100" y="1177925"/>
            <a:ext cx="8559800" cy="5122863"/>
          </a:xfrm>
        </p:spPr>
        <p:txBody>
          <a:bodyPr/>
          <a:lstStyle/>
          <a:p>
            <a:r>
              <a:rPr lang="en-US" altLang="en-US" sz="2800"/>
              <a:t>n processes all competing to use some shared data</a:t>
            </a:r>
          </a:p>
          <a:p>
            <a:pPr lvl="4"/>
            <a:endParaRPr lang="en-US" altLang="en-US" sz="2200"/>
          </a:p>
          <a:p>
            <a:r>
              <a:rPr lang="en-US" altLang="en-US" sz="2800"/>
              <a:t>Each process has a code segment, called </a:t>
            </a:r>
            <a:r>
              <a:rPr lang="en-US" altLang="en-US" sz="2800" i="1">
                <a:solidFill>
                  <a:schemeClr val="accent2"/>
                </a:solidFill>
              </a:rPr>
              <a:t>critical section</a:t>
            </a:r>
            <a:r>
              <a:rPr lang="en-US" altLang="en-US" sz="2800"/>
              <a:t>, in which the shared data is accessed</a:t>
            </a:r>
          </a:p>
          <a:p>
            <a:pPr lvl="1"/>
            <a:r>
              <a:rPr lang="en-US" altLang="en-US" sz="2400"/>
              <a:t>Process may be changing shared variables, updating a shared table, writing a shared file, etc.</a:t>
            </a:r>
          </a:p>
          <a:p>
            <a:pPr lvl="1"/>
            <a:r>
              <a:rPr lang="en-US" altLang="en-US" sz="2400">
                <a:solidFill>
                  <a:srgbClr val="FF0000"/>
                </a:solidFill>
              </a:rPr>
              <a:t>At least one process modifies (writes to) the shared data</a:t>
            </a:r>
          </a:p>
          <a:p>
            <a:pPr lvl="4"/>
            <a:endParaRPr lang="en-US" altLang="en-US">
              <a:solidFill>
                <a:srgbClr val="FF0000"/>
              </a:solidFill>
            </a:endParaRPr>
          </a:p>
          <a:p>
            <a:r>
              <a:rPr lang="en-US" altLang="en-US" sz="2800">
                <a:solidFill>
                  <a:srgbClr val="FF0000"/>
                </a:solidFill>
              </a:rPr>
              <a:t>Problem:</a:t>
            </a:r>
            <a:r>
              <a:rPr lang="en-US" altLang="en-US" sz="2800"/>
              <a:t> Design protocol to ensure that when one process is executing in its critical section, no other process is allowed to execute in its critical section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2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2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2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41F0A862-C784-478F-833C-B5FC9AB9EC0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0243" name="Rectangle 2">
            <a:extLst>
              <a:ext uri="{FF2B5EF4-FFF2-40B4-BE49-F238E27FC236}">
                <a16:creationId xmlns:a16="http://schemas.microsoft.com/office/drawing/2014/main" id="{8ECB004D-59A0-461B-A6CE-1DDA32773DA3}"/>
              </a:ext>
            </a:extLst>
          </p:cNvPr>
          <p:cNvSpPr>
            <a:spLocks noChangeArrowheads="1"/>
          </p:cNvSpPr>
          <p:nvPr/>
        </p:nvSpPr>
        <p:spPr bwMode="auto">
          <a:xfrm>
            <a:off x="684213" y="241300"/>
            <a:ext cx="7831137" cy="936625"/>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31747" name="Rectangle 3">
            <a:extLst>
              <a:ext uri="{FF2B5EF4-FFF2-40B4-BE49-F238E27FC236}">
                <a16:creationId xmlns:a16="http://schemas.microsoft.com/office/drawing/2014/main" id="{B106D176-CC91-4E82-A541-4AC1371B06B9}"/>
              </a:ext>
            </a:extLst>
          </p:cNvPr>
          <p:cNvSpPr>
            <a:spLocks noGrp="1" noChangeArrowheads="1"/>
          </p:cNvSpPr>
          <p:nvPr>
            <p:ph type="title"/>
          </p:nvPr>
        </p:nvSpPr>
        <p:spPr/>
        <p:txBody>
          <a:bodyPr/>
          <a:lstStyle/>
          <a:p>
            <a:r>
              <a:rPr lang="en-US" altLang="en-US"/>
              <a:t>Generic Solution Structure for the </a:t>
            </a:r>
            <a:br>
              <a:rPr lang="en-US" altLang="en-US"/>
            </a:br>
            <a:r>
              <a:rPr lang="en-US" altLang="en-US"/>
              <a:t>Critical-Section Problem</a:t>
            </a:r>
          </a:p>
        </p:txBody>
      </p:sp>
      <p:sp>
        <p:nvSpPr>
          <p:cNvPr id="31748" name="Rectangle 4">
            <a:extLst>
              <a:ext uri="{FF2B5EF4-FFF2-40B4-BE49-F238E27FC236}">
                <a16:creationId xmlns:a16="http://schemas.microsoft.com/office/drawing/2014/main" id="{B1C28F9F-9C8E-4652-8E4B-77AB535C18CA}"/>
              </a:ext>
            </a:extLst>
          </p:cNvPr>
          <p:cNvSpPr>
            <a:spLocks noGrp="1" noChangeArrowheads="1"/>
          </p:cNvSpPr>
          <p:nvPr>
            <p:ph type="body" idx="1"/>
          </p:nvPr>
        </p:nvSpPr>
        <p:spPr>
          <a:xfrm>
            <a:off x="142875" y="1323975"/>
            <a:ext cx="8991600" cy="5122863"/>
          </a:xfrm>
        </p:spPr>
        <p:txBody>
          <a:bodyPr/>
          <a:lstStyle/>
          <a:p>
            <a:pPr marL="457200" indent="-457200">
              <a:buFont typeface="+mj-lt"/>
              <a:buAutoNum type="arabicPeriod"/>
              <a:defRPr/>
            </a:pPr>
            <a:r>
              <a:rPr lang="en-US" altLang="en-US" sz="2400" dirty="0">
                <a:solidFill>
                  <a:srgbClr val="FF0000"/>
                </a:solidFill>
              </a:rPr>
              <a:t>Entry section:</a:t>
            </a:r>
            <a:r>
              <a:rPr lang="en-US" altLang="en-US" sz="2400" dirty="0"/>
              <a:t> Ask permission to enter critical section</a:t>
            </a:r>
          </a:p>
          <a:p>
            <a:pPr marL="457200" indent="-457200">
              <a:buFont typeface="+mj-lt"/>
              <a:buAutoNum type="arabicPeriod"/>
              <a:defRPr/>
            </a:pPr>
            <a:r>
              <a:rPr lang="en-US" altLang="en-US" sz="2400" dirty="0">
                <a:solidFill>
                  <a:srgbClr val="FF0000"/>
                </a:solidFill>
              </a:rPr>
              <a:t>Exit section: </a:t>
            </a:r>
            <a:r>
              <a:rPr lang="en-US" altLang="en-US" sz="2400" dirty="0"/>
              <a:t>Exit critical section (notify other processes)</a:t>
            </a:r>
          </a:p>
          <a:p>
            <a:pPr marL="2286000" lvl="4" indent="-457200">
              <a:buFont typeface="+mj-lt"/>
              <a:buAutoNum type="arabicPeriod"/>
              <a:defRPr/>
            </a:pPr>
            <a:endParaRPr lang="en-US" altLang="en-US" b="1" dirty="0">
              <a:solidFill>
                <a:srgbClr val="FF0000"/>
              </a:solidFill>
            </a:endParaRPr>
          </a:p>
          <a:p>
            <a:pPr marL="0" indent="0">
              <a:buFontTx/>
              <a:buNone/>
              <a:defRPr/>
            </a:pPr>
            <a:r>
              <a:rPr lang="en-US" altLang="en-US" sz="2400" b="1" dirty="0">
                <a:solidFill>
                  <a:srgbClr val="FF0000"/>
                </a:solidFill>
              </a:rPr>
              <a:t>Generic Process Structure</a:t>
            </a:r>
          </a:p>
          <a:p>
            <a:pPr>
              <a:buFontTx/>
              <a:buNone/>
              <a:defRPr/>
            </a:pPr>
            <a:r>
              <a:rPr lang="en-US" altLang="en-US" sz="2400" dirty="0"/>
              <a:t>				while (1) { </a:t>
            </a:r>
          </a:p>
          <a:p>
            <a:pPr>
              <a:buFontTx/>
              <a:buNone/>
              <a:defRPr/>
            </a:pPr>
            <a:r>
              <a:rPr lang="en-US" altLang="en-US" sz="2400" dirty="0"/>
              <a:t>			   	    </a:t>
            </a:r>
            <a:r>
              <a:rPr lang="en-US" altLang="en-US" sz="2400" i="1" dirty="0"/>
              <a:t>entry section</a:t>
            </a:r>
          </a:p>
          <a:p>
            <a:pPr>
              <a:buFontTx/>
              <a:buNone/>
              <a:defRPr/>
            </a:pPr>
            <a:r>
              <a:rPr lang="en-US" altLang="en-US" sz="2400" dirty="0"/>
              <a:t>			          		critical section</a:t>
            </a:r>
          </a:p>
          <a:p>
            <a:pPr>
              <a:buFontTx/>
              <a:buNone/>
              <a:defRPr/>
            </a:pPr>
            <a:r>
              <a:rPr lang="en-US" altLang="en-US" sz="2400" dirty="0"/>
              <a:t>			    	    </a:t>
            </a:r>
            <a:r>
              <a:rPr lang="en-US" altLang="en-US" sz="2400" i="1" dirty="0"/>
              <a:t>exit section</a:t>
            </a:r>
            <a:endParaRPr lang="en-US" altLang="en-US" sz="2400" dirty="0"/>
          </a:p>
          <a:p>
            <a:pPr>
              <a:buFontTx/>
              <a:buNone/>
              <a:defRPr/>
            </a:pPr>
            <a:r>
              <a:rPr lang="en-US" altLang="en-US" sz="2400" dirty="0"/>
              <a:t>			           	remainder section</a:t>
            </a:r>
          </a:p>
          <a:p>
            <a:pPr>
              <a:buFontTx/>
              <a:buNone/>
              <a:defRPr/>
            </a:pPr>
            <a:r>
              <a:rPr lang="en-US" altLang="en-US" sz="2400" dirty="0"/>
              <a:t>				 }</a:t>
            </a:r>
          </a:p>
          <a:p>
            <a:pPr lvl="4">
              <a:buFontTx/>
              <a:buNone/>
              <a:defRPr/>
            </a:pPr>
            <a:endParaRPr lang="en-US" altLang="en-US" sz="2800" dirty="0"/>
          </a:p>
        </p:txBody>
      </p:sp>
      <p:sp>
        <p:nvSpPr>
          <p:cNvPr id="31749" name="Rectangle 5">
            <a:extLst>
              <a:ext uri="{FF2B5EF4-FFF2-40B4-BE49-F238E27FC236}">
                <a16:creationId xmlns:a16="http://schemas.microsoft.com/office/drawing/2014/main" id="{BDB85BAD-3A10-48EA-96D2-595FC52ADBA0}"/>
              </a:ext>
            </a:extLst>
          </p:cNvPr>
          <p:cNvSpPr>
            <a:spLocks noChangeArrowheads="1"/>
          </p:cNvSpPr>
          <p:nvPr/>
        </p:nvSpPr>
        <p:spPr bwMode="auto">
          <a:xfrm>
            <a:off x="3240088" y="3717925"/>
            <a:ext cx="2401887" cy="481013"/>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31750" name="Rectangle 7">
            <a:extLst>
              <a:ext uri="{FF2B5EF4-FFF2-40B4-BE49-F238E27FC236}">
                <a16:creationId xmlns:a16="http://schemas.microsoft.com/office/drawing/2014/main" id="{7BDE94A9-818D-474D-84CC-035FA4E66F31}"/>
              </a:ext>
            </a:extLst>
          </p:cNvPr>
          <p:cNvSpPr>
            <a:spLocks noChangeArrowheads="1"/>
          </p:cNvSpPr>
          <p:nvPr/>
        </p:nvSpPr>
        <p:spPr bwMode="auto">
          <a:xfrm>
            <a:off x="3240088" y="4792663"/>
            <a:ext cx="2401887" cy="481012"/>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 name="TextBox 1">
            <a:extLst>
              <a:ext uri="{FF2B5EF4-FFF2-40B4-BE49-F238E27FC236}">
                <a16:creationId xmlns:a16="http://schemas.microsoft.com/office/drawing/2014/main" id="{56A7BCDB-456B-4844-B178-24296A95BEED}"/>
              </a:ext>
            </a:extLst>
          </p:cNvPr>
          <p:cNvSpPr txBox="1">
            <a:spLocks noChangeArrowheads="1"/>
          </p:cNvSpPr>
          <p:nvPr/>
        </p:nvSpPr>
        <p:spPr bwMode="auto">
          <a:xfrm>
            <a:off x="6853238" y="4110038"/>
            <a:ext cx="1447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Non critical section executions</a:t>
            </a:r>
          </a:p>
        </p:txBody>
      </p:sp>
      <p:cxnSp>
        <p:nvCxnSpPr>
          <p:cNvPr id="12" name="Straight Arrow Connector 11">
            <a:extLst>
              <a:ext uri="{FF2B5EF4-FFF2-40B4-BE49-F238E27FC236}">
                <a16:creationId xmlns:a16="http://schemas.microsoft.com/office/drawing/2014/main" id="{36566E3D-9DED-496C-8841-C276ACBD5667}"/>
              </a:ext>
            </a:extLst>
          </p:cNvPr>
          <p:cNvCxnSpPr>
            <a:cxnSpLocks noChangeShapeType="1"/>
            <a:stCxn id="2" idx="2"/>
          </p:cNvCxnSpPr>
          <p:nvPr/>
        </p:nvCxnSpPr>
        <p:spPr bwMode="auto">
          <a:xfrm flipH="1">
            <a:off x="6361113" y="5033963"/>
            <a:ext cx="1216025" cy="6080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1" name="TextBox 20">
            <a:extLst>
              <a:ext uri="{FF2B5EF4-FFF2-40B4-BE49-F238E27FC236}">
                <a16:creationId xmlns:a16="http://schemas.microsoft.com/office/drawing/2014/main" id="{37398CD7-E7C6-4CC1-8AC4-099458D7D18A}"/>
              </a:ext>
            </a:extLst>
          </p:cNvPr>
          <p:cNvSpPr txBox="1">
            <a:spLocks noChangeArrowheads="1"/>
          </p:cNvSpPr>
          <p:nvPr/>
        </p:nvSpPr>
        <p:spPr bwMode="auto">
          <a:xfrm>
            <a:off x="341313" y="3748088"/>
            <a:ext cx="18319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rPr>
              <a:t>What should the logic inside here be?</a:t>
            </a:r>
          </a:p>
        </p:txBody>
      </p:sp>
      <p:cxnSp>
        <p:nvCxnSpPr>
          <p:cNvPr id="22" name="Straight Arrow Connector 21">
            <a:extLst>
              <a:ext uri="{FF2B5EF4-FFF2-40B4-BE49-F238E27FC236}">
                <a16:creationId xmlns:a16="http://schemas.microsoft.com/office/drawing/2014/main" id="{13C3C464-5164-40C0-A0D4-F9673C244667}"/>
              </a:ext>
            </a:extLst>
          </p:cNvPr>
          <p:cNvCxnSpPr>
            <a:cxnSpLocks noChangeShapeType="1"/>
            <a:stCxn id="21" idx="3"/>
            <a:endCxn id="31749" idx="1"/>
          </p:cNvCxnSpPr>
          <p:nvPr/>
        </p:nvCxnSpPr>
        <p:spPr bwMode="auto">
          <a:xfrm flipV="1">
            <a:off x="2173288" y="3959225"/>
            <a:ext cx="1066800" cy="5730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016E5D79-4B1C-4E18-9137-94988C08B4D3}"/>
              </a:ext>
            </a:extLst>
          </p:cNvPr>
          <p:cNvCxnSpPr>
            <a:cxnSpLocks noChangeShapeType="1"/>
            <a:stCxn id="21" idx="3"/>
            <a:endCxn id="31750" idx="1"/>
          </p:cNvCxnSpPr>
          <p:nvPr/>
        </p:nvCxnSpPr>
        <p:spPr bwMode="auto">
          <a:xfrm>
            <a:off x="2173288" y="4532313"/>
            <a:ext cx="1066800" cy="5000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8">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48">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7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74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7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0" grpId="0" animBg="1"/>
      <p:bldP spid="2"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3">
            <a:extLst>
              <a:ext uri="{FF2B5EF4-FFF2-40B4-BE49-F238E27FC236}">
                <a16:creationId xmlns:a16="http://schemas.microsoft.com/office/drawing/2014/main" id="{0A801367-D4AD-40D4-B9CB-4AA703CCE88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1267" name="Rectangle 4">
            <a:extLst>
              <a:ext uri="{FF2B5EF4-FFF2-40B4-BE49-F238E27FC236}">
                <a16:creationId xmlns:a16="http://schemas.microsoft.com/office/drawing/2014/main" id="{62BFC55B-176D-454D-A955-C6FCD37472C6}"/>
              </a:ext>
            </a:extLst>
          </p:cNvPr>
          <p:cNvSpPr>
            <a:spLocks noChangeArrowheads="1"/>
          </p:cNvSpPr>
          <p:nvPr/>
        </p:nvSpPr>
        <p:spPr bwMode="auto">
          <a:xfrm>
            <a:off x="684213" y="201613"/>
            <a:ext cx="7831137" cy="1004887"/>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33795" name="Rectangle 2">
            <a:extLst>
              <a:ext uri="{FF2B5EF4-FFF2-40B4-BE49-F238E27FC236}">
                <a16:creationId xmlns:a16="http://schemas.microsoft.com/office/drawing/2014/main" id="{838F3361-E63B-496B-AAD1-D88943A744D9}"/>
              </a:ext>
            </a:extLst>
          </p:cNvPr>
          <p:cNvSpPr>
            <a:spLocks noGrp="1" noChangeArrowheads="1"/>
          </p:cNvSpPr>
          <p:nvPr>
            <p:ph type="title"/>
          </p:nvPr>
        </p:nvSpPr>
        <p:spPr/>
        <p:txBody>
          <a:bodyPr/>
          <a:lstStyle/>
          <a:p>
            <a:r>
              <a:rPr lang="en-US" altLang="en-US"/>
              <a:t>Desired Properties of Solutions </a:t>
            </a:r>
            <a:br>
              <a:rPr lang="en-US" altLang="en-US"/>
            </a:br>
            <a:r>
              <a:rPr lang="en-US" altLang="en-US"/>
              <a:t>to the Critical-Section Problem</a:t>
            </a:r>
          </a:p>
        </p:txBody>
      </p:sp>
      <p:sp>
        <p:nvSpPr>
          <p:cNvPr id="11269" name="Rectangle 3">
            <a:extLst>
              <a:ext uri="{FF2B5EF4-FFF2-40B4-BE49-F238E27FC236}">
                <a16:creationId xmlns:a16="http://schemas.microsoft.com/office/drawing/2014/main" id="{3D21BBEC-5956-4202-BA36-489A85BC0140}"/>
              </a:ext>
            </a:extLst>
          </p:cNvPr>
          <p:cNvSpPr>
            <a:spLocks noGrp="1" noChangeArrowheads="1"/>
          </p:cNvSpPr>
          <p:nvPr>
            <p:ph type="body" idx="1"/>
          </p:nvPr>
        </p:nvSpPr>
        <p:spPr>
          <a:xfrm>
            <a:off x="474663" y="1557338"/>
            <a:ext cx="8397875" cy="4940300"/>
          </a:xfrm>
        </p:spPr>
        <p:txBody>
          <a:bodyPr/>
          <a:lstStyle/>
          <a:p>
            <a:pPr>
              <a:spcBef>
                <a:spcPct val="0"/>
              </a:spcBef>
              <a:defRPr/>
            </a:pPr>
            <a:r>
              <a:rPr lang="en-US" altLang="en-US" sz="2800" dirty="0">
                <a:solidFill>
                  <a:srgbClr val="FF0000"/>
                </a:solidFill>
              </a:rPr>
              <a:t>Assumptions of critical and remainder sections</a:t>
            </a:r>
            <a:endParaRPr lang="en-US" altLang="en-US" sz="2200" dirty="0">
              <a:solidFill>
                <a:srgbClr val="FF0000"/>
              </a:solidFill>
            </a:endParaRPr>
          </a:p>
          <a:p>
            <a:pPr lvl="1">
              <a:spcBef>
                <a:spcPct val="0"/>
              </a:spcBef>
              <a:defRPr/>
            </a:pPr>
            <a:r>
              <a:rPr lang="en-US" altLang="en-US" sz="2400" dirty="0"/>
              <a:t>Each process is guaranteed to make progress over time in these sections</a:t>
            </a:r>
          </a:p>
          <a:p>
            <a:pPr lvl="1">
              <a:spcBef>
                <a:spcPct val="0"/>
              </a:spcBef>
              <a:defRPr/>
            </a:pPr>
            <a:r>
              <a:rPr lang="en-US" altLang="en-US" sz="2400" dirty="0"/>
              <a:t>No assumption about relative execution speed of different processes in these sections (</a:t>
            </a:r>
            <a:r>
              <a:rPr lang="en-US" altLang="en-US" sz="2400" dirty="0">
                <a:solidFill>
                  <a:schemeClr val="accent2"/>
                </a:solidFill>
              </a:rPr>
              <a:t>may execute at different speeds</a:t>
            </a:r>
            <a:r>
              <a:rPr lang="en-US" altLang="en-US" sz="2400" dirty="0"/>
              <a:t>)</a:t>
            </a:r>
          </a:p>
          <a:p>
            <a:pPr>
              <a:spcBef>
                <a:spcPct val="0"/>
              </a:spcBef>
              <a:defRPr/>
            </a:pPr>
            <a:endParaRPr lang="en-US" altLang="en-US" sz="2800" dirty="0"/>
          </a:p>
          <a:p>
            <a:pPr>
              <a:spcBef>
                <a:spcPct val="0"/>
              </a:spcBef>
              <a:defRPr/>
            </a:pPr>
            <a:r>
              <a:rPr lang="en-US" altLang="en-US" sz="2800" dirty="0">
                <a:solidFill>
                  <a:srgbClr val="FF0000"/>
                </a:solidFill>
              </a:rPr>
              <a:t>Desired Properties of entry and exit sections</a:t>
            </a:r>
          </a:p>
          <a:p>
            <a:pPr lvl="4">
              <a:spcBef>
                <a:spcPct val="0"/>
              </a:spcBef>
              <a:defRPr/>
            </a:pPr>
            <a:endParaRPr lang="en-US" altLang="en-US" sz="2200" dirty="0">
              <a:solidFill>
                <a:schemeClr val="accent2"/>
              </a:solidFill>
            </a:endParaRPr>
          </a:p>
          <a:p>
            <a:pPr marL="971550" lvl="1" indent="-514350">
              <a:spcBef>
                <a:spcPct val="0"/>
              </a:spcBef>
              <a:buFont typeface="+mj-lt"/>
              <a:buAutoNum type="arabicPeriod"/>
              <a:defRPr/>
            </a:pPr>
            <a:r>
              <a:rPr lang="en-US" altLang="en-US" sz="2400" dirty="0">
                <a:solidFill>
                  <a:srgbClr val="FF0000"/>
                </a:solidFill>
              </a:rPr>
              <a:t>Mutual Exclusion: </a:t>
            </a:r>
            <a:r>
              <a:rPr lang="en-US" altLang="en-US" sz="2400" dirty="0"/>
              <a:t>If a process is executing in its critical section, then no other process can be executing in its critical section at the same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3">
            <a:extLst>
              <a:ext uri="{FF2B5EF4-FFF2-40B4-BE49-F238E27FC236}">
                <a16:creationId xmlns:a16="http://schemas.microsoft.com/office/drawing/2014/main" id="{03CDFF7E-9C3B-4918-902E-0A62ECAE1D7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2291" name="Rectangle 2">
            <a:extLst>
              <a:ext uri="{FF2B5EF4-FFF2-40B4-BE49-F238E27FC236}">
                <a16:creationId xmlns:a16="http://schemas.microsoft.com/office/drawing/2014/main" id="{7E5E297C-4313-4C4D-81D0-A8F245F74899}"/>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35843" name="Rectangle 3">
            <a:extLst>
              <a:ext uri="{FF2B5EF4-FFF2-40B4-BE49-F238E27FC236}">
                <a16:creationId xmlns:a16="http://schemas.microsoft.com/office/drawing/2014/main" id="{6B9F1FCA-F8CA-46B7-BC64-EAAD1A0101DB}"/>
              </a:ext>
            </a:extLst>
          </p:cNvPr>
          <p:cNvSpPr>
            <a:spLocks noGrp="1" noChangeArrowheads="1"/>
          </p:cNvSpPr>
          <p:nvPr>
            <p:ph type="title"/>
          </p:nvPr>
        </p:nvSpPr>
        <p:spPr>
          <a:xfrm>
            <a:off x="955675" y="439738"/>
            <a:ext cx="7112000" cy="457200"/>
          </a:xfrm>
        </p:spPr>
        <p:txBody>
          <a:bodyPr/>
          <a:lstStyle/>
          <a:p>
            <a:r>
              <a:rPr lang="en-US" altLang="en-US" sz="2600"/>
              <a:t>Solution to Critical-Section Problem (Cont.)</a:t>
            </a:r>
            <a:endParaRPr lang="en-US" altLang="en-US"/>
          </a:p>
        </p:txBody>
      </p:sp>
      <p:sp>
        <p:nvSpPr>
          <p:cNvPr id="12293" name="Rectangle 4">
            <a:extLst>
              <a:ext uri="{FF2B5EF4-FFF2-40B4-BE49-F238E27FC236}">
                <a16:creationId xmlns:a16="http://schemas.microsoft.com/office/drawing/2014/main" id="{2ED9F5BA-C274-4788-92E2-30D770D47C6B}"/>
              </a:ext>
            </a:extLst>
          </p:cNvPr>
          <p:cNvSpPr>
            <a:spLocks noGrp="1" noChangeArrowheads="1"/>
          </p:cNvSpPr>
          <p:nvPr>
            <p:ph type="body" idx="1"/>
          </p:nvPr>
        </p:nvSpPr>
        <p:spPr>
          <a:xfrm>
            <a:off x="312738" y="1651000"/>
            <a:ext cx="8589962" cy="5197475"/>
          </a:xfrm>
        </p:spPr>
        <p:txBody>
          <a:bodyPr/>
          <a:lstStyle/>
          <a:p>
            <a:pPr marL="1028700" lvl="1" indent="-514350">
              <a:lnSpc>
                <a:spcPct val="90000"/>
              </a:lnSpc>
              <a:spcBef>
                <a:spcPct val="0"/>
              </a:spcBef>
              <a:buFont typeface="+mj-lt"/>
              <a:buAutoNum type="arabicPeriod" startAt="2"/>
              <a:defRPr/>
            </a:pPr>
            <a:r>
              <a:rPr lang="en-US" altLang="en-US" sz="2400" dirty="0">
                <a:solidFill>
                  <a:srgbClr val="FF0000"/>
                </a:solidFill>
              </a:rPr>
              <a:t>Progress: </a:t>
            </a:r>
            <a:r>
              <a:rPr lang="en-US" altLang="en-US" sz="2400" dirty="0"/>
              <a:t>If no process is executing in its critical section and there exist processes that wish to enter their critical section, then the </a:t>
            </a:r>
            <a:r>
              <a:rPr lang="en-US" altLang="en-US" sz="2400" dirty="0">
                <a:solidFill>
                  <a:schemeClr val="accent2"/>
                </a:solidFill>
              </a:rPr>
              <a:t>selection of the next process to enter the critical section cannot be postponed indefinitely</a:t>
            </a:r>
            <a:endParaRPr lang="en-US" altLang="en-US" dirty="0">
              <a:solidFill>
                <a:schemeClr val="accent2"/>
              </a:solidFill>
            </a:endParaRPr>
          </a:p>
          <a:p>
            <a:pPr marL="2343150" lvl="4" indent="-514350">
              <a:lnSpc>
                <a:spcPct val="90000"/>
              </a:lnSpc>
              <a:spcBef>
                <a:spcPct val="0"/>
              </a:spcBef>
              <a:defRPr/>
            </a:pPr>
            <a:endParaRPr lang="en-US" altLang="en-US" dirty="0"/>
          </a:p>
          <a:p>
            <a:pPr marL="1028700" lvl="1" indent="-514350">
              <a:lnSpc>
                <a:spcPct val="90000"/>
              </a:lnSpc>
              <a:buFont typeface="+mj-lt"/>
              <a:buAutoNum type="arabicPeriod" startAt="2"/>
              <a:defRPr/>
            </a:pPr>
            <a:r>
              <a:rPr lang="en-US" altLang="en-US" sz="2400" dirty="0">
                <a:solidFill>
                  <a:srgbClr val="FF0000"/>
                </a:solidFill>
              </a:rPr>
              <a:t>Bounded Waiting:</a:t>
            </a:r>
            <a:r>
              <a:rPr lang="en-US" altLang="en-US" sz="2400" dirty="0"/>
              <a:t>	After a process has requested to enter its critical section and before that request is granted, </a:t>
            </a:r>
            <a:r>
              <a:rPr lang="en-US" altLang="en-US" sz="2400" dirty="0">
                <a:solidFill>
                  <a:schemeClr val="accent2"/>
                </a:solidFill>
              </a:rPr>
              <a:t>other processes are allowed to enter their critical section only a bounded number of times</a:t>
            </a:r>
          </a:p>
          <a:p>
            <a:pPr marL="1028700" lvl="1" indent="-514350">
              <a:lnSpc>
                <a:spcPct val="90000"/>
              </a:lnSpc>
              <a:buFont typeface="+mj-lt"/>
              <a:buAutoNum type="arabicPeriod" startAt="2"/>
              <a:defRPr/>
            </a:pPr>
            <a:endParaRPr lang="en-US" altLang="en-US" sz="2400" dirty="0">
              <a:solidFill>
                <a:schemeClr val="accent2"/>
              </a:solidFill>
            </a:endParaRPr>
          </a:p>
          <a:p>
            <a:pPr marL="514350" lvl="1" indent="0">
              <a:lnSpc>
                <a:spcPct val="90000"/>
              </a:lnSpc>
              <a:buFontTx/>
              <a:buNone/>
              <a:defRPr/>
            </a:pPr>
            <a:r>
              <a:rPr lang="en-US" altLang="en-US" sz="2400" dirty="0">
                <a:solidFill>
                  <a:srgbClr val="FF0000"/>
                </a:solidFill>
              </a:rPr>
              <a:t>These two properties together ensure that a process is not stuck in the entry section forever</a:t>
            </a:r>
          </a:p>
        </p:txBody>
      </p:sp>
      <p:sp>
        <p:nvSpPr>
          <p:cNvPr id="6" name="Rectangle 4">
            <a:extLst>
              <a:ext uri="{FF2B5EF4-FFF2-40B4-BE49-F238E27FC236}">
                <a16:creationId xmlns:a16="http://schemas.microsoft.com/office/drawing/2014/main" id="{B6B7FF4F-7522-4A47-8B3D-D81A34B4E130}"/>
              </a:ext>
            </a:extLst>
          </p:cNvPr>
          <p:cNvSpPr>
            <a:spLocks noChangeArrowheads="1"/>
          </p:cNvSpPr>
          <p:nvPr/>
        </p:nvSpPr>
        <p:spPr bwMode="auto">
          <a:xfrm>
            <a:off x="684213" y="201613"/>
            <a:ext cx="7831137" cy="1004887"/>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 name="Rectangle 2">
            <a:extLst>
              <a:ext uri="{FF2B5EF4-FFF2-40B4-BE49-F238E27FC236}">
                <a16:creationId xmlns:a16="http://schemas.microsoft.com/office/drawing/2014/main" id="{E3987AD1-B8EB-4769-A36F-59BB480429BC}"/>
              </a:ext>
            </a:extLst>
          </p:cNvPr>
          <p:cNvSpPr txBox="1">
            <a:spLocks noChangeArrowheads="1"/>
          </p:cNvSpPr>
          <p:nvPr/>
        </p:nvSpPr>
        <p:spPr bwMode="auto">
          <a:xfrm>
            <a:off x="955675" y="495300"/>
            <a:ext cx="7283450" cy="457200"/>
          </a:xfrm>
          <a:prstGeom prst="rect">
            <a:avLst/>
          </a:prstGeom>
          <a:noFill/>
          <a:ln>
            <a:noFill/>
          </a:ln>
        </p:spPr>
        <p:txBody>
          <a:bodyPr anchor="ctr"/>
          <a:lst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a:lstStyle>
          <a:p>
            <a:pPr>
              <a:defRPr/>
            </a:pPr>
            <a:r>
              <a:rPr lang="en-US" altLang="en-US" kern="0" dirty="0"/>
              <a:t>Desired Properties of Solutions </a:t>
            </a:r>
            <a:br>
              <a:rPr lang="en-US" altLang="en-US" kern="0" dirty="0"/>
            </a:br>
            <a:r>
              <a:rPr lang="en-US" altLang="en-US" kern="0" dirty="0"/>
              <a:t>to the Critical-Section Problem (Cont.)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E14E8-F310-A2B9-E2DF-8A8B8D375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D8C68-4FC6-C958-C61C-F1F244EC4062}"/>
              </a:ext>
            </a:extLst>
          </p:cNvPr>
          <p:cNvSpPr>
            <a:spLocks noGrp="1"/>
          </p:cNvSpPr>
          <p:nvPr>
            <p:ph type="title"/>
          </p:nvPr>
        </p:nvSpPr>
        <p:spPr/>
        <p:txBody>
          <a:bodyPr/>
          <a:lstStyle/>
          <a:p>
            <a:r>
              <a:rPr lang="en-US" dirty="0"/>
              <a:t>Matching Exercise</a:t>
            </a:r>
          </a:p>
        </p:txBody>
      </p:sp>
      <p:sp>
        <p:nvSpPr>
          <p:cNvPr id="4" name="Footer Placeholder 3">
            <a:extLst>
              <a:ext uri="{FF2B5EF4-FFF2-40B4-BE49-F238E27FC236}">
                <a16:creationId xmlns:a16="http://schemas.microsoft.com/office/drawing/2014/main" id="{6ACFC55A-B6B1-5124-062B-A9841CED05C0}"/>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28B0612B-BF8D-E3F9-6CBB-434879CC02F7}"/>
                  </a:ext>
                </a:extLst>
              </p:cNvPr>
              <p:cNvGraphicFramePr>
                <a:graphicFrameLocks noGrp="1"/>
              </p:cNvGraphicFramePr>
              <p:nvPr>
                <p:extLst>
                  <p:ext uri="{D42A27DB-BD31-4B8C-83A1-F6EECF244321}">
                    <p14:modId xmlns:p14="http://schemas.microsoft.com/office/powerpoint/2010/main" val="406415399"/>
                  </p:ext>
                </p:extLst>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28B0612B-BF8D-E3F9-6CBB-434879CC02F7}"/>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3119174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084A5C6E-4467-4E69-B211-76C85003A3A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051" name="Rectangle 4">
            <a:extLst>
              <a:ext uri="{FF2B5EF4-FFF2-40B4-BE49-F238E27FC236}">
                <a16:creationId xmlns:a16="http://schemas.microsoft.com/office/drawing/2014/main" id="{1C31CBD1-32E0-49AC-A6DE-41EF812E0C0D}"/>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37891" name="Rectangle 2">
            <a:extLst>
              <a:ext uri="{FF2B5EF4-FFF2-40B4-BE49-F238E27FC236}">
                <a16:creationId xmlns:a16="http://schemas.microsoft.com/office/drawing/2014/main" id="{10B0C3DA-4669-4488-9CD8-AA336CEF864B}"/>
              </a:ext>
            </a:extLst>
          </p:cNvPr>
          <p:cNvSpPr>
            <a:spLocks noGrp="1" noChangeArrowheads="1"/>
          </p:cNvSpPr>
          <p:nvPr>
            <p:ph type="title"/>
          </p:nvPr>
        </p:nvSpPr>
        <p:spPr/>
        <p:txBody>
          <a:bodyPr/>
          <a:lstStyle/>
          <a:p>
            <a:r>
              <a:rPr lang="en-US" altLang="en-US"/>
              <a:t>Part 4:  Process Synchronization</a:t>
            </a:r>
          </a:p>
        </p:txBody>
      </p:sp>
      <p:sp>
        <p:nvSpPr>
          <p:cNvPr id="37892" name="Rectangle 3">
            <a:extLst>
              <a:ext uri="{FF2B5EF4-FFF2-40B4-BE49-F238E27FC236}">
                <a16:creationId xmlns:a16="http://schemas.microsoft.com/office/drawing/2014/main" id="{6BFFA7EA-A19F-4AB1-931E-E587FA91A267}"/>
              </a:ext>
            </a:extLst>
          </p:cNvPr>
          <p:cNvSpPr>
            <a:spLocks noGrp="1" noChangeArrowheads="1"/>
          </p:cNvSpPr>
          <p:nvPr>
            <p:ph type="body" idx="1"/>
          </p:nvPr>
        </p:nvSpPr>
        <p:spPr>
          <a:xfrm>
            <a:off x="1047750" y="1412875"/>
            <a:ext cx="7029450" cy="4546600"/>
          </a:xfrm>
        </p:spPr>
        <p:txBody>
          <a:bodyPr/>
          <a:lstStyle/>
          <a:p>
            <a:r>
              <a:rPr lang="en-US" altLang="en-US" sz="2800"/>
              <a:t>Race Condition &amp; Critical-Section</a:t>
            </a:r>
          </a:p>
          <a:p>
            <a:r>
              <a:rPr lang="en-US" altLang="en-US" sz="2800" b="1"/>
              <a:t>User-level Solutions</a:t>
            </a:r>
          </a:p>
          <a:p>
            <a:r>
              <a:rPr lang="en-US" altLang="en-US" sz="2800"/>
              <a:t>OS-level Solutions</a:t>
            </a:r>
          </a:p>
          <a:p>
            <a:pPr lvl="1"/>
            <a:r>
              <a:rPr lang="en-US" altLang="en-US" sz="2800"/>
              <a:t>Synchronization Hardware</a:t>
            </a:r>
          </a:p>
          <a:p>
            <a:pPr lvl="1"/>
            <a:r>
              <a:rPr lang="en-US" altLang="en-US" sz="2800"/>
              <a:t>Semaphores</a:t>
            </a:r>
          </a:p>
          <a:p>
            <a:r>
              <a:rPr lang="en-US" altLang="en-US" sz="2800"/>
              <a:t>Classical Problems of Synchronization</a:t>
            </a:r>
          </a:p>
          <a:p>
            <a:endParaRPr lang="en-US" alt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1421-6A4D-5341-364B-98D0E5D05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4FF1E-6CBE-CA13-8EE4-5E3B1020C199}"/>
              </a:ext>
            </a:extLst>
          </p:cNvPr>
          <p:cNvSpPr>
            <a:spLocks noGrp="1"/>
          </p:cNvSpPr>
          <p:nvPr>
            <p:ph type="title"/>
          </p:nvPr>
        </p:nvSpPr>
        <p:spPr>
          <a:xfrm>
            <a:off x="469558" y="495300"/>
            <a:ext cx="8068962" cy="457200"/>
          </a:xfrm>
        </p:spPr>
        <p:txBody>
          <a:bodyPr/>
          <a:lstStyle/>
          <a:p>
            <a:r>
              <a:rPr lang="en-US" dirty="0"/>
              <a:t>How Do People Synchronize for Coffee?</a:t>
            </a:r>
          </a:p>
        </p:txBody>
      </p:sp>
      <p:sp>
        <p:nvSpPr>
          <p:cNvPr id="4" name="Footer Placeholder 3">
            <a:extLst>
              <a:ext uri="{FF2B5EF4-FFF2-40B4-BE49-F238E27FC236}">
                <a16:creationId xmlns:a16="http://schemas.microsoft.com/office/drawing/2014/main" id="{CC2C712C-6BF2-BBEE-46F2-22F39FD3D65D}"/>
              </a:ext>
            </a:extLst>
          </p:cNvPr>
          <p:cNvSpPr>
            <a:spLocks noGrp="1"/>
          </p:cNvSpPr>
          <p:nvPr>
            <p:ph type="ftr" sz="quarter" idx="10"/>
          </p:nvPr>
        </p:nvSpPr>
        <p:spPr/>
        <p:txBody>
          <a:bodyPr/>
          <a:lstStyle/>
          <a:p>
            <a:pPr>
              <a:defRPr/>
            </a:pPr>
            <a:r>
              <a:rPr lang="en-US"/>
              <a:t>Operating Systems</a:t>
            </a:r>
          </a:p>
          <a:p>
            <a:pPr>
              <a:defRPr/>
            </a:pPr>
            <a:endParaRPr lang="en-US"/>
          </a:p>
        </p:txBody>
      </p:sp>
      <p:pic>
        <p:nvPicPr>
          <p:cNvPr id="1026" name="Picture 2" descr="A detailed illustration of a modern office break room where several people are lined up to use a sleek, high-tech coffee machine. The coffee machine is silver with multiple buttons and a digital display. The people in line are of diverse backgrounds and wearing business casual attire, without holding any coffee cups. Some people are casually chatting or checking their phones. The room has a cozy, friendly atmosphere with potted plants, comfortable seating, and a window letting in natural light.">
            <a:extLst>
              <a:ext uri="{FF2B5EF4-FFF2-40B4-BE49-F238E27FC236}">
                <a16:creationId xmlns:a16="http://schemas.microsoft.com/office/drawing/2014/main" id="{E18BCEF6-C053-AF1B-81C0-079FF75D3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5427" y="1551202"/>
            <a:ext cx="4473146" cy="4473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221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B82E-B825-EF38-75CB-57AE99FA21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9980EA-365F-8A26-EDB2-7DF1AA71957B}"/>
              </a:ext>
            </a:extLst>
          </p:cNvPr>
          <p:cNvSpPr>
            <a:spLocks noGrp="1"/>
          </p:cNvSpPr>
          <p:nvPr>
            <p:ph idx="1"/>
          </p:nvPr>
        </p:nvSpPr>
        <p:spPr>
          <a:xfrm>
            <a:off x="380484" y="1371600"/>
            <a:ext cx="8343385" cy="4114800"/>
          </a:xfrm>
        </p:spPr>
        <p:txBody>
          <a:bodyPr/>
          <a:lstStyle/>
          <a:p>
            <a:r>
              <a:rPr lang="en-GB" b="1" dirty="0"/>
              <a:t>Indicating Interest</a:t>
            </a:r>
            <a:endParaRPr lang="en-GB" dirty="0"/>
          </a:p>
          <a:p>
            <a:pPr lvl="1">
              <a:buFont typeface="Arial" panose="020B0604020202020204" pitchFamily="34" charset="0"/>
              <a:buChar char="•"/>
            </a:pPr>
            <a:r>
              <a:rPr lang="en-GB" dirty="0"/>
              <a:t>Employees </a:t>
            </a:r>
            <a:r>
              <a:rPr lang="en-GB" b="1" dirty="0"/>
              <a:t>line up</a:t>
            </a:r>
            <a:r>
              <a:rPr lang="en-GB" dirty="0"/>
              <a:t> near the coffee machine, showing they want to use it.</a:t>
            </a:r>
          </a:p>
          <a:p>
            <a:pPr lvl="1">
              <a:buFont typeface="Arial" panose="020B0604020202020204" pitchFamily="34" charset="0"/>
              <a:buChar char="•"/>
            </a:pPr>
            <a:r>
              <a:rPr lang="en-GB" dirty="0"/>
              <a:t>Prevents multiple employees from crowding the machine at once.</a:t>
            </a:r>
          </a:p>
          <a:p>
            <a:pPr lvl="1">
              <a:buFont typeface="Arial" panose="020B0604020202020204" pitchFamily="34" charset="0"/>
              <a:buChar char="•"/>
            </a:pPr>
            <a:endParaRPr lang="en-GB" dirty="0"/>
          </a:p>
          <a:p>
            <a:r>
              <a:rPr lang="en-GB" b="1" dirty="0"/>
              <a:t>Giving Turns</a:t>
            </a:r>
            <a:endParaRPr lang="en-GB" dirty="0"/>
          </a:p>
          <a:p>
            <a:pPr lvl="1">
              <a:buFont typeface="Arial" panose="020B0604020202020204" pitchFamily="34" charset="0"/>
              <a:buChar char="•"/>
            </a:pPr>
            <a:r>
              <a:rPr lang="en-GB" dirty="0"/>
              <a:t>The employee at the </a:t>
            </a:r>
            <a:r>
              <a:rPr lang="en-GB" b="1" dirty="0"/>
              <a:t>front of the line</a:t>
            </a:r>
            <a:r>
              <a:rPr lang="en-GB" dirty="0"/>
              <a:t> gets to use the machine first.</a:t>
            </a:r>
          </a:p>
          <a:p>
            <a:pPr lvl="1">
              <a:buFont typeface="Arial" panose="020B0604020202020204" pitchFamily="34" charset="0"/>
              <a:buChar char="•"/>
            </a:pPr>
            <a:r>
              <a:rPr lang="en-GB" dirty="0"/>
              <a:t>Each employee gets a fair chance to use the coffee machine w/o chaos.</a:t>
            </a:r>
          </a:p>
          <a:p>
            <a:pPr lvl="1">
              <a:buFont typeface="Arial" panose="020B0604020202020204" pitchFamily="34" charset="0"/>
              <a:buChar char="•"/>
            </a:pPr>
            <a:endParaRPr lang="en-GB" dirty="0"/>
          </a:p>
          <a:p>
            <a:r>
              <a:rPr lang="en-GB" b="1" dirty="0"/>
              <a:t>Ordering Processes</a:t>
            </a:r>
            <a:endParaRPr lang="en-GB" dirty="0"/>
          </a:p>
          <a:p>
            <a:pPr lvl="1">
              <a:buFont typeface="Arial" panose="020B0604020202020204" pitchFamily="34" charset="0"/>
              <a:buChar char="•"/>
            </a:pPr>
            <a:r>
              <a:rPr lang="en-GB" dirty="0"/>
              <a:t>The order in the </a:t>
            </a:r>
            <a:r>
              <a:rPr lang="en-GB" b="1" dirty="0"/>
              <a:t>line</a:t>
            </a:r>
            <a:r>
              <a:rPr lang="en-GB" dirty="0"/>
              <a:t> determines who uses the machine next.</a:t>
            </a:r>
          </a:p>
          <a:p>
            <a:pPr lvl="1">
              <a:buFont typeface="Arial" panose="020B0604020202020204" pitchFamily="34" charset="0"/>
              <a:buChar char="•"/>
            </a:pPr>
            <a:r>
              <a:rPr lang="en-GB" dirty="0"/>
              <a:t>Prevents employees from waiting indefinitely by respecting the line order.</a:t>
            </a:r>
          </a:p>
          <a:p>
            <a:endParaRPr lang="en-US" dirty="0"/>
          </a:p>
        </p:txBody>
      </p:sp>
      <p:sp>
        <p:nvSpPr>
          <p:cNvPr id="4" name="Footer Placeholder 3">
            <a:extLst>
              <a:ext uri="{FF2B5EF4-FFF2-40B4-BE49-F238E27FC236}">
                <a16:creationId xmlns:a16="http://schemas.microsoft.com/office/drawing/2014/main" id="{387A0FE9-8A69-97D4-6247-969A059642D4}"/>
              </a:ext>
            </a:extLst>
          </p:cNvPr>
          <p:cNvSpPr>
            <a:spLocks noGrp="1"/>
          </p:cNvSpPr>
          <p:nvPr>
            <p:ph type="ftr" sz="quarter" idx="10"/>
          </p:nvPr>
        </p:nvSpPr>
        <p:spPr/>
        <p:txBody>
          <a:bodyPr/>
          <a:lstStyle/>
          <a:p>
            <a:pPr>
              <a:defRPr/>
            </a:pPr>
            <a:r>
              <a:rPr lang="en-US"/>
              <a:t>Operating Systems</a:t>
            </a:r>
          </a:p>
          <a:p>
            <a:pPr>
              <a:defRPr/>
            </a:pPr>
            <a:endParaRPr lang="en-US"/>
          </a:p>
        </p:txBody>
      </p:sp>
      <p:sp>
        <p:nvSpPr>
          <p:cNvPr id="7" name="Title 1">
            <a:extLst>
              <a:ext uri="{FF2B5EF4-FFF2-40B4-BE49-F238E27FC236}">
                <a16:creationId xmlns:a16="http://schemas.microsoft.com/office/drawing/2014/main" id="{E471CECD-ABEB-64EA-67A0-D7D988E4969C}"/>
              </a:ext>
            </a:extLst>
          </p:cNvPr>
          <p:cNvSpPr>
            <a:spLocks noGrp="1"/>
          </p:cNvSpPr>
          <p:nvPr>
            <p:ph type="title"/>
          </p:nvPr>
        </p:nvSpPr>
        <p:spPr>
          <a:xfrm>
            <a:off x="469558" y="495300"/>
            <a:ext cx="8068962" cy="457200"/>
          </a:xfrm>
        </p:spPr>
        <p:txBody>
          <a:bodyPr/>
          <a:lstStyle/>
          <a:p>
            <a:r>
              <a:rPr lang="en-US" dirty="0"/>
              <a:t>How Do People Synchronize for Coffee?</a:t>
            </a:r>
          </a:p>
        </p:txBody>
      </p:sp>
    </p:spTree>
    <p:extLst>
      <p:ext uri="{BB962C8B-B14F-4D97-AF65-F5344CB8AC3E}">
        <p14:creationId xmlns:p14="http://schemas.microsoft.com/office/powerpoint/2010/main" val="2507441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1">
            <a:extLst>
              <a:ext uri="{FF2B5EF4-FFF2-40B4-BE49-F238E27FC236}">
                <a16:creationId xmlns:a16="http://schemas.microsoft.com/office/drawing/2014/main" id="{B482F498-269D-4768-AD94-4A432D2CD74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3315" name="Rectangle 2">
            <a:extLst>
              <a:ext uri="{FF2B5EF4-FFF2-40B4-BE49-F238E27FC236}">
                <a16:creationId xmlns:a16="http://schemas.microsoft.com/office/drawing/2014/main" id="{03272429-A0D4-4CD4-8341-07A899C179E6}"/>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39939" name="Rectangle 4">
            <a:extLst>
              <a:ext uri="{FF2B5EF4-FFF2-40B4-BE49-F238E27FC236}">
                <a16:creationId xmlns:a16="http://schemas.microsoft.com/office/drawing/2014/main" id="{9C35FBDD-4F5B-47B9-89FB-D1959A99FB70}"/>
              </a:ext>
            </a:extLst>
          </p:cNvPr>
          <p:cNvSpPr>
            <a:spLocks noChangeArrowheads="1"/>
          </p:cNvSpPr>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b="1">
                <a:solidFill>
                  <a:schemeClr val="tx2"/>
                </a:solidFill>
              </a:rPr>
              <a:t>Initial Attempts to Solve the Problem</a:t>
            </a:r>
          </a:p>
        </p:txBody>
      </p:sp>
      <p:sp>
        <p:nvSpPr>
          <p:cNvPr id="39940" name="Rectangle 6">
            <a:extLst>
              <a:ext uri="{FF2B5EF4-FFF2-40B4-BE49-F238E27FC236}">
                <a16:creationId xmlns:a16="http://schemas.microsoft.com/office/drawing/2014/main" id="{0F23A288-C8B9-4A29-A60A-9DE3CEDE1C4E}"/>
              </a:ext>
            </a:extLst>
          </p:cNvPr>
          <p:cNvSpPr>
            <a:spLocks noChangeArrowheads="1"/>
          </p:cNvSpPr>
          <p:nvPr/>
        </p:nvSpPr>
        <p:spPr bwMode="auto">
          <a:xfrm>
            <a:off x="403225" y="1154113"/>
            <a:ext cx="8397875"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tabLst>
                <a:tab pos="2286000" algn="l"/>
                <a:tab pos="2630488" algn="l"/>
                <a:tab pos="2911475" algn="l"/>
              </a:tabLst>
              <a:defRPr>
                <a:solidFill>
                  <a:schemeClr val="tx1"/>
                </a:solidFill>
                <a:latin typeface="Helvetica" panose="020B0604020202020204" pitchFamily="34" charset="0"/>
              </a:defRPr>
            </a:lvl1pPr>
            <a:lvl2pPr marL="742950" indent="-285750">
              <a:spcBef>
                <a:spcPct val="20000"/>
              </a:spcBef>
              <a:buChar char="–"/>
              <a:tabLst>
                <a:tab pos="2286000" algn="l"/>
                <a:tab pos="2630488" algn="l"/>
                <a:tab pos="29114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2286000" algn="l"/>
                <a:tab pos="2630488" algn="l"/>
                <a:tab pos="2911475" algn="l"/>
              </a:tabLst>
              <a:defRPr i="1">
                <a:solidFill>
                  <a:schemeClr val="tx1"/>
                </a:solidFill>
                <a:latin typeface="Helvetica" panose="020B0604020202020204" pitchFamily="34" charset="0"/>
              </a:defRPr>
            </a:lvl3pPr>
            <a:lvl4pPr marL="1600200" indent="-228600">
              <a:spcBef>
                <a:spcPct val="20000"/>
              </a:spcBef>
              <a:buChar char="–"/>
              <a:tabLst>
                <a:tab pos="2286000" algn="l"/>
                <a:tab pos="2630488" algn="l"/>
                <a:tab pos="2911475" algn="l"/>
              </a:tabLst>
              <a:defRPr>
                <a:solidFill>
                  <a:schemeClr val="tx1"/>
                </a:solidFill>
                <a:latin typeface="Helvetica" panose="020B0604020202020204" pitchFamily="34" charset="0"/>
              </a:defRPr>
            </a:lvl4pPr>
            <a:lvl5pPr marL="2057400" indent="-228600">
              <a:spcBef>
                <a:spcPct val="20000"/>
              </a:spcBef>
              <a:buChar char="»"/>
              <a:tabLst>
                <a:tab pos="2286000" algn="l"/>
                <a:tab pos="2630488" algn="l"/>
                <a:tab pos="2911475" algn="l"/>
              </a:tabLst>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2286000" algn="l"/>
                <a:tab pos="2630488" algn="l"/>
                <a:tab pos="2911475" algn="l"/>
              </a:tabLst>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2286000" algn="l"/>
                <a:tab pos="2630488" algn="l"/>
                <a:tab pos="2911475" algn="l"/>
              </a:tabLst>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2286000" algn="l"/>
                <a:tab pos="2630488" algn="l"/>
                <a:tab pos="2911475" algn="l"/>
              </a:tabLst>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2286000" algn="l"/>
                <a:tab pos="2630488" algn="l"/>
                <a:tab pos="2911475" algn="l"/>
              </a:tabLst>
              <a:defRPr sz="1200">
                <a:solidFill>
                  <a:schemeClr val="tx1"/>
                </a:solidFill>
                <a:latin typeface="Helvetica" panose="020B0604020202020204" pitchFamily="34" charset="0"/>
              </a:defRPr>
            </a:lvl9pPr>
          </a:lstStyle>
          <a:p>
            <a:pPr>
              <a:lnSpc>
                <a:spcPct val="90000"/>
              </a:lnSpc>
              <a:spcBef>
                <a:spcPts val="600"/>
              </a:spcBef>
            </a:pPr>
            <a:r>
              <a:rPr lang="en-US" altLang="en-US" sz="2400"/>
              <a:t>Generic structure of process</a:t>
            </a:r>
          </a:p>
          <a:p>
            <a:pPr>
              <a:lnSpc>
                <a:spcPct val="90000"/>
              </a:lnSpc>
              <a:buFontTx/>
              <a:buNone/>
            </a:pPr>
            <a:r>
              <a:rPr lang="en-US" altLang="en-US" sz="2400"/>
              <a:t>		while (1){</a:t>
            </a:r>
            <a:endParaRPr lang="en-US" altLang="en-US" sz="2400" b="1"/>
          </a:p>
          <a:p>
            <a:pPr>
              <a:lnSpc>
                <a:spcPct val="90000"/>
              </a:lnSpc>
              <a:buFontTx/>
              <a:buNone/>
            </a:pPr>
            <a:r>
              <a:rPr lang="en-US" altLang="en-US" sz="2400"/>
              <a:t>			</a:t>
            </a:r>
            <a:r>
              <a:rPr lang="en-US" altLang="en-US" sz="2400" i="1"/>
              <a:t>entry section</a:t>
            </a:r>
          </a:p>
          <a:p>
            <a:pPr>
              <a:lnSpc>
                <a:spcPct val="90000"/>
              </a:lnSpc>
              <a:buFontTx/>
              <a:buNone/>
            </a:pPr>
            <a:r>
              <a:rPr lang="en-US" altLang="en-US" sz="2400"/>
              <a:t>				critical sections</a:t>
            </a:r>
          </a:p>
          <a:p>
            <a:pPr>
              <a:lnSpc>
                <a:spcPct val="90000"/>
              </a:lnSpc>
              <a:buFontTx/>
              <a:buNone/>
            </a:pPr>
            <a:r>
              <a:rPr lang="en-US" altLang="en-US" sz="2400"/>
              <a:t>			</a:t>
            </a:r>
            <a:r>
              <a:rPr lang="en-US" altLang="en-US" sz="2400" i="1"/>
              <a:t>exit section</a:t>
            </a:r>
            <a:endParaRPr lang="en-US" altLang="en-US" sz="2400"/>
          </a:p>
          <a:p>
            <a:pPr>
              <a:lnSpc>
                <a:spcPct val="90000"/>
              </a:lnSpc>
              <a:buFontTx/>
              <a:buNone/>
            </a:pPr>
            <a:r>
              <a:rPr lang="en-US" altLang="en-US" sz="2400"/>
              <a:t>			remainder section</a:t>
            </a:r>
          </a:p>
          <a:p>
            <a:pPr>
              <a:lnSpc>
                <a:spcPct val="90000"/>
              </a:lnSpc>
              <a:buFontTx/>
              <a:buNone/>
            </a:pPr>
            <a:r>
              <a:rPr lang="en-US" altLang="en-US" sz="2400"/>
              <a:t>		}</a:t>
            </a:r>
            <a:endParaRPr lang="en-US" altLang="en-US"/>
          </a:p>
          <a:p>
            <a:pPr>
              <a:lnSpc>
                <a:spcPct val="90000"/>
              </a:lnSpc>
              <a:spcBef>
                <a:spcPts val="600"/>
              </a:spcBef>
            </a:pPr>
            <a:r>
              <a:rPr lang="en-US" altLang="en-US" sz="2400"/>
              <a:t>We start with only 2  processes </a:t>
            </a:r>
            <a:r>
              <a:rPr lang="en-US" altLang="en-US" sz="2400" i="1"/>
              <a:t>P</a:t>
            </a:r>
            <a:r>
              <a:rPr lang="en-US" altLang="en-US" sz="2400" baseline="-25000"/>
              <a:t>0</a:t>
            </a:r>
            <a:r>
              <a:rPr lang="en-US" altLang="en-US" sz="2400"/>
              <a:t> and </a:t>
            </a:r>
            <a:r>
              <a:rPr lang="en-US" altLang="en-US" sz="2400" i="1"/>
              <a:t>P</a:t>
            </a:r>
            <a:r>
              <a:rPr lang="en-US" altLang="en-US" sz="2400" baseline="-25000"/>
              <a:t>1</a:t>
            </a:r>
            <a:endParaRPr lang="en-US" altLang="en-US" sz="2400">
              <a:solidFill>
                <a:srgbClr val="FF0000"/>
              </a:solidFill>
            </a:endParaRPr>
          </a:p>
          <a:p>
            <a:pPr lvl="1">
              <a:lnSpc>
                <a:spcPct val="90000"/>
              </a:lnSpc>
              <a:spcBef>
                <a:spcPts val="600"/>
              </a:spcBef>
            </a:pPr>
            <a:r>
              <a:rPr lang="en-US" altLang="en-US" sz="2000"/>
              <a:t>Although P</a:t>
            </a:r>
            <a:r>
              <a:rPr lang="en-US" altLang="en-US" sz="2000" baseline="-25000"/>
              <a:t>0</a:t>
            </a:r>
            <a:r>
              <a:rPr lang="en-US" altLang="en-US" sz="2000"/>
              <a:t> and P</a:t>
            </a:r>
            <a:r>
              <a:rPr lang="en-US" altLang="en-US" sz="2000" baseline="-25000"/>
              <a:t>1</a:t>
            </a:r>
            <a:r>
              <a:rPr lang="en-US" altLang="en-US" sz="2000"/>
              <a:t> have the same generic structure, they may have </a:t>
            </a:r>
            <a:r>
              <a:rPr lang="en-US" altLang="en-US" sz="2000">
                <a:solidFill>
                  <a:schemeClr val="accent2"/>
                </a:solidFill>
              </a:rPr>
              <a:t>different implementations for the four sections</a:t>
            </a:r>
          </a:p>
          <a:p>
            <a:pPr lvl="4">
              <a:lnSpc>
                <a:spcPct val="90000"/>
              </a:lnSpc>
              <a:spcBef>
                <a:spcPts val="600"/>
              </a:spcBef>
            </a:pPr>
            <a:endParaRPr lang="en-US" altLang="en-US" sz="1400"/>
          </a:p>
          <a:p>
            <a:pPr>
              <a:lnSpc>
                <a:spcPct val="90000"/>
              </a:lnSpc>
              <a:spcBef>
                <a:spcPts val="600"/>
              </a:spcBef>
            </a:pPr>
            <a:r>
              <a:rPr lang="en-US" altLang="en-US" sz="2400">
                <a:solidFill>
                  <a:srgbClr val="FF0000"/>
                </a:solidFill>
              </a:rPr>
              <a:t>We look at user-level software approaches w/o OS support</a:t>
            </a:r>
          </a:p>
        </p:txBody>
      </p:sp>
      <p:sp>
        <p:nvSpPr>
          <p:cNvPr id="39941" name="Rectangle 5">
            <a:extLst>
              <a:ext uri="{FF2B5EF4-FFF2-40B4-BE49-F238E27FC236}">
                <a16:creationId xmlns:a16="http://schemas.microsoft.com/office/drawing/2014/main" id="{FCC4BECD-046B-4DF2-BB24-68557E523B23}"/>
              </a:ext>
            </a:extLst>
          </p:cNvPr>
          <p:cNvSpPr>
            <a:spLocks noChangeArrowheads="1"/>
          </p:cNvSpPr>
          <p:nvPr/>
        </p:nvSpPr>
        <p:spPr bwMode="auto">
          <a:xfrm>
            <a:off x="2959100" y="2135188"/>
            <a:ext cx="2401888" cy="481012"/>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39942" name="Rectangle 5">
            <a:extLst>
              <a:ext uri="{FF2B5EF4-FFF2-40B4-BE49-F238E27FC236}">
                <a16:creationId xmlns:a16="http://schemas.microsoft.com/office/drawing/2014/main" id="{F01C6EF7-DB28-448F-A18E-5A4B3FA8EB83}"/>
              </a:ext>
            </a:extLst>
          </p:cNvPr>
          <p:cNvSpPr>
            <a:spLocks noChangeArrowheads="1"/>
          </p:cNvSpPr>
          <p:nvPr/>
        </p:nvSpPr>
        <p:spPr bwMode="auto">
          <a:xfrm>
            <a:off x="2959100" y="3130550"/>
            <a:ext cx="2401888" cy="481013"/>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DC3B6640-D594-4788-9C04-3C3E1B9B17F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4339" name="Rectangle 6">
            <a:extLst>
              <a:ext uri="{FF2B5EF4-FFF2-40B4-BE49-F238E27FC236}">
                <a16:creationId xmlns:a16="http://schemas.microsoft.com/office/drawing/2014/main" id="{080E2120-3ABE-4BD9-938E-B89A81B2C002}"/>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41987" name="Rectangle 2">
            <a:extLst>
              <a:ext uri="{FF2B5EF4-FFF2-40B4-BE49-F238E27FC236}">
                <a16:creationId xmlns:a16="http://schemas.microsoft.com/office/drawing/2014/main" id="{9821B580-8A03-4D35-A0F3-92F5709E2685}"/>
              </a:ext>
            </a:extLst>
          </p:cNvPr>
          <p:cNvSpPr>
            <a:spLocks noGrp="1" noChangeArrowheads="1"/>
          </p:cNvSpPr>
          <p:nvPr>
            <p:ph type="title"/>
          </p:nvPr>
        </p:nvSpPr>
        <p:spPr/>
        <p:txBody>
          <a:bodyPr/>
          <a:lstStyle/>
          <a:p>
            <a:r>
              <a:rPr lang="en-US" altLang="en-US"/>
              <a:t>Algorithm 1</a:t>
            </a:r>
          </a:p>
        </p:txBody>
      </p:sp>
      <p:sp>
        <p:nvSpPr>
          <p:cNvPr id="39940" name="Rectangle 3">
            <a:extLst>
              <a:ext uri="{FF2B5EF4-FFF2-40B4-BE49-F238E27FC236}">
                <a16:creationId xmlns:a16="http://schemas.microsoft.com/office/drawing/2014/main" id="{E20765D5-8CB9-44DD-AB5D-6B005B0ABBAB}"/>
              </a:ext>
            </a:extLst>
          </p:cNvPr>
          <p:cNvSpPr>
            <a:spLocks noGrp="1" noChangeArrowheads="1"/>
          </p:cNvSpPr>
          <p:nvPr>
            <p:ph type="body" idx="1"/>
          </p:nvPr>
        </p:nvSpPr>
        <p:spPr>
          <a:xfrm>
            <a:off x="174625" y="1277938"/>
            <a:ext cx="6340475" cy="4865687"/>
          </a:xfrm>
        </p:spPr>
        <p:txBody>
          <a:bodyPr/>
          <a:lstStyle/>
          <a:p>
            <a:pPr>
              <a:tabLst>
                <a:tab pos="2005013" algn="l"/>
                <a:tab pos="2339975" algn="l"/>
                <a:tab pos="2630488" algn="l"/>
              </a:tabLst>
              <a:defRPr/>
            </a:pPr>
            <a:r>
              <a:rPr lang="en-US" altLang="en-US" sz="2800" dirty="0"/>
              <a:t>Variable shared between processes: </a:t>
            </a:r>
            <a:r>
              <a:rPr lang="en-US" altLang="en-US" sz="2800" b="1" dirty="0" err="1">
                <a:solidFill>
                  <a:schemeClr val="accent1">
                    <a:lumMod val="75000"/>
                  </a:schemeClr>
                </a:solidFill>
              </a:rPr>
              <a:t>int</a:t>
            </a:r>
            <a:r>
              <a:rPr lang="en-US" altLang="en-US" sz="2800" b="1" dirty="0">
                <a:solidFill>
                  <a:schemeClr val="accent1">
                    <a:lumMod val="75000"/>
                  </a:schemeClr>
                </a:solidFill>
              </a:rPr>
              <a:t> </a:t>
            </a:r>
            <a:r>
              <a:rPr lang="en-US" altLang="en-US" sz="2800" b="1" i="1" dirty="0">
                <a:solidFill>
                  <a:schemeClr val="accent1">
                    <a:lumMod val="75000"/>
                  </a:schemeClr>
                </a:solidFill>
              </a:rPr>
              <a:t>turn</a:t>
            </a:r>
            <a:r>
              <a:rPr lang="en-US" altLang="en-US" sz="2800" b="1" dirty="0">
                <a:solidFill>
                  <a:schemeClr val="accent1">
                    <a:lumMod val="75000"/>
                  </a:schemeClr>
                </a:solidFill>
              </a:rPr>
              <a:t>;</a:t>
            </a:r>
            <a:r>
              <a:rPr lang="en-US" altLang="en-US" sz="2800" dirty="0"/>
              <a:t> // initially turn=0</a:t>
            </a:r>
          </a:p>
          <a:p>
            <a:pPr lvl="1">
              <a:tabLst>
                <a:tab pos="2005013" algn="l"/>
                <a:tab pos="2339975" algn="l"/>
                <a:tab pos="2630488" algn="l"/>
              </a:tabLst>
              <a:defRPr/>
            </a:pPr>
            <a:r>
              <a:rPr lang="en-US" altLang="en-US" sz="2400" i="1" dirty="0">
                <a:solidFill>
                  <a:srgbClr val="FF0000"/>
                </a:solidFill>
              </a:rPr>
              <a:t>turn</a:t>
            </a:r>
            <a:r>
              <a:rPr lang="en-US" altLang="en-US" sz="2400" dirty="0">
                <a:solidFill>
                  <a:srgbClr val="FF0000"/>
                </a:solidFill>
              </a:rPr>
              <a:t> = </a:t>
            </a:r>
            <a:r>
              <a:rPr lang="en-US" altLang="en-US" sz="2400" i="1" dirty="0" err="1">
                <a:solidFill>
                  <a:srgbClr val="FF0000"/>
                </a:solidFill>
              </a:rPr>
              <a:t>i</a:t>
            </a:r>
            <a:r>
              <a:rPr lang="en-US" altLang="en-US" sz="2400" dirty="0">
                <a:solidFill>
                  <a:srgbClr val="FF0000"/>
                </a:solidFill>
              </a:rPr>
              <a:t> </a:t>
            </a:r>
            <a:r>
              <a:rPr lang="en-US" altLang="en-US" sz="2400" dirty="0">
                <a:solidFill>
                  <a:srgbClr val="FF0000"/>
                </a:solidFill>
                <a:sym typeface="Symbol" charset="2"/>
              </a:rPr>
              <a:t> </a:t>
            </a:r>
            <a:r>
              <a:rPr lang="en-US" altLang="en-US" sz="2400" i="1" dirty="0">
                <a:solidFill>
                  <a:srgbClr val="FF0000"/>
                </a:solidFill>
                <a:sym typeface="Symbol" charset="2"/>
              </a:rPr>
              <a:t>P</a:t>
            </a:r>
            <a:r>
              <a:rPr lang="en-US" altLang="en-US" sz="2400" i="1" baseline="-25000" dirty="0">
                <a:solidFill>
                  <a:srgbClr val="FF0000"/>
                </a:solidFill>
                <a:sym typeface="Symbol" charset="2"/>
              </a:rPr>
              <a:t>i</a:t>
            </a:r>
            <a:r>
              <a:rPr lang="en-US" altLang="en-US" sz="2400" dirty="0">
                <a:solidFill>
                  <a:srgbClr val="FF0000"/>
                </a:solidFill>
                <a:sym typeface="Symbol" charset="2"/>
              </a:rPr>
              <a:t> can enter critical section</a:t>
            </a:r>
          </a:p>
          <a:p>
            <a:pPr lvl="4">
              <a:tabLst>
                <a:tab pos="2005013" algn="l"/>
                <a:tab pos="2339975" algn="l"/>
                <a:tab pos="2630488" algn="l"/>
              </a:tabLst>
              <a:defRPr/>
            </a:pPr>
            <a:endParaRPr lang="en-US" altLang="en-US" dirty="0"/>
          </a:p>
          <a:p>
            <a:pPr>
              <a:tabLst>
                <a:tab pos="2005013" algn="l"/>
                <a:tab pos="2339975" algn="l"/>
                <a:tab pos="2630488" algn="l"/>
              </a:tabLst>
              <a:defRPr/>
            </a:pPr>
            <a:r>
              <a:rPr lang="en-US" altLang="en-US" sz="2400" dirty="0"/>
              <a:t>Process </a:t>
            </a:r>
            <a:r>
              <a:rPr lang="en-US" altLang="en-US" sz="2400" i="1" dirty="0"/>
              <a:t>P</a:t>
            </a:r>
            <a:r>
              <a:rPr lang="en-US" altLang="en-US" sz="2400" i="1" baseline="-25000" dirty="0"/>
              <a:t>i </a:t>
            </a:r>
            <a:r>
              <a:rPr lang="en-US" altLang="en-US" sz="2400" dirty="0"/>
              <a:t>:  while (1){</a:t>
            </a:r>
          </a:p>
          <a:p>
            <a:pPr>
              <a:buFontTx/>
              <a:buNone/>
              <a:tabLst>
                <a:tab pos="2005013" algn="l"/>
                <a:tab pos="2339975" algn="l"/>
                <a:tab pos="2630488" algn="l"/>
              </a:tabLst>
              <a:defRPr/>
            </a:pPr>
            <a:r>
              <a:rPr lang="en-US" altLang="en-US" sz="2400" dirty="0"/>
              <a:t>			while (</a:t>
            </a:r>
            <a:r>
              <a:rPr lang="en-US" altLang="en-US" sz="2400" i="1" dirty="0"/>
              <a:t>turn</a:t>
            </a:r>
            <a:r>
              <a:rPr lang="en-US" altLang="en-US" sz="2400" dirty="0"/>
              <a:t> !=</a:t>
            </a:r>
            <a:r>
              <a:rPr lang="en-US" altLang="en-US" sz="2400" dirty="0">
                <a:sym typeface="Symbol" charset="2"/>
              </a:rPr>
              <a:t> </a:t>
            </a:r>
            <a:r>
              <a:rPr lang="en-US" altLang="en-US" sz="2400" i="1" dirty="0" err="1">
                <a:sym typeface="Symbol" charset="2"/>
              </a:rPr>
              <a:t>i</a:t>
            </a:r>
            <a:r>
              <a:rPr lang="en-US" altLang="en-US" sz="2400" dirty="0">
                <a:sym typeface="Symbol" charset="2"/>
              </a:rPr>
              <a:t> )</a:t>
            </a:r>
            <a:r>
              <a:rPr lang="en-US" altLang="en-US" sz="2400" b="1" dirty="0">
                <a:sym typeface="Symbol" charset="2"/>
              </a:rPr>
              <a:t>;</a:t>
            </a:r>
          </a:p>
          <a:p>
            <a:pPr>
              <a:buFontTx/>
              <a:buNone/>
              <a:tabLst>
                <a:tab pos="2005013" algn="l"/>
                <a:tab pos="2339975" algn="l"/>
                <a:tab pos="2630488" algn="l"/>
              </a:tabLst>
              <a:defRPr/>
            </a:pPr>
            <a:r>
              <a:rPr lang="en-US" altLang="en-US" sz="2400" dirty="0">
                <a:sym typeface="Symbol" charset="2"/>
              </a:rPr>
              <a:t>				critical section</a:t>
            </a:r>
          </a:p>
          <a:p>
            <a:pPr>
              <a:buFontTx/>
              <a:buNone/>
              <a:tabLst>
                <a:tab pos="2005013" algn="l"/>
                <a:tab pos="2339975" algn="l"/>
                <a:tab pos="2630488" algn="l"/>
              </a:tabLst>
              <a:defRPr/>
            </a:pPr>
            <a:r>
              <a:rPr lang="en-US" altLang="en-US" sz="2400" dirty="0">
                <a:sym typeface="Symbol" charset="2"/>
              </a:rPr>
              <a:t>			</a:t>
            </a:r>
            <a:r>
              <a:rPr lang="en-US" altLang="en-US" sz="2400" i="1" dirty="0">
                <a:sym typeface="Symbol" charset="2"/>
              </a:rPr>
              <a:t>turn</a:t>
            </a:r>
            <a:r>
              <a:rPr lang="en-US" altLang="en-US" sz="2400" dirty="0">
                <a:sym typeface="Symbol" charset="2"/>
              </a:rPr>
              <a:t> =</a:t>
            </a:r>
            <a:r>
              <a:rPr lang="en-US" altLang="en-US" sz="2400" i="1" dirty="0">
                <a:sym typeface="Symbol" charset="2"/>
              </a:rPr>
              <a:t> k</a:t>
            </a:r>
            <a:r>
              <a:rPr lang="en-US" altLang="en-US" sz="2400" dirty="0">
                <a:sym typeface="Symbol" charset="2"/>
              </a:rPr>
              <a:t>;</a:t>
            </a:r>
          </a:p>
          <a:p>
            <a:pPr>
              <a:buFontTx/>
              <a:buNone/>
              <a:tabLst>
                <a:tab pos="2005013" algn="l"/>
                <a:tab pos="2339975" algn="l"/>
                <a:tab pos="2630488" algn="l"/>
              </a:tabLst>
              <a:defRPr/>
            </a:pPr>
            <a:r>
              <a:rPr lang="en-US" altLang="en-US" sz="2400" dirty="0">
                <a:sym typeface="Symbol" charset="2"/>
              </a:rPr>
              <a:t>				remainder section</a:t>
            </a:r>
          </a:p>
          <a:p>
            <a:pPr>
              <a:buFontTx/>
              <a:buNone/>
              <a:tabLst>
                <a:tab pos="2005013" algn="l"/>
                <a:tab pos="2339975" algn="l"/>
                <a:tab pos="2630488" algn="l"/>
              </a:tabLst>
              <a:defRPr/>
            </a:pPr>
            <a:r>
              <a:rPr lang="en-US" altLang="en-US" sz="2400" dirty="0">
                <a:sym typeface="Symbol" charset="2"/>
              </a:rPr>
              <a:t>		}</a:t>
            </a:r>
            <a:endParaRPr lang="en-US" altLang="en-US" sz="2400" dirty="0"/>
          </a:p>
        </p:txBody>
      </p:sp>
      <p:pic>
        <p:nvPicPr>
          <p:cNvPr id="9" name="Picture 8">
            <a:extLst>
              <a:ext uri="{FF2B5EF4-FFF2-40B4-BE49-F238E27FC236}">
                <a16:creationId xmlns:a16="http://schemas.microsoft.com/office/drawing/2014/main" id="{7DA903FE-FC4A-421C-BF4C-C781722406C2}"/>
              </a:ext>
            </a:extLst>
          </p:cNvPr>
          <p:cNvPicPr>
            <a:picLocks noChangeAspect="1" noChangeArrowheads="1"/>
          </p:cNvPicPr>
          <p:nvPr/>
        </p:nvPicPr>
        <p:blipFill>
          <a:blip r:embed="rId3"/>
          <a:srcRect/>
          <a:stretch>
            <a:fillRect/>
          </a:stretch>
        </p:blipFill>
        <p:spPr bwMode="auto">
          <a:xfrm>
            <a:off x="6408738" y="1374775"/>
            <a:ext cx="2333625" cy="2343150"/>
          </a:xfrm>
          <a:prstGeom prst="rect">
            <a:avLst/>
          </a:prstGeom>
          <a:noFill/>
          <a:ln>
            <a:noFill/>
          </a:ln>
          <a:effectLst/>
        </p:spPr>
      </p:pic>
      <p:sp>
        <p:nvSpPr>
          <p:cNvPr id="10" name="TextBox 1">
            <a:extLst>
              <a:ext uri="{FF2B5EF4-FFF2-40B4-BE49-F238E27FC236}">
                <a16:creationId xmlns:a16="http://schemas.microsoft.com/office/drawing/2014/main" id="{3F246CBB-922D-469B-A5E9-86C7232C6889}"/>
              </a:ext>
            </a:extLst>
          </p:cNvPr>
          <p:cNvSpPr txBox="1">
            <a:spLocks noChangeArrowheads="1"/>
          </p:cNvSpPr>
          <p:nvPr/>
        </p:nvSpPr>
        <p:spPr bwMode="auto">
          <a:xfrm>
            <a:off x="6419850" y="1049338"/>
            <a:ext cx="14287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t>Process P</a:t>
            </a:r>
            <a:r>
              <a:rPr lang="en-US" altLang="en-US" b="1" baseline="-25000"/>
              <a:t>0</a:t>
            </a:r>
          </a:p>
        </p:txBody>
      </p:sp>
      <p:sp>
        <p:nvSpPr>
          <p:cNvPr id="11" name="TextBox 2">
            <a:extLst>
              <a:ext uri="{FF2B5EF4-FFF2-40B4-BE49-F238E27FC236}">
                <a16:creationId xmlns:a16="http://schemas.microsoft.com/office/drawing/2014/main" id="{ED23DD72-1D5F-4FA9-9E3A-0C2E4BAECA9C}"/>
              </a:ext>
            </a:extLst>
          </p:cNvPr>
          <p:cNvSpPr txBox="1">
            <a:spLocks noChangeArrowheads="1"/>
          </p:cNvSpPr>
          <p:nvPr/>
        </p:nvSpPr>
        <p:spPr bwMode="auto">
          <a:xfrm>
            <a:off x="7972425" y="1724025"/>
            <a:ext cx="4540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0);</a:t>
            </a:r>
          </a:p>
        </p:txBody>
      </p:sp>
      <p:sp>
        <p:nvSpPr>
          <p:cNvPr id="12" name="TextBox 10">
            <a:extLst>
              <a:ext uri="{FF2B5EF4-FFF2-40B4-BE49-F238E27FC236}">
                <a16:creationId xmlns:a16="http://schemas.microsoft.com/office/drawing/2014/main" id="{57764797-F13D-406A-B56C-2BEAF62CCB6B}"/>
              </a:ext>
            </a:extLst>
          </p:cNvPr>
          <p:cNvSpPr txBox="1">
            <a:spLocks noChangeArrowheads="1"/>
          </p:cNvSpPr>
          <p:nvPr/>
        </p:nvSpPr>
        <p:spPr bwMode="auto">
          <a:xfrm>
            <a:off x="7358063" y="2565400"/>
            <a:ext cx="376237"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1;</a:t>
            </a:r>
          </a:p>
        </p:txBody>
      </p:sp>
      <p:pic>
        <p:nvPicPr>
          <p:cNvPr id="13" name="Picture 12">
            <a:extLst>
              <a:ext uri="{FF2B5EF4-FFF2-40B4-BE49-F238E27FC236}">
                <a16:creationId xmlns:a16="http://schemas.microsoft.com/office/drawing/2014/main" id="{8DA3327F-1F79-4D53-842B-95B4FFD8E383}"/>
              </a:ext>
            </a:extLst>
          </p:cNvPr>
          <p:cNvPicPr>
            <a:picLocks noChangeAspect="1" noChangeArrowheads="1"/>
          </p:cNvPicPr>
          <p:nvPr/>
        </p:nvPicPr>
        <p:blipFill>
          <a:blip r:embed="rId3"/>
          <a:srcRect/>
          <a:stretch>
            <a:fillRect/>
          </a:stretch>
        </p:blipFill>
        <p:spPr bwMode="auto">
          <a:xfrm>
            <a:off x="6492875" y="4164013"/>
            <a:ext cx="2333625" cy="2343150"/>
          </a:xfrm>
          <a:prstGeom prst="rect">
            <a:avLst/>
          </a:prstGeom>
          <a:noFill/>
          <a:ln>
            <a:noFill/>
          </a:ln>
          <a:effectLst/>
        </p:spPr>
      </p:pic>
      <p:sp>
        <p:nvSpPr>
          <p:cNvPr id="14" name="TextBox 12">
            <a:extLst>
              <a:ext uri="{FF2B5EF4-FFF2-40B4-BE49-F238E27FC236}">
                <a16:creationId xmlns:a16="http://schemas.microsoft.com/office/drawing/2014/main" id="{42980D3C-8C19-4B25-9D37-4BC8D0F7E41D}"/>
              </a:ext>
            </a:extLst>
          </p:cNvPr>
          <p:cNvSpPr txBox="1">
            <a:spLocks noChangeArrowheads="1"/>
          </p:cNvSpPr>
          <p:nvPr/>
        </p:nvSpPr>
        <p:spPr bwMode="auto">
          <a:xfrm>
            <a:off x="6437313" y="3884613"/>
            <a:ext cx="1428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t>Process P</a:t>
            </a:r>
            <a:r>
              <a:rPr lang="en-US" altLang="en-US" b="1" baseline="-25000"/>
              <a:t>1</a:t>
            </a:r>
          </a:p>
        </p:txBody>
      </p:sp>
      <p:sp>
        <p:nvSpPr>
          <p:cNvPr id="15" name="TextBox 13">
            <a:extLst>
              <a:ext uri="{FF2B5EF4-FFF2-40B4-BE49-F238E27FC236}">
                <a16:creationId xmlns:a16="http://schemas.microsoft.com/office/drawing/2014/main" id="{9433734A-88F3-42AC-A2E0-2E0453CB78D2}"/>
              </a:ext>
            </a:extLst>
          </p:cNvPr>
          <p:cNvSpPr txBox="1">
            <a:spLocks noChangeArrowheads="1"/>
          </p:cNvSpPr>
          <p:nvPr/>
        </p:nvSpPr>
        <p:spPr bwMode="auto">
          <a:xfrm>
            <a:off x="8035925" y="4514850"/>
            <a:ext cx="39052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1)</a:t>
            </a:r>
          </a:p>
        </p:txBody>
      </p:sp>
      <p:sp>
        <p:nvSpPr>
          <p:cNvPr id="16" name="TextBox 14">
            <a:extLst>
              <a:ext uri="{FF2B5EF4-FFF2-40B4-BE49-F238E27FC236}">
                <a16:creationId xmlns:a16="http://schemas.microsoft.com/office/drawing/2014/main" id="{38F093D3-A445-4434-A89A-1364BE8C0AF4}"/>
              </a:ext>
            </a:extLst>
          </p:cNvPr>
          <p:cNvSpPr txBox="1">
            <a:spLocks noChangeArrowheads="1"/>
          </p:cNvSpPr>
          <p:nvPr/>
        </p:nvSpPr>
        <p:spPr bwMode="auto">
          <a:xfrm>
            <a:off x="7389813" y="5356225"/>
            <a:ext cx="3778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0;</a:t>
            </a:r>
          </a:p>
        </p:txBody>
      </p:sp>
      <p:sp>
        <p:nvSpPr>
          <p:cNvPr id="18" name="Rectangle 5">
            <a:extLst>
              <a:ext uri="{FF2B5EF4-FFF2-40B4-BE49-F238E27FC236}">
                <a16:creationId xmlns:a16="http://schemas.microsoft.com/office/drawing/2014/main" id="{A46B9CBB-6FD5-4B0A-8B91-E3CB184F502A}"/>
              </a:ext>
            </a:extLst>
          </p:cNvPr>
          <p:cNvSpPr>
            <a:spLocks noChangeArrowheads="1"/>
          </p:cNvSpPr>
          <p:nvPr/>
        </p:nvSpPr>
        <p:spPr bwMode="auto">
          <a:xfrm>
            <a:off x="2555875" y="3487738"/>
            <a:ext cx="2401888" cy="481012"/>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9" name="Rectangle 5">
            <a:extLst>
              <a:ext uri="{FF2B5EF4-FFF2-40B4-BE49-F238E27FC236}">
                <a16:creationId xmlns:a16="http://schemas.microsoft.com/office/drawing/2014/main" id="{37A188BF-255D-4D91-966C-129C90DD4C92}"/>
              </a:ext>
            </a:extLst>
          </p:cNvPr>
          <p:cNvSpPr>
            <a:spLocks noChangeArrowheads="1"/>
          </p:cNvSpPr>
          <p:nvPr/>
        </p:nvSpPr>
        <p:spPr bwMode="auto">
          <a:xfrm>
            <a:off x="2555875" y="4575175"/>
            <a:ext cx="2401888" cy="481013"/>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0" name="TextBox 19">
            <a:extLst>
              <a:ext uri="{FF2B5EF4-FFF2-40B4-BE49-F238E27FC236}">
                <a16:creationId xmlns:a16="http://schemas.microsoft.com/office/drawing/2014/main" id="{CB38C635-AE88-4D00-9F06-4CF292F0B5F5}"/>
              </a:ext>
            </a:extLst>
          </p:cNvPr>
          <p:cNvSpPr txBox="1">
            <a:spLocks noChangeArrowheads="1"/>
          </p:cNvSpPr>
          <p:nvPr/>
        </p:nvSpPr>
        <p:spPr bwMode="auto">
          <a:xfrm>
            <a:off x="550863" y="3543300"/>
            <a:ext cx="154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Entry Section</a:t>
            </a:r>
          </a:p>
        </p:txBody>
      </p:sp>
      <p:sp>
        <p:nvSpPr>
          <p:cNvPr id="21" name="TextBox 20">
            <a:extLst>
              <a:ext uri="{FF2B5EF4-FFF2-40B4-BE49-F238E27FC236}">
                <a16:creationId xmlns:a16="http://schemas.microsoft.com/office/drawing/2014/main" id="{D6739E15-2736-4A48-B1CB-F9054C2EB507}"/>
              </a:ext>
            </a:extLst>
          </p:cNvPr>
          <p:cNvSpPr txBox="1">
            <a:spLocks noChangeArrowheads="1"/>
          </p:cNvSpPr>
          <p:nvPr/>
        </p:nvSpPr>
        <p:spPr bwMode="auto">
          <a:xfrm>
            <a:off x="541338" y="4630738"/>
            <a:ext cx="139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Exit Section</a:t>
            </a:r>
          </a:p>
        </p:txBody>
      </p:sp>
      <p:cxnSp>
        <p:nvCxnSpPr>
          <p:cNvPr id="3" name="Straight Arrow Connector 2">
            <a:extLst>
              <a:ext uri="{FF2B5EF4-FFF2-40B4-BE49-F238E27FC236}">
                <a16:creationId xmlns:a16="http://schemas.microsoft.com/office/drawing/2014/main" id="{2BBCC562-9EAB-491E-8DBE-D4ED8A3DC5A8}"/>
              </a:ext>
            </a:extLst>
          </p:cNvPr>
          <p:cNvCxnSpPr>
            <a:cxnSpLocks noChangeShapeType="1"/>
            <a:stCxn id="20" idx="3"/>
            <a:endCxn id="18" idx="1"/>
          </p:cNvCxnSpPr>
          <p:nvPr/>
        </p:nvCxnSpPr>
        <p:spPr bwMode="auto">
          <a:xfrm>
            <a:off x="2100263" y="3727450"/>
            <a:ext cx="455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6" name="Straight Arrow Connector 25">
            <a:extLst>
              <a:ext uri="{FF2B5EF4-FFF2-40B4-BE49-F238E27FC236}">
                <a16:creationId xmlns:a16="http://schemas.microsoft.com/office/drawing/2014/main" id="{68804313-FB2B-4BE1-B122-64040F21DE90}"/>
              </a:ext>
            </a:extLst>
          </p:cNvPr>
          <p:cNvCxnSpPr>
            <a:cxnSpLocks noChangeShapeType="1"/>
            <a:stCxn id="21" idx="3"/>
            <a:endCxn id="19" idx="1"/>
          </p:cNvCxnSpPr>
          <p:nvPr/>
        </p:nvCxnSpPr>
        <p:spPr bwMode="auto">
          <a:xfrm>
            <a:off x="1938338" y="4814888"/>
            <a:ext cx="617537"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4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94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40">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940">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4" grpId="0"/>
      <p:bldP spid="15" grpId="0" animBg="1"/>
      <p:bldP spid="16" grpId="0" animBg="1"/>
      <p:bldP spid="18" grpId="0" animBg="1"/>
      <p:bldP spid="19" grpId="0" animBg="1"/>
      <p:bldP spid="20"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DB23-7327-E507-CECC-D5C2B8C72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E3CF4-A288-CB5E-A84A-040FCFE33963}"/>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0237CA28-0831-2CA2-12A4-78545973E1B8}"/>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E46083AE-02F6-72DB-5FC1-80FDBBD3AFFD}"/>
                  </a:ext>
                </a:extLst>
              </p:cNvPr>
              <p:cNvGraphicFramePr>
                <a:graphicFrameLocks noGrp="1"/>
              </p:cNvGraphicFramePr>
              <p:nvPr/>
            </p:nvGraphicFramePr>
            <p:xfrm>
              <a:off x="0" y="803188"/>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E46083AE-02F6-72DB-5FC1-80FDBBD3AFFD}"/>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803188"/>
                <a:ext cx="9144000" cy="5097847"/>
              </a:xfrm>
              <a:prstGeom prst="rect">
                <a:avLst/>
              </a:prstGeom>
            </p:spPr>
          </p:pic>
        </mc:Fallback>
      </mc:AlternateContent>
    </p:spTree>
    <p:extLst>
      <p:ext uri="{BB962C8B-B14F-4D97-AF65-F5344CB8AC3E}">
        <p14:creationId xmlns:p14="http://schemas.microsoft.com/office/powerpoint/2010/main" val="3630468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3">
            <a:extLst>
              <a:ext uri="{FF2B5EF4-FFF2-40B4-BE49-F238E27FC236}">
                <a16:creationId xmlns:a16="http://schemas.microsoft.com/office/drawing/2014/main" id="{F2993C87-E983-44B5-AC8F-AF1D76080C4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6387" name="Rectangle 1026">
            <a:extLst>
              <a:ext uri="{FF2B5EF4-FFF2-40B4-BE49-F238E27FC236}">
                <a16:creationId xmlns:a16="http://schemas.microsoft.com/office/drawing/2014/main" id="{E650ED4F-BB68-47B6-B074-4C60D0C1186A}"/>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44035" name="Rectangle 1027">
            <a:extLst>
              <a:ext uri="{FF2B5EF4-FFF2-40B4-BE49-F238E27FC236}">
                <a16:creationId xmlns:a16="http://schemas.microsoft.com/office/drawing/2014/main" id="{8C5A4EA0-AEE1-4A79-A468-EEFE6D7857C2}"/>
              </a:ext>
            </a:extLst>
          </p:cNvPr>
          <p:cNvSpPr>
            <a:spLocks noGrp="1" noChangeArrowheads="1"/>
          </p:cNvSpPr>
          <p:nvPr>
            <p:ph type="title"/>
          </p:nvPr>
        </p:nvSpPr>
        <p:spPr/>
        <p:txBody>
          <a:bodyPr/>
          <a:lstStyle/>
          <a:p>
            <a:r>
              <a:rPr lang="en-US" altLang="en-US"/>
              <a:t>Algorithm 1: Property Analysis</a:t>
            </a:r>
          </a:p>
        </p:txBody>
      </p:sp>
      <p:sp>
        <p:nvSpPr>
          <p:cNvPr id="44036" name="Rectangle 1028">
            <a:extLst>
              <a:ext uri="{FF2B5EF4-FFF2-40B4-BE49-F238E27FC236}">
                <a16:creationId xmlns:a16="http://schemas.microsoft.com/office/drawing/2014/main" id="{1FB781F6-B986-4369-A7DD-F17A2A2575CA}"/>
              </a:ext>
            </a:extLst>
          </p:cNvPr>
          <p:cNvSpPr>
            <a:spLocks noGrp="1" noChangeArrowheads="1"/>
          </p:cNvSpPr>
          <p:nvPr>
            <p:ph type="body" idx="1"/>
          </p:nvPr>
        </p:nvSpPr>
        <p:spPr>
          <a:xfrm>
            <a:off x="265113" y="1277938"/>
            <a:ext cx="8623300" cy="4865687"/>
          </a:xfrm>
        </p:spPr>
        <p:txBody>
          <a:bodyPr/>
          <a:lstStyle/>
          <a:p>
            <a:pPr marL="514350" indent="-514350">
              <a:buFont typeface="+mj-lt"/>
              <a:buAutoNum type="arabicPeriod"/>
              <a:tabLst>
                <a:tab pos="2005013" algn="l"/>
                <a:tab pos="2339975" algn="l"/>
                <a:tab pos="2630488" algn="l"/>
              </a:tabLst>
              <a:defRPr/>
            </a:pPr>
            <a:r>
              <a:rPr lang="en-US" altLang="en-US" sz="2800" dirty="0">
                <a:solidFill>
                  <a:schemeClr val="accent2"/>
                </a:solidFill>
              </a:rPr>
              <a:t>Mutual Exclusion? </a:t>
            </a:r>
            <a:r>
              <a:rPr lang="en-US" altLang="en-US" sz="2800" b="1" dirty="0">
                <a:solidFill>
                  <a:srgbClr val="00B050"/>
                </a:solidFill>
                <a:sym typeface="Wingdings"/>
              </a:rPr>
              <a:t> </a:t>
            </a:r>
          </a:p>
          <a:p>
            <a:pPr marL="849313" lvl="1" indent="-334963">
              <a:tabLst>
                <a:tab pos="2005013" algn="l"/>
                <a:tab pos="2339975" algn="l"/>
                <a:tab pos="2630488" algn="l"/>
              </a:tabLst>
              <a:defRPr/>
            </a:pPr>
            <a:r>
              <a:rPr lang="en-US" altLang="en-US" sz="2000" dirty="0">
                <a:sym typeface="Wingdings"/>
              </a:rPr>
              <a:t>Suppose </a:t>
            </a:r>
            <a:r>
              <a:rPr lang="en-US" altLang="en-US" sz="2000" b="1" dirty="0">
                <a:solidFill>
                  <a:schemeClr val="accent1">
                    <a:lumMod val="75000"/>
                  </a:schemeClr>
                </a:solidFill>
                <a:sym typeface="Wingdings"/>
              </a:rPr>
              <a:t>turn = 0 </a:t>
            </a:r>
            <a:r>
              <a:rPr lang="en-US" altLang="en-US" sz="2000" dirty="0">
                <a:sym typeface="Wingdings"/>
              </a:rPr>
              <a:t>and P</a:t>
            </a:r>
            <a:r>
              <a:rPr lang="en-US" altLang="en-US" sz="2000" baseline="-25000" dirty="0">
                <a:sym typeface="Wingdings"/>
              </a:rPr>
              <a:t>0</a:t>
            </a:r>
            <a:r>
              <a:rPr lang="en-US" altLang="en-US" sz="2000" dirty="0">
                <a:sym typeface="Wingdings"/>
              </a:rPr>
              <a:t> enters critical section</a:t>
            </a:r>
          </a:p>
          <a:p>
            <a:pPr marL="849313" lvl="1" indent="-334963">
              <a:tabLst>
                <a:tab pos="2005013" algn="l"/>
                <a:tab pos="2339975" algn="l"/>
                <a:tab pos="2630488" algn="l"/>
              </a:tabLst>
              <a:defRPr/>
            </a:pPr>
            <a:r>
              <a:rPr lang="en-US" altLang="en-US" sz="2000" b="1" dirty="0">
                <a:solidFill>
                  <a:schemeClr val="accent1">
                    <a:lumMod val="75000"/>
                  </a:schemeClr>
                </a:solidFill>
              </a:rPr>
              <a:t>turn</a:t>
            </a:r>
            <a:r>
              <a:rPr lang="en-US" altLang="en-US" sz="2000" dirty="0">
                <a:solidFill>
                  <a:schemeClr val="accent1">
                    <a:lumMod val="75000"/>
                  </a:schemeClr>
                </a:solidFill>
              </a:rPr>
              <a:t> </a:t>
            </a:r>
            <a:r>
              <a:rPr lang="en-US" altLang="en-US" sz="2000" dirty="0"/>
              <a:t>is only updated in exit section, when P</a:t>
            </a:r>
            <a:r>
              <a:rPr lang="en-US" altLang="en-US" sz="2000" baseline="-25000" dirty="0"/>
              <a:t>0</a:t>
            </a:r>
            <a:r>
              <a:rPr lang="en-US" altLang="en-US" sz="2000" dirty="0"/>
              <a:t> exits critical section</a:t>
            </a:r>
          </a:p>
          <a:p>
            <a:pPr marL="849313" lvl="1" indent="-334963">
              <a:tabLst>
                <a:tab pos="2005013" algn="l"/>
                <a:tab pos="2339975" algn="l"/>
                <a:tab pos="2630488" algn="l"/>
              </a:tabLst>
              <a:defRPr/>
            </a:pPr>
            <a:r>
              <a:rPr lang="en-US" altLang="en-US" sz="2000" dirty="0"/>
              <a:t>Process P</a:t>
            </a:r>
            <a:r>
              <a:rPr lang="en-US" altLang="en-US" sz="2000" baseline="-25000" dirty="0"/>
              <a:t>1</a:t>
            </a:r>
            <a:r>
              <a:rPr lang="en-US" altLang="en-US" sz="2000" dirty="0"/>
              <a:t> therefore cannot enter its critical section</a:t>
            </a:r>
          </a:p>
          <a:p>
            <a:pPr marL="2343150" lvl="4" indent="-514350">
              <a:tabLst>
                <a:tab pos="2005013" algn="l"/>
                <a:tab pos="2339975" algn="l"/>
                <a:tab pos="2630488" algn="l"/>
              </a:tabLst>
              <a:defRPr/>
            </a:pPr>
            <a:endParaRPr lang="en-US" altLang="en-US" dirty="0"/>
          </a:p>
          <a:p>
            <a:pPr marL="514350" indent="-514350">
              <a:buFont typeface="+mj-lt"/>
              <a:buAutoNum type="arabicPeriod"/>
              <a:tabLst>
                <a:tab pos="2005013" algn="l"/>
                <a:tab pos="2339975" algn="l"/>
                <a:tab pos="2630488" algn="l"/>
              </a:tabLst>
              <a:defRPr/>
            </a:pPr>
            <a:r>
              <a:rPr lang="en-US" altLang="en-US" sz="2800" dirty="0">
                <a:solidFill>
                  <a:schemeClr val="accent2"/>
                </a:solidFill>
              </a:rPr>
              <a:t>Progress? </a:t>
            </a:r>
            <a:r>
              <a:rPr lang="en-US" altLang="en-US" sz="2800" b="1" dirty="0">
                <a:solidFill>
                  <a:srgbClr val="FF0000"/>
                </a:solidFill>
                <a:sym typeface="Wingdings"/>
              </a:rPr>
              <a:t></a:t>
            </a:r>
            <a:endParaRPr lang="en-US" altLang="en-US" sz="2000" b="1" dirty="0">
              <a:solidFill>
                <a:srgbClr val="FF0000"/>
              </a:solidFill>
              <a:sym typeface="Wingdings"/>
            </a:endParaRPr>
          </a:p>
          <a:p>
            <a:pPr marL="849313" lvl="1" indent="-334963">
              <a:tabLst>
                <a:tab pos="2005013" algn="l"/>
                <a:tab pos="2339975" algn="l"/>
                <a:tab pos="2630488" algn="l"/>
              </a:tabLst>
              <a:defRPr/>
            </a:pPr>
            <a:r>
              <a:rPr lang="en-US" altLang="en-US" sz="2000" b="1" dirty="0">
                <a:solidFill>
                  <a:schemeClr val="accent1">
                    <a:lumMod val="75000"/>
                  </a:schemeClr>
                </a:solidFill>
                <a:sym typeface="Wingdings"/>
              </a:rPr>
              <a:t>turn = 0 </a:t>
            </a:r>
            <a:r>
              <a:rPr lang="en-US" altLang="en-US" sz="2000" dirty="0">
                <a:sym typeface="Wingdings"/>
              </a:rPr>
              <a:t>and P</a:t>
            </a:r>
            <a:r>
              <a:rPr lang="en-US" altLang="en-US" sz="2000" baseline="-25000" dirty="0">
                <a:sym typeface="Wingdings"/>
              </a:rPr>
              <a:t>0</a:t>
            </a:r>
            <a:r>
              <a:rPr lang="en-US" altLang="en-US" sz="2000" dirty="0">
                <a:sym typeface="Wingdings"/>
              </a:rPr>
              <a:t> is in a long remainder section (think while(1) loop or blocked I/O), and P</a:t>
            </a:r>
            <a:r>
              <a:rPr lang="en-US" altLang="en-US" sz="2000" baseline="-25000" dirty="0">
                <a:sym typeface="Wingdings"/>
              </a:rPr>
              <a:t>1</a:t>
            </a:r>
            <a:r>
              <a:rPr lang="en-US" altLang="en-US" sz="2000" dirty="0">
                <a:sym typeface="Wingdings"/>
              </a:rPr>
              <a:t> wants to enter critical section</a:t>
            </a:r>
          </a:p>
          <a:p>
            <a:pPr marL="2343150" lvl="4" indent="-514350">
              <a:tabLst>
                <a:tab pos="2005013" algn="l"/>
                <a:tab pos="2339975" algn="l"/>
                <a:tab pos="2630488" algn="l"/>
              </a:tabLst>
              <a:defRPr/>
            </a:pPr>
            <a:endParaRPr lang="en-US" altLang="en-US" sz="1600" dirty="0">
              <a:solidFill>
                <a:schemeClr val="accent2"/>
              </a:solidFill>
            </a:endParaRPr>
          </a:p>
          <a:p>
            <a:pPr marL="514350" indent="-514350">
              <a:buFont typeface="+mj-lt"/>
              <a:buAutoNum type="arabicPeriod"/>
              <a:tabLst>
                <a:tab pos="2005013" algn="l"/>
                <a:tab pos="2339975" algn="l"/>
                <a:tab pos="2630488" algn="l"/>
              </a:tabLst>
              <a:defRPr/>
            </a:pPr>
            <a:r>
              <a:rPr lang="en-US" altLang="en-US" sz="2800" dirty="0">
                <a:solidFill>
                  <a:schemeClr val="accent2"/>
                </a:solidFill>
              </a:rPr>
              <a:t>Bounded Waiting? </a:t>
            </a:r>
            <a:r>
              <a:rPr lang="en-US" altLang="en-US" sz="2800" b="1" dirty="0">
                <a:solidFill>
                  <a:srgbClr val="00B050"/>
                </a:solidFill>
                <a:sym typeface="Wingdings"/>
              </a:rPr>
              <a:t></a:t>
            </a:r>
          </a:p>
          <a:p>
            <a:pPr marL="849313" lvl="1" indent="-334963">
              <a:tabLst>
                <a:tab pos="2005013" algn="l"/>
                <a:tab pos="2339975" algn="l"/>
                <a:tab pos="2630488" algn="l"/>
              </a:tabLst>
              <a:defRPr/>
            </a:pPr>
            <a:r>
              <a:rPr lang="en-US" altLang="en-US" sz="2000" dirty="0">
                <a:sym typeface="Wingdings"/>
              </a:rPr>
              <a:t>Assuming </a:t>
            </a:r>
            <a:r>
              <a:rPr lang="en-US" altLang="en-US" sz="2000" b="1" dirty="0">
                <a:solidFill>
                  <a:schemeClr val="accent1">
                    <a:lumMod val="75000"/>
                  </a:schemeClr>
                </a:solidFill>
                <a:sym typeface="Wingdings"/>
              </a:rPr>
              <a:t>turn</a:t>
            </a:r>
            <a:r>
              <a:rPr lang="en-US" altLang="en-US" sz="2000" dirty="0">
                <a:sym typeface="Wingdings"/>
              </a:rPr>
              <a:t> is updated in a fair (e.g., round-robin) manner among the two concurrent processes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403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036">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03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0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1EE64D-07D0-A81A-E026-225903C0E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32FF1-6F8B-5369-A3BA-9B74809D7AFD}"/>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55F0A82F-1219-0124-E4B1-05ADFEF21CA3}"/>
              </a:ext>
            </a:extLst>
          </p:cNvPr>
          <p:cNvSpPr>
            <a:spLocks noGrp="1"/>
          </p:cNvSpPr>
          <p:nvPr>
            <p:ph type="ftr" sz="quarter" idx="10"/>
          </p:nvPr>
        </p:nvSpPr>
        <p:spPr/>
        <p:txBody>
          <a:bodyPr/>
          <a:lstStyle/>
          <a:p>
            <a:pPr>
              <a:defRPr/>
            </a:pPr>
            <a:r>
              <a:rPr lang="en-US"/>
              <a:t>SC2005 Operating Systems</a:t>
            </a:r>
          </a:p>
        </p:txBody>
      </p:sp>
      <p:sp>
        <p:nvSpPr>
          <p:cNvPr id="3" name="TextBox 2">
            <a:extLst>
              <a:ext uri="{FF2B5EF4-FFF2-40B4-BE49-F238E27FC236}">
                <a16:creationId xmlns:a16="http://schemas.microsoft.com/office/drawing/2014/main" id="{5B80EBEB-AD3D-5394-C233-6A93D2C8BAC9}"/>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ends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8313C90B-2D81-7B74-9D0D-FAEF0CDF8E03}"/>
                  </a:ext>
                </a:extLst>
              </p:cNvPr>
              <p:cNvGraphicFramePr>
                <a:graphicFrameLocks noGrp="1"/>
              </p:cNvGraphicFramePr>
              <p:nvPr/>
            </p:nvGraphicFramePr>
            <p:xfrm>
              <a:off x="0" y="803188"/>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8313C90B-2D81-7B74-9D0D-FAEF0CDF8E03}"/>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803188"/>
                <a:ext cx="9144000" cy="5097847"/>
              </a:xfrm>
              <a:prstGeom prst="rect">
                <a:avLst/>
              </a:prstGeom>
            </p:spPr>
          </p:pic>
        </mc:Fallback>
      </mc:AlternateContent>
    </p:spTree>
    <p:extLst>
      <p:ext uri="{BB962C8B-B14F-4D97-AF65-F5344CB8AC3E}">
        <p14:creationId xmlns:p14="http://schemas.microsoft.com/office/powerpoint/2010/main" val="3071077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3">
            <a:extLst>
              <a:ext uri="{FF2B5EF4-FFF2-40B4-BE49-F238E27FC236}">
                <a16:creationId xmlns:a16="http://schemas.microsoft.com/office/drawing/2014/main" id="{226F4D71-6FD3-4465-8CE4-5B9ED861B41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7411" name="Rectangle 6">
            <a:extLst>
              <a:ext uri="{FF2B5EF4-FFF2-40B4-BE49-F238E27FC236}">
                <a16:creationId xmlns:a16="http://schemas.microsoft.com/office/drawing/2014/main" id="{0C7C8D2B-42A2-4625-A808-F053C338708B}"/>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46083" name="Rectangle 2">
            <a:extLst>
              <a:ext uri="{FF2B5EF4-FFF2-40B4-BE49-F238E27FC236}">
                <a16:creationId xmlns:a16="http://schemas.microsoft.com/office/drawing/2014/main" id="{15FAF62E-481C-42A1-BE53-C2A755A1A47D}"/>
              </a:ext>
            </a:extLst>
          </p:cNvPr>
          <p:cNvSpPr>
            <a:spLocks noGrp="1" noChangeArrowheads="1"/>
          </p:cNvSpPr>
          <p:nvPr>
            <p:ph type="title"/>
          </p:nvPr>
        </p:nvSpPr>
        <p:spPr/>
        <p:txBody>
          <a:bodyPr/>
          <a:lstStyle/>
          <a:p>
            <a:r>
              <a:rPr lang="en-US" altLang="en-US"/>
              <a:t>Algorithm 2</a:t>
            </a:r>
          </a:p>
        </p:txBody>
      </p:sp>
      <p:sp>
        <p:nvSpPr>
          <p:cNvPr id="46084" name="Rectangle 3">
            <a:extLst>
              <a:ext uri="{FF2B5EF4-FFF2-40B4-BE49-F238E27FC236}">
                <a16:creationId xmlns:a16="http://schemas.microsoft.com/office/drawing/2014/main" id="{61EF0090-C4CE-49AC-AE6F-8FB32B768989}"/>
              </a:ext>
            </a:extLst>
          </p:cNvPr>
          <p:cNvSpPr>
            <a:spLocks noGrp="1" noChangeArrowheads="1"/>
          </p:cNvSpPr>
          <p:nvPr>
            <p:ph type="body" idx="1"/>
          </p:nvPr>
        </p:nvSpPr>
        <p:spPr>
          <a:xfrm>
            <a:off x="117475" y="1181100"/>
            <a:ext cx="8909050" cy="5365750"/>
          </a:xfrm>
        </p:spPr>
        <p:txBody>
          <a:bodyPr/>
          <a:lstStyle/>
          <a:p>
            <a:pPr>
              <a:tabLst>
                <a:tab pos="2403475" algn="l"/>
                <a:tab pos="2684463" algn="l"/>
                <a:tab pos="2974975" algn="l"/>
              </a:tabLst>
              <a:defRPr/>
            </a:pPr>
            <a:r>
              <a:rPr lang="en-US" altLang="en-US" sz="2800" dirty="0"/>
              <a:t>Variables shared: </a:t>
            </a:r>
            <a:r>
              <a:rPr lang="en-US" altLang="en-US" sz="2800" b="1" dirty="0" err="1">
                <a:solidFill>
                  <a:schemeClr val="accent1">
                    <a:lumMod val="75000"/>
                  </a:schemeClr>
                </a:solidFill>
              </a:rPr>
              <a:t>boolean</a:t>
            </a:r>
            <a:r>
              <a:rPr lang="en-US" altLang="en-US" sz="2800" b="1" dirty="0">
                <a:solidFill>
                  <a:schemeClr val="accent1">
                    <a:lumMod val="75000"/>
                  </a:schemeClr>
                </a:solidFill>
              </a:rPr>
              <a:t> </a:t>
            </a:r>
            <a:r>
              <a:rPr lang="en-US" altLang="en-US" sz="2800" b="1" i="1" dirty="0">
                <a:solidFill>
                  <a:schemeClr val="accent1">
                    <a:lumMod val="75000"/>
                  </a:schemeClr>
                </a:solidFill>
              </a:rPr>
              <a:t>flag</a:t>
            </a:r>
            <a:r>
              <a:rPr lang="en-US" altLang="en-US" sz="2800" b="1" dirty="0">
                <a:solidFill>
                  <a:schemeClr val="accent1">
                    <a:lumMod val="75000"/>
                  </a:schemeClr>
                </a:solidFill>
              </a:rPr>
              <a:t>[2]; </a:t>
            </a:r>
          </a:p>
          <a:p>
            <a:pPr lvl="1">
              <a:tabLst>
                <a:tab pos="2403475" algn="l"/>
                <a:tab pos="2684463" algn="l"/>
                <a:tab pos="2974975" algn="l"/>
              </a:tabLst>
              <a:defRPr/>
            </a:pPr>
            <a:r>
              <a:rPr lang="en-US" altLang="en-US" sz="2400" dirty="0"/>
              <a:t>Initially </a:t>
            </a:r>
            <a:r>
              <a:rPr lang="en-US" altLang="en-US" sz="2400" i="1" dirty="0"/>
              <a:t>flag</a:t>
            </a:r>
            <a:r>
              <a:rPr lang="en-US" altLang="en-US" sz="2400" dirty="0"/>
              <a:t> [0] = </a:t>
            </a:r>
            <a:r>
              <a:rPr lang="en-US" altLang="en-US" sz="2400" i="1" dirty="0"/>
              <a:t>flag</a:t>
            </a:r>
            <a:r>
              <a:rPr lang="en-US" altLang="en-US" sz="2400" dirty="0"/>
              <a:t> [1] = </a:t>
            </a:r>
            <a:r>
              <a:rPr lang="en-US" altLang="en-US" sz="2400" i="1" dirty="0"/>
              <a:t>false</a:t>
            </a:r>
            <a:endParaRPr lang="en-US" altLang="en-US" sz="2400" dirty="0"/>
          </a:p>
          <a:p>
            <a:pPr lvl="1">
              <a:tabLst>
                <a:tab pos="2403475" algn="l"/>
                <a:tab pos="2684463" algn="l"/>
                <a:tab pos="2974975" algn="l"/>
              </a:tabLst>
              <a:defRPr/>
            </a:pPr>
            <a:r>
              <a:rPr lang="en-US" altLang="en-US" sz="2400" i="1" dirty="0">
                <a:solidFill>
                  <a:srgbClr val="FF0000"/>
                </a:solidFill>
              </a:rPr>
              <a:t>flag</a:t>
            </a:r>
            <a:r>
              <a:rPr lang="en-US" altLang="en-US" sz="2400" dirty="0">
                <a:solidFill>
                  <a:srgbClr val="FF0000"/>
                </a:solidFill>
              </a:rPr>
              <a:t> [ </a:t>
            </a:r>
            <a:r>
              <a:rPr lang="en-US" altLang="en-US" sz="2400" i="1" dirty="0" err="1">
                <a:solidFill>
                  <a:srgbClr val="FF0000"/>
                </a:solidFill>
              </a:rPr>
              <a:t>i</a:t>
            </a:r>
            <a:r>
              <a:rPr lang="en-US" altLang="en-US" sz="2400" i="1" dirty="0">
                <a:solidFill>
                  <a:srgbClr val="FF0000"/>
                </a:solidFill>
              </a:rPr>
              <a:t> </a:t>
            </a:r>
            <a:r>
              <a:rPr lang="en-US" altLang="en-US" sz="2400" dirty="0">
                <a:solidFill>
                  <a:srgbClr val="FF0000"/>
                </a:solidFill>
              </a:rPr>
              <a:t>] = </a:t>
            </a:r>
            <a:r>
              <a:rPr lang="en-US" altLang="en-US" sz="2400" i="1" dirty="0">
                <a:solidFill>
                  <a:srgbClr val="FF0000"/>
                </a:solidFill>
              </a:rPr>
              <a:t>true</a:t>
            </a:r>
            <a:r>
              <a:rPr lang="en-US" altLang="en-US" sz="2400" dirty="0">
                <a:solidFill>
                  <a:srgbClr val="FF0000"/>
                </a:solidFill>
              </a:rPr>
              <a:t> </a:t>
            </a:r>
            <a:r>
              <a:rPr lang="en-US" altLang="en-US" sz="2400" dirty="0">
                <a:solidFill>
                  <a:srgbClr val="FF0000"/>
                </a:solidFill>
                <a:sym typeface="Symbol" charset="2"/>
              </a:rPr>
              <a:t> </a:t>
            </a:r>
            <a:r>
              <a:rPr lang="en-US" altLang="en-US" sz="2400" i="1" dirty="0">
                <a:solidFill>
                  <a:srgbClr val="FF0000"/>
                </a:solidFill>
                <a:sym typeface="Symbol" charset="2"/>
              </a:rPr>
              <a:t>P</a:t>
            </a:r>
            <a:r>
              <a:rPr lang="en-US" altLang="en-US" sz="2400" i="1" baseline="-25000" dirty="0">
                <a:solidFill>
                  <a:srgbClr val="FF0000"/>
                </a:solidFill>
                <a:sym typeface="Symbol" charset="2"/>
              </a:rPr>
              <a:t>i</a:t>
            </a:r>
            <a:r>
              <a:rPr lang="en-US" altLang="en-US" sz="2400" dirty="0">
                <a:solidFill>
                  <a:srgbClr val="FF0000"/>
                </a:solidFill>
                <a:sym typeface="Symbol" charset="2"/>
              </a:rPr>
              <a:t> ready to enter its critical section</a:t>
            </a:r>
          </a:p>
          <a:p>
            <a:pPr lvl="4">
              <a:tabLst>
                <a:tab pos="2403475" algn="l"/>
                <a:tab pos="2684463" algn="l"/>
                <a:tab pos="2974975" algn="l"/>
              </a:tabLst>
              <a:defRPr/>
            </a:pPr>
            <a:endParaRPr lang="en-US" altLang="en-US" b="1" dirty="0">
              <a:solidFill>
                <a:srgbClr val="FF0000"/>
              </a:solidFill>
              <a:sym typeface="Symbol" charset="2"/>
            </a:endParaRPr>
          </a:p>
          <a:p>
            <a:pPr>
              <a:tabLst>
                <a:tab pos="2403475" algn="l"/>
                <a:tab pos="2684463" algn="l"/>
                <a:tab pos="2974975" algn="l"/>
              </a:tabLst>
              <a:defRPr/>
            </a:pPr>
            <a:r>
              <a:rPr lang="en-US" altLang="en-US" sz="2400" dirty="0"/>
              <a:t>Process </a:t>
            </a:r>
            <a:r>
              <a:rPr lang="en-US" altLang="en-US" sz="2400" i="1" dirty="0"/>
              <a:t>P</a:t>
            </a:r>
            <a:r>
              <a:rPr lang="en-US" altLang="en-US" sz="2400" i="1" baseline="-25000" dirty="0"/>
              <a:t>i </a:t>
            </a:r>
            <a:r>
              <a:rPr lang="en-US" altLang="en-US" sz="2400" dirty="0"/>
              <a:t>:   while (1) {</a:t>
            </a:r>
          </a:p>
          <a:p>
            <a:pPr>
              <a:buFontTx/>
              <a:buNone/>
              <a:tabLst>
                <a:tab pos="2403475" algn="l"/>
                <a:tab pos="2684463" algn="l"/>
                <a:tab pos="2974975" algn="l"/>
              </a:tabLst>
              <a:defRPr/>
            </a:pPr>
            <a:r>
              <a:rPr lang="en-US" altLang="en-US" sz="2400" dirty="0"/>
              <a:t>		</a:t>
            </a:r>
            <a:r>
              <a:rPr lang="en-US" altLang="en-US" sz="2400" i="1" dirty="0"/>
              <a:t>flag </a:t>
            </a:r>
            <a:r>
              <a:rPr lang="en-US" altLang="en-US" sz="2400" dirty="0"/>
              <a:t>[ </a:t>
            </a:r>
            <a:r>
              <a:rPr lang="en-US" altLang="en-US" sz="2400" i="1" dirty="0" err="1"/>
              <a:t>i</a:t>
            </a:r>
            <a:r>
              <a:rPr lang="en-US" altLang="en-US" sz="2400" i="1" dirty="0"/>
              <a:t> </a:t>
            </a:r>
            <a:r>
              <a:rPr lang="en-US" altLang="en-US" sz="2400" dirty="0"/>
              <a:t>] = </a:t>
            </a:r>
            <a:r>
              <a:rPr lang="en-US" altLang="en-US" sz="2400" i="1" dirty="0"/>
              <a:t>true</a:t>
            </a:r>
            <a:r>
              <a:rPr lang="en-US" altLang="en-US" sz="2400" dirty="0"/>
              <a:t>;</a:t>
            </a:r>
            <a:br>
              <a:rPr lang="en-US" altLang="en-US" sz="2400" dirty="0"/>
            </a:br>
            <a:r>
              <a:rPr lang="en-US" altLang="en-US" sz="2400" dirty="0"/>
              <a:t>	while (</a:t>
            </a:r>
            <a:r>
              <a:rPr lang="en-US" altLang="en-US" sz="2400" i="1" dirty="0"/>
              <a:t>flag </a:t>
            </a:r>
            <a:r>
              <a:rPr lang="en-US" altLang="en-US" sz="2400" dirty="0"/>
              <a:t>[ </a:t>
            </a:r>
            <a:r>
              <a:rPr lang="en-US" altLang="en-US" sz="2400" i="1" dirty="0"/>
              <a:t>k </a:t>
            </a:r>
            <a:r>
              <a:rPr lang="en-US" altLang="en-US" sz="2400" dirty="0"/>
              <a:t>]);</a:t>
            </a:r>
          </a:p>
          <a:p>
            <a:pPr>
              <a:buFontTx/>
              <a:buNone/>
              <a:tabLst>
                <a:tab pos="2403475" algn="l"/>
                <a:tab pos="2684463" algn="l"/>
                <a:tab pos="2974975" algn="l"/>
              </a:tabLst>
              <a:defRPr/>
            </a:pPr>
            <a:r>
              <a:rPr lang="en-US" altLang="en-US" sz="2400" dirty="0"/>
              <a:t>		  critical section</a:t>
            </a:r>
          </a:p>
          <a:p>
            <a:pPr>
              <a:buFontTx/>
              <a:buNone/>
              <a:tabLst>
                <a:tab pos="2403475" algn="l"/>
                <a:tab pos="2684463" algn="l"/>
                <a:tab pos="2974975" algn="l"/>
              </a:tabLst>
              <a:defRPr/>
            </a:pPr>
            <a:r>
              <a:rPr lang="en-US" altLang="en-US" sz="2400" dirty="0"/>
              <a:t>		</a:t>
            </a:r>
            <a:r>
              <a:rPr lang="en-US" altLang="en-US" sz="2400" i="1" dirty="0"/>
              <a:t>flag</a:t>
            </a:r>
            <a:r>
              <a:rPr lang="en-US" altLang="en-US" sz="2400" dirty="0"/>
              <a:t> [ </a:t>
            </a:r>
            <a:r>
              <a:rPr lang="en-US" altLang="en-US" sz="2400" i="1" dirty="0" err="1"/>
              <a:t>i</a:t>
            </a:r>
            <a:r>
              <a:rPr lang="en-US" altLang="en-US" sz="2400" i="1" dirty="0"/>
              <a:t> </a:t>
            </a:r>
            <a:r>
              <a:rPr lang="en-US" altLang="en-US" sz="2400" dirty="0"/>
              <a:t>] = </a:t>
            </a:r>
            <a:r>
              <a:rPr lang="en-US" altLang="en-US" sz="2400" i="1" dirty="0"/>
              <a:t>false</a:t>
            </a:r>
            <a:r>
              <a:rPr lang="en-US" altLang="en-US" sz="2400" dirty="0"/>
              <a:t>;</a:t>
            </a:r>
          </a:p>
          <a:p>
            <a:pPr>
              <a:buFontTx/>
              <a:buNone/>
              <a:tabLst>
                <a:tab pos="2403475" algn="l"/>
                <a:tab pos="2684463" algn="l"/>
                <a:tab pos="2974975" algn="l"/>
              </a:tabLst>
              <a:defRPr/>
            </a:pPr>
            <a:r>
              <a:rPr lang="en-US" altLang="en-US" sz="2400" dirty="0"/>
              <a:t>		  remainder section</a:t>
            </a:r>
          </a:p>
          <a:p>
            <a:pPr>
              <a:buFontTx/>
              <a:buNone/>
              <a:tabLst>
                <a:tab pos="2403475" algn="l"/>
                <a:tab pos="2684463" algn="l"/>
                <a:tab pos="2974975" algn="l"/>
              </a:tabLst>
              <a:defRPr/>
            </a:pPr>
            <a:r>
              <a:rPr lang="en-US" altLang="en-US" sz="2400" dirty="0"/>
              <a:t>	                       }</a:t>
            </a:r>
          </a:p>
        </p:txBody>
      </p:sp>
      <p:sp>
        <p:nvSpPr>
          <p:cNvPr id="6" name="Rectangle 5">
            <a:extLst>
              <a:ext uri="{FF2B5EF4-FFF2-40B4-BE49-F238E27FC236}">
                <a16:creationId xmlns:a16="http://schemas.microsoft.com/office/drawing/2014/main" id="{7B0F66AC-F2C4-4D84-8DCD-51E1F063DD13}"/>
              </a:ext>
            </a:extLst>
          </p:cNvPr>
          <p:cNvSpPr>
            <a:spLocks noChangeArrowheads="1"/>
          </p:cNvSpPr>
          <p:nvPr/>
        </p:nvSpPr>
        <p:spPr bwMode="auto">
          <a:xfrm>
            <a:off x="2349500" y="3389313"/>
            <a:ext cx="2568575" cy="942975"/>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7" name="Rectangle 5">
            <a:extLst>
              <a:ext uri="{FF2B5EF4-FFF2-40B4-BE49-F238E27FC236}">
                <a16:creationId xmlns:a16="http://schemas.microsoft.com/office/drawing/2014/main" id="{02C86899-FF0A-4EF9-9935-4D0227114BA6}"/>
              </a:ext>
            </a:extLst>
          </p:cNvPr>
          <p:cNvSpPr>
            <a:spLocks noChangeArrowheads="1"/>
          </p:cNvSpPr>
          <p:nvPr/>
        </p:nvSpPr>
        <p:spPr bwMode="auto">
          <a:xfrm>
            <a:off x="2417763" y="4910138"/>
            <a:ext cx="2401887" cy="481012"/>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8" name="TextBox 7">
            <a:extLst>
              <a:ext uri="{FF2B5EF4-FFF2-40B4-BE49-F238E27FC236}">
                <a16:creationId xmlns:a16="http://schemas.microsoft.com/office/drawing/2014/main" id="{A6C640E3-6552-4F9B-892D-28234513C63D}"/>
              </a:ext>
            </a:extLst>
          </p:cNvPr>
          <p:cNvSpPr txBox="1">
            <a:spLocks noChangeArrowheads="1"/>
          </p:cNvSpPr>
          <p:nvPr/>
        </p:nvSpPr>
        <p:spPr bwMode="auto">
          <a:xfrm>
            <a:off x="344488" y="3719513"/>
            <a:ext cx="154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Entry Section</a:t>
            </a:r>
          </a:p>
        </p:txBody>
      </p:sp>
      <p:sp>
        <p:nvSpPr>
          <p:cNvPr id="9" name="TextBox 8">
            <a:extLst>
              <a:ext uri="{FF2B5EF4-FFF2-40B4-BE49-F238E27FC236}">
                <a16:creationId xmlns:a16="http://schemas.microsoft.com/office/drawing/2014/main" id="{DCBB0E0F-83DB-4D41-A452-06A114D188D5}"/>
              </a:ext>
            </a:extLst>
          </p:cNvPr>
          <p:cNvSpPr txBox="1">
            <a:spLocks noChangeArrowheads="1"/>
          </p:cNvSpPr>
          <p:nvPr/>
        </p:nvSpPr>
        <p:spPr bwMode="auto">
          <a:xfrm>
            <a:off x="403225" y="4965700"/>
            <a:ext cx="139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Exit Section</a:t>
            </a:r>
          </a:p>
        </p:txBody>
      </p:sp>
      <p:cxnSp>
        <p:nvCxnSpPr>
          <p:cNvPr id="10" name="Straight Arrow Connector 9">
            <a:extLst>
              <a:ext uri="{FF2B5EF4-FFF2-40B4-BE49-F238E27FC236}">
                <a16:creationId xmlns:a16="http://schemas.microsoft.com/office/drawing/2014/main" id="{89574CD8-F3A3-49C8-9771-01899A435430}"/>
              </a:ext>
            </a:extLst>
          </p:cNvPr>
          <p:cNvCxnSpPr>
            <a:cxnSpLocks noChangeShapeType="1"/>
          </p:cNvCxnSpPr>
          <p:nvPr/>
        </p:nvCxnSpPr>
        <p:spPr bwMode="auto">
          <a:xfrm>
            <a:off x="1893888" y="3903663"/>
            <a:ext cx="455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3C2CFD2B-D3F8-4AE3-91E8-672FC29D6E0B}"/>
              </a:ext>
            </a:extLst>
          </p:cNvPr>
          <p:cNvCxnSpPr>
            <a:cxnSpLocks noChangeShapeType="1"/>
          </p:cNvCxnSpPr>
          <p:nvPr/>
        </p:nvCxnSpPr>
        <p:spPr bwMode="auto">
          <a:xfrm>
            <a:off x="1800225" y="5149850"/>
            <a:ext cx="61753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3B330B68-9A8F-4A46-89F8-C291700AD83A}"/>
              </a:ext>
            </a:extLst>
          </p:cNvPr>
          <p:cNvSpPr txBox="1">
            <a:spLocks noChangeArrowheads="1"/>
          </p:cNvSpPr>
          <p:nvPr/>
        </p:nvSpPr>
        <p:spPr bwMode="auto">
          <a:xfrm>
            <a:off x="5375275" y="3581400"/>
            <a:ext cx="3490913" cy="17541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263525" indent="-25400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Algorithm 1 had an issue that it did not know if a process wants to enter its critical section</a:t>
            </a:r>
          </a:p>
          <a:p>
            <a:pPr lvl="1">
              <a:spcBef>
                <a:spcPct val="0"/>
              </a:spcBef>
              <a:buFont typeface="Arial" panose="020B0604020202020204" pitchFamily="34" charset="0"/>
              <a:buChar char="•"/>
            </a:pPr>
            <a:r>
              <a:rPr lang="en-US" altLang="en-US" b="1">
                <a:solidFill>
                  <a:srgbClr val="FF0000"/>
                </a:solidFill>
              </a:rPr>
              <a:t>Issue solved in Algorithm 2 by using one flag for each process to express interest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8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08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08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08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084">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30E7A-543F-F822-6D10-7EA0C0F1F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CA359-BBA8-8DC7-7FF4-62ACE15B368E}"/>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FC58251F-324B-9864-1ED6-8F47D05439B1}"/>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A9E00340-A0AA-DD83-7CF4-3FF8105AC4C1}"/>
                  </a:ext>
                </a:extLst>
              </p:cNvPr>
              <p:cNvGraphicFramePr>
                <a:graphicFrameLocks noGrp="1"/>
              </p:cNvGraphicFramePr>
              <p:nvPr/>
            </p:nvGraphicFramePr>
            <p:xfrm>
              <a:off x="0" y="803188"/>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A9E00340-A0AA-DD83-7CF4-3FF8105AC4C1}"/>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803188"/>
                <a:ext cx="9144000" cy="5097847"/>
              </a:xfrm>
              <a:prstGeom prst="rect">
                <a:avLst/>
              </a:prstGeom>
            </p:spPr>
          </p:pic>
        </mc:Fallback>
      </mc:AlternateContent>
    </p:spTree>
    <p:extLst>
      <p:ext uri="{BB962C8B-B14F-4D97-AF65-F5344CB8AC3E}">
        <p14:creationId xmlns:p14="http://schemas.microsoft.com/office/powerpoint/2010/main" val="3999547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52E0A499-383A-4546-85A3-5D6FE0CBF39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9459" name="Rectangle 2">
            <a:extLst>
              <a:ext uri="{FF2B5EF4-FFF2-40B4-BE49-F238E27FC236}">
                <a16:creationId xmlns:a16="http://schemas.microsoft.com/office/drawing/2014/main" id="{63FAD3AE-4573-4B9E-914D-3FCBDA404C3B}"/>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48131" name="Rectangle 3">
            <a:extLst>
              <a:ext uri="{FF2B5EF4-FFF2-40B4-BE49-F238E27FC236}">
                <a16:creationId xmlns:a16="http://schemas.microsoft.com/office/drawing/2014/main" id="{14B19229-016E-4D7C-8496-07143C5A312F}"/>
              </a:ext>
            </a:extLst>
          </p:cNvPr>
          <p:cNvSpPr>
            <a:spLocks noGrp="1" noChangeArrowheads="1"/>
          </p:cNvSpPr>
          <p:nvPr>
            <p:ph type="title"/>
          </p:nvPr>
        </p:nvSpPr>
        <p:spPr/>
        <p:txBody>
          <a:bodyPr/>
          <a:lstStyle/>
          <a:p>
            <a:r>
              <a:rPr lang="en-US" altLang="en-US"/>
              <a:t>Algorithm 2: Property Analysis</a:t>
            </a:r>
          </a:p>
        </p:txBody>
      </p:sp>
      <p:sp>
        <p:nvSpPr>
          <p:cNvPr id="48132" name="Rectangle 4">
            <a:extLst>
              <a:ext uri="{FF2B5EF4-FFF2-40B4-BE49-F238E27FC236}">
                <a16:creationId xmlns:a16="http://schemas.microsoft.com/office/drawing/2014/main" id="{112542B1-53B4-42D2-9FB8-9670AD0D5B25}"/>
              </a:ext>
            </a:extLst>
          </p:cNvPr>
          <p:cNvSpPr>
            <a:spLocks noGrp="1" noChangeArrowheads="1"/>
          </p:cNvSpPr>
          <p:nvPr>
            <p:ph type="body" idx="1"/>
          </p:nvPr>
        </p:nvSpPr>
        <p:spPr>
          <a:xfrm>
            <a:off x="1019175" y="7034213"/>
            <a:ext cx="7029450" cy="4906962"/>
          </a:xfrm>
        </p:spPr>
        <p:txBody>
          <a:bodyPr/>
          <a:lstStyle/>
          <a:p>
            <a:pPr lvl="1">
              <a:tabLst>
                <a:tab pos="2403475" algn="l"/>
                <a:tab pos="2684463" algn="l"/>
                <a:tab pos="2974975" algn="l"/>
              </a:tabLst>
            </a:pPr>
            <a:r>
              <a:rPr lang="en-US" altLang="en-US" sz="2800"/>
              <a:t>Consider the following execution sequence:</a:t>
            </a:r>
          </a:p>
          <a:p>
            <a:pPr lvl="1">
              <a:buFontTx/>
              <a:buNone/>
              <a:tabLst>
                <a:tab pos="2403475" algn="l"/>
                <a:tab pos="2684463" algn="l"/>
                <a:tab pos="2974975" algn="l"/>
              </a:tabLst>
            </a:pPr>
            <a:r>
              <a:rPr lang="en-US" altLang="en-US" sz="2800"/>
              <a:t>	</a:t>
            </a:r>
            <a:r>
              <a:rPr lang="en-US" altLang="en-US" sz="2800" i="1"/>
              <a:t>T</a:t>
            </a:r>
            <a:r>
              <a:rPr lang="en-US" altLang="en-US" sz="2800" i="1" baseline="-25000"/>
              <a:t>0</a:t>
            </a:r>
            <a:r>
              <a:rPr lang="en-US" altLang="en-US" sz="2800"/>
              <a:t> : </a:t>
            </a:r>
            <a:r>
              <a:rPr lang="en-US" altLang="en-US" sz="2800" i="1"/>
              <a:t>P</a:t>
            </a:r>
            <a:r>
              <a:rPr lang="en-US" altLang="en-US" sz="2800" i="1" baseline="-25000"/>
              <a:t>0</a:t>
            </a:r>
            <a:r>
              <a:rPr lang="en-US" altLang="en-US" sz="2800" i="1"/>
              <a:t> </a:t>
            </a:r>
            <a:r>
              <a:rPr lang="en-US" altLang="en-US" sz="2800"/>
              <a:t>sets</a:t>
            </a:r>
            <a:r>
              <a:rPr lang="en-US" altLang="en-US" sz="2800" i="1"/>
              <a:t> flag</a:t>
            </a:r>
            <a:r>
              <a:rPr lang="en-US" altLang="en-US" sz="2800"/>
              <a:t>[0]</a:t>
            </a:r>
            <a:r>
              <a:rPr lang="en-US" altLang="en-US" sz="2800" i="1"/>
              <a:t> = true</a:t>
            </a:r>
          </a:p>
          <a:p>
            <a:pPr lvl="1">
              <a:buFontTx/>
              <a:buNone/>
              <a:tabLst>
                <a:tab pos="2403475" algn="l"/>
                <a:tab pos="2684463" algn="l"/>
                <a:tab pos="2974975" algn="l"/>
              </a:tabLst>
            </a:pPr>
            <a:r>
              <a:rPr lang="en-US" altLang="en-US" sz="2800" i="1"/>
              <a:t>	T</a:t>
            </a:r>
            <a:r>
              <a:rPr lang="en-US" altLang="en-US" sz="2800" i="1" baseline="-25000"/>
              <a:t>1</a:t>
            </a:r>
            <a:r>
              <a:rPr lang="en-US" altLang="en-US" sz="2800"/>
              <a:t> : </a:t>
            </a:r>
            <a:r>
              <a:rPr lang="en-US" altLang="en-US" sz="2800" i="1"/>
              <a:t>P</a:t>
            </a:r>
            <a:r>
              <a:rPr lang="en-US" altLang="en-US" sz="2800" i="1" baseline="-25000"/>
              <a:t>1</a:t>
            </a:r>
            <a:r>
              <a:rPr lang="en-US" altLang="en-US" sz="2800" i="1"/>
              <a:t> </a:t>
            </a:r>
            <a:r>
              <a:rPr lang="en-US" altLang="en-US" sz="2800"/>
              <a:t>sets</a:t>
            </a:r>
            <a:r>
              <a:rPr lang="en-US" altLang="en-US" sz="2800" i="1"/>
              <a:t> flag</a:t>
            </a:r>
            <a:r>
              <a:rPr lang="en-US" altLang="en-US" sz="2800"/>
              <a:t>[1]</a:t>
            </a:r>
            <a:r>
              <a:rPr lang="en-US" altLang="en-US" sz="2800" i="1"/>
              <a:t> = true</a:t>
            </a:r>
          </a:p>
          <a:p>
            <a:pPr lvl="1">
              <a:buFontTx/>
              <a:buNone/>
              <a:tabLst>
                <a:tab pos="2403475" algn="l"/>
                <a:tab pos="2684463" algn="l"/>
                <a:tab pos="2974975" algn="l"/>
              </a:tabLst>
            </a:pPr>
            <a:r>
              <a:rPr lang="en-US" altLang="en-US" sz="2800" i="1"/>
              <a:t>	Now P</a:t>
            </a:r>
            <a:r>
              <a:rPr lang="en-US" altLang="en-US" sz="2800" i="1" baseline="-25000"/>
              <a:t>0  </a:t>
            </a:r>
            <a:r>
              <a:rPr lang="en-US" altLang="en-US" sz="2800"/>
              <a:t>and </a:t>
            </a:r>
            <a:r>
              <a:rPr lang="en-US" altLang="en-US" sz="2800" i="1"/>
              <a:t>P</a:t>
            </a:r>
            <a:r>
              <a:rPr lang="en-US" altLang="en-US" sz="2800" i="1" baseline="-25000"/>
              <a:t>1 </a:t>
            </a:r>
            <a:r>
              <a:rPr lang="en-US" altLang="en-US" sz="2800"/>
              <a:t>are looping forever in their respective </a:t>
            </a:r>
            <a:r>
              <a:rPr lang="en-US" altLang="en-US" sz="2800" b="1"/>
              <a:t>while</a:t>
            </a:r>
            <a:r>
              <a:rPr lang="en-US" altLang="en-US" sz="2800"/>
              <a:t> statements.</a:t>
            </a:r>
          </a:p>
        </p:txBody>
      </p:sp>
      <p:sp>
        <p:nvSpPr>
          <p:cNvPr id="7" name="Rectangle 1028">
            <a:extLst>
              <a:ext uri="{FF2B5EF4-FFF2-40B4-BE49-F238E27FC236}">
                <a16:creationId xmlns:a16="http://schemas.microsoft.com/office/drawing/2014/main" id="{3F3457E8-ECE7-43CD-BDBE-30F82E1783AA}"/>
              </a:ext>
            </a:extLst>
          </p:cNvPr>
          <p:cNvSpPr txBox="1">
            <a:spLocks noChangeArrowheads="1"/>
          </p:cNvSpPr>
          <p:nvPr/>
        </p:nvSpPr>
        <p:spPr bwMode="auto">
          <a:xfrm>
            <a:off x="265113" y="1052513"/>
            <a:ext cx="8623300" cy="4865687"/>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marL="514350" indent="-514350">
              <a:buFont typeface="+mj-lt"/>
              <a:buAutoNum type="arabicPeriod"/>
              <a:tabLst>
                <a:tab pos="2005013" algn="l"/>
                <a:tab pos="2339975" algn="l"/>
                <a:tab pos="2630488" algn="l"/>
              </a:tabLst>
              <a:defRPr/>
            </a:pPr>
            <a:r>
              <a:rPr lang="en-US" altLang="en-US" sz="2800" kern="0" dirty="0">
                <a:solidFill>
                  <a:schemeClr val="accent2"/>
                </a:solidFill>
              </a:rPr>
              <a:t>Mutual Exclusion? </a:t>
            </a:r>
            <a:r>
              <a:rPr lang="en-US" altLang="en-US" sz="2800" b="1" kern="0" dirty="0">
                <a:solidFill>
                  <a:srgbClr val="00B050"/>
                </a:solidFill>
                <a:sym typeface="Wingdings"/>
              </a:rPr>
              <a:t> </a:t>
            </a:r>
          </a:p>
          <a:p>
            <a:pPr marL="849313" lvl="1" indent="-334963">
              <a:tabLst>
                <a:tab pos="2005013" algn="l"/>
                <a:tab pos="2339975" algn="l"/>
                <a:tab pos="2630488" algn="l"/>
              </a:tabLst>
              <a:defRPr/>
            </a:pPr>
            <a:r>
              <a:rPr lang="en-US" altLang="en-US" sz="2000" kern="0" dirty="0">
                <a:sym typeface="Wingdings"/>
              </a:rPr>
              <a:t>Suppose P</a:t>
            </a:r>
            <a:r>
              <a:rPr lang="en-US" altLang="en-US" sz="2000" kern="0" baseline="-25000" dirty="0">
                <a:sym typeface="Wingdings"/>
              </a:rPr>
              <a:t>0</a:t>
            </a:r>
            <a:r>
              <a:rPr lang="en-US" altLang="en-US" sz="2000" kern="0" dirty="0">
                <a:sym typeface="Wingdings"/>
              </a:rPr>
              <a:t> enters critical section, then </a:t>
            </a:r>
            <a:r>
              <a:rPr lang="en-US" altLang="en-US" sz="2000" b="1" kern="0" dirty="0">
                <a:solidFill>
                  <a:schemeClr val="accent1">
                    <a:lumMod val="75000"/>
                  </a:schemeClr>
                </a:solidFill>
                <a:sym typeface="Wingdings"/>
              </a:rPr>
              <a:t>flag [ 1 ] = false</a:t>
            </a:r>
            <a:r>
              <a:rPr lang="en-US" altLang="en-US" sz="2000" kern="0" dirty="0">
                <a:solidFill>
                  <a:schemeClr val="accent1">
                    <a:lumMod val="75000"/>
                  </a:schemeClr>
                </a:solidFill>
                <a:sym typeface="Wingdings"/>
              </a:rPr>
              <a:t> </a:t>
            </a:r>
            <a:r>
              <a:rPr lang="en-US" altLang="en-US" sz="2000" kern="0" dirty="0">
                <a:sym typeface="Wingdings"/>
              </a:rPr>
              <a:t>and      </a:t>
            </a:r>
            <a:r>
              <a:rPr lang="en-US" altLang="en-US" sz="2000" b="1" kern="0" dirty="0">
                <a:solidFill>
                  <a:schemeClr val="accent1">
                    <a:lumMod val="75000"/>
                  </a:schemeClr>
                </a:solidFill>
                <a:sym typeface="Wingdings"/>
              </a:rPr>
              <a:t>flag [ 0 ] = true</a:t>
            </a:r>
          </a:p>
          <a:p>
            <a:pPr marL="849313" lvl="1" indent="-334963">
              <a:tabLst>
                <a:tab pos="2005013" algn="l"/>
                <a:tab pos="2339975" algn="l"/>
                <a:tab pos="2630488" algn="l"/>
              </a:tabLst>
              <a:defRPr/>
            </a:pPr>
            <a:r>
              <a:rPr lang="en-US" altLang="en-US" sz="2000" b="1" kern="0" dirty="0">
                <a:solidFill>
                  <a:schemeClr val="accent1">
                    <a:lumMod val="75000"/>
                  </a:schemeClr>
                </a:solidFill>
              </a:rPr>
              <a:t>flag [ 0 ]</a:t>
            </a:r>
            <a:r>
              <a:rPr lang="en-US" altLang="en-US" sz="2000" kern="0" dirty="0">
                <a:solidFill>
                  <a:schemeClr val="accent1">
                    <a:lumMod val="75000"/>
                  </a:schemeClr>
                </a:solidFill>
              </a:rPr>
              <a:t> </a:t>
            </a:r>
            <a:r>
              <a:rPr lang="en-US" altLang="en-US" sz="2000" kern="0" dirty="0"/>
              <a:t>is only updated to false in the exit section of P</a:t>
            </a:r>
            <a:r>
              <a:rPr lang="en-US" altLang="en-US" sz="2000" kern="0" baseline="-25000" dirty="0"/>
              <a:t>0</a:t>
            </a:r>
            <a:endParaRPr lang="en-US" altLang="en-US" sz="2000" kern="0" dirty="0"/>
          </a:p>
          <a:p>
            <a:pPr marL="849313" lvl="1" indent="-334963">
              <a:tabLst>
                <a:tab pos="2005013" algn="l"/>
                <a:tab pos="2339975" algn="l"/>
                <a:tab pos="2630488" algn="l"/>
              </a:tabLst>
              <a:defRPr/>
            </a:pPr>
            <a:r>
              <a:rPr lang="en-US" altLang="en-US" sz="2000" kern="0" dirty="0"/>
              <a:t>Process P</a:t>
            </a:r>
            <a:r>
              <a:rPr lang="en-US" altLang="en-US" sz="2000" kern="0" baseline="-25000" dirty="0"/>
              <a:t>1</a:t>
            </a:r>
            <a:r>
              <a:rPr lang="en-US" altLang="en-US" sz="2000" kern="0" dirty="0"/>
              <a:t> therefore cannot enter its critical section</a:t>
            </a:r>
          </a:p>
          <a:p>
            <a:pPr marL="2343150" lvl="4" indent="-514350">
              <a:tabLst>
                <a:tab pos="2005013" algn="l"/>
                <a:tab pos="2339975" algn="l"/>
                <a:tab pos="2630488" algn="l"/>
              </a:tabLst>
              <a:defRPr/>
            </a:pPr>
            <a:endParaRPr lang="en-US" altLang="en-US" kern="0" dirty="0"/>
          </a:p>
          <a:p>
            <a:pPr marL="514350" indent="-514350">
              <a:buFont typeface="+mj-lt"/>
              <a:buAutoNum type="arabicPeriod"/>
              <a:tabLst>
                <a:tab pos="2005013" algn="l"/>
                <a:tab pos="2339975" algn="l"/>
                <a:tab pos="2630488" algn="l"/>
              </a:tabLst>
              <a:defRPr/>
            </a:pPr>
            <a:r>
              <a:rPr lang="en-US" altLang="en-US" sz="2800" kern="0" dirty="0">
                <a:solidFill>
                  <a:schemeClr val="accent2"/>
                </a:solidFill>
              </a:rPr>
              <a:t>Progress? </a:t>
            </a:r>
            <a:r>
              <a:rPr lang="en-US" altLang="en-US" sz="2800" b="1" kern="0" dirty="0">
                <a:solidFill>
                  <a:srgbClr val="FF0000"/>
                </a:solidFill>
                <a:sym typeface="Wingdings"/>
              </a:rPr>
              <a:t> </a:t>
            </a:r>
            <a:r>
              <a:rPr lang="en-US" altLang="en-US" sz="2400" kern="0" dirty="0">
                <a:sym typeface="Wingdings"/>
              </a:rPr>
              <a:t>Consider the following interleaving:</a:t>
            </a:r>
          </a:p>
          <a:p>
            <a:pPr marL="898525" lvl="1" indent="-384175">
              <a:buFont typeface="+mj-lt"/>
              <a:buAutoNum type="arabicPeriod"/>
              <a:tabLst>
                <a:tab pos="2005013" algn="l"/>
                <a:tab pos="2339975" algn="l"/>
                <a:tab pos="2630488" algn="l"/>
              </a:tabLst>
              <a:defRPr/>
            </a:pPr>
            <a:r>
              <a:rPr lang="en-US" altLang="en-US" sz="2000" kern="0" dirty="0">
                <a:sym typeface="Wingdings"/>
              </a:rPr>
              <a:t>P</a:t>
            </a:r>
            <a:r>
              <a:rPr lang="en-US" altLang="en-US" sz="2000" kern="0" baseline="-25000" dirty="0">
                <a:sym typeface="Wingdings"/>
              </a:rPr>
              <a:t>0</a:t>
            </a:r>
            <a:r>
              <a:rPr lang="en-US" altLang="en-US" sz="2000" kern="0" dirty="0">
                <a:sym typeface="Wingdings"/>
              </a:rPr>
              <a:t> executes </a:t>
            </a:r>
            <a:r>
              <a:rPr lang="en-US" altLang="en-US" sz="2000" b="1" kern="0" dirty="0">
                <a:solidFill>
                  <a:schemeClr val="accent1">
                    <a:lumMod val="75000"/>
                  </a:schemeClr>
                </a:solidFill>
                <a:sym typeface="Wingdings"/>
              </a:rPr>
              <a:t>flag [ 0 ] = true;</a:t>
            </a:r>
          </a:p>
          <a:p>
            <a:pPr marL="898525" lvl="1" indent="-384175">
              <a:buFont typeface="+mj-lt"/>
              <a:buAutoNum type="arabicPeriod"/>
              <a:tabLst>
                <a:tab pos="2005013" algn="l"/>
                <a:tab pos="2339975" algn="l"/>
                <a:tab pos="2630488" algn="l"/>
              </a:tabLst>
              <a:defRPr/>
            </a:pPr>
            <a:r>
              <a:rPr lang="en-US" altLang="en-US" sz="2000" b="1" kern="0" dirty="0">
                <a:sym typeface="Wingdings"/>
              </a:rPr>
              <a:t>Context switch to P</a:t>
            </a:r>
            <a:r>
              <a:rPr lang="en-US" altLang="en-US" sz="2000" b="1" kern="0" baseline="-25000" dirty="0">
                <a:sym typeface="Wingdings"/>
              </a:rPr>
              <a:t>1</a:t>
            </a:r>
          </a:p>
          <a:p>
            <a:pPr marL="898525" lvl="1" indent="-384175">
              <a:buFont typeface="+mj-lt"/>
              <a:buAutoNum type="arabicPeriod"/>
              <a:tabLst>
                <a:tab pos="2005013" algn="l"/>
                <a:tab pos="2339975" algn="l"/>
                <a:tab pos="2630488" algn="l"/>
              </a:tabLst>
              <a:defRPr/>
            </a:pPr>
            <a:r>
              <a:rPr lang="en-US" altLang="en-US" sz="2000" kern="0" dirty="0">
                <a:sym typeface="Wingdings"/>
              </a:rPr>
              <a:t>P</a:t>
            </a:r>
            <a:r>
              <a:rPr lang="en-US" altLang="en-US" sz="2000" kern="0" baseline="-25000" dirty="0">
                <a:sym typeface="Wingdings"/>
              </a:rPr>
              <a:t>1</a:t>
            </a:r>
            <a:r>
              <a:rPr lang="en-US" altLang="en-US" sz="2000" kern="0" dirty="0">
                <a:sym typeface="Wingdings"/>
              </a:rPr>
              <a:t> executes </a:t>
            </a:r>
            <a:r>
              <a:rPr lang="en-US" altLang="en-US" sz="2000" b="1" kern="0" dirty="0">
                <a:solidFill>
                  <a:schemeClr val="accent1">
                    <a:lumMod val="75000"/>
                  </a:schemeClr>
                </a:solidFill>
                <a:sym typeface="Wingdings"/>
              </a:rPr>
              <a:t>flag [ 1 ] = true; </a:t>
            </a:r>
          </a:p>
          <a:p>
            <a:pPr marL="2343150" lvl="4" indent="-514350">
              <a:tabLst>
                <a:tab pos="2005013" algn="l"/>
                <a:tab pos="2339975" algn="l"/>
                <a:tab pos="2630488" algn="l"/>
              </a:tabLst>
              <a:defRPr/>
            </a:pPr>
            <a:endParaRPr lang="en-US" altLang="en-US" b="1" kern="0" dirty="0">
              <a:solidFill>
                <a:schemeClr val="accent1">
                  <a:lumMod val="75000"/>
                </a:schemeClr>
              </a:solidFill>
            </a:endParaRPr>
          </a:p>
          <a:p>
            <a:pPr marL="514350" indent="-514350">
              <a:buFont typeface="+mj-lt"/>
              <a:buAutoNum type="arabicPeriod"/>
              <a:tabLst>
                <a:tab pos="2005013" algn="l"/>
                <a:tab pos="2339975" algn="l"/>
                <a:tab pos="2630488" algn="l"/>
              </a:tabLst>
              <a:defRPr/>
            </a:pPr>
            <a:r>
              <a:rPr lang="en-US" altLang="en-US" sz="2800" kern="0" dirty="0">
                <a:solidFill>
                  <a:schemeClr val="accent2"/>
                </a:solidFill>
              </a:rPr>
              <a:t>Bounded Waiting? </a:t>
            </a:r>
            <a:r>
              <a:rPr lang="en-US" altLang="en-US" sz="2800" b="1" kern="0" dirty="0">
                <a:solidFill>
                  <a:srgbClr val="00B050"/>
                </a:solidFill>
                <a:sym typeface="Wingdings"/>
              </a:rPr>
              <a:t></a:t>
            </a:r>
          </a:p>
          <a:p>
            <a:pPr marL="898525" lvl="1" indent="-384175">
              <a:tabLst>
                <a:tab pos="2005013" algn="l"/>
                <a:tab pos="2339975" algn="l"/>
                <a:tab pos="2630488" algn="l"/>
              </a:tabLst>
              <a:defRPr/>
            </a:pPr>
            <a:r>
              <a:rPr lang="en-US" altLang="en-US" sz="2000" kern="0" dirty="0">
                <a:sym typeface="Wingdings"/>
              </a:rPr>
              <a:t>Once P</a:t>
            </a:r>
            <a:r>
              <a:rPr lang="en-US" altLang="en-US" sz="2000" kern="0" baseline="-25000" dirty="0">
                <a:sym typeface="Wingdings"/>
              </a:rPr>
              <a:t>0</a:t>
            </a:r>
            <a:r>
              <a:rPr lang="en-US" altLang="en-US" sz="2000" kern="0" dirty="0">
                <a:sym typeface="Wingdings"/>
              </a:rPr>
              <a:t> sets </a:t>
            </a:r>
            <a:r>
              <a:rPr lang="en-US" altLang="en-US" sz="2000" b="1" kern="0" dirty="0">
                <a:solidFill>
                  <a:schemeClr val="accent1">
                    <a:lumMod val="75000"/>
                  </a:schemeClr>
                </a:solidFill>
                <a:sym typeface="Wingdings"/>
              </a:rPr>
              <a:t>flag [ 0 ] = true</a:t>
            </a:r>
            <a:r>
              <a:rPr lang="en-US" altLang="en-US" sz="2000" kern="0" dirty="0">
                <a:sym typeface="Wingdings"/>
              </a:rPr>
              <a:t>, process P</a:t>
            </a:r>
            <a:r>
              <a:rPr lang="en-US" altLang="en-US" sz="2000" kern="0" baseline="-25000" dirty="0">
                <a:sym typeface="Wingdings"/>
              </a:rPr>
              <a:t>1</a:t>
            </a:r>
            <a:r>
              <a:rPr lang="en-US" altLang="en-US" sz="2000" kern="0" dirty="0">
                <a:sym typeface="Wingdings"/>
              </a:rPr>
              <a:t> cannot enter its critical section</a:t>
            </a:r>
          </a:p>
        </p:txBody>
      </p:sp>
      <p:sp>
        <p:nvSpPr>
          <p:cNvPr id="2" name="TextBox 1">
            <a:extLst>
              <a:ext uri="{FF2B5EF4-FFF2-40B4-BE49-F238E27FC236}">
                <a16:creationId xmlns:a16="http://schemas.microsoft.com/office/drawing/2014/main" id="{6DB81D62-DA11-41E3-8432-5124D548571E}"/>
              </a:ext>
            </a:extLst>
          </p:cNvPr>
          <p:cNvSpPr txBox="1"/>
          <p:nvPr/>
        </p:nvSpPr>
        <p:spPr>
          <a:xfrm>
            <a:off x="5310188" y="3992563"/>
            <a:ext cx="3440112" cy="984250"/>
          </a:xfrm>
          <a:prstGeom prst="rect">
            <a:avLst/>
          </a:prstGeom>
          <a:noFill/>
        </p:spPr>
        <p:txBody>
          <a:bodyPr>
            <a:spAutoFit/>
          </a:bodyPr>
          <a:lstStyle/>
          <a:p>
            <a:pPr marL="0" lvl="1">
              <a:defRPr/>
            </a:pPr>
            <a:r>
              <a:rPr lang="en-US" altLang="en-US" sz="2000" kern="0" dirty="0">
                <a:solidFill>
                  <a:srgbClr val="FF0000"/>
                </a:solidFill>
                <a:latin typeface="Helvetica" charset="0"/>
                <a:sym typeface="Wingdings"/>
              </a:rPr>
              <a:t>Both P</a:t>
            </a:r>
            <a:r>
              <a:rPr lang="en-US" altLang="en-US" sz="2000" kern="0" baseline="-25000" dirty="0">
                <a:solidFill>
                  <a:srgbClr val="FF0000"/>
                </a:solidFill>
                <a:latin typeface="Helvetica" charset="0"/>
                <a:sym typeface="Wingdings"/>
              </a:rPr>
              <a:t>0 </a:t>
            </a:r>
            <a:r>
              <a:rPr lang="en-US" altLang="en-US" sz="2000" kern="0" dirty="0">
                <a:solidFill>
                  <a:srgbClr val="FF0000"/>
                </a:solidFill>
                <a:latin typeface="Helvetica" charset="0"/>
                <a:sym typeface="Wingdings"/>
              </a:rPr>
              <a:t>and P</a:t>
            </a:r>
            <a:r>
              <a:rPr lang="en-US" altLang="en-US" sz="2000" kern="0" baseline="-25000" dirty="0">
                <a:solidFill>
                  <a:srgbClr val="FF0000"/>
                </a:solidFill>
                <a:latin typeface="Helvetica" charset="0"/>
                <a:sym typeface="Wingdings"/>
              </a:rPr>
              <a:t>1 </a:t>
            </a:r>
            <a:r>
              <a:rPr lang="en-US" altLang="en-US" sz="2000" kern="0" dirty="0">
                <a:solidFill>
                  <a:srgbClr val="FF0000"/>
                </a:solidFill>
                <a:latin typeface="Helvetica" charset="0"/>
                <a:sym typeface="Wingdings"/>
              </a:rPr>
              <a:t>are stuck in an infinite while loop now!</a:t>
            </a:r>
          </a:p>
          <a:p>
            <a:pPr>
              <a:defRPr/>
            </a:pPr>
            <a:endParaRPr lang="en-US" dirty="0">
              <a:latin typeface="Helvetica" charset="0"/>
            </a:endParaRPr>
          </a:p>
        </p:txBody>
      </p:sp>
      <p:cxnSp>
        <p:nvCxnSpPr>
          <p:cNvPr id="4" name="Straight Arrow Connector 3">
            <a:extLst>
              <a:ext uri="{FF2B5EF4-FFF2-40B4-BE49-F238E27FC236}">
                <a16:creationId xmlns:a16="http://schemas.microsoft.com/office/drawing/2014/main" id="{FAF4C8DC-2C62-43CD-ACBC-C72C88D543AB}"/>
              </a:ext>
            </a:extLst>
          </p:cNvPr>
          <p:cNvCxnSpPr>
            <a:cxnSpLocks noChangeShapeType="1"/>
            <a:stCxn id="2" idx="1"/>
          </p:cNvCxnSpPr>
          <p:nvPr/>
        </p:nvCxnSpPr>
        <p:spPr bwMode="auto">
          <a:xfrm flipH="1">
            <a:off x="4679950" y="4484688"/>
            <a:ext cx="630238" cy="254000"/>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3">
            <a:extLst>
              <a:ext uri="{FF2B5EF4-FFF2-40B4-BE49-F238E27FC236}">
                <a16:creationId xmlns:a16="http://schemas.microsoft.com/office/drawing/2014/main" id="{481A9B87-9933-46D4-84B7-180787DA5698}"/>
              </a:ext>
            </a:extLst>
          </p:cNvPr>
          <p:cNvSpPr>
            <a:spLocks noGrp="1" noChangeArrowheads="1"/>
          </p:cNvSpPr>
          <p:nvPr>
            <p:ph type="body" idx="1"/>
          </p:nvPr>
        </p:nvSpPr>
        <p:spPr>
          <a:xfrm>
            <a:off x="206375" y="1244600"/>
            <a:ext cx="8750300" cy="5032375"/>
          </a:xfrm>
        </p:spPr>
        <p:txBody>
          <a:bodyPr/>
          <a:lstStyle/>
          <a:p>
            <a:pPr>
              <a:lnSpc>
                <a:spcPct val="90000"/>
              </a:lnSpc>
              <a:tabLst>
                <a:tab pos="1370013" algn="l"/>
                <a:tab pos="1714500" algn="l"/>
                <a:tab pos="2005013" algn="l"/>
              </a:tabLst>
            </a:pPr>
            <a:r>
              <a:rPr lang="en-US" altLang="en-US" sz="2800" dirty="0"/>
              <a:t>Variables are a combination of Algorithms 1 and 2</a:t>
            </a:r>
          </a:p>
          <a:p>
            <a:pPr lvl="1">
              <a:lnSpc>
                <a:spcPct val="90000"/>
              </a:lnSpc>
              <a:tabLst>
                <a:tab pos="1370013" algn="l"/>
                <a:tab pos="1714500" algn="l"/>
                <a:tab pos="2005013" algn="l"/>
              </a:tabLst>
            </a:pPr>
            <a:r>
              <a:rPr lang="en-US" altLang="en-US" sz="2400" i="1" dirty="0">
                <a:solidFill>
                  <a:srgbClr val="FF0000"/>
                </a:solidFill>
              </a:rPr>
              <a:t>flag</a:t>
            </a:r>
            <a:r>
              <a:rPr lang="en-US" altLang="en-US" sz="2400" dirty="0">
                <a:solidFill>
                  <a:srgbClr val="FF0000"/>
                </a:solidFill>
              </a:rPr>
              <a:t> [ </a:t>
            </a:r>
            <a:r>
              <a:rPr lang="en-US" altLang="en-US" sz="2400" i="1" dirty="0" err="1">
                <a:solidFill>
                  <a:srgbClr val="FF0000"/>
                </a:solidFill>
              </a:rPr>
              <a:t>i</a:t>
            </a:r>
            <a:r>
              <a:rPr lang="en-US" altLang="en-US" sz="2400" i="1" dirty="0">
                <a:solidFill>
                  <a:srgbClr val="FF0000"/>
                </a:solidFill>
              </a:rPr>
              <a:t> </a:t>
            </a:r>
            <a:r>
              <a:rPr lang="en-US" altLang="en-US" sz="2400" dirty="0">
                <a:solidFill>
                  <a:srgbClr val="FF0000"/>
                </a:solidFill>
              </a:rPr>
              <a:t>] = </a:t>
            </a:r>
            <a:r>
              <a:rPr lang="en-US" altLang="en-US" sz="2400" i="1" dirty="0">
                <a:solidFill>
                  <a:srgbClr val="FF0000"/>
                </a:solidFill>
              </a:rPr>
              <a:t>true</a:t>
            </a:r>
            <a:r>
              <a:rPr lang="en-US" altLang="en-US" sz="2400" dirty="0">
                <a:solidFill>
                  <a:srgbClr val="FF0000"/>
                </a:solidFill>
              </a:rPr>
              <a:t> </a:t>
            </a:r>
            <a:r>
              <a:rPr lang="en-US" altLang="en-US" sz="2400" dirty="0">
                <a:solidFill>
                  <a:srgbClr val="FF0000"/>
                </a:solidFill>
                <a:sym typeface="Symbol" panose="05050102010706020507" pitchFamily="18" charset="2"/>
              </a:rPr>
              <a:t> </a:t>
            </a:r>
            <a:r>
              <a:rPr lang="en-US" altLang="en-US" sz="2400" i="1" dirty="0">
                <a:solidFill>
                  <a:srgbClr val="FF0000"/>
                </a:solidFill>
                <a:sym typeface="Symbol" panose="05050102010706020507" pitchFamily="18" charset="2"/>
              </a:rPr>
              <a:t>P</a:t>
            </a:r>
            <a:r>
              <a:rPr lang="en-US" altLang="en-US" sz="2400" i="1" baseline="-25000" dirty="0">
                <a:solidFill>
                  <a:srgbClr val="FF0000"/>
                </a:solidFill>
                <a:sym typeface="Symbol" panose="05050102010706020507" pitchFamily="18" charset="2"/>
              </a:rPr>
              <a:t>i</a:t>
            </a:r>
            <a:r>
              <a:rPr lang="en-US" altLang="en-US" sz="2400" dirty="0">
                <a:solidFill>
                  <a:srgbClr val="FF0000"/>
                </a:solidFill>
                <a:sym typeface="Symbol" panose="05050102010706020507" pitchFamily="18" charset="2"/>
              </a:rPr>
              <a:t> ready to enter its critical section</a:t>
            </a:r>
            <a:endParaRPr lang="en-US" altLang="en-US" sz="2400" dirty="0">
              <a:solidFill>
                <a:srgbClr val="FF0000"/>
              </a:solidFill>
              <a:cs typeface="Helvetica"/>
            </a:endParaRPr>
          </a:p>
          <a:p>
            <a:pPr lvl="1">
              <a:lnSpc>
                <a:spcPct val="90000"/>
              </a:lnSpc>
              <a:tabLst>
                <a:tab pos="1370013" algn="l"/>
                <a:tab pos="1714500" algn="l"/>
                <a:tab pos="2005013" algn="l"/>
              </a:tabLst>
            </a:pPr>
            <a:r>
              <a:rPr lang="en-US" altLang="en-US" sz="2400" i="1" dirty="0">
                <a:solidFill>
                  <a:srgbClr val="FF0000"/>
                </a:solidFill>
              </a:rPr>
              <a:t>turn</a:t>
            </a:r>
            <a:r>
              <a:rPr lang="en-US" altLang="en-US" sz="2400" dirty="0">
                <a:solidFill>
                  <a:srgbClr val="FF0000"/>
                </a:solidFill>
              </a:rPr>
              <a:t> = </a:t>
            </a:r>
            <a:r>
              <a:rPr lang="en-US" altLang="en-US" sz="2400" i="1" dirty="0" err="1">
                <a:solidFill>
                  <a:srgbClr val="FF0000"/>
                </a:solidFill>
              </a:rPr>
              <a:t>i</a:t>
            </a:r>
            <a:r>
              <a:rPr lang="en-US" altLang="en-US" sz="2400" dirty="0">
                <a:solidFill>
                  <a:srgbClr val="FF0000"/>
                </a:solidFill>
              </a:rPr>
              <a:t> </a:t>
            </a:r>
            <a:r>
              <a:rPr lang="en-US" altLang="en-US" sz="2400" dirty="0">
                <a:solidFill>
                  <a:srgbClr val="FF0000"/>
                </a:solidFill>
                <a:sym typeface="Symbol" panose="05050102010706020507" pitchFamily="18" charset="2"/>
              </a:rPr>
              <a:t> </a:t>
            </a:r>
            <a:r>
              <a:rPr lang="en-US" altLang="en-US" sz="2400" i="1" dirty="0">
                <a:solidFill>
                  <a:srgbClr val="FF0000"/>
                </a:solidFill>
                <a:sym typeface="Symbol" panose="05050102010706020507" pitchFamily="18" charset="2"/>
              </a:rPr>
              <a:t>P</a:t>
            </a:r>
            <a:r>
              <a:rPr lang="en-US" altLang="en-US" sz="2400" i="1" baseline="-25000" dirty="0">
                <a:solidFill>
                  <a:srgbClr val="FF0000"/>
                </a:solidFill>
                <a:sym typeface="Symbol" panose="05050102010706020507" pitchFamily="18" charset="2"/>
              </a:rPr>
              <a:t>i</a:t>
            </a:r>
            <a:r>
              <a:rPr lang="en-US" altLang="en-US" sz="2400" dirty="0">
                <a:solidFill>
                  <a:srgbClr val="FF0000"/>
                </a:solidFill>
                <a:sym typeface="Symbol" panose="05050102010706020507" pitchFamily="18" charset="2"/>
              </a:rPr>
              <a:t> can enter critical section</a:t>
            </a:r>
            <a:endParaRPr lang="en-US" altLang="en-US" sz="2400" dirty="0"/>
          </a:p>
          <a:p>
            <a:pPr lvl="4">
              <a:lnSpc>
                <a:spcPct val="90000"/>
              </a:lnSpc>
              <a:tabLst>
                <a:tab pos="1370013" algn="l"/>
                <a:tab pos="1714500" algn="l"/>
                <a:tab pos="2005013" algn="l"/>
              </a:tabLst>
            </a:pPr>
            <a:endParaRPr lang="en-US" altLang="en-US" sz="2200"/>
          </a:p>
          <a:p>
            <a:pPr>
              <a:lnSpc>
                <a:spcPct val="90000"/>
              </a:lnSpc>
              <a:tabLst>
                <a:tab pos="1370013" algn="l"/>
                <a:tab pos="1714500" algn="l"/>
                <a:tab pos="2005013" algn="l"/>
              </a:tabLst>
            </a:pPr>
            <a:r>
              <a:rPr lang="en-US" altLang="en-US" sz="2400" dirty="0"/>
              <a:t>Proc. P</a:t>
            </a:r>
            <a:r>
              <a:rPr lang="en-US" altLang="en-US" sz="2400" baseline="-25000" dirty="0"/>
              <a:t>i</a:t>
            </a:r>
            <a:r>
              <a:rPr lang="en-US" altLang="en-US" sz="2400" dirty="0"/>
              <a:t>: while(1){</a:t>
            </a:r>
          </a:p>
          <a:p>
            <a:pPr>
              <a:lnSpc>
                <a:spcPct val="90000"/>
              </a:lnSpc>
              <a:buNone/>
              <a:tabLst>
                <a:tab pos="1370013" algn="l"/>
                <a:tab pos="1714500" algn="l"/>
                <a:tab pos="2005013" algn="l"/>
              </a:tabLst>
            </a:pPr>
            <a:r>
              <a:rPr lang="en-US" altLang="en-US" sz="2400" dirty="0"/>
              <a:t>			</a:t>
            </a:r>
            <a:r>
              <a:rPr lang="en-US" altLang="en-US" sz="2400" i="1" dirty="0"/>
              <a:t>flag</a:t>
            </a:r>
            <a:r>
              <a:rPr lang="en-US" altLang="en-US" sz="2400" dirty="0"/>
              <a:t> [ </a:t>
            </a:r>
            <a:r>
              <a:rPr lang="en-US" altLang="en-US" sz="2400" i="1" dirty="0" err="1"/>
              <a:t>i</a:t>
            </a:r>
            <a:r>
              <a:rPr lang="en-US" altLang="en-US" sz="2400" i="1" dirty="0"/>
              <a:t> </a:t>
            </a:r>
            <a:r>
              <a:rPr lang="en-US" altLang="en-US" sz="2400" dirty="0"/>
              <a:t>] = </a:t>
            </a:r>
            <a:r>
              <a:rPr lang="en-US" altLang="en-US" sz="2400" i="1" dirty="0"/>
              <a:t>true</a:t>
            </a:r>
            <a:r>
              <a:rPr lang="en-US" altLang="en-US" sz="2400" dirty="0"/>
              <a:t>;</a:t>
            </a:r>
            <a:br>
              <a:rPr lang="en-US" altLang="en-US" sz="2400" dirty="0"/>
            </a:br>
            <a:r>
              <a:rPr lang="en-US" altLang="en-US" sz="2400" dirty="0"/>
              <a:t>	    </a:t>
            </a:r>
            <a:r>
              <a:rPr lang="en-US" altLang="en-US" sz="2400" i="1" dirty="0"/>
              <a:t>turn</a:t>
            </a:r>
            <a:r>
              <a:rPr lang="en-US" altLang="en-US" sz="2400" dirty="0"/>
              <a:t> = </a:t>
            </a:r>
            <a:r>
              <a:rPr lang="en-US" altLang="en-US" sz="2400" i="1" dirty="0"/>
              <a:t>k</a:t>
            </a:r>
            <a:r>
              <a:rPr lang="en-US" altLang="en-US" sz="2400" dirty="0"/>
              <a:t>;</a:t>
            </a:r>
            <a:br>
              <a:rPr lang="en-US" altLang="en-US" sz="2400" dirty="0"/>
            </a:br>
            <a:r>
              <a:rPr lang="en-US" altLang="en-US" sz="2400" dirty="0"/>
              <a:t>	    while (</a:t>
            </a:r>
            <a:r>
              <a:rPr lang="en-US" altLang="en-US" sz="2400" i="1" dirty="0"/>
              <a:t>flag</a:t>
            </a:r>
            <a:r>
              <a:rPr lang="en-US" altLang="en-US" sz="2400" dirty="0"/>
              <a:t> [ </a:t>
            </a:r>
            <a:r>
              <a:rPr lang="en-US" altLang="en-US" sz="2400" i="1" dirty="0"/>
              <a:t>k </a:t>
            </a:r>
            <a:r>
              <a:rPr lang="en-US" altLang="en-US" sz="2400" dirty="0"/>
              <a:t>] and </a:t>
            </a:r>
            <a:r>
              <a:rPr lang="en-US" altLang="en-US" sz="2400" i="1" dirty="0"/>
              <a:t>turn</a:t>
            </a:r>
            <a:r>
              <a:rPr lang="en-US" altLang="en-US" sz="2400" dirty="0"/>
              <a:t> == </a:t>
            </a:r>
            <a:r>
              <a:rPr lang="en-US" altLang="en-US" sz="2400" i="1" dirty="0"/>
              <a:t>k</a:t>
            </a:r>
            <a:r>
              <a:rPr lang="en-US" altLang="en-US" sz="2400" dirty="0"/>
              <a:t>);</a:t>
            </a:r>
            <a:endParaRPr lang="en-US" altLang="en-US" sz="2400" dirty="0">
              <a:cs typeface="Helvetica"/>
            </a:endParaRPr>
          </a:p>
          <a:p>
            <a:pPr>
              <a:lnSpc>
                <a:spcPct val="90000"/>
              </a:lnSpc>
              <a:buFontTx/>
              <a:buNone/>
              <a:tabLst>
                <a:tab pos="1370013" algn="l"/>
                <a:tab pos="1714500" algn="l"/>
                <a:tab pos="2005013" algn="l"/>
              </a:tabLst>
            </a:pPr>
            <a:r>
              <a:rPr lang="en-US" altLang="en-US" sz="2400" dirty="0"/>
              <a:t>				critical section</a:t>
            </a:r>
            <a:endParaRPr lang="en-US" altLang="en-US" sz="2400" dirty="0">
              <a:cs typeface="Helvetica"/>
            </a:endParaRPr>
          </a:p>
          <a:p>
            <a:pPr>
              <a:lnSpc>
                <a:spcPct val="90000"/>
              </a:lnSpc>
              <a:buNone/>
              <a:tabLst>
                <a:tab pos="1370013" algn="l"/>
                <a:tab pos="1714500" algn="l"/>
                <a:tab pos="2005013" algn="l"/>
              </a:tabLst>
            </a:pPr>
            <a:r>
              <a:rPr lang="en-US" altLang="en-US" sz="2400" dirty="0"/>
              <a:t>		    </a:t>
            </a:r>
            <a:r>
              <a:rPr lang="en-US" altLang="en-US" sz="2400" i="1" dirty="0"/>
              <a:t>flag</a:t>
            </a:r>
            <a:r>
              <a:rPr lang="en-US" altLang="en-US" sz="2400" dirty="0"/>
              <a:t> [</a:t>
            </a:r>
            <a:r>
              <a:rPr lang="en-US" altLang="en-US" sz="2400" i="1" dirty="0"/>
              <a:t> </a:t>
            </a:r>
            <a:r>
              <a:rPr lang="en-US" altLang="en-US" sz="2400" i="1" dirty="0" err="1"/>
              <a:t>i</a:t>
            </a:r>
            <a:r>
              <a:rPr lang="en-US" altLang="en-US" sz="2400" i="1" dirty="0"/>
              <a:t> </a:t>
            </a:r>
            <a:r>
              <a:rPr lang="en-US" altLang="en-US" sz="2400" dirty="0"/>
              <a:t>] = </a:t>
            </a:r>
            <a:r>
              <a:rPr lang="en-US" altLang="en-US" sz="2400" i="1" dirty="0"/>
              <a:t>false</a:t>
            </a:r>
            <a:r>
              <a:rPr lang="en-US" altLang="en-US" sz="2400" dirty="0"/>
              <a:t>;</a:t>
            </a:r>
            <a:endParaRPr lang="en-US" altLang="en-US" sz="2400" dirty="0">
              <a:cs typeface="Helvetica"/>
            </a:endParaRPr>
          </a:p>
          <a:p>
            <a:pPr>
              <a:lnSpc>
                <a:spcPct val="90000"/>
              </a:lnSpc>
              <a:buFontTx/>
              <a:buNone/>
              <a:tabLst>
                <a:tab pos="1370013" algn="l"/>
                <a:tab pos="1714500" algn="l"/>
                <a:tab pos="2005013" algn="l"/>
              </a:tabLst>
            </a:pPr>
            <a:r>
              <a:rPr lang="en-US" altLang="en-US" sz="2400" dirty="0"/>
              <a:t>				remainder section</a:t>
            </a:r>
            <a:endParaRPr lang="en-US" altLang="en-US" sz="2400" dirty="0">
              <a:cs typeface="Helvetica"/>
            </a:endParaRPr>
          </a:p>
          <a:p>
            <a:pPr>
              <a:lnSpc>
                <a:spcPct val="90000"/>
              </a:lnSpc>
              <a:spcBef>
                <a:spcPct val="0"/>
              </a:spcBef>
              <a:buFontTx/>
              <a:buNone/>
              <a:tabLst>
                <a:tab pos="1370013" algn="l"/>
                <a:tab pos="1714500" algn="l"/>
                <a:tab pos="2005013" algn="l"/>
              </a:tabLst>
            </a:pPr>
            <a:r>
              <a:rPr lang="en-US" altLang="en-US" sz="2400" dirty="0"/>
              <a:t>		}</a:t>
            </a:r>
          </a:p>
        </p:txBody>
      </p:sp>
      <p:sp>
        <p:nvSpPr>
          <p:cNvPr id="50178" name="Footer Placeholder 3">
            <a:extLst>
              <a:ext uri="{FF2B5EF4-FFF2-40B4-BE49-F238E27FC236}">
                <a16:creationId xmlns:a16="http://schemas.microsoft.com/office/drawing/2014/main" id="{341FAE33-BEC9-4FA1-A5A0-64F8F9F9700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0485" name="Rectangle 4">
            <a:extLst>
              <a:ext uri="{FF2B5EF4-FFF2-40B4-BE49-F238E27FC236}">
                <a16:creationId xmlns:a16="http://schemas.microsoft.com/office/drawing/2014/main" id="{D7D6563F-3DFB-466C-B5E7-569CA2167AD0}"/>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50180" name="Rectangle 2">
            <a:extLst>
              <a:ext uri="{FF2B5EF4-FFF2-40B4-BE49-F238E27FC236}">
                <a16:creationId xmlns:a16="http://schemas.microsoft.com/office/drawing/2014/main" id="{57B24D98-F171-4B10-BE07-4B438CC11B76}"/>
              </a:ext>
            </a:extLst>
          </p:cNvPr>
          <p:cNvSpPr>
            <a:spLocks noGrp="1" noChangeArrowheads="1"/>
          </p:cNvSpPr>
          <p:nvPr>
            <p:ph type="title"/>
          </p:nvPr>
        </p:nvSpPr>
        <p:spPr/>
        <p:txBody>
          <a:bodyPr/>
          <a:lstStyle/>
          <a:p>
            <a:r>
              <a:rPr lang="en-US" altLang="en-US"/>
              <a:t>Algorithm 3</a:t>
            </a:r>
          </a:p>
        </p:txBody>
      </p:sp>
      <p:sp>
        <p:nvSpPr>
          <p:cNvPr id="8" name="Rectangle 7">
            <a:extLst>
              <a:ext uri="{FF2B5EF4-FFF2-40B4-BE49-F238E27FC236}">
                <a16:creationId xmlns:a16="http://schemas.microsoft.com/office/drawing/2014/main" id="{09672694-C852-44A3-8F47-6862C9AF3E13}"/>
              </a:ext>
            </a:extLst>
          </p:cNvPr>
          <p:cNvSpPr>
            <a:spLocks noChangeArrowheads="1"/>
          </p:cNvSpPr>
          <p:nvPr/>
        </p:nvSpPr>
        <p:spPr bwMode="auto">
          <a:xfrm>
            <a:off x="1930400" y="3497263"/>
            <a:ext cx="4095329" cy="1065212"/>
          </a:xfrm>
          <a:prstGeom prst="rect">
            <a:avLst/>
          </a:prstGeom>
          <a:solidFill>
            <a:srgbClr val="FF0000">
              <a:alpha val="36078"/>
            </a:srgbClr>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a:p>
            <a:pPr algn="ctr">
              <a:spcBef>
                <a:spcPct val="0"/>
              </a:spcBef>
              <a:buSzTx/>
              <a:buNone/>
            </a:pPr>
            <a:endParaRPr lang="en-US" altLang="en-US" dirty="0">
              <a:cs typeface="Helvetica"/>
            </a:endParaRPr>
          </a:p>
          <a:p>
            <a:pPr algn="ctr">
              <a:spcBef>
                <a:spcPct val="0"/>
              </a:spcBef>
              <a:buSzTx/>
              <a:buNone/>
            </a:pPr>
            <a:endParaRPr lang="en-US" altLang="en-US" dirty="0">
              <a:cs typeface="Helvetica"/>
            </a:endParaRPr>
          </a:p>
        </p:txBody>
      </p:sp>
      <p:sp>
        <p:nvSpPr>
          <p:cNvPr id="9" name="Rectangle 5">
            <a:extLst>
              <a:ext uri="{FF2B5EF4-FFF2-40B4-BE49-F238E27FC236}">
                <a16:creationId xmlns:a16="http://schemas.microsoft.com/office/drawing/2014/main" id="{B9796C00-0925-49F5-A910-7779D17B791D}"/>
              </a:ext>
            </a:extLst>
          </p:cNvPr>
          <p:cNvSpPr>
            <a:spLocks noChangeArrowheads="1"/>
          </p:cNvSpPr>
          <p:nvPr/>
        </p:nvSpPr>
        <p:spPr bwMode="auto">
          <a:xfrm>
            <a:off x="1831975" y="5135563"/>
            <a:ext cx="2401888" cy="481012"/>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0" name="TextBox 9">
            <a:extLst>
              <a:ext uri="{FF2B5EF4-FFF2-40B4-BE49-F238E27FC236}">
                <a16:creationId xmlns:a16="http://schemas.microsoft.com/office/drawing/2014/main" id="{7558370F-79A0-4388-8628-DA4540AE57A6}"/>
              </a:ext>
            </a:extLst>
          </p:cNvPr>
          <p:cNvSpPr txBox="1">
            <a:spLocks noChangeArrowheads="1"/>
          </p:cNvSpPr>
          <p:nvPr/>
        </p:nvSpPr>
        <p:spPr bwMode="auto">
          <a:xfrm>
            <a:off x="80963" y="3838575"/>
            <a:ext cx="154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Entry Section</a:t>
            </a:r>
          </a:p>
        </p:txBody>
      </p:sp>
      <p:sp>
        <p:nvSpPr>
          <p:cNvPr id="11" name="TextBox 10">
            <a:extLst>
              <a:ext uri="{FF2B5EF4-FFF2-40B4-BE49-F238E27FC236}">
                <a16:creationId xmlns:a16="http://schemas.microsoft.com/office/drawing/2014/main" id="{DC8AE3DB-8543-4FC0-A8B2-F1ACBE12DDF7}"/>
              </a:ext>
            </a:extLst>
          </p:cNvPr>
          <p:cNvSpPr txBox="1">
            <a:spLocks noChangeArrowheads="1"/>
          </p:cNvSpPr>
          <p:nvPr/>
        </p:nvSpPr>
        <p:spPr bwMode="auto">
          <a:xfrm>
            <a:off x="103188" y="5194300"/>
            <a:ext cx="139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Exit Section</a:t>
            </a:r>
          </a:p>
        </p:txBody>
      </p:sp>
      <p:cxnSp>
        <p:nvCxnSpPr>
          <p:cNvPr id="12" name="Straight Arrow Connector 11">
            <a:extLst>
              <a:ext uri="{FF2B5EF4-FFF2-40B4-BE49-F238E27FC236}">
                <a16:creationId xmlns:a16="http://schemas.microsoft.com/office/drawing/2014/main" id="{310E2560-CBB1-45BD-A517-B2309C70C87F}"/>
              </a:ext>
            </a:extLst>
          </p:cNvPr>
          <p:cNvCxnSpPr>
            <a:cxnSpLocks noChangeShapeType="1"/>
            <a:stCxn id="10" idx="3"/>
            <a:endCxn id="8" idx="1"/>
          </p:cNvCxnSpPr>
          <p:nvPr/>
        </p:nvCxnSpPr>
        <p:spPr bwMode="auto">
          <a:xfrm>
            <a:off x="1630363" y="4023519"/>
            <a:ext cx="300037" cy="63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Straight Arrow Connector 12">
            <a:extLst>
              <a:ext uri="{FF2B5EF4-FFF2-40B4-BE49-F238E27FC236}">
                <a16:creationId xmlns:a16="http://schemas.microsoft.com/office/drawing/2014/main" id="{320BD91B-09DA-403A-B94D-952AB7943329}"/>
              </a:ext>
            </a:extLst>
          </p:cNvPr>
          <p:cNvCxnSpPr>
            <a:cxnSpLocks noChangeShapeType="1"/>
            <a:stCxn id="11" idx="3"/>
            <a:endCxn id="9" idx="1"/>
          </p:cNvCxnSpPr>
          <p:nvPr/>
        </p:nvCxnSpPr>
        <p:spPr bwMode="auto">
          <a:xfrm flipV="1">
            <a:off x="1500188" y="5376863"/>
            <a:ext cx="331787"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4" name="TextBox 13">
            <a:extLst>
              <a:ext uri="{FF2B5EF4-FFF2-40B4-BE49-F238E27FC236}">
                <a16:creationId xmlns:a16="http://schemas.microsoft.com/office/drawing/2014/main" id="{14F22137-52F7-4129-95DC-CC554DA0C0F9}"/>
              </a:ext>
            </a:extLst>
          </p:cNvPr>
          <p:cNvSpPr txBox="1">
            <a:spLocks noChangeArrowheads="1"/>
          </p:cNvSpPr>
          <p:nvPr/>
        </p:nvSpPr>
        <p:spPr bwMode="auto">
          <a:xfrm>
            <a:off x="6074617" y="2983075"/>
            <a:ext cx="2928711" cy="2584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50000"/>
              </a:spcBef>
              <a:buSzPct val="140000"/>
              <a:buChar char="•"/>
              <a:defRPr>
                <a:solidFill>
                  <a:schemeClr val="tx1"/>
                </a:solidFill>
                <a:latin typeface="Helvetica" panose="020B0604020202020204" pitchFamily="34" charset="0"/>
              </a:defRPr>
            </a:lvl1pPr>
            <a:lvl2pPr marL="263525" indent="-25400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Algorithm 2 could not choose between two processes that wanted to enter their critical section at the same time</a:t>
            </a:r>
          </a:p>
          <a:p>
            <a:pPr lvl="1">
              <a:spcBef>
                <a:spcPct val="0"/>
              </a:spcBef>
              <a:buFont typeface="Arial" panose="020B0604020202020204" pitchFamily="34" charset="0"/>
              <a:buChar char="•"/>
            </a:pPr>
            <a:r>
              <a:rPr lang="en-US" altLang="en-US" b="1">
                <a:solidFill>
                  <a:srgbClr val="FF0000"/>
                </a:solidFill>
              </a:rPr>
              <a:t>Issue solved in Algorithm 3 by using turn variable to denote whose turn it 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3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3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3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30">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30">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230">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73B9-28AE-0764-2A5C-ABE3E63C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9D23C-F348-E461-320E-6BE636C504CE}"/>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CC5AFAE4-762A-60F0-65BD-AD08F1340D5F}"/>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0DC2BFC8-55FD-4D6E-EEAB-0CFD81F507EE}"/>
                  </a:ext>
                </a:extLst>
              </p:cNvPr>
              <p:cNvGraphicFramePr>
                <a:graphicFrameLocks noGrp="1"/>
              </p:cNvGraphicFramePr>
              <p:nvPr/>
            </p:nvGraphicFramePr>
            <p:xfrm>
              <a:off x="0" y="803188"/>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0DC2BFC8-55FD-4D6E-EEAB-0CFD81F507EE}"/>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803188"/>
                <a:ext cx="9144000" cy="5097847"/>
              </a:xfrm>
              <a:prstGeom prst="rect">
                <a:avLst/>
              </a:prstGeom>
            </p:spPr>
          </p:pic>
        </mc:Fallback>
      </mc:AlternateContent>
    </p:spTree>
    <p:extLst>
      <p:ext uri="{BB962C8B-B14F-4D97-AF65-F5344CB8AC3E}">
        <p14:creationId xmlns:p14="http://schemas.microsoft.com/office/powerpoint/2010/main" val="2266582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3">
            <a:extLst>
              <a:ext uri="{FF2B5EF4-FFF2-40B4-BE49-F238E27FC236}">
                <a16:creationId xmlns:a16="http://schemas.microsoft.com/office/drawing/2014/main" id="{6EC96069-EE85-43F7-9282-73DF0D20994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1507" name="Rectangle 2">
            <a:extLst>
              <a:ext uri="{FF2B5EF4-FFF2-40B4-BE49-F238E27FC236}">
                <a16:creationId xmlns:a16="http://schemas.microsoft.com/office/drawing/2014/main" id="{83559225-EACC-4D6C-9810-AE6DD01B8461}"/>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52227" name="Rectangle 3">
            <a:extLst>
              <a:ext uri="{FF2B5EF4-FFF2-40B4-BE49-F238E27FC236}">
                <a16:creationId xmlns:a16="http://schemas.microsoft.com/office/drawing/2014/main" id="{A2A27D39-EBB9-43EF-B13B-FED81524ED26}"/>
              </a:ext>
            </a:extLst>
          </p:cNvPr>
          <p:cNvSpPr>
            <a:spLocks noGrp="1" noChangeArrowheads="1"/>
          </p:cNvSpPr>
          <p:nvPr>
            <p:ph type="title"/>
          </p:nvPr>
        </p:nvSpPr>
        <p:spPr/>
        <p:txBody>
          <a:bodyPr/>
          <a:lstStyle/>
          <a:p>
            <a:r>
              <a:rPr lang="en-US" altLang="en-US"/>
              <a:t>Algorithm 3: Property Analysis</a:t>
            </a:r>
          </a:p>
        </p:txBody>
      </p:sp>
      <p:sp>
        <p:nvSpPr>
          <p:cNvPr id="54276" name="Rectangle 4">
            <a:extLst>
              <a:ext uri="{FF2B5EF4-FFF2-40B4-BE49-F238E27FC236}">
                <a16:creationId xmlns:a16="http://schemas.microsoft.com/office/drawing/2014/main" id="{93CFBA19-1D5F-4634-96DF-8C27C335866C}"/>
              </a:ext>
            </a:extLst>
          </p:cNvPr>
          <p:cNvSpPr>
            <a:spLocks noGrp="1" noChangeArrowheads="1"/>
          </p:cNvSpPr>
          <p:nvPr>
            <p:ph type="body" idx="1"/>
          </p:nvPr>
        </p:nvSpPr>
        <p:spPr>
          <a:xfrm>
            <a:off x="392113" y="1028700"/>
            <a:ext cx="8518525" cy="5032375"/>
          </a:xfrm>
        </p:spPr>
        <p:txBody>
          <a:bodyPr/>
          <a:lstStyle/>
          <a:p>
            <a:pPr marL="514350" indent="-514350">
              <a:buFont typeface="+mj-lt"/>
              <a:buAutoNum type="arabicPeriod"/>
              <a:tabLst>
                <a:tab pos="2005013" algn="l"/>
                <a:tab pos="2339975" algn="l"/>
                <a:tab pos="2630488" algn="l"/>
              </a:tabLst>
              <a:defRPr/>
            </a:pPr>
            <a:r>
              <a:rPr lang="en-US" altLang="en-US" sz="2800" dirty="0">
                <a:solidFill>
                  <a:schemeClr val="accent2"/>
                </a:solidFill>
              </a:rPr>
              <a:t>Mutual Exclusion? </a:t>
            </a:r>
            <a:r>
              <a:rPr lang="en-US" altLang="en-US" sz="2800" b="1" dirty="0">
                <a:solidFill>
                  <a:srgbClr val="00B050"/>
                </a:solidFill>
                <a:sym typeface="Wingdings"/>
              </a:rPr>
              <a:t> </a:t>
            </a:r>
          </a:p>
          <a:p>
            <a:pPr marL="819150" lvl="1" indent="-304800">
              <a:tabLst>
                <a:tab pos="2005013" algn="l"/>
                <a:tab pos="2339975" algn="l"/>
                <a:tab pos="2630488" algn="l"/>
              </a:tabLst>
              <a:defRPr/>
            </a:pPr>
            <a:r>
              <a:rPr lang="en-US" altLang="en-US" sz="2000" dirty="0">
                <a:sym typeface="Wingdings"/>
              </a:rPr>
              <a:t>If P</a:t>
            </a:r>
            <a:r>
              <a:rPr lang="en-US" altLang="en-US" sz="2000" baseline="-25000" dirty="0">
                <a:sym typeface="Wingdings"/>
              </a:rPr>
              <a:t>0</a:t>
            </a:r>
            <a:r>
              <a:rPr lang="en-US" altLang="en-US" sz="2000" dirty="0">
                <a:sym typeface="Wingdings"/>
              </a:rPr>
              <a:t> enters critical section, then </a:t>
            </a:r>
            <a:r>
              <a:rPr lang="en-US" altLang="en-US" sz="2000" b="1" dirty="0">
                <a:solidFill>
                  <a:schemeClr val="accent1">
                    <a:lumMod val="75000"/>
                  </a:schemeClr>
                </a:solidFill>
                <a:sym typeface="Wingdings"/>
              </a:rPr>
              <a:t>flag [ 0 ] = true</a:t>
            </a:r>
          </a:p>
          <a:p>
            <a:pPr marL="819150" lvl="1" indent="-304800">
              <a:tabLst>
                <a:tab pos="2005013" algn="l"/>
                <a:tab pos="2339975" algn="l"/>
                <a:tab pos="2630488" algn="l"/>
              </a:tabLst>
              <a:defRPr/>
            </a:pPr>
            <a:r>
              <a:rPr lang="en-US" altLang="en-US" sz="2000" dirty="0"/>
              <a:t>If P</a:t>
            </a:r>
            <a:r>
              <a:rPr lang="en-US" altLang="en-US" sz="2000" baseline="-25000" dirty="0"/>
              <a:t>1</a:t>
            </a:r>
            <a:r>
              <a:rPr lang="en-US" altLang="en-US" sz="2000" dirty="0"/>
              <a:t> now wants to enter critical section, then it will first set </a:t>
            </a:r>
            <a:r>
              <a:rPr lang="en-US" altLang="en-US" sz="2000" b="1" dirty="0">
                <a:solidFill>
                  <a:schemeClr val="accent1">
                    <a:lumMod val="75000"/>
                  </a:schemeClr>
                </a:solidFill>
                <a:sym typeface="Wingdings"/>
              </a:rPr>
              <a:t>turn = 0</a:t>
            </a:r>
            <a:endParaRPr lang="en-US" altLang="en-US" sz="2000" dirty="0"/>
          </a:p>
          <a:p>
            <a:pPr marL="819150" lvl="1" indent="-304800">
              <a:tabLst>
                <a:tab pos="2005013" algn="l"/>
                <a:tab pos="2339975" algn="l"/>
                <a:tab pos="2630488" algn="l"/>
              </a:tabLst>
              <a:defRPr/>
            </a:pPr>
            <a:r>
              <a:rPr lang="en-US" altLang="en-US" sz="2000" dirty="0"/>
              <a:t>P</a:t>
            </a:r>
            <a:r>
              <a:rPr lang="en-US" altLang="en-US" sz="2000" baseline="-25000" dirty="0"/>
              <a:t>1</a:t>
            </a:r>
            <a:r>
              <a:rPr lang="en-US" altLang="en-US" sz="2000" dirty="0"/>
              <a:t> then cannot enter because </a:t>
            </a:r>
            <a:r>
              <a:rPr lang="en-US" altLang="en-US" sz="2000" b="1" dirty="0">
                <a:solidFill>
                  <a:schemeClr val="accent1">
                    <a:lumMod val="75000"/>
                  </a:schemeClr>
                </a:solidFill>
                <a:sym typeface="Wingdings"/>
              </a:rPr>
              <a:t>turn = 0 </a:t>
            </a:r>
            <a:r>
              <a:rPr lang="en-US" altLang="en-US" sz="2000" dirty="0">
                <a:sym typeface="Wingdings"/>
              </a:rPr>
              <a:t>and</a:t>
            </a:r>
            <a:r>
              <a:rPr lang="en-US" altLang="en-US" sz="2000" b="1" dirty="0">
                <a:solidFill>
                  <a:schemeClr val="accent1">
                    <a:lumMod val="75000"/>
                  </a:schemeClr>
                </a:solidFill>
                <a:sym typeface="Wingdings"/>
              </a:rPr>
              <a:t> flag [ 0 ] = true</a:t>
            </a:r>
            <a:endParaRPr lang="en-US" altLang="en-US" sz="2000" dirty="0"/>
          </a:p>
          <a:p>
            <a:pPr marL="2343150" lvl="4" indent="-514350">
              <a:tabLst>
                <a:tab pos="2005013" algn="l"/>
                <a:tab pos="2339975" algn="l"/>
                <a:tab pos="2630488" algn="l"/>
              </a:tabLst>
              <a:defRPr/>
            </a:pPr>
            <a:endParaRPr lang="en-US" altLang="en-US" dirty="0"/>
          </a:p>
          <a:p>
            <a:pPr marL="514350" indent="-514350">
              <a:buFont typeface="+mj-lt"/>
              <a:buAutoNum type="arabicPeriod"/>
              <a:tabLst>
                <a:tab pos="2005013" algn="l"/>
                <a:tab pos="2339975" algn="l"/>
                <a:tab pos="2630488" algn="l"/>
              </a:tabLst>
              <a:defRPr/>
            </a:pPr>
            <a:r>
              <a:rPr lang="en-US" altLang="en-US" sz="2800" dirty="0">
                <a:solidFill>
                  <a:schemeClr val="accent2"/>
                </a:solidFill>
              </a:rPr>
              <a:t>Progress? </a:t>
            </a:r>
            <a:r>
              <a:rPr lang="en-US" altLang="en-US" sz="2800" b="1" dirty="0">
                <a:solidFill>
                  <a:srgbClr val="00B050"/>
                </a:solidFill>
                <a:sym typeface="Wingdings"/>
              </a:rPr>
              <a:t></a:t>
            </a:r>
            <a:r>
              <a:rPr lang="en-US" altLang="en-US" sz="2400" dirty="0">
                <a:sym typeface="Wingdings"/>
              </a:rPr>
              <a:t> Suppose P</a:t>
            </a:r>
            <a:r>
              <a:rPr lang="en-US" altLang="en-US" sz="2400" baseline="-25000" dirty="0">
                <a:sym typeface="Wingdings"/>
              </a:rPr>
              <a:t>0</a:t>
            </a:r>
            <a:r>
              <a:rPr lang="en-US" altLang="en-US" sz="2400" dirty="0">
                <a:sym typeface="Wingdings"/>
              </a:rPr>
              <a:t> wants to enter critical section</a:t>
            </a:r>
          </a:p>
          <a:p>
            <a:pPr marL="819150" lvl="1" indent="-304800">
              <a:tabLst>
                <a:tab pos="2005013" algn="l"/>
                <a:tab pos="2339975" algn="l"/>
                <a:tab pos="2630488" algn="l"/>
              </a:tabLst>
              <a:defRPr/>
            </a:pPr>
            <a:r>
              <a:rPr lang="en-US" altLang="en-US" sz="2000" dirty="0">
                <a:sym typeface="Wingdings"/>
              </a:rPr>
              <a:t>If P</a:t>
            </a:r>
            <a:r>
              <a:rPr lang="en-US" altLang="en-US" sz="2000" baseline="-25000" dirty="0">
                <a:sym typeface="Wingdings"/>
              </a:rPr>
              <a:t>1</a:t>
            </a:r>
            <a:r>
              <a:rPr lang="en-US" altLang="en-US" sz="2000" dirty="0">
                <a:sym typeface="Wingdings"/>
              </a:rPr>
              <a:t> is in remainder section then </a:t>
            </a:r>
            <a:r>
              <a:rPr lang="en-US" altLang="en-US" sz="2000" b="1" dirty="0">
                <a:solidFill>
                  <a:schemeClr val="accent1">
                    <a:lumMod val="75000"/>
                  </a:schemeClr>
                </a:solidFill>
                <a:sym typeface="Wingdings"/>
              </a:rPr>
              <a:t>flag [ 1 ] = false </a:t>
            </a:r>
            <a:r>
              <a:rPr lang="en-US" altLang="en-US" sz="2000" dirty="0">
                <a:sym typeface="Wingdings"/>
              </a:rPr>
              <a:t>and P</a:t>
            </a:r>
            <a:r>
              <a:rPr lang="en-US" altLang="en-US" sz="2000" baseline="-25000" dirty="0">
                <a:sym typeface="Wingdings"/>
              </a:rPr>
              <a:t>0</a:t>
            </a:r>
            <a:r>
              <a:rPr lang="en-US" altLang="en-US" sz="2000" dirty="0">
                <a:sym typeface="Wingdings"/>
              </a:rPr>
              <a:t> can enter</a:t>
            </a:r>
          </a:p>
          <a:p>
            <a:pPr marL="819150" lvl="1" indent="-304800">
              <a:tabLst>
                <a:tab pos="2005013" algn="l"/>
                <a:tab pos="2339975" algn="l"/>
                <a:tab pos="2630488" algn="l"/>
              </a:tabLst>
              <a:defRPr/>
            </a:pPr>
            <a:r>
              <a:rPr lang="en-US" altLang="en-US" sz="2000" dirty="0">
                <a:sym typeface="Wingdings"/>
              </a:rPr>
              <a:t>If P</a:t>
            </a:r>
            <a:r>
              <a:rPr lang="en-US" altLang="en-US" sz="2000" baseline="-25000" dirty="0">
                <a:sym typeface="Wingdings"/>
              </a:rPr>
              <a:t>1</a:t>
            </a:r>
            <a:r>
              <a:rPr lang="en-US" altLang="en-US" sz="2000" dirty="0">
                <a:sym typeface="Wingdings"/>
              </a:rPr>
              <a:t> is in entry section, then access is granted either to P</a:t>
            </a:r>
            <a:r>
              <a:rPr lang="en-US" altLang="en-US" sz="2000" baseline="-25000" dirty="0">
                <a:sym typeface="Wingdings"/>
              </a:rPr>
              <a:t>0</a:t>
            </a:r>
            <a:r>
              <a:rPr lang="en-US" altLang="en-US" sz="2000" dirty="0">
                <a:sym typeface="Wingdings"/>
              </a:rPr>
              <a:t> or P</a:t>
            </a:r>
            <a:r>
              <a:rPr lang="en-US" altLang="en-US" sz="2000" baseline="-25000" dirty="0">
                <a:sym typeface="Wingdings"/>
              </a:rPr>
              <a:t>1</a:t>
            </a:r>
            <a:r>
              <a:rPr lang="en-US" altLang="en-US" sz="2000" dirty="0">
                <a:sym typeface="Wingdings"/>
              </a:rPr>
              <a:t> depending on the latest value of </a:t>
            </a:r>
            <a:r>
              <a:rPr lang="en-US" altLang="en-US" sz="2000" b="1" dirty="0">
                <a:solidFill>
                  <a:schemeClr val="accent1">
                    <a:lumMod val="75000"/>
                  </a:schemeClr>
                </a:solidFill>
                <a:sym typeface="Wingdings"/>
              </a:rPr>
              <a:t>turn</a:t>
            </a:r>
          </a:p>
          <a:p>
            <a:pPr marL="2343150" lvl="4" indent="-514350">
              <a:tabLst>
                <a:tab pos="2005013" algn="l"/>
                <a:tab pos="2339975" algn="l"/>
                <a:tab pos="2630488" algn="l"/>
              </a:tabLst>
              <a:defRPr/>
            </a:pPr>
            <a:endParaRPr lang="en-US" altLang="en-US" b="1" dirty="0">
              <a:solidFill>
                <a:schemeClr val="accent1">
                  <a:lumMod val="75000"/>
                </a:schemeClr>
              </a:solidFill>
            </a:endParaRPr>
          </a:p>
          <a:p>
            <a:pPr marL="514350" indent="-514350">
              <a:buFont typeface="+mj-lt"/>
              <a:buAutoNum type="arabicPeriod"/>
              <a:tabLst>
                <a:tab pos="2005013" algn="l"/>
                <a:tab pos="2339975" algn="l"/>
                <a:tab pos="2630488" algn="l"/>
              </a:tabLst>
              <a:defRPr/>
            </a:pPr>
            <a:r>
              <a:rPr lang="en-US" altLang="en-US" sz="2800" dirty="0">
                <a:solidFill>
                  <a:schemeClr val="accent2"/>
                </a:solidFill>
              </a:rPr>
              <a:t>Bounded Waiting? </a:t>
            </a:r>
            <a:r>
              <a:rPr lang="en-US" altLang="en-US" sz="2800" b="1" dirty="0">
                <a:solidFill>
                  <a:srgbClr val="00B050"/>
                </a:solidFill>
                <a:sym typeface="Wingdings"/>
              </a:rPr>
              <a:t> </a:t>
            </a:r>
            <a:r>
              <a:rPr lang="en-US" altLang="en-US" sz="2000" dirty="0">
                <a:sym typeface="Wingdings"/>
              </a:rPr>
              <a:t>Assuming </a:t>
            </a:r>
            <a:r>
              <a:rPr lang="en-US" altLang="en-US" sz="2000" b="1" dirty="0">
                <a:solidFill>
                  <a:schemeClr val="accent1">
                    <a:lumMod val="75000"/>
                  </a:schemeClr>
                </a:solidFill>
                <a:sym typeface="Wingdings"/>
              </a:rPr>
              <a:t>turn</a:t>
            </a:r>
            <a:r>
              <a:rPr lang="en-US" altLang="en-US" sz="2000" dirty="0">
                <a:sym typeface="Wingdings"/>
              </a:rPr>
              <a:t> is updated fairly</a:t>
            </a:r>
          </a:p>
          <a:p>
            <a:pPr marL="2343150" lvl="4" indent="-514350">
              <a:tabLst>
                <a:tab pos="2005013" algn="l"/>
                <a:tab pos="2339975" algn="l"/>
                <a:tab pos="2630488" algn="l"/>
              </a:tabLst>
              <a:defRPr/>
            </a:pPr>
            <a:endParaRPr lang="en-US" altLang="en-US" sz="1400" dirty="0">
              <a:sym typeface="Wingdings"/>
            </a:endParaRPr>
          </a:p>
          <a:p>
            <a:pPr marL="0" indent="0">
              <a:buFontTx/>
              <a:buNone/>
              <a:tabLst>
                <a:tab pos="2005013" algn="l"/>
                <a:tab pos="2339975" algn="l"/>
                <a:tab pos="2630488" algn="l"/>
              </a:tabLst>
              <a:defRPr/>
            </a:pPr>
            <a:r>
              <a:rPr lang="en-US" altLang="en-US" sz="2800" dirty="0">
                <a:solidFill>
                  <a:srgbClr val="FF0000"/>
                </a:solidFill>
                <a:sym typeface="Wingdings"/>
              </a:rPr>
              <a:t>How to extend Algorithm 3 for say three processes?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276">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427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27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276">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4276">
                                            <p:txEl>
                                              <p:pRg st="9" end="9"/>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427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3">
            <a:extLst>
              <a:ext uri="{FF2B5EF4-FFF2-40B4-BE49-F238E27FC236}">
                <a16:creationId xmlns:a16="http://schemas.microsoft.com/office/drawing/2014/main" id="{E42E8B4D-EC4A-4F9B-8B33-1FA298D454A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051" name="Rectangle 4">
            <a:extLst>
              <a:ext uri="{FF2B5EF4-FFF2-40B4-BE49-F238E27FC236}">
                <a16:creationId xmlns:a16="http://schemas.microsoft.com/office/drawing/2014/main" id="{F1BA7542-22F0-4080-80AC-EDF41359D2BE}"/>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54275" name="Rectangle 2">
            <a:extLst>
              <a:ext uri="{FF2B5EF4-FFF2-40B4-BE49-F238E27FC236}">
                <a16:creationId xmlns:a16="http://schemas.microsoft.com/office/drawing/2014/main" id="{C51138F5-8B41-4B8A-BE78-3397773A82CC}"/>
              </a:ext>
            </a:extLst>
          </p:cNvPr>
          <p:cNvSpPr>
            <a:spLocks noGrp="1" noChangeArrowheads="1"/>
          </p:cNvSpPr>
          <p:nvPr>
            <p:ph type="title"/>
          </p:nvPr>
        </p:nvSpPr>
        <p:spPr/>
        <p:txBody>
          <a:bodyPr/>
          <a:lstStyle/>
          <a:p>
            <a:r>
              <a:rPr lang="en-US" altLang="en-US"/>
              <a:t>Part 4:  Process Synchronization</a:t>
            </a:r>
          </a:p>
        </p:txBody>
      </p:sp>
      <p:sp>
        <p:nvSpPr>
          <p:cNvPr id="54276" name="Rectangle 3">
            <a:extLst>
              <a:ext uri="{FF2B5EF4-FFF2-40B4-BE49-F238E27FC236}">
                <a16:creationId xmlns:a16="http://schemas.microsoft.com/office/drawing/2014/main" id="{4B9F5F40-BB44-4FB7-B2B3-7F24E0F651DE}"/>
              </a:ext>
            </a:extLst>
          </p:cNvPr>
          <p:cNvSpPr>
            <a:spLocks noGrp="1" noChangeArrowheads="1"/>
          </p:cNvSpPr>
          <p:nvPr>
            <p:ph type="body" idx="1"/>
          </p:nvPr>
        </p:nvSpPr>
        <p:spPr>
          <a:xfrm>
            <a:off x="1047750" y="1412875"/>
            <a:ext cx="7029450" cy="4546600"/>
          </a:xfrm>
        </p:spPr>
        <p:txBody>
          <a:bodyPr/>
          <a:lstStyle/>
          <a:p>
            <a:r>
              <a:rPr lang="en-US" altLang="en-US" sz="2800"/>
              <a:t>Race Condition &amp; Critical-Section</a:t>
            </a:r>
          </a:p>
          <a:p>
            <a:r>
              <a:rPr lang="en-US" altLang="en-US" sz="2800"/>
              <a:t>User-level Solutions</a:t>
            </a:r>
          </a:p>
          <a:p>
            <a:r>
              <a:rPr lang="en-US" altLang="en-US" sz="2800" b="1"/>
              <a:t>OS-level Solutions</a:t>
            </a:r>
          </a:p>
          <a:p>
            <a:pPr lvl="1"/>
            <a:r>
              <a:rPr lang="en-US" altLang="en-US" sz="2800" b="1"/>
              <a:t>Synchronization Hardware</a:t>
            </a:r>
          </a:p>
          <a:p>
            <a:pPr lvl="1"/>
            <a:r>
              <a:rPr lang="en-US" altLang="en-US" sz="2800" b="1"/>
              <a:t>Semaphores</a:t>
            </a:r>
          </a:p>
          <a:p>
            <a:r>
              <a:rPr lang="en-US" altLang="en-US" sz="2800"/>
              <a:t>Classical Problems of Synchronization</a:t>
            </a:r>
          </a:p>
          <a:p>
            <a:endParaRPr lang="en-US" altLang="en-US" sz="2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oter Placeholder 3">
            <a:extLst>
              <a:ext uri="{FF2B5EF4-FFF2-40B4-BE49-F238E27FC236}">
                <a16:creationId xmlns:a16="http://schemas.microsoft.com/office/drawing/2014/main" id="{04CE16B2-629E-4A31-BE5E-F340A0FD5AF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2531" name="Rectangle 2">
            <a:extLst>
              <a:ext uri="{FF2B5EF4-FFF2-40B4-BE49-F238E27FC236}">
                <a16:creationId xmlns:a16="http://schemas.microsoft.com/office/drawing/2014/main" id="{B9A8B708-D1A0-46AD-968F-ED56D5A4E01A}"/>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56323" name="Rectangle 3">
            <a:extLst>
              <a:ext uri="{FF2B5EF4-FFF2-40B4-BE49-F238E27FC236}">
                <a16:creationId xmlns:a16="http://schemas.microsoft.com/office/drawing/2014/main" id="{2E43464D-4295-48E3-8FD1-1EC9DFE226F0}"/>
              </a:ext>
            </a:extLst>
          </p:cNvPr>
          <p:cNvSpPr>
            <a:spLocks noGrp="1" noChangeArrowheads="1"/>
          </p:cNvSpPr>
          <p:nvPr>
            <p:ph type="title"/>
          </p:nvPr>
        </p:nvSpPr>
        <p:spPr/>
        <p:txBody>
          <a:bodyPr/>
          <a:lstStyle/>
          <a:p>
            <a:r>
              <a:rPr lang="en-US" altLang="en-US"/>
              <a:t>OS Support for Synchronization</a:t>
            </a:r>
          </a:p>
        </p:txBody>
      </p:sp>
      <p:sp>
        <p:nvSpPr>
          <p:cNvPr id="56324" name="Rectangle 4">
            <a:extLst>
              <a:ext uri="{FF2B5EF4-FFF2-40B4-BE49-F238E27FC236}">
                <a16:creationId xmlns:a16="http://schemas.microsoft.com/office/drawing/2014/main" id="{66309683-408C-4082-A7C5-049252F16D32}"/>
              </a:ext>
            </a:extLst>
          </p:cNvPr>
          <p:cNvSpPr>
            <a:spLocks noGrp="1" noChangeArrowheads="1"/>
          </p:cNvSpPr>
          <p:nvPr>
            <p:ph type="body" idx="1"/>
          </p:nvPr>
        </p:nvSpPr>
        <p:spPr>
          <a:xfrm>
            <a:off x="420688" y="1244600"/>
            <a:ext cx="8321675" cy="5032375"/>
          </a:xfrm>
        </p:spPr>
        <p:txBody>
          <a:bodyPr/>
          <a:lstStyle/>
          <a:p>
            <a:pPr>
              <a:tabLst>
                <a:tab pos="1370013" algn="l"/>
                <a:tab pos="1714500" algn="l"/>
                <a:tab pos="2005013" algn="l"/>
              </a:tabLst>
            </a:pPr>
            <a:r>
              <a:rPr lang="en-US" altLang="en-US" sz="2800"/>
              <a:t>Previous </a:t>
            </a:r>
            <a:r>
              <a:rPr lang="en-US" altLang="en-US" sz="2800">
                <a:solidFill>
                  <a:schemeClr val="accent2"/>
                </a:solidFill>
              </a:rPr>
              <a:t>software approaches</a:t>
            </a:r>
            <a:r>
              <a:rPr lang="en-US" altLang="en-US" sz="2800"/>
              <a:t> are difficult to implement for more than two processes</a:t>
            </a:r>
          </a:p>
          <a:p>
            <a:pPr lvl="1">
              <a:tabLst>
                <a:tab pos="1370013" algn="l"/>
                <a:tab pos="1714500" algn="l"/>
                <a:tab pos="2005013" algn="l"/>
              </a:tabLst>
            </a:pPr>
            <a:r>
              <a:rPr lang="en-US" altLang="en-US" sz="2800">
                <a:solidFill>
                  <a:srgbClr val="FF0000"/>
                </a:solidFill>
              </a:rPr>
              <a:t>Solution: Operating system support</a:t>
            </a:r>
          </a:p>
          <a:p>
            <a:pPr lvl="4">
              <a:tabLst>
                <a:tab pos="1370013" algn="l"/>
                <a:tab pos="1714500" algn="l"/>
                <a:tab pos="2005013" algn="l"/>
              </a:tabLst>
            </a:pPr>
            <a:endParaRPr lang="en-US" altLang="en-US" sz="2200"/>
          </a:p>
          <a:p>
            <a:pPr>
              <a:tabLst>
                <a:tab pos="1370013" algn="l"/>
                <a:tab pos="1714500" algn="l"/>
                <a:tab pos="2005013" algn="l"/>
              </a:tabLst>
            </a:pPr>
            <a:r>
              <a:rPr lang="en-US" altLang="en-US" sz="2800"/>
              <a:t>OS has the following three kinds of support for the critical section problem (low level to high level)</a:t>
            </a:r>
          </a:p>
          <a:p>
            <a:pPr lvl="1">
              <a:tabLst>
                <a:tab pos="1370013" algn="l"/>
                <a:tab pos="1714500" algn="l"/>
                <a:tab pos="2005013" algn="l"/>
              </a:tabLst>
            </a:pPr>
            <a:r>
              <a:rPr lang="en-US" altLang="en-US" sz="2800">
                <a:solidFill>
                  <a:srgbClr val="FF0000"/>
                </a:solidFill>
              </a:rPr>
              <a:t>Synchronization hardware</a:t>
            </a:r>
          </a:p>
          <a:p>
            <a:pPr lvl="1">
              <a:tabLst>
                <a:tab pos="1370013" algn="l"/>
                <a:tab pos="1714500" algn="l"/>
                <a:tab pos="2005013" algn="l"/>
              </a:tabLst>
            </a:pPr>
            <a:r>
              <a:rPr lang="en-US" altLang="en-US" sz="2800">
                <a:solidFill>
                  <a:srgbClr val="FF0000"/>
                </a:solidFill>
              </a:rPr>
              <a:t>Semaphore</a:t>
            </a:r>
          </a:p>
          <a:p>
            <a:pPr lvl="1">
              <a:tabLst>
                <a:tab pos="1370013" algn="l"/>
                <a:tab pos="1714500" algn="l"/>
                <a:tab pos="2005013" algn="l"/>
              </a:tabLst>
            </a:pPr>
            <a:r>
              <a:rPr lang="en-US" altLang="en-US" sz="2800"/>
              <a:t>Monitor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Footer Placeholder 3">
            <a:extLst>
              <a:ext uri="{FF2B5EF4-FFF2-40B4-BE49-F238E27FC236}">
                <a16:creationId xmlns:a16="http://schemas.microsoft.com/office/drawing/2014/main" id="{62ECD2D7-86E8-41A2-87B7-DB538514134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3555" name="Rectangle 4">
            <a:extLst>
              <a:ext uri="{FF2B5EF4-FFF2-40B4-BE49-F238E27FC236}">
                <a16:creationId xmlns:a16="http://schemas.microsoft.com/office/drawing/2014/main" id="{0412424D-92FD-4B53-B7DD-1539672D289B}"/>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58371" name="Rectangle 2">
            <a:extLst>
              <a:ext uri="{FF2B5EF4-FFF2-40B4-BE49-F238E27FC236}">
                <a16:creationId xmlns:a16="http://schemas.microsoft.com/office/drawing/2014/main" id="{4A703E9B-6034-4039-9FFF-71BC89584FD5}"/>
              </a:ext>
            </a:extLst>
          </p:cNvPr>
          <p:cNvSpPr>
            <a:spLocks noGrp="1" noChangeArrowheads="1"/>
          </p:cNvSpPr>
          <p:nvPr>
            <p:ph type="title"/>
          </p:nvPr>
        </p:nvSpPr>
        <p:spPr/>
        <p:txBody>
          <a:bodyPr/>
          <a:lstStyle/>
          <a:p>
            <a:r>
              <a:rPr lang="en-US" altLang="en-US"/>
              <a:t>Synchronization Hardware</a:t>
            </a:r>
          </a:p>
        </p:txBody>
      </p:sp>
      <p:sp>
        <p:nvSpPr>
          <p:cNvPr id="60420" name="Rectangle 3">
            <a:extLst>
              <a:ext uri="{FF2B5EF4-FFF2-40B4-BE49-F238E27FC236}">
                <a16:creationId xmlns:a16="http://schemas.microsoft.com/office/drawing/2014/main" id="{A0F4DF83-BF37-4607-A12D-01303D2F01B5}"/>
              </a:ext>
            </a:extLst>
          </p:cNvPr>
          <p:cNvSpPr>
            <a:spLocks noGrp="1" noChangeArrowheads="1"/>
          </p:cNvSpPr>
          <p:nvPr>
            <p:ph type="body" idx="1"/>
          </p:nvPr>
        </p:nvSpPr>
        <p:spPr>
          <a:xfrm>
            <a:off x="461963" y="1116013"/>
            <a:ext cx="8515350" cy="4695825"/>
          </a:xfrm>
          <a:solidFill>
            <a:schemeClr val="bg1"/>
          </a:solidFill>
        </p:spPr>
        <p:txBody>
          <a:bodyPr/>
          <a:lstStyle/>
          <a:p>
            <a:pPr>
              <a:tabLst>
                <a:tab pos="744538" algn="l"/>
                <a:tab pos="1025525" algn="l"/>
                <a:tab pos="1260475" algn="l"/>
              </a:tabLst>
            </a:pPr>
            <a:r>
              <a:rPr lang="en-US" altLang="en-US" sz="2800"/>
              <a:t>Modern processors provide special atomic hardware instructions</a:t>
            </a:r>
            <a:r>
              <a:rPr lang="en-US" altLang="en-US" sz="2800">
                <a:solidFill>
                  <a:schemeClr val="accent2"/>
                </a:solidFill>
              </a:rPr>
              <a:t> </a:t>
            </a:r>
          </a:p>
          <a:p>
            <a:pPr lvl="1">
              <a:tabLst>
                <a:tab pos="744538" algn="l"/>
                <a:tab pos="1025525" algn="l"/>
                <a:tab pos="1260475" algn="l"/>
              </a:tabLst>
            </a:pPr>
            <a:r>
              <a:rPr lang="en-US" altLang="en-US" sz="2800">
                <a:solidFill>
                  <a:srgbClr val="FF0000"/>
                </a:solidFill>
              </a:rPr>
              <a:t>Atomic = non-interruptible (no context switches)</a:t>
            </a:r>
            <a:endParaRPr lang="en-US" altLang="en-US" sz="2800"/>
          </a:p>
          <a:p>
            <a:pPr lvl="4">
              <a:tabLst>
                <a:tab pos="744538" algn="l"/>
                <a:tab pos="1025525" algn="l"/>
                <a:tab pos="1260475" algn="l"/>
              </a:tabLst>
            </a:pPr>
            <a:endParaRPr lang="en-US" altLang="en-US" sz="2200">
              <a:solidFill>
                <a:srgbClr val="FF0000"/>
              </a:solidFill>
            </a:endParaRPr>
          </a:p>
          <a:p>
            <a:pPr>
              <a:spcBef>
                <a:spcPts val="1000"/>
              </a:spcBef>
              <a:tabLst>
                <a:tab pos="744538" algn="l"/>
                <a:tab pos="1025525" algn="l"/>
                <a:tab pos="1260475" algn="l"/>
              </a:tabLst>
            </a:pPr>
            <a:r>
              <a:rPr lang="en-US" altLang="en-US" sz="2800">
                <a:solidFill>
                  <a:srgbClr val="FF0000"/>
                </a:solidFill>
              </a:rPr>
              <a:t>TestAndSet:</a:t>
            </a:r>
            <a:r>
              <a:rPr lang="en-US" altLang="en-US" sz="2800"/>
              <a:t> Test and modify the content of a main memory word </a:t>
            </a:r>
            <a:r>
              <a:rPr lang="en-US" altLang="en-US" sz="2800">
                <a:solidFill>
                  <a:schemeClr val="accent2"/>
                </a:solidFill>
              </a:rPr>
              <a:t>atomically</a:t>
            </a:r>
            <a:endParaRPr lang="en-US" altLang="en-US" sz="2800"/>
          </a:p>
          <a:p>
            <a:pPr>
              <a:spcBef>
                <a:spcPts val="800"/>
              </a:spcBef>
              <a:buFontTx/>
              <a:buNone/>
              <a:tabLst>
                <a:tab pos="744538" algn="l"/>
                <a:tab pos="1025525" algn="l"/>
                <a:tab pos="1260475" algn="l"/>
              </a:tabLst>
            </a:pPr>
            <a:r>
              <a:rPr lang="en-US" altLang="en-US" sz="2400"/>
              <a:t>	           boolean </a:t>
            </a:r>
            <a:r>
              <a:rPr lang="en-US" altLang="en-US" sz="2400" i="1"/>
              <a:t>TestAndSet</a:t>
            </a:r>
            <a:r>
              <a:rPr lang="en-US" altLang="en-US" sz="2400"/>
              <a:t> (boolean *target) {</a:t>
            </a:r>
          </a:p>
          <a:p>
            <a:pPr>
              <a:spcBef>
                <a:spcPts val="800"/>
              </a:spcBef>
              <a:buFontTx/>
              <a:buNone/>
              <a:tabLst>
                <a:tab pos="744538" algn="l"/>
                <a:tab pos="1025525" algn="l"/>
                <a:tab pos="1260475" algn="l"/>
              </a:tabLst>
            </a:pPr>
            <a:r>
              <a:rPr lang="en-US" altLang="en-US" sz="2400"/>
              <a:t>				       boolean </a:t>
            </a:r>
            <a:r>
              <a:rPr lang="en-US" altLang="en-US" sz="2400" i="1"/>
              <a:t>rv</a:t>
            </a:r>
            <a:r>
              <a:rPr lang="en-US" altLang="en-US" sz="2400"/>
              <a:t> = *</a:t>
            </a:r>
            <a:r>
              <a:rPr lang="en-US" altLang="en-US" sz="2400" i="1"/>
              <a:t>target</a:t>
            </a:r>
            <a:r>
              <a:rPr lang="en-US" altLang="en-US" sz="2400"/>
              <a:t>;</a:t>
            </a:r>
          </a:p>
          <a:p>
            <a:pPr>
              <a:spcBef>
                <a:spcPts val="800"/>
              </a:spcBef>
              <a:buFontTx/>
              <a:buNone/>
              <a:tabLst>
                <a:tab pos="744538" algn="l"/>
                <a:tab pos="1025525" algn="l"/>
                <a:tab pos="1260475" algn="l"/>
              </a:tabLst>
            </a:pPr>
            <a:r>
              <a:rPr lang="en-US" altLang="en-US" sz="2400"/>
              <a:t>			          *</a:t>
            </a:r>
            <a:r>
              <a:rPr lang="en-US" altLang="en-US" sz="2400" i="1"/>
              <a:t>target</a:t>
            </a:r>
            <a:r>
              <a:rPr lang="en-US" altLang="en-US" sz="2400"/>
              <a:t> = </a:t>
            </a:r>
            <a:r>
              <a:rPr lang="en-US" altLang="en-US" sz="2400" i="1"/>
              <a:t>true</a:t>
            </a:r>
            <a:r>
              <a:rPr lang="en-US" altLang="en-US" sz="2400"/>
              <a:t>;</a:t>
            </a:r>
          </a:p>
          <a:p>
            <a:pPr>
              <a:spcBef>
                <a:spcPts val="800"/>
              </a:spcBef>
              <a:buFontTx/>
              <a:buNone/>
              <a:tabLst>
                <a:tab pos="744538" algn="l"/>
                <a:tab pos="1025525" algn="l"/>
                <a:tab pos="1260475" algn="l"/>
              </a:tabLst>
            </a:pPr>
            <a:r>
              <a:rPr lang="en-US" altLang="en-US" sz="2400"/>
              <a:t>				       return </a:t>
            </a:r>
            <a:r>
              <a:rPr lang="en-US" altLang="en-US" sz="2400" i="1"/>
              <a:t>rv</a:t>
            </a:r>
            <a:r>
              <a:rPr lang="en-US" altLang="en-US" sz="2400"/>
              <a:t>;</a:t>
            </a:r>
          </a:p>
          <a:p>
            <a:pPr>
              <a:spcBef>
                <a:spcPts val="800"/>
              </a:spcBef>
              <a:buFontTx/>
              <a:buNone/>
              <a:tabLst>
                <a:tab pos="744538" algn="l"/>
                <a:tab pos="1025525" algn="l"/>
                <a:tab pos="1260475" algn="l"/>
              </a:tabLst>
            </a:pPr>
            <a:r>
              <a:rPr lang="en-US" altLang="en-US" sz="2400"/>
              <a:t>              }</a:t>
            </a:r>
          </a:p>
        </p:txBody>
      </p:sp>
      <p:sp>
        <p:nvSpPr>
          <p:cNvPr id="23558" name="Right Brace 1">
            <a:extLst>
              <a:ext uri="{FF2B5EF4-FFF2-40B4-BE49-F238E27FC236}">
                <a16:creationId xmlns:a16="http://schemas.microsoft.com/office/drawing/2014/main" id="{C5668F0D-84E0-4D85-B380-F9B4931E319B}"/>
              </a:ext>
            </a:extLst>
          </p:cNvPr>
          <p:cNvSpPr>
            <a:spLocks/>
          </p:cNvSpPr>
          <p:nvPr/>
        </p:nvSpPr>
        <p:spPr bwMode="auto">
          <a:xfrm>
            <a:off x="5200650" y="4495800"/>
            <a:ext cx="260350" cy="1317625"/>
          </a:xfrm>
          <a:prstGeom prst="rightBrace">
            <a:avLst>
              <a:gd name="adj1" fmla="val 8341"/>
              <a:gd name="adj2" fmla="val 50000"/>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3559" name="TextBox 2">
            <a:extLst>
              <a:ext uri="{FF2B5EF4-FFF2-40B4-BE49-F238E27FC236}">
                <a16:creationId xmlns:a16="http://schemas.microsoft.com/office/drawing/2014/main" id="{2A2E7D99-7C10-4F31-B812-4F3A41F91687}"/>
              </a:ext>
            </a:extLst>
          </p:cNvPr>
          <p:cNvSpPr txBox="1">
            <a:spLocks noChangeArrowheads="1"/>
          </p:cNvSpPr>
          <p:nvPr/>
        </p:nvSpPr>
        <p:spPr bwMode="auto">
          <a:xfrm>
            <a:off x="5518150" y="4806950"/>
            <a:ext cx="34115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000">
                <a:solidFill>
                  <a:schemeClr val="accent2"/>
                </a:solidFill>
              </a:rPr>
              <a:t>No context switches allowed during this execution</a:t>
            </a:r>
          </a:p>
        </p:txBody>
      </p:sp>
      <p:sp>
        <p:nvSpPr>
          <p:cNvPr id="12" name="TextBox 2">
            <a:extLst>
              <a:ext uri="{FF2B5EF4-FFF2-40B4-BE49-F238E27FC236}">
                <a16:creationId xmlns:a16="http://schemas.microsoft.com/office/drawing/2014/main" id="{B9ADDC18-EE89-4113-98B7-FFAEA4826869}"/>
              </a:ext>
            </a:extLst>
          </p:cNvPr>
          <p:cNvSpPr txBox="1">
            <a:spLocks noChangeArrowheads="1"/>
          </p:cNvSpPr>
          <p:nvPr/>
        </p:nvSpPr>
        <p:spPr bwMode="auto">
          <a:xfrm>
            <a:off x="6669088" y="4311650"/>
            <a:ext cx="25209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000"/>
              <a:t>Interrupt is disabled</a:t>
            </a:r>
          </a:p>
        </p:txBody>
      </p:sp>
      <p:sp>
        <p:nvSpPr>
          <p:cNvPr id="13" name="TextBox 2">
            <a:extLst>
              <a:ext uri="{FF2B5EF4-FFF2-40B4-BE49-F238E27FC236}">
                <a16:creationId xmlns:a16="http://schemas.microsoft.com/office/drawing/2014/main" id="{92C15E0F-F8EB-44A8-A964-06CE804FF55B}"/>
              </a:ext>
            </a:extLst>
          </p:cNvPr>
          <p:cNvSpPr txBox="1">
            <a:spLocks noChangeArrowheads="1"/>
          </p:cNvSpPr>
          <p:nvPr/>
        </p:nvSpPr>
        <p:spPr bwMode="auto">
          <a:xfrm>
            <a:off x="6570663" y="5727700"/>
            <a:ext cx="252095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000"/>
              <a:t>Interrupt is enabled</a:t>
            </a:r>
          </a:p>
        </p:txBody>
      </p:sp>
      <p:cxnSp>
        <p:nvCxnSpPr>
          <p:cNvPr id="3" name="Straight Arrow Connector 2">
            <a:extLst>
              <a:ext uri="{FF2B5EF4-FFF2-40B4-BE49-F238E27FC236}">
                <a16:creationId xmlns:a16="http://schemas.microsoft.com/office/drawing/2014/main" id="{B1E3260F-5DA1-487D-BA72-595CEB990F6D}"/>
              </a:ext>
            </a:extLst>
          </p:cNvPr>
          <p:cNvCxnSpPr>
            <a:cxnSpLocks noChangeShapeType="1"/>
            <a:endCxn id="12" idx="1"/>
          </p:cNvCxnSpPr>
          <p:nvPr/>
        </p:nvCxnSpPr>
        <p:spPr bwMode="auto">
          <a:xfrm>
            <a:off x="5064125" y="4432300"/>
            <a:ext cx="1604963" cy="809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Straight Arrow Connector 16">
            <a:extLst>
              <a:ext uri="{FF2B5EF4-FFF2-40B4-BE49-F238E27FC236}">
                <a16:creationId xmlns:a16="http://schemas.microsoft.com/office/drawing/2014/main" id="{FB0DD33D-F3A3-42EA-A0D0-89CDBF27E663}"/>
              </a:ext>
            </a:extLst>
          </p:cNvPr>
          <p:cNvCxnSpPr>
            <a:cxnSpLocks noChangeShapeType="1"/>
            <a:endCxn id="13" idx="1"/>
          </p:cNvCxnSpPr>
          <p:nvPr/>
        </p:nvCxnSpPr>
        <p:spPr bwMode="auto">
          <a:xfrm>
            <a:off x="4965700" y="5929313"/>
            <a:ext cx="160496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4" name="TextBox 13">
            <a:extLst>
              <a:ext uri="{FF2B5EF4-FFF2-40B4-BE49-F238E27FC236}">
                <a16:creationId xmlns:a16="http://schemas.microsoft.com/office/drawing/2014/main" id="{D72FF469-A889-4031-85F3-7E3181D3B7BD}"/>
              </a:ext>
            </a:extLst>
          </p:cNvPr>
          <p:cNvSpPr txBox="1">
            <a:spLocks noChangeArrowheads="1"/>
          </p:cNvSpPr>
          <p:nvPr/>
        </p:nvSpPr>
        <p:spPr bwMode="auto">
          <a:xfrm>
            <a:off x="42863" y="4495800"/>
            <a:ext cx="2060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Get current value</a:t>
            </a:r>
          </a:p>
        </p:txBody>
      </p:sp>
      <p:cxnSp>
        <p:nvCxnSpPr>
          <p:cNvPr id="5" name="Straight Arrow Connector 4">
            <a:extLst>
              <a:ext uri="{FF2B5EF4-FFF2-40B4-BE49-F238E27FC236}">
                <a16:creationId xmlns:a16="http://schemas.microsoft.com/office/drawing/2014/main" id="{33EC124F-2B16-4917-A61A-A333A7216F49}"/>
              </a:ext>
            </a:extLst>
          </p:cNvPr>
          <p:cNvCxnSpPr>
            <a:cxnSpLocks noChangeShapeType="1"/>
            <a:stCxn id="14" idx="3"/>
          </p:cNvCxnSpPr>
          <p:nvPr/>
        </p:nvCxnSpPr>
        <p:spPr bwMode="auto">
          <a:xfrm>
            <a:off x="2103438" y="4679950"/>
            <a:ext cx="241300" cy="0"/>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8" name="TextBox 17">
            <a:extLst>
              <a:ext uri="{FF2B5EF4-FFF2-40B4-BE49-F238E27FC236}">
                <a16:creationId xmlns:a16="http://schemas.microsoft.com/office/drawing/2014/main" id="{27D9DB90-61DA-40D9-A7AE-0A8D5DAC6CCF}"/>
              </a:ext>
            </a:extLst>
          </p:cNvPr>
          <p:cNvSpPr txBox="1">
            <a:spLocks noChangeArrowheads="1"/>
          </p:cNvSpPr>
          <p:nvPr/>
        </p:nvSpPr>
        <p:spPr bwMode="auto">
          <a:xfrm>
            <a:off x="49213" y="4949825"/>
            <a:ext cx="2062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          Store true</a:t>
            </a:r>
          </a:p>
        </p:txBody>
      </p:sp>
      <p:cxnSp>
        <p:nvCxnSpPr>
          <p:cNvPr id="19" name="Straight Arrow Connector 18">
            <a:extLst>
              <a:ext uri="{FF2B5EF4-FFF2-40B4-BE49-F238E27FC236}">
                <a16:creationId xmlns:a16="http://schemas.microsoft.com/office/drawing/2014/main" id="{749B6FCE-35B7-41EF-B7EB-29BEDBD831EB}"/>
              </a:ext>
            </a:extLst>
          </p:cNvPr>
          <p:cNvCxnSpPr>
            <a:cxnSpLocks noChangeShapeType="1"/>
          </p:cNvCxnSpPr>
          <p:nvPr/>
        </p:nvCxnSpPr>
        <p:spPr bwMode="auto">
          <a:xfrm>
            <a:off x="2111375" y="5133975"/>
            <a:ext cx="239713" cy="0"/>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20" name="TextBox 19">
            <a:extLst>
              <a:ext uri="{FF2B5EF4-FFF2-40B4-BE49-F238E27FC236}">
                <a16:creationId xmlns:a16="http://schemas.microsoft.com/office/drawing/2014/main" id="{D0891F25-64FE-4C9E-B21A-16651B7A3C2A}"/>
              </a:ext>
            </a:extLst>
          </p:cNvPr>
          <p:cNvSpPr txBox="1">
            <a:spLocks noChangeArrowheads="1"/>
          </p:cNvSpPr>
          <p:nvPr/>
        </p:nvSpPr>
        <p:spPr bwMode="auto">
          <a:xfrm>
            <a:off x="49213" y="5443538"/>
            <a:ext cx="2062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  Return old value</a:t>
            </a:r>
          </a:p>
        </p:txBody>
      </p:sp>
      <p:cxnSp>
        <p:nvCxnSpPr>
          <p:cNvPr id="21" name="Straight Arrow Connector 20">
            <a:extLst>
              <a:ext uri="{FF2B5EF4-FFF2-40B4-BE49-F238E27FC236}">
                <a16:creationId xmlns:a16="http://schemas.microsoft.com/office/drawing/2014/main" id="{E9660F5D-AD8A-40FF-A51F-43CB8BB80562}"/>
              </a:ext>
            </a:extLst>
          </p:cNvPr>
          <p:cNvCxnSpPr>
            <a:cxnSpLocks noChangeShapeType="1"/>
          </p:cNvCxnSpPr>
          <p:nvPr/>
        </p:nvCxnSpPr>
        <p:spPr bwMode="auto">
          <a:xfrm>
            <a:off x="2111375" y="5627688"/>
            <a:ext cx="239713" cy="0"/>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2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42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42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420">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420">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5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5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animBg="1"/>
      <p:bldP spid="23559" grpId="0"/>
      <p:bldP spid="12" grpId="0"/>
      <p:bldP spid="13" grpId="0"/>
      <p:bldP spid="14" grpId="0"/>
      <p:bldP spid="18"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a:extLst>
              <a:ext uri="{FF2B5EF4-FFF2-40B4-BE49-F238E27FC236}">
                <a16:creationId xmlns:a16="http://schemas.microsoft.com/office/drawing/2014/main" id="{93A21543-28E3-4E87-90EA-D63F46394A75}"/>
              </a:ext>
            </a:extLst>
          </p:cNvPr>
          <p:cNvSpPr>
            <a:spLocks noGrp="1" noChangeArrowheads="1"/>
          </p:cNvSpPr>
          <p:nvPr>
            <p:ph type="body" idx="1"/>
          </p:nvPr>
        </p:nvSpPr>
        <p:spPr>
          <a:xfrm>
            <a:off x="428625" y="1311275"/>
            <a:ext cx="8475663" cy="4876800"/>
          </a:xfrm>
        </p:spPr>
        <p:txBody>
          <a:bodyPr/>
          <a:lstStyle/>
          <a:p>
            <a:pPr>
              <a:lnSpc>
                <a:spcPct val="90000"/>
              </a:lnSpc>
              <a:tabLst>
                <a:tab pos="1433513" algn="l"/>
                <a:tab pos="1714500" algn="l"/>
                <a:tab pos="2058988" algn="l"/>
              </a:tabLst>
              <a:defRPr/>
            </a:pPr>
            <a:r>
              <a:rPr lang="en-US" altLang="en-US" sz="2800" dirty="0"/>
              <a:t>Variable shared: </a:t>
            </a:r>
            <a:r>
              <a:rPr lang="en-US" altLang="en-US" sz="2800" b="1" dirty="0" err="1">
                <a:solidFill>
                  <a:schemeClr val="accent1">
                    <a:lumMod val="75000"/>
                  </a:schemeClr>
                </a:solidFill>
              </a:rPr>
              <a:t>boolean</a:t>
            </a:r>
            <a:r>
              <a:rPr lang="en-US" altLang="en-US" sz="2800" b="1" dirty="0">
                <a:solidFill>
                  <a:schemeClr val="accent1">
                    <a:lumMod val="75000"/>
                  </a:schemeClr>
                </a:solidFill>
              </a:rPr>
              <a:t> </a:t>
            </a:r>
            <a:r>
              <a:rPr lang="en-US" altLang="en-US" sz="2800" b="1" i="1" dirty="0">
                <a:solidFill>
                  <a:schemeClr val="accent1">
                    <a:lumMod val="75000"/>
                  </a:schemeClr>
                </a:solidFill>
              </a:rPr>
              <a:t>lock;</a:t>
            </a:r>
            <a:r>
              <a:rPr lang="en-US" altLang="en-US" sz="2800" i="1" dirty="0"/>
              <a:t> </a:t>
            </a:r>
          </a:p>
          <a:p>
            <a:pPr lvl="1">
              <a:lnSpc>
                <a:spcPct val="90000"/>
              </a:lnSpc>
              <a:tabLst>
                <a:tab pos="1433513" algn="l"/>
                <a:tab pos="1714500" algn="l"/>
                <a:tab pos="2058988" algn="l"/>
              </a:tabLst>
              <a:defRPr/>
            </a:pPr>
            <a:r>
              <a:rPr lang="en-US" altLang="en-US" sz="2400" dirty="0"/>
              <a:t>Initially lock = false</a:t>
            </a:r>
          </a:p>
          <a:p>
            <a:pPr lvl="1">
              <a:lnSpc>
                <a:spcPct val="90000"/>
              </a:lnSpc>
              <a:tabLst>
                <a:tab pos="1433513" algn="l"/>
                <a:tab pos="1714500" algn="l"/>
                <a:tab pos="2058988" algn="l"/>
              </a:tabLst>
              <a:defRPr/>
            </a:pPr>
            <a:r>
              <a:rPr lang="en-US" altLang="en-US" sz="2400" dirty="0">
                <a:solidFill>
                  <a:srgbClr val="FF0000"/>
                </a:solidFill>
              </a:rPr>
              <a:t>If </a:t>
            </a:r>
            <a:r>
              <a:rPr lang="en-US" altLang="en-US" sz="2400" dirty="0" err="1">
                <a:solidFill>
                  <a:srgbClr val="FF0000"/>
                </a:solidFill>
              </a:rPr>
              <a:t>TestAndSet</a:t>
            </a:r>
            <a:r>
              <a:rPr lang="en-US" altLang="en-US" sz="2400" dirty="0">
                <a:solidFill>
                  <a:srgbClr val="FF0000"/>
                </a:solidFill>
              </a:rPr>
              <a:t> on lock returns false, then process can enter critical section (because it set lock to true)</a:t>
            </a:r>
          </a:p>
          <a:p>
            <a:pPr lvl="4">
              <a:lnSpc>
                <a:spcPct val="90000"/>
              </a:lnSpc>
              <a:tabLst>
                <a:tab pos="1433513" algn="l"/>
                <a:tab pos="1714500" algn="l"/>
                <a:tab pos="2058988" algn="l"/>
              </a:tabLst>
              <a:defRPr/>
            </a:pPr>
            <a:endParaRPr lang="en-US" altLang="en-US" sz="2200" dirty="0"/>
          </a:p>
          <a:p>
            <a:pPr>
              <a:lnSpc>
                <a:spcPct val="90000"/>
              </a:lnSpc>
              <a:tabLst>
                <a:tab pos="1433513" algn="l"/>
                <a:tab pos="1714500" algn="l"/>
                <a:tab pos="2058988" algn="l"/>
              </a:tabLst>
              <a:defRPr/>
            </a:pPr>
            <a:r>
              <a:rPr lang="en-US" altLang="en-US" sz="2400" dirty="0"/>
              <a:t>Process </a:t>
            </a:r>
            <a:r>
              <a:rPr lang="en-US" altLang="en-US" sz="2400" i="1" dirty="0"/>
              <a:t>P</a:t>
            </a:r>
            <a:r>
              <a:rPr lang="en-US" altLang="en-US" sz="2400" i="1" baseline="-25000" dirty="0"/>
              <a:t>i</a:t>
            </a:r>
            <a:r>
              <a:rPr lang="en-US" altLang="en-US" sz="2400" dirty="0"/>
              <a:t> : while (1) { </a:t>
            </a:r>
          </a:p>
          <a:p>
            <a:pPr>
              <a:lnSpc>
                <a:spcPct val="90000"/>
              </a:lnSpc>
              <a:buFontTx/>
              <a:buNone/>
              <a:tabLst>
                <a:tab pos="1433513" algn="l"/>
                <a:tab pos="1714500" algn="l"/>
                <a:tab pos="2058988" algn="l"/>
              </a:tabLst>
              <a:defRPr/>
            </a:pPr>
            <a:r>
              <a:rPr lang="en-US" altLang="en-US" sz="2400" dirty="0"/>
              <a:t>				  while(</a:t>
            </a:r>
            <a:r>
              <a:rPr lang="en-US" altLang="en-US" sz="2400" dirty="0" err="1"/>
              <a:t>TestAndSet</a:t>
            </a:r>
            <a:r>
              <a:rPr lang="en-US" altLang="en-US" sz="2400" dirty="0"/>
              <a:t>(</a:t>
            </a:r>
            <a:r>
              <a:rPr lang="en-US" altLang="en-US" sz="2400" dirty="0">
                <a:solidFill>
                  <a:srgbClr val="FF0000"/>
                </a:solidFill>
              </a:rPr>
              <a:t>&amp;</a:t>
            </a:r>
            <a:r>
              <a:rPr lang="en-US" altLang="en-US" sz="2400" i="1" dirty="0"/>
              <a:t>lock</a:t>
            </a:r>
            <a:r>
              <a:rPr lang="en-US" altLang="en-US" sz="2400" dirty="0"/>
              <a:t>));</a:t>
            </a:r>
          </a:p>
          <a:p>
            <a:pPr>
              <a:lnSpc>
                <a:spcPct val="90000"/>
              </a:lnSpc>
              <a:buFontTx/>
              <a:buNone/>
              <a:tabLst>
                <a:tab pos="1433513" algn="l"/>
                <a:tab pos="1714500" algn="l"/>
                <a:tab pos="2058988" algn="l"/>
              </a:tabLst>
              <a:defRPr/>
            </a:pPr>
            <a:r>
              <a:rPr lang="en-US" altLang="en-US" sz="2400" dirty="0"/>
              <a:t>					critical section</a:t>
            </a:r>
          </a:p>
          <a:p>
            <a:pPr>
              <a:lnSpc>
                <a:spcPct val="90000"/>
              </a:lnSpc>
              <a:buFontTx/>
              <a:buNone/>
              <a:tabLst>
                <a:tab pos="1433513" algn="l"/>
                <a:tab pos="1714500" algn="l"/>
                <a:tab pos="2058988" algn="l"/>
              </a:tabLst>
              <a:defRPr/>
            </a:pPr>
            <a:r>
              <a:rPr lang="en-US" altLang="en-US" sz="2400" dirty="0"/>
              <a:t>				  </a:t>
            </a:r>
            <a:r>
              <a:rPr lang="en-US" altLang="en-US" sz="2400" i="1" dirty="0"/>
              <a:t>lock</a:t>
            </a:r>
            <a:r>
              <a:rPr lang="en-US" altLang="en-US" sz="2400" dirty="0"/>
              <a:t> = </a:t>
            </a:r>
            <a:r>
              <a:rPr lang="en-US" altLang="en-US" sz="2400" i="1" dirty="0"/>
              <a:t>false</a:t>
            </a:r>
            <a:r>
              <a:rPr lang="en-US" altLang="en-US" sz="2400" dirty="0"/>
              <a:t>;</a:t>
            </a:r>
          </a:p>
          <a:p>
            <a:pPr>
              <a:lnSpc>
                <a:spcPct val="90000"/>
              </a:lnSpc>
              <a:buFontTx/>
              <a:buNone/>
              <a:tabLst>
                <a:tab pos="1433513" algn="l"/>
                <a:tab pos="1714500" algn="l"/>
                <a:tab pos="2058988" algn="l"/>
              </a:tabLst>
              <a:defRPr/>
            </a:pPr>
            <a:r>
              <a:rPr lang="en-US" altLang="en-US" sz="2400" dirty="0"/>
              <a:t>					remainder section</a:t>
            </a:r>
          </a:p>
          <a:p>
            <a:pPr>
              <a:lnSpc>
                <a:spcPct val="90000"/>
              </a:lnSpc>
              <a:buFontTx/>
              <a:buNone/>
              <a:tabLst>
                <a:tab pos="1433513" algn="l"/>
                <a:tab pos="1714500" algn="l"/>
                <a:tab pos="2058988" algn="l"/>
              </a:tabLst>
              <a:defRPr/>
            </a:pPr>
            <a:r>
              <a:rPr lang="en-US" altLang="en-US" sz="2400" dirty="0"/>
              <a:t>			   }</a:t>
            </a:r>
          </a:p>
        </p:txBody>
      </p:sp>
      <p:sp>
        <p:nvSpPr>
          <p:cNvPr id="60418" name="Footer Placeholder 3">
            <a:extLst>
              <a:ext uri="{FF2B5EF4-FFF2-40B4-BE49-F238E27FC236}">
                <a16:creationId xmlns:a16="http://schemas.microsoft.com/office/drawing/2014/main" id="{59BE2489-7B46-4EF8-8F32-4481941E29C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4579" name="Rectangle 6">
            <a:extLst>
              <a:ext uri="{FF2B5EF4-FFF2-40B4-BE49-F238E27FC236}">
                <a16:creationId xmlns:a16="http://schemas.microsoft.com/office/drawing/2014/main" id="{44E67124-107F-403C-AFB3-988A9C03ED9A}"/>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60420" name="Rectangle 2">
            <a:extLst>
              <a:ext uri="{FF2B5EF4-FFF2-40B4-BE49-F238E27FC236}">
                <a16:creationId xmlns:a16="http://schemas.microsoft.com/office/drawing/2014/main" id="{5B86D31A-A278-4F60-8273-73953BC75174}"/>
              </a:ext>
            </a:extLst>
          </p:cNvPr>
          <p:cNvSpPr>
            <a:spLocks noGrp="1" noChangeArrowheads="1"/>
          </p:cNvSpPr>
          <p:nvPr>
            <p:ph type="title"/>
          </p:nvPr>
        </p:nvSpPr>
        <p:spPr/>
        <p:txBody>
          <a:bodyPr/>
          <a:lstStyle/>
          <a:p>
            <a:r>
              <a:rPr lang="en-US" altLang="en-US"/>
              <a:t>Critical-Section with Test-and-Set</a:t>
            </a:r>
          </a:p>
        </p:txBody>
      </p:sp>
      <p:sp>
        <p:nvSpPr>
          <p:cNvPr id="2" name="TextBox 1">
            <a:extLst>
              <a:ext uri="{FF2B5EF4-FFF2-40B4-BE49-F238E27FC236}">
                <a16:creationId xmlns:a16="http://schemas.microsoft.com/office/drawing/2014/main" id="{28DBCC4B-D87D-454D-841F-E0257A0A44DE}"/>
              </a:ext>
            </a:extLst>
          </p:cNvPr>
          <p:cNvSpPr txBox="1"/>
          <p:nvPr/>
        </p:nvSpPr>
        <p:spPr>
          <a:xfrm>
            <a:off x="6959600" y="3873500"/>
            <a:ext cx="1863725" cy="461963"/>
          </a:xfrm>
          <a:prstGeom prst="rect">
            <a:avLst/>
          </a:prstGeom>
          <a:solidFill>
            <a:schemeClr val="bg1">
              <a:lumMod val="65000"/>
            </a:schemeClr>
          </a:solidFill>
        </p:spPr>
        <p:txBody>
          <a:bodyPr wrap="none">
            <a:spAutoFit/>
          </a:bodyPr>
          <a:lstStyle/>
          <a:p>
            <a:pPr algn="ctr">
              <a:defRPr/>
            </a:pPr>
            <a:r>
              <a:rPr lang="en-US" sz="2400" dirty="0"/>
              <a:t>Acquire lock</a:t>
            </a:r>
          </a:p>
        </p:txBody>
      </p:sp>
      <p:sp>
        <p:nvSpPr>
          <p:cNvPr id="9" name="TextBox 8">
            <a:extLst>
              <a:ext uri="{FF2B5EF4-FFF2-40B4-BE49-F238E27FC236}">
                <a16:creationId xmlns:a16="http://schemas.microsoft.com/office/drawing/2014/main" id="{D581E5C0-C231-4CFA-84FF-493DB63C6702}"/>
              </a:ext>
            </a:extLst>
          </p:cNvPr>
          <p:cNvSpPr txBox="1"/>
          <p:nvPr/>
        </p:nvSpPr>
        <p:spPr>
          <a:xfrm>
            <a:off x="6916738" y="4879975"/>
            <a:ext cx="1949450" cy="461963"/>
          </a:xfrm>
          <a:prstGeom prst="rect">
            <a:avLst/>
          </a:prstGeom>
          <a:solidFill>
            <a:schemeClr val="bg1">
              <a:lumMod val="65000"/>
            </a:schemeClr>
          </a:solidFill>
        </p:spPr>
        <p:txBody>
          <a:bodyPr wrap="none">
            <a:spAutoFit/>
          </a:bodyPr>
          <a:lstStyle/>
          <a:p>
            <a:pPr algn="ctr">
              <a:defRPr/>
            </a:pPr>
            <a:r>
              <a:rPr lang="en-US" sz="2400" dirty="0"/>
              <a:t>Release lock</a:t>
            </a:r>
          </a:p>
        </p:txBody>
      </p:sp>
      <p:sp>
        <p:nvSpPr>
          <p:cNvPr id="10" name="Rectangle 9">
            <a:extLst>
              <a:ext uri="{FF2B5EF4-FFF2-40B4-BE49-F238E27FC236}">
                <a16:creationId xmlns:a16="http://schemas.microsoft.com/office/drawing/2014/main" id="{8E51B786-4950-474E-B7F0-E0C417D750C4}"/>
              </a:ext>
            </a:extLst>
          </p:cNvPr>
          <p:cNvSpPr>
            <a:spLocks noChangeArrowheads="1"/>
          </p:cNvSpPr>
          <p:nvPr/>
        </p:nvSpPr>
        <p:spPr bwMode="auto">
          <a:xfrm>
            <a:off x="2487613" y="3827463"/>
            <a:ext cx="4306887" cy="552450"/>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1" name="Rectangle 10">
            <a:extLst>
              <a:ext uri="{FF2B5EF4-FFF2-40B4-BE49-F238E27FC236}">
                <a16:creationId xmlns:a16="http://schemas.microsoft.com/office/drawing/2014/main" id="{E7D57D83-12D7-4CE7-9968-2F4BA92CA77D}"/>
              </a:ext>
            </a:extLst>
          </p:cNvPr>
          <p:cNvSpPr>
            <a:spLocks noChangeArrowheads="1"/>
          </p:cNvSpPr>
          <p:nvPr/>
        </p:nvSpPr>
        <p:spPr bwMode="auto">
          <a:xfrm>
            <a:off x="2513013" y="4835525"/>
            <a:ext cx="2028825" cy="552450"/>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2" name="TextBox 11">
            <a:extLst>
              <a:ext uri="{FF2B5EF4-FFF2-40B4-BE49-F238E27FC236}">
                <a16:creationId xmlns:a16="http://schemas.microsoft.com/office/drawing/2014/main" id="{8DE2ECB8-2645-4975-BBD6-C8825B58F12E}"/>
              </a:ext>
            </a:extLst>
          </p:cNvPr>
          <p:cNvSpPr txBox="1">
            <a:spLocks noChangeArrowheads="1"/>
          </p:cNvSpPr>
          <p:nvPr/>
        </p:nvSpPr>
        <p:spPr bwMode="auto">
          <a:xfrm>
            <a:off x="471488" y="3887788"/>
            <a:ext cx="154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Entry Section</a:t>
            </a:r>
          </a:p>
        </p:txBody>
      </p:sp>
      <p:sp>
        <p:nvSpPr>
          <p:cNvPr id="13" name="TextBox 12">
            <a:extLst>
              <a:ext uri="{FF2B5EF4-FFF2-40B4-BE49-F238E27FC236}">
                <a16:creationId xmlns:a16="http://schemas.microsoft.com/office/drawing/2014/main" id="{74E41B50-23FE-4EC5-BD8D-3C82EC6062C9}"/>
              </a:ext>
            </a:extLst>
          </p:cNvPr>
          <p:cNvSpPr txBox="1">
            <a:spLocks noChangeArrowheads="1"/>
          </p:cNvSpPr>
          <p:nvPr/>
        </p:nvSpPr>
        <p:spPr bwMode="auto">
          <a:xfrm>
            <a:off x="492125" y="4916488"/>
            <a:ext cx="139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Exit Section</a:t>
            </a:r>
          </a:p>
        </p:txBody>
      </p:sp>
      <p:cxnSp>
        <p:nvCxnSpPr>
          <p:cNvPr id="14" name="Straight Arrow Connector 13">
            <a:extLst>
              <a:ext uri="{FF2B5EF4-FFF2-40B4-BE49-F238E27FC236}">
                <a16:creationId xmlns:a16="http://schemas.microsoft.com/office/drawing/2014/main" id="{CAE66002-D481-4C42-81A2-815123794301}"/>
              </a:ext>
            </a:extLst>
          </p:cNvPr>
          <p:cNvCxnSpPr>
            <a:cxnSpLocks noChangeShapeType="1"/>
          </p:cNvCxnSpPr>
          <p:nvPr/>
        </p:nvCxnSpPr>
        <p:spPr bwMode="auto">
          <a:xfrm>
            <a:off x="2020888" y="4071938"/>
            <a:ext cx="455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Straight Arrow Connector 14">
            <a:extLst>
              <a:ext uri="{FF2B5EF4-FFF2-40B4-BE49-F238E27FC236}">
                <a16:creationId xmlns:a16="http://schemas.microsoft.com/office/drawing/2014/main" id="{01030807-043D-4CF7-82B1-2CE79002D4FB}"/>
              </a:ext>
            </a:extLst>
          </p:cNvPr>
          <p:cNvCxnSpPr>
            <a:cxnSpLocks noChangeShapeType="1"/>
          </p:cNvCxnSpPr>
          <p:nvPr/>
        </p:nvCxnSpPr>
        <p:spPr bwMode="auto">
          <a:xfrm>
            <a:off x="1889125" y="5100638"/>
            <a:ext cx="61753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246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46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46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468">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468">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46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Footer Placeholder 3">
            <a:extLst>
              <a:ext uri="{FF2B5EF4-FFF2-40B4-BE49-F238E27FC236}">
                <a16:creationId xmlns:a16="http://schemas.microsoft.com/office/drawing/2014/main" id="{8E385F8D-2076-486E-AD83-35D6180ABB5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1507" name="Rectangle 2">
            <a:extLst>
              <a:ext uri="{FF2B5EF4-FFF2-40B4-BE49-F238E27FC236}">
                <a16:creationId xmlns:a16="http://schemas.microsoft.com/office/drawing/2014/main" id="{D8D1FE1C-5C5F-4609-89D3-037D41A76706}"/>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62467" name="Rectangle 3">
            <a:extLst>
              <a:ext uri="{FF2B5EF4-FFF2-40B4-BE49-F238E27FC236}">
                <a16:creationId xmlns:a16="http://schemas.microsoft.com/office/drawing/2014/main" id="{211EBF45-73D4-42CD-899E-F378E41DB509}"/>
              </a:ext>
            </a:extLst>
          </p:cNvPr>
          <p:cNvSpPr>
            <a:spLocks noGrp="1" noChangeArrowheads="1"/>
          </p:cNvSpPr>
          <p:nvPr>
            <p:ph type="title"/>
          </p:nvPr>
        </p:nvSpPr>
        <p:spPr/>
        <p:txBody>
          <a:bodyPr/>
          <a:lstStyle/>
          <a:p>
            <a:r>
              <a:rPr lang="en-US" altLang="en-US"/>
              <a:t>TestAndSet: Property Analysis</a:t>
            </a:r>
          </a:p>
        </p:txBody>
      </p:sp>
      <p:sp>
        <p:nvSpPr>
          <p:cNvPr id="54276" name="Rectangle 4">
            <a:extLst>
              <a:ext uri="{FF2B5EF4-FFF2-40B4-BE49-F238E27FC236}">
                <a16:creationId xmlns:a16="http://schemas.microsoft.com/office/drawing/2014/main" id="{AF831905-925E-4E7A-B8CE-76F91E3FB9C8}"/>
              </a:ext>
            </a:extLst>
          </p:cNvPr>
          <p:cNvSpPr>
            <a:spLocks noGrp="1" noChangeArrowheads="1"/>
          </p:cNvSpPr>
          <p:nvPr>
            <p:ph type="body" idx="1"/>
          </p:nvPr>
        </p:nvSpPr>
        <p:spPr>
          <a:xfrm>
            <a:off x="295275" y="1028700"/>
            <a:ext cx="8731250" cy="5032375"/>
          </a:xfrm>
        </p:spPr>
        <p:txBody>
          <a:bodyPr/>
          <a:lstStyle/>
          <a:p>
            <a:pPr marL="514350" indent="-514350">
              <a:buFont typeface="+mj-lt"/>
              <a:buAutoNum type="arabicPeriod"/>
              <a:tabLst>
                <a:tab pos="2005013" algn="l"/>
                <a:tab pos="2339975" algn="l"/>
                <a:tab pos="2630488" algn="l"/>
              </a:tabLst>
              <a:defRPr/>
            </a:pPr>
            <a:r>
              <a:rPr lang="en-US" altLang="en-US" sz="2800" dirty="0">
                <a:solidFill>
                  <a:schemeClr val="accent2"/>
                </a:solidFill>
              </a:rPr>
              <a:t>Mutual Exclusion? </a:t>
            </a:r>
            <a:r>
              <a:rPr lang="en-US" altLang="en-US" sz="2800" b="1" dirty="0">
                <a:solidFill>
                  <a:srgbClr val="00B050"/>
                </a:solidFill>
                <a:sym typeface="Wingdings"/>
              </a:rPr>
              <a:t> </a:t>
            </a:r>
          </a:p>
          <a:p>
            <a:pPr marL="868363" lvl="1" indent="-354013">
              <a:tabLst>
                <a:tab pos="2005013" algn="l"/>
                <a:tab pos="2339975" algn="l"/>
                <a:tab pos="2630488" algn="l"/>
              </a:tabLst>
              <a:defRPr/>
            </a:pPr>
            <a:r>
              <a:rPr lang="en-US" altLang="en-US" sz="2000" dirty="0">
                <a:sym typeface="Wingdings"/>
              </a:rPr>
              <a:t>A process enters critical section  </a:t>
            </a:r>
            <a:r>
              <a:rPr lang="en-US" altLang="en-US" sz="2000" b="1" dirty="0">
                <a:solidFill>
                  <a:schemeClr val="accent1">
                    <a:lumMod val="75000"/>
                  </a:schemeClr>
                </a:solidFill>
                <a:sym typeface="Wingdings"/>
              </a:rPr>
              <a:t>lock = false </a:t>
            </a:r>
            <a:r>
              <a:rPr lang="en-US" altLang="en-US" sz="2000" dirty="0">
                <a:sym typeface="Wingdings"/>
              </a:rPr>
              <a:t>immediately before it executes TestAndSet(&amp;lock) and </a:t>
            </a:r>
            <a:r>
              <a:rPr lang="en-US" altLang="en-US" sz="2000" b="1" dirty="0">
                <a:solidFill>
                  <a:schemeClr val="accent1">
                    <a:lumMod val="75000"/>
                  </a:schemeClr>
                </a:solidFill>
                <a:sym typeface="Wingdings"/>
              </a:rPr>
              <a:t>lock = true</a:t>
            </a:r>
            <a:r>
              <a:rPr lang="en-US" altLang="en-US" sz="2000" dirty="0">
                <a:sym typeface="Wingdings"/>
              </a:rPr>
              <a:t> thereafter</a:t>
            </a:r>
          </a:p>
          <a:p>
            <a:pPr marL="868363" lvl="1" indent="-354013">
              <a:tabLst>
                <a:tab pos="2005013" algn="l"/>
                <a:tab pos="2339975" algn="l"/>
                <a:tab pos="2630488" algn="l"/>
              </a:tabLst>
              <a:defRPr/>
            </a:pPr>
            <a:r>
              <a:rPr lang="en-US" altLang="en-US" sz="2000" b="1" dirty="0">
                <a:solidFill>
                  <a:schemeClr val="accent1">
                    <a:lumMod val="75000"/>
                  </a:schemeClr>
                </a:solidFill>
                <a:sym typeface="Wingdings"/>
              </a:rPr>
              <a:t>lock </a:t>
            </a:r>
            <a:r>
              <a:rPr lang="en-US" altLang="en-US" sz="2000" dirty="0">
                <a:sym typeface="Wingdings"/>
              </a:rPr>
              <a:t>is reset to false </a:t>
            </a:r>
            <a:r>
              <a:rPr lang="en-US" altLang="en-US" sz="2000" b="1" dirty="0">
                <a:sym typeface="Wingdings"/>
              </a:rPr>
              <a:t>only </a:t>
            </a:r>
            <a:r>
              <a:rPr lang="en-US" altLang="en-US" sz="2000" dirty="0">
                <a:sym typeface="Wingdings"/>
              </a:rPr>
              <a:t>in the exit section of the process</a:t>
            </a:r>
          </a:p>
          <a:p>
            <a:pPr marL="868363" lvl="1" indent="-354013">
              <a:tabLst>
                <a:tab pos="2005013" algn="l"/>
                <a:tab pos="2339975" algn="l"/>
                <a:tab pos="2630488" algn="l"/>
              </a:tabLst>
              <a:defRPr/>
            </a:pPr>
            <a:r>
              <a:rPr lang="en-US" altLang="en-US" sz="2000" dirty="0">
                <a:sym typeface="Wingdings"/>
              </a:rPr>
              <a:t>No process can thereafter enter critical section since </a:t>
            </a:r>
            <a:r>
              <a:rPr lang="en-US" altLang="en-US" sz="2000" b="1" dirty="0">
                <a:solidFill>
                  <a:schemeClr val="accent1">
                    <a:lumMod val="75000"/>
                  </a:schemeClr>
                </a:solidFill>
                <a:sym typeface="Wingdings"/>
              </a:rPr>
              <a:t>lock = true</a:t>
            </a:r>
            <a:endParaRPr lang="en-US" altLang="en-US" sz="2000" dirty="0">
              <a:sym typeface="Wingdings"/>
            </a:endParaRPr>
          </a:p>
          <a:p>
            <a:pPr marL="2343150" lvl="4" indent="-514350">
              <a:tabLst>
                <a:tab pos="2005013" algn="l"/>
                <a:tab pos="2339975" algn="l"/>
                <a:tab pos="2630488" algn="l"/>
              </a:tabLst>
              <a:defRPr/>
            </a:pPr>
            <a:endParaRPr lang="en-US" altLang="en-US" dirty="0"/>
          </a:p>
          <a:p>
            <a:pPr marL="514350" indent="-514350">
              <a:buFont typeface="+mj-lt"/>
              <a:buAutoNum type="arabicPeriod"/>
              <a:tabLst>
                <a:tab pos="2005013" algn="l"/>
                <a:tab pos="2339975" algn="l"/>
                <a:tab pos="2630488" algn="l"/>
              </a:tabLst>
              <a:defRPr/>
            </a:pPr>
            <a:r>
              <a:rPr lang="en-US" altLang="en-US" sz="2800" dirty="0">
                <a:solidFill>
                  <a:schemeClr val="accent2"/>
                </a:solidFill>
              </a:rPr>
              <a:t>Progress? </a:t>
            </a:r>
            <a:r>
              <a:rPr lang="en-US" altLang="en-US" sz="2800" b="1" dirty="0">
                <a:solidFill>
                  <a:srgbClr val="00B050"/>
                </a:solidFill>
                <a:sym typeface="Wingdings"/>
              </a:rPr>
              <a:t></a:t>
            </a:r>
            <a:endParaRPr lang="en-US" altLang="en-US" sz="2400" dirty="0">
              <a:sym typeface="Wingdings"/>
            </a:endParaRPr>
          </a:p>
          <a:p>
            <a:pPr marL="868363" lvl="1" indent="-354013">
              <a:tabLst>
                <a:tab pos="2005013" algn="l"/>
                <a:tab pos="2339975" algn="l"/>
                <a:tab pos="2630488" algn="l"/>
              </a:tabLst>
              <a:defRPr/>
            </a:pPr>
            <a:r>
              <a:rPr lang="en-US" altLang="en-US" sz="2000" dirty="0">
                <a:sym typeface="Wingdings"/>
              </a:rPr>
              <a:t>If </a:t>
            </a:r>
            <a:r>
              <a:rPr lang="en-US" altLang="en-US" sz="2000" b="1" dirty="0">
                <a:solidFill>
                  <a:schemeClr val="accent1">
                    <a:lumMod val="75000"/>
                  </a:schemeClr>
                </a:solidFill>
                <a:sym typeface="Wingdings"/>
              </a:rPr>
              <a:t>lock = false</a:t>
            </a:r>
            <a:r>
              <a:rPr lang="en-US" altLang="en-US" sz="2000" dirty="0">
                <a:sym typeface="Wingdings"/>
              </a:rPr>
              <a:t>, then the first process that executes TestAndSet(&amp;lock) will immediately enter critical section</a:t>
            </a:r>
          </a:p>
          <a:p>
            <a:pPr marL="2343150" lvl="4" indent="-514350">
              <a:tabLst>
                <a:tab pos="2005013" algn="l"/>
                <a:tab pos="2339975" algn="l"/>
                <a:tab pos="2630488" algn="l"/>
              </a:tabLst>
              <a:defRPr/>
            </a:pPr>
            <a:endParaRPr lang="en-US" altLang="en-US" b="1" dirty="0">
              <a:solidFill>
                <a:schemeClr val="accent1">
                  <a:lumMod val="75000"/>
                </a:schemeClr>
              </a:solidFill>
            </a:endParaRPr>
          </a:p>
          <a:p>
            <a:pPr marL="514350" indent="-514350">
              <a:buFont typeface="+mj-lt"/>
              <a:buAutoNum type="arabicPeriod"/>
              <a:tabLst>
                <a:tab pos="2005013" algn="l"/>
                <a:tab pos="2339975" algn="l"/>
                <a:tab pos="2630488" algn="l"/>
              </a:tabLst>
              <a:defRPr/>
            </a:pPr>
            <a:r>
              <a:rPr lang="en-US" altLang="en-US" sz="2800" dirty="0">
                <a:solidFill>
                  <a:schemeClr val="accent2"/>
                </a:solidFill>
              </a:rPr>
              <a:t>Bounded Waiting? </a:t>
            </a:r>
            <a:r>
              <a:rPr lang="en-US" altLang="en-US" sz="2800" b="1" dirty="0">
                <a:solidFill>
                  <a:srgbClr val="FF0000"/>
                </a:solidFill>
                <a:sym typeface="Wingdings"/>
              </a:rPr>
              <a:t></a:t>
            </a:r>
            <a:r>
              <a:rPr lang="en-US" altLang="en-US" sz="2800" b="1" dirty="0">
                <a:solidFill>
                  <a:srgbClr val="00B050"/>
                </a:solidFill>
                <a:sym typeface="Wingdings"/>
              </a:rPr>
              <a:t> </a:t>
            </a:r>
            <a:r>
              <a:rPr lang="en-US" altLang="en-US" sz="2400" dirty="0">
                <a:sym typeface="Wingdings"/>
              </a:rPr>
              <a:t>See next slide</a:t>
            </a:r>
          </a:p>
          <a:p>
            <a:pPr marL="868363" lvl="1" indent="-354013">
              <a:tabLst>
                <a:tab pos="2005013" algn="l"/>
                <a:tab pos="2339975" algn="l"/>
                <a:tab pos="2630488" algn="l"/>
              </a:tabLst>
              <a:defRPr/>
            </a:pPr>
            <a:r>
              <a:rPr lang="en-US" altLang="en-US" sz="2000" dirty="0">
                <a:sym typeface="Wingdings"/>
              </a:rPr>
              <a:t>More complex solution with TestAndSet that satisfies bounded waiting is in the textbook – </a:t>
            </a:r>
            <a:r>
              <a:rPr lang="en-US" altLang="en-US" sz="2000" dirty="0">
                <a:solidFill>
                  <a:srgbClr val="FF0000"/>
                </a:solidFill>
                <a:sym typeface="Wingdings"/>
              </a:rPr>
              <a:t>not examinable</a:t>
            </a:r>
            <a:r>
              <a:rPr lang="en-US" altLang="en-US" sz="2000" dirty="0">
                <a:sym typeface="Wingdings"/>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276">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427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276">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427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2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34722-1D37-99A1-7F7F-C6B4A6E98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53CFE-4E74-3780-B215-C3800CE8BF99}"/>
              </a:ext>
            </a:extLst>
          </p:cNvPr>
          <p:cNvSpPr>
            <a:spLocks noGrp="1"/>
          </p:cNvSpPr>
          <p:nvPr>
            <p:ph type="title"/>
          </p:nvPr>
        </p:nvSpPr>
        <p:spPr/>
        <p:txBody>
          <a:bodyPr/>
          <a:lstStyle/>
          <a:p>
            <a:r>
              <a:rPr lang="en-US" dirty="0" err="1"/>
              <a:t>Test&amp;Set</a:t>
            </a:r>
            <a:r>
              <a:rPr lang="en-US" dirty="0"/>
              <a:t> and Bounded Waiting</a:t>
            </a:r>
          </a:p>
        </p:txBody>
      </p:sp>
      <p:sp>
        <p:nvSpPr>
          <p:cNvPr id="4" name="Footer Placeholder 3">
            <a:extLst>
              <a:ext uri="{FF2B5EF4-FFF2-40B4-BE49-F238E27FC236}">
                <a16:creationId xmlns:a16="http://schemas.microsoft.com/office/drawing/2014/main" id="{C960E040-91AD-9634-1972-FD638A3BF7E1}"/>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6845DD2E-D8DF-9B65-3581-67DBF843AC14}"/>
                  </a:ext>
                </a:extLst>
              </p:cNvPr>
              <p:cNvGraphicFramePr>
                <a:graphicFrameLocks noGrp="1"/>
              </p:cNvGraphicFramePr>
              <p:nvPr>
                <p:extLst>
                  <p:ext uri="{D42A27DB-BD31-4B8C-83A1-F6EECF244321}">
                    <p14:modId xmlns:p14="http://schemas.microsoft.com/office/powerpoint/2010/main" val="2277879766"/>
                  </p:ext>
                </p:extLst>
              </p:nvPr>
            </p:nvGraphicFramePr>
            <p:xfrm>
              <a:off x="0" y="1087395"/>
              <a:ext cx="9144000" cy="481364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6845DD2E-D8DF-9B65-3581-67DBF843AC14}"/>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1087395"/>
                <a:ext cx="9144000" cy="4813640"/>
              </a:xfrm>
              <a:prstGeom prst="rect">
                <a:avLst/>
              </a:prstGeom>
            </p:spPr>
          </p:pic>
        </mc:Fallback>
      </mc:AlternateContent>
    </p:spTree>
    <p:extLst>
      <p:ext uri="{BB962C8B-B14F-4D97-AF65-F5344CB8AC3E}">
        <p14:creationId xmlns:p14="http://schemas.microsoft.com/office/powerpoint/2010/main" val="2720179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Footer Placeholder 3">
            <a:extLst>
              <a:ext uri="{FF2B5EF4-FFF2-40B4-BE49-F238E27FC236}">
                <a16:creationId xmlns:a16="http://schemas.microsoft.com/office/drawing/2014/main" id="{6CE8519F-9679-4EEF-B92A-7811EBD3473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4579" name="Rectangle 6">
            <a:extLst>
              <a:ext uri="{FF2B5EF4-FFF2-40B4-BE49-F238E27FC236}">
                <a16:creationId xmlns:a16="http://schemas.microsoft.com/office/drawing/2014/main" id="{F69F7FFE-9323-49A7-89DB-C0841FB12D1C}"/>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64515" name="Rectangle 2">
            <a:extLst>
              <a:ext uri="{FF2B5EF4-FFF2-40B4-BE49-F238E27FC236}">
                <a16:creationId xmlns:a16="http://schemas.microsoft.com/office/drawing/2014/main" id="{773CDB08-E2C4-420F-852D-98AB2506CEE5}"/>
              </a:ext>
            </a:extLst>
          </p:cNvPr>
          <p:cNvSpPr>
            <a:spLocks noGrp="1" noChangeArrowheads="1"/>
          </p:cNvSpPr>
          <p:nvPr>
            <p:ph type="title"/>
          </p:nvPr>
        </p:nvSpPr>
        <p:spPr>
          <a:xfrm>
            <a:off x="684213" y="495300"/>
            <a:ext cx="7831137" cy="457200"/>
          </a:xfrm>
        </p:spPr>
        <p:txBody>
          <a:bodyPr/>
          <a:lstStyle/>
          <a:p>
            <a:r>
              <a:rPr lang="en-US" altLang="en-US" dirty="0"/>
              <a:t>Bounded Waiting fails with </a:t>
            </a:r>
            <a:r>
              <a:rPr lang="en-US" altLang="en-US" dirty="0" err="1"/>
              <a:t>TestAndSet</a:t>
            </a:r>
            <a:endParaRPr lang="en-US" altLang="en-US" dirty="0"/>
          </a:p>
        </p:txBody>
      </p:sp>
      <p:sp>
        <p:nvSpPr>
          <p:cNvPr id="24581" name="Rectangle 3">
            <a:extLst>
              <a:ext uri="{FF2B5EF4-FFF2-40B4-BE49-F238E27FC236}">
                <a16:creationId xmlns:a16="http://schemas.microsoft.com/office/drawing/2014/main" id="{25B26629-4E79-4E68-97FD-D27D8834393E}"/>
              </a:ext>
            </a:extLst>
          </p:cNvPr>
          <p:cNvSpPr>
            <a:spLocks noGrp="1" noChangeArrowheads="1"/>
          </p:cNvSpPr>
          <p:nvPr>
            <p:ph type="body" idx="1"/>
          </p:nvPr>
        </p:nvSpPr>
        <p:spPr>
          <a:xfrm>
            <a:off x="447675" y="1150938"/>
            <a:ext cx="6311900" cy="4048125"/>
          </a:xfrm>
        </p:spPr>
        <p:txBody>
          <a:bodyPr/>
          <a:lstStyle/>
          <a:p>
            <a:pPr>
              <a:lnSpc>
                <a:spcPct val="90000"/>
              </a:lnSpc>
              <a:tabLst>
                <a:tab pos="1433513" algn="l"/>
                <a:tab pos="1714500" algn="l"/>
                <a:tab pos="2058988" algn="l"/>
              </a:tabLst>
              <a:defRPr/>
            </a:pPr>
            <a:r>
              <a:rPr lang="en-US" altLang="en-US" sz="2800" dirty="0"/>
              <a:t>Process </a:t>
            </a:r>
            <a:r>
              <a:rPr lang="en-US" altLang="en-US" sz="2800" i="1" dirty="0"/>
              <a:t>P</a:t>
            </a:r>
            <a:r>
              <a:rPr lang="en-US" altLang="en-US" sz="2800" i="1" baseline="-25000" dirty="0"/>
              <a:t>0</a:t>
            </a:r>
            <a:endParaRPr lang="en-US" altLang="en-US" sz="2800" dirty="0"/>
          </a:p>
          <a:p>
            <a:pPr marL="0" indent="0">
              <a:lnSpc>
                <a:spcPct val="90000"/>
              </a:lnSpc>
              <a:buFontTx/>
              <a:buNone/>
              <a:tabLst>
                <a:tab pos="1433513" algn="l"/>
                <a:tab pos="1714500" algn="l"/>
                <a:tab pos="2058988" algn="l"/>
              </a:tabLst>
              <a:defRPr/>
            </a:pPr>
            <a:r>
              <a:rPr lang="en-US" altLang="en-US" sz="2000" dirty="0"/>
              <a:t>   1. Initialization code</a:t>
            </a:r>
          </a:p>
          <a:p>
            <a:pPr>
              <a:lnSpc>
                <a:spcPct val="90000"/>
              </a:lnSpc>
              <a:buFontTx/>
              <a:buNone/>
              <a:tabLst>
                <a:tab pos="1433513" algn="l"/>
                <a:tab pos="1714500" algn="l"/>
                <a:tab pos="2058988" algn="l"/>
              </a:tabLst>
              <a:defRPr/>
            </a:pPr>
            <a:r>
              <a:rPr lang="en-US" altLang="en-US" sz="2000" dirty="0"/>
              <a:t>   2. while (1) { </a:t>
            </a:r>
          </a:p>
          <a:p>
            <a:pPr>
              <a:lnSpc>
                <a:spcPct val="90000"/>
              </a:lnSpc>
              <a:buFontTx/>
              <a:buNone/>
              <a:tabLst>
                <a:tab pos="1433513" algn="l"/>
                <a:tab pos="1714500" algn="l"/>
                <a:tab pos="2058988" algn="l"/>
              </a:tabLst>
              <a:defRPr/>
            </a:pPr>
            <a:r>
              <a:rPr lang="en-US" altLang="en-US" sz="2000" dirty="0"/>
              <a:t>	3.   while(TestAndSet(</a:t>
            </a:r>
            <a:r>
              <a:rPr lang="en-US" altLang="en-US" sz="2000" dirty="0">
                <a:solidFill>
                  <a:srgbClr val="FF0000"/>
                </a:solidFill>
              </a:rPr>
              <a:t>&amp;</a:t>
            </a:r>
            <a:r>
              <a:rPr lang="en-US" altLang="en-US" sz="2000" i="1" dirty="0"/>
              <a:t>lock</a:t>
            </a:r>
            <a:r>
              <a:rPr lang="en-US" altLang="en-US" sz="2000" dirty="0"/>
              <a:t>));</a:t>
            </a:r>
          </a:p>
          <a:p>
            <a:pPr>
              <a:lnSpc>
                <a:spcPct val="90000"/>
              </a:lnSpc>
              <a:buFontTx/>
              <a:buNone/>
              <a:tabLst>
                <a:tab pos="1433513" algn="l"/>
                <a:tab pos="1714500" algn="l"/>
                <a:tab pos="2058988" algn="l"/>
              </a:tabLst>
              <a:defRPr/>
            </a:pPr>
            <a:r>
              <a:rPr lang="en-US" altLang="en-US" sz="2000" dirty="0"/>
              <a:t>	4.      critical section</a:t>
            </a:r>
          </a:p>
          <a:p>
            <a:pPr>
              <a:lnSpc>
                <a:spcPct val="90000"/>
              </a:lnSpc>
              <a:buFontTx/>
              <a:buNone/>
              <a:tabLst>
                <a:tab pos="1433513" algn="l"/>
                <a:tab pos="1714500" algn="l"/>
                <a:tab pos="2058988" algn="l"/>
              </a:tabLst>
              <a:defRPr/>
            </a:pPr>
            <a:r>
              <a:rPr lang="en-US" altLang="en-US" sz="2000" dirty="0"/>
              <a:t>	5.   </a:t>
            </a:r>
            <a:r>
              <a:rPr lang="en-US" altLang="en-US" sz="2000" i="1" dirty="0"/>
              <a:t>lock</a:t>
            </a:r>
            <a:r>
              <a:rPr lang="en-US" altLang="en-US" sz="2000" dirty="0"/>
              <a:t> = </a:t>
            </a:r>
            <a:r>
              <a:rPr lang="en-US" altLang="en-US" sz="2000" i="1" dirty="0"/>
              <a:t>false</a:t>
            </a:r>
            <a:r>
              <a:rPr lang="en-US" altLang="en-US" sz="2000" dirty="0"/>
              <a:t>;</a:t>
            </a:r>
          </a:p>
          <a:p>
            <a:pPr>
              <a:lnSpc>
                <a:spcPct val="90000"/>
              </a:lnSpc>
              <a:buFontTx/>
              <a:buNone/>
              <a:tabLst>
                <a:tab pos="1433513" algn="l"/>
                <a:tab pos="1714500" algn="l"/>
                <a:tab pos="2058988" algn="l"/>
              </a:tabLst>
              <a:defRPr/>
            </a:pPr>
            <a:r>
              <a:rPr lang="en-US" altLang="en-US" sz="2000" dirty="0"/>
              <a:t>   6. }</a:t>
            </a:r>
          </a:p>
          <a:p>
            <a:pPr lvl="4">
              <a:lnSpc>
                <a:spcPct val="90000"/>
              </a:lnSpc>
              <a:buFontTx/>
              <a:buNone/>
              <a:tabLst>
                <a:tab pos="1433513" algn="l"/>
                <a:tab pos="1714500" algn="l"/>
                <a:tab pos="2058988" algn="l"/>
              </a:tabLst>
              <a:defRPr/>
            </a:pPr>
            <a:endParaRPr lang="en-US" altLang="en-US" sz="1400" dirty="0"/>
          </a:p>
          <a:p>
            <a:pPr>
              <a:lnSpc>
                <a:spcPct val="90000"/>
              </a:lnSpc>
              <a:buFontTx/>
              <a:buNone/>
              <a:tabLst>
                <a:tab pos="1433513" algn="l"/>
                <a:tab pos="1714500" algn="l"/>
                <a:tab pos="2058988" algn="l"/>
              </a:tabLst>
              <a:defRPr/>
            </a:pPr>
            <a:endParaRPr lang="en-US" altLang="en-US" sz="2000" dirty="0"/>
          </a:p>
        </p:txBody>
      </p:sp>
      <p:sp>
        <p:nvSpPr>
          <p:cNvPr id="11" name="Rectangle 3">
            <a:extLst>
              <a:ext uri="{FF2B5EF4-FFF2-40B4-BE49-F238E27FC236}">
                <a16:creationId xmlns:a16="http://schemas.microsoft.com/office/drawing/2014/main" id="{15F6C0C0-CA0D-4308-88F9-EDFF5DE3C54D}"/>
              </a:ext>
            </a:extLst>
          </p:cNvPr>
          <p:cNvSpPr txBox="1">
            <a:spLocks noChangeArrowheads="1"/>
          </p:cNvSpPr>
          <p:nvPr/>
        </p:nvSpPr>
        <p:spPr bwMode="auto">
          <a:xfrm>
            <a:off x="5153025" y="1150938"/>
            <a:ext cx="3830638" cy="4048125"/>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a:lnSpc>
                <a:spcPct val="90000"/>
              </a:lnSpc>
              <a:tabLst>
                <a:tab pos="1433513" algn="l"/>
                <a:tab pos="1714500" algn="l"/>
                <a:tab pos="2058988" algn="l"/>
              </a:tabLst>
              <a:defRPr/>
            </a:pPr>
            <a:r>
              <a:rPr lang="en-US" altLang="en-US" sz="2800" kern="0" dirty="0"/>
              <a:t>Process </a:t>
            </a:r>
            <a:r>
              <a:rPr lang="en-US" altLang="en-US" sz="2800" i="1" dirty="0"/>
              <a:t>P</a:t>
            </a:r>
            <a:r>
              <a:rPr lang="en-US" altLang="en-US" sz="2800" i="1" baseline="-25000" dirty="0"/>
              <a:t>1</a:t>
            </a:r>
            <a:endParaRPr lang="en-US" altLang="en-US" sz="2800" kern="0" dirty="0"/>
          </a:p>
          <a:p>
            <a:pPr>
              <a:lnSpc>
                <a:spcPct val="90000"/>
              </a:lnSpc>
              <a:buFontTx/>
              <a:buNone/>
              <a:tabLst>
                <a:tab pos="1433513" algn="l"/>
                <a:tab pos="1714500" algn="l"/>
                <a:tab pos="2058988" algn="l"/>
              </a:tabLst>
              <a:defRPr/>
            </a:pPr>
            <a:r>
              <a:rPr lang="en-US" altLang="en-US" sz="2000" kern="0" dirty="0">
                <a:solidFill>
                  <a:srgbClr val="000000"/>
                </a:solidFill>
              </a:rPr>
              <a:t>  1. while (1) { </a:t>
            </a:r>
          </a:p>
          <a:p>
            <a:pPr>
              <a:lnSpc>
                <a:spcPct val="90000"/>
              </a:lnSpc>
              <a:buFontTx/>
              <a:buNone/>
              <a:tabLst>
                <a:tab pos="1433513" algn="l"/>
                <a:tab pos="1714500" algn="l"/>
                <a:tab pos="2058988" algn="l"/>
              </a:tabLst>
              <a:defRPr/>
            </a:pPr>
            <a:r>
              <a:rPr lang="en-US" altLang="en-US" sz="2000" kern="0" dirty="0">
                <a:solidFill>
                  <a:srgbClr val="000000"/>
                </a:solidFill>
              </a:rPr>
              <a:t>  2.    while(TestAndSet(</a:t>
            </a:r>
            <a:r>
              <a:rPr lang="en-US" altLang="en-US" sz="2000" kern="0" dirty="0">
                <a:solidFill>
                  <a:srgbClr val="FF0000"/>
                </a:solidFill>
              </a:rPr>
              <a:t>&amp;</a:t>
            </a:r>
            <a:r>
              <a:rPr lang="en-US" altLang="en-US" sz="2000" i="1" kern="0" dirty="0">
                <a:solidFill>
                  <a:srgbClr val="000000"/>
                </a:solidFill>
              </a:rPr>
              <a:t>lock</a:t>
            </a:r>
            <a:r>
              <a:rPr lang="en-US" altLang="en-US" sz="2000" kern="0" dirty="0">
                <a:solidFill>
                  <a:srgbClr val="000000"/>
                </a:solidFill>
              </a:rPr>
              <a:t>));</a:t>
            </a:r>
          </a:p>
          <a:p>
            <a:pPr>
              <a:lnSpc>
                <a:spcPct val="90000"/>
              </a:lnSpc>
              <a:buFontTx/>
              <a:buNone/>
              <a:tabLst>
                <a:tab pos="1433513" algn="l"/>
                <a:tab pos="1714500" algn="l"/>
                <a:tab pos="2058988" algn="l"/>
              </a:tabLst>
              <a:defRPr/>
            </a:pPr>
            <a:r>
              <a:rPr lang="en-US" altLang="en-US" sz="2000" kern="0" dirty="0">
                <a:solidFill>
                  <a:srgbClr val="000000"/>
                </a:solidFill>
              </a:rPr>
              <a:t>  3.       critical section</a:t>
            </a:r>
          </a:p>
          <a:p>
            <a:pPr>
              <a:lnSpc>
                <a:spcPct val="90000"/>
              </a:lnSpc>
              <a:buFontTx/>
              <a:buNone/>
              <a:tabLst>
                <a:tab pos="1433513" algn="l"/>
                <a:tab pos="1714500" algn="l"/>
                <a:tab pos="2058988" algn="l"/>
              </a:tabLst>
              <a:defRPr/>
            </a:pPr>
            <a:r>
              <a:rPr lang="en-US" altLang="en-US" sz="2000" kern="0" dirty="0">
                <a:solidFill>
                  <a:srgbClr val="000000"/>
                </a:solidFill>
              </a:rPr>
              <a:t>  4.    </a:t>
            </a:r>
            <a:r>
              <a:rPr lang="en-US" altLang="en-US" sz="2000" i="1" kern="0" dirty="0">
                <a:solidFill>
                  <a:srgbClr val="000000"/>
                </a:solidFill>
              </a:rPr>
              <a:t>lock</a:t>
            </a:r>
            <a:r>
              <a:rPr lang="en-US" altLang="en-US" sz="2000" kern="0" dirty="0">
                <a:solidFill>
                  <a:srgbClr val="000000"/>
                </a:solidFill>
              </a:rPr>
              <a:t> = </a:t>
            </a:r>
            <a:r>
              <a:rPr lang="en-US" altLang="en-US" sz="2000" i="1" kern="0" dirty="0">
                <a:solidFill>
                  <a:srgbClr val="000000"/>
                </a:solidFill>
              </a:rPr>
              <a:t>false</a:t>
            </a:r>
            <a:r>
              <a:rPr lang="en-US" altLang="en-US" sz="2000" kern="0" dirty="0">
                <a:solidFill>
                  <a:srgbClr val="000000"/>
                </a:solidFill>
              </a:rPr>
              <a:t>;</a:t>
            </a:r>
          </a:p>
          <a:p>
            <a:pPr>
              <a:lnSpc>
                <a:spcPct val="90000"/>
              </a:lnSpc>
              <a:buFontTx/>
              <a:buNone/>
              <a:tabLst>
                <a:tab pos="1433513" algn="l"/>
                <a:tab pos="1714500" algn="l"/>
                <a:tab pos="2058988" algn="l"/>
              </a:tabLst>
              <a:defRPr/>
            </a:pPr>
            <a:r>
              <a:rPr lang="en-US" altLang="en-US" sz="2000" kern="0" dirty="0">
                <a:solidFill>
                  <a:srgbClr val="000000"/>
                </a:solidFill>
              </a:rPr>
              <a:t>  5. }</a:t>
            </a:r>
          </a:p>
        </p:txBody>
      </p:sp>
      <p:sp>
        <p:nvSpPr>
          <p:cNvPr id="12" name="Rectangle 3">
            <a:extLst>
              <a:ext uri="{FF2B5EF4-FFF2-40B4-BE49-F238E27FC236}">
                <a16:creationId xmlns:a16="http://schemas.microsoft.com/office/drawing/2014/main" id="{DD6F7814-87B8-4046-80F9-529FF45DEAC2}"/>
              </a:ext>
            </a:extLst>
          </p:cNvPr>
          <p:cNvSpPr txBox="1">
            <a:spLocks noChangeArrowheads="1"/>
          </p:cNvSpPr>
          <p:nvPr/>
        </p:nvSpPr>
        <p:spPr bwMode="auto">
          <a:xfrm>
            <a:off x="428625" y="4133850"/>
            <a:ext cx="8555038" cy="1143000"/>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lvl="4">
              <a:lnSpc>
                <a:spcPct val="90000"/>
              </a:lnSpc>
              <a:tabLst>
                <a:tab pos="1433513" algn="l"/>
                <a:tab pos="1714500" algn="l"/>
                <a:tab pos="2058988" algn="l"/>
              </a:tabLst>
              <a:defRPr/>
            </a:pPr>
            <a:endParaRPr lang="en-US" altLang="en-US" sz="1400" kern="0" dirty="0">
              <a:solidFill>
                <a:srgbClr val="000000"/>
              </a:solidFill>
            </a:endParaRPr>
          </a:p>
          <a:p>
            <a:pPr>
              <a:lnSpc>
                <a:spcPct val="90000"/>
              </a:lnSpc>
              <a:tabLst>
                <a:tab pos="1433513" algn="l"/>
                <a:tab pos="1714500" algn="l"/>
                <a:tab pos="2058988" algn="l"/>
              </a:tabLst>
              <a:defRPr/>
            </a:pPr>
            <a:r>
              <a:rPr lang="en-US" altLang="en-US" sz="2000" kern="0" dirty="0">
                <a:solidFill>
                  <a:srgbClr val="000000"/>
                </a:solidFill>
              </a:rPr>
              <a:t>Suppose for </a:t>
            </a:r>
            <a:r>
              <a:rPr lang="en-US" altLang="en-US" sz="2000" i="1" dirty="0"/>
              <a:t>P</a:t>
            </a:r>
            <a:r>
              <a:rPr lang="en-US" altLang="en-US" sz="2000" i="1" baseline="-25000" dirty="0"/>
              <a:t>0 </a:t>
            </a:r>
            <a:r>
              <a:rPr lang="en-US" altLang="en-US" sz="2000" kern="0" dirty="0">
                <a:solidFill>
                  <a:srgbClr val="000000"/>
                </a:solidFill>
              </a:rPr>
              <a:t>lines 1-3 take 10ms and 2-6 also take 10ms</a:t>
            </a:r>
            <a:endParaRPr lang="en-US" altLang="en-US" sz="2000" i="1" baseline="-25000" dirty="0"/>
          </a:p>
          <a:p>
            <a:pPr>
              <a:lnSpc>
                <a:spcPct val="90000"/>
              </a:lnSpc>
              <a:tabLst>
                <a:tab pos="1433513" algn="l"/>
                <a:tab pos="1714500" algn="l"/>
                <a:tab pos="2058988" algn="l"/>
              </a:tabLst>
              <a:defRPr/>
            </a:pPr>
            <a:r>
              <a:rPr lang="en-US" altLang="en-US" sz="2000" kern="0" dirty="0">
                <a:solidFill>
                  <a:srgbClr val="000000"/>
                </a:solidFill>
              </a:rPr>
              <a:t>Suppose we use round-robin scheduling with quantum 10ms</a:t>
            </a:r>
            <a:endParaRPr lang="en-US" altLang="en-US" sz="2000" kern="0" dirty="0">
              <a:solidFill>
                <a:srgbClr val="FF0000"/>
              </a:solidFill>
            </a:endParaRPr>
          </a:p>
          <a:p>
            <a:pPr>
              <a:lnSpc>
                <a:spcPct val="90000"/>
              </a:lnSpc>
              <a:tabLst>
                <a:tab pos="1433513" algn="l"/>
                <a:tab pos="1714500" algn="l"/>
                <a:tab pos="2058988" algn="l"/>
              </a:tabLst>
              <a:defRPr/>
            </a:pPr>
            <a:r>
              <a:rPr lang="en-US" altLang="en-US" sz="2000" kern="0" dirty="0">
                <a:solidFill>
                  <a:srgbClr val="FF0000"/>
                </a:solidFill>
              </a:rPr>
              <a:t>Whenever</a:t>
            </a:r>
            <a:r>
              <a:rPr lang="en-US" altLang="en-US" sz="2000" i="1" dirty="0"/>
              <a:t> </a:t>
            </a:r>
            <a:r>
              <a:rPr lang="en-US" altLang="en-US" sz="2000" i="1" dirty="0">
                <a:solidFill>
                  <a:srgbClr val="FF0000"/>
                </a:solidFill>
              </a:rPr>
              <a:t>P</a:t>
            </a:r>
            <a:r>
              <a:rPr lang="en-US" altLang="en-US" sz="2000" i="1" baseline="-25000" dirty="0">
                <a:solidFill>
                  <a:srgbClr val="FF0000"/>
                </a:solidFill>
              </a:rPr>
              <a:t>0</a:t>
            </a:r>
            <a:r>
              <a:rPr lang="en-US" altLang="en-US" sz="2000" kern="0" dirty="0">
                <a:solidFill>
                  <a:srgbClr val="FF0000"/>
                </a:solidFill>
              </a:rPr>
              <a:t> context switches out, it holds the lock (is in critical section)</a:t>
            </a:r>
            <a:endParaRPr lang="en-US" altLang="en-US" sz="1400" kern="0" dirty="0">
              <a:solidFill>
                <a:srgbClr val="FF0000"/>
              </a:solidFill>
            </a:endParaRPr>
          </a:p>
          <a:p>
            <a:pPr marL="0" indent="0">
              <a:lnSpc>
                <a:spcPct val="90000"/>
              </a:lnSpc>
              <a:buFontTx/>
              <a:buNone/>
              <a:tabLst>
                <a:tab pos="1433513" algn="l"/>
                <a:tab pos="1714500" algn="l"/>
                <a:tab pos="2058988" algn="l"/>
              </a:tabLst>
              <a:defRPr/>
            </a:pPr>
            <a:r>
              <a:rPr lang="en-US" altLang="en-US" sz="1400" b="1" kern="0" dirty="0">
                <a:solidFill>
                  <a:srgbClr val="FF0000"/>
                </a:solidFill>
              </a:rPr>
              <a:t>									 </a:t>
            </a:r>
            <a:r>
              <a:rPr lang="en-US" altLang="en-US" sz="3200" b="1" kern="0" dirty="0"/>
              <a:t>. . .</a:t>
            </a:r>
          </a:p>
        </p:txBody>
      </p:sp>
      <p:sp>
        <p:nvSpPr>
          <p:cNvPr id="116746" name="Rectangle 1">
            <a:extLst>
              <a:ext uri="{FF2B5EF4-FFF2-40B4-BE49-F238E27FC236}">
                <a16:creationId xmlns:a16="http://schemas.microsoft.com/office/drawing/2014/main" id="{28D7B660-2F83-4C89-88A4-435CB00B0FAF}"/>
              </a:ext>
            </a:extLst>
          </p:cNvPr>
          <p:cNvSpPr>
            <a:spLocks noChangeArrowheads="1"/>
          </p:cNvSpPr>
          <p:nvPr/>
        </p:nvSpPr>
        <p:spPr bwMode="auto">
          <a:xfrm>
            <a:off x="909638" y="5889625"/>
            <a:ext cx="1392237" cy="476250"/>
          </a:xfrm>
          <a:prstGeom prst="rect">
            <a:avLst/>
          </a:prstGeom>
          <a:solidFill>
            <a:srgbClr val="FFC00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i="1"/>
              <a:t>P</a:t>
            </a:r>
            <a:r>
              <a:rPr lang="en-US" altLang="en-US" b="1" i="1" baseline="-25000"/>
              <a:t>0 </a:t>
            </a:r>
            <a:r>
              <a:rPr lang="en-US" altLang="en-US" b="1" i="1"/>
              <a:t>(1,2,3)</a:t>
            </a:r>
            <a:endParaRPr lang="en-US" altLang="en-US"/>
          </a:p>
        </p:txBody>
      </p:sp>
      <p:sp>
        <p:nvSpPr>
          <p:cNvPr id="116747" name="Rectangle 13">
            <a:extLst>
              <a:ext uri="{FF2B5EF4-FFF2-40B4-BE49-F238E27FC236}">
                <a16:creationId xmlns:a16="http://schemas.microsoft.com/office/drawing/2014/main" id="{70C37954-1A39-42C6-99DF-6649935CCE9B}"/>
              </a:ext>
            </a:extLst>
          </p:cNvPr>
          <p:cNvSpPr>
            <a:spLocks noChangeArrowheads="1"/>
          </p:cNvSpPr>
          <p:nvPr/>
        </p:nvSpPr>
        <p:spPr bwMode="auto">
          <a:xfrm>
            <a:off x="2301875" y="5891213"/>
            <a:ext cx="1371600" cy="474662"/>
          </a:xfrm>
          <a:prstGeom prst="rect">
            <a:avLst/>
          </a:prstGeom>
          <a:solidFill>
            <a:srgbClr val="92D05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i="1"/>
              <a:t>P</a:t>
            </a:r>
            <a:r>
              <a:rPr lang="en-US" altLang="en-US" b="1" i="1" baseline="-25000"/>
              <a:t>1 </a:t>
            </a:r>
            <a:r>
              <a:rPr lang="en-US" altLang="en-US" b="1" i="1"/>
              <a:t>(1,2)</a:t>
            </a:r>
            <a:endParaRPr lang="en-US" altLang="en-US"/>
          </a:p>
        </p:txBody>
      </p:sp>
      <p:sp>
        <p:nvSpPr>
          <p:cNvPr id="116748" name="Rectangle 14">
            <a:extLst>
              <a:ext uri="{FF2B5EF4-FFF2-40B4-BE49-F238E27FC236}">
                <a16:creationId xmlns:a16="http://schemas.microsoft.com/office/drawing/2014/main" id="{BFA8D9B2-3E0B-45A8-93D7-B7DF7319C246}"/>
              </a:ext>
            </a:extLst>
          </p:cNvPr>
          <p:cNvSpPr>
            <a:spLocks noChangeArrowheads="1"/>
          </p:cNvSpPr>
          <p:nvPr/>
        </p:nvSpPr>
        <p:spPr bwMode="auto">
          <a:xfrm>
            <a:off x="3673475" y="5884863"/>
            <a:ext cx="1392238" cy="476250"/>
          </a:xfrm>
          <a:prstGeom prst="rect">
            <a:avLst/>
          </a:prstGeom>
          <a:solidFill>
            <a:srgbClr val="FFC00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i="1"/>
              <a:t>P</a:t>
            </a:r>
            <a:r>
              <a:rPr lang="en-US" altLang="en-US" b="1" i="1" baseline="-25000"/>
              <a:t>0 </a:t>
            </a:r>
            <a:r>
              <a:rPr lang="en-US" altLang="en-US" b="1" i="1"/>
              <a:t>(4,5,6,2,3)</a:t>
            </a:r>
            <a:endParaRPr lang="en-US" altLang="en-US"/>
          </a:p>
        </p:txBody>
      </p:sp>
      <p:sp>
        <p:nvSpPr>
          <p:cNvPr id="116749" name="Rectangle 15">
            <a:extLst>
              <a:ext uri="{FF2B5EF4-FFF2-40B4-BE49-F238E27FC236}">
                <a16:creationId xmlns:a16="http://schemas.microsoft.com/office/drawing/2014/main" id="{7F4D0E48-9E11-4B9E-BB78-0C948C6ACA1E}"/>
              </a:ext>
            </a:extLst>
          </p:cNvPr>
          <p:cNvSpPr>
            <a:spLocks noChangeArrowheads="1"/>
          </p:cNvSpPr>
          <p:nvPr/>
        </p:nvSpPr>
        <p:spPr bwMode="auto">
          <a:xfrm>
            <a:off x="5065713" y="5886450"/>
            <a:ext cx="1371600" cy="474663"/>
          </a:xfrm>
          <a:prstGeom prst="rect">
            <a:avLst/>
          </a:prstGeom>
          <a:solidFill>
            <a:srgbClr val="92D05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i="1"/>
              <a:t>P</a:t>
            </a:r>
            <a:r>
              <a:rPr lang="en-US" altLang="en-US" b="1" i="1" baseline="-25000"/>
              <a:t>1 </a:t>
            </a:r>
            <a:r>
              <a:rPr lang="en-US" altLang="en-US" b="1" i="1"/>
              <a:t>(2)</a:t>
            </a:r>
            <a:endParaRPr lang="en-US" altLang="en-US"/>
          </a:p>
        </p:txBody>
      </p:sp>
      <p:sp>
        <p:nvSpPr>
          <p:cNvPr id="116750" name="Rectangle 16">
            <a:extLst>
              <a:ext uri="{FF2B5EF4-FFF2-40B4-BE49-F238E27FC236}">
                <a16:creationId xmlns:a16="http://schemas.microsoft.com/office/drawing/2014/main" id="{8D0BECEA-97F9-44C4-97F7-3BC8F8405891}"/>
              </a:ext>
            </a:extLst>
          </p:cNvPr>
          <p:cNvSpPr>
            <a:spLocks noChangeArrowheads="1"/>
          </p:cNvSpPr>
          <p:nvPr/>
        </p:nvSpPr>
        <p:spPr bwMode="auto">
          <a:xfrm>
            <a:off x="6434138" y="5886450"/>
            <a:ext cx="1392237" cy="476250"/>
          </a:xfrm>
          <a:prstGeom prst="rect">
            <a:avLst/>
          </a:prstGeom>
          <a:solidFill>
            <a:srgbClr val="FFC00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i="1"/>
              <a:t>P</a:t>
            </a:r>
            <a:r>
              <a:rPr lang="en-US" altLang="en-US" b="1" i="1" baseline="-25000"/>
              <a:t>0 </a:t>
            </a:r>
            <a:r>
              <a:rPr lang="en-US" altLang="en-US" b="1" i="1"/>
              <a:t>(4,5,6,2,3)</a:t>
            </a:r>
            <a:endParaRPr lang="en-US" altLang="en-US"/>
          </a:p>
        </p:txBody>
      </p:sp>
      <p:sp>
        <p:nvSpPr>
          <p:cNvPr id="64524" name="Rectangle 15">
            <a:extLst>
              <a:ext uri="{FF2B5EF4-FFF2-40B4-BE49-F238E27FC236}">
                <a16:creationId xmlns:a16="http://schemas.microsoft.com/office/drawing/2014/main" id="{F18E2620-BA02-45D2-B240-7C644457D9E3}"/>
              </a:ext>
            </a:extLst>
          </p:cNvPr>
          <p:cNvSpPr>
            <a:spLocks noChangeArrowheads="1"/>
          </p:cNvSpPr>
          <p:nvPr/>
        </p:nvSpPr>
        <p:spPr bwMode="auto">
          <a:xfrm>
            <a:off x="1092200" y="2511425"/>
            <a:ext cx="3106738" cy="390525"/>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64525" name="Rectangle 16">
            <a:extLst>
              <a:ext uri="{FF2B5EF4-FFF2-40B4-BE49-F238E27FC236}">
                <a16:creationId xmlns:a16="http://schemas.microsoft.com/office/drawing/2014/main" id="{494BFCA9-31CB-4A99-9004-F24D85DE244A}"/>
              </a:ext>
            </a:extLst>
          </p:cNvPr>
          <p:cNvSpPr>
            <a:spLocks noChangeArrowheads="1"/>
          </p:cNvSpPr>
          <p:nvPr/>
        </p:nvSpPr>
        <p:spPr bwMode="auto">
          <a:xfrm>
            <a:off x="5813425" y="2070100"/>
            <a:ext cx="3108325" cy="388938"/>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64526" name="Rectangle 17">
            <a:extLst>
              <a:ext uri="{FF2B5EF4-FFF2-40B4-BE49-F238E27FC236}">
                <a16:creationId xmlns:a16="http://schemas.microsoft.com/office/drawing/2014/main" id="{D7E053FA-B489-457B-ACDF-F8BBF7FE8529}"/>
              </a:ext>
            </a:extLst>
          </p:cNvPr>
          <p:cNvSpPr>
            <a:spLocks noChangeArrowheads="1"/>
          </p:cNvSpPr>
          <p:nvPr/>
        </p:nvSpPr>
        <p:spPr bwMode="auto">
          <a:xfrm>
            <a:off x="5813425" y="2951163"/>
            <a:ext cx="1511300" cy="388937"/>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64527" name="Rectangle 18">
            <a:extLst>
              <a:ext uri="{FF2B5EF4-FFF2-40B4-BE49-F238E27FC236}">
                <a16:creationId xmlns:a16="http://schemas.microsoft.com/office/drawing/2014/main" id="{06CFFA78-5263-48A2-8FBA-7857EC42C65E}"/>
              </a:ext>
            </a:extLst>
          </p:cNvPr>
          <p:cNvSpPr>
            <a:spLocks noChangeArrowheads="1"/>
          </p:cNvSpPr>
          <p:nvPr/>
        </p:nvSpPr>
        <p:spPr bwMode="auto">
          <a:xfrm>
            <a:off x="1092200" y="3355975"/>
            <a:ext cx="1511300" cy="388938"/>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cxnSp>
        <p:nvCxnSpPr>
          <p:cNvPr id="3" name="Straight Arrow Connector 2">
            <a:extLst>
              <a:ext uri="{FF2B5EF4-FFF2-40B4-BE49-F238E27FC236}">
                <a16:creationId xmlns:a16="http://schemas.microsoft.com/office/drawing/2014/main" id="{FE6B52BE-0980-4641-B1B4-D7E5BF798229}"/>
              </a:ext>
            </a:extLst>
          </p:cNvPr>
          <p:cNvCxnSpPr>
            <a:cxnSpLocks noChangeShapeType="1"/>
            <a:stCxn id="6" idx="0"/>
          </p:cNvCxnSpPr>
          <p:nvPr/>
        </p:nvCxnSpPr>
        <p:spPr bwMode="auto">
          <a:xfrm flipH="1" flipV="1">
            <a:off x="3103563" y="3136900"/>
            <a:ext cx="990600" cy="7048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 name="TextBox 5">
            <a:extLst>
              <a:ext uri="{FF2B5EF4-FFF2-40B4-BE49-F238E27FC236}">
                <a16:creationId xmlns:a16="http://schemas.microsoft.com/office/drawing/2014/main" id="{3AF6AB70-18AF-4653-9541-F7E0A44F0DC3}"/>
              </a:ext>
            </a:extLst>
          </p:cNvPr>
          <p:cNvSpPr txBox="1">
            <a:spLocks noChangeArrowheads="1"/>
          </p:cNvSpPr>
          <p:nvPr/>
        </p:nvSpPr>
        <p:spPr bwMode="auto">
          <a:xfrm>
            <a:off x="2811463" y="3841750"/>
            <a:ext cx="256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b="1">
                <a:solidFill>
                  <a:schemeClr val="accent2"/>
                </a:solidFill>
              </a:rPr>
              <a:t>Context switch points</a:t>
            </a:r>
          </a:p>
        </p:txBody>
      </p:sp>
      <p:cxnSp>
        <p:nvCxnSpPr>
          <p:cNvPr id="27" name="Straight Arrow Connector 26">
            <a:extLst>
              <a:ext uri="{FF2B5EF4-FFF2-40B4-BE49-F238E27FC236}">
                <a16:creationId xmlns:a16="http://schemas.microsoft.com/office/drawing/2014/main" id="{0E723450-7F7B-4C22-9842-8ED1345FBAA6}"/>
              </a:ext>
            </a:extLst>
          </p:cNvPr>
          <p:cNvCxnSpPr>
            <a:cxnSpLocks noChangeShapeType="1"/>
            <a:stCxn id="6" idx="0"/>
          </p:cNvCxnSpPr>
          <p:nvPr/>
        </p:nvCxnSpPr>
        <p:spPr bwMode="auto">
          <a:xfrm flipV="1">
            <a:off x="4094163" y="2300288"/>
            <a:ext cx="1163637" cy="15414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67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67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67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67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67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6" grpId="0" animBg="1"/>
      <p:bldP spid="116747" grpId="0" animBg="1"/>
      <p:bldP spid="116748" grpId="0" animBg="1"/>
      <p:bldP spid="116749" grpId="0" animBg="1"/>
      <p:bldP spid="116750" grpId="0" animBg="1"/>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2E220-5AE1-2A2F-76B0-1AD5C182F2C3}"/>
              </a:ext>
            </a:extLst>
          </p:cNvPr>
          <p:cNvSpPr>
            <a:spLocks noGrp="1"/>
          </p:cNvSpPr>
          <p:nvPr>
            <p:ph type="title"/>
          </p:nvPr>
        </p:nvSpPr>
        <p:spPr/>
        <p:txBody>
          <a:bodyPr/>
          <a:lstStyle/>
          <a:p>
            <a:r>
              <a:rPr lang="en-US" dirty="0"/>
              <a:t>Limited Resource Synchronization</a:t>
            </a:r>
          </a:p>
        </p:txBody>
      </p:sp>
      <p:sp>
        <p:nvSpPr>
          <p:cNvPr id="3" name="Content Placeholder 2">
            <a:extLst>
              <a:ext uri="{FF2B5EF4-FFF2-40B4-BE49-F238E27FC236}">
                <a16:creationId xmlns:a16="http://schemas.microsoft.com/office/drawing/2014/main" id="{817254F2-443A-A036-7FDA-644F50885F83}"/>
              </a:ext>
            </a:extLst>
          </p:cNvPr>
          <p:cNvSpPr>
            <a:spLocks noGrp="1"/>
          </p:cNvSpPr>
          <p:nvPr>
            <p:ph idx="1"/>
          </p:nvPr>
        </p:nvSpPr>
        <p:spPr>
          <a:xfrm>
            <a:off x="741405" y="1460114"/>
            <a:ext cx="7867308" cy="457200"/>
          </a:xfrm>
        </p:spPr>
        <p:txBody>
          <a:bodyPr/>
          <a:lstStyle/>
          <a:p>
            <a:pPr marL="0" indent="0" algn="ctr">
              <a:buNone/>
            </a:pPr>
            <a:r>
              <a:rPr lang="en-US" dirty="0"/>
              <a:t>Narrow bridge example: How do cars decide who enters the bridge next?</a:t>
            </a:r>
          </a:p>
        </p:txBody>
      </p:sp>
      <p:sp>
        <p:nvSpPr>
          <p:cNvPr id="4" name="Footer Placeholder 3">
            <a:extLst>
              <a:ext uri="{FF2B5EF4-FFF2-40B4-BE49-F238E27FC236}">
                <a16:creationId xmlns:a16="http://schemas.microsoft.com/office/drawing/2014/main" id="{41E45124-CFE6-69CD-12CB-396D60E4CD97}"/>
              </a:ext>
            </a:extLst>
          </p:cNvPr>
          <p:cNvSpPr>
            <a:spLocks noGrp="1"/>
          </p:cNvSpPr>
          <p:nvPr>
            <p:ph type="ftr" sz="quarter" idx="10"/>
          </p:nvPr>
        </p:nvSpPr>
        <p:spPr/>
        <p:txBody>
          <a:bodyPr/>
          <a:lstStyle/>
          <a:p>
            <a:pPr>
              <a:defRPr/>
            </a:pPr>
            <a:r>
              <a:rPr lang="en-US"/>
              <a:t>Operating Systems</a:t>
            </a:r>
          </a:p>
          <a:p>
            <a:pPr>
              <a:defRPr/>
            </a:pPr>
            <a:endParaRPr lang="en-US"/>
          </a:p>
        </p:txBody>
      </p:sp>
      <p:cxnSp>
        <p:nvCxnSpPr>
          <p:cNvPr id="6" name="Straight Connector 5">
            <a:extLst>
              <a:ext uri="{FF2B5EF4-FFF2-40B4-BE49-F238E27FC236}">
                <a16:creationId xmlns:a16="http://schemas.microsoft.com/office/drawing/2014/main" id="{D17A1290-EBCF-70CC-B0F5-B13493BC3F05}"/>
              </a:ext>
            </a:extLst>
          </p:cNvPr>
          <p:cNvCxnSpPr>
            <a:cxnSpLocks/>
          </p:cNvCxnSpPr>
          <p:nvPr/>
        </p:nvCxnSpPr>
        <p:spPr bwMode="auto">
          <a:xfrm>
            <a:off x="741405" y="2767914"/>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7" name="Straight Connector 6">
            <a:extLst>
              <a:ext uri="{FF2B5EF4-FFF2-40B4-BE49-F238E27FC236}">
                <a16:creationId xmlns:a16="http://schemas.microsoft.com/office/drawing/2014/main" id="{F0B286DE-9D95-0072-1DDC-456532744800}"/>
              </a:ext>
            </a:extLst>
          </p:cNvPr>
          <p:cNvCxnSpPr>
            <a:cxnSpLocks/>
          </p:cNvCxnSpPr>
          <p:nvPr/>
        </p:nvCxnSpPr>
        <p:spPr bwMode="auto">
          <a:xfrm>
            <a:off x="741405" y="3305433"/>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8" name="Straight Connector 7">
            <a:extLst>
              <a:ext uri="{FF2B5EF4-FFF2-40B4-BE49-F238E27FC236}">
                <a16:creationId xmlns:a16="http://schemas.microsoft.com/office/drawing/2014/main" id="{DE49D1A2-164F-FE77-E4B6-573972E35F46}"/>
              </a:ext>
            </a:extLst>
          </p:cNvPr>
          <p:cNvCxnSpPr>
            <a:cxnSpLocks/>
          </p:cNvCxnSpPr>
          <p:nvPr/>
        </p:nvCxnSpPr>
        <p:spPr bwMode="auto">
          <a:xfrm>
            <a:off x="741405" y="3847071"/>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9" name="Straight Connector 8">
            <a:extLst>
              <a:ext uri="{FF2B5EF4-FFF2-40B4-BE49-F238E27FC236}">
                <a16:creationId xmlns:a16="http://schemas.microsoft.com/office/drawing/2014/main" id="{98D67A86-B4D8-2A6D-60D8-21C53F84DF0D}"/>
              </a:ext>
            </a:extLst>
          </p:cNvPr>
          <p:cNvCxnSpPr>
            <a:cxnSpLocks/>
          </p:cNvCxnSpPr>
          <p:nvPr/>
        </p:nvCxnSpPr>
        <p:spPr bwMode="auto">
          <a:xfrm>
            <a:off x="741405" y="2191265"/>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3F4EBF30-304C-A1D8-96C6-CB5C08A96813}"/>
              </a:ext>
            </a:extLst>
          </p:cNvPr>
          <p:cNvCxnSpPr>
            <a:cxnSpLocks/>
          </p:cNvCxnSpPr>
          <p:nvPr/>
        </p:nvCxnSpPr>
        <p:spPr bwMode="auto">
          <a:xfrm>
            <a:off x="5762368" y="2767914"/>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12" name="Straight Connector 11">
            <a:extLst>
              <a:ext uri="{FF2B5EF4-FFF2-40B4-BE49-F238E27FC236}">
                <a16:creationId xmlns:a16="http://schemas.microsoft.com/office/drawing/2014/main" id="{923733E6-382B-283D-8489-6E493A493174}"/>
              </a:ext>
            </a:extLst>
          </p:cNvPr>
          <p:cNvCxnSpPr>
            <a:cxnSpLocks/>
          </p:cNvCxnSpPr>
          <p:nvPr/>
        </p:nvCxnSpPr>
        <p:spPr bwMode="auto">
          <a:xfrm>
            <a:off x="5762368" y="3305433"/>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13" name="Straight Connector 12">
            <a:extLst>
              <a:ext uri="{FF2B5EF4-FFF2-40B4-BE49-F238E27FC236}">
                <a16:creationId xmlns:a16="http://schemas.microsoft.com/office/drawing/2014/main" id="{F0701191-DA81-7B07-4B96-08B46F465F76}"/>
              </a:ext>
            </a:extLst>
          </p:cNvPr>
          <p:cNvCxnSpPr>
            <a:cxnSpLocks/>
          </p:cNvCxnSpPr>
          <p:nvPr/>
        </p:nvCxnSpPr>
        <p:spPr bwMode="auto">
          <a:xfrm>
            <a:off x="5762368" y="3847071"/>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14" name="Straight Connector 13">
            <a:extLst>
              <a:ext uri="{FF2B5EF4-FFF2-40B4-BE49-F238E27FC236}">
                <a16:creationId xmlns:a16="http://schemas.microsoft.com/office/drawing/2014/main" id="{13A24744-77FF-CA91-9817-AF67A57E09EA}"/>
              </a:ext>
            </a:extLst>
          </p:cNvPr>
          <p:cNvCxnSpPr>
            <a:cxnSpLocks/>
          </p:cNvCxnSpPr>
          <p:nvPr/>
        </p:nvCxnSpPr>
        <p:spPr bwMode="auto">
          <a:xfrm>
            <a:off x="5762368" y="2191265"/>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EA5B2EC9-2AB3-FF6B-C369-84C68F888BC1}"/>
              </a:ext>
            </a:extLst>
          </p:cNvPr>
          <p:cNvCxnSpPr>
            <a:cxnSpLocks/>
          </p:cNvCxnSpPr>
          <p:nvPr/>
        </p:nvCxnSpPr>
        <p:spPr bwMode="auto">
          <a:xfrm>
            <a:off x="3978875" y="3307493"/>
            <a:ext cx="1445741"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26" name="Straight Connector 25">
            <a:extLst>
              <a:ext uri="{FF2B5EF4-FFF2-40B4-BE49-F238E27FC236}">
                <a16:creationId xmlns:a16="http://schemas.microsoft.com/office/drawing/2014/main" id="{0BADE912-71A6-6EA6-2F9C-72262F481B84}"/>
              </a:ext>
            </a:extLst>
          </p:cNvPr>
          <p:cNvCxnSpPr>
            <a:cxnSpLocks/>
          </p:cNvCxnSpPr>
          <p:nvPr/>
        </p:nvCxnSpPr>
        <p:spPr bwMode="auto">
          <a:xfrm>
            <a:off x="3978875" y="2767914"/>
            <a:ext cx="1445741"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567AAD3C-D9CD-2C79-E59B-0B6561622D2C}"/>
              </a:ext>
            </a:extLst>
          </p:cNvPr>
          <p:cNvCxnSpPr>
            <a:cxnSpLocks/>
          </p:cNvCxnSpPr>
          <p:nvPr/>
        </p:nvCxnSpPr>
        <p:spPr bwMode="auto">
          <a:xfrm>
            <a:off x="3978875" y="3847071"/>
            <a:ext cx="1445741"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E18E799E-69B4-5EF6-54C4-9A2F2A07B7C3}"/>
              </a:ext>
            </a:extLst>
          </p:cNvPr>
          <p:cNvCxnSpPr>
            <a:cxnSpLocks/>
          </p:cNvCxnSpPr>
          <p:nvPr/>
        </p:nvCxnSpPr>
        <p:spPr bwMode="auto">
          <a:xfrm>
            <a:off x="741405" y="4382531"/>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BB49F785-E918-9B79-0AE4-2086603B4B44}"/>
              </a:ext>
            </a:extLst>
          </p:cNvPr>
          <p:cNvCxnSpPr>
            <a:cxnSpLocks/>
          </p:cNvCxnSpPr>
          <p:nvPr/>
        </p:nvCxnSpPr>
        <p:spPr bwMode="auto">
          <a:xfrm>
            <a:off x="5762368" y="4382531"/>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4D1BFCD3-10F6-D658-7208-9416BD70D0EB}"/>
              </a:ext>
            </a:extLst>
          </p:cNvPr>
          <p:cNvCxnSpPr>
            <a:cxnSpLocks/>
          </p:cNvCxnSpPr>
          <p:nvPr/>
        </p:nvCxnSpPr>
        <p:spPr bwMode="auto">
          <a:xfrm flipH="1">
            <a:off x="3587750" y="3847071"/>
            <a:ext cx="391125" cy="53546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4FA413C8-4528-5053-5C1A-8FB2EF4153E4}"/>
              </a:ext>
            </a:extLst>
          </p:cNvPr>
          <p:cNvCxnSpPr>
            <a:cxnSpLocks/>
          </p:cNvCxnSpPr>
          <p:nvPr/>
        </p:nvCxnSpPr>
        <p:spPr bwMode="auto">
          <a:xfrm flipH="1" flipV="1">
            <a:off x="3587750" y="2202335"/>
            <a:ext cx="391125" cy="568668"/>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744BFA20-B927-3A29-F51A-2F28C03ADB64}"/>
              </a:ext>
            </a:extLst>
          </p:cNvPr>
          <p:cNvCxnSpPr>
            <a:cxnSpLocks/>
          </p:cNvCxnSpPr>
          <p:nvPr/>
        </p:nvCxnSpPr>
        <p:spPr bwMode="auto">
          <a:xfrm>
            <a:off x="5424616" y="3843983"/>
            <a:ext cx="337752" cy="538548"/>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01C80422-9049-5ACA-492E-63AE80A4E1F9}"/>
              </a:ext>
            </a:extLst>
          </p:cNvPr>
          <p:cNvCxnSpPr>
            <a:cxnSpLocks/>
          </p:cNvCxnSpPr>
          <p:nvPr/>
        </p:nvCxnSpPr>
        <p:spPr bwMode="auto">
          <a:xfrm flipH="1">
            <a:off x="5424616" y="2202335"/>
            <a:ext cx="337752" cy="569699"/>
          </a:xfrm>
          <a:prstGeom prst="line">
            <a:avLst/>
          </a:prstGeom>
          <a:solidFill>
            <a:schemeClr val="bg1"/>
          </a:solidFill>
          <a:ln w="9525" cap="flat" cmpd="sng" algn="ctr">
            <a:solidFill>
              <a:schemeClr val="tx1"/>
            </a:solidFill>
            <a:prstDash val="solid"/>
            <a:round/>
            <a:headEnd type="none" w="med" len="med"/>
            <a:tailEnd type="none" w="med" len="med"/>
          </a:ln>
          <a:effectLst/>
        </p:spPr>
      </p:cxnSp>
      <p:pic>
        <p:nvPicPr>
          <p:cNvPr id="5122" name="Picture 2" descr="Car Icon Stock Illustrations – 690,617 Car Icon Stock Illustrations,  Vectors &amp; Clipart - Dreamstime">
            <a:extLst>
              <a:ext uri="{FF2B5EF4-FFF2-40B4-BE49-F238E27FC236}">
                <a16:creationId xmlns:a16="http://schemas.microsoft.com/office/drawing/2014/main" id="{365DCD2D-6A81-0396-43AE-92BF62CA0C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3977387" y="2821288"/>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ar Icon Stock Illustrations – 690,617 Car Icon Stock Illustrations,  Vectors &amp; Clipart - Dreamstime">
            <a:extLst>
              <a:ext uri="{FF2B5EF4-FFF2-40B4-BE49-F238E27FC236}">
                <a16:creationId xmlns:a16="http://schemas.microsoft.com/office/drawing/2014/main" id="{F1B0A47A-76D1-0B61-26FD-642610636F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4423316" y="3333148"/>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ar Icon Stock Illustrations – 690,617 Car Icon Stock Illustrations,  Vectors &amp; Clipart - Dreamstime">
            <a:extLst>
              <a:ext uri="{FF2B5EF4-FFF2-40B4-BE49-F238E27FC236}">
                <a16:creationId xmlns:a16="http://schemas.microsoft.com/office/drawing/2014/main" id="{25976D37-9AD5-1EEB-FDF3-C851147043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1230218" y="2232325"/>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ar Icon Stock Illustrations – 690,617 Car Icon Stock Illustrations,  Vectors &amp; Clipart - Dreamstime">
            <a:extLst>
              <a:ext uri="{FF2B5EF4-FFF2-40B4-BE49-F238E27FC236}">
                <a16:creationId xmlns:a16="http://schemas.microsoft.com/office/drawing/2014/main" id="{C7455418-B904-43C0-AF34-7BD2CC140B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2164577" y="2808973"/>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Car Icon Stock Illustrations – 690,617 Car Icon Stock Illustrations,  Vectors &amp; Clipart - Dreamstime">
            <a:extLst>
              <a:ext uri="{FF2B5EF4-FFF2-40B4-BE49-F238E27FC236}">
                <a16:creationId xmlns:a16="http://schemas.microsoft.com/office/drawing/2014/main" id="{F91566D6-DF3F-19BE-1423-E3E213F98A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1078641" y="3369062"/>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Car Icon Stock Illustrations – 690,617 Car Icon Stock Illustrations,  Vectors &amp; Clipart - Dreamstime">
            <a:extLst>
              <a:ext uri="{FF2B5EF4-FFF2-40B4-BE49-F238E27FC236}">
                <a16:creationId xmlns:a16="http://schemas.microsoft.com/office/drawing/2014/main" id="{A991D75D-6EA0-2AE8-D2AA-5D6432C37B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1663729" y="3876157"/>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Car Icon Stock Illustrations – 690,617 Car Icon Stock Illustrations,  Vectors &amp; Clipart - Dreamstime">
            <a:extLst>
              <a:ext uri="{FF2B5EF4-FFF2-40B4-BE49-F238E27FC236}">
                <a16:creationId xmlns:a16="http://schemas.microsoft.com/office/drawing/2014/main" id="{EF37FC2B-FA58-3C4A-3A87-3B35B769A5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6525025" y="2257425"/>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Car Icon Stock Illustrations – 690,617 Car Icon Stock Illustrations,  Vectors &amp; Clipart - Dreamstime">
            <a:extLst>
              <a:ext uri="{FF2B5EF4-FFF2-40B4-BE49-F238E27FC236}">
                <a16:creationId xmlns:a16="http://schemas.microsoft.com/office/drawing/2014/main" id="{9E6BDA2A-873D-75C3-3F55-5ABF013456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6015364" y="3369062"/>
            <a:ext cx="1170176" cy="458487"/>
          </a:xfrm>
          <a:prstGeom prst="rect">
            <a:avLst/>
          </a:prstGeom>
          <a:noFill/>
          <a:extLst>
            <a:ext uri="{909E8E84-426E-40DD-AFC4-6F175D3DCCD1}">
              <a14:hiddenFill xmlns:a14="http://schemas.microsoft.com/office/drawing/2010/main">
                <a:solidFill>
                  <a:srgbClr val="FFFFFF"/>
                </a:solidFill>
              </a14:hiddenFill>
            </a:ext>
          </a:extLst>
        </p:spPr>
      </p:pic>
      <p:sp>
        <p:nvSpPr>
          <p:cNvPr id="49" name="Content Placeholder 2">
            <a:extLst>
              <a:ext uri="{FF2B5EF4-FFF2-40B4-BE49-F238E27FC236}">
                <a16:creationId xmlns:a16="http://schemas.microsoft.com/office/drawing/2014/main" id="{225FAA82-BB6D-CCA6-9F3D-30CB0A6C729B}"/>
              </a:ext>
            </a:extLst>
          </p:cNvPr>
          <p:cNvSpPr txBox="1">
            <a:spLocks/>
          </p:cNvSpPr>
          <p:nvPr/>
        </p:nvSpPr>
        <p:spPr bwMode="auto">
          <a:xfrm>
            <a:off x="489661" y="4876237"/>
            <a:ext cx="8246565" cy="121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marL="342900" indent="-342900">
              <a:buFontTx/>
              <a:buAutoNum type="arabicPeriod"/>
            </a:pPr>
            <a:r>
              <a:rPr lang="en-US" kern="0" dirty="0"/>
              <a:t>Indicate interest</a:t>
            </a:r>
          </a:p>
          <a:p>
            <a:pPr marL="342900" indent="-342900">
              <a:buFontTx/>
              <a:buAutoNum type="arabicPeriod"/>
            </a:pPr>
            <a:r>
              <a:rPr lang="en-US" kern="0" dirty="0"/>
              <a:t>Count cars present on the bridge (e.g., one process in the critical section)</a:t>
            </a:r>
          </a:p>
          <a:p>
            <a:pPr marL="342900" indent="-342900">
              <a:buFontTx/>
              <a:buAutoNum type="arabicPeriod"/>
            </a:pPr>
            <a:r>
              <a:rPr lang="en-US" kern="0" dirty="0"/>
              <a:t>Maintain order for the cars who would like to enter the bridge</a:t>
            </a:r>
          </a:p>
        </p:txBody>
      </p:sp>
      <p:cxnSp>
        <p:nvCxnSpPr>
          <p:cNvPr id="51" name="Straight Arrow Connector 50">
            <a:extLst>
              <a:ext uri="{FF2B5EF4-FFF2-40B4-BE49-F238E27FC236}">
                <a16:creationId xmlns:a16="http://schemas.microsoft.com/office/drawing/2014/main" id="{E3FAFA0A-D27C-0235-D16B-B20489EF9E87}"/>
              </a:ext>
            </a:extLst>
          </p:cNvPr>
          <p:cNvCxnSpPr/>
          <p:nvPr/>
        </p:nvCxnSpPr>
        <p:spPr bwMode="auto">
          <a:xfrm>
            <a:off x="2706130" y="2483708"/>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2" name="Straight Arrow Connector 51">
            <a:extLst>
              <a:ext uri="{FF2B5EF4-FFF2-40B4-BE49-F238E27FC236}">
                <a16:creationId xmlns:a16="http://schemas.microsoft.com/office/drawing/2014/main" id="{E8CAC9EC-CE1F-B009-420C-6E19E945E290}"/>
              </a:ext>
            </a:extLst>
          </p:cNvPr>
          <p:cNvCxnSpPr/>
          <p:nvPr/>
        </p:nvCxnSpPr>
        <p:spPr bwMode="auto">
          <a:xfrm>
            <a:off x="2947086" y="4180703"/>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F645FBF-A71D-B0E3-87BA-92BE6BD4EA02}"/>
              </a:ext>
            </a:extLst>
          </p:cNvPr>
          <p:cNvCxnSpPr/>
          <p:nvPr/>
        </p:nvCxnSpPr>
        <p:spPr bwMode="auto">
          <a:xfrm>
            <a:off x="2833905" y="3599935"/>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B3C631E9-291C-B71C-E326-552324A2C914}"/>
              </a:ext>
            </a:extLst>
          </p:cNvPr>
          <p:cNvCxnSpPr/>
          <p:nvPr/>
        </p:nvCxnSpPr>
        <p:spPr bwMode="auto">
          <a:xfrm>
            <a:off x="3428999" y="3105665"/>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97373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Footer Placeholder 3">
            <a:extLst>
              <a:ext uri="{FF2B5EF4-FFF2-40B4-BE49-F238E27FC236}">
                <a16:creationId xmlns:a16="http://schemas.microsoft.com/office/drawing/2014/main" id="{59A8EBE7-3079-43B6-86E7-EEA5E428A88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5603" name="Rectangle 4">
            <a:extLst>
              <a:ext uri="{FF2B5EF4-FFF2-40B4-BE49-F238E27FC236}">
                <a16:creationId xmlns:a16="http://schemas.microsoft.com/office/drawing/2014/main" id="{1D0C0BAB-E17F-48A9-8324-AE0A65235F25}"/>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66563" name="Rectangle 2">
            <a:extLst>
              <a:ext uri="{FF2B5EF4-FFF2-40B4-BE49-F238E27FC236}">
                <a16:creationId xmlns:a16="http://schemas.microsoft.com/office/drawing/2014/main" id="{2EE4B9CA-6B58-46EE-BFA6-CDDEF83983DE}"/>
              </a:ext>
            </a:extLst>
          </p:cNvPr>
          <p:cNvSpPr>
            <a:spLocks noGrp="1" noChangeArrowheads="1"/>
          </p:cNvSpPr>
          <p:nvPr>
            <p:ph type="title"/>
          </p:nvPr>
        </p:nvSpPr>
        <p:spPr/>
        <p:txBody>
          <a:bodyPr/>
          <a:lstStyle/>
          <a:p>
            <a:r>
              <a:rPr lang="en-US" altLang="en-US"/>
              <a:t>Semaphore</a:t>
            </a:r>
          </a:p>
        </p:txBody>
      </p:sp>
      <p:sp>
        <p:nvSpPr>
          <p:cNvPr id="25605" name="Rectangle 3">
            <a:extLst>
              <a:ext uri="{FF2B5EF4-FFF2-40B4-BE49-F238E27FC236}">
                <a16:creationId xmlns:a16="http://schemas.microsoft.com/office/drawing/2014/main" id="{9A5DDC8D-EFCE-4241-9965-2EC9812135F9}"/>
              </a:ext>
            </a:extLst>
          </p:cNvPr>
          <p:cNvSpPr>
            <a:spLocks noGrp="1" noChangeArrowheads="1"/>
          </p:cNvSpPr>
          <p:nvPr>
            <p:ph type="body" idx="1"/>
          </p:nvPr>
        </p:nvSpPr>
        <p:spPr>
          <a:xfrm>
            <a:off x="376238" y="1187450"/>
            <a:ext cx="8334375" cy="5038725"/>
          </a:xfrm>
        </p:spPr>
        <p:txBody>
          <a:bodyPr/>
          <a:lstStyle/>
          <a:p>
            <a:pPr>
              <a:lnSpc>
                <a:spcPct val="70000"/>
              </a:lnSpc>
              <a:tabLst>
                <a:tab pos="1597025" algn="l"/>
                <a:tab pos="2576513" algn="l"/>
              </a:tabLst>
              <a:defRPr/>
            </a:pPr>
            <a:r>
              <a:rPr lang="en-US" altLang="en-US" sz="2800" dirty="0">
                <a:solidFill>
                  <a:srgbClr val="FF0000"/>
                </a:solidFill>
              </a:rPr>
              <a:t>Semaphore </a:t>
            </a:r>
            <a:r>
              <a:rPr lang="en-US" altLang="en-US" sz="2800" b="1" i="1" dirty="0">
                <a:solidFill>
                  <a:srgbClr val="FF0000"/>
                </a:solidFill>
              </a:rPr>
              <a:t>S</a:t>
            </a:r>
            <a:r>
              <a:rPr lang="en-US" altLang="en-US" sz="2800" dirty="0">
                <a:solidFill>
                  <a:srgbClr val="FF0000"/>
                </a:solidFill>
              </a:rPr>
              <a:t>:</a:t>
            </a:r>
            <a:r>
              <a:rPr lang="en-US" altLang="en-US" sz="2800" dirty="0"/>
              <a:t> Integer shared variable</a:t>
            </a:r>
          </a:p>
          <a:p>
            <a:pPr lvl="4">
              <a:lnSpc>
                <a:spcPct val="70000"/>
              </a:lnSpc>
              <a:tabLst>
                <a:tab pos="1597025" algn="l"/>
                <a:tab pos="2576513" algn="l"/>
              </a:tabLst>
              <a:defRPr/>
            </a:pPr>
            <a:endParaRPr lang="en-US" altLang="en-US" sz="2200" dirty="0"/>
          </a:p>
          <a:p>
            <a:pPr>
              <a:lnSpc>
                <a:spcPct val="70000"/>
              </a:lnSpc>
              <a:tabLst>
                <a:tab pos="1597025" algn="l"/>
                <a:tab pos="2576513" algn="l"/>
              </a:tabLst>
              <a:defRPr/>
            </a:pPr>
            <a:r>
              <a:rPr lang="en-US" altLang="en-US" sz="2800" b="1" dirty="0"/>
              <a:t>Only</a:t>
            </a:r>
            <a:r>
              <a:rPr lang="en-US" altLang="en-US" sz="2800" dirty="0"/>
              <a:t> accessible by two </a:t>
            </a:r>
            <a:r>
              <a:rPr lang="en-US" altLang="en-US" sz="2800" b="1" dirty="0"/>
              <a:t>atomic</a:t>
            </a:r>
            <a:r>
              <a:rPr lang="en-US" altLang="en-US" sz="2800" dirty="0"/>
              <a:t> system calls: </a:t>
            </a:r>
            <a:r>
              <a:rPr lang="en-US" altLang="en-US" sz="2800" i="1" dirty="0"/>
              <a:t>Wait</a:t>
            </a:r>
            <a:r>
              <a:rPr lang="en-US" altLang="en-US" sz="2800" dirty="0"/>
              <a:t> and </a:t>
            </a:r>
            <a:r>
              <a:rPr lang="en-US" altLang="en-US" sz="2800" i="1" dirty="0"/>
              <a:t>Signal</a:t>
            </a:r>
          </a:p>
          <a:p>
            <a:pPr lvl="1">
              <a:lnSpc>
                <a:spcPct val="70000"/>
              </a:lnSpc>
              <a:tabLst>
                <a:tab pos="1597025" algn="l"/>
                <a:tab pos="2576513" algn="l"/>
              </a:tabLst>
              <a:defRPr/>
            </a:pPr>
            <a:r>
              <a:rPr lang="en-US" altLang="en-US" sz="2800" i="1" dirty="0">
                <a:solidFill>
                  <a:srgbClr val="FF0000"/>
                </a:solidFill>
              </a:rPr>
              <a:t>Wait (S):</a:t>
            </a:r>
            <a:r>
              <a:rPr lang="en-US" altLang="en-US" sz="2800" i="1" dirty="0"/>
              <a:t> </a:t>
            </a:r>
            <a:r>
              <a:rPr lang="en-US" altLang="en-US" sz="2800" b="1" dirty="0">
                <a:solidFill>
                  <a:schemeClr val="accent1">
                    <a:lumMod val="75000"/>
                  </a:schemeClr>
                </a:solidFill>
              </a:rPr>
              <a:t>if S&gt;0, S--; else, wait();</a:t>
            </a:r>
          </a:p>
          <a:p>
            <a:pPr lvl="1">
              <a:lnSpc>
                <a:spcPct val="70000"/>
              </a:lnSpc>
              <a:tabLst>
                <a:tab pos="1597025" algn="l"/>
                <a:tab pos="2576513" algn="l"/>
              </a:tabLst>
              <a:defRPr/>
            </a:pPr>
            <a:r>
              <a:rPr lang="en-US" altLang="en-US" sz="2800" i="1" dirty="0">
                <a:solidFill>
                  <a:srgbClr val="FF0000"/>
                </a:solidFill>
              </a:rPr>
              <a:t>Signal (S):</a:t>
            </a:r>
            <a:r>
              <a:rPr lang="en-US" altLang="en-US" sz="2800" i="1" dirty="0"/>
              <a:t> </a:t>
            </a:r>
            <a:r>
              <a:rPr lang="en-US" altLang="en-US" sz="2800" b="1" dirty="0">
                <a:solidFill>
                  <a:schemeClr val="accent1">
                    <a:lumMod val="75000"/>
                  </a:schemeClr>
                </a:solidFill>
              </a:rPr>
              <a:t>S++;</a:t>
            </a:r>
          </a:p>
          <a:p>
            <a:pPr lvl="4">
              <a:lnSpc>
                <a:spcPct val="70000"/>
              </a:lnSpc>
              <a:tabLst>
                <a:tab pos="1597025" algn="l"/>
                <a:tab pos="2576513" algn="l"/>
              </a:tabLst>
              <a:defRPr/>
            </a:pPr>
            <a:endParaRPr lang="en-US" altLang="en-US" sz="2200" b="1" dirty="0">
              <a:solidFill>
                <a:schemeClr val="accent1">
                  <a:lumMod val="75000"/>
                </a:schemeClr>
              </a:solidFill>
            </a:endParaRPr>
          </a:p>
          <a:p>
            <a:pPr>
              <a:tabLst>
                <a:tab pos="1597025" algn="l"/>
                <a:tab pos="2576513" algn="l"/>
              </a:tabLst>
              <a:defRPr/>
            </a:pPr>
            <a:r>
              <a:rPr lang="en-US" altLang="en-US" sz="2800" dirty="0"/>
              <a:t>Two types of semaphores</a:t>
            </a:r>
          </a:p>
          <a:p>
            <a:pPr lvl="1">
              <a:tabLst>
                <a:tab pos="1597025" algn="l"/>
                <a:tab pos="2576513" algn="l"/>
              </a:tabLst>
              <a:defRPr/>
            </a:pPr>
            <a:r>
              <a:rPr lang="en-US" altLang="en-US" sz="2800" i="1" dirty="0">
                <a:solidFill>
                  <a:srgbClr val="FF0000"/>
                </a:solidFill>
              </a:rPr>
              <a:t>Counting</a:t>
            </a:r>
            <a:r>
              <a:rPr lang="en-US" altLang="en-US" sz="2800" dirty="0">
                <a:solidFill>
                  <a:srgbClr val="FF0000"/>
                </a:solidFill>
              </a:rPr>
              <a:t> semaphore:</a:t>
            </a:r>
            <a:r>
              <a:rPr lang="en-US" altLang="en-US" sz="2800" dirty="0"/>
              <a:t> Integer value can range over an unrestricted domain</a:t>
            </a:r>
          </a:p>
          <a:p>
            <a:pPr lvl="1">
              <a:tabLst>
                <a:tab pos="1597025" algn="l"/>
                <a:tab pos="2576513" algn="l"/>
              </a:tabLst>
              <a:defRPr/>
            </a:pPr>
            <a:r>
              <a:rPr lang="en-US" altLang="en-US" sz="2800" i="1" dirty="0">
                <a:solidFill>
                  <a:srgbClr val="FF0000"/>
                </a:solidFill>
              </a:rPr>
              <a:t>Binary</a:t>
            </a:r>
            <a:r>
              <a:rPr lang="en-US" altLang="en-US" sz="2800" dirty="0">
                <a:solidFill>
                  <a:srgbClr val="FF0000"/>
                </a:solidFill>
              </a:rPr>
              <a:t> semaphore:</a:t>
            </a:r>
            <a:r>
              <a:rPr lang="en-US" altLang="en-US" sz="2800" dirty="0"/>
              <a:t> Integer value can never be greater than 1</a:t>
            </a:r>
          </a:p>
        </p:txBody>
      </p:sp>
      <p:grpSp>
        <p:nvGrpSpPr>
          <p:cNvPr id="66565" name="Group 3">
            <a:extLst>
              <a:ext uri="{FF2B5EF4-FFF2-40B4-BE49-F238E27FC236}">
                <a16:creationId xmlns:a16="http://schemas.microsoft.com/office/drawing/2014/main" id="{7E32D007-6928-45B4-83E4-094830D89D17}"/>
              </a:ext>
            </a:extLst>
          </p:cNvPr>
          <p:cNvGrpSpPr>
            <a:grpSpLocks/>
          </p:cNvGrpSpPr>
          <p:nvPr/>
        </p:nvGrpSpPr>
        <p:grpSpPr bwMode="auto">
          <a:xfrm>
            <a:off x="6538913" y="3092450"/>
            <a:ext cx="2478087" cy="914400"/>
            <a:chOff x="5801194" y="2848130"/>
            <a:chExt cx="2477527" cy="914400"/>
          </a:xfrm>
        </p:grpSpPr>
        <p:sp>
          <p:nvSpPr>
            <p:cNvPr id="66566" name="Rounded Rectangular Callout 1">
              <a:extLst>
                <a:ext uri="{FF2B5EF4-FFF2-40B4-BE49-F238E27FC236}">
                  <a16:creationId xmlns:a16="http://schemas.microsoft.com/office/drawing/2014/main" id="{D653560C-9A4B-4C15-AE73-4C47EC3AB969}"/>
                </a:ext>
              </a:extLst>
            </p:cNvPr>
            <p:cNvSpPr>
              <a:spLocks noChangeArrowheads="1"/>
            </p:cNvSpPr>
            <p:nvPr/>
          </p:nvSpPr>
          <p:spPr bwMode="auto">
            <a:xfrm>
              <a:off x="5801194" y="2848130"/>
              <a:ext cx="2413416" cy="914400"/>
            </a:xfrm>
            <a:prstGeom prst="wedgeRoundRectCallout">
              <a:avLst>
                <a:gd name="adj1" fmla="val -51542"/>
                <a:gd name="adj2" fmla="val -71926"/>
                <a:gd name="adj3" fmla="val 16667"/>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66567" name="TextBox 2">
              <a:extLst>
                <a:ext uri="{FF2B5EF4-FFF2-40B4-BE49-F238E27FC236}">
                  <a16:creationId xmlns:a16="http://schemas.microsoft.com/office/drawing/2014/main" id="{221004AD-777B-4649-B12C-15FF6BC91E67}"/>
                </a:ext>
              </a:extLst>
            </p:cNvPr>
            <p:cNvSpPr txBox="1">
              <a:spLocks noChangeArrowheads="1"/>
            </p:cNvSpPr>
            <p:nvPr/>
          </p:nvSpPr>
          <p:spPr bwMode="auto">
            <a:xfrm>
              <a:off x="5845041" y="2972394"/>
              <a:ext cx="243368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000">
                  <a:solidFill>
                    <a:schemeClr val="accent2"/>
                  </a:solidFill>
                </a:rPr>
                <a:t>Enter waiting state </a:t>
              </a:r>
            </a:p>
            <a:p>
              <a:pPr algn="ctr">
                <a:spcBef>
                  <a:spcPct val="0"/>
                </a:spcBef>
                <a:buSzTx/>
                <a:buFontTx/>
                <a:buNone/>
              </a:pPr>
              <a:r>
                <a:rPr lang="en-US" altLang="en-US" sz="2000">
                  <a:solidFill>
                    <a:schemeClr val="accent2"/>
                  </a:solidFill>
                </a:rPr>
                <a:t>or busy loop waiting</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0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60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56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60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60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60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FB7D-14F3-8C6F-50BC-1C6A447F4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97DE7-0747-5B4F-2C4B-8F1508C10D8C}"/>
              </a:ext>
            </a:extLst>
          </p:cNvPr>
          <p:cNvSpPr>
            <a:spLocks noGrp="1"/>
          </p:cNvSpPr>
          <p:nvPr>
            <p:ph type="title"/>
          </p:nvPr>
        </p:nvSpPr>
        <p:spPr/>
        <p:txBody>
          <a:bodyPr/>
          <a:lstStyle/>
          <a:p>
            <a:r>
              <a:rPr lang="en-US" dirty="0"/>
              <a:t>Limited Resource Synchronization</a:t>
            </a:r>
          </a:p>
        </p:txBody>
      </p:sp>
      <p:sp>
        <p:nvSpPr>
          <p:cNvPr id="3" name="Content Placeholder 2">
            <a:extLst>
              <a:ext uri="{FF2B5EF4-FFF2-40B4-BE49-F238E27FC236}">
                <a16:creationId xmlns:a16="http://schemas.microsoft.com/office/drawing/2014/main" id="{3E93E9F1-59C3-4E56-5281-2F36B0BC1744}"/>
              </a:ext>
            </a:extLst>
          </p:cNvPr>
          <p:cNvSpPr>
            <a:spLocks noGrp="1"/>
          </p:cNvSpPr>
          <p:nvPr>
            <p:ph idx="1"/>
          </p:nvPr>
        </p:nvSpPr>
        <p:spPr>
          <a:xfrm>
            <a:off x="741405" y="1460114"/>
            <a:ext cx="7867308" cy="457200"/>
          </a:xfrm>
        </p:spPr>
        <p:txBody>
          <a:bodyPr/>
          <a:lstStyle/>
          <a:p>
            <a:pPr marL="0" indent="0" algn="ctr">
              <a:buNone/>
            </a:pPr>
            <a:r>
              <a:rPr lang="en-US" dirty="0"/>
              <a:t>Narrow bridge example: How do cars decide who enters the bridge next?</a:t>
            </a:r>
          </a:p>
        </p:txBody>
      </p:sp>
      <p:sp>
        <p:nvSpPr>
          <p:cNvPr id="4" name="Footer Placeholder 3">
            <a:extLst>
              <a:ext uri="{FF2B5EF4-FFF2-40B4-BE49-F238E27FC236}">
                <a16:creationId xmlns:a16="http://schemas.microsoft.com/office/drawing/2014/main" id="{D912A6DA-0687-F2B7-74E2-830CF7719CFB}"/>
              </a:ext>
            </a:extLst>
          </p:cNvPr>
          <p:cNvSpPr>
            <a:spLocks noGrp="1"/>
          </p:cNvSpPr>
          <p:nvPr>
            <p:ph type="ftr" sz="quarter" idx="10"/>
          </p:nvPr>
        </p:nvSpPr>
        <p:spPr/>
        <p:txBody>
          <a:bodyPr/>
          <a:lstStyle/>
          <a:p>
            <a:pPr>
              <a:defRPr/>
            </a:pPr>
            <a:r>
              <a:rPr lang="en-US"/>
              <a:t>Operating Systems</a:t>
            </a:r>
          </a:p>
          <a:p>
            <a:pPr>
              <a:defRPr/>
            </a:pPr>
            <a:endParaRPr lang="en-US"/>
          </a:p>
        </p:txBody>
      </p:sp>
      <p:cxnSp>
        <p:nvCxnSpPr>
          <p:cNvPr id="6" name="Straight Connector 5">
            <a:extLst>
              <a:ext uri="{FF2B5EF4-FFF2-40B4-BE49-F238E27FC236}">
                <a16:creationId xmlns:a16="http://schemas.microsoft.com/office/drawing/2014/main" id="{68A38D3A-7F44-488A-83FD-9186260DB6B3}"/>
              </a:ext>
            </a:extLst>
          </p:cNvPr>
          <p:cNvCxnSpPr>
            <a:cxnSpLocks/>
          </p:cNvCxnSpPr>
          <p:nvPr/>
        </p:nvCxnSpPr>
        <p:spPr bwMode="auto">
          <a:xfrm>
            <a:off x="741405" y="2767914"/>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7" name="Straight Connector 6">
            <a:extLst>
              <a:ext uri="{FF2B5EF4-FFF2-40B4-BE49-F238E27FC236}">
                <a16:creationId xmlns:a16="http://schemas.microsoft.com/office/drawing/2014/main" id="{9C670455-E84A-EF7A-471F-62886C633BC8}"/>
              </a:ext>
            </a:extLst>
          </p:cNvPr>
          <p:cNvCxnSpPr>
            <a:cxnSpLocks/>
          </p:cNvCxnSpPr>
          <p:nvPr/>
        </p:nvCxnSpPr>
        <p:spPr bwMode="auto">
          <a:xfrm>
            <a:off x="741405" y="3305433"/>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8" name="Straight Connector 7">
            <a:extLst>
              <a:ext uri="{FF2B5EF4-FFF2-40B4-BE49-F238E27FC236}">
                <a16:creationId xmlns:a16="http://schemas.microsoft.com/office/drawing/2014/main" id="{618ED52E-2505-2207-47DB-1458A7E1518B}"/>
              </a:ext>
            </a:extLst>
          </p:cNvPr>
          <p:cNvCxnSpPr>
            <a:cxnSpLocks/>
          </p:cNvCxnSpPr>
          <p:nvPr/>
        </p:nvCxnSpPr>
        <p:spPr bwMode="auto">
          <a:xfrm>
            <a:off x="741405" y="3847071"/>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9" name="Straight Connector 8">
            <a:extLst>
              <a:ext uri="{FF2B5EF4-FFF2-40B4-BE49-F238E27FC236}">
                <a16:creationId xmlns:a16="http://schemas.microsoft.com/office/drawing/2014/main" id="{F43F6A46-8062-F54D-8F13-01A771CF5CDF}"/>
              </a:ext>
            </a:extLst>
          </p:cNvPr>
          <p:cNvCxnSpPr>
            <a:cxnSpLocks/>
          </p:cNvCxnSpPr>
          <p:nvPr/>
        </p:nvCxnSpPr>
        <p:spPr bwMode="auto">
          <a:xfrm>
            <a:off x="741405" y="2191265"/>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D00732BB-26BD-2717-AE42-F528F7D54411}"/>
              </a:ext>
            </a:extLst>
          </p:cNvPr>
          <p:cNvCxnSpPr>
            <a:cxnSpLocks/>
          </p:cNvCxnSpPr>
          <p:nvPr/>
        </p:nvCxnSpPr>
        <p:spPr bwMode="auto">
          <a:xfrm>
            <a:off x="5762368" y="2767914"/>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12" name="Straight Connector 11">
            <a:extLst>
              <a:ext uri="{FF2B5EF4-FFF2-40B4-BE49-F238E27FC236}">
                <a16:creationId xmlns:a16="http://schemas.microsoft.com/office/drawing/2014/main" id="{9C02189A-6A0B-632A-D9FC-0BD301C632CD}"/>
              </a:ext>
            </a:extLst>
          </p:cNvPr>
          <p:cNvCxnSpPr>
            <a:cxnSpLocks/>
          </p:cNvCxnSpPr>
          <p:nvPr/>
        </p:nvCxnSpPr>
        <p:spPr bwMode="auto">
          <a:xfrm>
            <a:off x="5762368" y="3305433"/>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13" name="Straight Connector 12">
            <a:extLst>
              <a:ext uri="{FF2B5EF4-FFF2-40B4-BE49-F238E27FC236}">
                <a16:creationId xmlns:a16="http://schemas.microsoft.com/office/drawing/2014/main" id="{EFD19D07-F4BA-BDAE-AC05-42D27708A4B5}"/>
              </a:ext>
            </a:extLst>
          </p:cNvPr>
          <p:cNvCxnSpPr>
            <a:cxnSpLocks/>
          </p:cNvCxnSpPr>
          <p:nvPr/>
        </p:nvCxnSpPr>
        <p:spPr bwMode="auto">
          <a:xfrm>
            <a:off x="5762368" y="3847071"/>
            <a:ext cx="2846345"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14" name="Straight Connector 13">
            <a:extLst>
              <a:ext uri="{FF2B5EF4-FFF2-40B4-BE49-F238E27FC236}">
                <a16:creationId xmlns:a16="http://schemas.microsoft.com/office/drawing/2014/main" id="{78F53408-0687-43B7-CB99-A981E16493A1}"/>
              </a:ext>
            </a:extLst>
          </p:cNvPr>
          <p:cNvCxnSpPr>
            <a:cxnSpLocks/>
          </p:cNvCxnSpPr>
          <p:nvPr/>
        </p:nvCxnSpPr>
        <p:spPr bwMode="auto">
          <a:xfrm>
            <a:off x="5762368" y="2191265"/>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DA779777-11D4-CCD0-3F72-B202911EC59D}"/>
              </a:ext>
            </a:extLst>
          </p:cNvPr>
          <p:cNvCxnSpPr>
            <a:cxnSpLocks/>
          </p:cNvCxnSpPr>
          <p:nvPr/>
        </p:nvCxnSpPr>
        <p:spPr bwMode="auto">
          <a:xfrm>
            <a:off x="3978875" y="3307493"/>
            <a:ext cx="1445741" cy="0"/>
          </a:xfrm>
          <a:prstGeom prst="line">
            <a:avLst/>
          </a:prstGeom>
          <a:solidFill>
            <a:schemeClr val="bg1"/>
          </a:solidFill>
          <a:ln w="9525" cap="flat" cmpd="sng" algn="ctr">
            <a:solidFill>
              <a:schemeClr val="tx1"/>
            </a:solidFill>
            <a:prstDash val="dash"/>
            <a:round/>
            <a:headEnd type="none" w="med" len="med"/>
            <a:tailEnd type="none" w="med" len="med"/>
          </a:ln>
          <a:effectLst/>
        </p:spPr>
      </p:cxnSp>
      <p:cxnSp>
        <p:nvCxnSpPr>
          <p:cNvPr id="26" name="Straight Connector 25">
            <a:extLst>
              <a:ext uri="{FF2B5EF4-FFF2-40B4-BE49-F238E27FC236}">
                <a16:creationId xmlns:a16="http://schemas.microsoft.com/office/drawing/2014/main" id="{3B67CBEB-F89B-2D95-45DD-51DFBB702111}"/>
              </a:ext>
            </a:extLst>
          </p:cNvPr>
          <p:cNvCxnSpPr>
            <a:cxnSpLocks/>
          </p:cNvCxnSpPr>
          <p:nvPr/>
        </p:nvCxnSpPr>
        <p:spPr bwMode="auto">
          <a:xfrm>
            <a:off x="3978875" y="2767914"/>
            <a:ext cx="1445741"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383F66EE-181A-7826-18DA-90775CF338A9}"/>
              </a:ext>
            </a:extLst>
          </p:cNvPr>
          <p:cNvCxnSpPr>
            <a:cxnSpLocks/>
          </p:cNvCxnSpPr>
          <p:nvPr/>
        </p:nvCxnSpPr>
        <p:spPr bwMode="auto">
          <a:xfrm>
            <a:off x="3978875" y="3847071"/>
            <a:ext cx="1445741"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132A21B2-CE67-E124-EB9D-36ECBE85CA3B}"/>
              </a:ext>
            </a:extLst>
          </p:cNvPr>
          <p:cNvCxnSpPr>
            <a:cxnSpLocks/>
          </p:cNvCxnSpPr>
          <p:nvPr/>
        </p:nvCxnSpPr>
        <p:spPr bwMode="auto">
          <a:xfrm>
            <a:off x="741405" y="4382531"/>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AD4F716B-74A5-ED89-BCCF-C979AEFBD290}"/>
              </a:ext>
            </a:extLst>
          </p:cNvPr>
          <p:cNvCxnSpPr>
            <a:cxnSpLocks/>
          </p:cNvCxnSpPr>
          <p:nvPr/>
        </p:nvCxnSpPr>
        <p:spPr bwMode="auto">
          <a:xfrm>
            <a:off x="5762368" y="4382531"/>
            <a:ext cx="284634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7946358A-E2FD-65A4-229B-8C14F35E2335}"/>
              </a:ext>
            </a:extLst>
          </p:cNvPr>
          <p:cNvCxnSpPr>
            <a:cxnSpLocks/>
          </p:cNvCxnSpPr>
          <p:nvPr/>
        </p:nvCxnSpPr>
        <p:spPr bwMode="auto">
          <a:xfrm flipH="1">
            <a:off x="3587750" y="3847071"/>
            <a:ext cx="391125" cy="53546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B5E462AD-0699-4670-1A5B-2323E24142F6}"/>
              </a:ext>
            </a:extLst>
          </p:cNvPr>
          <p:cNvCxnSpPr>
            <a:cxnSpLocks/>
          </p:cNvCxnSpPr>
          <p:nvPr/>
        </p:nvCxnSpPr>
        <p:spPr bwMode="auto">
          <a:xfrm flipH="1" flipV="1">
            <a:off x="3587750" y="2202335"/>
            <a:ext cx="391125" cy="568668"/>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11097821-DDFA-F72E-5692-BD98D64DB64E}"/>
              </a:ext>
            </a:extLst>
          </p:cNvPr>
          <p:cNvCxnSpPr>
            <a:cxnSpLocks/>
          </p:cNvCxnSpPr>
          <p:nvPr/>
        </p:nvCxnSpPr>
        <p:spPr bwMode="auto">
          <a:xfrm>
            <a:off x="5424616" y="3843983"/>
            <a:ext cx="337752" cy="538548"/>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C223E207-D817-2ACE-9DEC-D63E9FB7B1E0}"/>
              </a:ext>
            </a:extLst>
          </p:cNvPr>
          <p:cNvCxnSpPr>
            <a:cxnSpLocks/>
          </p:cNvCxnSpPr>
          <p:nvPr/>
        </p:nvCxnSpPr>
        <p:spPr bwMode="auto">
          <a:xfrm flipH="1">
            <a:off x="5424616" y="2202335"/>
            <a:ext cx="337752" cy="569699"/>
          </a:xfrm>
          <a:prstGeom prst="line">
            <a:avLst/>
          </a:prstGeom>
          <a:solidFill>
            <a:schemeClr val="bg1"/>
          </a:solidFill>
          <a:ln w="9525" cap="flat" cmpd="sng" algn="ctr">
            <a:solidFill>
              <a:schemeClr val="tx1"/>
            </a:solidFill>
            <a:prstDash val="solid"/>
            <a:round/>
            <a:headEnd type="none" w="med" len="med"/>
            <a:tailEnd type="none" w="med" len="med"/>
          </a:ln>
          <a:effectLst/>
        </p:spPr>
      </p:cxnSp>
      <p:pic>
        <p:nvPicPr>
          <p:cNvPr id="5122" name="Picture 2" descr="Car Icon Stock Illustrations – 690,617 Car Icon Stock Illustrations,  Vectors &amp; Clipart - Dreamstime">
            <a:extLst>
              <a:ext uri="{FF2B5EF4-FFF2-40B4-BE49-F238E27FC236}">
                <a16:creationId xmlns:a16="http://schemas.microsoft.com/office/drawing/2014/main" id="{823DB566-FEA8-9DB5-2FB6-191554BF19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3977387" y="2821288"/>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ar Icon Stock Illustrations – 690,617 Car Icon Stock Illustrations,  Vectors &amp; Clipart - Dreamstime">
            <a:extLst>
              <a:ext uri="{FF2B5EF4-FFF2-40B4-BE49-F238E27FC236}">
                <a16:creationId xmlns:a16="http://schemas.microsoft.com/office/drawing/2014/main" id="{C9CB0762-BC2D-C5C8-C98A-5A6A97E9FC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4423316" y="3333148"/>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ar Icon Stock Illustrations – 690,617 Car Icon Stock Illustrations,  Vectors &amp; Clipart - Dreamstime">
            <a:extLst>
              <a:ext uri="{FF2B5EF4-FFF2-40B4-BE49-F238E27FC236}">
                <a16:creationId xmlns:a16="http://schemas.microsoft.com/office/drawing/2014/main" id="{34C1C611-E0D1-5049-DC2D-8CDB0DFD36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1230218" y="2232325"/>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ar Icon Stock Illustrations – 690,617 Car Icon Stock Illustrations,  Vectors &amp; Clipart - Dreamstime">
            <a:extLst>
              <a:ext uri="{FF2B5EF4-FFF2-40B4-BE49-F238E27FC236}">
                <a16:creationId xmlns:a16="http://schemas.microsoft.com/office/drawing/2014/main" id="{C25BEFAD-E849-3B0A-10CF-8A27B2F710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2164577" y="2808973"/>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Car Icon Stock Illustrations – 690,617 Car Icon Stock Illustrations,  Vectors &amp; Clipart - Dreamstime">
            <a:extLst>
              <a:ext uri="{FF2B5EF4-FFF2-40B4-BE49-F238E27FC236}">
                <a16:creationId xmlns:a16="http://schemas.microsoft.com/office/drawing/2014/main" id="{30FF93CD-C566-1CCF-76E5-82C3D8F504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1078641" y="3369062"/>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Car Icon Stock Illustrations – 690,617 Car Icon Stock Illustrations,  Vectors &amp; Clipart - Dreamstime">
            <a:extLst>
              <a:ext uri="{FF2B5EF4-FFF2-40B4-BE49-F238E27FC236}">
                <a16:creationId xmlns:a16="http://schemas.microsoft.com/office/drawing/2014/main" id="{E5466106-192B-FA86-01F1-141C5E5D67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1663729" y="3876157"/>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Car Icon Stock Illustrations – 690,617 Car Icon Stock Illustrations,  Vectors &amp; Clipart - Dreamstime">
            <a:extLst>
              <a:ext uri="{FF2B5EF4-FFF2-40B4-BE49-F238E27FC236}">
                <a16:creationId xmlns:a16="http://schemas.microsoft.com/office/drawing/2014/main" id="{1631DEFF-7646-5CB7-0239-EE679F2217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6525025" y="2257425"/>
            <a:ext cx="1170176" cy="45848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Car Icon Stock Illustrations – 690,617 Car Icon Stock Illustrations,  Vectors &amp; Clipart - Dreamstime">
            <a:extLst>
              <a:ext uri="{FF2B5EF4-FFF2-40B4-BE49-F238E27FC236}">
                <a16:creationId xmlns:a16="http://schemas.microsoft.com/office/drawing/2014/main" id="{D317D678-9FD0-2C12-2627-5F8553381D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45" t="36096" r="15947" b="37219"/>
          <a:stretch/>
        </p:blipFill>
        <p:spPr bwMode="auto">
          <a:xfrm>
            <a:off x="6015364" y="3369062"/>
            <a:ext cx="1170176" cy="458487"/>
          </a:xfrm>
          <a:prstGeom prst="rect">
            <a:avLst/>
          </a:prstGeom>
          <a:noFill/>
          <a:extLst>
            <a:ext uri="{909E8E84-426E-40DD-AFC4-6F175D3DCCD1}">
              <a14:hiddenFill xmlns:a14="http://schemas.microsoft.com/office/drawing/2010/main">
                <a:solidFill>
                  <a:srgbClr val="FFFFFF"/>
                </a:solidFill>
              </a14:hiddenFill>
            </a:ext>
          </a:extLst>
        </p:spPr>
      </p:pic>
      <p:sp>
        <p:nvSpPr>
          <p:cNvPr id="49" name="Content Placeholder 2">
            <a:extLst>
              <a:ext uri="{FF2B5EF4-FFF2-40B4-BE49-F238E27FC236}">
                <a16:creationId xmlns:a16="http://schemas.microsoft.com/office/drawing/2014/main" id="{2E4A6FAE-B165-F71E-548A-EF319FAE51D9}"/>
              </a:ext>
            </a:extLst>
          </p:cNvPr>
          <p:cNvSpPr txBox="1">
            <a:spLocks/>
          </p:cNvSpPr>
          <p:nvPr/>
        </p:nvSpPr>
        <p:spPr bwMode="auto">
          <a:xfrm>
            <a:off x="551445" y="4716162"/>
            <a:ext cx="8246565" cy="1669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US" kern="0" dirty="0"/>
              <a:t>Initial/maximum semaphore value is 2 (2 lanes on the bridge)</a:t>
            </a:r>
          </a:p>
          <a:p>
            <a:r>
              <a:rPr lang="en-US" kern="0" dirty="0"/>
              <a:t>Current semaphore value is -4 (4 cars intend to enter the bridge)</a:t>
            </a:r>
          </a:p>
          <a:p>
            <a:r>
              <a:rPr lang="en-US" kern="0" dirty="0"/>
              <a:t>Cars that queue up to enter the bridge call Wait</a:t>
            </a:r>
            <a:r>
              <a:rPr lang="en-US" kern="0"/>
              <a:t>(), decrementing </a:t>
            </a:r>
            <a:r>
              <a:rPr lang="en-US" kern="0" dirty="0"/>
              <a:t>the value</a:t>
            </a:r>
          </a:p>
          <a:p>
            <a:r>
              <a:rPr lang="en-US" kern="0" dirty="0"/>
              <a:t>Cars that leave the bridge behind call Signal(), incrementing the value</a:t>
            </a:r>
          </a:p>
        </p:txBody>
      </p:sp>
      <p:cxnSp>
        <p:nvCxnSpPr>
          <p:cNvPr id="51" name="Straight Arrow Connector 50">
            <a:extLst>
              <a:ext uri="{FF2B5EF4-FFF2-40B4-BE49-F238E27FC236}">
                <a16:creationId xmlns:a16="http://schemas.microsoft.com/office/drawing/2014/main" id="{7FEDE27E-747C-CD3E-9D00-37995021F9AA}"/>
              </a:ext>
            </a:extLst>
          </p:cNvPr>
          <p:cNvCxnSpPr/>
          <p:nvPr/>
        </p:nvCxnSpPr>
        <p:spPr bwMode="auto">
          <a:xfrm>
            <a:off x="2706130" y="2483708"/>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2" name="Straight Arrow Connector 51">
            <a:extLst>
              <a:ext uri="{FF2B5EF4-FFF2-40B4-BE49-F238E27FC236}">
                <a16:creationId xmlns:a16="http://schemas.microsoft.com/office/drawing/2014/main" id="{7401FE54-90C5-D53D-4DF6-90FF83C3CE1D}"/>
              </a:ext>
            </a:extLst>
          </p:cNvPr>
          <p:cNvCxnSpPr/>
          <p:nvPr/>
        </p:nvCxnSpPr>
        <p:spPr bwMode="auto">
          <a:xfrm>
            <a:off x="2947086" y="4180703"/>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14DCE601-5CDB-A14C-7D05-11783A7A0BD7}"/>
              </a:ext>
            </a:extLst>
          </p:cNvPr>
          <p:cNvCxnSpPr/>
          <p:nvPr/>
        </p:nvCxnSpPr>
        <p:spPr bwMode="auto">
          <a:xfrm>
            <a:off x="2833905" y="3599935"/>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07E625FB-0DAD-C6A1-B526-BC277BCB4D26}"/>
              </a:ext>
            </a:extLst>
          </p:cNvPr>
          <p:cNvCxnSpPr/>
          <p:nvPr/>
        </p:nvCxnSpPr>
        <p:spPr bwMode="auto">
          <a:xfrm>
            <a:off x="3428999" y="3105665"/>
            <a:ext cx="48191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1854216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18E92-9DBA-E1CD-67E1-82935C846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90F59-DEA0-2EB0-5B54-B00AAD2895DE}"/>
              </a:ext>
            </a:extLst>
          </p:cNvPr>
          <p:cNvSpPr>
            <a:spLocks noGrp="1"/>
          </p:cNvSpPr>
          <p:nvPr>
            <p:ph type="title"/>
          </p:nvPr>
        </p:nvSpPr>
        <p:spPr/>
        <p:txBody>
          <a:bodyPr/>
          <a:lstStyle/>
          <a:p>
            <a:r>
              <a:rPr lang="en-US" dirty="0"/>
              <a:t>Semaphore Understanding</a:t>
            </a:r>
          </a:p>
        </p:txBody>
      </p:sp>
      <p:sp>
        <p:nvSpPr>
          <p:cNvPr id="4" name="Footer Placeholder 3">
            <a:extLst>
              <a:ext uri="{FF2B5EF4-FFF2-40B4-BE49-F238E27FC236}">
                <a16:creationId xmlns:a16="http://schemas.microsoft.com/office/drawing/2014/main" id="{78BD05AE-D87E-99C1-911F-2A4614A693B2}"/>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F2E566F-77DE-8182-9CC4-4CE925578B7C}"/>
                  </a:ext>
                </a:extLst>
              </p:cNvPr>
              <p:cNvGraphicFramePr>
                <a:graphicFrameLocks noGrp="1"/>
              </p:cNvGraphicFramePr>
              <p:nvPr>
                <p:extLst>
                  <p:ext uri="{D42A27DB-BD31-4B8C-83A1-F6EECF244321}">
                    <p14:modId xmlns:p14="http://schemas.microsoft.com/office/powerpoint/2010/main" val="3450336663"/>
                  </p:ext>
                </p:extLst>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DF2E566F-77DE-8182-9CC4-4CE925578B7C}"/>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1053778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Footer Placeholder 3">
            <a:extLst>
              <a:ext uri="{FF2B5EF4-FFF2-40B4-BE49-F238E27FC236}">
                <a16:creationId xmlns:a16="http://schemas.microsoft.com/office/drawing/2014/main" id="{35FF87E5-3052-4812-A6D0-F071A71ED70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6627" name="Rectangle 6">
            <a:extLst>
              <a:ext uri="{FF2B5EF4-FFF2-40B4-BE49-F238E27FC236}">
                <a16:creationId xmlns:a16="http://schemas.microsoft.com/office/drawing/2014/main" id="{65DA6311-3089-4C0F-B664-4A283D0B5A0A}"/>
              </a:ext>
            </a:extLst>
          </p:cNvPr>
          <p:cNvSpPr>
            <a:spLocks noChangeArrowheads="1"/>
          </p:cNvSpPr>
          <p:nvPr/>
        </p:nvSpPr>
        <p:spPr bwMode="auto">
          <a:xfrm>
            <a:off x="665163" y="295275"/>
            <a:ext cx="7831137" cy="893763"/>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68611" name="Rectangle 2">
            <a:extLst>
              <a:ext uri="{FF2B5EF4-FFF2-40B4-BE49-F238E27FC236}">
                <a16:creationId xmlns:a16="http://schemas.microsoft.com/office/drawing/2014/main" id="{52CC0E67-9715-4B92-ABDC-079EB0D59EB3}"/>
              </a:ext>
            </a:extLst>
          </p:cNvPr>
          <p:cNvSpPr>
            <a:spLocks noGrp="1" noChangeArrowheads="1"/>
          </p:cNvSpPr>
          <p:nvPr>
            <p:ph type="title"/>
          </p:nvPr>
        </p:nvSpPr>
        <p:spPr>
          <a:xfrm>
            <a:off x="808038" y="495300"/>
            <a:ext cx="7783512" cy="457200"/>
          </a:xfrm>
        </p:spPr>
        <p:txBody>
          <a:bodyPr/>
          <a:lstStyle/>
          <a:p>
            <a:r>
              <a:rPr lang="en-US" altLang="en-US"/>
              <a:t>Semaphore Solution for the Critical Section Problem </a:t>
            </a:r>
          </a:p>
        </p:txBody>
      </p:sp>
      <p:sp>
        <p:nvSpPr>
          <p:cNvPr id="66564" name="Rectangle 3">
            <a:extLst>
              <a:ext uri="{FF2B5EF4-FFF2-40B4-BE49-F238E27FC236}">
                <a16:creationId xmlns:a16="http://schemas.microsoft.com/office/drawing/2014/main" id="{79CB8213-2988-4D77-A336-E9BBC8C83F3D}"/>
              </a:ext>
            </a:extLst>
          </p:cNvPr>
          <p:cNvSpPr>
            <a:spLocks noGrp="1" noChangeArrowheads="1"/>
          </p:cNvSpPr>
          <p:nvPr>
            <p:ph type="body" idx="1"/>
          </p:nvPr>
        </p:nvSpPr>
        <p:spPr>
          <a:xfrm>
            <a:off x="195263" y="1374775"/>
            <a:ext cx="8890000" cy="4916488"/>
          </a:xfrm>
        </p:spPr>
        <p:txBody>
          <a:bodyPr/>
          <a:lstStyle/>
          <a:p>
            <a:pPr>
              <a:tabLst>
                <a:tab pos="2513013" algn="l"/>
                <a:tab pos="2857500" algn="l"/>
                <a:tab pos="3148013" algn="l"/>
              </a:tabLst>
              <a:defRPr/>
            </a:pPr>
            <a:r>
              <a:rPr lang="en-US" altLang="en-US" sz="2800" dirty="0"/>
              <a:t>Variable shared: </a:t>
            </a:r>
            <a:r>
              <a:rPr lang="en-US" altLang="en-US" sz="2800" b="1" i="1" dirty="0">
                <a:solidFill>
                  <a:schemeClr val="accent1">
                    <a:lumMod val="75000"/>
                  </a:schemeClr>
                </a:solidFill>
              </a:rPr>
              <a:t>semaphore </a:t>
            </a:r>
            <a:r>
              <a:rPr lang="en-US" altLang="en-US" sz="2800" b="1" i="1" dirty="0" err="1">
                <a:solidFill>
                  <a:schemeClr val="accent1">
                    <a:lumMod val="75000"/>
                  </a:schemeClr>
                </a:solidFill>
              </a:rPr>
              <a:t>mutex</a:t>
            </a:r>
            <a:r>
              <a:rPr lang="en-US" altLang="en-US" sz="2800" b="1" i="1" dirty="0">
                <a:solidFill>
                  <a:schemeClr val="accent1">
                    <a:lumMod val="75000"/>
                  </a:schemeClr>
                </a:solidFill>
              </a:rPr>
              <a:t>; </a:t>
            </a:r>
            <a:r>
              <a:rPr lang="en-US" altLang="en-US" sz="2800" dirty="0"/>
              <a:t>// </a:t>
            </a:r>
            <a:r>
              <a:rPr lang="en-US" altLang="en-US" sz="2400" dirty="0"/>
              <a:t>initially </a:t>
            </a:r>
            <a:r>
              <a:rPr lang="en-US" altLang="en-US" sz="2400" i="1" dirty="0" err="1"/>
              <a:t>mutex</a:t>
            </a:r>
            <a:r>
              <a:rPr lang="en-US" altLang="en-US" sz="2400" dirty="0"/>
              <a:t>=1</a:t>
            </a:r>
          </a:p>
          <a:p>
            <a:pPr lvl="1">
              <a:tabLst>
                <a:tab pos="2513013" algn="l"/>
                <a:tab pos="2857500" algn="l"/>
                <a:tab pos="3148013" algn="l"/>
              </a:tabLst>
              <a:defRPr/>
            </a:pPr>
            <a:r>
              <a:rPr lang="en-US" altLang="en-US" sz="2400" dirty="0">
                <a:solidFill>
                  <a:srgbClr val="FF0000"/>
                </a:solidFill>
              </a:rPr>
              <a:t>If </a:t>
            </a:r>
            <a:r>
              <a:rPr lang="en-US" altLang="en-US" sz="2400" dirty="0" err="1">
                <a:solidFill>
                  <a:srgbClr val="FF0000"/>
                </a:solidFill>
              </a:rPr>
              <a:t>mutex</a:t>
            </a:r>
            <a:r>
              <a:rPr lang="en-US" altLang="en-US" sz="2400" dirty="0">
                <a:solidFill>
                  <a:srgbClr val="FF0000"/>
                </a:solidFill>
              </a:rPr>
              <a:t>=1 and process executes Wait(</a:t>
            </a:r>
            <a:r>
              <a:rPr lang="en-US" altLang="en-US" sz="2400" dirty="0" err="1">
                <a:solidFill>
                  <a:srgbClr val="FF0000"/>
                </a:solidFill>
              </a:rPr>
              <a:t>mutex</a:t>
            </a:r>
            <a:r>
              <a:rPr lang="en-US" altLang="en-US" sz="2400" dirty="0">
                <a:solidFill>
                  <a:srgbClr val="FF0000"/>
                </a:solidFill>
              </a:rPr>
              <a:t>), then it can enter critical section</a:t>
            </a:r>
          </a:p>
          <a:p>
            <a:pPr lvl="4">
              <a:tabLst>
                <a:tab pos="2513013" algn="l"/>
                <a:tab pos="2857500" algn="l"/>
                <a:tab pos="3148013" algn="l"/>
              </a:tabLst>
              <a:defRPr/>
            </a:pPr>
            <a:endParaRPr lang="en-US" altLang="en-US" dirty="0">
              <a:solidFill>
                <a:srgbClr val="FF0000"/>
              </a:solidFill>
            </a:endParaRPr>
          </a:p>
          <a:p>
            <a:pPr>
              <a:tabLst>
                <a:tab pos="2513013" algn="l"/>
                <a:tab pos="2857500" algn="l"/>
                <a:tab pos="3148013" algn="l"/>
              </a:tabLst>
              <a:defRPr/>
            </a:pPr>
            <a:r>
              <a:rPr lang="en-US" altLang="en-US" sz="2400" dirty="0"/>
              <a:t>Process </a:t>
            </a:r>
            <a:r>
              <a:rPr lang="en-US" altLang="en-US" sz="2400" i="1" dirty="0"/>
              <a:t>P</a:t>
            </a:r>
            <a:r>
              <a:rPr lang="en-US" altLang="en-US" sz="2400" i="1" baseline="-25000" dirty="0"/>
              <a:t>i </a:t>
            </a:r>
            <a:r>
              <a:rPr lang="en-US" altLang="en-US" sz="2400" dirty="0"/>
              <a:t>:   while(1) {</a:t>
            </a:r>
          </a:p>
          <a:p>
            <a:pPr>
              <a:buFontTx/>
              <a:buNone/>
              <a:tabLst>
                <a:tab pos="2513013" algn="l"/>
                <a:tab pos="2857500" algn="l"/>
                <a:tab pos="3148013" algn="l"/>
              </a:tabLst>
              <a:defRPr/>
            </a:pPr>
            <a:r>
              <a:rPr lang="en-US" altLang="en-US" sz="2400" dirty="0"/>
              <a:t>		</a:t>
            </a:r>
            <a:r>
              <a:rPr lang="en-US" altLang="en-US" sz="2400" i="1" dirty="0"/>
              <a:t>Wait</a:t>
            </a:r>
            <a:r>
              <a:rPr lang="en-US" altLang="en-US" sz="2400" dirty="0"/>
              <a:t>(</a:t>
            </a:r>
            <a:r>
              <a:rPr lang="en-US" altLang="en-US" sz="2400" i="1" dirty="0" err="1"/>
              <a:t>mutex</a:t>
            </a:r>
            <a:r>
              <a:rPr lang="en-US" altLang="en-US" sz="2400" dirty="0"/>
              <a:t>);</a:t>
            </a:r>
          </a:p>
          <a:p>
            <a:pPr>
              <a:buFontTx/>
              <a:buNone/>
              <a:tabLst>
                <a:tab pos="2513013" algn="l"/>
                <a:tab pos="2857500" algn="l"/>
                <a:tab pos="3148013" algn="l"/>
              </a:tabLst>
              <a:defRPr/>
            </a:pPr>
            <a:r>
              <a:rPr lang="en-US" altLang="en-US" sz="2400" dirty="0"/>
              <a:t>			critical section</a:t>
            </a:r>
          </a:p>
          <a:p>
            <a:pPr>
              <a:buFontTx/>
              <a:buNone/>
              <a:tabLst>
                <a:tab pos="2513013" algn="l"/>
                <a:tab pos="2857500" algn="l"/>
                <a:tab pos="3148013" algn="l"/>
              </a:tabLst>
              <a:defRPr/>
            </a:pPr>
            <a:r>
              <a:rPr lang="en-US" altLang="en-US" sz="2400" dirty="0"/>
              <a:t>		</a:t>
            </a:r>
            <a:r>
              <a:rPr lang="en-US" altLang="en-US" sz="2400" i="1" dirty="0"/>
              <a:t>Signal</a:t>
            </a:r>
            <a:r>
              <a:rPr lang="en-US" altLang="en-US" sz="2400" dirty="0"/>
              <a:t>(</a:t>
            </a:r>
            <a:r>
              <a:rPr lang="en-US" altLang="en-US" sz="2400" i="1" dirty="0" err="1"/>
              <a:t>mutex</a:t>
            </a:r>
            <a:r>
              <a:rPr lang="en-US" altLang="en-US" sz="2400" dirty="0"/>
              <a:t>);</a:t>
            </a:r>
          </a:p>
          <a:p>
            <a:pPr>
              <a:buFontTx/>
              <a:buNone/>
              <a:tabLst>
                <a:tab pos="2513013" algn="l"/>
                <a:tab pos="2857500" algn="l"/>
                <a:tab pos="3148013" algn="l"/>
              </a:tabLst>
              <a:defRPr/>
            </a:pPr>
            <a:r>
              <a:rPr lang="en-US" altLang="en-US" sz="2400" dirty="0"/>
              <a:t>			remainder section</a:t>
            </a:r>
          </a:p>
          <a:p>
            <a:pPr>
              <a:buFontTx/>
              <a:buNone/>
              <a:tabLst>
                <a:tab pos="2513013" algn="l"/>
                <a:tab pos="2857500" algn="l"/>
                <a:tab pos="3148013" algn="l"/>
              </a:tabLst>
              <a:defRPr/>
            </a:pPr>
            <a:r>
              <a:rPr lang="en-US" altLang="en-US" sz="2400" dirty="0"/>
              <a:t>	                       }</a:t>
            </a:r>
          </a:p>
        </p:txBody>
      </p:sp>
      <p:sp>
        <p:nvSpPr>
          <p:cNvPr id="8" name="TextBox 7">
            <a:extLst>
              <a:ext uri="{FF2B5EF4-FFF2-40B4-BE49-F238E27FC236}">
                <a16:creationId xmlns:a16="http://schemas.microsoft.com/office/drawing/2014/main" id="{C8BE7C6A-7812-4A62-B26C-B3F58FF9A719}"/>
              </a:ext>
            </a:extLst>
          </p:cNvPr>
          <p:cNvSpPr txBox="1"/>
          <p:nvPr/>
        </p:nvSpPr>
        <p:spPr>
          <a:xfrm>
            <a:off x="5621338" y="3594100"/>
            <a:ext cx="2908300" cy="461963"/>
          </a:xfrm>
          <a:prstGeom prst="rect">
            <a:avLst/>
          </a:prstGeom>
          <a:solidFill>
            <a:schemeClr val="bg1">
              <a:lumMod val="65000"/>
            </a:schemeClr>
          </a:solidFill>
        </p:spPr>
        <p:txBody>
          <a:bodyPr wrap="none">
            <a:spAutoFit/>
          </a:bodyPr>
          <a:lstStyle/>
          <a:p>
            <a:pPr algn="ctr">
              <a:defRPr/>
            </a:pPr>
            <a:r>
              <a:rPr lang="en-US" sz="2400" dirty="0"/>
              <a:t>Acquire Semaphore</a:t>
            </a:r>
          </a:p>
        </p:txBody>
      </p:sp>
      <p:sp>
        <p:nvSpPr>
          <p:cNvPr id="9" name="TextBox 8">
            <a:extLst>
              <a:ext uri="{FF2B5EF4-FFF2-40B4-BE49-F238E27FC236}">
                <a16:creationId xmlns:a16="http://schemas.microsoft.com/office/drawing/2014/main" id="{654457E3-F9BA-4DD5-86E5-CE768D3EFFFA}"/>
              </a:ext>
            </a:extLst>
          </p:cNvPr>
          <p:cNvSpPr txBox="1"/>
          <p:nvPr/>
        </p:nvSpPr>
        <p:spPr>
          <a:xfrm>
            <a:off x="5578475" y="4664075"/>
            <a:ext cx="2994025" cy="460375"/>
          </a:xfrm>
          <a:prstGeom prst="rect">
            <a:avLst/>
          </a:prstGeom>
          <a:solidFill>
            <a:schemeClr val="bg1">
              <a:lumMod val="65000"/>
            </a:schemeClr>
          </a:solidFill>
        </p:spPr>
        <p:txBody>
          <a:bodyPr wrap="none">
            <a:spAutoFit/>
          </a:bodyPr>
          <a:lstStyle/>
          <a:p>
            <a:pPr algn="ctr">
              <a:defRPr/>
            </a:pPr>
            <a:r>
              <a:rPr lang="en-US" sz="2400" dirty="0"/>
              <a:t>Release Semaphore</a:t>
            </a:r>
          </a:p>
        </p:txBody>
      </p:sp>
      <p:sp>
        <p:nvSpPr>
          <p:cNvPr id="10" name="Rectangle 9">
            <a:extLst>
              <a:ext uri="{FF2B5EF4-FFF2-40B4-BE49-F238E27FC236}">
                <a16:creationId xmlns:a16="http://schemas.microsoft.com/office/drawing/2014/main" id="{F8FFBA6B-013B-47DE-BC8F-0B87B02FB59D}"/>
              </a:ext>
            </a:extLst>
          </p:cNvPr>
          <p:cNvSpPr>
            <a:spLocks noChangeArrowheads="1"/>
          </p:cNvSpPr>
          <p:nvPr/>
        </p:nvSpPr>
        <p:spPr bwMode="auto">
          <a:xfrm>
            <a:off x="2752725" y="3562350"/>
            <a:ext cx="1789113" cy="552450"/>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1" name="Rectangle 10">
            <a:extLst>
              <a:ext uri="{FF2B5EF4-FFF2-40B4-BE49-F238E27FC236}">
                <a16:creationId xmlns:a16="http://schemas.microsoft.com/office/drawing/2014/main" id="{E7563243-EAA7-44A6-AE88-70B72A3D871C}"/>
              </a:ext>
            </a:extLst>
          </p:cNvPr>
          <p:cNvSpPr>
            <a:spLocks noChangeArrowheads="1"/>
          </p:cNvSpPr>
          <p:nvPr/>
        </p:nvSpPr>
        <p:spPr bwMode="auto">
          <a:xfrm>
            <a:off x="2773363" y="4635500"/>
            <a:ext cx="2028825" cy="552450"/>
          </a:xfrm>
          <a:prstGeom prst="rect">
            <a:avLst/>
          </a:prstGeom>
          <a:solidFill>
            <a:srgbClr val="FF0000">
              <a:alpha val="36078"/>
            </a:srgbClr>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2" name="TextBox 11">
            <a:extLst>
              <a:ext uri="{FF2B5EF4-FFF2-40B4-BE49-F238E27FC236}">
                <a16:creationId xmlns:a16="http://schemas.microsoft.com/office/drawing/2014/main" id="{BE92C5A3-3F98-4CA8-ABAC-6BD0535E3141}"/>
              </a:ext>
            </a:extLst>
          </p:cNvPr>
          <p:cNvSpPr txBox="1">
            <a:spLocks noChangeArrowheads="1"/>
          </p:cNvSpPr>
          <p:nvPr/>
        </p:nvSpPr>
        <p:spPr bwMode="auto">
          <a:xfrm>
            <a:off x="471488" y="3622675"/>
            <a:ext cx="154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Entry Section</a:t>
            </a:r>
          </a:p>
        </p:txBody>
      </p:sp>
      <p:sp>
        <p:nvSpPr>
          <p:cNvPr id="13" name="TextBox 12">
            <a:extLst>
              <a:ext uri="{FF2B5EF4-FFF2-40B4-BE49-F238E27FC236}">
                <a16:creationId xmlns:a16="http://schemas.microsoft.com/office/drawing/2014/main" id="{C73111ED-4BD2-4B63-89A8-BD882B2F3DD9}"/>
              </a:ext>
            </a:extLst>
          </p:cNvPr>
          <p:cNvSpPr txBox="1">
            <a:spLocks noChangeArrowheads="1"/>
          </p:cNvSpPr>
          <p:nvPr/>
        </p:nvSpPr>
        <p:spPr bwMode="auto">
          <a:xfrm>
            <a:off x="492125" y="4710113"/>
            <a:ext cx="139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rPr>
              <a:t>Exit Section</a:t>
            </a:r>
          </a:p>
        </p:txBody>
      </p:sp>
      <p:cxnSp>
        <p:nvCxnSpPr>
          <p:cNvPr id="14" name="Straight Arrow Connector 13">
            <a:extLst>
              <a:ext uri="{FF2B5EF4-FFF2-40B4-BE49-F238E27FC236}">
                <a16:creationId xmlns:a16="http://schemas.microsoft.com/office/drawing/2014/main" id="{03CABC34-3EA6-4184-92D5-27CAAFF0EA2A}"/>
              </a:ext>
            </a:extLst>
          </p:cNvPr>
          <p:cNvCxnSpPr>
            <a:cxnSpLocks noChangeShapeType="1"/>
            <a:endCxn id="10" idx="1"/>
          </p:cNvCxnSpPr>
          <p:nvPr/>
        </p:nvCxnSpPr>
        <p:spPr bwMode="auto">
          <a:xfrm>
            <a:off x="2020888" y="3824288"/>
            <a:ext cx="731837"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Straight Arrow Connector 14">
            <a:extLst>
              <a:ext uri="{FF2B5EF4-FFF2-40B4-BE49-F238E27FC236}">
                <a16:creationId xmlns:a16="http://schemas.microsoft.com/office/drawing/2014/main" id="{0C904946-4091-4ACA-837B-A7903B791422}"/>
              </a:ext>
            </a:extLst>
          </p:cNvPr>
          <p:cNvCxnSpPr>
            <a:cxnSpLocks noChangeShapeType="1"/>
            <a:endCxn id="11" idx="1"/>
          </p:cNvCxnSpPr>
          <p:nvPr/>
        </p:nvCxnSpPr>
        <p:spPr bwMode="auto">
          <a:xfrm>
            <a:off x="1889125" y="4911725"/>
            <a:ext cx="88423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6564">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56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56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564">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564">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65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Footer Placeholder 3">
            <a:extLst>
              <a:ext uri="{FF2B5EF4-FFF2-40B4-BE49-F238E27FC236}">
                <a16:creationId xmlns:a16="http://schemas.microsoft.com/office/drawing/2014/main" id="{AC5C9FE4-0E8A-4FD3-B820-62F15EFD93A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7651" name="Rectangle 4">
            <a:extLst>
              <a:ext uri="{FF2B5EF4-FFF2-40B4-BE49-F238E27FC236}">
                <a16:creationId xmlns:a16="http://schemas.microsoft.com/office/drawing/2014/main" id="{A7130DDD-19EC-4F4F-BCFF-81C30D44B52F}"/>
              </a:ext>
            </a:extLst>
          </p:cNvPr>
          <p:cNvSpPr>
            <a:spLocks noChangeArrowheads="1"/>
          </p:cNvSpPr>
          <p:nvPr/>
        </p:nvSpPr>
        <p:spPr bwMode="auto">
          <a:xfrm>
            <a:off x="684213" y="285750"/>
            <a:ext cx="7831137" cy="9525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0659" name="Rectangle 2">
            <a:extLst>
              <a:ext uri="{FF2B5EF4-FFF2-40B4-BE49-F238E27FC236}">
                <a16:creationId xmlns:a16="http://schemas.microsoft.com/office/drawing/2014/main" id="{9A0208C5-6E12-4E6A-AC87-BAE247395CAE}"/>
              </a:ext>
            </a:extLst>
          </p:cNvPr>
          <p:cNvSpPr>
            <a:spLocks noGrp="1" noChangeArrowheads="1"/>
          </p:cNvSpPr>
          <p:nvPr>
            <p:ph type="title"/>
          </p:nvPr>
        </p:nvSpPr>
        <p:spPr>
          <a:xfrm>
            <a:off x="1162050" y="495300"/>
            <a:ext cx="7353300" cy="457200"/>
          </a:xfrm>
        </p:spPr>
        <p:txBody>
          <a:bodyPr/>
          <a:lstStyle/>
          <a:p>
            <a:r>
              <a:rPr lang="en-US" altLang="en-US"/>
              <a:t>Classical Semaphore Implementation (Busy Waiting)</a:t>
            </a:r>
          </a:p>
        </p:txBody>
      </p:sp>
      <p:sp>
        <p:nvSpPr>
          <p:cNvPr id="27653" name="Rectangle 3">
            <a:extLst>
              <a:ext uri="{FF2B5EF4-FFF2-40B4-BE49-F238E27FC236}">
                <a16:creationId xmlns:a16="http://schemas.microsoft.com/office/drawing/2014/main" id="{F0DAE12E-980A-4F84-ACC9-E48DF6E4960E}"/>
              </a:ext>
            </a:extLst>
          </p:cNvPr>
          <p:cNvSpPr>
            <a:spLocks noGrp="1" noChangeArrowheads="1"/>
          </p:cNvSpPr>
          <p:nvPr>
            <p:ph type="body" idx="1"/>
          </p:nvPr>
        </p:nvSpPr>
        <p:spPr>
          <a:xfrm>
            <a:off x="425450" y="1511300"/>
            <a:ext cx="8334375" cy="5038725"/>
          </a:xfrm>
        </p:spPr>
        <p:txBody>
          <a:bodyPr/>
          <a:lstStyle/>
          <a:p>
            <a:pPr>
              <a:lnSpc>
                <a:spcPct val="70000"/>
              </a:lnSpc>
              <a:tabLst>
                <a:tab pos="1597025" algn="l"/>
                <a:tab pos="2576513" algn="l"/>
              </a:tabLst>
              <a:defRPr/>
            </a:pPr>
            <a:r>
              <a:rPr lang="en-US" altLang="en-US" sz="2800" i="1" dirty="0">
                <a:solidFill>
                  <a:srgbClr val="FF0000"/>
                </a:solidFill>
              </a:rPr>
              <a:t>Wait</a:t>
            </a:r>
            <a:r>
              <a:rPr lang="en-US" altLang="en-US" sz="2800" dirty="0">
                <a:solidFill>
                  <a:srgbClr val="FF0000"/>
                </a:solidFill>
              </a:rPr>
              <a:t> (</a:t>
            </a:r>
            <a:r>
              <a:rPr lang="en-US" altLang="en-US" sz="2800" i="1" dirty="0">
                <a:solidFill>
                  <a:srgbClr val="FF0000"/>
                </a:solidFill>
              </a:rPr>
              <a:t>S</a:t>
            </a:r>
            <a:r>
              <a:rPr lang="en-US" altLang="en-US" sz="2800" dirty="0">
                <a:solidFill>
                  <a:srgbClr val="FF0000"/>
                </a:solidFill>
              </a:rPr>
              <a:t>):</a:t>
            </a:r>
            <a:r>
              <a:rPr lang="en-US" altLang="en-US" sz="2800" dirty="0"/>
              <a:t>  </a:t>
            </a:r>
          </a:p>
          <a:p>
            <a:pPr marL="0" indent="0">
              <a:lnSpc>
                <a:spcPct val="70000"/>
              </a:lnSpc>
              <a:buFontTx/>
              <a:buNone/>
              <a:tabLst>
                <a:tab pos="1597025" algn="l"/>
                <a:tab pos="2576513" algn="l"/>
              </a:tabLst>
              <a:defRPr/>
            </a:pPr>
            <a:r>
              <a:rPr lang="en-US" altLang="en-US" sz="2800" b="1" dirty="0">
                <a:solidFill>
                  <a:schemeClr val="accent1">
                    <a:lumMod val="75000"/>
                  </a:schemeClr>
                </a:solidFill>
              </a:rPr>
              <a:t>	while (</a:t>
            </a:r>
            <a:r>
              <a:rPr lang="en-US" altLang="en-US" sz="2800" b="1" i="1" dirty="0">
                <a:solidFill>
                  <a:schemeClr val="accent1">
                    <a:lumMod val="75000"/>
                  </a:schemeClr>
                </a:solidFill>
              </a:rPr>
              <a:t>S </a:t>
            </a:r>
            <a:r>
              <a:rPr lang="en-US" altLang="en-US" sz="2800" b="1" dirty="0">
                <a:solidFill>
                  <a:schemeClr val="accent1">
                    <a:lumMod val="75000"/>
                  </a:schemeClr>
                </a:solidFill>
                <a:sym typeface="Symbol" charset="2"/>
              </a:rPr>
              <a:t>&lt;= 0)</a:t>
            </a:r>
            <a:br>
              <a:rPr lang="en-US" altLang="en-US" sz="2800" b="1" dirty="0">
                <a:solidFill>
                  <a:schemeClr val="accent1">
                    <a:lumMod val="75000"/>
                  </a:schemeClr>
                </a:solidFill>
                <a:sym typeface="Symbol" charset="2"/>
              </a:rPr>
            </a:br>
            <a:r>
              <a:rPr lang="en-US" altLang="en-US" sz="2800" b="1" dirty="0">
                <a:solidFill>
                  <a:schemeClr val="accent1">
                    <a:lumMod val="75000"/>
                  </a:schemeClr>
                </a:solidFill>
                <a:sym typeface="Symbol" charset="2"/>
              </a:rPr>
              <a:t>	   ; // busy wait</a:t>
            </a:r>
          </a:p>
          <a:p>
            <a:pPr marL="0" indent="0">
              <a:lnSpc>
                <a:spcPct val="70000"/>
              </a:lnSpc>
              <a:buFontTx/>
              <a:buNone/>
              <a:tabLst>
                <a:tab pos="1597025" algn="l"/>
                <a:tab pos="2576513" algn="l"/>
              </a:tabLst>
              <a:defRPr/>
            </a:pPr>
            <a:r>
              <a:rPr lang="en-US" altLang="en-US" sz="2800" b="1" dirty="0">
                <a:solidFill>
                  <a:schemeClr val="accent1">
                    <a:lumMod val="75000"/>
                  </a:schemeClr>
                </a:solidFill>
                <a:sym typeface="Symbol" charset="2"/>
              </a:rPr>
              <a:t>	S--;</a:t>
            </a:r>
            <a:endParaRPr lang="en-US" altLang="en-US" sz="1000" b="1" dirty="0">
              <a:solidFill>
                <a:schemeClr val="accent1">
                  <a:lumMod val="75000"/>
                </a:schemeClr>
              </a:solidFill>
              <a:sym typeface="Symbol" charset="2"/>
            </a:endParaRPr>
          </a:p>
          <a:p>
            <a:pPr>
              <a:tabLst>
                <a:tab pos="1597025" algn="l"/>
                <a:tab pos="2576513" algn="l"/>
              </a:tabLst>
              <a:defRPr/>
            </a:pPr>
            <a:r>
              <a:rPr lang="en-US" altLang="en-US" sz="2800" dirty="0">
                <a:solidFill>
                  <a:srgbClr val="FF0000"/>
                </a:solidFill>
                <a:sym typeface="Symbol" charset="2"/>
              </a:rPr>
              <a:t>S</a:t>
            </a:r>
            <a:r>
              <a:rPr lang="en-US" altLang="en-US" sz="2800" i="1" dirty="0">
                <a:solidFill>
                  <a:srgbClr val="FF0000"/>
                </a:solidFill>
                <a:sym typeface="Symbol" charset="2"/>
              </a:rPr>
              <a:t>ignal</a:t>
            </a:r>
            <a:r>
              <a:rPr lang="en-US" altLang="en-US" sz="2800" dirty="0">
                <a:solidFill>
                  <a:srgbClr val="FF0000"/>
                </a:solidFill>
                <a:sym typeface="Symbol" charset="2"/>
              </a:rPr>
              <a:t> (</a:t>
            </a:r>
            <a:r>
              <a:rPr lang="en-US" altLang="en-US" sz="2800" i="1" dirty="0">
                <a:solidFill>
                  <a:srgbClr val="FF0000"/>
                </a:solidFill>
                <a:sym typeface="Symbol" charset="2"/>
              </a:rPr>
              <a:t>S</a:t>
            </a:r>
            <a:r>
              <a:rPr lang="en-US" altLang="en-US" sz="2800" dirty="0">
                <a:solidFill>
                  <a:srgbClr val="FF0000"/>
                </a:solidFill>
                <a:sym typeface="Symbol" charset="2"/>
              </a:rPr>
              <a:t>):</a:t>
            </a:r>
            <a:r>
              <a:rPr lang="en-US" altLang="en-US" sz="2800" dirty="0">
                <a:sym typeface="Symbol" charset="2"/>
              </a:rPr>
              <a:t> </a:t>
            </a:r>
          </a:p>
          <a:p>
            <a:pPr marL="0" indent="0">
              <a:buFontTx/>
              <a:buNone/>
              <a:tabLst>
                <a:tab pos="1597025" algn="l"/>
                <a:tab pos="2576513" algn="l"/>
              </a:tabLst>
              <a:defRPr/>
            </a:pPr>
            <a:r>
              <a:rPr lang="en-US" altLang="en-US" sz="2800" i="1" dirty="0">
                <a:solidFill>
                  <a:srgbClr val="FF0000"/>
                </a:solidFill>
                <a:sym typeface="Symbol" charset="2"/>
              </a:rPr>
              <a:t>	</a:t>
            </a:r>
            <a:r>
              <a:rPr lang="en-US" altLang="en-US" sz="2800" b="1" i="1" dirty="0">
                <a:solidFill>
                  <a:schemeClr val="accent1">
                    <a:lumMod val="75000"/>
                  </a:schemeClr>
                </a:solidFill>
                <a:sym typeface="Symbol" charset="2"/>
              </a:rPr>
              <a:t>S++</a:t>
            </a:r>
            <a:r>
              <a:rPr lang="en-US" altLang="en-US" sz="2800" b="1" dirty="0">
                <a:solidFill>
                  <a:schemeClr val="accent1">
                    <a:lumMod val="75000"/>
                  </a:schemeClr>
                </a:solidFill>
                <a:sym typeface="Symbol" charset="2"/>
              </a:rPr>
              <a:t>;</a:t>
            </a:r>
          </a:p>
          <a:p>
            <a:pPr lvl="4">
              <a:lnSpc>
                <a:spcPct val="70000"/>
              </a:lnSpc>
              <a:tabLst>
                <a:tab pos="1597025" algn="l"/>
                <a:tab pos="2576513" algn="l"/>
              </a:tabLst>
              <a:defRPr/>
            </a:pPr>
            <a:endParaRPr lang="en-US" altLang="en-US" sz="2200" dirty="0"/>
          </a:p>
          <a:p>
            <a:pPr>
              <a:lnSpc>
                <a:spcPct val="70000"/>
              </a:lnSpc>
              <a:tabLst>
                <a:tab pos="1597025" algn="l"/>
                <a:tab pos="2576513" algn="l"/>
              </a:tabLst>
              <a:defRPr/>
            </a:pPr>
            <a:r>
              <a:rPr lang="en-US" altLang="en-US" sz="2800" dirty="0">
                <a:solidFill>
                  <a:srgbClr val="FF0000"/>
                </a:solidFill>
              </a:rPr>
              <a:t>Pros:</a:t>
            </a:r>
            <a:r>
              <a:rPr lang="en-US" altLang="en-US" sz="2800" dirty="0"/>
              <a:t> No context switch overhead (busy waiting)</a:t>
            </a:r>
          </a:p>
          <a:p>
            <a:pPr lvl="4">
              <a:lnSpc>
                <a:spcPct val="70000"/>
              </a:lnSpc>
              <a:tabLst>
                <a:tab pos="1597025" algn="l"/>
                <a:tab pos="2576513" algn="l"/>
              </a:tabLst>
              <a:defRPr/>
            </a:pPr>
            <a:endParaRPr lang="en-US" altLang="en-US" sz="2200" dirty="0"/>
          </a:p>
          <a:p>
            <a:pPr>
              <a:lnSpc>
                <a:spcPct val="70000"/>
              </a:lnSpc>
              <a:tabLst>
                <a:tab pos="1597025" algn="l"/>
                <a:tab pos="2576513" algn="l"/>
              </a:tabLst>
              <a:defRPr/>
            </a:pPr>
            <a:r>
              <a:rPr lang="en-US" altLang="en-US" sz="2800" dirty="0">
                <a:solidFill>
                  <a:srgbClr val="FF0000"/>
                </a:solidFill>
              </a:rPr>
              <a:t>Cons:</a:t>
            </a:r>
            <a:r>
              <a:rPr lang="en-US" altLang="en-US" sz="2800" dirty="0"/>
              <a:t> Inefficient if critical sections are long</a:t>
            </a:r>
          </a:p>
          <a:p>
            <a:pPr lvl="1">
              <a:lnSpc>
                <a:spcPct val="70000"/>
              </a:lnSpc>
              <a:tabLst>
                <a:tab pos="1597025" algn="l"/>
                <a:tab pos="2576513" algn="l"/>
              </a:tabLst>
              <a:defRPr/>
            </a:pPr>
            <a:r>
              <a:rPr lang="en-US" altLang="en-US" sz="2800" dirty="0"/>
              <a:t>Busy waiting wastes CPU cycles</a:t>
            </a:r>
          </a:p>
          <a:p>
            <a:pPr>
              <a:buFontTx/>
              <a:buNone/>
              <a:tabLst>
                <a:tab pos="1597025" algn="l"/>
                <a:tab pos="2576513" algn="l"/>
              </a:tabLst>
              <a:defRPr/>
            </a:pPr>
            <a:endParaRPr lang="en-US" altLang="en-US" sz="2800" dirty="0">
              <a:sym typeface="Symbol" charset="2"/>
            </a:endParaRPr>
          </a:p>
        </p:txBody>
      </p:sp>
      <p:sp>
        <p:nvSpPr>
          <p:cNvPr id="70661" name="TextBox 1">
            <a:extLst>
              <a:ext uri="{FF2B5EF4-FFF2-40B4-BE49-F238E27FC236}">
                <a16:creationId xmlns:a16="http://schemas.microsoft.com/office/drawing/2014/main" id="{FF63831A-18A4-4898-B16F-55D4810C2B47}"/>
              </a:ext>
            </a:extLst>
          </p:cNvPr>
          <p:cNvSpPr txBox="1">
            <a:spLocks noChangeArrowheads="1"/>
          </p:cNvSpPr>
          <p:nvPr/>
        </p:nvSpPr>
        <p:spPr bwMode="auto">
          <a:xfrm>
            <a:off x="5556250" y="1435100"/>
            <a:ext cx="25749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GB" altLang="en-US" b="1">
                <a:solidFill>
                  <a:srgbClr val="FF0000"/>
                </a:solidFill>
              </a:rPr>
              <a:t>Assembly for Wait(S):</a:t>
            </a:r>
            <a:endParaRPr lang="en-GB" altLang="en-US"/>
          </a:p>
          <a:p>
            <a:pPr>
              <a:spcBef>
                <a:spcPct val="0"/>
              </a:spcBef>
              <a:buSzTx/>
              <a:buFontTx/>
              <a:buNone/>
            </a:pPr>
            <a:r>
              <a:rPr lang="en-GB" altLang="en-US"/>
              <a:t>loop1: ldr ax, [S]</a:t>
            </a:r>
          </a:p>
          <a:p>
            <a:pPr>
              <a:spcBef>
                <a:spcPct val="0"/>
              </a:spcBef>
              <a:buSzTx/>
              <a:buFontTx/>
              <a:buNone/>
            </a:pPr>
            <a:r>
              <a:rPr lang="en-GB" altLang="en-US"/>
              <a:t>           cmp ax, 0</a:t>
            </a:r>
          </a:p>
          <a:p>
            <a:pPr>
              <a:spcBef>
                <a:spcPct val="0"/>
              </a:spcBef>
              <a:buSzTx/>
              <a:buFontTx/>
              <a:buNone/>
            </a:pPr>
            <a:r>
              <a:rPr lang="en-GB" altLang="en-US"/>
              <a:t>           jle loop1</a:t>
            </a:r>
          </a:p>
          <a:p>
            <a:pPr>
              <a:spcBef>
                <a:spcPct val="0"/>
              </a:spcBef>
              <a:buSzTx/>
              <a:buFontTx/>
              <a:buNone/>
            </a:pPr>
            <a:r>
              <a:rPr lang="en-GB" altLang="en-US"/>
              <a:t>           sub ax, 1</a:t>
            </a:r>
          </a:p>
          <a:p>
            <a:pPr>
              <a:spcBef>
                <a:spcPct val="0"/>
              </a:spcBef>
              <a:buSzTx/>
              <a:buFontTx/>
              <a:buNone/>
            </a:pPr>
            <a:r>
              <a:rPr lang="en-GB" altLang="en-US"/>
              <a:t>           str [S], ax </a:t>
            </a:r>
          </a:p>
        </p:txBody>
      </p:sp>
      <p:sp>
        <p:nvSpPr>
          <p:cNvPr id="70662" name="TextBox 6">
            <a:extLst>
              <a:ext uri="{FF2B5EF4-FFF2-40B4-BE49-F238E27FC236}">
                <a16:creationId xmlns:a16="http://schemas.microsoft.com/office/drawing/2014/main" id="{B1D9597C-60E2-4C38-8EE9-3C280C66A152}"/>
              </a:ext>
            </a:extLst>
          </p:cNvPr>
          <p:cNvSpPr txBox="1">
            <a:spLocks noChangeArrowheads="1"/>
          </p:cNvSpPr>
          <p:nvPr/>
        </p:nvSpPr>
        <p:spPr bwMode="auto">
          <a:xfrm>
            <a:off x="5449888" y="3554413"/>
            <a:ext cx="2787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GB" altLang="en-US" b="1">
                <a:solidFill>
                  <a:srgbClr val="FF0000"/>
                </a:solidFill>
              </a:rPr>
              <a:t>Assembly for Signal(S):</a:t>
            </a:r>
            <a:endParaRPr lang="en-GB" altLang="en-US"/>
          </a:p>
          <a:p>
            <a:pPr>
              <a:spcBef>
                <a:spcPct val="0"/>
              </a:spcBef>
              <a:buSzTx/>
              <a:buFontTx/>
              <a:buNone/>
            </a:pPr>
            <a:r>
              <a:rPr lang="en-GB" altLang="en-US"/>
              <a:t>           ldr ax, [S]	</a:t>
            </a:r>
          </a:p>
          <a:p>
            <a:pPr>
              <a:spcBef>
                <a:spcPct val="0"/>
              </a:spcBef>
              <a:buSzTx/>
              <a:buFontTx/>
              <a:buNone/>
            </a:pPr>
            <a:r>
              <a:rPr lang="en-GB" altLang="en-US"/>
              <a:t>           add ax, 1</a:t>
            </a:r>
          </a:p>
          <a:p>
            <a:pPr>
              <a:spcBef>
                <a:spcPct val="0"/>
              </a:spcBef>
              <a:buSzTx/>
              <a:buFontTx/>
              <a:buNone/>
            </a:pPr>
            <a:r>
              <a:rPr lang="en-GB" altLang="en-US"/>
              <a:t>           str [S], ax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3">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oter Placeholder 3">
            <a:extLst>
              <a:ext uri="{FF2B5EF4-FFF2-40B4-BE49-F238E27FC236}">
                <a16:creationId xmlns:a16="http://schemas.microsoft.com/office/drawing/2014/main" id="{44B66FEB-C45E-467D-BA94-0DF21FC146D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1507" name="Rectangle 2">
            <a:extLst>
              <a:ext uri="{FF2B5EF4-FFF2-40B4-BE49-F238E27FC236}">
                <a16:creationId xmlns:a16="http://schemas.microsoft.com/office/drawing/2014/main" id="{FFF70163-8710-4B64-88D8-3C28E44A1C55}"/>
              </a:ext>
            </a:extLst>
          </p:cNvPr>
          <p:cNvSpPr>
            <a:spLocks noChangeArrowheads="1"/>
          </p:cNvSpPr>
          <p:nvPr/>
        </p:nvSpPr>
        <p:spPr bwMode="auto">
          <a:xfrm>
            <a:off x="684213" y="225425"/>
            <a:ext cx="7831137" cy="1042988"/>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2707" name="Rectangle 3">
            <a:extLst>
              <a:ext uri="{FF2B5EF4-FFF2-40B4-BE49-F238E27FC236}">
                <a16:creationId xmlns:a16="http://schemas.microsoft.com/office/drawing/2014/main" id="{F2D82C2C-C881-4B6B-BA12-FB4A189B1478}"/>
              </a:ext>
            </a:extLst>
          </p:cNvPr>
          <p:cNvSpPr>
            <a:spLocks noGrp="1" noChangeArrowheads="1"/>
          </p:cNvSpPr>
          <p:nvPr>
            <p:ph type="title"/>
          </p:nvPr>
        </p:nvSpPr>
        <p:spPr/>
        <p:txBody>
          <a:bodyPr/>
          <a:lstStyle/>
          <a:p>
            <a:r>
              <a:rPr lang="en-US" altLang="en-US"/>
              <a:t>Busy Waiting Semaphore</a:t>
            </a:r>
            <a:br>
              <a:rPr lang="en-US" altLang="en-US"/>
            </a:br>
            <a:r>
              <a:rPr lang="en-US" altLang="en-US"/>
              <a:t>(Property Analysis)</a:t>
            </a:r>
          </a:p>
        </p:txBody>
      </p:sp>
      <p:sp>
        <p:nvSpPr>
          <p:cNvPr id="54276" name="Rectangle 4">
            <a:extLst>
              <a:ext uri="{FF2B5EF4-FFF2-40B4-BE49-F238E27FC236}">
                <a16:creationId xmlns:a16="http://schemas.microsoft.com/office/drawing/2014/main" id="{16971041-AFFC-4B8A-ADB8-C02BFD100020}"/>
              </a:ext>
            </a:extLst>
          </p:cNvPr>
          <p:cNvSpPr>
            <a:spLocks noGrp="1" noChangeArrowheads="1"/>
          </p:cNvSpPr>
          <p:nvPr>
            <p:ph type="body" idx="1"/>
          </p:nvPr>
        </p:nvSpPr>
        <p:spPr>
          <a:xfrm>
            <a:off x="134938" y="1414463"/>
            <a:ext cx="5916612" cy="5032375"/>
          </a:xfrm>
        </p:spPr>
        <p:txBody>
          <a:bodyPr/>
          <a:lstStyle/>
          <a:p>
            <a:pPr marL="457200" indent="-457200">
              <a:buFont typeface="+mj-lt"/>
              <a:buAutoNum type="arabicPeriod"/>
              <a:tabLst>
                <a:tab pos="2005013" algn="l"/>
                <a:tab pos="2339975" algn="l"/>
                <a:tab pos="2630488" algn="l"/>
              </a:tabLst>
              <a:defRPr/>
            </a:pPr>
            <a:r>
              <a:rPr lang="en-US" altLang="en-US" sz="2400" dirty="0">
                <a:solidFill>
                  <a:srgbClr val="FF0000"/>
                </a:solidFill>
              </a:rPr>
              <a:t>To avoid race condition, S++ and S-- must be atomic</a:t>
            </a:r>
          </a:p>
          <a:p>
            <a:pPr marL="457200" indent="-457200">
              <a:buFont typeface="+mj-lt"/>
              <a:buAutoNum type="arabicPeriod"/>
              <a:tabLst>
                <a:tab pos="2005013" algn="l"/>
                <a:tab pos="2339975" algn="l"/>
                <a:tab pos="2630488" algn="l"/>
              </a:tabLst>
              <a:defRPr/>
            </a:pPr>
            <a:r>
              <a:rPr lang="en-US" altLang="en-US" sz="2400" dirty="0">
                <a:solidFill>
                  <a:srgbClr val="FF0000"/>
                </a:solidFill>
              </a:rPr>
              <a:t>Wait(S) must be atomic to ensure mutual exclusion</a:t>
            </a:r>
            <a:endParaRPr lang="en-US" altLang="en-US" sz="2400" dirty="0"/>
          </a:p>
          <a:p>
            <a:pPr marL="819150" lvl="1" indent="-304800">
              <a:tabLst>
                <a:tab pos="2005013" algn="l"/>
                <a:tab pos="2339975" algn="l"/>
                <a:tab pos="2630488" algn="l"/>
              </a:tabLst>
              <a:defRPr/>
            </a:pPr>
            <a:r>
              <a:rPr lang="en-US" altLang="en-US" sz="2000" dirty="0">
                <a:sym typeface="Wingdings"/>
              </a:rPr>
              <a:t>Consider the following with </a:t>
            </a:r>
            <a:r>
              <a:rPr lang="en-US" altLang="en-US" sz="2000" dirty="0"/>
              <a:t>S&gt;0 initially</a:t>
            </a:r>
          </a:p>
          <a:p>
            <a:pPr marL="1220788" lvl="2" indent="-306388">
              <a:buFont typeface="+mj-lt"/>
              <a:buAutoNum type="arabicPeriod"/>
              <a:tabLst>
                <a:tab pos="2005013" algn="l"/>
                <a:tab pos="2339975" algn="l"/>
                <a:tab pos="2630488" algn="l"/>
              </a:tabLst>
              <a:defRPr/>
            </a:pPr>
            <a:r>
              <a:rPr lang="en-US" altLang="en-US" sz="2000" i="0" dirty="0"/>
              <a:t>Process P</a:t>
            </a:r>
            <a:r>
              <a:rPr lang="en-US" altLang="en-US" sz="2000" i="0" baseline="-25000" dirty="0"/>
              <a:t>0</a:t>
            </a:r>
            <a:r>
              <a:rPr lang="en-US" altLang="en-US" sz="2000" i="0" dirty="0"/>
              <a:t> executes </a:t>
            </a:r>
            <a:r>
              <a:rPr lang="en-US" altLang="en-US" sz="2000" b="1" i="0" dirty="0">
                <a:solidFill>
                  <a:schemeClr val="accent1">
                    <a:lumMod val="75000"/>
                  </a:schemeClr>
                </a:solidFill>
              </a:rPr>
              <a:t>while (S </a:t>
            </a:r>
            <a:r>
              <a:rPr lang="en-US" altLang="en-US" sz="2000" b="1" i="0" dirty="0">
                <a:solidFill>
                  <a:schemeClr val="accent1">
                    <a:lumMod val="75000"/>
                  </a:schemeClr>
                </a:solidFill>
                <a:sym typeface="Symbol" charset="2"/>
              </a:rPr>
              <a:t>&lt;= 0); </a:t>
            </a:r>
            <a:r>
              <a:rPr lang="en-US" altLang="en-US" sz="2000" i="0" dirty="0">
                <a:sym typeface="Symbol" charset="2"/>
              </a:rPr>
              <a:t>and exits busy wait</a:t>
            </a:r>
          </a:p>
          <a:p>
            <a:pPr marL="1220788" lvl="2" indent="-306388">
              <a:buFont typeface="+mj-lt"/>
              <a:buAutoNum type="arabicPeriod"/>
              <a:tabLst>
                <a:tab pos="2005013" algn="l"/>
                <a:tab pos="2339975" algn="l"/>
                <a:tab pos="2630488" algn="l"/>
              </a:tabLst>
              <a:defRPr/>
            </a:pPr>
            <a:r>
              <a:rPr lang="en-US" altLang="en-US" sz="2000" b="1" i="0" dirty="0">
                <a:sym typeface="Symbol" charset="2"/>
              </a:rPr>
              <a:t>Context switch from P</a:t>
            </a:r>
            <a:r>
              <a:rPr lang="en-US" altLang="en-US" sz="2000" b="1" i="0" baseline="-25000" dirty="0">
                <a:sym typeface="Symbol" charset="2"/>
              </a:rPr>
              <a:t>0</a:t>
            </a:r>
            <a:r>
              <a:rPr lang="en-US" altLang="en-US" sz="2000" b="1" i="0" dirty="0">
                <a:sym typeface="Symbol" charset="2"/>
              </a:rPr>
              <a:t> to P</a:t>
            </a:r>
            <a:r>
              <a:rPr lang="en-US" altLang="en-US" sz="2000" b="1" i="0" baseline="-25000" dirty="0">
                <a:sym typeface="Symbol" charset="2"/>
              </a:rPr>
              <a:t>1</a:t>
            </a:r>
          </a:p>
          <a:p>
            <a:pPr marL="1220788" lvl="2" indent="-306388">
              <a:buFont typeface="+mj-lt"/>
              <a:buAutoNum type="arabicPeriod"/>
              <a:tabLst>
                <a:tab pos="2005013" algn="l"/>
                <a:tab pos="2339975" algn="l"/>
                <a:tab pos="2630488" algn="l"/>
              </a:tabLst>
              <a:defRPr/>
            </a:pPr>
            <a:r>
              <a:rPr lang="en-US" altLang="en-US" sz="2000" i="0" dirty="0">
                <a:sym typeface="Symbol" charset="2"/>
              </a:rPr>
              <a:t>Process P</a:t>
            </a:r>
            <a:r>
              <a:rPr lang="en-US" altLang="en-US" sz="2000" i="0" baseline="-25000" dirty="0">
                <a:sym typeface="Symbol" charset="2"/>
              </a:rPr>
              <a:t>1</a:t>
            </a:r>
            <a:r>
              <a:rPr lang="en-US" altLang="en-US" sz="2000" i="0" dirty="0">
                <a:sym typeface="Symbol" charset="2"/>
              </a:rPr>
              <a:t> executes </a:t>
            </a:r>
            <a:r>
              <a:rPr lang="en-US" altLang="en-US" sz="2000" b="1" i="0" dirty="0">
                <a:solidFill>
                  <a:schemeClr val="accent1">
                    <a:lumMod val="75000"/>
                  </a:schemeClr>
                </a:solidFill>
              </a:rPr>
              <a:t>while (S </a:t>
            </a:r>
            <a:r>
              <a:rPr lang="en-US" altLang="en-US" sz="2000" b="1" i="0" dirty="0">
                <a:solidFill>
                  <a:schemeClr val="accent1">
                    <a:lumMod val="75000"/>
                  </a:schemeClr>
                </a:solidFill>
                <a:sym typeface="Symbol" charset="2"/>
              </a:rPr>
              <a:t>&lt;= 0); </a:t>
            </a:r>
            <a:r>
              <a:rPr lang="en-US" altLang="en-US" sz="2000" i="0" dirty="0">
                <a:sym typeface="Symbol" charset="2"/>
              </a:rPr>
              <a:t>and </a:t>
            </a:r>
            <a:r>
              <a:rPr lang="en-US" altLang="en-US" sz="2000" b="1" i="0" dirty="0">
                <a:solidFill>
                  <a:schemeClr val="accent1">
                    <a:lumMod val="75000"/>
                  </a:schemeClr>
                </a:solidFill>
                <a:sym typeface="Symbol" charset="2"/>
              </a:rPr>
              <a:t>S--;</a:t>
            </a:r>
          </a:p>
          <a:p>
            <a:pPr marL="1220788" lvl="2" indent="-306388">
              <a:buFont typeface="+mj-lt"/>
              <a:buAutoNum type="arabicPeriod"/>
              <a:tabLst>
                <a:tab pos="2005013" algn="l"/>
                <a:tab pos="2339975" algn="l"/>
                <a:tab pos="2630488" algn="l"/>
              </a:tabLst>
              <a:defRPr/>
            </a:pPr>
            <a:r>
              <a:rPr lang="en-US" altLang="en-US" sz="2000" b="1" i="0" dirty="0">
                <a:sym typeface="Symbol" charset="2"/>
              </a:rPr>
              <a:t>Context switch from P</a:t>
            </a:r>
            <a:r>
              <a:rPr lang="en-US" altLang="en-US" sz="2000" b="1" i="0" baseline="-25000" dirty="0">
                <a:sym typeface="Symbol" charset="2"/>
              </a:rPr>
              <a:t>1</a:t>
            </a:r>
            <a:r>
              <a:rPr lang="en-US" altLang="en-US" sz="2000" b="1" i="0" dirty="0">
                <a:sym typeface="Symbol" charset="2"/>
              </a:rPr>
              <a:t> to P</a:t>
            </a:r>
            <a:r>
              <a:rPr lang="en-US" altLang="en-US" sz="2000" b="1" i="0" baseline="-25000" dirty="0">
                <a:sym typeface="Symbol" charset="2"/>
              </a:rPr>
              <a:t>0</a:t>
            </a:r>
          </a:p>
          <a:p>
            <a:pPr marL="1220788" lvl="2" indent="-306388">
              <a:buFont typeface="+mj-lt"/>
              <a:buAutoNum type="arabicPeriod"/>
              <a:tabLst>
                <a:tab pos="2005013" algn="l"/>
                <a:tab pos="2339975" algn="l"/>
                <a:tab pos="2630488" algn="l"/>
              </a:tabLst>
              <a:defRPr/>
            </a:pPr>
            <a:r>
              <a:rPr lang="en-US" altLang="en-US" sz="2000" i="0" dirty="0">
                <a:sym typeface="Symbol" charset="2"/>
              </a:rPr>
              <a:t>Process P</a:t>
            </a:r>
            <a:r>
              <a:rPr lang="en-US" altLang="en-US" sz="2000" i="0" baseline="-25000" dirty="0">
                <a:sym typeface="Symbol" charset="2"/>
              </a:rPr>
              <a:t>0</a:t>
            </a:r>
            <a:r>
              <a:rPr lang="en-US" altLang="en-US" sz="2000" i="0" dirty="0">
                <a:sym typeface="Symbol" charset="2"/>
              </a:rPr>
              <a:t> executes </a:t>
            </a:r>
            <a:r>
              <a:rPr lang="en-US" altLang="en-US" sz="2000" b="1" i="0" dirty="0">
                <a:solidFill>
                  <a:schemeClr val="accent1">
                    <a:lumMod val="75000"/>
                  </a:schemeClr>
                </a:solidFill>
                <a:sym typeface="Symbol" charset="2"/>
              </a:rPr>
              <a:t>S--;</a:t>
            </a:r>
          </a:p>
          <a:p>
            <a:pPr marL="1220788" lvl="2" indent="-306388">
              <a:buFont typeface="+mj-lt"/>
              <a:buAutoNum type="arabicPeriod"/>
              <a:tabLst>
                <a:tab pos="2005013" algn="l"/>
                <a:tab pos="2339975" algn="l"/>
                <a:tab pos="2630488" algn="l"/>
              </a:tabLst>
              <a:defRPr/>
            </a:pPr>
            <a:r>
              <a:rPr lang="en-US" altLang="en-US" dirty="0">
                <a:solidFill>
                  <a:schemeClr val="accent2"/>
                </a:solidFill>
              </a:rPr>
              <a:t>Mutual Exclusion? </a:t>
            </a:r>
            <a:r>
              <a:rPr lang="en-US" altLang="en-US" b="1" dirty="0">
                <a:solidFill>
                  <a:srgbClr val="FF0000"/>
                </a:solidFill>
                <a:sym typeface="Wingdings"/>
              </a:rPr>
              <a:t></a:t>
            </a:r>
            <a:endParaRPr lang="en-US" altLang="en-US" sz="2800" dirty="0">
              <a:solidFill>
                <a:srgbClr val="FF0000"/>
              </a:solidFill>
            </a:endParaRPr>
          </a:p>
        </p:txBody>
      </p:sp>
      <p:sp>
        <p:nvSpPr>
          <p:cNvPr id="72709" name="TextBox 8">
            <a:extLst>
              <a:ext uri="{FF2B5EF4-FFF2-40B4-BE49-F238E27FC236}">
                <a16:creationId xmlns:a16="http://schemas.microsoft.com/office/drawing/2014/main" id="{43E15A9D-0B41-4E51-81E1-C8C6BC2255F1}"/>
              </a:ext>
            </a:extLst>
          </p:cNvPr>
          <p:cNvSpPr txBox="1">
            <a:spLocks noChangeArrowheads="1"/>
          </p:cNvSpPr>
          <p:nvPr/>
        </p:nvSpPr>
        <p:spPr bwMode="auto">
          <a:xfrm>
            <a:off x="5811838" y="2101850"/>
            <a:ext cx="25749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GB" altLang="en-US" b="1">
                <a:solidFill>
                  <a:srgbClr val="FF0000"/>
                </a:solidFill>
              </a:rPr>
              <a:t>Assembly for Wait(S):</a:t>
            </a:r>
            <a:endParaRPr lang="en-GB" altLang="en-US"/>
          </a:p>
          <a:p>
            <a:pPr>
              <a:spcBef>
                <a:spcPct val="0"/>
              </a:spcBef>
              <a:buSzTx/>
              <a:buFontTx/>
              <a:buNone/>
            </a:pPr>
            <a:r>
              <a:rPr lang="en-GB" altLang="en-US"/>
              <a:t>loop1: ldr ax, [S]</a:t>
            </a:r>
          </a:p>
          <a:p>
            <a:pPr>
              <a:spcBef>
                <a:spcPct val="0"/>
              </a:spcBef>
              <a:buSzTx/>
              <a:buFontTx/>
              <a:buNone/>
            </a:pPr>
            <a:r>
              <a:rPr lang="en-GB" altLang="en-US"/>
              <a:t>           cmp ax, 0</a:t>
            </a:r>
          </a:p>
          <a:p>
            <a:pPr>
              <a:spcBef>
                <a:spcPct val="0"/>
              </a:spcBef>
              <a:buSzTx/>
              <a:buFontTx/>
              <a:buNone/>
            </a:pPr>
            <a:r>
              <a:rPr lang="en-GB" altLang="en-US"/>
              <a:t>           jle loop1</a:t>
            </a:r>
          </a:p>
          <a:p>
            <a:pPr>
              <a:spcBef>
                <a:spcPct val="0"/>
              </a:spcBef>
              <a:buSzTx/>
              <a:buFontTx/>
              <a:buNone/>
            </a:pPr>
            <a:r>
              <a:rPr lang="en-GB" altLang="en-US"/>
              <a:t>           sub ax, 1</a:t>
            </a:r>
          </a:p>
          <a:p>
            <a:pPr>
              <a:spcBef>
                <a:spcPct val="0"/>
              </a:spcBef>
              <a:buSzTx/>
              <a:buFontTx/>
              <a:buNone/>
            </a:pPr>
            <a:r>
              <a:rPr lang="en-GB" altLang="en-US"/>
              <a:t>           str [S], ax </a:t>
            </a:r>
          </a:p>
        </p:txBody>
      </p:sp>
      <p:sp>
        <p:nvSpPr>
          <p:cNvPr id="72710" name="TextBox 9">
            <a:extLst>
              <a:ext uri="{FF2B5EF4-FFF2-40B4-BE49-F238E27FC236}">
                <a16:creationId xmlns:a16="http://schemas.microsoft.com/office/drawing/2014/main" id="{90381A26-F990-449E-90DF-EC1ABD12DB29}"/>
              </a:ext>
            </a:extLst>
          </p:cNvPr>
          <p:cNvSpPr txBox="1">
            <a:spLocks noChangeArrowheads="1"/>
          </p:cNvSpPr>
          <p:nvPr/>
        </p:nvSpPr>
        <p:spPr bwMode="auto">
          <a:xfrm>
            <a:off x="5705475" y="4222750"/>
            <a:ext cx="2787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GB" altLang="en-US" b="1">
                <a:solidFill>
                  <a:srgbClr val="FF0000"/>
                </a:solidFill>
              </a:rPr>
              <a:t>Assembly for Signal(S):</a:t>
            </a:r>
            <a:endParaRPr lang="en-GB" altLang="en-US"/>
          </a:p>
          <a:p>
            <a:pPr>
              <a:spcBef>
                <a:spcPct val="0"/>
              </a:spcBef>
              <a:buSzTx/>
              <a:buFontTx/>
              <a:buNone/>
            </a:pPr>
            <a:r>
              <a:rPr lang="en-GB" altLang="en-US"/>
              <a:t>           ldr ax, [S]	</a:t>
            </a:r>
          </a:p>
          <a:p>
            <a:pPr>
              <a:spcBef>
                <a:spcPct val="0"/>
              </a:spcBef>
              <a:buSzTx/>
              <a:buFontTx/>
              <a:buNone/>
            </a:pPr>
            <a:r>
              <a:rPr lang="en-GB" altLang="en-US"/>
              <a:t>           add ax, 1</a:t>
            </a:r>
          </a:p>
          <a:p>
            <a:pPr>
              <a:spcBef>
                <a:spcPct val="0"/>
              </a:spcBef>
              <a:buSzTx/>
              <a:buFontTx/>
              <a:buNone/>
            </a:pPr>
            <a:r>
              <a:rPr lang="en-GB" altLang="en-US"/>
              <a:t>           str [S], ax </a:t>
            </a:r>
          </a:p>
        </p:txBody>
      </p:sp>
      <p:sp>
        <p:nvSpPr>
          <p:cNvPr id="3" name="Rectangle 2">
            <a:extLst>
              <a:ext uri="{FF2B5EF4-FFF2-40B4-BE49-F238E27FC236}">
                <a16:creationId xmlns:a16="http://schemas.microsoft.com/office/drawing/2014/main" id="{B0B1AD49-C728-44D3-8CC8-0D7A177017F9}"/>
              </a:ext>
            </a:extLst>
          </p:cNvPr>
          <p:cNvSpPr/>
          <p:nvPr/>
        </p:nvSpPr>
        <p:spPr>
          <a:xfrm>
            <a:off x="7739063" y="2662238"/>
            <a:ext cx="1404937" cy="307975"/>
          </a:xfrm>
          <a:prstGeom prst="rect">
            <a:avLst/>
          </a:prstGeom>
        </p:spPr>
        <p:txBody>
          <a:bodyPr>
            <a:spAutoFit/>
          </a:bodyPr>
          <a:lstStyle/>
          <a:p>
            <a:pPr>
              <a:defRPr/>
            </a:pPr>
            <a:r>
              <a:rPr lang="en-US" altLang="en-US" sz="1400" b="1" dirty="0">
                <a:solidFill>
                  <a:schemeClr val="accent1">
                    <a:lumMod val="75000"/>
                  </a:schemeClr>
                </a:solidFill>
                <a:latin typeface="Helvetica" charset="0"/>
              </a:rPr>
              <a:t>while (</a:t>
            </a:r>
            <a:r>
              <a:rPr lang="en-US" altLang="en-US" sz="1400" b="1" i="1" dirty="0">
                <a:solidFill>
                  <a:schemeClr val="accent1">
                    <a:lumMod val="75000"/>
                  </a:schemeClr>
                </a:solidFill>
                <a:latin typeface="Helvetica" charset="0"/>
              </a:rPr>
              <a:t>S </a:t>
            </a:r>
            <a:r>
              <a:rPr lang="en-US" altLang="en-US" sz="1400" b="1" dirty="0">
                <a:solidFill>
                  <a:schemeClr val="accent1">
                    <a:lumMod val="75000"/>
                  </a:schemeClr>
                </a:solidFill>
                <a:latin typeface="Helvetica" charset="0"/>
                <a:sym typeface="Symbol" charset="2"/>
              </a:rPr>
              <a:t>&lt;= 0);</a:t>
            </a:r>
            <a:endParaRPr lang="en-GB" sz="1400" dirty="0">
              <a:latin typeface="Helvetica" charset="0"/>
            </a:endParaRPr>
          </a:p>
        </p:txBody>
      </p:sp>
      <p:sp>
        <p:nvSpPr>
          <p:cNvPr id="12" name="Rectangle 11">
            <a:extLst>
              <a:ext uri="{FF2B5EF4-FFF2-40B4-BE49-F238E27FC236}">
                <a16:creationId xmlns:a16="http://schemas.microsoft.com/office/drawing/2014/main" id="{42FD23E9-C0D2-4B02-A870-FC97CCB80796}"/>
              </a:ext>
            </a:extLst>
          </p:cNvPr>
          <p:cNvSpPr/>
          <p:nvPr/>
        </p:nvSpPr>
        <p:spPr>
          <a:xfrm>
            <a:off x="7739063" y="3373438"/>
            <a:ext cx="1404937" cy="307975"/>
          </a:xfrm>
          <a:prstGeom prst="rect">
            <a:avLst/>
          </a:prstGeom>
        </p:spPr>
        <p:txBody>
          <a:bodyPr>
            <a:spAutoFit/>
          </a:bodyPr>
          <a:lstStyle/>
          <a:p>
            <a:pPr>
              <a:defRPr/>
            </a:pPr>
            <a:r>
              <a:rPr lang="en-US" altLang="en-US" sz="1400" b="1" dirty="0">
                <a:solidFill>
                  <a:schemeClr val="accent1">
                    <a:lumMod val="75000"/>
                  </a:schemeClr>
                </a:solidFill>
                <a:latin typeface="Helvetica" charset="0"/>
              </a:rPr>
              <a:t>S--;</a:t>
            </a:r>
            <a:endParaRPr lang="en-GB" sz="1400" dirty="0">
              <a:latin typeface="Helvetica" charset="0"/>
            </a:endParaRPr>
          </a:p>
        </p:txBody>
      </p:sp>
      <p:sp>
        <p:nvSpPr>
          <p:cNvPr id="13" name="Rectangle 12">
            <a:extLst>
              <a:ext uri="{FF2B5EF4-FFF2-40B4-BE49-F238E27FC236}">
                <a16:creationId xmlns:a16="http://schemas.microsoft.com/office/drawing/2014/main" id="{33F91A40-438A-4222-B14D-9D383B66ADD3}"/>
              </a:ext>
            </a:extLst>
          </p:cNvPr>
          <p:cNvSpPr/>
          <p:nvPr/>
        </p:nvSpPr>
        <p:spPr>
          <a:xfrm>
            <a:off x="7739063" y="4830763"/>
            <a:ext cx="1404937" cy="307975"/>
          </a:xfrm>
          <a:prstGeom prst="rect">
            <a:avLst/>
          </a:prstGeom>
        </p:spPr>
        <p:txBody>
          <a:bodyPr>
            <a:spAutoFit/>
          </a:bodyPr>
          <a:lstStyle/>
          <a:p>
            <a:pPr>
              <a:defRPr/>
            </a:pPr>
            <a:r>
              <a:rPr lang="en-US" altLang="en-US" sz="1400" b="1" dirty="0">
                <a:solidFill>
                  <a:schemeClr val="accent1">
                    <a:lumMod val="75000"/>
                  </a:schemeClr>
                </a:solidFill>
                <a:latin typeface="Helvetica" charset="0"/>
              </a:rPr>
              <a:t>S++;</a:t>
            </a:r>
            <a:endParaRPr lang="en-GB" sz="1400" dirty="0">
              <a:latin typeface="Helvetica" charset="0"/>
            </a:endParaRPr>
          </a:p>
        </p:txBody>
      </p:sp>
      <p:sp>
        <p:nvSpPr>
          <p:cNvPr id="4" name="Right Brace 3">
            <a:extLst>
              <a:ext uri="{FF2B5EF4-FFF2-40B4-BE49-F238E27FC236}">
                <a16:creationId xmlns:a16="http://schemas.microsoft.com/office/drawing/2014/main" id="{E2C27E4B-F287-411C-8A69-9F864CB81486}"/>
              </a:ext>
            </a:extLst>
          </p:cNvPr>
          <p:cNvSpPr/>
          <p:nvPr/>
        </p:nvSpPr>
        <p:spPr bwMode="auto">
          <a:xfrm>
            <a:off x="7588250" y="2527300"/>
            <a:ext cx="150813" cy="614363"/>
          </a:xfrm>
          <a:prstGeom prst="rightBrace">
            <a:avLst/>
          </a:prstGeom>
          <a:solidFill>
            <a:schemeClr val="bg1"/>
          </a:solidFill>
          <a:ln w="254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endParaRPr lang="en-GB"/>
          </a:p>
        </p:txBody>
      </p:sp>
      <p:sp>
        <p:nvSpPr>
          <p:cNvPr id="15" name="Right Brace 14">
            <a:extLst>
              <a:ext uri="{FF2B5EF4-FFF2-40B4-BE49-F238E27FC236}">
                <a16:creationId xmlns:a16="http://schemas.microsoft.com/office/drawing/2014/main" id="{F721D70D-0DF9-4977-8E15-891A623622C7}"/>
              </a:ext>
            </a:extLst>
          </p:cNvPr>
          <p:cNvSpPr/>
          <p:nvPr/>
        </p:nvSpPr>
        <p:spPr bwMode="auto">
          <a:xfrm>
            <a:off x="7588250" y="3346450"/>
            <a:ext cx="150813" cy="330200"/>
          </a:xfrm>
          <a:prstGeom prst="rightBrace">
            <a:avLst/>
          </a:prstGeom>
          <a:solidFill>
            <a:schemeClr val="bg1"/>
          </a:solidFill>
          <a:ln w="254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endParaRPr lang="en-GB"/>
          </a:p>
        </p:txBody>
      </p:sp>
      <p:sp>
        <p:nvSpPr>
          <p:cNvPr id="16" name="Right Brace 15">
            <a:extLst>
              <a:ext uri="{FF2B5EF4-FFF2-40B4-BE49-F238E27FC236}">
                <a16:creationId xmlns:a16="http://schemas.microsoft.com/office/drawing/2014/main" id="{D71CE994-ADA4-4151-860A-20D213ABAB9F}"/>
              </a:ext>
            </a:extLst>
          </p:cNvPr>
          <p:cNvSpPr/>
          <p:nvPr/>
        </p:nvSpPr>
        <p:spPr bwMode="auto">
          <a:xfrm>
            <a:off x="7588250" y="4691063"/>
            <a:ext cx="150813" cy="612775"/>
          </a:xfrm>
          <a:prstGeom prst="rightBrace">
            <a:avLst/>
          </a:prstGeom>
          <a:solidFill>
            <a:schemeClr val="bg1"/>
          </a:solidFill>
          <a:ln w="254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27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27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27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3FC4-1A74-2041-BCBD-872CA5116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AAF40-22E4-CFC9-83CD-C719504E1DAB}"/>
              </a:ext>
            </a:extLst>
          </p:cNvPr>
          <p:cNvSpPr>
            <a:spLocks noGrp="1"/>
          </p:cNvSpPr>
          <p:nvPr>
            <p:ph type="title"/>
          </p:nvPr>
        </p:nvSpPr>
        <p:spPr/>
        <p:txBody>
          <a:bodyPr/>
          <a:lstStyle/>
          <a:p>
            <a:r>
              <a:rPr lang="en-US" dirty="0"/>
              <a:t>Semaphore Understanding</a:t>
            </a:r>
          </a:p>
        </p:txBody>
      </p:sp>
      <p:sp>
        <p:nvSpPr>
          <p:cNvPr id="4" name="Footer Placeholder 3">
            <a:extLst>
              <a:ext uri="{FF2B5EF4-FFF2-40B4-BE49-F238E27FC236}">
                <a16:creationId xmlns:a16="http://schemas.microsoft.com/office/drawing/2014/main" id="{D72BB434-5728-8A25-034A-EFFF55045EAA}"/>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B4BA822F-D8FF-051A-2DB1-02C260F6611C}"/>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B4BA822F-D8FF-051A-2DB1-02C260F6611C}"/>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2439369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Footer Placeholder 3">
            <a:extLst>
              <a:ext uri="{FF2B5EF4-FFF2-40B4-BE49-F238E27FC236}">
                <a16:creationId xmlns:a16="http://schemas.microsoft.com/office/drawing/2014/main" id="{38F2DED4-354C-4B9F-86CD-90969778F9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8675" name="Rectangle 4">
            <a:extLst>
              <a:ext uri="{FF2B5EF4-FFF2-40B4-BE49-F238E27FC236}">
                <a16:creationId xmlns:a16="http://schemas.microsoft.com/office/drawing/2014/main" id="{16134DBF-88D3-448E-8404-FEE199AECF31}"/>
              </a:ext>
            </a:extLst>
          </p:cNvPr>
          <p:cNvSpPr>
            <a:spLocks noChangeArrowheads="1"/>
          </p:cNvSpPr>
          <p:nvPr/>
        </p:nvSpPr>
        <p:spPr bwMode="auto">
          <a:xfrm>
            <a:off x="665163" y="265113"/>
            <a:ext cx="7831137" cy="963612"/>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4755" name="Rectangle 2">
            <a:extLst>
              <a:ext uri="{FF2B5EF4-FFF2-40B4-BE49-F238E27FC236}">
                <a16:creationId xmlns:a16="http://schemas.microsoft.com/office/drawing/2014/main" id="{464F0F55-D445-4F13-8370-EAB89C8B8D2B}"/>
              </a:ext>
            </a:extLst>
          </p:cNvPr>
          <p:cNvSpPr>
            <a:spLocks noGrp="1" noChangeArrowheads="1"/>
          </p:cNvSpPr>
          <p:nvPr>
            <p:ph type="title"/>
          </p:nvPr>
        </p:nvSpPr>
        <p:spPr>
          <a:xfrm>
            <a:off x="569913" y="495300"/>
            <a:ext cx="7945437" cy="457200"/>
          </a:xfrm>
        </p:spPr>
        <p:txBody>
          <a:bodyPr/>
          <a:lstStyle/>
          <a:p>
            <a:r>
              <a:rPr lang="en-US" altLang="en-US" sz="2700"/>
              <a:t>Current Semaphore Implementation </a:t>
            </a:r>
            <a:br>
              <a:rPr lang="en-US" altLang="en-US" sz="2700"/>
            </a:br>
            <a:r>
              <a:rPr lang="en-US" altLang="en-US" sz="2700"/>
              <a:t>(</a:t>
            </a:r>
            <a:r>
              <a:rPr lang="en-US" altLang="en-US" sz="2700">
                <a:solidFill>
                  <a:schemeClr val="tx1"/>
                </a:solidFill>
              </a:rPr>
              <a:t>Blocking)</a:t>
            </a:r>
          </a:p>
        </p:txBody>
      </p:sp>
      <p:sp>
        <p:nvSpPr>
          <p:cNvPr id="28677" name="Rectangle 3">
            <a:extLst>
              <a:ext uri="{FF2B5EF4-FFF2-40B4-BE49-F238E27FC236}">
                <a16:creationId xmlns:a16="http://schemas.microsoft.com/office/drawing/2014/main" id="{F27CA28B-5B4A-459D-95EA-25A9BF8F2696}"/>
              </a:ext>
            </a:extLst>
          </p:cNvPr>
          <p:cNvSpPr>
            <a:spLocks noGrp="1" noChangeArrowheads="1"/>
          </p:cNvSpPr>
          <p:nvPr>
            <p:ph type="body" idx="1"/>
          </p:nvPr>
        </p:nvSpPr>
        <p:spPr>
          <a:xfrm>
            <a:off x="401638" y="1465263"/>
            <a:ext cx="8232775" cy="4910137"/>
          </a:xfrm>
        </p:spPr>
        <p:txBody>
          <a:bodyPr/>
          <a:lstStyle/>
          <a:p>
            <a:pPr defTabSz="455613">
              <a:lnSpc>
                <a:spcPct val="90000"/>
              </a:lnSpc>
              <a:tabLst>
                <a:tab pos="1370013" algn="l"/>
                <a:tab pos="3311525" algn="l"/>
                <a:tab pos="3602038" algn="l"/>
              </a:tabLst>
              <a:defRPr/>
            </a:pPr>
            <a:r>
              <a:rPr lang="en-US" altLang="en-US" sz="2800" dirty="0">
                <a:solidFill>
                  <a:srgbClr val="FF0000"/>
                </a:solidFill>
              </a:rPr>
              <a:t>Define a semaphore as a record</a:t>
            </a:r>
          </a:p>
          <a:p>
            <a:pPr defTabSz="455613">
              <a:lnSpc>
                <a:spcPct val="90000"/>
              </a:lnSpc>
              <a:buFontTx/>
              <a:buNone/>
              <a:tabLst>
                <a:tab pos="1370013" algn="l"/>
                <a:tab pos="3311525" algn="l"/>
                <a:tab pos="3602038" algn="l"/>
              </a:tabLst>
              <a:defRPr/>
            </a:pPr>
            <a:r>
              <a:rPr lang="en-US" altLang="en-US" sz="2800" dirty="0"/>
              <a:t>		</a:t>
            </a:r>
            <a:r>
              <a:rPr lang="en-US" altLang="en-US" sz="2800" b="1" dirty="0" err="1">
                <a:solidFill>
                  <a:schemeClr val="accent1">
                    <a:lumMod val="75000"/>
                  </a:schemeClr>
                </a:solidFill>
              </a:rPr>
              <a:t>typedef</a:t>
            </a:r>
            <a:r>
              <a:rPr lang="en-US" altLang="en-US" sz="2800" b="1" dirty="0">
                <a:solidFill>
                  <a:schemeClr val="accent1">
                    <a:lumMod val="75000"/>
                  </a:schemeClr>
                </a:solidFill>
              </a:rPr>
              <a:t> </a:t>
            </a:r>
            <a:r>
              <a:rPr lang="en-US" altLang="en-US" sz="2800" b="1" dirty="0" err="1">
                <a:solidFill>
                  <a:schemeClr val="accent1">
                    <a:lumMod val="75000"/>
                  </a:schemeClr>
                </a:solidFill>
              </a:rPr>
              <a:t>struct</a:t>
            </a:r>
            <a:r>
              <a:rPr lang="en-US" altLang="en-US" sz="2800" b="1" dirty="0">
                <a:solidFill>
                  <a:schemeClr val="accent1">
                    <a:lumMod val="75000"/>
                  </a:schemeClr>
                </a:solidFill>
              </a:rPr>
              <a:t> {</a:t>
            </a:r>
          </a:p>
          <a:p>
            <a:pPr defTabSz="455613">
              <a:lnSpc>
                <a:spcPct val="90000"/>
              </a:lnSpc>
              <a:spcBef>
                <a:spcPct val="25000"/>
              </a:spcBef>
              <a:buFontTx/>
              <a:buNone/>
              <a:tabLst>
                <a:tab pos="1370013" algn="l"/>
                <a:tab pos="3311525" algn="l"/>
                <a:tab pos="3602038" algn="l"/>
              </a:tabLst>
              <a:defRPr/>
            </a:pPr>
            <a:r>
              <a:rPr lang="en-US" altLang="en-US" sz="2800" b="1" dirty="0">
                <a:solidFill>
                  <a:schemeClr val="accent1">
                    <a:lumMod val="75000"/>
                  </a:schemeClr>
                </a:solidFill>
              </a:rPr>
              <a:t>		     </a:t>
            </a:r>
            <a:r>
              <a:rPr lang="en-US" altLang="en-US" sz="2800" b="1" dirty="0" err="1">
                <a:solidFill>
                  <a:schemeClr val="accent1">
                    <a:lumMod val="75000"/>
                  </a:schemeClr>
                </a:solidFill>
              </a:rPr>
              <a:t>int</a:t>
            </a:r>
            <a:r>
              <a:rPr lang="en-US" altLang="en-US" sz="2800" b="1" dirty="0">
                <a:solidFill>
                  <a:schemeClr val="accent1">
                    <a:lumMod val="75000"/>
                  </a:schemeClr>
                </a:solidFill>
              </a:rPr>
              <a:t> </a:t>
            </a:r>
            <a:r>
              <a:rPr lang="en-US" altLang="en-US" sz="2800" b="1" i="1" dirty="0">
                <a:solidFill>
                  <a:schemeClr val="accent1">
                    <a:lumMod val="75000"/>
                  </a:schemeClr>
                </a:solidFill>
              </a:rPr>
              <a:t>value; </a:t>
            </a:r>
            <a:endParaRPr lang="en-US" altLang="en-US" sz="2800" b="1" dirty="0">
              <a:solidFill>
                <a:schemeClr val="accent1">
                  <a:lumMod val="75000"/>
                </a:schemeClr>
              </a:solidFill>
            </a:endParaRPr>
          </a:p>
          <a:p>
            <a:pPr defTabSz="455613">
              <a:lnSpc>
                <a:spcPct val="90000"/>
              </a:lnSpc>
              <a:spcBef>
                <a:spcPct val="25000"/>
              </a:spcBef>
              <a:buFontTx/>
              <a:buNone/>
              <a:tabLst>
                <a:tab pos="1370013" algn="l"/>
                <a:tab pos="3311525" algn="l"/>
                <a:tab pos="3602038" algn="l"/>
              </a:tabLst>
              <a:defRPr/>
            </a:pPr>
            <a:r>
              <a:rPr lang="en-US" altLang="en-US" sz="2800" b="1" dirty="0">
                <a:solidFill>
                  <a:schemeClr val="accent1">
                    <a:lumMod val="75000"/>
                  </a:schemeClr>
                </a:solidFill>
              </a:rPr>
              <a:t>		     </a:t>
            </a:r>
            <a:r>
              <a:rPr lang="en-US" altLang="en-US" sz="2800" b="1" dirty="0" err="1">
                <a:solidFill>
                  <a:schemeClr val="accent1">
                    <a:lumMod val="75000"/>
                  </a:schemeClr>
                </a:solidFill>
              </a:rPr>
              <a:t>struct</a:t>
            </a:r>
            <a:r>
              <a:rPr lang="en-US" altLang="en-US" sz="2800" b="1" dirty="0">
                <a:solidFill>
                  <a:schemeClr val="accent1">
                    <a:lumMod val="75000"/>
                  </a:schemeClr>
                </a:solidFill>
              </a:rPr>
              <a:t> process *</a:t>
            </a:r>
            <a:r>
              <a:rPr lang="en-US" altLang="en-US" sz="2800" b="1" i="1" dirty="0">
                <a:solidFill>
                  <a:schemeClr val="accent1">
                    <a:lumMod val="75000"/>
                  </a:schemeClr>
                </a:solidFill>
              </a:rPr>
              <a:t>L; </a:t>
            </a:r>
            <a:endParaRPr lang="en-US" altLang="en-US" sz="2800" b="1" dirty="0">
              <a:solidFill>
                <a:schemeClr val="accent1">
                  <a:lumMod val="75000"/>
                </a:schemeClr>
              </a:solidFill>
            </a:endParaRPr>
          </a:p>
          <a:p>
            <a:pPr defTabSz="455613">
              <a:lnSpc>
                <a:spcPct val="90000"/>
              </a:lnSpc>
              <a:spcBef>
                <a:spcPct val="25000"/>
              </a:spcBef>
              <a:buFontTx/>
              <a:buNone/>
              <a:tabLst>
                <a:tab pos="1370013" algn="l"/>
                <a:tab pos="3311525" algn="l"/>
                <a:tab pos="3602038" algn="l"/>
              </a:tabLst>
              <a:defRPr/>
            </a:pPr>
            <a:r>
              <a:rPr lang="en-US" altLang="en-US" sz="2800" b="1" dirty="0">
                <a:solidFill>
                  <a:schemeClr val="accent1">
                    <a:lumMod val="75000"/>
                  </a:schemeClr>
                </a:solidFill>
              </a:rPr>
              <a:t>		} </a:t>
            </a:r>
            <a:r>
              <a:rPr lang="en-US" altLang="en-US" sz="2800" b="1" i="1" dirty="0">
                <a:solidFill>
                  <a:schemeClr val="accent1">
                    <a:lumMod val="75000"/>
                  </a:schemeClr>
                </a:solidFill>
              </a:rPr>
              <a:t>semaphore</a:t>
            </a:r>
            <a:r>
              <a:rPr lang="en-US" altLang="en-US" sz="2800" b="1" dirty="0">
                <a:solidFill>
                  <a:schemeClr val="accent1">
                    <a:lumMod val="75000"/>
                  </a:schemeClr>
                </a:solidFill>
              </a:rPr>
              <a:t>;</a:t>
            </a:r>
          </a:p>
          <a:p>
            <a:pPr lvl="4" defTabSz="455613">
              <a:lnSpc>
                <a:spcPct val="90000"/>
              </a:lnSpc>
              <a:tabLst>
                <a:tab pos="1370013" algn="l"/>
                <a:tab pos="3311525" algn="l"/>
                <a:tab pos="3602038" algn="l"/>
              </a:tabLst>
              <a:defRPr/>
            </a:pPr>
            <a:endParaRPr lang="en-US" altLang="en-US" sz="2200" dirty="0"/>
          </a:p>
          <a:p>
            <a:pPr defTabSz="455613">
              <a:lnSpc>
                <a:spcPct val="90000"/>
              </a:lnSpc>
              <a:tabLst>
                <a:tab pos="1370013" algn="l"/>
                <a:tab pos="3311525" algn="l"/>
                <a:tab pos="3602038" algn="l"/>
              </a:tabLst>
              <a:defRPr/>
            </a:pPr>
            <a:r>
              <a:rPr lang="en-US" altLang="en-US" sz="2800" dirty="0"/>
              <a:t>Need two simple operations</a:t>
            </a:r>
          </a:p>
          <a:p>
            <a:pPr lvl="1" defTabSz="455613">
              <a:lnSpc>
                <a:spcPct val="90000"/>
              </a:lnSpc>
              <a:tabLst>
                <a:tab pos="1370013" algn="l"/>
                <a:tab pos="3311525" algn="l"/>
                <a:tab pos="3602038" algn="l"/>
              </a:tabLst>
              <a:defRPr/>
            </a:pPr>
            <a:r>
              <a:rPr lang="en-US" altLang="en-US" sz="2800" i="1" dirty="0">
                <a:solidFill>
                  <a:srgbClr val="FF0000"/>
                </a:solidFill>
              </a:rPr>
              <a:t>block</a:t>
            </a:r>
            <a:r>
              <a:rPr lang="en-US" altLang="en-US" sz="2800" dirty="0">
                <a:solidFill>
                  <a:srgbClr val="FF0000"/>
                </a:solidFill>
              </a:rPr>
              <a:t>( ):</a:t>
            </a:r>
            <a:r>
              <a:rPr lang="en-US" altLang="en-US" sz="2800" dirty="0"/>
              <a:t> blocks the current process</a:t>
            </a:r>
          </a:p>
          <a:p>
            <a:pPr lvl="1" defTabSz="455613">
              <a:lnSpc>
                <a:spcPct val="90000"/>
              </a:lnSpc>
              <a:tabLst>
                <a:tab pos="1370013" algn="l"/>
                <a:tab pos="3311525" algn="l"/>
                <a:tab pos="3602038" algn="l"/>
              </a:tabLst>
              <a:defRPr/>
            </a:pPr>
            <a:r>
              <a:rPr lang="en-US" altLang="en-US" sz="2800" i="1" dirty="0">
                <a:solidFill>
                  <a:srgbClr val="FF0000"/>
                </a:solidFill>
              </a:rPr>
              <a:t>wakeup</a:t>
            </a:r>
            <a:r>
              <a:rPr lang="en-US" altLang="en-US" sz="2800" dirty="0">
                <a:solidFill>
                  <a:srgbClr val="FF0000"/>
                </a:solidFill>
              </a:rPr>
              <a:t>( ):</a:t>
            </a:r>
            <a:r>
              <a:rPr lang="en-US" altLang="en-US" sz="2800" dirty="0"/>
              <a:t> resumes the execution of a blocked process in list L</a:t>
            </a:r>
          </a:p>
        </p:txBody>
      </p:sp>
      <p:grpSp>
        <p:nvGrpSpPr>
          <p:cNvPr id="6" name="Group 5">
            <a:extLst>
              <a:ext uri="{FF2B5EF4-FFF2-40B4-BE49-F238E27FC236}">
                <a16:creationId xmlns:a16="http://schemas.microsoft.com/office/drawing/2014/main" id="{33692455-EBC9-4D4D-A6C7-96B5F283BAE3}"/>
              </a:ext>
            </a:extLst>
          </p:cNvPr>
          <p:cNvGrpSpPr>
            <a:grpSpLocks/>
          </p:cNvGrpSpPr>
          <p:nvPr/>
        </p:nvGrpSpPr>
        <p:grpSpPr bwMode="auto">
          <a:xfrm>
            <a:off x="5943600" y="2184400"/>
            <a:ext cx="2954338" cy="1389063"/>
            <a:chOff x="5801193" y="2829049"/>
            <a:chExt cx="2435468" cy="1447703"/>
          </a:xfrm>
        </p:grpSpPr>
        <p:sp>
          <p:nvSpPr>
            <p:cNvPr id="74758" name="Rounded Rectangular Callout 1">
              <a:extLst>
                <a:ext uri="{FF2B5EF4-FFF2-40B4-BE49-F238E27FC236}">
                  <a16:creationId xmlns:a16="http://schemas.microsoft.com/office/drawing/2014/main" id="{F8318D71-EB87-4916-A582-0019AE686FA6}"/>
                </a:ext>
              </a:extLst>
            </p:cNvPr>
            <p:cNvSpPr>
              <a:spLocks noChangeArrowheads="1"/>
            </p:cNvSpPr>
            <p:nvPr/>
          </p:nvSpPr>
          <p:spPr bwMode="auto">
            <a:xfrm>
              <a:off x="5823245" y="2829049"/>
              <a:ext cx="2413416" cy="1447703"/>
            </a:xfrm>
            <a:prstGeom prst="wedgeRoundRectCallout">
              <a:avLst>
                <a:gd name="adj1" fmla="val -67991"/>
                <a:gd name="adj2" fmla="val 28426"/>
                <a:gd name="adj3" fmla="val 16667"/>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74759" name="TextBox 2">
              <a:extLst>
                <a:ext uri="{FF2B5EF4-FFF2-40B4-BE49-F238E27FC236}">
                  <a16:creationId xmlns:a16="http://schemas.microsoft.com/office/drawing/2014/main" id="{2C8B05AC-ACA8-4552-BE7F-41AC618F659E}"/>
                </a:ext>
              </a:extLst>
            </p:cNvPr>
            <p:cNvSpPr txBox="1">
              <a:spLocks noChangeArrowheads="1"/>
            </p:cNvSpPr>
            <p:nvPr/>
          </p:nvSpPr>
          <p:spPr bwMode="auto">
            <a:xfrm>
              <a:off x="5801193" y="2896069"/>
              <a:ext cx="2435468" cy="1379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000"/>
                <a:t>L is a queue that stores the processes waiting on this semaphore</a:t>
              </a:r>
            </a:p>
            <a:p>
              <a:pPr algn="ctr">
                <a:spcBef>
                  <a:spcPct val="0"/>
                </a:spcBef>
                <a:buSzTx/>
                <a:buFontTx/>
                <a:buNone/>
              </a:pPr>
              <a:r>
                <a:rPr lang="en-US" altLang="en-US" sz="2000">
                  <a:solidFill>
                    <a:schemeClr val="accent2"/>
                  </a:solidFill>
                </a:rPr>
                <a:t>(in the form of PCB list)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67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67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67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Footer Placeholder 3">
            <a:extLst>
              <a:ext uri="{FF2B5EF4-FFF2-40B4-BE49-F238E27FC236}">
                <a16:creationId xmlns:a16="http://schemas.microsoft.com/office/drawing/2014/main" id="{417941D2-5B34-4B00-A823-FAB32AB7C5D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9699" name="Rectangle 2">
            <a:extLst>
              <a:ext uri="{FF2B5EF4-FFF2-40B4-BE49-F238E27FC236}">
                <a16:creationId xmlns:a16="http://schemas.microsoft.com/office/drawing/2014/main" id="{A89E6D04-C5E9-4A96-ACC4-D4C696AC1A88}"/>
              </a:ext>
            </a:extLst>
          </p:cNvPr>
          <p:cNvSpPr>
            <a:spLocks noChangeArrowheads="1"/>
          </p:cNvSpPr>
          <p:nvPr/>
        </p:nvSpPr>
        <p:spPr bwMode="auto">
          <a:xfrm>
            <a:off x="684213" y="274638"/>
            <a:ext cx="7831137" cy="944562"/>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6803" name="Rectangle 3">
            <a:extLst>
              <a:ext uri="{FF2B5EF4-FFF2-40B4-BE49-F238E27FC236}">
                <a16:creationId xmlns:a16="http://schemas.microsoft.com/office/drawing/2014/main" id="{6E239B2E-4061-47E2-8EFB-157BD313526C}"/>
              </a:ext>
            </a:extLst>
          </p:cNvPr>
          <p:cNvSpPr>
            <a:spLocks noGrp="1" noChangeArrowheads="1"/>
          </p:cNvSpPr>
          <p:nvPr>
            <p:ph type="title"/>
          </p:nvPr>
        </p:nvSpPr>
        <p:spPr>
          <a:xfrm>
            <a:off x="815975" y="495300"/>
            <a:ext cx="7580313" cy="457200"/>
          </a:xfrm>
        </p:spPr>
        <p:txBody>
          <a:bodyPr/>
          <a:lstStyle/>
          <a:p>
            <a:r>
              <a:rPr lang="en-US" altLang="en-US"/>
              <a:t>Blocking Semaphore Implementation</a:t>
            </a:r>
            <a:br>
              <a:rPr lang="en-US" altLang="en-US"/>
            </a:br>
            <a:r>
              <a:rPr lang="en-US" altLang="en-US"/>
              <a:t>block() and wakeup()</a:t>
            </a:r>
          </a:p>
        </p:txBody>
      </p:sp>
      <p:sp>
        <p:nvSpPr>
          <p:cNvPr id="72708" name="Rectangle 4">
            <a:extLst>
              <a:ext uri="{FF2B5EF4-FFF2-40B4-BE49-F238E27FC236}">
                <a16:creationId xmlns:a16="http://schemas.microsoft.com/office/drawing/2014/main" id="{689B6531-FE10-402F-BD19-9082518FE8D1}"/>
              </a:ext>
            </a:extLst>
          </p:cNvPr>
          <p:cNvSpPr>
            <a:spLocks noGrp="1" noChangeArrowheads="1"/>
          </p:cNvSpPr>
          <p:nvPr>
            <p:ph type="body" idx="1"/>
          </p:nvPr>
        </p:nvSpPr>
        <p:spPr>
          <a:xfrm>
            <a:off x="411163" y="1500188"/>
            <a:ext cx="8372475" cy="5043487"/>
          </a:xfrm>
        </p:spPr>
        <p:txBody>
          <a:bodyPr/>
          <a:lstStyle/>
          <a:p>
            <a:pPr>
              <a:buFontTx/>
              <a:buNone/>
              <a:tabLst>
                <a:tab pos="915988" algn="l"/>
                <a:tab pos="2005013" algn="l"/>
                <a:tab pos="2232025" algn="l"/>
                <a:tab pos="2803525" algn="l"/>
                <a:tab pos="3201988" algn="l"/>
              </a:tabLst>
              <a:defRPr/>
            </a:pPr>
            <a:r>
              <a:rPr lang="en-US" altLang="en-US" sz="2800" dirty="0">
                <a:solidFill>
                  <a:srgbClr val="FF0000"/>
                </a:solidFill>
                <a:sym typeface="Symbol" charset="2"/>
              </a:rPr>
              <a:t>block( ):</a:t>
            </a:r>
          </a:p>
          <a:p>
            <a:pPr marL="971550" lvl="1" indent="-514350">
              <a:buFont typeface="+mj-lt"/>
              <a:buAutoNum type="arabicPeriod"/>
              <a:tabLst>
                <a:tab pos="915988" algn="l"/>
                <a:tab pos="2005013" algn="l"/>
                <a:tab pos="2232025" algn="l"/>
                <a:tab pos="2803525" algn="l"/>
                <a:tab pos="3201988" algn="l"/>
              </a:tabLst>
              <a:defRPr/>
            </a:pPr>
            <a:r>
              <a:rPr lang="en-US" altLang="en-US" sz="2800" dirty="0" err="1">
                <a:sym typeface="Symbol" charset="2"/>
              </a:rPr>
              <a:t>Dequeue</a:t>
            </a:r>
            <a:r>
              <a:rPr lang="en-US" altLang="en-US" sz="2800" dirty="0">
                <a:sym typeface="Symbol" charset="2"/>
              </a:rPr>
              <a:t> current process from ready queue</a:t>
            </a:r>
          </a:p>
          <a:p>
            <a:pPr marL="971550" lvl="1" indent="-514350">
              <a:buFont typeface="+mj-lt"/>
              <a:buAutoNum type="arabicPeriod"/>
              <a:tabLst>
                <a:tab pos="915988" algn="l"/>
                <a:tab pos="2005013" algn="l"/>
                <a:tab pos="2232025" algn="l"/>
                <a:tab pos="2803525" algn="l"/>
                <a:tab pos="3201988" algn="l"/>
              </a:tabLst>
              <a:defRPr/>
            </a:pPr>
            <a:r>
              <a:rPr lang="en-US" altLang="en-US" sz="2800" dirty="0" err="1">
                <a:sym typeface="Symbol" charset="2"/>
              </a:rPr>
              <a:t>Enqueue</a:t>
            </a:r>
            <a:r>
              <a:rPr lang="en-US" altLang="en-US" sz="2800" dirty="0">
                <a:sym typeface="Symbol" charset="2"/>
              </a:rPr>
              <a:t> the process to list L</a:t>
            </a:r>
          </a:p>
          <a:p>
            <a:pPr marL="971550" lvl="1" indent="-514350">
              <a:buFont typeface="+mj-lt"/>
              <a:buAutoNum type="arabicPeriod"/>
              <a:tabLst>
                <a:tab pos="915988" algn="l"/>
                <a:tab pos="2005013" algn="l"/>
                <a:tab pos="2232025" algn="l"/>
                <a:tab pos="2803525" algn="l"/>
                <a:tab pos="3201988" algn="l"/>
              </a:tabLst>
              <a:defRPr/>
            </a:pPr>
            <a:r>
              <a:rPr lang="en-US" altLang="en-US" sz="2800" dirty="0">
                <a:sym typeface="Symbol" charset="2"/>
              </a:rPr>
              <a:t>Change state of the process to </a:t>
            </a:r>
            <a:r>
              <a:rPr lang="en-US" altLang="en-US" sz="2800" b="1" dirty="0">
                <a:sym typeface="Symbol" charset="2"/>
              </a:rPr>
              <a:t>waiting</a:t>
            </a:r>
            <a:endParaRPr lang="en-US" altLang="en-US" sz="2800" dirty="0">
              <a:sym typeface="Symbol" charset="2"/>
            </a:endParaRPr>
          </a:p>
          <a:p>
            <a:pPr marL="2286000" lvl="4" indent="-514350">
              <a:buFont typeface="+mj-lt"/>
              <a:buAutoNum type="arabicPeriod"/>
              <a:tabLst>
                <a:tab pos="915988" algn="l"/>
                <a:tab pos="2005013" algn="l"/>
                <a:tab pos="2232025" algn="l"/>
                <a:tab pos="2803525" algn="l"/>
                <a:tab pos="3201988" algn="l"/>
              </a:tabLst>
              <a:defRPr/>
            </a:pPr>
            <a:endParaRPr lang="en-US" altLang="en-US" sz="2200" dirty="0">
              <a:sym typeface="Symbol" charset="2"/>
            </a:endParaRPr>
          </a:p>
          <a:p>
            <a:pPr>
              <a:buFontTx/>
              <a:buNone/>
              <a:tabLst>
                <a:tab pos="915988" algn="l"/>
                <a:tab pos="2005013" algn="l"/>
                <a:tab pos="2232025" algn="l"/>
                <a:tab pos="2803525" algn="l"/>
                <a:tab pos="3201988" algn="l"/>
              </a:tabLst>
              <a:defRPr/>
            </a:pPr>
            <a:r>
              <a:rPr lang="en-US" altLang="en-US" sz="2800" dirty="0">
                <a:solidFill>
                  <a:srgbClr val="FF0000"/>
                </a:solidFill>
                <a:sym typeface="Symbol" charset="2"/>
              </a:rPr>
              <a:t>wakeup( ):</a:t>
            </a:r>
          </a:p>
          <a:p>
            <a:pPr marL="971550" lvl="1" indent="-514350">
              <a:buFont typeface="+mj-lt"/>
              <a:buAutoNum type="arabicPeriod"/>
              <a:tabLst>
                <a:tab pos="915988" algn="l"/>
                <a:tab pos="2005013" algn="l"/>
                <a:tab pos="2232025" algn="l"/>
                <a:tab pos="2803525" algn="l"/>
                <a:tab pos="3201988" algn="l"/>
              </a:tabLst>
              <a:defRPr/>
            </a:pPr>
            <a:r>
              <a:rPr lang="en-US" altLang="en-US" sz="2800" dirty="0" err="1">
                <a:sym typeface="Symbol" charset="2"/>
              </a:rPr>
              <a:t>Dequeue</a:t>
            </a:r>
            <a:r>
              <a:rPr lang="en-US" altLang="en-US" sz="2800" dirty="0">
                <a:sym typeface="Symbol" charset="2"/>
              </a:rPr>
              <a:t> a process from list L</a:t>
            </a:r>
          </a:p>
          <a:p>
            <a:pPr marL="971550" lvl="1" indent="-514350">
              <a:buFont typeface="+mj-lt"/>
              <a:buAutoNum type="arabicPeriod"/>
              <a:tabLst>
                <a:tab pos="915988" algn="l"/>
                <a:tab pos="2005013" algn="l"/>
                <a:tab pos="2232025" algn="l"/>
                <a:tab pos="2803525" algn="l"/>
                <a:tab pos="3201988" algn="l"/>
              </a:tabLst>
              <a:defRPr/>
            </a:pPr>
            <a:r>
              <a:rPr lang="en-US" altLang="en-US" sz="2800" dirty="0" err="1">
                <a:sym typeface="Symbol" charset="2"/>
              </a:rPr>
              <a:t>Enqueue</a:t>
            </a:r>
            <a:r>
              <a:rPr lang="en-US" altLang="en-US" sz="2800" dirty="0">
                <a:sym typeface="Symbol" charset="2"/>
              </a:rPr>
              <a:t> the process to the ready queue</a:t>
            </a:r>
          </a:p>
          <a:p>
            <a:pPr marL="971550" lvl="1" indent="-514350">
              <a:buFont typeface="+mj-lt"/>
              <a:buAutoNum type="arabicPeriod"/>
              <a:tabLst>
                <a:tab pos="915988" algn="l"/>
                <a:tab pos="2005013" algn="l"/>
                <a:tab pos="2232025" algn="l"/>
                <a:tab pos="2803525" algn="l"/>
                <a:tab pos="3201988" algn="l"/>
              </a:tabLst>
              <a:defRPr/>
            </a:pPr>
            <a:r>
              <a:rPr lang="en-US" altLang="en-US" sz="2800" dirty="0">
                <a:sym typeface="Symbol" charset="2"/>
              </a:rPr>
              <a:t>Change state of the process to </a:t>
            </a:r>
            <a:r>
              <a:rPr lang="en-US" altLang="en-US" sz="2800" b="1" dirty="0">
                <a:sym typeface="Symbol" charset="2"/>
              </a:rPr>
              <a:t>ready</a:t>
            </a:r>
            <a:endParaRPr lang="en-US" altLang="en-US" sz="2800" dirty="0">
              <a:sym typeface="Symbol" charset="2"/>
            </a:endParaRPr>
          </a:p>
          <a:p>
            <a:pPr>
              <a:buFontTx/>
              <a:buNone/>
              <a:tabLst>
                <a:tab pos="915988" algn="l"/>
                <a:tab pos="2005013" algn="l"/>
                <a:tab pos="2232025" algn="l"/>
                <a:tab pos="2803525" algn="l"/>
                <a:tab pos="3201988" algn="l"/>
              </a:tabLst>
              <a:defRPr/>
            </a:pPr>
            <a:endParaRPr lang="en-US" altLang="en-US" sz="2800" dirty="0">
              <a:sym typeface="Symbol" charset="2"/>
            </a:endParaRPr>
          </a:p>
          <a:p>
            <a:pPr lvl="1">
              <a:buFontTx/>
              <a:buNone/>
              <a:tabLst>
                <a:tab pos="915988" algn="l"/>
                <a:tab pos="2005013" algn="l"/>
                <a:tab pos="2232025" algn="l"/>
                <a:tab pos="2803525" algn="l"/>
                <a:tab pos="3201988" algn="l"/>
              </a:tabLst>
              <a:defRPr/>
            </a:pPr>
            <a:endParaRPr lang="en-US" altLang="en-US" sz="2800" dirty="0">
              <a:sym typeface="Symbol" charset="2"/>
            </a:endParaRPr>
          </a:p>
        </p:txBody>
      </p:sp>
      <p:grpSp>
        <p:nvGrpSpPr>
          <p:cNvPr id="76805" name="Group 5">
            <a:extLst>
              <a:ext uri="{FF2B5EF4-FFF2-40B4-BE49-F238E27FC236}">
                <a16:creationId xmlns:a16="http://schemas.microsoft.com/office/drawing/2014/main" id="{A8CC92B2-5346-4F38-9F2D-F50AFF1C03F3}"/>
              </a:ext>
            </a:extLst>
          </p:cNvPr>
          <p:cNvGrpSpPr>
            <a:grpSpLocks/>
          </p:cNvGrpSpPr>
          <p:nvPr/>
        </p:nvGrpSpPr>
        <p:grpSpPr bwMode="auto">
          <a:xfrm>
            <a:off x="6634163" y="4021138"/>
            <a:ext cx="1881187" cy="874712"/>
            <a:chOff x="5801194" y="2848130"/>
            <a:chExt cx="2413416" cy="914400"/>
          </a:xfrm>
        </p:grpSpPr>
        <p:sp>
          <p:nvSpPr>
            <p:cNvPr id="76806" name="Rounded Rectangular Callout 1">
              <a:extLst>
                <a:ext uri="{FF2B5EF4-FFF2-40B4-BE49-F238E27FC236}">
                  <a16:creationId xmlns:a16="http://schemas.microsoft.com/office/drawing/2014/main" id="{8CBEC10F-32C5-484F-8BF2-D3E7B64388A1}"/>
                </a:ext>
              </a:extLst>
            </p:cNvPr>
            <p:cNvSpPr>
              <a:spLocks noChangeArrowheads="1"/>
            </p:cNvSpPr>
            <p:nvPr/>
          </p:nvSpPr>
          <p:spPr bwMode="auto">
            <a:xfrm>
              <a:off x="5801194" y="2848130"/>
              <a:ext cx="2413416" cy="914400"/>
            </a:xfrm>
            <a:prstGeom prst="wedgeRoundRectCallout">
              <a:avLst>
                <a:gd name="adj1" fmla="val -27500"/>
                <a:gd name="adj2" fmla="val -105634"/>
                <a:gd name="adj3" fmla="val 16667"/>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76807" name="TextBox 2">
              <a:extLst>
                <a:ext uri="{FF2B5EF4-FFF2-40B4-BE49-F238E27FC236}">
                  <a16:creationId xmlns:a16="http://schemas.microsoft.com/office/drawing/2014/main" id="{04892979-675E-42E2-A381-85C866334ADF}"/>
                </a:ext>
              </a:extLst>
            </p:cNvPr>
            <p:cNvSpPr txBox="1">
              <a:spLocks noChangeArrowheads="1"/>
            </p:cNvSpPr>
            <p:nvPr/>
          </p:nvSpPr>
          <p:spPr bwMode="auto">
            <a:xfrm>
              <a:off x="5801194" y="2885345"/>
              <a:ext cx="2413416" cy="76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000">
                  <a:solidFill>
                    <a:schemeClr val="accent2"/>
                  </a:solidFill>
                </a:rPr>
                <a:t>Will lead to a context switch</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70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70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70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70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Footer Placeholder 3">
            <a:extLst>
              <a:ext uri="{FF2B5EF4-FFF2-40B4-BE49-F238E27FC236}">
                <a16:creationId xmlns:a16="http://schemas.microsoft.com/office/drawing/2014/main" id="{3487CC3E-2C25-4253-B9EA-76AD055C7AE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0723" name="Rectangle 4">
            <a:extLst>
              <a:ext uri="{FF2B5EF4-FFF2-40B4-BE49-F238E27FC236}">
                <a16:creationId xmlns:a16="http://schemas.microsoft.com/office/drawing/2014/main" id="{09D95A68-5BB9-4DBA-9DCE-5911A54EC5C3}"/>
              </a:ext>
            </a:extLst>
          </p:cNvPr>
          <p:cNvSpPr>
            <a:spLocks noChangeArrowheads="1"/>
          </p:cNvSpPr>
          <p:nvPr/>
        </p:nvSpPr>
        <p:spPr bwMode="auto">
          <a:xfrm>
            <a:off x="684213" y="285750"/>
            <a:ext cx="7831137" cy="982663"/>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78851" name="Rectangle 2">
            <a:extLst>
              <a:ext uri="{FF2B5EF4-FFF2-40B4-BE49-F238E27FC236}">
                <a16:creationId xmlns:a16="http://schemas.microsoft.com/office/drawing/2014/main" id="{DFB68BF3-84EE-4FD1-A6D3-6039E9BC08CF}"/>
              </a:ext>
            </a:extLst>
          </p:cNvPr>
          <p:cNvSpPr>
            <a:spLocks noGrp="1" noChangeArrowheads="1"/>
          </p:cNvSpPr>
          <p:nvPr>
            <p:ph type="title"/>
          </p:nvPr>
        </p:nvSpPr>
        <p:spPr>
          <a:xfrm>
            <a:off x="598488" y="495300"/>
            <a:ext cx="8261350" cy="457200"/>
          </a:xfrm>
        </p:spPr>
        <p:txBody>
          <a:bodyPr/>
          <a:lstStyle/>
          <a:p>
            <a:r>
              <a:rPr lang="en-US" altLang="en-US"/>
              <a:t>Blocking Semaphore Implementation Wait(S) and Signal(S)</a:t>
            </a:r>
          </a:p>
        </p:txBody>
      </p:sp>
      <p:sp>
        <p:nvSpPr>
          <p:cNvPr id="78852" name="Rectangle 3">
            <a:extLst>
              <a:ext uri="{FF2B5EF4-FFF2-40B4-BE49-F238E27FC236}">
                <a16:creationId xmlns:a16="http://schemas.microsoft.com/office/drawing/2014/main" id="{F9FB1EDD-25E6-4999-9B8F-46D67F1498BB}"/>
              </a:ext>
            </a:extLst>
          </p:cNvPr>
          <p:cNvSpPr>
            <a:spLocks noGrp="1" noChangeArrowheads="1"/>
          </p:cNvSpPr>
          <p:nvPr>
            <p:ph type="body" idx="1"/>
          </p:nvPr>
        </p:nvSpPr>
        <p:spPr>
          <a:xfrm>
            <a:off x="254000" y="1558925"/>
            <a:ext cx="3797300" cy="5203825"/>
          </a:xfrm>
        </p:spPr>
        <p:txBody>
          <a:bodyPr/>
          <a:lstStyle/>
          <a:p>
            <a:pPr>
              <a:buFontTx/>
              <a:buNone/>
              <a:tabLst>
                <a:tab pos="915988" algn="l"/>
                <a:tab pos="2005013" algn="l"/>
                <a:tab pos="2232025" algn="l"/>
                <a:tab pos="2803525" algn="l"/>
                <a:tab pos="3201988" algn="l"/>
              </a:tabLst>
              <a:defRPr/>
            </a:pPr>
            <a:r>
              <a:rPr lang="en-US" altLang="en-US" sz="2800" i="1" dirty="0">
                <a:solidFill>
                  <a:srgbClr val="FF0000"/>
                </a:solidFill>
              </a:rPr>
              <a:t>Wait</a:t>
            </a:r>
            <a:r>
              <a:rPr lang="en-US" altLang="en-US" sz="2800" dirty="0">
                <a:solidFill>
                  <a:srgbClr val="FF0000"/>
                </a:solidFill>
              </a:rPr>
              <a:t>(</a:t>
            </a:r>
            <a:r>
              <a:rPr lang="en-US" altLang="en-US" sz="2800" i="1" dirty="0">
                <a:solidFill>
                  <a:srgbClr val="FF0000"/>
                </a:solidFill>
              </a:rPr>
              <a:t>S</a:t>
            </a:r>
            <a:r>
              <a:rPr lang="en-US" altLang="en-US" sz="2800" dirty="0">
                <a:solidFill>
                  <a:srgbClr val="FF0000"/>
                </a:solidFill>
              </a:rPr>
              <a:t>):</a:t>
            </a:r>
            <a:r>
              <a:rPr lang="en-US" altLang="en-US" sz="2800" dirty="0"/>
              <a:t>	</a:t>
            </a:r>
          </a:p>
          <a:p>
            <a:pPr>
              <a:lnSpc>
                <a:spcPct val="90000"/>
              </a:lnSpc>
              <a:buFontTx/>
              <a:buNone/>
              <a:tabLst>
                <a:tab pos="915988" algn="l"/>
                <a:tab pos="2005013" algn="l"/>
                <a:tab pos="2232025" algn="l"/>
                <a:tab pos="2803525" algn="l"/>
                <a:tab pos="3201988" algn="l"/>
              </a:tabLst>
              <a:defRPr/>
            </a:pPr>
            <a:r>
              <a:rPr lang="en-US" altLang="en-US" sz="2800" dirty="0"/>
              <a:t>		</a:t>
            </a:r>
            <a:r>
              <a:rPr lang="en-US" altLang="en-US" sz="2800" b="1" i="1" dirty="0" err="1">
                <a:solidFill>
                  <a:schemeClr val="accent1">
                    <a:lumMod val="75000"/>
                  </a:schemeClr>
                </a:solidFill>
              </a:rPr>
              <a:t>S.value</a:t>
            </a:r>
            <a:r>
              <a:rPr lang="en-US" altLang="en-US" sz="2800" b="1" dirty="0">
                <a:solidFill>
                  <a:schemeClr val="accent1">
                    <a:lumMod val="75000"/>
                  </a:schemeClr>
                </a:solidFill>
              </a:rPr>
              <a:t>--</a:t>
            </a:r>
            <a:r>
              <a:rPr lang="en-US" altLang="en-US" sz="2800" b="1" dirty="0">
                <a:solidFill>
                  <a:schemeClr val="accent1">
                    <a:lumMod val="75000"/>
                  </a:schemeClr>
                </a:solidFill>
                <a:sym typeface="Symbol" charset="2"/>
              </a:rPr>
              <a:t>;</a:t>
            </a:r>
          </a:p>
          <a:p>
            <a:pPr>
              <a:lnSpc>
                <a:spcPct val="90000"/>
              </a:lnSpc>
              <a:buFontTx/>
              <a:buNone/>
              <a:tabLst>
                <a:tab pos="915988" algn="l"/>
                <a:tab pos="2005013" algn="l"/>
                <a:tab pos="2232025" algn="l"/>
                <a:tab pos="2803525" algn="l"/>
                <a:tab pos="3201988" algn="l"/>
              </a:tabLst>
              <a:defRPr/>
            </a:pPr>
            <a:r>
              <a:rPr lang="en-US" altLang="en-US" sz="2800" b="1" dirty="0">
                <a:solidFill>
                  <a:schemeClr val="accent1">
                    <a:lumMod val="75000"/>
                  </a:schemeClr>
                </a:solidFill>
                <a:sym typeface="Symbol" charset="2"/>
              </a:rPr>
              <a:t>		if (</a:t>
            </a:r>
            <a:r>
              <a:rPr lang="en-US" altLang="en-US" sz="2800" b="1" i="1" dirty="0" err="1">
                <a:solidFill>
                  <a:schemeClr val="accent1">
                    <a:lumMod val="75000"/>
                  </a:schemeClr>
                </a:solidFill>
                <a:sym typeface="Symbol" charset="2"/>
              </a:rPr>
              <a:t>S.value</a:t>
            </a:r>
            <a:r>
              <a:rPr lang="en-US" altLang="en-US" sz="2800" b="1" dirty="0">
                <a:solidFill>
                  <a:schemeClr val="accent1">
                    <a:lumMod val="75000"/>
                  </a:schemeClr>
                </a:solidFill>
                <a:sym typeface="Symbol" charset="2"/>
              </a:rPr>
              <a:t> &lt; 0) </a:t>
            </a:r>
          </a:p>
          <a:p>
            <a:pPr>
              <a:lnSpc>
                <a:spcPct val="90000"/>
              </a:lnSpc>
              <a:buFontTx/>
              <a:buNone/>
              <a:tabLst>
                <a:tab pos="915988" algn="l"/>
                <a:tab pos="2005013" algn="l"/>
                <a:tab pos="2232025" algn="l"/>
                <a:tab pos="2803525" algn="l"/>
                <a:tab pos="3201988" algn="l"/>
              </a:tabLst>
              <a:defRPr/>
            </a:pPr>
            <a:r>
              <a:rPr lang="en-US" altLang="en-US" sz="2800" b="1" dirty="0">
                <a:solidFill>
                  <a:schemeClr val="accent1">
                    <a:lumMod val="75000"/>
                  </a:schemeClr>
                </a:solidFill>
                <a:sym typeface="Symbol" charset="2"/>
              </a:rPr>
              <a:t>		{ </a:t>
            </a:r>
          </a:p>
          <a:p>
            <a:pPr>
              <a:lnSpc>
                <a:spcPct val="90000"/>
              </a:lnSpc>
              <a:buFontTx/>
              <a:buNone/>
              <a:tabLst>
                <a:tab pos="915988" algn="l"/>
                <a:tab pos="2005013" algn="l"/>
                <a:tab pos="2232025" algn="l"/>
                <a:tab pos="2803525" algn="l"/>
                <a:tab pos="3201988" algn="l"/>
              </a:tabLst>
              <a:defRPr/>
            </a:pPr>
            <a:r>
              <a:rPr lang="en-US" altLang="en-US" sz="2800" b="1" dirty="0">
                <a:solidFill>
                  <a:schemeClr val="accent1">
                    <a:lumMod val="75000"/>
                  </a:schemeClr>
                </a:solidFill>
                <a:sym typeface="Symbol" charset="2"/>
              </a:rPr>
              <a:t>		   </a:t>
            </a:r>
            <a:r>
              <a:rPr lang="en-US" altLang="en-US" sz="2800" b="1" i="1" dirty="0">
                <a:solidFill>
                  <a:schemeClr val="accent1">
                    <a:lumMod val="75000"/>
                  </a:schemeClr>
                </a:solidFill>
                <a:sym typeface="Symbol" charset="2"/>
              </a:rPr>
              <a:t>block</a:t>
            </a:r>
            <a:r>
              <a:rPr lang="en-US" altLang="en-US" sz="2800" b="1" dirty="0">
                <a:solidFill>
                  <a:schemeClr val="accent1">
                    <a:lumMod val="75000"/>
                  </a:schemeClr>
                </a:solidFill>
                <a:sym typeface="Symbol" charset="2"/>
              </a:rPr>
              <a:t>( );</a:t>
            </a:r>
          </a:p>
          <a:p>
            <a:pPr>
              <a:lnSpc>
                <a:spcPct val="90000"/>
              </a:lnSpc>
              <a:buFontTx/>
              <a:buNone/>
              <a:tabLst>
                <a:tab pos="915988" algn="l"/>
                <a:tab pos="2005013" algn="l"/>
                <a:tab pos="2232025" algn="l"/>
                <a:tab pos="2803525" algn="l"/>
                <a:tab pos="3201988" algn="l"/>
              </a:tabLst>
              <a:defRPr/>
            </a:pPr>
            <a:r>
              <a:rPr lang="en-US" altLang="en-US" sz="2800" b="1" dirty="0">
                <a:solidFill>
                  <a:schemeClr val="accent1">
                    <a:lumMod val="75000"/>
                  </a:schemeClr>
                </a:solidFill>
                <a:sym typeface="Symbol" charset="2"/>
              </a:rPr>
              <a:t>         }</a:t>
            </a:r>
          </a:p>
          <a:p>
            <a:pPr>
              <a:lnSpc>
                <a:spcPct val="90000"/>
              </a:lnSpc>
              <a:buFontTx/>
              <a:buNone/>
              <a:tabLst>
                <a:tab pos="915988" algn="l"/>
                <a:tab pos="2005013" algn="l"/>
                <a:tab pos="2232025" algn="l"/>
                <a:tab pos="2803525" algn="l"/>
                <a:tab pos="3201988" algn="l"/>
              </a:tabLst>
              <a:defRPr/>
            </a:pPr>
            <a:r>
              <a:rPr lang="en-US" altLang="en-US" sz="2800" dirty="0">
                <a:sym typeface="Symbol" charset="2"/>
              </a:rPr>
              <a:t>			</a:t>
            </a:r>
          </a:p>
        </p:txBody>
      </p:sp>
      <p:sp>
        <p:nvSpPr>
          <p:cNvPr id="6" name="TextBox 5">
            <a:extLst>
              <a:ext uri="{FF2B5EF4-FFF2-40B4-BE49-F238E27FC236}">
                <a16:creationId xmlns:a16="http://schemas.microsoft.com/office/drawing/2014/main" id="{B86407D2-38D2-4F19-9E1A-EFDC955AC64B}"/>
              </a:ext>
            </a:extLst>
          </p:cNvPr>
          <p:cNvSpPr txBox="1">
            <a:spLocks noChangeArrowheads="1"/>
          </p:cNvSpPr>
          <p:nvPr/>
        </p:nvSpPr>
        <p:spPr bwMode="auto">
          <a:xfrm>
            <a:off x="1482725" y="5607050"/>
            <a:ext cx="62325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latin typeface="Comic Sans MS" panose="030F0702030302020204" pitchFamily="66" charset="0"/>
              </a:rPr>
              <a:t>If S.value = -2, how many processes are waiting in list L? </a:t>
            </a:r>
            <a:endParaRPr lang="en-US" altLang="en-US" sz="2400" b="1">
              <a:solidFill>
                <a:srgbClr val="FF0000"/>
              </a:solidFill>
              <a:latin typeface="Comic Sans MS" panose="030F0702030302020204" pitchFamily="66" charset="0"/>
            </a:endParaRPr>
          </a:p>
        </p:txBody>
      </p:sp>
      <p:sp>
        <p:nvSpPr>
          <p:cNvPr id="7" name="Rectangle 4">
            <a:extLst>
              <a:ext uri="{FF2B5EF4-FFF2-40B4-BE49-F238E27FC236}">
                <a16:creationId xmlns:a16="http://schemas.microsoft.com/office/drawing/2014/main" id="{E02564B1-56B1-4242-94F3-5169B2DBD5D1}"/>
              </a:ext>
            </a:extLst>
          </p:cNvPr>
          <p:cNvSpPr txBox="1">
            <a:spLocks noChangeArrowheads="1"/>
          </p:cNvSpPr>
          <p:nvPr/>
        </p:nvSpPr>
        <p:spPr bwMode="auto">
          <a:xfrm>
            <a:off x="4351338" y="1528763"/>
            <a:ext cx="3963987" cy="5043487"/>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a:buFontTx/>
              <a:buNone/>
              <a:tabLst>
                <a:tab pos="915988" algn="l"/>
                <a:tab pos="2005013" algn="l"/>
                <a:tab pos="2232025" algn="l"/>
                <a:tab pos="2803525" algn="l"/>
                <a:tab pos="3201988" algn="l"/>
              </a:tabLst>
              <a:defRPr/>
            </a:pPr>
            <a:r>
              <a:rPr lang="en-US" altLang="en-US" sz="2800" kern="0" dirty="0">
                <a:sym typeface="Symbol" charset="2"/>
              </a:rPr>
              <a:t>	</a:t>
            </a:r>
            <a:r>
              <a:rPr lang="en-US" altLang="en-US" sz="2800" i="1" kern="0" dirty="0">
                <a:solidFill>
                  <a:srgbClr val="FF0000"/>
                </a:solidFill>
                <a:sym typeface="Symbol" charset="2"/>
              </a:rPr>
              <a:t>Signal</a:t>
            </a:r>
            <a:r>
              <a:rPr lang="en-US" altLang="en-US" sz="2800" kern="0" dirty="0">
                <a:solidFill>
                  <a:srgbClr val="FF0000"/>
                </a:solidFill>
                <a:sym typeface="Symbol" charset="2"/>
              </a:rPr>
              <a:t>(</a:t>
            </a:r>
            <a:r>
              <a:rPr lang="en-US" altLang="en-US" sz="2800" i="1" kern="0" dirty="0">
                <a:solidFill>
                  <a:srgbClr val="FF0000"/>
                </a:solidFill>
                <a:sym typeface="Symbol" charset="2"/>
              </a:rPr>
              <a:t>S</a:t>
            </a:r>
            <a:r>
              <a:rPr lang="en-US" altLang="en-US" sz="2800" kern="0" dirty="0">
                <a:solidFill>
                  <a:srgbClr val="FF0000"/>
                </a:solidFill>
                <a:sym typeface="Symbol" charset="2"/>
              </a:rPr>
              <a:t>): </a:t>
            </a:r>
          </a:p>
          <a:p>
            <a:pPr>
              <a:buFontTx/>
              <a:buNone/>
              <a:tabLst>
                <a:tab pos="915988" algn="l"/>
                <a:tab pos="2005013" algn="l"/>
                <a:tab pos="2232025" algn="l"/>
                <a:tab pos="2803525" algn="l"/>
                <a:tab pos="3201988" algn="l"/>
              </a:tabLst>
              <a:defRPr/>
            </a:pPr>
            <a:r>
              <a:rPr lang="en-US" altLang="en-US" sz="2800" kern="0" dirty="0">
                <a:sym typeface="Symbol" charset="2"/>
              </a:rPr>
              <a:t>		</a:t>
            </a:r>
            <a:r>
              <a:rPr lang="en-US" altLang="en-US" sz="2800" b="1" i="1" kern="0" dirty="0" err="1">
                <a:solidFill>
                  <a:schemeClr val="accent1">
                    <a:lumMod val="75000"/>
                  </a:schemeClr>
                </a:solidFill>
                <a:sym typeface="Symbol" charset="2"/>
              </a:rPr>
              <a:t>S.value</a:t>
            </a:r>
            <a:r>
              <a:rPr lang="en-US" altLang="en-US" sz="2800" b="1" i="1" kern="0" dirty="0">
                <a:solidFill>
                  <a:schemeClr val="accent1">
                    <a:lumMod val="75000"/>
                  </a:schemeClr>
                </a:solidFill>
                <a:sym typeface="Symbol" charset="2"/>
              </a:rPr>
              <a:t>++</a:t>
            </a:r>
            <a:r>
              <a:rPr lang="en-US" altLang="en-US" sz="2800" b="1" kern="0" dirty="0">
                <a:solidFill>
                  <a:schemeClr val="accent1">
                    <a:lumMod val="75000"/>
                  </a:schemeClr>
                </a:solidFill>
                <a:sym typeface="Symbol" charset="2"/>
              </a:rPr>
              <a:t>;</a:t>
            </a:r>
          </a:p>
          <a:p>
            <a:pPr>
              <a:buFontTx/>
              <a:buNone/>
              <a:tabLst>
                <a:tab pos="915988" algn="l"/>
                <a:tab pos="2005013" algn="l"/>
                <a:tab pos="2232025" algn="l"/>
                <a:tab pos="2803525" algn="l"/>
                <a:tab pos="3201988" algn="l"/>
              </a:tabLst>
              <a:defRPr/>
            </a:pPr>
            <a:r>
              <a:rPr lang="en-US" altLang="en-US" sz="2800" b="1" kern="0" dirty="0">
                <a:solidFill>
                  <a:schemeClr val="accent1">
                    <a:lumMod val="75000"/>
                  </a:schemeClr>
                </a:solidFill>
                <a:sym typeface="Symbol" charset="2"/>
              </a:rPr>
              <a:t>		if (</a:t>
            </a:r>
            <a:r>
              <a:rPr lang="en-US" altLang="en-US" sz="2800" b="1" i="1" kern="0" dirty="0" err="1">
                <a:solidFill>
                  <a:schemeClr val="accent1">
                    <a:lumMod val="75000"/>
                  </a:schemeClr>
                </a:solidFill>
                <a:sym typeface="Symbol" charset="2"/>
              </a:rPr>
              <a:t>S.value</a:t>
            </a:r>
            <a:r>
              <a:rPr lang="en-US" altLang="en-US" sz="2800" b="1" kern="0" dirty="0">
                <a:solidFill>
                  <a:schemeClr val="accent1">
                    <a:lumMod val="75000"/>
                  </a:schemeClr>
                </a:solidFill>
                <a:sym typeface="Symbol" charset="2"/>
              </a:rPr>
              <a:t> &lt;= 0) </a:t>
            </a:r>
          </a:p>
          <a:p>
            <a:pPr>
              <a:buFontTx/>
              <a:buNone/>
              <a:tabLst>
                <a:tab pos="915988" algn="l"/>
                <a:tab pos="2005013" algn="l"/>
                <a:tab pos="2232025" algn="l"/>
                <a:tab pos="2803525" algn="l"/>
                <a:tab pos="3201988" algn="l"/>
              </a:tabLst>
              <a:defRPr/>
            </a:pPr>
            <a:r>
              <a:rPr lang="en-US" altLang="en-US" sz="2800" b="1" kern="0" dirty="0">
                <a:solidFill>
                  <a:schemeClr val="accent1">
                    <a:lumMod val="75000"/>
                  </a:schemeClr>
                </a:solidFill>
                <a:sym typeface="Symbol" charset="2"/>
              </a:rPr>
              <a:t>		{ </a:t>
            </a:r>
          </a:p>
          <a:p>
            <a:pPr>
              <a:buFontTx/>
              <a:buNone/>
              <a:tabLst>
                <a:tab pos="915988" algn="l"/>
                <a:tab pos="2005013" algn="l"/>
                <a:tab pos="2232025" algn="l"/>
                <a:tab pos="2803525" algn="l"/>
                <a:tab pos="3201988" algn="l"/>
              </a:tabLst>
              <a:defRPr/>
            </a:pPr>
            <a:r>
              <a:rPr lang="en-US" altLang="en-US" sz="2800" b="1" kern="0" dirty="0">
                <a:solidFill>
                  <a:schemeClr val="accent1">
                    <a:lumMod val="75000"/>
                  </a:schemeClr>
                </a:solidFill>
                <a:sym typeface="Symbol" charset="2"/>
              </a:rPr>
              <a:t>		   </a:t>
            </a:r>
            <a:r>
              <a:rPr lang="en-US" altLang="en-US" sz="2800" b="1" i="1" kern="0" dirty="0">
                <a:solidFill>
                  <a:schemeClr val="accent1">
                    <a:lumMod val="75000"/>
                  </a:schemeClr>
                </a:solidFill>
                <a:sym typeface="Symbol" charset="2"/>
              </a:rPr>
              <a:t>wakeup</a:t>
            </a:r>
            <a:r>
              <a:rPr lang="en-US" altLang="en-US" sz="2800" b="1" kern="0" dirty="0">
                <a:solidFill>
                  <a:schemeClr val="accent1">
                    <a:lumMod val="75000"/>
                  </a:schemeClr>
                </a:solidFill>
                <a:sym typeface="Symbol" charset="2"/>
              </a:rPr>
              <a:t>(</a:t>
            </a:r>
            <a:r>
              <a:rPr lang="en-US" altLang="en-US" sz="2800" b="1" i="1" kern="0" dirty="0">
                <a:solidFill>
                  <a:schemeClr val="accent1">
                    <a:lumMod val="75000"/>
                  </a:schemeClr>
                </a:solidFill>
                <a:sym typeface="Symbol" charset="2"/>
              </a:rPr>
              <a:t>P</a:t>
            </a:r>
            <a:r>
              <a:rPr lang="en-US" altLang="en-US" sz="2800" b="1" kern="0" dirty="0">
                <a:solidFill>
                  <a:schemeClr val="accent1">
                    <a:lumMod val="75000"/>
                  </a:schemeClr>
                </a:solidFill>
                <a:sym typeface="Symbol" charset="2"/>
              </a:rPr>
              <a:t>);</a:t>
            </a:r>
          </a:p>
          <a:p>
            <a:pPr>
              <a:buFontTx/>
              <a:buNone/>
              <a:tabLst>
                <a:tab pos="915988" algn="l"/>
                <a:tab pos="2005013" algn="l"/>
                <a:tab pos="2232025" algn="l"/>
                <a:tab pos="2803525" algn="l"/>
                <a:tab pos="3201988" algn="l"/>
              </a:tabLst>
              <a:defRPr/>
            </a:pPr>
            <a:r>
              <a:rPr lang="en-US" altLang="en-US" sz="2800" b="1" kern="0" dirty="0">
                <a:solidFill>
                  <a:schemeClr val="accent1">
                    <a:lumMod val="75000"/>
                  </a:schemeClr>
                </a:solidFill>
                <a:sym typeface="Symbol" charset="2"/>
              </a:rPr>
              <a:t>		}</a:t>
            </a:r>
          </a:p>
        </p:txBody>
      </p:sp>
      <p:sp>
        <p:nvSpPr>
          <p:cNvPr id="2" name="TextBox 1">
            <a:extLst>
              <a:ext uri="{FF2B5EF4-FFF2-40B4-BE49-F238E27FC236}">
                <a16:creationId xmlns:a16="http://schemas.microsoft.com/office/drawing/2014/main" id="{5304E16F-661F-400B-B0F9-08D5245820AE}"/>
              </a:ext>
            </a:extLst>
          </p:cNvPr>
          <p:cNvSpPr txBox="1">
            <a:spLocks noChangeArrowheads="1"/>
          </p:cNvSpPr>
          <p:nvPr/>
        </p:nvSpPr>
        <p:spPr bwMode="auto">
          <a:xfrm>
            <a:off x="3862388" y="5970588"/>
            <a:ext cx="488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400" b="1">
                <a:solidFill>
                  <a:srgbClr val="FF0000"/>
                </a:solidFill>
                <a:latin typeface="Comic Sans MS" panose="030F0702030302020204" pitchFamily="66" charset="0"/>
              </a:rPr>
              <a:t>2</a:t>
            </a: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Footer Placeholder 3">
            <a:extLst>
              <a:ext uri="{FF2B5EF4-FFF2-40B4-BE49-F238E27FC236}">
                <a16:creationId xmlns:a16="http://schemas.microsoft.com/office/drawing/2014/main" id="{3313A7F5-CFAF-414C-9DA5-6C8AB486B8D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0723" name="Rectangle 4">
            <a:extLst>
              <a:ext uri="{FF2B5EF4-FFF2-40B4-BE49-F238E27FC236}">
                <a16:creationId xmlns:a16="http://schemas.microsoft.com/office/drawing/2014/main" id="{9ADE51DD-B95F-4C7F-9DC0-27C61F632CB0}"/>
              </a:ext>
            </a:extLst>
          </p:cNvPr>
          <p:cNvSpPr>
            <a:spLocks noChangeArrowheads="1"/>
          </p:cNvSpPr>
          <p:nvPr/>
        </p:nvSpPr>
        <p:spPr bwMode="auto">
          <a:xfrm>
            <a:off x="684213" y="285750"/>
            <a:ext cx="7831137" cy="982663"/>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80899" name="Rectangle 2">
            <a:extLst>
              <a:ext uri="{FF2B5EF4-FFF2-40B4-BE49-F238E27FC236}">
                <a16:creationId xmlns:a16="http://schemas.microsoft.com/office/drawing/2014/main" id="{113C3DD6-A691-44D8-849F-7E4BE5ACB98F}"/>
              </a:ext>
            </a:extLst>
          </p:cNvPr>
          <p:cNvSpPr>
            <a:spLocks noGrp="1" noChangeArrowheads="1"/>
          </p:cNvSpPr>
          <p:nvPr>
            <p:ph type="title"/>
          </p:nvPr>
        </p:nvSpPr>
        <p:spPr>
          <a:xfrm>
            <a:off x="598488" y="495300"/>
            <a:ext cx="8261350" cy="457200"/>
          </a:xfrm>
        </p:spPr>
        <p:txBody>
          <a:bodyPr/>
          <a:lstStyle/>
          <a:p>
            <a:r>
              <a:rPr lang="en-US" altLang="en-US"/>
              <a:t>Blocking Semaphore Implementation </a:t>
            </a:r>
            <a:br>
              <a:rPr lang="en-US" altLang="en-US"/>
            </a:br>
            <a:r>
              <a:rPr lang="en-US" altLang="en-US"/>
              <a:t>Wait and Signal must still be atomic?</a:t>
            </a:r>
          </a:p>
        </p:txBody>
      </p:sp>
      <p:sp>
        <p:nvSpPr>
          <p:cNvPr id="78852" name="Rectangle 3">
            <a:extLst>
              <a:ext uri="{FF2B5EF4-FFF2-40B4-BE49-F238E27FC236}">
                <a16:creationId xmlns:a16="http://schemas.microsoft.com/office/drawing/2014/main" id="{350CE62E-9854-4012-9978-75CCF0CD9EA5}"/>
              </a:ext>
            </a:extLst>
          </p:cNvPr>
          <p:cNvSpPr>
            <a:spLocks noGrp="1" noChangeArrowheads="1"/>
          </p:cNvSpPr>
          <p:nvPr>
            <p:ph type="body" idx="1"/>
          </p:nvPr>
        </p:nvSpPr>
        <p:spPr>
          <a:xfrm>
            <a:off x="254000" y="1558925"/>
            <a:ext cx="3822700" cy="2117725"/>
          </a:xfrm>
        </p:spPr>
        <p:txBody>
          <a:bodyPr/>
          <a:lstStyle/>
          <a:p>
            <a:pPr>
              <a:buFontTx/>
              <a:buNone/>
              <a:tabLst>
                <a:tab pos="915988" algn="l"/>
                <a:tab pos="2005013" algn="l"/>
                <a:tab pos="2232025" algn="l"/>
                <a:tab pos="2803525" algn="l"/>
                <a:tab pos="3201988" algn="l"/>
              </a:tabLst>
              <a:defRPr/>
            </a:pPr>
            <a:r>
              <a:rPr lang="en-US" altLang="en-US" i="1" dirty="0">
                <a:solidFill>
                  <a:srgbClr val="FF0000"/>
                </a:solidFill>
              </a:rPr>
              <a:t>Wait</a:t>
            </a:r>
            <a:r>
              <a:rPr lang="en-US" altLang="en-US" dirty="0">
                <a:solidFill>
                  <a:srgbClr val="FF0000"/>
                </a:solidFill>
              </a:rPr>
              <a:t>(</a:t>
            </a:r>
            <a:r>
              <a:rPr lang="en-US" altLang="en-US" i="1" dirty="0">
                <a:solidFill>
                  <a:srgbClr val="FF0000"/>
                </a:solidFill>
              </a:rPr>
              <a:t>S</a:t>
            </a:r>
            <a:r>
              <a:rPr lang="en-US" altLang="en-US" dirty="0">
                <a:solidFill>
                  <a:srgbClr val="FF0000"/>
                </a:solidFill>
              </a:rPr>
              <a:t>): </a:t>
            </a:r>
            <a:r>
              <a:rPr lang="en-US" altLang="en-US" b="1" i="1" dirty="0" err="1">
                <a:solidFill>
                  <a:schemeClr val="accent1">
                    <a:lumMod val="75000"/>
                  </a:schemeClr>
                </a:solidFill>
              </a:rPr>
              <a:t>S.value</a:t>
            </a:r>
            <a:r>
              <a:rPr lang="en-US" altLang="en-US" b="1" dirty="0">
                <a:solidFill>
                  <a:schemeClr val="accent1">
                    <a:lumMod val="75000"/>
                  </a:schemeClr>
                </a:solidFill>
              </a:rPr>
              <a:t>--</a:t>
            </a:r>
            <a:r>
              <a:rPr lang="en-US" altLang="en-US" b="1" dirty="0">
                <a:solidFill>
                  <a:schemeClr val="accent1">
                    <a:lumMod val="75000"/>
                  </a:schemeClr>
                </a:solidFill>
                <a:sym typeface="Symbol" charset="2"/>
              </a:rPr>
              <a:t>;</a:t>
            </a:r>
          </a:p>
          <a:p>
            <a:pPr>
              <a:lnSpc>
                <a:spcPct val="90000"/>
              </a:lnSpc>
              <a:buFontTx/>
              <a:buNone/>
              <a:tabLst>
                <a:tab pos="915988" algn="l"/>
                <a:tab pos="2005013" algn="l"/>
                <a:tab pos="2232025" algn="l"/>
                <a:tab pos="2803525" algn="l"/>
                <a:tab pos="3201988" algn="l"/>
              </a:tabLst>
              <a:defRPr/>
            </a:pPr>
            <a:r>
              <a:rPr lang="en-US" altLang="en-US" b="1" dirty="0">
                <a:solidFill>
                  <a:schemeClr val="accent1">
                    <a:lumMod val="75000"/>
                  </a:schemeClr>
                </a:solidFill>
                <a:sym typeface="Symbol" charset="2"/>
              </a:rPr>
              <a:t>		if (</a:t>
            </a:r>
            <a:r>
              <a:rPr lang="en-US" altLang="en-US" b="1" i="1" dirty="0" err="1">
                <a:solidFill>
                  <a:schemeClr val="accent1">
                    <a:lumMod val="75000"/>
                  </a:schemeClr>
                </a:solidFill>
                <a:sym typeface="Symbol" charset="2"/>
              </a:rPr>
              <a:t>S.value</a:t>
            </a:r>
            <a:r>
              <a:rPr lang="en-US" altLang="en-US" b="1" dirty="0">
                <a:solidFill>
                  <a:schemeClr val="accent1">
                    <a:lumMod val="75000"/>
                  </a:schemeClr>
                </a:solidFill>
                <a:sym typeface="Symbol" charset="2"/>
              </a:rPr>
              <a:t> &lt; 0) </a:t>
            </a:r>
          </a:p>
          <a:p>
            <a:pPr>
              <a:lnSpc>
                <a:spcPct val="90000"/>
              </a:lnSpc>
              <a:buFontTx/>
              <a:buNone/>
              <a:tabLst>
                <a:tab pos="915988" algn="l"/>
                <a:tab pos="2005013" algn="l"/>
                <a:tab pos="2232025" algn="l"/>
                <a:tab pos="2803525" algn="l"/>
                <a:tab pos="3201988" algn="l"/>
              </a:tabLst>
              <a:defRPr/>
            </a:pPr>
            <a:r>
              <a:rPr lang="en-US" altLang="en-US" b="1" dirty="0">
                <a:solidFill>
                  <a:schemeClr val="accent1">
                    <a:lumMod val="75000"/>
                  </a:schemeClr>
                </a:solidFill>
                <a:sym typeface="Symbol" charset="2"/>
              </a:rPr>
              <a:t>		{ </a:t>
            </a:r>
            <a:r>
              <a:rPr lang="en-US" altLang="en-US" b="1" i="1" dirty="0">
                <a:solidFill>
                  <a:schemeClr val="accent1">
                    <a:lumMod val="75000"/>
                  </a:schemeClr>
                </a:solidFill>
                <a:sym typeface="Symbol" charset="2"/>
              </a:rPr>
              <a:t>block</a:t>
            </a:r>
            <a:r>
              <a:rPr lang="en-US" altLang="en-US" b="1" dirty="0">
                <a:solidFill>
                  <a:schemeClr val="accent1">
                    <a:lumMod val="75000"/>
                  </a:schemeClr>
                </a:solidFill>
                <a:sym typeface="Symbol" charset="2"/>
              </a:rPr>
              <a:t>( ); }</a:t>
            </a:r>
          </a:p>
          <a:p>
            <a:pPr>
              <a:lnSpc>
                <a:spcPct val="90000"/>
              </a:lnSpc>
              <a:buFontTx/>
              <a:buNone/>
              <a:tabLst>
                <a:tab pos="915988" algn="l"/>
                <a:tab pos="2005013" algn="l"/>
                <a:tab pos="2232025" algn="l"/>
                <a:tab pos="2803525" algn="l"/>
                <a:tab pos="3201988" algn="l"/>
              </a:tabLst>
              <a:defRPr/>
            </a:pPr>
            <a:endParaRPr lang="en-US" altLang="en-US" b="1" dirty="0">
              <a:solidFill>
                <a:schemeClr val="accent1">
                  <a:lumMod val="75000"/>
                </a:schemeClr>
              </a:solidFill>
              <a:sym typeface="Symbol" charset="2"/>
            </a:endParaRPr>
          </a:p>
          <a:p>
            <a:pPr marL="330200" lvl="2" indent="-265113">
              <a:buFont typeface="+mj-lt"/>
              <a:buAutoNum type="arabicPeriod"/>
              <a:tabLst>
                <a:tab pos="2005013" algn="l"/>
                <a:tab pos="2339975" algn="l"/>
                <a:tab pos="2630488" algn="l"/>
              </a:tabLst>
              <a:defRPr/>
            </a:pPr>
            <a:r>
              <a:rPr lang="en-US" altLang="en-US" i="0" dirty="0"/>
              <a:t>Initially, </a:t>
            </a:r>
            <a:r>
              <a:rPr lang="en-US" altLang="en-US" b="1" i="0" dirty="0" err="1">
                <a:solidFill>
                  <a:schemeClr val="accent1">
                    <a:lumMod val="75000"/>
                  </a:schemeClr>
                </a:solidFill>
              </a:rPr>
              <a:t>S.value</a:t>
            </a:r>
            <a:r>
              <a:rPr lang="en-US" altLang="en-US" b="1" i="0" dirty="0">
                <a:solidFill>
                  <a:schemeClr val="accent1">
                    <a:lumMod val="75000"/>
                  </a:schemeClr>
                </a:solidFill>
              </a:rPr>
              <a:t> = 1</a:t>
            </a:r>
            <a:endParaRPr lang="en-US" altLang="en-US" b="1" i="0" dirty="0"/>
          </a:p>
          <a:p>
            <a:pPr marL="330200" lvl="2" indent="-265113">
              <a:buFont typeface="+mj-lt"/>
              <a:buAutoNum type="arabicPeriod"/>
              <a:tabLst>
                <a:tab pos="2005013" algn="l"/>
                <a:tab pos="2339975" algn="l"/>
                <a:tab pos="2630488" algn="l"/>
              </a:tabLst>
              <a:defRPr/>
            </a:pPr>
            <a:r>
              <a:rPr lang="en-US" altLang="en-US" i="0" dirty="0"/>
              <a:t>Process P</a:t>
            </a:r>
            <a:r>
              <a:rPr lang="en-US" altLang="en-US" i="0" baseline="-25000" dirty="0"/>
              <a:t>0</a:t>
            </a:r>
            <a:r>
              <a:rPr lang="en-US" altLang="en-US" i="0" dirty="0"/>
              <a:t> executes </a:t>
            </a:r>
            <a:r>
              <a:rPr lang="en-US" altLang="en-US" b="1" i="0" dirty="0" err="1">
                <a:solidFill>
                  <a:schemeClr val="accent1">
                    <a:lumMod val="75000"/>
                  </a:schemeClr>
                </a:solidFill>
              </a:rPr>
              <a:t>S.value</a:t>
            </a:r>
            <a:r>
              <a:rPr lang="en-US" altLang="en-US" b="1" i="0" dirty="0">
                <a:solidFill>
                  <a:schemeClr val="accent1">
                    <a:lumMod val="75000"/>
                  </a:schemeClr>
                </a:solidFill>
              </a:rPr>
              <a:t>--</a:t>
            </a:r>
            <a:r>
              <a:rPr lang="en-US" altLang="en-US" b="1" i="0" dirty="0">
                <a:solidFill>
                  <a:schemeClr val="accent1">
                    <a:lumMod val="75000"/>
                  </a:schemeClr>
                </a:solidFill>
                <a:sym typeface="Symbol" charset="2"/>
              </a:rPr>
              <a:t>;</a:t>
            </a:r>
            <a:endParaRPr lang="en-US" altLang="en-US" i="0" dirty="0">
              <a:sym typeface="Symbol" charset="2"/>
            </a:endParaRPr>
          </a:p>
          <a:p>
            <a:pPr marL="330200" lvl="2" indent="-265113">
              <a:buFont typeface="+mj-lt"/>
              <a:buAutoNum type="arabicPeriod"/>
              <a:tabLst>
                <a:tab pos="2005013" algn="l"/>
                <a:tab pos="2339975" algn="l"/>
                <a:tab pos="2630488" algn="l"/>
              </a:tabLst>
              <a:defRPr/>
            </a:pPr>
            <a:r>
              <a:rPr lang="en-US" altLang="en-US" b="1" i="0" dirty="0">
                <a:sym typeface="Symbol" charset="2"/>
              </a:rPr>
              <a:t>Context switch from P</a:t>
            </a:r>
            <a:r>
              <a:rPr lang="en-US" altLang="en-US" b="1" i="0" baseline="-25000" dirty="0">
                <a:sym typeface="Symbol" charset="2"/>
              </a:rPr>
              <a:t>0</a:t>
            </a:r>
            <a:r>
              <a:rPr lang="en-US" altLang="en-US" b="1" i="0" dirty="0">
                <a:sym typeface="Symbol" charset="2"/>
              </a:rPr>
              <a:t> to P</a:t>
            </a:r>
            <a:r>
              <a:rPr lang="en-US" altLang="en-US" b="1" i="0" baseline="-25000" dirty="0">
                <a:sym typeface="Symbol" charset="2"/>
              </a:rPr>
              <a:t>1</a:t>
            </a:r>
          </a:p>
          <a:p>
            <a:pPr marL="330200" lvl="2" indent="-265113">
              <a:buFont typeface="+mj-lt"/>
              <a:buAutoNum type="arabicPeriod"/>
              <a:tabLst>
                <a:tab pos="2005013" algn="l"/>
                <a:tab pos="2339975" algn="l"/>
                <a:tab pos="2630488" algn="l"/>
              </a:tabLst>
              <a:defRPr/>
            </a:pPr>
            <a:r>
              <a:rPr lang="en-US" altLang="en-US" i="0" dirty="0">
                <a:sym typeface="Symbol" charset="2"/>
              </a:rPr>
              <a:t>Process P</a:t>
            </a:r>
            <a:r>
              <a:rPr lang="en-US" altLang="en-US" i="0" baseline="-25000" dirty="0">
                <a:sym typeface="Symbol" charset="2"/>
              </a:rPr>
              <a:t>1</a:t>
            </a:r>
            <a:r>
              <a:rPr lang="en-US" altLang="en-US" i="0" dirty="0">
                <a:sym typeface="Symbol" charset="2"/>
              </a:rPr>
              <a:t> executes </a:t>
            </a:r>
            <a:r>
              <a:rPr lang="en-US" altLang="en-US" b="1" i="0" dirty="0" err="1">
                <a:solidFill>
                  <a:schemeClr val="accent1">
                    <a:lumMod val="75000"/>
                  </a:schemeClr>
                </a:solidFill>
              </a:rPr>
              <a:t>S.value</a:t>
            </a:r>
            <a:r>
              <a:rPr lang="en-US" altLang="en-US" b="1" i="0" dirty="0">
                <a:solidFill>
                  <a:schemeClr val="accent1">
                    <a:lumMod val="75000"/>
                  </a:schemeClr>
                </a:solidFill>
              </a:rPr>
              <a:t>--; </a:t>
            </a:r>
            <a:r>
              <a:rPr lang="en-US" altLang="en-US" i="0" dirty="0">
                <a:sym typeface="Symbol" charset="2"/>
              </a:rPr>
              <a:t>and blocks since </a:t>
            </a:r>
            <a:r>
              <a:rPr lang="en-US" altLang="en-US" b="1" i="0" dirty="0" err="1">
                <a:solidFill>
                  <a:schemeClr val="accent1">
                    <a:lumMod val="75000"/>
                  </a:schemeClr>
                </a:solidFill>
                <a:sym typeface="Symbol" charset="2"/>
              </a:rPr>
              <a:t>S.value</a:t>
            </a:r>
            <a:r>
              <a:rPr lang="en-US" altLang="en-US" b="1" i="0" dirty="0">
                <a:solidFill>
                  <a:schemeClr val="accent1">
                    <a:lumMod val="75000"/>
                  </a:schemeClr>
                </a:solidFill>
                <a:sym typeface="Symbol" charset="2"/>
              </a:rPr>
              <a:t> = -1</a:t>
            </a:r>
          </a:p>
          <a:p>
            <a:pPr marL="330200" lvl="2" indent="-265113">
              <a:buFont typeface="+mj-lt"/>
              <a:buAutoNum type="arabicPeriod"/>
              <a:tabLst>
                <a:tab pos="2005013" algn="l"/>
                <a:tab pos="2339975" algn="l"/>
                <a:tab pos="2630488" algn="l"/>
              </a:tabLst>
              <a:defRPr/>
            </a:pPr>
            <a:r>
              <a:rPr lang="en-US" altLang="en-US" b="1" i="0" dirty="0">
                <a:sym typeface="Symbol" charset="2"/>
              </a:rPr>
              <a:t>Context switch from P</a:t>
            </a:r>
            <a:r>
              <a:rPr lang="en-US" altLang="en-US" b="1" i="0" baseline="-25000" dirty="0">
                <a:sym typeface="Symbol" charset="2"/>
              </a:rPr>
              <a:t>1</a:t>
            </a:r>
            <a:r>
              <a:rPr lang="en-US" altLang="en-US" b="1" i="0" dirty="0">
                <a:sym typeface="Symbol" charset="2"/>
              </a:rPr>
              <a:t> to P</a:t>
            </a:r>
            <a:r>
              <a:rPr lang="en-US" altLang="en-US" b="1" i="0" baseline="-25000" dirty="0">
                <a:sym typeface="Symbol" charset="2"/>
              </a:rPr>
              <a:t>0</a:t>
            </a:r>
          </a:p>
          <a:p>
            <a:pPr marL="330200" lvl="2" indent="-265113">
              <a:buFont typeface="+mj-lt"/>
              <a:buAutoNum type="arabicPeriod"/>
              <a:tabLst>
                <a:tab pos="2005013" algn="l"/>
                <a:tab pos="2339975" algn="l"/>
                <a:tab pos="2630488" algn="l"/>
              </a:tabLst>
              <a:defRPr/>
            </a:pPr>
            <a:r>
              <a:rPr lang="en-US" altLang="en-US" i="0" dirty="0">
                <a:sym typeface="Symbol" charset="2"/>
              </a:rPr>
              <a:t>Process P</a:t>
            </a:r>
            <a:r>
              <a:rPr lang="en-US" altLang="en-US" i="0" baseline="-25000" dirty="0">
                <a:sym typeface="Symbol" charset="2"/>
              </a:rPr>
              <a:t>0</a:t>
            </a:r>
            <a:r>
              <a:rPr lang="en-US" altLang="en-US" i="0" dirty="0">
                <a:sym typeface="Symbol" charset="2"/>
              </a:rPr>
              <a:t> also blocks</a:t>
            </a:r>
            <a:endParaRPr lang="en-US" altLang="en-US" b="1" i="0" dirty="0">
              <a:solidFill>
                <a:schemeClr val="accent1">
                  <a:lumMod val="75000"/>
                </a:schemeClr>
              </a:solidFill>
              <a:sym typeface="Symbol" charset="2"/>
            </a:endParaRPr>
          </a:p>
          <a:p>
            <a:pPr marL="330200" lvl="2" indent="-265113">
              <a:buFont typeface="+mj-lt"/>
              <a:buAutoNum type="arabicPeriod"/>
              <a:tabLst>
                <a:tab pos="2005013" algn="l"/>
                <a:tab pos="2339975" algn="l"/>
                <a:tab pos="2630488" algn="l"/>
              </a:tabLst>
              <a:defRPr/>
            </a:pPr>
            <a:r>
              <a:rPr lang="en-US" altLang="en-US" dirty="0">
                <a:solidFill>
                  <a:schemeClr val="accent2"/>
                </a:solidFill>
              </a:rPr>
              <a:t>Progress for P</a:t>
            </a:r>
            <a:r>
              <a:rPr lang="en-US" altLang="en-US" baseline="-25000" dirty="0">
                <a:solidFill>
                  <a:schemeClr val="accent2"/>
                </a:solidFill>
              </a:rPr>
              <a:t>0</a:t>
            </a:r>
            <a:r>
              <a:rPr lang="en-US" altLang="en-US" dirty="0">
                <a:solidFill>
                  <a:schemeClr val="accent2"/>
                </a:solidFill>
              </a:rPr>
              <a:t> and P</a:t>
            </a:r>
            <a:r>
              <a:rPr lang="en-US" altLang="en-US" baseline="-25000" dirty="0">
                <a:solidFill>
                  <a:schemeClr val="accent2"/>
                </a:solidFill>
              </a:rPr>
              <a:t>1</a:t>
            </a:r>
            <a:r>
              <a:rPr lang="en-US" altLang="en-US" dirty="0">
                <a:solidFill>
                  <a:schemeClr val="accent2"/>
                </a:solidFill>
              </a:rPr>
              <a:t>? </a:t>
            </a:r>
            <a:r>
              <a:rPr lang="en-US" altLang="en-US" b="1" dirty="0">
                <a:solidFill>
                  <a:srgbClr val="FF0000"/>
                </a:solidFill>
                <a:sym typeface="Wingdings"/>
              </a:rPr>
              <a:t></a:t>
            </a:r>
          </a:p>
          <a:p>
            <a:pPr>
              <a:lnSpc>
                <a:spcPct val="90000"/>
              </a:lnSpc>
              <a:buFontTx/>
              <a:buNone/>
              <a:tabLst>
                <a:tab pos="915988" algn="l"/>
                <a:tab pos="2005013" algn="l"/>
                <a:tab pos="2232025" algn="l"/>
                <a:tab pos="2803525" algn="l"/>
                <a:tab pos="3201988" algn="l"/>
              </a:tabLst>
              <a:defRPr/>
            </a:pPr>
            <a:r>
              <a:rPr lang="en-US" altLang="en-US" sz="2800" dirty="0">
                <a:sym typeface="Symbol" charset="2"/>
              </a:rPr>
              <a:t>			 </a:t>
            </a:r>
          </a:p>
        </p:txBody>
      </p:sp>
      <p:sp>
        <p:nvSpPr>
          <p:cNvPr id="7" name="Rectangle 4">
            <a:extLst>
              <a:ext uri="{FF2B5EF4-FFF2-40B4-BE49-F238E27FC236}">
                <a16:creationId xmlns:a16="http://schemas.microsoft.com/office/drawing/2014/main" id="{F751FBA6-53E7-4BF3-83DF-E5E668D2305B}"/>
              </a:ext>
            </a:extLst>
          </p:cNvPr>
          <p:cNvSpPr txBox="1">
            <a:spLocks noChangeArrowheads="1"/>
          </p:cNvSpPr>
          <p:nvPr/>
        </p:nvSpPr>
        <p:spPr bwMode="auto">
          <a:xfrm>
            <a:off x="4351338" y="1528763"/>
            <a:ext cx="4792662" cy="5043487"/>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a:buFontTx/>
              <a:buNone/>
              <a:tabLst>
                <a:tab pos="915988" algn="l"/>
                <a:tab pos="2005013" algn="l"/>
                <a:tab pos="2232025" algn="l"/>
                <a:tab pos="2803525" algn="l"/>
                <a:tab pos="3201988" algn="l"/>
              </a:tabLst>
              <a:defRPr/>
            </a:pPr>
            <a:r>
              <a:rPr lang="en-US" altLang="en-US" kern="0" dirty="0">
                <a:sym typeface="Symbol" charset="2"/>
              </a:rPr>
              <a:t>	</a:t>
            </a:r>
            <a:r>
              <a:rPr lang="en-US" altLang="en-US" i="1" kern="0" dirty="0">
                <a:solidFill>
                  <a:srgbClr val="FF0000"/>
                </a:solidFill>
                <a:sym typeface="Symbol" charset="2"/>
              </a:rPr>
              <a:t>Signal</a:t>
            </a:r>
            <a:r>
              <a:rPr lang="en-US" altLang="en-US" kern="0" dirty="0">
                <a:solidFill>
                  <a:srgbClr val="FF0000"/>
                </a:solidFill>
                <a:sym typeface="Symbol" charset="2"/>
              </a:rPr>
              <a:t>(</a:t>
            </a:r>
            <a:r>
              <a:rPr lang="en-US" altLang="en-US" i="1" kern="0" dirty="0">
                <a:solidFill>
                  <a:srgbClr val="FF0000"/>
                </a:solidFill>
                <a:sym typeface="Symbol" charset="2"/>
              </a:rPr>
              <a:t>S</a:t>
            </a:r>
            <a:r>
              <a:rPr lang="en-US" altLang="en-US" kern="0" dirty="0">
                <a:solidFill>
                  <a:srgbClr val="FF0000"/>
                </a:solidFill>
                <a:sym typeface="Symbol" charset="2"/>
              </a:rPr>
              <a:t>): </a:t>
            </a:r>
            <a:r>
              <a:rPr lang="en-US" altLang="en-US" b="1" i="1" kern="0" dirty="0" err="1">
                <a:solidFill>
                  <a:schemeClr val="accent1">
                    <a:lumMod val="75000"/>
                  </a:schemeClr>
                </a:solidFill>
                <a:sym typeface="Symbol" charset="2"/>
              </a:rPr>
              <a:t>S.value</a:t>
            </a:r>
            <a:r>
              <a:rPr lang="en-US" altLang="en-US" b="1" i="1" kern="0" dirty="0">
                <a:solidFill>
                  <a:schemeClr val="accent1">
                    <a:lumMod val="75000"/>
                  </a:schemeClr>
                </a:solidFill>
                <a:sym typeface="Symbol" charset="2"/>
              </a:rPr>
              <a:t>++</a:t>
            </a:r>
            <a:r>
              <a:rPr lang="en-US" altLang="en-US" b="1" kern="0" dirty="0">
                <a:solidFill>
                  <a:schemeClr val="accent1">
                    <a:lumMod val="75000"/>
                  </a:schemeClr>
                </a:solidFill>
                <a:sym typeface="Symbol" charset="2"/>
              </a:rPr>
              <a:t>;</a:t>
            </a:r>
          </a:p>
          <a:p>
            <a:pPr>
              <a:buFontTx/>
              <a:buNone/>
              <a:tabLst>
                <a:tab pos="915988" algn="l"/>
                <a:tab pos="2005013" algn="l"/>
                <a:tab pos="2232025" algn="l"/>
                <a:tab pos="2803525" algn="l"/>
                <a:tab pos="3201988" algn="l"/>
              </a:tabLst>
              <a:defRPr/>
            </a:pPr>
            <a:r>
              <a:rPr lang="en-US" altLang="en-US" b="1" kern="0" dirty="0">
                <a:solidFill>
                  <a:schemeClr val="accent1">
                    <a:lumMod val="75000"/>
                  </a:schemeClr>
                </a:solidFill>
                <a:sym typeface="Symbol" charset="2"/>
              </a:rPr>
              <a:t>		      if (</a:t>
            </a:r>
            <a:r>
              <a:rPr lang="en-US" altLang="en-US" b="1" i="1" kern="0" dirty="0" err="1">
                <a:solidFill>
                  <a:schemeClr val="accent1">
                    <a:lumMod val="75000"/>
                  </a:schemeClr>
                </a:solidFill>
                <a:sym typeface="Symbol" charset="2"/>
              </a:rPr>
              <a:t>S.value</a:t>
            </a:r>
            <a:r>
              <a:rPr lang="en-US" altLang="en-US" b="1" kern="0" dirty="0">
                <a:solidFill>
                  <a:schemeClr val="accent1">
                    <a:lumMod val="75000"/>
                  </a:schemeClr>
                </a:solidFill>
                <a:sym typeface="Symbol" charset="2"/>
              </a:rPr>
              <a:t> &lt;= 0) </a:t>
            </a:r>
          </a:p>
          <a:p>
            <a:pPr>
              <a:buFontTx/>
              <a:buNone/>
              <a:tabLst>
                <a:tab pos="915988" algn="l"/>
                <a:tab pos="2005013" algn="l"/>
                <a:tab pos="2232025" algn="l"/>
                <a:tab pos="2803525" algn="l"/>
                <a:tab pos="3201988" algn="l"/>
              </a:tabLst>
              <a:defRPr/>
            </a:pPr>
            <a:r>
              <a:rPr lang="en-US" altLang="en-US" b="1" kern="0" dirty="0">
                <a:solidFill>
                  <a:schemeClr val="accent1">
                    <a:lumMod val="75000"/>
                  </a:schemeClr>
                </a:solidFill>
                <a:sym typeface="Symbol" charset="2"/>
              </a:rPr>
              <a:t>		      { </a:t>
            </a:r>
            <a:r>
              <a:rPr lang="en-US" altLang="en-US" b="1" i="1" kern="0" dirty="0">
                <a:solidFill>
                  <a:schemeClr val="accent1">
                    <a:lumMod val="75000"/>
                  </a:schemeClr>
                </a:solidFill>
                <a:sym typeface="Symbol" charset="2"/>
              </a:rPr>
              <a:t>wakeup</a:t>
            </a:r>
            <a:r>
              <a:rPr lang="en-US" altLang="en-US" b="1" kern="0" dirty="0">
                <a:solidFill>
                  <a:schemeClr val="accent1">
                    <a:lumMod val="75000"/>
                  </a:schemeClr>
                </a:solidFill>
                <a:sym typeface="Symbol" charset="2"/>
              </a:rPr>
              <a:t>(</a:t>
            </a:r>
            <a:r>
              <a:rPr lang="en-US" altLang="en-US" b="1" i="1" kern="0" dirty="0">
                <a:solidFill>
                  <a:schemeClr val="accent1">
                    <a:lumMod val="75000"/>
                  </a:schemeClr>
                </a:solidFill>
                <a:sym typeface="Symbol" charset="2"/>
              </a:rPr>
              <a:t>P</a:t>
            </a:r>
            <a:r>
              <a:rPr lang="en-US" altLang="en-US" b="1" kern="0" dirty="0">
                <a:solidFill>
                  <a:schemeClr val="accent1">
                    <a:lumMod val="75000"/>
                  </a:schemeClr>
                </a:solidFill>
                <a:sym typeface="Symbol" charset="2"/>
              </a:rPr>
              <a:t>); }</a:t>
            </a:r>
          </a:p>
          <a:p>
            <a:pPr>
              <a:buFontTx/>
              <a:buNone/>
              <a:tabLst>
                <a:tab pos="915988" algn="l"/>
                <a:tab pos="2005013" algn="l"/>
                <a:tab pos="2232025" algn="l"/>
                <a:tab pos="2803525" algn="l"/>
                <a:tab pos="3201988" algn="l"/>
              </a:tabLst>
              <a:defRPr/>
            </a:pPr>
            <a:endParaRPr lang="en-US" altLang="en-US" b="1" kern="0" dirty="0">
              <a:solidFill>
                <a:schemeClr val="accent1">
                  <a:lumMod val="75000"/>
                </a:schemeClr>
              </a:solidFill>
              <a:sym typeface="Symbol" charset="2"/>
            </a:endParaRPr>
          </a:p>
          <a:p>
            <a:pPr marL="330200" lvl="2" indent="-265113">
              <a:buFont typeface="+mj-lt"/>
              <a:buAutoNum type="arabicPeriod"/>
              <a:tabLst>
                <a:tab pos="2005013" algn="l"/>
                <a:tab pos="2339975" algn="l"/>
                <a:tab pos="2630488" algn="l"/>
              </a:tabLst>
              <a:defRPr/>
            </a:pPr>
            <a:r>
              <a:rPr lang="en-US" altLang="en-US" i="0" dirty="0"/>
              <a:t>Initially, </a:t>
            </a:r>
            <a:r>
              <a:rPr lang="en-US" altLang="en-US" b="1" i="0" dirty="0" err="1">
                <a:solidFill>
                  <a:schemeClr val="accent1">
                    <a:lumMod val="75000"/>
                  </a:schemeClr>
                </a:solidFill>
              </a:rPr>
              <a:t>S.value</a:t>
            </a:r>
            <a:r>
              <a:rPr lang="en-US" altLang="en-US" b="1" i="0" dirty="0">
                <a:solidFill>
                  <a:schemeClr val="accent1">
                    <a:lumMod val="75000"/>
                  </a:schemeClr>
                </a:solidFill>
              </a:rPr>
              <a:t> = -1 </a:t>
            </a:r>
            <a:r>
              <a:rPr lang="en-US" altLang="en-US" i="0" dirty="0"/>
              <a:t>(P</a:t>
            </a:r>
            <a:r>
              <a:rPr lang="en-US" altLang="en-US" i="0" baseline="-25000" dirty="0"/>
              <a:t>2</a:t>
            </a:r>
            <a:r>
              <a:rPr lang="en-US" altLang="en-US" i="0" dirty="0"/>
              <a:t> blocked for </a:t>
            </a:r>
            <a:r>
              <a:rPr lang="en-US" altLang="en-US" b="1" i="0" dirty="0">
                <a:solidFill>
                  <a:schemeClr val="accent1">
                    <a:lumMod val="75000"/>
                  </a:schemeClr>
                </a:solidFill>
              </a:rPr>
              <a:t>S</a:t>
            </a:r>
            <a:r>
              <a:rPr lang="en-US" altLang="en-US" i="0" dirty="0"/>
              <a:t>)</a:t>
            </a:r>
            <a:endParaRPr lang="en-US" altLang="en-US" b="1" i="0" dirty="0"/>
          </a:p>
          <a:p>
            <a:pPr marL="330200" lvl="2" indent="-265113">
              <a:buFont typeface="+mj-lt"/>
              <a:buAutoNum type="arabicPeriod"/>
              <a:tabLst>
                <a:tab pos="2005013" algn="l"/>
                <a:tab pos="2339975" algn="l"/>
                <a:tab pos="2630488" algn="l"/>
              </a:tabLst>
              <a:defRPr/>
            </a:pPr>
            <a:r>
              <a:rPr lang="en-US" altLang="en-US" i="0" dirty="0"/>
              <a:t>Process P</a:t>
            </a:r>
            <a:r>
              <a:rPr lang="en-US" altLang="en-US" i="0" baseline="-25000" dirty="0"/>
              <a:t>0</a:t>
            </a:r>
            <a:r>
              <a:rPr lang="en-US" altLang="en-US" i="0" dirty="0"/>
              <a:t> executes </a:t>
            </a:r>
            <a:r>
              <a:rPr lang="en-US" altLang="en-US" b="1" i="0" dirty="0" err="1">
                <a:solidFill>
                  <a:schemeClr val="accent1">
                    <a:lumMod val="75000"/>
                  </a:schemeClr>
                </a:solidFill>
              </a:rPr>
              <a:t>S.value</a:t>
            </a:r>
            <a:r>
              <a:rPr lang="en-US" altLang="en-US" b="1" i="0" dirty="0">
                <a:solidFill>
                  <a:schemeClr val="accent1">
                    <a:lumMod val="75000"/>
                  </a:schemeClr>
                </a:solidFill>
              </a:rPr>
              <a:t>++</a:t>
            </a:r>
            <a:r>
              <a:rPr lang="en-US" altLang="en-US" b="1" i="0" dirty="0">
                <a:solidFill>
                  <a:schemeClr val="accent1">
                    <a:lumMod val="75000"/>
                  </a:schemeClr>
                </a:solidFill>
                <a:sym typeface="Symbol" charset="2"/>
              </a:rPr>
              <a:t>;</a:t>
            </a:r>
            <a:endParaRPr lang="en-US" altLang="en-US" i="0" dirty="0">
              <a:sym typeface="Symbol" charset="2"/>
            </a:endParaRPr>
          </a:p>
          <a:p>
            <a:pPr marL="330200" lvl="2" indent="-265113">
              <a:buFont typeface="+mj-lt"/>
              <a:buAutoNum type="arabicPeriod"/>
              <a:tabLst>
                <a:tab pos="2005013" algn="l"/>
                <a:tab pos="2339975" algn="l"/>
                <a:tab pos="2630488" algn="l"/>
              </a:tabLst>
              <a:defRPr/>
            </a:pPr>
            <a:r>
              <a:rPr lang="en-US" altLang="en-US" b="1" i="0" dirty="0">
                <a:sym typeface="Symbol" charset="2"/>
              </a:rPr>
              <a:t>Context switch from P</a:t>
            </a:r>
            <a:r>
              <a:rPr lang="en-US" altLang="en-US" b="1" i="0" baseline="-25000" dirty="0">
                <a:sym typeface="Symbol" charset="2"/>
              </a:rPr>
              <a:t>0</a:t>
            </a:r>
            <a:r>
              <a:rPr lang="en-US" altLang="en-US" b="1" i="0" dirty="0">
                <a:sym typeface="Symbol" charset="2"/>
              </a:rPr>
              <a:t> to P</a:t>
            </a:r>
            <a:r>
              <a:rPr lang="en-US" altLang="en-US" b="1" i="0" baseline="-25000" dirty="0">
                <a:sym typeface="Symbol" charset="2"/>
              </a:rPr>
              <a:t>1</a:t>
            </a:r>
          </a:p>
          <a:p>
            <a:pPr marL="330200" lvl="2" indent="-265113">
              <a:buFont typeface="+mj-lt"/>
              <a:buAutoNum type="arabicPeriod"/>
              <a:tabLst>
                <a:tab pos="2005013" algn="l"/>
                <a:tab pos="2339975" algn="l"/>
                <a:tab pos="2630488" algn="l"/>
              </a:tabLst>
              <a:defRPr/>
            </a:pPr>
            <a:r>
              <a:rPr lang="en-US" altLang="en-US" i="0" dirty="0">
                <a:sym typeface="Symbol" charset="2"/>
              </a:rPr>
              <a:t>Process P</a:t>
            </a:r>
            <a:r>
              <a:rPr lang="en-US" altLang="en-US" i="0" baseline="-25000" dirty="0">
                <a:sym typeface="Symbol" charset="2"/>
              </a:rPr>
              <a:t>1</a:t>
            </a:r>
            <a:r>
              <a:rPr lang="en-US" altLang="en-US" i="0" dirty="0">
                <a:sym typeface="Symbol" charset="2"/>
              </a:rPr>
              <a:t> executes </a:t>
            </a:r>
            <a:r>
              <a:rPr lang="en-US" altLang="en-US" b="1" i="0" dirty="0" err="1">
                <a:solidFill>
                  <a:schemeClr val="accent1">
                    <a:lumMod val="75000"/>
                  </a:schemeClr>
                </a:solidFill>
              </a:rPr>
              <a:t>S.value</a:t>
            </a:r>
            <a:r>
              <a:rPr lang="en-US" altLang="en-US" b="1" i="0" dirty="0">
                <a:solidFill>
                  <a:schemeClr val="accent1">
                    <a:lumMod val="75000"/>
                  </a:schemeClr>
                </a:solidFill>
              </a:rPr>
              <a:t>++; </a:t>
            </a:r>
            <a:r>
              <a:rPr lang="en-US" altLang="en-US" i="0" dirty="0">
                <a:sym typeface="Symbol" charset="2"/>
              </a:rPr>
              <a:t>and exits. No </a:t>
            </a:r>
            <a:r>
              <a:rPr lang="en-US" altLang="en-US" b="1" kern="0" dirty="0">
                <a:solidFill>
                  <a:schemeClr val="accent1">
                    <a:lumMod val="75000"/>
                  </a:schemeClr>
                </a:solidFill>
                <a:sym typeface="Symbol" charset="2"/>
              </a:rPr>
              <a:t>wakeup(P);</a:t>
            </a:r>
            <a:r>
              <a:rPr lang="en-US" altLang="en-US" i="0" dirty="0">
                <a:sym typeface="Symbol" charset="2"/>
              </a:rPr>
              <a:t> since </a:t>
            </a:r>
            <a:r>
              <a:rPr lang="en-US" altLang="en-US" b="1" i="0" dirty="0" err="1">
                <a:solidFill>
                  <a:schemeClr val="accent1">
                    <a:lumMod val="75000"/>
                  </a:schemeClr>
                </a:solidFill>
                <a:sym typeface="Symbol" charset="2"/>
              </a:rPr>
              <a:t>S.value</a:t>
            </a:r>
            <a:r>
              <a:rPr lang="en-US" altLang="en-US" b="1" i="0" dirty="0">
                <a:solidFill>
                  <a:schemeClr val="accent1">
                    <a:lumMod val="75000"/>
                  </a:schemeClr>
                </a:solidFill>
                <a:sym typeface="Symbol" charset="2"/>
              </a:rPr>
              <a:t> = 1</a:t>
            </a:r>
          </a:p>
          <a:p>
            <a:pPr marL="330200" lvl="2" indent="-265113">
              <a:buFont typeface="+mj-lt"/>
              <a:buAutoNum type="arabicPeriod"/>
              <a:tabLst>
                <a:tab pos="2005013" algn="l"/>
                <a:tab pos="2339975" algn="l"/>
                <a:tab pos="2630488" algn="l"/>
              </a:tabLst>
              <a:defRPr/>
            </a:pPr>
            <a:r>
              <a:rPr lang="en-US" altLang="en-US" b="1" i="0" dirty="0">
                <a:sym typeface="Symbol" charset="2"/>
              </a:rPr>
              <a:t>Context switch from P</a:t>
            </a:r>
            <a:r>
              <a:rPr lang="en-US" altLang="en-US" b="1" i="0" baseline="-25000" dirty="0">
                <a:sym typeface="Symbol" charset="2"/>
              </a:rPr>
              <a:t>1</a:t>
            </a:r>
            <a:r>
              <a:rPr lang="en-US" altLang="en-US" b="1" i="0" dirty="0">
                <a:sym typeface="Symbol" charset="2"/>
              </a:rPr>
              <a:t> to P</a:t>
            </a:r>
            <a:r>
              <a:rPr lang="en-US" altLang="en-US" b="1" i="0" baseline="-25000" dirty="0">
                <a:sym typeface="Symbol" charset="2"/>
              </a:rPr>
              <a:t>0</a:t>
            </a:r>
          </a:p>
          <a:p>
            <a:pPr marL="330200" lvl="2" indent="-265113">
              <a:buFont typeface="+mj-lt"/>
              <a:buAutoNum type="arabicPeriod"/>
              <a:tabLst>
                <a:tab pos="2005013" algn="l"/>
                <a:tab pos="2339975" algn="l"/>
                <a:tab pos="2630488" algn="l"/>
              </a:tabLst>
              <a:defRPr/>
            </a:pPr>
            <a:r>
              <a:rPr lang="en-US" altLang="en-US" i="0" dirty="0">
                <a:sym typeface="Symbol" charset="2"/>
              </a:rPr>
              <a:t>Process P</a:t>
            </a:r>
            <a:r>
              <a:rPr lang="en-US" altLang="en-US" i="0" baseline="-25000" dirty="0">
                <a:sym typeface="Symbol" charset="2"/>
              </a:rPr>
              <a:t>0</a:t>
            </a:r>
            <a:r>
              <a:rPr lang="en-US" altLang="en-US" i="0" dirty="0">
                <a:sym typeface="Symbol" charset="2"/>
              </a:rPr>
              <a:t> also exits without </a:t>
            </a:r>
            <a:r>
              <a:rPr lang="en-US" altLang="en-US" b="1" kern="0" dirty="0">
                <a:solidFill>
                  <a:schemeClr val="accent1">
                    <a:lumMod val="75000"/>
                  </a:schemeClr>
                </a:solidFill>
                <a:sym typeface="Symbol" charset="2"/>
              </a:rPr>
              <a:t>wakeup(P);</a:t>
            </a:r>
            <a:endParaRPr lang="en-US" altLang="en-US" b="1" i="0" dirty="0">
              <a:solidFill>
                <a:schemeClr val="accent1">
                  <a:lumMod val="75000"/>
                </a:schemeClr>
              </a:solidFill>
              <a:sym typeface="Symbol" charset="2"/>
            </a:endParaRPr>
          </a:p>
          <a:p>
            <a:pPr marL="330200" lvl="2" indent="-265113">
              <a:buFont typeface="+mj-lt"/>
              <a:buAutoNum type="arabicPeriod"/>
              <a:tabLst>
                <a:tab pos="2005013" algn="l"/>
                <a:tab pos="2339975" algn="l"/>
                <a:tab pos="2630488" algn="l"/>
              </a:tabLst>
              <a:defRPr/>
            </a:pPr>
            <a:r>
              <a:rPr lang="en-US" altLang="en-US" dirty="0">
                <a:solidFill>
                  <a:schemeClr val="accent2"/>
                </a:solidFill>
              </a:rPr>
              <a:t>Progress for P</a:t>
            </a:r>
            <a:r>
              <a:rPr lang="en-US" altLang="en-US" baseline="-25000" dirty="0">
                <a:solidFill>
                  <a:schemeClr val="accent2"/>
                </a:solidFill>
              </a:rPr>
              <a:t>2</a:t>
            </a:r>
            <a:r>
              <a:rPr lang="en-US" altLang="en-US" dirty="0">
                <a:solidFill>
                  <a:schemeClr val="accent2"/>
                </a:solidFill>
              </a:rPr>
              <a:t>? </a:t>
            </a:r>
            <a:r>
              <a:rPr lang="en-US" altLang="en-US" b="1" dirty="0">
                <a:solidFill>
                  <a:srgbClr val="FF0000"/>
                </a:solidFill>
                <a:sym typeface="Wingdings"/>
              </a:rPr>
              <a:t></a:t>
            </a:r>
          </a:p>
          <a:p>
            <a:pPr>
              <a:buFontTx/>
              <a:buNone/>
              <a:tabLst>
                <a:tab pos="915988" algn="l"/>
                <a:tab pos="2005013" algn="l"/>
                <a:tab pos="2232025" algn="l"/>
                <a:tab pos="2803525" algn="l"/>
                <a:tab pos="3201988" algn="l"/>
              </a:tabLst>
              <a:defRPr/>
            </a:pPr>
            <a:endParaRPr lang="en-US" altLang="en-US" b="1" kern="0" dirty="0">
              <a:solidFill>
                <a:schemeClr val="accent1">
                  <a:lumMod val="75000"/>
                </a:schemeClr>
              </a:solidFill>
              <a:sym typeface="Symbol" charset="2"/>
            </a:endParaRPr>
          </a:p>
        </p:txBody>
      </p:sp>
      <p:sp>
        <p:nvSpPr>
          <p:cNvPr id="9" name="TextBox 8">
            <a:extLst>
              <a:ext uri="{FF2B5EF4-FFF2-40B4-BE49-F238E27FC236}">
                <a16:creationId xmlns:a16="http://schemas.microsoft.com/office/drawing/2014/main" id="{244877FC-8AF2-4EA0-BCBA-201B388105C1}"/>
              </a:ext>
            </a:extLst>
          </p:cNvPr>
          <p:cNvSpPr txBox="1">
            <a:spLocks noChangeArrowheads="1"/>
          </p:cNvSpPr>
          <p:nvPr/>
        </p:nvSpPr>
        <p:spPr bwMode="auto">
          <a:xfrm>
            <a:off x="1223963" y="5762625"/>
            <a:ext cx="7010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000">
                <a:solidFill>
                  <a:schemeClr val="accent2"/>
                </a:solidFill>
                <a:latin typeface="Comic Sans MS" panose="030F0702030302020204" pitchFamily="66" charset="0"/>
              </a:rPr>
              <a:t>Also lead to mutual exclusion violation due to -- and ++ </a:t>
            </a:r>
            <a:endParaRPr lang="en-US" altLang="en-US" sz="2000" b="1">
              <a:solidFill>
                <a:schemeClr val="accent2"/>
              </a:solidFill>
              <a:latin typeface="Comic Sans MS" panose="030F0702030302020204" pitchFamily="66" charset="0"/>
            </a:endParaRPr>
          </a:p>
        </p:txBody>
      </p:sp>
      <p:sp>
        <p:nvSpPr>
          <p:cNvPr id="8" name="TextBox 7">
            <a:extLst>
              <a:ext uri="{FF2B5EF4-FFF2-40B4-BE49-F238E27FC236}">
                <a16:creationId xmlns:a16="http://schemas.microsoft.com/office/drawing/2014/main" id="{DEF69EC0-2075-475D-9417-BDDF8C1702C1}"/>
              </a:ext>
            </a:extLst>
          </p:cNvPr>
          <p:cNvSpPr txBox="1">
            <a:spLocks noChangeArrowheads="1"/>
          </p:cNvSpPr>
          <p:nvPr/>
        </p:nvSpPr>
        <p:spPr bwMode="auto">
          <a:xfrm>
            <a:off x="1223963" y="6162675"/>
            <a:ext cx="7010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000">
                <a:solidFill>
                  <a:srgbClr val="FF0000"/>
                </a:solidFill>
                <a:latin typeface="Comic Sans MS" panose="030F0702030302020204" pitchFamily="66" charset="0"/>
              </a:rPr>
              <a:t>All updates and checks for S must be atomic</a:t>
            </a:r>
            <a:endParaRPr lang="en-US" altLang="en-US" sz="2000" b="1">
              <a:solidFill>
                <a:srgbClr val="FF0000"/>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Footer Placeholder 3">
            <a:extLst>
              <a:ext uri="{FF2B5EF4-FFF2-40B4-BE49-F238E27FC236}">
                <a16:creationId xmlns:a16="http://schemas.microsoft.com/office/drawing/2014/main" id="{FC2EEDBE-EB0C-494E-8E39-3A6970B8AD0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0723" name="Rectangle 4">
            <a:extLst>
              <a:ext uri="{FF2B5EF4-FFF2-40B4-BE49-F238E27FC236}">
                <a16:creationId xmlns:a16="http://schemas.microsoft.com/office/drawing/2014/main" id="{F8A9C87C-02D3-4C3D-98F8-437FFA931435}"/>
              </a:ext>
            </a:extLst>
          </p:cNvPr>
          <p:cNvSpPr>
            <a:spLocks noChangeArrowheads="1"/>
          </p:cNvSpPr>
          <p:nvPr/>
        </p:nvSpPr>
        <p:spPr bwMode="auto">
          <a:xfrm>
            <a:off x="684213" y="285750"/>
            <a:ext cx="7831137" cy="982663"/>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82947" name="Rectangle 2">
            <a:extLst>
              <a:ext uri="{FF2B5EF4-FFF2-40B4-BE49-F238E27FC236}">
                <a16:creationId xmlns:a16="http://schemas.microsoft.com/office/drawing/2014/main" id="{A847799E-21B5-4F0A-81FF-E2AE584B9174}"/>
              </a:ext>
            </a:extLst>
          </p:cNvPr>
          <p:cNvSpPr>
            <a:spLocks noGrp="1" noChangeArrowheads="1"/>
          </p:cNvSpPr>
          <p:nvPr>
            <p:ph type="title"/>
          </p:nvPr>
        </p:nvSpPr>
        <p:spPr>
          <a:xfrm>
            <a:off x="598488" y="495300"/>
            <a:ext cx="8261350" cy="457200"/>
          </a:xfrm>
        </p:spPr>
        <p:txBody>
          <a:bodyPr/>
          <a:lstStyle/>
          <a:p>
            <a:r>
              <a:rPr lang="en-US" altLang="en-US"/>
              <a:t>Blocking Semaphore Implementation </a:t>
            </a:r>
            <a:br>
              <a:rPr lang="en-US" altLang="en-US"/>
            </a:br>
            <a:r>
              <a:rPr lang="en-US" altLang="en-US"/>
              <a:t>S.value-- at the end of Wait(S)?</a:t>
            </a:r>
          </a:p>
        </p:txBody>
      </p:sp>
      <p:sp>
        <p:nvSpPr>
          <p:cNvPr id="78852" name="Rectangle 3">
            <a:extLst>
              <a:ext uri="{FF2B5EF4-FFF2-40B4-BE49-F238E27FC236}">
                <a16:creationId xmlns:a16="http://schemas.microsoft.com/office/drawing/2014/main" id="{EECDE294-7B57-4F7C-B9A8-F5CC5ABE087D}"/>
              </a:ext>
            </a:extLst>
          </p:cNvPr>
          <p:cNvSpPr>
            <a:spLocks noGrp="1" noChangeArrowheads="1"/>
          </p:cNvSpPr>
          <p:nvPr>
            <p:ph type="body" idx="1"/>
          </p:nvPr>
        </p:nvSpPr>
        <p:spPr>
          <a:xfrm>
            <a:off x="254000" y="1419225"/>
            <a:ext cx="3797300" cy="2276475"/>
          </a:xfrm>
        </p:spPr>
        <p:txBody>
          <a:bodyPr/>
          <a:lstStyle/>
          <a:p>
            <a:pPr>
              <a:buFontTx/>
              <a:buNone/>
              <a:tabLst>
                <a:tab pos="915988" algn="l"/>
                <a:tab pos="2005013" algn="l"/>
                <a:tab pos="2232025" algn="l"/>
                <a:tab pos="2803525" algn="l"/>
                <a:tab pos="3201988" algn="l"/>
              </a:tabLst>
              <a:defRPr/>
            </a:pPr>
            <a:r>
              <a:rPr lang="en-US" altLang="en-US" sz="2800" i="1" dirty="0">
                <a:solidFill>
                  <a:srgbClr val="FF0000"/>
                </a:solidFill>
              </a:rPr>
              <a:t>Wait</a:t>
            </a:r>
            <a:r>
              <a:rPr lang="en-US" altLang="en-US" sz="2800" dirty="0">
                <a:solidFill>
                  <a:srgbClr val="FF0000"/>
                </a:solidFill>
              </a:rPr>
              <a:t>(</a:t>
            </a:r>
            <a:r>
              <a:rPr lang="en-US" altLang="en-US" sz="2800" i="1" dirty="0">
                <a:solidFill>
                  <a:srgbClr val="FF0000"/>
                </a:solidFill>
              </a:rPr>
              <a:t>S</a:t>
            </a:r>
            <a:r>
              <a:rPr lang="en-US" altLang="en-US" sz="2800" dirty="0">
                <a:solidFill>
                  <a:srgbClr val="FF0000"/>
                </a:solidFill>
              </a:rPr>
              <a:t>):</a:t>
            </a:r>
            <a:r>
              <a:rPr lang="en-US" altLang="en-US" sz="2800" dirty="0"/>
              <a:t>	</a:t>
            </a:r>
          </a:p>
          <a:p>
            <a:pPr>
              <a:lnSpc>
                <a:spcPct val="90000"/>
              </a:lnSpc>
              <a:buFontTx/>
              <a:buNone/>
              <a:tabLst>
                <a:tab pos="915988" algn="l"/>
                <a:tab pos="2005013" algn="l"/>
                <a:tab pos="2232025" algn="l"/>
                <a:tab pos="2803525" algn="l"/>
                <a:tab pos="3201988" algn="l"/>
              </a:tabLst>
              <a:defRPr/>
            </a:pPr>
            <a:r>
              <a:rPr lang="en-US" altLang="en-US" sz="2800" b="1" dirty="0">
                <a:solidFill>
                  <a:schemeClr val="accent1">
                    <a:lumMod val="75000"/>
                  </a:schemeClr>
                </a:solidFill>
                <a:sym typeface="Symbol" charset="2"/>
              </a:rPr>
              <a:t>		</a:t>
            </a:r>
            <a:r>
              <a:rPr lang="en-US" altLang="en-US" sz="2000" b="1" dirty="0">
                <a:solidFill>
                  <a:schemeClr val="accent1">
                    <a:lumMod val="75000"/>
                  </a:schemeClr>
                </a:solidFill>
                <a:sym typeface="Symbol" charset="2"/>
              </a:rPr>
              <a:t>if (</a:t>
            </a:r>
            <a:r>
              <a:rPr lang="en-US" altLang="en-US" sz="2000" b="1" i="1" dirty="0" err="1">
                <a:solidFill>
                  <a:schemeClr val="accent1">
                    <a:lumMod val="75000"/>
                  </a:schemeClr>
                </a:solidFill>
                <a:sym typeface="Symbol" charset="2"/>
              </a:rPr>
              <a:t>S.value</a:t>
            </a:r>
            <a:r>
              <a:rPr lang="en-US" altLang="en-US" sz="2000" b="1" dirty="0">
                <a:solidFill>
                  <a:schemeClr val="accent1">
                    <a:lumMod val="75000"/>
                  </a:schemeClr>
                </a:solidFill>
                <a:sym typeface="Symbol" charset="2"/>
              </a:rPr>
              <a:t> </a:t>
            </a:r>
            <a:r>
              <a:rPr lang="en-US" altLang="en-US" sz="2000" b="1" dirty="0">
                <a:solidFill>
                  <a:schemeClr val="accent2"/>
                </a:solidFill>
                <a:sym typeface="Symbol" charset="2"/>
              </a:rPr>
              <a:t>&lt;=</a:t>
            </a:r>
            <a:r>
              <a:rPr lang="en-US" altLang="en-US" sz="2000" b="1" dirty="0">
                <a:solidFill>
                  <a:schemeClr val="accent1">
                    <a:lumMod val="75000"/>
                  </a:schemeClr>
                </a:solidFill>
                <a:sym typeface="Symbol" charset="2"/>
              </a:rPr>
              <a:t> 0) { </a:t>
            </a:r>
          </a:p>
          <a:p>
            <a:pPr>
              <a:lnSpc>
                <a:spcPct val="90000"/>
              </a:lnSpc>
              <a:buFontTx/>
              <a:buNone/>
              <a:tabLst>
                <a:tab pos="915988" algn="l"/>
                <a:tab pos="2005013" algn="l"/>
                <a:tab pos="2232025" algn="l"/>
                <a:tab pos="2803525" algn="l"/>
                <a:tab pos="3201988" algn="l"/>
              </a:tabLst>
              <a:defRPr/>
            </a:pPr>
            <a:r>
              <a:rPr lang="en-US" altLang="en-US" sz="2000" b="1" dirty="0">
                <a:solidFill>
                  <a:schemeClr val="accent1">
                    <a:lumMod val="75000"/>
                  </a:schemeClr>
                </a:solidFill>
                <a:sym typeface="Symbol" charset="2"/>
              </a:rPr>
              <a:t>		   </a:t>
            </a:r>
            <a:r>
              <a:rPr lang="en-US" altLang="en-US" sz="2000" b="1" i="1" dirty="0">
                <a:solidFill>
                  <a:schemeClr val="accent1">
                    <a:lumMod val="75000"/>
                  </a:schemeClr>
                </a:solidFill>
                <a:sym typeface="Symbol" charset="2"/>
              </a:rPr>
              <a:t>block</a:t>
            </a:r>
            <a:r>
              <a:rPr lang="en-US" altLang="en-US" sz="2000" b="1" dirty="0">
                <a:solidFill>
                  <a:schemeClr val="accent1">
                    <a:lumMod val="75000"/>
                  </a:schemeClr>
                </a:solidFill>
                <a:sym typeface="Symbol" charset="2"/>
              </a:rPr>
              <a:t>( );</a:t>
            </a:r>
          </a:p>
          <a:p>
            <a:pPr>
              <a:lnSpc>
                <a:spcPct val="90000"/>
              </a:lnSpc>
              <a:buFontTx/>
              <a:buNone/>
              <a:tabLst>
                <a:tab pos="915988" algn="l"/>
                <a:tab pos="2005013" algn="l"/>
                <a:tab pos="2232025" algn="l"/>
                <a:tab pos="2803525" algn="l"/>
                <a:tab pos="3201988" algn="l"/>
              </a:tabLst>
              <a:defRPr/>
            </a:pPr>
            <a:r>
              <a:rPr lang="en-US" altLang="en-US" sz="2000" b="1" dirty="0">
                <a:solidFill>
                  <a:schemeClr val="accent1">
                    <a:lumMod val="75000"/>
                  </a:schemeClr>
                </a:solidFill>
                <a:sym typeface="Symbol" charset="2"/>
              </a:rPr>
              <a:t>	          }</a:t>
            </a:r>
          </a:p>
          <a:p>
            <a:pPr>
              <a:lnSpc>
                <a:spcPct val="90000"/>
              </a:lnSpc>
              <a:buFontTx/>
              <a:buNone/>
              <a:tabLst>
                <a:tab pos="915988" algn="l"/>
                <a:tab pos="2005013" algn="l"/>
                <a:tab pos="2232025" algn="l"/>
                <a:tab pos="2803525" algn="l"/>
                <a:tab pos="3201988" algn="l"/>
              </a:tabLst>
              <a:defRPr/>
            </a:pPr>
            <a:r>
              <a:rPr lang="en-US" altLang="en-US" sz="2000" dirty="0"/>
              <a:t>		</a:t>
            </a:r>
            <a:r>
              <a:rPr lang="en-US" altLang="en-US" sz="2000" b="1" i="1" dirty="0" err="1">
                <a:solidFill>
                  <a:schemeClr val="accent2"/>
                </a:solidFill>
              </a:rPr>
              <a:t>S.value</a:t>
            </a:r>
            <a:r>
              <a:rPr lang="en-US" altLang="en-US" sz="2000" b="1" dirty="0">
                <a:solidFill>
                  <a:schemeClr val="accent2"/>
                </a:solidFill>
              </a:rPr>
              <a:t>--</a:t>
            </a:r>
            <a:r>
              <a:rPr lang="en-US" altLang="en-US" sz="2000" b="1" dirty="0">
                <a:solidFill>
                  <a:schemeClr val="accent2"/>
                </a:solidFill>
                <a:sym typeface="Symbol" charset="2"/>
              </a:rPr>
              <a:t>;</a:t>
            </a:r>
          </a:p>
          <a:p>
            <a:pPr>
              <a:lnSpc>
                <a:spcPct val="90000"/>
              </a:lnSpc>
              <a:buFontTx/>
              <a:buNone/>
              <a:tabLst>
                <a:tab pos="915988" algn="l"/>
                <a:tab pos="2005013" algn="l"/>
                <a:tab pos="2232025" algn="l"/>
                <a:tab pos="2803525" algn="l"/>
                <a:tab pos="3201988" algn="l"/>
              </a:tabLst>
              <a:defRPr/>
            </a:pPr>
            <a:r>
              <a:rPr lang="en-US" altLang="en-US" sz="2800" dirty="0">
                <a:sym typeface="Symbol" charset="2"/>
              </a:rPr>
              <a:t>			</a:t>
            </a:r>
          </a:p>
        </p:txBody>
      </p:sp>
      <p:sp>
        <p:nvSpPr>
          <p:cNvPr id="6" name="TextBox 5">
            <a:extLst>
              <a:ext uri="{FF2B5EF4-FFF2-40B4-BE49-F238E27FC236}">
                <a16:creationId xmlns:a16="http://schemas.microsoft.com/office/drawing/2014/main" id="{ADC3F68A-2C38-4CDF-82E6-6F01C2D13DED}"/>
              </a:ext>
            </a:extLst>
          </p:cNvPr>
          <p:cNvSpPr txBox="1">
            <a:spLocks noChangeArrowheads="1"/>
          </p:cNvSpPr>
          <p:nvPr/>
        </p:nvSpPr>
        <p:spPr bwMode="auto">
          <a:xfrm>
            <a:off x="4505325" y="1477963"/>
            <a:ext cx="4354513" cy="5048250"/>
          </a:xfrm>
          <a:prstGeom prst="rect">
            <a:avLst/>
          </a:prstGeom>
          <a:noFill/>
          <a:ln>
            <a:noFill/>
          </a:ln>
        </p:spPr>
        <p:txBody>
          <a:bodyPr>
            <a:spAutoFit/>
          </a:bodyPr>
          <a:lstStyle>
            <a:lvl1pPr>
              <a:spcBef>
                <a:spcPct val="50000"/>
              </a:spcBef>
              <a:buSzPct val="140000"/>
              <a:buChar char="•"/>
              <a:defRPr>
                <a:solidFill>
                  <a:schemeClr val="tx1"/>
                </a:solidFill>
                <a:latin typeface="Helvetica" charset="0"/>
              </a:defRPr>
            </a:lvl1pPr>
            <a:lvl2pPr marL="742950" indent="-285750">
              <a:spcBef>
                <a:spcPct val="20000"/>
              </a:spcBef>
              <a:buChar char="–"/>
              <a:defRPr>
                <a:solidFill>
                  <a:schemeClr val="tx1"/>
                </a:solidFill>
                <a:latin typeface="Helvetica" charset="0"/>
              </a:defRPr>
            </a:lvl2pPr>
            <a:lvl3pPr marL="1143000" indent="-228600">
              <a:spcBef>
                <a:spcPct val="20000"/>
              </a:spcBef>
              <a:buSzPct val="85000"/>
              <a:buFont typeface="Monotype Sorts" charset="2"/>
              <a:buChar char="T"/>
              <a:defRPr i="1">
                <a:solidFill>
                  <a:schemeClr val="tx1"/>
                </a:solidFill>
                <a:latin typeface="Helvetica" charset="0"/>
              </a:defRPr>
            </a:lvl3pPr>
            <a:lvl4pPr marL="1600200" indent="-228600">
              <a:spcBef>
                <a:spcPct val="20000"/>
              </a:spcBef>
              <a:buChar char="–"/>
              <a:defRPr>
                <a:solidFill>
                  <a:schemeClr val="tx1"/>
                </a:solidFill>
                <a:latin typeface="Helvetica" charset="0"/>
              </a:defRPr>
            </a:lvl4pPr>
            <a:lvl5pPr marL="2057400" indent="-228600">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spcBef>
                <a:spcPct val="0"/>
              </a:spcBef>
              <a:buSzTx/>
              <a:buFontTx/>
              <a:buNone/>
              <a:defRPr/>
            </a:pPr>
            <a:r>
              <a:rPr lang="en-US" altLang="en-US" sz="2000" b="1" dirty="0">
                <a:solidFill>
                  <a:srgbClr val="FF0000"/>
                </a:solidFill>
                <a:latin typeface="Comic Sans MS" charset="0"/>
              </a:rPr>
              <a:t>Problems:</a:t>
            </a:r>
          </a:p>
          <a:p>
            <a:pPr>
              <a:spcBef>
                <a:spcPct val="0"/>
              </a:spcBef>
              <a:buSzTx/>
              <a:buFontTx/>
              <a:buNone/>
              <a:defRPr/>
            </a:pPr>
            <a:endParaRPr lang="en-US" altLang="en-US" sz="2000" b="1" dirty="0">
              <a:solidFill>
                <a:schemeClr val="accent2"/>
              </a:solidFill>
              <a:latin typeface="Comic Sans MS" charset="0"/>
            </a:endParaRPr>
          </a:p>
          <a:p>
            <a:pPr marL="457200" indent="-457200">
              <a:spcBef>
                <a:spcPct val="0"/>
              </a:spcBef>
              <a:buSzTx/>
              <a:buFont typeface="+mj-lt"/>
              <a:buAutoNum type="arabicPeriod"/>
              <a:defRPr/>
            </a:pPr>
            <a:r>
              <a:rPr lang="en-US" altLang="en-US" sz="2000" dirty="0">
                <a:latin typeface="Comic Sans MS" charset="0"/>
              </a:rPr>
              <a:t>This would require a context switch between </a:t>
            </a:r>
            <a:r>
              <a:rPr lang="en-US" altLang="en-US" sz="2000" b="1" i="1" dirty="0">
                <a:solidFill>
                  <a:schemeClr val="accent1">
                    <a:lumMod val="75000"/>
                  </a:schemeClr>
                </a:solidFill>
                <a:sym typeface="Symbol" charset="2"/>
              </a:rPr>
              <a:t>block</a:t>
            </a:r>
            <a:r>
              <a:rPr lang="en-US" altLang="en-US" sz="2000" b="1" dirty="0">
                <a:solidFill>
                  <a:schemeClr val="accent1">
                    <a:lumMod val="75000"/>
                  </a:schemeClr>
                </a:solidFill>
                <a:sym typeface="Symbol" charset="2"/>
              </a:rPr>
              <a:t>( ); </a:t>
            </a:r>
            <a:r>
              <a:rPr lang="en-US" altLang="en-US" sz="2000" dirty="0">
                <a:sym typeface="Symbol" charset="2"/>
              </a:rPr>
              <a:t>and</a:t>
            </a:r>
            <a:r>
              <a:rPr lang="en-US" altLang="en-US" sz="2000" b="1" dirty="0">
                <a:solidFill>
                  <a:schemeClr val="accent2"/>
                </a:solidFill>
                <a:sym typeface="Symbol" charset="2"/>
              </a:rPr>
              <a:t> </a:t>
            </a:r>
            <a:r>
              <a:rPr lang="en-US" altLang="en-US" sz="2000" b="1" dirty="0" err="1">
                <a:solidFill>
                  <a:schemeClr val="accent1">
                    <a:lumMod val="75000"/>
                  </a:schemeClr>
                </a:solidFill>
                <a:sym typeface="Symbol" charset="2"/>
              </a:rPr>
              <a:t>S.value</a:t>
            </a:r>
            <a:r>
              <a:rPr lang="en-US" altLang="en-US" sz="2000" b="1" dirty="0">
                <a:solidFill>
                  <a:schemeClr val="accent1">
                    <a:lumMod val="75000"/>
                  </a:schemeClr>
                </a:solidFill>
                <a:sym typeface="Symbol" charset="2"/>
              </a:rPr>
              <a:t>--; </a:t>
            </a:r>
            <a:r>
              <a:rPr lang="en-US" altLang="en-US" sz="2000" dirty="0">
                <a:latin typeface="Comic Sans MS" charset="0"/>
              </a:rPr>
              <a:t>if the process blocks</a:t>
            </a:r>
            <a:endParaRPr lang="en-US" altLang="en-US" sz="2000" b="1" dirty="0">
              <a:solidFill>
                <a:schemeClr val="accent2"/>
              </a:solidFill>
              <a:latin typeface="Comic Sans MS" charset="0"/>
            </a:endParaRPr>
          </a:p>
          <a:p>
            <a:pPr marL="457200" indent="-457200">
              <a:spcBef>
                <a:spcPct val="0"/>
              </a:spcBef>
              <a:buSzTx/>
              <a:buFont typeface="+mj-lt"/>
              <a:buAutoNum type="arabicPeriod"/>
              <a:defRPr/>
            </a:pPr>
            <a:r>
              <a:rPr lang="en-US" altLang="en-US" sz="2000" dirty="0">
                <a:latin typeface="Comic Sans MS" charset="0"/>
              </a:rPr>
              <a:t>If this context switch is allowed, mutual exclusion will be violated</a:t>
            </a:r>
          </a:p>
          <a:p>
            <a:pPr marL="1200150" lvl="1" indent="-457200">
              <a:spcBef>
                <a:spcPct val="0"/>
              </a:spcBef>
              <a:defRPr/>
            </a:pPr>
            <a:r>
              <a:rPr lang="en-US" altLang="en-US" dirty="0">
                <a:latin typeface="Comic Sans MS" charset="0"/>
              </a:rPr>
              <a:t>Say </a:t>
            </a:r>
            <a:r>
              <a:rPr lang="en-US" altLang="en-US" b="1" dirty="0" err="1">
                <a:solidFill>
                  <a:schemeClr val="accent5">
                    <a:lumMod val="50000"/>
                  </a:schemeClr>
                </a:solidFill>
                <a:latin typeface="Comic Sans MS" charset="0"/>
              </a:rPr>
              <a:t>S.value</a:t>
            </a:r>
            <a:r>
              <a:rPr lang="en-US" altLang="en-US" b="1" dirty="0">
                <a:solidFill>
                  <a:schemeClr val="accent5">
                    <a:lumMod val="50000"/>
                  </a:schemeClr>
                </a:solidFill>
                <a:latin typeface="Comic Sans MS" charset="0"/>
              </a:rPr>
              <a:t> = 0 </a:t>
            </a:r>
            <a:r>
              <a:rPr lang="en-US" altLang="en-US" dirty="0">
                <a:latin typeface="Comic Sans MS" charset="0"/>
              </a:rPr>
              <a:t>and P</a:t>
            </a:r>
            <a:r>
              <a:rPr lang="en-US" altLang="en-US" baseline="-25000" dirty="0">
                <a:latin typeface="Comic Sans MS" charset="0"/>
              </a:rPr>
              <a:t>0</a:t>
            </a:r>
            <a:r>
              <a:rPr lang="en-US" altLang="en-US" dirty="0">
                <a:latin typeface="Comic Sans MS" charset="0"/>
              </a:rPr>
              <a:t> executes </a:t>
            </a:r>
            <a:r>
              <a:rPr lang="en-US" altLang="en-US" b="1" i="1" dirty="0">
                <a:solidFill>
                  <a:schemeClr val="accent1">
                    <a:lumMod val="75000"/>
                  </a:schemeClr>
                </a:solidFill>
                <a:sym typeface="Symbol" charset="2"/>
              </a:rPr>
              <a:t>block</a:t>
            </a:r>
            <a:r>
              <a:rPr lang="en-US" altLang="en-US" b="1" dirty="0">
                <a:solidFill>
                  <a:schemeClr val="accent1">
                    <a:lumMod val="75000"/>
                  </a:schemeClr>
                </a:solidFill>
                <a:sym typeface="Symbol" charset="2"/>
              </a:rPr>
              <a:t>( );</a:t>
            </a:r>
            <a:endParaRPr lang="en-US" altLang="en-US" dirty="0">
              <a:latin typeface="Comic Sans MS" charset="0"/>
            </a:endParaRPr>
          </a:p>
          <a:p>
            <a:pPr marL="1200150" lvl="1" indent="-457200">
              <a:spcBef>
                <a:spcPct val="0"/>
              </a:spcBef>
              <a:defRPr/>
            </a:pPr>
            <a:r>
              <a:rPr lang="en-US" altLang="en-US" dirty="0">
                <a:latin typeface="Comic Sans MS" charset="0"/>
              </a:rPr>
              <a:t>P</a:t>
            </a:r>
            <a:r>
              <a:rPr lang="en-US" altLang="en-US" baseline="-25000" dirty="0">
                <a:latin typeface="Comic Sans MS" charset="0"/>
              </a:rPr>
              <a:t>1 </a:t>
            </a:r>
            <a:r>
              <a:rPr lang="en-US" altLang="en-US" dirty="0">
                <a:latin typeface="Comic Sans MS" charset="0"/>
              </a:rPr>
              <a:t>uses </a:t>
            </a:r>
            <a:r>
              <a:rPr lang="en-US" altLang="en-US" dirty="0">
                <a:solidFill>
                  <a:srgbClr val="FF0000"/>
                </a:solidFill>
                <a:latin typeface="Comic Sans MS" charset="0"/>
              </a:rPr>
              <a:t>Signal(S)</a:t>
            </a:r>
            <a:r>
              <a:rPr lang="en-US" altLang="en-US" dirty="0">
                <a:latin typeface="Comic Sans MS" charset="0"/>
              </a:rPr>
              <a:t> to increment </a:t>
            </a:r>
            <a:r>
              <a:rPr lang="en-US" altLang="en-US" dirty="0" err="1">
                <a:latin typeface="Comic Sans MS" charset="0"/>
              </a:rPr>
              <a:t>S.value</a:t>
            </a:r>
            <a:r>
              <a:rPr lang="en-US" altLang="en-US" dirty="0">
                <a:latin typeface="Comic Sans MS" charset="0"/>
              </a:rPr>
              <a:t> to </a:t>
            </a:r>
            <a:r>
              <a:rPr lang="en-US" altLang="en-US" b="1" dirty="0">
                <a:solidFill>
                  <a:schemeClr val="accent1">
                    <a:lumMod val="75000"/>
                  </a:schemeClr>
                </a:solidFill>
                <a:latin typeface="Comic Sans MS" charset="0"/>
              </a:rPr>
              <a:t>1</a:t>
            </a:r>
            <a:r>
              <a:rPr lang="en-US" altLang="en-US" dirty="0">
                <a:latin typeface="Comic Sans MS" charset="0"/>
              </a:rPr>
              <a:t> and executes </a:t>
            </a:r>
            <a:r>
              <a:rPr lang="en-US" altLang="en-US" b="1" i="1" dirty="0">
                <a:solidFill>
                  <a:schemeClr val="accent1">
                    <a:lumMod val="75000"/>
                  </a:schemeClr>
                </a:solidFill>
                <a:sym typeface="Symbol" charset="2"/>
              </a:rPr>
              <a:t>wakeup</a:t>
            </a:r>
            <a:r>
              <a:rPr lang="en-US" altLang="en-US" b="1" dirty="0">
                <a:solidFill>
                  <a:schemeClr val="accent1">
                    <a:lumMod val="75000"/>
                  </a:schemeClr>
                </a:solidFill>
                <a:sym typeface="Symbol" charset="2"/>
              </a:rPr>
              <a:t>(P</a:t>
            </a:r>
            <a:r>
              <a:rPr lang="en-US" altLang="en-US" b="1" baseline="-25000" dirty="0">
                <a:solidFill>
                  <a:schemeClr val="accent1">
                    <a:lumMod val="75000"/>
                  </a:schemeClr>
                </a:solidFill>
                <a:sym typeface="Symbol" charset="2"/>
              </a:rPr>
              <a:t>0</a:t>
            </a:r>
            <a:r>
              <a:rPr lang="en-US" altLang="en-US" b="1" dirty="0">
                <a:solidFill>
                  <a:schemeClr val="accent1">
                    <a:lumMod val="75000"/>
                  </a:schemeClr>
                </a:solidFill>
                <a:sym typeface="Symbol" charset="2"/>
              </a:rPr>
              <a:t>);</a:t>
            </a:r>
            <a:endParaRPr lang="en-US" altLang="en-US" dirty="0">
              <a:latin typeface="Comic Sans MS" charset="0"/>
            </a:endParaRPr>
          </a:p>
          <a:p>
            <a:pPr marL="1200150" lvl="1" indent="-457200">
              <a:spcBef>
                <a:spcPct val="0"/>
              </a:spcBef>
              <a:defRPr/>
            </a:pPr>
            <a:r>
              <a:rPr lang="en-US" altLang="en-US" dirty="0">
                <a:latin typeface="Comic Sans MS" charset="0"/>
              </a:rPr>
              <a:t>P</a:t>
            </a:r>
            <a:r>
              <a:rPr lang="en-US" altLang="en-US" baseline="-25000" dirty="0">
                <a:latin typeface="Comic Sans MS" charset="0"/>
              </a:rPr>
              <a:t>2</a:t>
            </a:r>
            <a:r>
              <a:rPr lang="en-US" altLang="en-US" dirty="0">
                <a:latin typeface="Comic Sans MS" charset="0"/>
              </a:rPr>
              <a:t> executes </a:t>
            </a:r>
            <a:r>
              <a:rPr lang="en-US" altLang="en-US" dirty="0">
                <a:solidFill>
                  <a:srgbClr val="FF0000"/>
                </a:solidFill>
                <a:latin typeface="Comic Sans MS" charset="0"/>
              </a:rPr>
              <a:t>Wait(S)</a:t>
            </a:r>
            <a:r>
              <a:rPr lang="en-US" altLang="en-US" dirty="0">
                <a:latin typeface="Comic Sans MS" charset="0"/>
              </a:rPr>
              <a:t>, locks S, enters critical section</a:t>
            </a:r>
          </a:p>
          <a:p>
            <a:pPr marL="1200150" lvl="1" indent="-457200">
              <a:spcBef>
                <a:spcPct val="0"/>
              </a:spcBef>
              <a:defRPr/>
            </a:pPr>
            <a:r>
              <a:rPr lang="en-US" altLang="en-US" dirty="0">
                <a:latin typeface="Comic Sans MS" charset="0"/>
              </a:rPr>
              <a:t>P</a:t>
            </a:r>
            <a:r>
              <a:rPr lang="en-US" altLang="en-US" baseline="-25000" dirty="0">
                <a:latin typeface="Comic Sans MS" charset="0"/>
              </a:rPr>
              <a:t>0</a:t>
            </a:r>
            <a:r>
              <a:rPr lang="en-US" altLang="en-US" dirty="0">
                <a:latin typeface="Comic Sans MS" charset="0"/>
              </a:rPr>
              <a:t> executes </a:t>
            </a:r>
            <a:r>
              <a:rPr lang="en-US" altLang="en-US" b="1" dirty="0" err="1">
                <a:solidFill>
                  <a:schemeClr val="accent1">
                    <a:lumMod val="75000"/>
                  </a:schemeClr>
                </a:solidFill>
                <a:sym typeface="Symbol" charset="2"/>
              </a:rPr>
              <a:t>S.value</a:t>
            </a:r>
            <a:r>
              <a:rPr lang="en-US" altLang="en-US" b="1" dirty="0">
                <a:solidFill>
                  <a:schemeClr val="accent1">
                    <a:lumMod val="75000"/>
                  </a:schemeClr>
                </a:solidFill>
                <a:sym typeface="Symbol" charset="2"/>
              </a:rPr>
              <a:t>--; </a:t>
            </a:r>
            <a:r>
              <a:rPr lang="en-US" altLang="en-US" dirty="0">
                <a:latin typeface="Comic Sans MS" charset="0"/>
              </a:rPr>
              <a:t>and enters critical section</a:t>
            </a:r>
          </a:p>
        </p:txBody>
      </p:sp>
      <p:sp>
        <p:nvSpPr>
          <p:cNvPr id="7" name="Rectangle 3">
            <a:extLst>
              <a:ext uri="{FF2B5EF4-FFF2-40B4-BE49-F238E27FC236}">
                <a16:creationId xmlns:a16="http://schemas.microsoft.com/office/drawing/2014/main" id="{68E3AAC8-48A0-4093-9B40-41227E640451}"/>
              </a:ext>
            </a:extLst>
          </p:cNvPr>
          <p:cNvSpPr txBox="1">
            <a:spLocks noChangeArrowheads="1"/>
          </p:cNvSpPr>
          <p:nvPr/>
        </p:nvSpPr>
        <p:spPr bwMode="auto">
          <a:xfrm>
            <a:off x="284163" y="4056063"/>
            <a:ext cx="3797300" cy="2276475"/>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a:buFontTx/>
              <a:buNone/>
              <a:tabLst>
                <a:tab pos="915988" algn="l"/>
                <a:tab pos="2005013" algn="l"/>
                <a:tab pos="2232025" algn="l"/>
                <a:tab pos="2803525" algn="l"/>
                <a:tab pos="3201988" algn="l"/>
              </a:tabLst>
              <a:defRPr/>
            </a:pPr>
            <a:r>
              <a:rPr lang="en-US" altLang="en-US" sz="2800" i="1" kern="0" dirty="0">
                <a:solidFill>
                  <a:srgbClr val="FF0000"/>
                </a:solidFill>
              </a:rPr>
              <a:t>Signal</a:t>
            </a:r>
            <a:r>
              <a:rPr lang="en-US" altLang="en-US" sz="2800" kern="0" dirty="0">
                <a:solidFill>
                  <a:srgbClr val="FF0000"/>
                </a:solidFill>
              </a:rPr>
              <a:t>(</a:t>
            </a:r>
            <a:r>
              <a:rPr lang="en-US" altLang="en-US" sz="2800" i="1" kern="0" dirty="0">
                <a:solidFill>
                  <a:srgbClr val="FF0000"/>
                </a:solidFill>
              </a:rPr>
              <a:t>S</a:t>
            </a:r>
            <a:r>
              <a:rPr lang="en-US" altLang="en-US" sz="2800" kern="0" dirty="0">
                <a:solidFill>
                  <a:srgbClr val="FF0000"/>
                </a:solidFill>
              </a:rPr>
              <a:t>):</a:t>
            </a:r>
            <a:r>
              <a:rPr lang="en-US" altLang="en-US" sz="2800" kern="0" dirty="0"/>
              <a:t>	</a:t>
            </a:r>
          </a:p>
          <a:p>
            <a:pPr>
              <a:lnSpc>
                <a:spcPct val="90000"/>
              </a:lnSpc>
              <a:buFontTx/>
              <a:buNone/>
              <a:tabLst>
                <a:tab pos="915988" algn="l"/>
                <a:tab pos="2005013" algn="l"/>
                <a:tab pos="2232025" algn="l"/>
                <a:tab pos="2803525" algn="l"/>
                <a:tab pos="3201988" algn="l"/>
              </a:tabLst>
              <a:defRPr/>
            </a:pPr>
            <a:r>
              <a:rPr lang="en-US" altLang="en-US" sz="2000" b="1" i="1" kern="0" dirty="0">
                <a:solidFill>
                  <a:schemeClr val="accent1">
                    <a:lumMod val="75000"/>
                  </a:schemeClr>
                </a:solidFill>
              </a:rPr>
              <a:t>		</a:t>
            </a:r>
            <a:r>
              <a:rPr lang="en-US" altLang="en-US" sz="2000" b="1" i="1" kern="0" dirty="0" err="1">
                <a:solidFill>
                  <a:schemeClr val="accent1">
                    <a:lumMod val="75000"/>
                  </a:schemeClr>
                </a:solidFill>
              </a:rPr>
              <a:t>S.value</a:t>
            </a:r>
            <a:r>
              <a:rPr lang="en-US" altLang="en-US" sz="2000" b="1" i="1" kern="0" dirty="0">
                <a:solidFill>
                  <a:schemeClr val="accent1">
                    <a:lumMod val="75000"/>
                  </a:schemeClr>
                </a:solidFill>
              </a:rPr>
              <a:t>++</a:t>
            </a:r>
            <a:r>
              <a:rPr lang="en-US" altLang="en-US" sz="2000" b="1" kern="0" dirty="0">
                <a:solidFill>
                  <a:schemeClr val="accent1">
                    <a:lumMod val="75000"/>
                  </a:schemeClr>
                </a:solidFill>
                <a:sym typeface="Symbol" charset="2"/>
              </a:rPr>
              <a:t>;</a:t>
            </a:r>
            <a:endParaRPr lang="en-US" altLang="en-US" sz="2800" b="1" kern="0" dirty="0">
              <a:solidFill>
                <a:schemeClr val="accent1">
                  <a:lumMod val="75000"/>
                </a:schemeClr>
              </a:solidFill>
              <a:sym typeface="Symbol" charset="2"/>
            </a:endParaRPr>
          </a:p>
          <a:p>
            <a:pPr>
              <a:lnSpc>
                <a:spcPct val="90000"/>
              </a:lnSpc>
              <a:buFontTx/>
              <a:buNone/>
              <a:tabLst>
                <a:tab pos="915988" algn="l"/>
                <a:tab pos="2005013" algn="l"/>
                <a:tab pos="2232025" algn="l"/>
                <a:tab pos="2803525" algn="l"/>
                <a:tab pos="3201988" algn="l"/>
              </a:tabLst>
              <a:defRPr/>
            </a:pPr>
            <a:r>
              <a:rPr lang="en-US" altLang="en-US" sz="2800" b="1" kern="0" dirty="0">
                <a:solidFill>
                  <a:schemeClr val="accent1">
                    <a:lumMod val="75000"/>
                  </a:schemeClr>
                </a:solidFill>
                <a:sym typeface="Symbol" charset="2"/>
              </a:rPr>
              <a:t>		</a:t>
            </a:r>
            <a:r>
              <a:rPr lang="en-US" altLang="en-US" sz="2000" b="1" kern="0" dirty="0">
                <a:solidFill>
                  <a:schemeClr val="accent1">
                    <a:lumMod val="75000"/>
                  </a:schemeClr>
                </a:solidFill>
                <a:sym typeface="Symbol" charset="2"/>
              </a:rPr>
              <a:t>if (</a:t>
            </a:r>
            <a:r>
              <a:rPr lang="en-US" altLang="en-US" sz="2000" b="1" i="1" kern="0" dirty="0" err="1">
                <a:solidFill>
                  <a:schemeClr val="accent1">
                    <a:lumMod val="75000"/>
                  </a:schemeClr>
                </a:solidFill>
                <a:sym typeface="Symbol" charset="2"/>
              </a:rPr>
              <a:t>S.value</a:t>
            </a:r>
            <a:r>
              <a:rPr lang="en-US" altLang="en-US" sz="2000" b="1" kern="0" dirty="0">
                <a:solidFill>
                  <a:schemeClr val="accent1">
                    <a:lumMod val="75000"/>
                  </a:schemeClr>
                </a:solidFill>
                <a:sym typeface="Symbol" charset="2"/>
              </a:rPr>
              <a:t> &lt;= </a:t>
            </a:r>
            <a:r>
              <a:rPr lang="en-US" altLang="en-US" sz="2000" b="1" kern="0" dirty="0">
                <a:solidFill>
                  <a:schemeClr val="accent2"/>
                </a:solidFill>
                <a:sym typeface="Symbol" charset="2"/>
              </a:rPr>
              <a:t>1</a:t>
            </a:r>
            <a:r>
              <a:rPr lang="en-US" altLang="en-US" sz="2000" b="1" kern="0" dirty="0">
                <a:solidFill>
                  <a:schemeClr val="accent1">
                    <a:lumMod val="75000"/>
                  </a:schemeClr>
                </a:solidFill>
                <a:sym typeface="Symbol" charset="2"/>
              </a:rPr>
              <a:t>) { </a:t>
            </a:r>
          </a:p>
          <a:p>
            <a:pPr>
              <a:lnSpc>
                <a:spcPct val="90000"/>
              </a:lnSpc>
              <a:buFontTx/>
              <a:buNone/>
              <a:tabLst>
                <a:tab pos="915988" algn="l"/>
                <a:tab pos="2005013" algn="l"/>
                <a:tab pos="2232025" algn="l"/>
                <a:tab pos="2803525" algn="l"/>
                <a:tab pos="3201988" algn="l"/>
              </a:tabLst>
              <a:defRPr/>
            </a:pPr>
            <a:r>
              <a:rPr lang="en-US" altLang="en-US" sz="2000" b="1" kern="0" dirty="0">
                <a:solidFill>
                  <a:schemeClr val="accent1">
                    <a:lumMod val="75000"/>
                  </a:schemeClr>
                </a:solidFill>
                <a:sym typeface="Symbol" charset="2"/>
              </a:rPr>
              <a:t>		   </a:t>
            </a:r>
            <a:r>
              <a:rPr lang="en-US" altLang="en-US" sz="2000" b="1" i="1" kern="0" dirty="0">
                <a:solidFill>
                  <a:schemeClr val="accent1">
                    <a:lumMod val="75000"/>
                  </a:schemeClr>
                </a:solidFill>
                <a:sym typeface="Symbol" charset="2"/>
              </a:rPr>
              <a:t>wakeup</a:t>
            </a:r>
            <a:r>
              <a:rPr lang="en-US" altLang="en-US" sz="2000" b="1" kern="0" dirty="0">
                <a:solidFill>
                  <a:schemeClr val="accent1">
                    <a:lumMod val="75000"/>
                  </a:schemeClr>
                </a:solidFill>
                <a:sym typeface="Symbol" charset="2"/>
              </a:rPr>
              <a:t>(P);</a:t>
            </a:r>
          </a:p>
          <a:p>
            <a:pPr>
              <a:lnSpc>
                <a:spcPct val="90000"/>
              </a:lnSpc>
              <a:buFontTx/>
              <a:buNone/>
              <a:tabLst>
                <a:tab pos="915988" algn="l"/>
                <a:tab pos="2005013" algn="l"/>
                <a:tab pos="2232025" algn="l"/>
                <a:tab pos="2803525" algn="l"/>
                <a:tab pos="3201988" algn="l"/>
              </a:tabLst>
              <a:defRPr/>
            </a:pPr>
            <a:r>
              <a:rPr lang="en-US" altLang="en-US" sz="2000" b="1" kern="0" dirty="0">
                <a:solidFill>
                  <a:schemeClr val="accent1">
                    <a:lumMod val="75000"/>
                  </a:schemeClr>
                </a:solidFill>
                <a:sym typeface="Symbol" charset="2"/>
              </a:rPr>
              <a:t>	          }</a:t>
            </a:r>
            <a:endParaRPr lang="en-US" altLang="en-US" sz="2000" b="1" kern="0" dirty="0">
              <a:solidFill>
                <a:schemeClr val="accent2"/>
              </a:solidFill>
              <a:sym typeface="Symbol" charset="2"/>
            </a:endParaRPr>
          </a:p>
          <a:p>
            <a:pPr>
              <a:lnSpc>
                <a:spcPct val="90000"/>
              </a:lnSpc>
              <a:buFontTx/>
              <a:buNone/>
              <a:tabLst>
                <a:tab pos="915988" algn="l"/>
                <a:tab pos="2005013" algn="l"/>
                <a:tab pos="2232025" algn="l"/>
                <a:tab pos="2803525" algn="l"/>
                <a:tab pos="3201988" algn="l"/>
              </a:tabLst>
              <a:defRPr/>
            </a:pPr>
            <a:r>
              <a:rPr lang="en-US" altLang="en-US" sz="2800" kern="0" dirty="0">
                <a:sym typeface="Symbol"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47ECC-860A-A72C-EA9E-D48B3BE23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67380-3BC8-199A-02BE-9DA8425B0F27}"/>
              </a:ext>
            </a:extLst>
          </p:cNvPr>
          <p:cNvSpPr>
            <a:spLocks noGrp="1"/>
          </p:cNvSpPr>
          <p:nvPr>
            <p:ph type="title"/>
          </p:nvPr>
        </p:nvSpPr>
        <p:spPr/>
        <p:txBody>
          <a:bodyPr/>
          <a:lstStyle/>
          <a:p>
            <a:r>
              <a:rPr lang="en-US" dirty="0"/>
              <a:t>Semaphore Understanding</a:t>
            </a:r>
          </a:p>
        </p:txBody>
      </p:sp>
      <p:sp>
        <p:nvSpPr>
          <p:cNvPr id="4" name="Footer Placeholder 3">
            <a:extLst>
              <a:ext uri="{FF2B5EF4-FFF2-40B4-BE49-F238E27FC236}">
                <a16:creationId xmlns:a16="http://schemas.microsoft.com/office/drawing/2014/main" id="{BB6BD551-AFB0-B71C-0E8F-97FDADF4A1F6}"/>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5F86EFAB-92B7-B079-BCE3-4E40B70DFD0B}"/>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5F86EFAB-92B7-B079-BCE3-4E40B70DFD0B}"/>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11529495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45E9-D31F-C4E4-ECCF-BE721A1F9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05D90-858B-1387-DB78-A0688258E1C6}"/>
              </a:ext>
            </a:extLst>
          </p:cNvPr>
          <p:cNvSpPr>
            <a:spLocks noGrp="1"/>
          </p:cNvSpPr>
          <p:nvPr>
            <p:ph type="title"/>
          </p:nvPr>
        </p:nvSpPr>
        <p:spPr/>
        <p:txBody>
          <a:bodyPr/>
          <a:lstStyle/>
          <a:p>
            <a:r>
              <a:rPr lang="en-US" dirty="0"/>
              <a:t>Semaphore Understanding</a:t>
            </a:r>
          </a:p>
        </p:txBody>
      </p:sp>
      <p:sp>
        <p:nvSpPr>
          <p:cNvPr id="4" name="Footer Placeholder 3">
            <a:extLst>
              <a:ext uri="{FF2B5EF4-FFF2-40B4-BE49-F238E27FC236}">
                <a16:creationId xmlns:a16="http://schemas.microsoft.com/office/drawing/2014/main" id="{99B82017-2B80-EE1E-1BE8-A7A1111CFB3A}"/>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E1767D64-39D0-AAA6-6F61-A4C335E53468}"/>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E1767D64-39D0-AAA6-6F61-A4C335E53468}"/>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25877510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Footer Placeholder 3">
            <a:extLst>
              <a:ext uri="{FF2B5EF4-FFF2-40B4-BE49-F238E27FC236}">
                <a16:creationId xmlns:a16="http://schemas.microsoft.com/office/drawing/2014/main" id="{F550E86F-0222-4682-B5D7-5479D57AB8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051" name="Rectangle 4">
            <a:extLst>
              <a:ext uri="{FF2B5EF4-FFF2-40B4-BE49-F238E27FC236}">
                <a16:creationId xmlns:a16="http://schemas.microsoft.com/office/drawing/2014/main" id="{24C72207-7A19-4B37-BA18-40E23FEA9F16}"/>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84995" name="Rectangle 2">
            <a:extLst>
              <a:ext uri="{FF2B5EF4-FFF2-40B4-BE49-F238E27FC236}">
                <a16:creationId xmlns:a16="http://schemas.microsoft.com/office/drawing/2014/main" id="{DA6EAD4C-97AF-4AF3-9D58-4D16EF2B12F6}"/>
              </a:ext>
            </a:extLst>
          </p:cNvPr>
          <p:cNvSpPr>
            <a:spLocks noGrp="1" noChangeArrowheads="1"/>
          </p:cNvSpPr>
          <p:nvPr>
            <p:ph type="title"/>
          </p:nvPr>
        </p:nvSpPr>
        <p:spPr/>
        <p:txBody>
          <a:bodyPr/>
          <a:lstStyle/>
          <a:p>
            <a:r>
              <a:rPr lang="en-US" altLang="en-US"/>
              <a:t>Part 4:  Process Synchronization</a:t>
            </a:r>
          </a:p>
        </p:txBody>
      </p:sp>
      <p:sp>
        <p:nvSpPr>
          <p:cNvPr id="84996" name="Rectangle 3">
            <a:extLst>
              <a:ext uri="{FF2B5EF4-FFF2-40B4-BE49-F238E27FC236}">
                <a16:creationId xmlns:a16="http://schemas.microsoft.com/office/drawing/2014/main" id="{12517F50-3B17-462F-AD9A-7375E862E8E6}"/>
              </a:ext>
            </a:extLst>
          </p:cNvPr>
          <p:cNvSpPr>
            <a:spLocks noGrp="1" noChangeArrowheads="1"/>
          </p:cNvSpPr>
          <p:nvPr>
            <p:ph type="body" idx="1"/>
          </p:nvPr>
        </p:nvSpPr>
        <p:spPr>
          <a:xfrm>
            <a:off x="1047750" y="1412875"/>
            <a:ext cx="7029450" cy="4546600"/>
          </a:xfrm>
        </p:spPr>
        <p:txBody>
          <a:bodyPr/>
          <a:lstStyle/>
          <a:p>
            <a:r>
              <a:rPr lang="en-US" altLang="en-US" sz="2800"/>
              <a:t>The Critical-Section Problem</a:t>
            </a:r>
          </a:p>
          <a:p>
            <a:r>
              <a:rPr lang="en-US" altLang="en-US" sz="2800"/>
              <a:t>User-level Solutions</a:t>
            </a:r>
          </a:p>
          <a:p>
            <a:r>
              <a:rPr lang="en-US" altLang="en-US" sz="2800"/>
              <a:t>OS-level Solutions</a:t>
            </a:r>
          </a:p>
          <a:p>
            <a:pPr lvl="1"/>
            <a:r>
              <a:rPr lang="en-US" altLang="en-US" sz="2800"/>
              <a:t>Synchronization Hardware</a:t>
            </a:r>
          </a:p>
          <a:p>
            <a:pPr lvl="1"/>
            <a:r>
              <a:rPr lang="en-US" altLang="en-US" sz="2800"/>
              <a:t>Semaphores</a:t>
            </a:r>
          </a:p>
          <a:p>
            <a:r>
              <a:rPr lang="en-US" altLang="en-US" sz="2800" b="1"/>
              <a:t>Classical Problems of Synchronization</a:t>
            </a:r>
          </a:p>
          <a:p>
            <a:endParaRPr lang="en-US" altLang="en-US" sz="2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Footer Placeholder 3">
            <a:extLst>
              <a:ext uri="{FF2B5EF4-FFF2-40B4-BE49-F238E27FC236}">
                <a16:creationId xmlns:a16="http://schemas.microsoft.com/office/drawing/2014/main" id="{AF80DB3E-021D-4FA0-9B71-858C6956010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6867" name="Rectangle 2">
            <a:extLst>
              <a:ext uri="{FF2B5EF4-FFF2-40B4-BE49-F238E27FC236}">
                <a16:creationId xmlns:a16="http://schemas.microsoft.com/office/drawing/2014/main" id="{DDAAD99C-9A26-4752-83C2-2483D61A60CA}"/>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87043" name="Rectangle 3">
            <a:extLst>
              <a:ext uri="{FF2B5EF4-FFF2-40B4-BE49-F238E27FC236}">
                <a16:creationId xmlns:a16="http://schemas.microsoft.com/office/drawing/2014/main" id="{6416D9DE-04D5-456F-B6D6-2072F7012985}"/>
              </a:ext>
            </a:extLst>
          </p:cNvPr>
          <p:cNvSpPr>
            <a:spLocks noGrp="1" noChangeArrowheads="1"/>
          </p:cNvSpPr>
          <p:nvPr>
            <p:ph type="title"/>
          </p:nvPr>
        </p:nvSpPr>
        <p:spPr/>
        <p:txBody>
          <a:bodyPr/>
          <a:lstStyle/>
          <a:p>
            <a:r>
              <a:rPr lang="en-US" altLang="en-US" sz="3200"/>
              <a:t>Best Practices for Semaphores</a:t>
            </a:r>
          </a:p>
        </p:txBody>
      </p:sp>
      <p:sp>
        <p:nvSpPr>
          <p:cNvPr id="34821" name="Rectangle 4">
            <a:extLst>
              <a:ext uri="{FF2B5EF4-FFF2-40B4-BE49-F238E27FC236}">
                <a16:creationId xmlns:a16="http://schemas.microsoft.com/office/drawing/2014/main" id="{84710011-B906-472C-8B0E-F387B3E67050}"/>
              </a:ext>
            </a:extLst>
          </p:cNvPr>
          <p:cNvSpPr>
            <a:spLocks noGrp="1" noChangeArrowheads="1"/>
          </p:cNvSpPr>
          <p:nvPr>
            <p:ph type="body" idx="1"/>
          </p:nvPr>
        </p:nvSpPr>
        <p:spPr>
          <a:xfrm>
            <a:off x="338138" y="1316038"/>
            <a:ext cx="8307387" cy="5208587"/>
          </a:xfrm>
        </p:spPr>
        <p:txBody>
          <a:bodyPr>
            <a:normAutofit fontScale="77500" lnSpcReduction="20000"/>
          </a:bodyPr>
          <a:lstStyle/>
          <a:p>
            <a:pPr>
              <a:tabLst>
                <a:tab pos="1887538" algn="ctr"/>
                <a:tab pos="4572000" algn="ctr"/>
              </a:tabLst>
              <a:defRPr/>
            </a:pPr>
            <a:r>
              <a:rPr lang="en-US" sz="3100" u="sng" dirty="0">
                <a:solidFill>
                  <a:srgbClr val="FF0000"/>
                </a:solidFill>
              </a:rPr>
              <a:t>Step 1:</a:t>
            </a:r>
            <a:r>
              <a:rPr lang="en-US" sz="3100" dirty="0"/>
              <a:t> Understand the application scenario and identify the following:</a:t>
            </a:r>
          </a:p>
          <a:p>
            <a:pPr lvl="1">
              <a:tabLst>
                <a:tab pos="1887538" algn="ctr"/>
                <a:tab pos="4572000" algn="ctr"/>
              </a:tabLst>
              <a:defRPr/>
            </a:pPr>
            <a:r>
              <a:rPr lang="en-US" sz="2600" dirty="0"/>
              <a:t>Shared variables/data</a:t>
            </a:r>
          </a:p>
          <a:p>
            <a:pPr lvl="1">
              <a:tabLst>
                <a:tab pos="1887538" algn="ctr"/>
                <a:tab pos="4572000" algn="ctr"/>
              </a:tabLst>
              <a:defRPr/>
            </a:pPr>
            <a:r>
              <a:rPr lang="en-US" sz="2600" dirty="0"/>
              <a:t>Shared resources  </a:t>
            </a:r>
          </a:p>
          <a:p>
            <a:pPr lvl="4">
              <a:tabLst>
                <a:tab pos="1887538" algn="ctr"/>
                <a:tab pos="4572000" algn="ctr"/>
              </a:tabLst>
              <a:defRPr/>
            </a:pPr>
            <a:endParaRPr lang="en-US" sz="2200" dirty="0"/>
          </a:p>
          <a:p>
            <a:pPr>
              <a:tabLst>
                <a:tab pos="1887538" algn="ctr"/>
                <a:tab pos="4572000" algn="ctr"/>
              </a:tabLst>
              <a:defRPr/>
            </a:pPr>
            <a:r>
              <a:rPr lang="en-US" sz="3100" u="sng" dirty="0">
                <a:solidFill>
                  <a:srgbClr val="FF0000"/>
                </a:solidFill>
              </a:rPr>
              <a:t>Step 2:</a:t>
            </a:r>
            <a:r>
              <a:rPr lang="en-US" sz="3100" dirty="0"/>
              <a:t> Protect the shared variables</a:t>
            </a:r>
          </a:p>
          <a:p>
            <a:pPr lvl="1">
              <a:tabLst>
                <a:tab pos="1887538" algn="ctr"/>
                <a:tab pos="4572000" algn="ctr"/>
              </a:tabLst>
              <a:defRPr/>
            </a:pPr>
            <a:r>
              <a:rPr lang="en-US" sz="2600" dirty="0"/>
              <a:t>Identify the critical section</a:t>
            </a:r>
          </a:p>
          <a:p>
            <a:pPr lvl="1">
              <a:tabLst>
                <a:tab pos="1887538" algn="ctr"/>
                <a:tab pos="4572000" algn="ctr"/>
              </a:tabLst>
              <a:defRPr/>
            </a:pPr>
            <a:r>
              <a:rPr lang="en-US" sz="2600" dirty="0"/>
              <a:t>Use binary semaphore, and add entry section (Wait) and exit section (Signal)</a:t>
            </a:r>
          </a:p>
          <a:p>
            <a:pPr lvl="4">
              <a:tabLst>
                <a:tab pos="1887538" algn="ctr"/>
                <a:tab pos="4572000" algn="ctr"/>
              </a:tabLst>
              <a:defRPr/>
            </a:pPr>
            <a:endParaRPr lang="en-US" sz="2000" dirty="0"/>
          </a:p>
          <a:p>
            <a:pPr>
              <a:tabLst>
                <a:tab pos="1887538" algn="ctr"/>
                <a:tab pos="4572000" algn="ctr"/>
              </a:tabLst>
              <a:defRPr/>
            </a:pPr>
            <a:r>
              <a:rPr lang="en-US" sz="3100" u="sng" dirty="0">
                <a:solidFill>
                  <a:srgbClr val="FF0000"/>
                </a:solidFill>
              </a:rPr>
              <a:t>Step 3:</a:t>
            </a:r>
            <a:r>
              <a:rPr lang="en-US" sz="3100" dirty="0"/>
              <a:t> Protect the shared resources</a:t>
            </a:r>
          </a:p>
          <a:p>
            <a:pPr lvl="1">
              <a:tabLst>
                <a:tab pos="1887538" algn="ctr"/>
                <a:tab pos="4572000" algn="ctr"/>
              </a:tabLst>
              <a:defRPr/>
            </a:pPr>
            <a:r>
              <a:rPr lang="en-US" sz="2600" dirty="0"/>
              <a:t>Identity each kind of resource; </a:t>
            </a:r>
            <a:r>
              <a:rPr lang="en-US" sz="2600" dirty="0">
                <a:solidFill>
                  <a:schemeClr val="accent2"/>
                </a:solidFill>
              </a:rPr>
              <a:t>one semaphore for one kind</a:t>
            </a:r>
          </a:p>
          <a:p>
            <a:pPr lvl="1">
              <a:tabLst>
                <a:tab pos="1887538" algn="ctr"/>
                <a:tab pos="4572000" algn="ctr"/>
              </a:tabLst>
              <a:defRPr/>
            </a:pPr>
            <a:r>
              <a:rPr lang="en-US" sz="2600" dirty="0"/>
              <a:t>Initial value: number of resource instances</a:t>
            </a:r>
          </a:p>
          <a:p>
            <a:pPr lvl="1">
              <a:tabLst>
                <a:tab pos="1887538" algn="ctr"/>
                <a:tab pos="4572000" algn="ctr"/>
              </a:tabLst>
              <a:defRPr/>
            </a:pPr>
            <a:r>
              <a:rPr lang="en-US" sz="2600" dirty="0"/>
              <a:t>When the resource is requested/consumed: Wait</a:t>
            </a:r>
          </a:p>
          <a:p>
            <a:pPr lvl="1">
              <a:tabLst>
                <a:tab pos="1887538" algn="ctr"/>
                <a:tab pos="4572000" algn="ctr"/>
              </a:tabLst>
              <a:defRPr/>
            </a:pPr>
            <a:r>
              <a:rPr lang="en-US" sz="2600" dirty="0"/>
              <a:t>When the resource is released: Signal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21">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21">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21">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21">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821">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82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Footer Placeholder 3">
            <a:extLst>
              <a:ext uri="{FF2B5EF4-FFF2-40B4-BE49-F238E27FC236}">
                <a16:creationId xmlns:a16="http://schemas.microsoft.com/office/drawing/2014/main" id="{4F34AB03-58F9-4585-AA5F-201F041A1EC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2771" name="Rectangle 4">
            <a:extLst>
              <a:ext uri="{FF2B5EF4-FFF2-40B4-BE49-F238E27FC236}">
                <a16:creationId xmlns:a16="http://schemas.microsoft.com/office/drawing/2014/main" id="{6F261741-0C1C-4B26-8F7C-F8B38C119FD0}"/>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89091" name="Rectangle 2">
            <a:extLst>
              <a:ext uri="{FF2B5EF4-FFF2-40B4-BE49-F238E27FC236}">
                <a16:creationId xmlns:a16="http://schemas.microsoft.com/office/drawing/2014/main" id="{7F8A7D96-E844-45F5-8C10-DE09900E5CA6}"/>
              </a:ext>
            </a:extLst>
          </p:cNvPr>
          <p:cNvSpPr>
            <a:spLocks noGrp="1" noChangeArrowheads="1"/>
          </p:cNvSpPr>
          <p:nvPr>
            <p:ph type="title"/>
          </p:nvPr>
        </p:nvSpPr>
        <p:spPr>
          <a:xfrm>
            <a:off x="304800" y="495300"/>
            <a:ext cx="8534400" cy="457200"/>
          </a:xfrm>
        </p:spPr>
        <p:txBody>
          <a:bodyPr/>
          <a:lstStyle/>
          <a:p>
            <a:r>
              <a:rPr lang="en-US" altLang="en-US" sz="2800"/>
              <a:t>Semaphore as General Synchronization Tool</a:t>
            </a:r>
            <a:endParaRPr lang="en-US" altLang="en-US"/>
          </a:p>
        </p:txBody>
      </p:sp>
      <p:sp>
        <p:nvSpPr>
          <p:cNvPr id="32773" name="Rectangle 3">
            <a:extLst>
              <a:ext uri="{FF2B5EF4-FFF2-40B4-BE49-F238E27FC236}">
                <a16:creationId xmlns:a16="http://schemas.microsoft.com/office/drawing/2014/main" id="{5EF794BE-9F01-4BE1-B0C6-465D5DCD2DB3}"/>
              </a:ext>
            </a:extLst>
          </p:cNvPr>
          <p:cNvSpPr>
            <a:spLocks noGrp="1" noChangeArrowheads="1"/>
          </p:cNvSpPr>
          <p:nvPr>
            <p:ph type="body" idx="1"/>
          </p:nvPr>
        </p:nvSpPr>
        <p:spPr>
          <a:xfrm>
            <a:off x="600075" y="1379538"/>
            <a:ext cx="7915275" cy="4114800"/>
          </a:xfrm>
        </p:spPr>
        <p:txBody>
          <a:bodyPr/>
          <a:lstStyle/>
          <a:p>
            <a:pPr>
              <a:tabLst>
                <a:tab pos="2005013" algn="ctr"/>
                <a:tab pos="4518025" algn="ctr"/>
              </a:tabLst>
              <a:defRPr/>
            </a:pPr>
            <a:r>
              <a:rPr lang="en-US" altLang="en-US" sz="2800" dirty="0"/>
              <a:t>We wish to execute code segment </a:t>
            </a:r>
            <a:r>
              <a:rPr lang="en-US" altLang="en-US" sz="2800" i="1" dirty="0"/>
              <a:t>B</a:t>
            </a:r>
            <a:r>
              <a:rPr lang="en-US" altLang="en-US" sz="2800" dirty="0"/>
              <a:t> in process </a:t>
            </a:r>
            <a:r>
              <a:rPr lang="en-US" altLang="en-US" sz="2800" i="1" dirty="0" err="1"/>
              <a:t>P</a:t>
            </a:r>
            <a:r>
              <a:rPr lang="en-US" altLang="en-US" sz="2800" baseline="-25000" dirty="0" err="1"/>
              <a:t>k</a:t>
            </a:r>
            <a:r>
              <a:rPr lang="en-US" altLang="en-US" sz="2800" dirty="0"/>
              <a:t> only after code segment </a:t>
            </a:r>
            <a:r>
              <a:rPr lang="en-US" altLang="en-US" sz="2800" i="1" dirty="0"/>
              <a:t>A</a:t>
            </a:r>
            <a:r>
              <a:rPr lang="en-US" altLang="en-US" sz="2800" dirty="0"/>
              <a:t> in process </a:t>
            </a:r>
            <a:r>
              <a:rPr lang="en-US" altLang="en-US" sz="2800" i="1" dirty="0"/>
              <a:t>P</a:t>
            </a:r>
            <a:r>
              <a:rPr lang="en-US" altLang="en-US" sz="2800" i="1" baseline="-25000" dirty="0"/>
              <a:t>i</a:t>
            </a:r>
            <a:endParaRPr lang="en-US" altLang="en-US" sz="2800" i="1" dirty="0"/>
          </a:p>
          <a:p>
            <a:pPr lvl="1">
              <a:tabLst>
                <a:tab pos="2005013" algn="ctr"/>
                <a:tab pos="4518025" algn="ctr"/>
              </a:tabLst>
              <a:defRPr/>
            </a:pPr>
            <a:r>
              <a:rPr lang="en-US" altLang="en-US" sz="2800" dirty="0">
                <a:solidFill>
                  <a:srgbClr val="FF0000"/>
                </a:solidFill>
              </a:rPr>
              <a:t>Use a semaphore </a:t>
            </a:r>
            <a:r>
              <a:rPr lang="en-US" altLang="en-US" sz="2800" i="1" dirty="0">
                <a:solidFill>
                  <a:srgbClr val="FF0000"/>
                </a:solidFill>
              </a:rPr>
              <a:t>flag</a:t>
            </a:r>
            <a:r>
              <a:rPr lang="en-US" altLang="en-US" sz="2800" dirty="0">
                <a:solidFill>
                  <a:srgbClr val="FF0000"/>
                </a:solidFill>
              </a:rPr>
              <a:t> initialized to </a:t>
            </a:r>
            <a:r>
              <a:rPr lang="en-US" altLang="en-US" sz="2800" b="1" dirty="0">
                <a:solidFill>
                  <a:srgbClr val="FF0000"/>
                </a:solidFill>
              </a:rPr>
              <a:t>0</a:t>
            </a:r>
          </a:p>
          <a:p>
            <a:pPr lvl="1">
              <a:tabLst>
                <a:tab pos="2005013" algn="ctr"/>
                <a:tab pos="4518025" algn="ctr"/>
              </a:tabLst>
              <a:defRPr/>
            </a:pPr>
            <a:r>
              <a:rPr lang="en-US" altLang="en-US" sz="2800" dirty="0"/>
              <a:t>Code:   P</a:t>
            </a:r>
            <a:r>
              <a:rPr lang="en-US" altLang="en-US" sz="2800" baseline="-25000" dirty="0"/>
              <a:t>i</a:t>
            </a:r>
            <a:r>
              <a:rPr lang="en-US" altLang="en-US" sz="2800" dirty="0"/>
              <a:t>		        </a:t>
            </a:r>
            <a:r>
              <a:rPr lang="en-US" altLang="en-US" sz="2800" dirty="0" err="1"/>
              <a:t>P</a:t>
            </a:r>
            <a:r>
              <a:rPr lang="en-US" altLang="en-US" sz="2800" baseline="-25000" dirty="0" err="1"/>
              <a:t>k</a:t>
            </a:r>
            <a:endParaRPr lang="en-US" altLang="en-US" sz="2800" baseline="-25000" dirty="0"/>
          </a:p>
          <a:p>
            <a:pPr lvl="4">
              <a:tabLst>
                <a:tab pos="2005013" algn="ctr"/>
                <a:tab pos="4518025" algn="ctr"/>
              </a:tabLst>
              <a:defRPr/>
            </a:pPr>
            <a:endParaRPr lang="en-US" altLang="en-US" sz="2200" baseline="-25000" dirty="0"/>
          </a:p>
          <a:p>
            <a:pPr>
              <a:buFontTx/>
              <a:buNone/>
              <a:tabLst>
                <a:tab pos="2005013" algn="ctr"/>
                <a:tab pos="4518025" algn="ctr"/>
              </a:tabLst>
              <a:defRPr/>
            </a:pPr>
            <a:r>
              <a:rPr lang="en-US" altLang="en-US" sz="2800" i="1" dirty="0"/>
              <a:t>	</a:t>
            </a:r>
            <a:r>
              <a:rPr lang="en-US" altLang="en-US" sz="2800" b="1" dirty="0">
                <a:solidFill>
                  <a:schemeClr val="accent1">
                    <a:lumMod val="75000"/>
                  </a:schemeClr>
                </a:solidFill>
              </a:rPr>
              <a:t>	</a:t>
            </a:r>
            <a:r>
              <a:rPr lang="en-US" altLang="en-US" sz="2800" dirty="0"/>
              <a:t> </a:t>
            </a:r>
            <a:r>
              <a:rPr lang="en-US" altLang="en-US" sz="2800" dirty="0">
                <a:sym typeface="MT Extra" charset="2"/>
              </a:rPr>
              <a:t></a:t>
            </a:r>
            <a:r>
              <a:rPr lang="en-US" altLang="en-US" sz="2800" dirty="0"/>
              <a:t> </a:t>
            </a:r>
            <a:r>
              <a:rPr lang="en-US" altLang="en-US" sz="2800" dirty="0">
                <a:sym typeface="MT Extra" charset="2"/>
              </a:rPr>
              <a:t>	 	</a:t>
            </a:r>
          </a:p>
          <a:p>
            <a:pPr>
              <a:buFontTx/>
              <a:buNone/>
              <a:tabLst>
                <a:tab pos="2005013" algn="ctr"/>
                <a:tab pos="4518025" algn="ctr"/>
              </a:tabLst>
              <a:defRPr/>
            </a:pPr>
            <a:r>
              <a:rPr lang="en-US" altLang="en-US" sz="2800" dirty="0">
                <a:sym typeface="MT Extra" charset="2"/>
              </a:rPr>
              <a:t>		</a:t>
            </a:r>
            <a:r>
              <a:rPr lang="en-US" altLang="en-US" sz="2800" i="1" dirty="0">
                <a:sym typeface="MT Extra" charset="2"/>
              </a:rPr>
              <a:t>A</a:t>
            </a:r>
            <a:r>
              <a:rPr lang="en-US" altLang="en-US" sz="2800" dirty="0">
                <a:sym typeface="MT Extra" charset="2"/>
              </a:rPr>
              <a:t>		    </a:t>
            </a:r>
            <a:r>
              <a:rPr lang="en-US" altLang="en-US" sz="2800" b="1" i="1" dirty="0">
                <a:solidFill>
                  <a:schemeClr val="accent1">
                    <a:lumMod val="75000"/>
                  </a:schemeClr>
                </a:solidFill>
                <a:sym typeface="MT Extra" charset="2"/>
              </a:rPr>
              <a:t>Wait</a:t>
            </a:r>
            <a:r>
              <a:rPr lang="en-US" altLang="en-US" sz="2800" b="1" dirty="0">
                <a:solidFill>
                  <a:schemeClr val="accent1">
                    <a:lumMod val="75000"/>
                  </a:schemeClr>
                </a:solidFill>
                <a:sym typeface="MT Extra" charset="2"/>
              </a:rPr>
              <a:t>(</a:t>
            </a:r>
            <a:r>
              <a:rPr lang="en-US" altLang="en-US" sz="2800" b="1" i="1" dirty="0">
                <a:solidFill>
                  <a:schemeClr val="accent1">
                    <a:lumMod val="75000"/>
                  </a:schemeClr>
                </a:solidFill>
                <a:sym typeface="MT Extra" charset="2"/>
              </a:rPr>
              <a:t>flag</a:t>
            </a:r>
            <a:r>
              <a:rPr lang="en-US" altLang="en-US" sz="2800" b="1" dirty="0">
                <a:solidFill>
                  <a:schemeClr val="accent1">
                    <a:lumMod val="75000"/>
                  </a:schemeClr>
                </a:solidFill>
                <a:sym typeface="MT Extra" charset="2"/>
              </a:rPr>
              <a:t>)</a:t>
            </a:r>
          </a:p>
          <a:p>
            <a:pPr>
              <a:buFontTx/>
              <a:buNone/>
              <a:tabLst>
                <a:tab pos="2005013" algn="ctr"/>
                <a:tab pos="4518025" algn="ctr"/>
              </a:tabLst>
              <a:defRPr/>
            </a:pPr>
            <a:r>
              <a:rPr lang="en-US" altLang="en-US" sz="2800" dirty="0">
                <a:sym typeface="MT Extra" charset="2"/>
              </a:rPr>
              <a:t>		</a:t>
            </a:r>
            <a:r>
              <a:rPr lang="en-US" altLang="en-US" sz="2800" b="1" dirty="0">
                <a:solidFill>
                  <a:schemeClr val="accent1">
                    <a:lumMod val="75000"/>
                  </a:schemeClr>
                </a:solidFill>
                <a:sym typeface="MT Extra" charset="2"/>
              </a:rPr>
              <a:t>    </a:t>
            </a:r>
            <a:r>
              <a:rPr lang="en-US" altLang="en-US" sz="2800" b="1" i="1" dirty="0">
                <a:solidFill>
                  <a:schemeClr val="accent1">
                    <a:lumMod val="75000"/>
                  </a:schemeClr>
                </a:solidFill>
                <a:sym typeface="MT Extra" charset="2"/>
              </a:rPr>
              <a:t>Signal</a:t>
            </a:r>
            <a:r>
              <a:rPr lang="en-US" altLang="en-US" sz="2800" b="1" dirty="0">
                <a:solidFill>
                  <a:schemeClr val="accent1">
                    <a:lumMod val="75000"/>
                  </a:schemeClr>
                </a:solidFill>
                <a:sym typeface="MT Extra" charset="2"/>
              </a:rPr>
              <a:t>(</a:t>
            </a:r>
            <a:r>
              <a:rPr lang="en-US" altLang="en-US" sz="2800" b="1" i="1" dirty="0">
                <a:solidFill>
                  <a:schemeClr val="accent1">
                    <a:lumMod val="75000"/>
                  </a:schemeClr>
                </a:solidFill>
                <a:sym typeface="MT Extra" charset="2"/>
              </a:rPr>
              <a:t>flag</a:t>
            </a:r>
            <a:r>
              <a:rPr lang="en-US" altLang="en-US" sz="2800" b="1" dirty="0">
                <a:solidFill>
                  <a:schemeClr val="accent1">
                    <a:lumMod val="75000"/>
                  </a:schemeClr>
                </a:solidFill>
                <a:sym typeface="MT Extra" charset="2"/>
              </a:rPr>
              <a:t>)</a:t>
            </a:r>
            <a:r>
              <a:rPr lang="en-US" altLang="en-US" sz="2800" dirty="0">
                <a:sym typeface="MT Extra" charset="2"/>
              </a:rPr>
              <a:t>			</a:t>
            </a:r>
            <a:r>
              <a:rPr lang="en-US" altLang="en-US" sz="2800" i="1" dirty="0">
                <a:sym typeface="MT Extra" charset="2"/>
              </a:rPr>
              <a:t>B</a:t>
            </a:r>
            <a:endParaRPr lang="en-US" altLang="en-US" sz="2800" dirty="0">
              <a:sym typeface="MT Extra"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77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77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77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Footer Placeholder 3">
            <a:extLst>
              <a:ext uri="{FF2B5EF4-FFF2-40B4-BE49-F238E27FC236}">
                <a16:creationId xmlns:a16="http://schemas.microsoft.com/office/drawing/2014/main" id="{37D23784-603A-4CA2-A2A0-C38E5ACBB9F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3795" name="Rectangle 4">
            <a:extLst>
              <a:ext uri="{FF2B5EF4-FFF2-40B4-BE49-F238E27FC236}">
                <a16:creationId xmlns:a16="http://schemas.microsoft.com/office/drawing/2014/main" id="{6B5740A5-B742-444E-9EC9-0553DEDC69EB}"/>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91139" name="Rectangle 2">
            <a:extLst>
              <a:ext uri="{FF2B5EF4-FFF2-40B4-BE49-F238E27FC236}">
                <a16:creationId xmlns:a16="http://schemas.microsoft.com/office/drawing/2014/main" id="{50F36CE7-7E06-401B-9D35-6CDFABCBB957}"/>
              </a:ext>
            </a:extLst>
          </p:cNvPr>
          <p:cNvSpPr>
            <a:spLocks noGrp="1" noChangeArrowheads="1"/>
          </p:cNvSpPr>
          <p:nvPr>
            <p:ph type="title"/>
          </p:nvPr>
        </p:nvSpPr>
        <p:spPr>
          <a:xfrm>
            <a:off x="855663" y="495300"/>
            <a:ext cx="7521575" cy="457200"/>
          </a:xfrm>
        </p:spPr>
        <p:txBody>
          <a:bodyPr/>
          <a:lstStyle/>
          <a:p>
            <a:r>
              <a:rPr lang="en-US" altLang="en-US"/>
              <a:t>Deadlocks (Incorrect Semaphore Use)</a:t>
            </a:r>
          </a:p>
        </p:txBody>
      </p:sp>
      <p:sp>
        <p:nvSpPr>
          <p:cNvPr id="33797" name="Rectangle 3">
            <a:extLst>
              <a:ext uri="{FF2B5EF4-FFF2-40B4-BE49-F238E27FC236}">
                <a16:creationId xmlns:a16="http://schemas.microsoft.com/office/drawing/2014/main" id="{4D6C3F71-3975-443C-BC23-31DBE00CEBC0}"/>
              </a:ext>
            </a:extLst>
          </p:cNvPr>
          <p:cNvSpPr>
            <a:spLocks noGrp="1" noChangeArrowheads="1"/>
          </p:cNvSpPr>
          <p:nvPr>
            <p:ph type="body" idx="1"/>
          </p:nvPr>
        </p:nvSpPr>
        <p:spPr>
          <a:xfrm>
            <a:off x="471488" y="1144588"/>
            <a:ext cx="8307387" cy="5419725"/>
          </a:xfrm>
        </p:spPr>
        <p:txBody>
          <a:bodyPr/>
          <a:lstStyle/>
          <a:p>
            <a:pPr>
              <a:lnSpc>
                <a:spcPct val="90000"/>
              </a:lnSpc>
              <a:tabLst>
                <a:tab pos="1887538" algn="ctr"/>
                <a:tab pos="4572000" algn="ctr"/>
              </a:tabLst>
              <a:defRPr/>
            </a:pPr>
            <a:r>
              <a:rPr lang="en-US" altLang="en-US" sz="2800" dirty="0">
                <a:solidFill>
                  <a:srgbClr val="FF0000"/>
                </a:solidFill>
              </a:rPr>
              <a:t>Deadlock:</a:t>
            </a:r>
            <a:r>
              <a:rPr lang="en-US" altLang="en-US" sz="2800" dirty="0"/>
              <a:t> Two or more processes are waiting indefinitely for an event that can be caused by only one of the waiting processes</a:t>
            </a:r>
          </a:p>
          <a:p>
            <a:pPr lvl="1">
              <a:lnSpc>
                <a:spcPct val="90000"/>
              </a:lnSpc>
              <a:tabLst>
                <a:tab pos="1887538" algn="ctr"/>
                <a:tab pos="4572000" algn="ctr"/>
              </a:tabLst>
              <a:defRPr/>
            </a:pPr>
            <a:r>
              <a:rPr lang="en-US" altLang="en-US" sz="2400" dirty="0"/>
              <a:t>Let </a:t>
            </a:r>
            <a:r>
              <a:rPr lang="en-US" altLang="en-US" sz="2400" i="1" dirty="0"/>
              <a:t>S</a:t>
            </a:r>
            <a:r>
              <a:rPr lang="en-US" altLang="en-US" sz="2400" dirty="0"/>
              <a:t> and </a:t>
            </a:r>
            <a:r>
              <a:rPr lang="en-US" altLang="en-US" sz="2400" i="1" dirty="0"/>
              <a:t>Q</a:t>
            </a:r>
            <a:r>
              <a:rPr lang="en-US" altLang="en-US" sz="2400" dirty="0"/>
              <a:t> be two semaphores initialized to 1</a:t>
            </a:r>
          </a:p>
          <a:p>
            <a:pPr lvl="1">
              <a:lnSpc>
                <a:spcPct val="90000"/>
              </a:lnSpc>
              <a:tabLst>
                <a:tab pos="1887538" algn="ctr"/>
                <a:tab pos="4572000" algn="ctr"/>
              </a:tabLst>
              <a:defRPr/>
            </a:pPr>
            <a:endParaRPr lang="en-US" altLang="en-US" sz="2400" dirty="0"/>
          </a:p>
          <a:p>
            <a:pPr>
              <a:lnSpc>
                <a:spcPct val="90000"/>
              </a:lnSpc>
              <a:spcBef>
                <a:spcPct val="25000"/>
              </a:spcBef>
              <a:buFontTx/>
              <a:buNone/>
              <a:tabLst>
                <a:tab pos="1887538" algn="ctr"/>
                <a:tab pos="4572000" algn="ctr"/>
              </a:tabLst>
              <a:defRPr/>
            </a:pPr>
            <a:r>
              <a:rPr lang="en-US" altLang="en-US" sz="2400" dirty="0"/>
              <a:t>	       </a:t>
            </a:r>
            <a:r>
              <a:rPr lang="en-US" altLang="en-US" sz="2400" i="1" dirty="0"/>
              <a:t>P</a:t>
            </a:r>
            <a:r>
              <a:rPr lang="en-US" altLang="en-US" sz="2400" i="1" baseline="-25000" dirty="0"/>
              <a:t>0</a:t>
            </a:r>
            <a:r>
              <a:rPr lang="en-US" altLang="en-US" sz="2400" dirty="0"/>
              <a:t>	                   </a:t>
            </a:r>
            <a:r>
              <a:rPr lang="en-US" altLang="en-US" sz="2400" i="1" dirty="0"/>
              <a:t>P</a:t>
            </a:r>
            <a:r>
              <a:rPr lang="en-US" altLang="en-US" sz="2400" i="1" baseline="-25000" dirty="0"/>
              <a:t>1</a:t>
            </a:r>
            <a:endParaRPr lang="en-US" altLang="en-US" sz="2400" i="1" dirty="0"/>
          </a:p>
          <a:p>
            <a:pPr>
              <a:lnSpc>
                <a:spcPct val="90000"/>
              </a:lnSpc>
              <a:buFontTx/>
              <a:buNone/>
              <a:tabLst>
                <a:tab pos="1887538" algn="ctr"/>
                <a:tab pos="4572000" algn="ctr"/>
              </a:tabLst>
              <a:defRPr/>
            </a:pPr>
            <a:r>
              <a:rPr lang="en-US" altLang="en-US" sz="2400" dirty="0"/>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S</a:t>
            </a: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Q</a:t>
            </a:r>
            <a:r>
              <a:rPr lang="en-US" altLang="en-US" sz="2400" b="1" dirty="0">
                <a:solidFill>
                  <a:schemeClr val="accent1">
                    <a:lumMod val="75000"/>
                  </a:schemeClr>
                </a:solidFill>
              </a:rPr>
              <a:t>);</a:t>
            </a:r>
          </a:p>
          <a:p>
            <a:pPr>
              <a:lnSpc>
                <a:spcPct val="90000"/>
              </a:lnSpc>
              <a:buFontTx/>
              <a:buNone/>
              <a:tabLst>
                <a:tab pos="1887538" algn="ctr"/>
                <a:tab pos="4572000" algn="ctr"/>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Q</a:t>
            </a: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S</a:t>
            </a:r>
            <a:r>
              <a:rPr lang="en-US" altLang="en-US" sz="2400" b="1" dirty="0">
                <a:solidFill>
                  <a:schemeClr val="accent1">
                    <a:lumMod val="75000"/>
                  </a:schemeClr>
                </a:solidFill>
              </a:rPr>
              <a:t>);</a:t>
            </a:r>
          </a:p>
          <a:p>
            <a:pPr>
              <a:lnSpc>
                <a:spcPct val="90000"/>
              </a:lnSpc>
              <a:buFontTx/>
              <a:buNone/>
              <a:tabLst>
                <a:tab pos="1887538" algn="ctr"/>
                <a:tab pos="4572000" algn="ctr"/>
              </a:tabLst>
              <a:defRPr/>
            </a:pPr>
            <a:r>
              <a:rPr lang="en-US" altLang="en-US" sz="2400" dirty="0"/>
              <a:t>	       </a:t>
            </a:r>
            <a:r>
              <a:rPr lang="en-US" altLang="en-US" sz="2400" dirty="0">
                <a:sym typeface="MT Extra" charset="2"/>
              </a:rPr>
              <a:t>	                     </a:t>
            </a:r>
          </a:p>
          <a:p>
            <a:pPr>
              <a:lnSpc>
                <a:spcPct val="90000"/>
              </a:lnSpc>
              <a:buFontTx/>
              <a:buNone/>
              <a:tabLst>
                <a:tab pos="1887538" algn="ctr"/>
                <a:tab pos="4572000" algn="ctr"/>
              </a:tabLst>
              <a:defRPr/>
            </a:pPr>
            <a:r>
              <a:rPr lang="en-US" altLang="en-US" sz="2400" dirty="0">
                <a:sym typeface="MT Extra" charset="2"/>
              </a:rPr>
              <a:t>	   </a:t>
            </a:r>
            <a:r>
              <a:rPr lang="en-US" altLang="en-US" sz="2400" b="1" i="1" dirty="0">
                <a:solidFill>
                  <a:schemeClr val="accent1">
                    <a:lumMod val="75000"/>
                  </a:schemeClr>
                </a:solidFill>
                <a:sym typeface="MT Extra" charset="2"/>
              </a:rPr>
              <a:t>Signal</a:t>
            </a:r>
            <a:r>
              <a:rPr lang="en-US" altLang="en-US" sz="2400" b="1" dirty="0">
                <a:solidFill>
                  <a:schemeClr val="accent1">
                    <a:lumMod val="75000"/>
                  </a:schemeClr>
                </a:solidFill>
                <a:sym typeface="MT Extra" charset="2"/>
              </a:rPr>
              <a:t>(</a:t>
            </a:r>
            <a:r>
              <a:rPr lang="en-US" altLang="en-US" sz="2400" b="1" i="1" dirty="0">
                <a:solidFill>
                  <a:schemeClr val="accent1">
                    <a:lumMod val="75000"/>
                  </a:schemeClr>
                </a:solidFill>
                <a:sym typeface="MT Extra" charset="2"/>
              </a:rPr>
              <a:t>S</a:t>
            </a:r>
            <a:r>
              <a:rPr lang="en-US" altLang="en-US" sz="2400" b="1" dirty="0">
                <a:solidFill>
                  <a:schemeClr val="accent1">
                    <a:lumMod val="75000"/>
                  </a:schemeClr>
                </a:solidFill>
                <a:sym typeface="MT Extra" charset="2"/>
              </a:rPr>
              <a:t>);      </a:t>
            </a:r>
            <a:r>
              <a:rPr lang="en-US" altLang="en-US" sz="2400" b="1" i="1" dirty="0">
                <a:solidFill>
                  <a:schemeClr val="accent1">
                    <a:lumMod val="75000"/>
                  </a:schemeClr>
                </a:solidFill>
                <a:sym typeface="MT Extra" charset="2"/>
              </a:rPr>
              <a:t>Signal</a:t>
            </a:r>
            <a:r>
              <a:rPr lang="en-US" altLang="en-US" sz="2400" b="1" dirty="0">
                <a:solidFill>
                  <a:schemeClr val="accent1">
                    <a:lumMod val="75000"/>
                  </a:schemeClr>
                </a:solidFill>
                <a:sym typeface="MT Extra" charset="2"/>
              </a:rPr>
              <a:t>(</a:t>
            </a:r>
            <a:r>
              <a:rPr lang="en-US" altLang="en-US" sz="2400" b="1" i="1" dirty="0">
                <a:solidFill>
                  <a:schemeClr val="accent1">
                    <a:lumMod val="75000"/>
                  </a:schemeClr>
                </a:solidFill>
                <a:sym typeface="MT Extra" charset="2"/>
              </a:rPr>
              <a:t>Q</a:t>
            </a:r>
            <a:r>
              <a:rPr lang="en-US" altLang="en-US" sz="2400" b="1" dirty="0">
                <a:solidFill>
                  <a:schemeClr val="accent1">
                    <a:lumMod val="75000"/>
                  </a:schemeClr>
                </a:solidFill>
                <a:sym typeface="MT Extra" charset="2"/>
              </a:rPr>
              <a:t>);</a:t>
            </a:r>
          </a:p>
          <a:p>
            <a:pPr>
              <a:lnSpc>
                <a:spcPct val="90000"/>
              </a:lnSpc>
              <a:buFontTx/>
              <a:buNone/>
              <a:tabLst>
                <a:tab pos="1887538" algn="ctr"/>
                <a:tab pos="4572000" algn="ctr"/>
              </a:tabLst>
              <a:defRPr/>
            </a:pPr>
            <a:r>
              <a:rPr lang="en-US" altLang="en-US" sz="2400" b="1" dirty="0">
                <a:solidFill>
                  <a:schemeClr val="accent1">
                    <a:lumMod val="75000"/>
                  </a:schemeClr>
                </a:solidFill>
                <a:sym typeface="MT Extra" charset="2"/>
              </a:rPr>
              <a:t>	   </a:t>
            </a:r>
            <a:r>
              <a:rPr lang="en-US" altLang="en-US" sz="2400" b="1" i="1" dirty="0">
                <a:solidFill>
                  <a:schemeClr val="accent1">
                    <a:lumMod val="75000"/>
                  </a:schemeClr>
                </a:solidFill>
                <a:sym typeface="MT Extra" charset="2"/>
              </a:rPr>
              <a:t>Signal</a:t>
            </a:r>
            <a:r>
              <a:rPr lang="en-US" altLang="en-US" sz="2400" b="1" dirty="0">
                <a:solidFill>
                  <a:schemeClr val="accent1">
                    <a:lumMod val="75000"/>
                  </a:schemeClr>
                </a:solidFill>
                <a:sym typeface="MT Extra" charset="2"/>
              </a:rPr>
              <a:t>(</a:t>
            </a:r>
            <a:r>
              <a:rPr lang="en-US" altLang="en-US" sz="2400" b="1" i="1" dirty="0">
                <a:solidFill>
                  <a:schemeClr val="accent1">
                    <a:lumMod val="75000"/>
                  </a:schemeClr>
                </a:solidFill>
                <a:sym typeface="MT Extra" charset="2"/>
              </a:rPr>
              <a:t>Q</a:t>
            </a:r>
            <a:r>
              <a:rPr lang="en-US" altLang="en-US" sz="2400" b="1" dirty="0">
                <a:solidFill>
                  <a:schemeClr val="accent1">
                    <a:lumMod val="75000"/>
                  </a:schemeClr>
                </a:solidFill>
                <a:sym typeface="MT Extra" charset="2"/>
              </a:rPr>
              <a:t>);      </a:t>
            </a:r>
            <a:r>
              <a:rPr lang="en-US" altLang="en-US" sz="2400" b="1" i="1" dirty="0">
                <a:solidFill>
                  <a:schemeClr val="accent1">
                    <a:lumMod val="75000"/>
                  </a:schemeClr>
                </a:solidFill>
                <a:sym typeface="MT Extra" charset="2"/>
              </a:rPr>
              <a:t>Signal</a:t>
            </a:r>
            <a:r>
              <a:rPr lang="en-US" altLang="en-US" sz="2400" b="1" dirty="0">
                <a:solidFill>
                  <a:schemeClr val="accent1">
                    <a:lumMod val="75000"/>
                  </a:schemeClr>
                </a:solidFill>
                <a:sym typeface="MT Extra" charset="2"/>
              </a:rPr>
              <a:t>(</a:t>
            </a:r>
            <a:r>
              <a:rPr lang="en-US" altLang="en-US" sz="2400" b="1" i="1" dirty="0">
                <a:solidFill>
                  <a:schemeClr val="accent1">
                    <a:lumMod val="75000"/>
                  </a:schemeClr>
                </a:solidFill>
                <a:sym typeface="MT Extra" charset="2"/>
              </a:rPr>
              <a:t>S</a:t>
            </a:r>
            <a:r>
              <a:rPr lang="en-US" altLang="en-US" sz="2400" b="1" dirty="0">
                <a:solidFill>
                  <a:schemeClr val="accent1">
                    <a:lumMod val="75000"/>
                  </a:schemeClr>
                </a:solidFill>
                <a:sym typeface="MT Extra" charset="2"/>
              </a:rPr>
              <a:t>);</a:t>
            </a:r>
          </a:p>
        </p:txBody>
      </p:sp>
      <p:sp>
        <p:nvSpPr>
          <p:cNvPr id="6" name="TextBox 5">
            <a:extLst>
              <a:ext uri="{FF2B5EF4-FFF2-40B4-BE49-F238E27FC236}">
                <a16:creationId xmlns:a16="http://schemas.microsoft.com/office/drawing/2014/main" id="{17D27628-AE30-4269-BEC3-2C980638B239}"/>
              </a:ext>
            </a:extLst>
          </p:cNvPr>
          <p:cNvSpPr txBox="1">
            <a:spLocks noChangeArrowheads="1"/>
          </p:cNvSpPr>
          <p:nvPr/>
        </p:nvSpPr>
        <p:spPr bwMode="auto">
          <a:xfrm>
            <a:off x="4895850" y="3346450"/>
            <a:ext cx="4071938" cy="2032000"/>
          </a:xfrm>
          <a:prstGeom prst="rect">
            <a:avLst/>
          </a:prstGeom>
          <a:noFill/>
          <a:ln w="9525">
            <a:solidFill>
              <a:srgbClr val="000000"/>
            </a:solidFill>
            <a:miter lim="800000"/>
            <a:headEnd/>
            <a:tailEnd/>
          </a:ln>
        </p:spPr>
        <p:txBody>
          <a:bodyPr>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eaLnBrk="0" fontAlgn="base" hangingPunct="0">
              <a:spcBef>
                <a:spcPct val="0"/>
              </a:spcBef>
              <a:spcAft>
                <a:spcPct val="0"/>
              </a:spcAft>
              <a:defRPr>
                <a:solidFill>
                  <a:schemeClr val="tx1"/>
                </a:solidFill>
                <a:latin typeface="Helvetica" charset="0"/>
              </a:defRPr>
            </a:lvl6pPr>
            <a:lvl7pPr marL="2971800" indent="-228600" eaLnBrk="0" fontAlgn="base" hangingPunct="0">
              <a:spcBef>
                <a:spcPct val="0"/>
              </a:spcBef>
              <a:spcAft>
                <a:spcPct val="0"/>
              </a:spcAft>
              <a:defRPr>
                <a:solidFill>
                  <a:schemeClr val="tx1"/>
                </a:solidFill>
                <a:latin typeface="Helvetica" charset="0"/>
              </a:defRPr>
            </a:lvl7pPr>
            <a:lvl8pPr marL="3429000" indent="-228600" eaLnBrk="0" fontAlgn="base" hangingPunct="0">
              <a:spcBef>
                <a:spcPct val="0"/>
              </a:spcBef>
              <a:spcAft>
                <a:spcPct val="0"/>
              </a:spcAft>
              <a:defRPr>
                <a:solidFill>
                  <a:schemeClr val="tx1"/>
                </a:solidFill>
                <a:latin typeface="Helvetica" charset="0"/>
              </a:defRPr>
            </a:lvl8pPr>
            <a:lvl9pPr marL="3886200" indent="-228600" eaLnBrk="0" fontAlgn="base" hangingPunct="0">
              <a:spcBef>
                <a:spcPct val="0"/>
              </a:spcBef>
              <a:spcAft>
                <a:spcPct val="0"/>
              </a:spcAft>
              <a:defRPr>
                <a:solidFill>
                  <a:schemeClr val="tx1"/>
                </a:solidFill>
                <a:latin typeface="Helvetica" charset="0"/>
              </a:defRPr>
            </a:lvl9pPr>
          </a:lstStyle>
          <a:p>
            <a:pPr>
              <a:defRPr/>
            </a:pPr>
            <a:r>
              <a:rPr lang="en-US" altLang="en-US" dirty="0">
                <a:solidFill>
                  <a:schemeClr val="accent2"/>
                </a:solidFill>
              </a:rPr>
              <a:t>Consider the following interleaving:</a:t>
            </a:r>
          </a:p>
          <a:p>
            <a:pPr>
              <a:defRPr/>
            </a:pPr>
            <a:endParaRPr lang="en-US" altLang="en-US" dirty="0">
              <a:solidFill>
                <a:schemeClr val="accent2"/>
              </a:solidFill>
            </a:endParaRPr>
          </a:p>
          <a:p>
            <a:pPr marL="342900" indent="-342900">
              <a:buFont typeface="+mj-lt"/>
              <a:buAutoNum type="arabicPeriod"/>
              <a:defRPr/>
            </a:pPr>
            <a:r>
              <a:rPr lang="en-US" altLang="en-US" dirty="0"/>
              <a:t>P</a:t>
            </a:r>
            <a:r>
              <a:rPr lang="en-US" altLang="en-US" baseline="-25000" dirty="0"/>
              <a:t>0</a:t>
            </a:r>
            <a:r>
              <a:rPr lang="en-US" altLang="en-US" dirty="0"/>
              <a:t> executes </a:t>
            </a:r>
            <a:r>
              <a:rPr lang="en-US" altLang="en-US" b="1" dirty="0">
                <a:solidFill>
                  <a:schemeClr val="accent1">
                    <a:lumMod val="75000"/>
                  </a:schemeClr>
                </a:solidFill>
              </a:rPr>
              <a:t>Wait(S);</a:t>
            </a:r>
          </a:p>
          <a:p>
            <a:pPr marL="342900" indent="-342900">
              <a:buFont typeface="+mj-lt"/>
              <a:buAutoNum type="arabicPeriod"/>
              <a:defRPr/>
            </a:pPr>
            <a:r>
              <a:rPr lang="en-US" altLang="en-US" b="1" dirty="0"/>
              <a:t>Context switch from P</a:t>
            </a:r>
            <a:r>
              <a:rPr lang="en-US" altLang="en-US" b="1" baseline="-25000" dirty="0"/>
              <a:t>0</a:t>
            </a:r>
            <a:r>
              <a:rPr lang="en-US" altLang="en-US" b="1" dirty="0"/>
              <a:t> to P</a:t>
            </a:r>
            <a:r>
              <a:rPr lang="en-US" altLang="en-US" b="1" baseline="-25000" dirty="0"/>
              <a:t>1</a:t>
            </a:r>
          </a:p>
          <a:p>
            <a:pPr marL="342900" indent="-342900">
              <a:buFont typeface="+mj-lt"/>
              <a:buAutoNum type="arabicPeriod"/>
              <a:defRPr/>
            </a:pPr>
            <a:r>
              <a:rPr lang="en-US" altLang="en-US" dirty="0"/>
              <a:t>P</a:t>
            </a:r>
            <a:r>
              <a:rPr lang="en-US" altLang="en-US" baseline="-25000" dirty="0"/>
              <a:t>1</a:t>
            </a:r>
            <a:r>
              <a:rPr lang="en-US" altLang="en-US" dirty="0"/>
              <a:t> executes </a:t>
            </a:r>
            <a:r>
              <a:rPr lang="en-US" altLang="en-US" b="1" dirty="0">
                <a:solidFill>
                  <a:schemeClr val="accent1">
                    <a:lumMod val="75000"/>
                  </a:schemeClr>
                </a:solidFill>
              </a:rPr>
              <a:t>Wait(Q);</a:t>
            </a:r>
            <a:r>
              <a:rPr lang="en-US" altLang="en-US" dirty="0"/>
              <a:t> and </a:t>
            </a:r>
            <a:r>
              <a:rPr lang="en-US" altLang="en-US" b="1" dirty="0">
                <a:solidFill>
                  <a:schemeClr val="accent1">
                    <a:lumMod val="75000"/>
                  </a:schemeClr>
                </a:solidFill>
              </a:rPr>
              <a:t>Wait(S);</a:t>
            </a:r>
          </a:p>
          <a:p>
            <a:pPr marL="342900" indent="-342900">
              <a:buFont typeface="+mj-lt"/>
              <a:buAutoNum type="arabicPeriod"/>
              <a:defRPr/>
            </a:pPr>
            <a:r>
              <a:rPr lang="en-US" altLang="en-US" b="1" dirty="0"/>
              <a:t>Context switch from P</a:t>
            </a:r>
            <a:r>
              <a:rPr lang="en-US" altLang="en-US" b="1" baseline="-25000" dirty="0"/>
              <a:t>1</a:t>
            </a:r>
            <a:r>
              <a:rPr lang="en-US" altLang="en-US" b="1" dirty="0"/>
              <a:t> to P</a:t>
            </a:r>
            <a:r>
              <a:rPr lang="en-US" altLang="en-US" b="1" baseline="-25000" dirty="0"/>
              <a:t>0</a:t>
            </a:r>
          </a:p>
          <a:p>
            <a:pPr marL="342900" indent="-342900">
              <a:buFont typeface="+mj-lt"/>
              <a:buAutoNum type="arabicPeriod"/>
              <a:defRPr/>
            </a:pPr>
            <a:r>
              <a:rPr lang="en-US" altLang="en-US" dirty="0"/>
              <a:t>P</a:t>
            </a:r>
            <a:r>
              <a:rPr lang="en-US" altLang="en-US" baseline="-25000" dirty="0"/>
              <a:t>0</a:t>
            </a:r>
            <a:r>
              <a:rPr lang="en-US" altLang="en-US" dirty="0"/>
              <a:t> executes </a:t>
            </a:r>
            <a:r>
              <a:rPr lang="en-US" altLang="en-US" b="1" dirty="0">
                <a:solidFill>
                  <a:schemeClr val="accent1">
                    <a:lumMod val="75000"/>
                  </a:schemeClr>
                </a:solidFill>
              </a:rPr>
              <a:t>Wait(Q);</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797">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797">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797">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797">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797">
                                            <p:txEl>
                                              <p:pRg st="8" end="8"/>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uild="p"/>
      <p:bldP spid="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Footer Placeholder 3">
            <a:extLst>
              <a:ext uri="{FF2B5EF4-FFF2-40B4-BE49-F238E27FC236}">
                <a16:creationId xmlns:a16="http://schemas.microsoft.com/office/drawing/2014/main" id="{AAE05B3A-5089-481C-9B93-B4483D33927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4819" name="Rectangle 2">
            <a:extLst>
              <a:ext uri="{FF2B5EF4-FFF2-40B4-BE49-F238E27FC236}">
                <a16:creationId xmlns:a16="http://schemas.microsoft.com/office/drawing/2014/main" id="{C00DB536-3362-4145-876D-3D928557A640}"/>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93187" name="Rectangle 3">
            <a:extLst>
              <a:ext uri="{FF2B5EF4-FFF2-40B4-BE49-F238E27FC236}">
                <a16:creationId xmlns:a16="http://schemas.microsoft.com/office/drawing/2014/main" id="{530084A0-E249-44DD-AC62-E74DFC23456C}"/>
              </a:ext>
            </a:extLst>
          </p:cNvPr>
          <p:cNvSpPr>
            <a:spLocks noGrp="1" noChangeArrowheads="1"/>
          </p:cNvSpPr>
          <p:nvPr>
            <p:ph type="title"/>
          </p:nvPr>
        </p:nvSpPr>
        <p:spPr>
          <a:xfrm>
            <a:off x="806450" y="495300"/>
            <a:ext cx="7599363" cy="457200"/>
          </a:xfrm>
        </p:spPr>
        <p:txBody>
          <a:bodyPr/>
          <a:lstStyle/>
          <a:p>
            <a:r>
              <a:rPr lang="en-US" altLang="en-US" sz="3200"/>
              <a:t>Starvation (Incorrect Semaphore Use)</a:t>
            </a:r>
          </a:p>
        </p:txBody>
      </p:sp>
      <p:sp>
        <p:nvSpPr>
          <p:cNvPr id="93188" name="Rectangle 4">
            <a:extLst>
              <a:ext uri="{FF2B5EF4-FFF2-40B4-BE49-F238E27FC236}">
                <a16:creationId xmlns:a16="http://schemas.microsoft.com/office/drawing/2014/main" id="{6D95B97A-8AF3-4C6D-BF44-A9E853660F87}"/>
              </a:ext>
            </a:extLst>
          </p:cNvPr>
          <p:cNvSpPr>
            <a:spLocks noGrp="1" noChangeArrowheads="1"/>
          </p:cNvSpPr>
          <p:nvPr>
            <p:ph type="body" idx="1"/>
          </p:nvPr>
        </p:nvSpPr>
        <p:spPr>
          <a:xfrm>
            <a:off x="265113" y="1296988"/>
            <a:ext cx="8623300" cy="5208587"/>
          </a:xfrm>
        </p:spPr>
        <p:txBody>
          <a:bodyPr/>
          <a:lstStyle/>
          <a:p>
            <a:pPr>
              <a:tabLst>
                <a:tab pos="1887538" algn="ctr"/>
                <a:tab pos="4572000" algn="ctr"/>
              </a:tabLst>
            </a:pPr>
            <a:r>
              <a:rPr lang="en-US" altLang="en-US" sz="2800">
                <a:solidFill>
                  <a:srgbClr val="FF0000"/>
                </a:solidFill>
              </a:rPr>
              <a:t>Starvation:</a:t>
            </a:r>
            <a:r>
              <a:rPr lang="en-US" altLang="en-US" sz="2800"/>
              <a:t> Indefinite postponement (no progress)</a:t>
            </a:r>
          </a:p>
          <a:p>
            <a:pPr lvl="4">
              <a:tabLst>
                <a:tab pos="1887538" algn="ctr"/>
                <a:tab pos="4572000" algn="ctr"/>
              </a:tabLst>
            </a:pPr>
            <a:endParaRPr lang="en-US" altLang="en-US"/>
          </a:p>
          <a:p>
            <a:pPr lvl="1">
              <a:tabLst>
                <a:tab pos="1887538" algn="ctr"/>
                <a:tab pos="4572000" algn="ctr"/>
              </a:tabLst>
            </a:pPr>
            <a:r>
              <a:rPr lang="en-US" altLang="en-US" sz="2400"/>
              <a:t>A process may never have a chance to be removed from the semaphore queue (list L) due to queue discipline</a:t>
            </a:r>
          </a:p>
          <a:p>
            <a:pPr lvl="4">
              <a:tabLst>
                <a:tab pos="1887538" algn="ctr"/>
                <a:tab pos="4572000" algn="ctr"/>
              </a:tabLst>
            </a:pPr>
            <a:endParaRPr lang="en-US" altLang="en-US"/>
          </a:p>
          <a:p>
            <a:pPr lvl="1">
              <a:tabLst>
                <a:tab pos="1887538" algn="ctr"/>
                <a:tab pos="4572000" algn="ctr"/>
              </a:tabLst>
            </a:pPr>
            <a:r>
              <a:rPr lang="en-US" altLang="en-US" sz="2400"/>
              <a:t>Examples of queue disciplines that can cause starvation</a:t>
            </a:r>
          </a:p>
          <a:p>
            <a:pPr lvl="4">
              <a:tabLst>
                <a:tab pos="1887538" algn="ctr"/>
                <a:tab pos="4572000" algn="ctr"/>
              </a:tabLst>
            </a:pPr>
            <a:endParaRPr lang="en-US" altLang="en-US"/>
          </a:p>
          <a:p>
            <a:pPr lvl="2">
              <a:tabLst>
                <a:tab pos="1887538" algn="ctr"/>
                <a:tab pos="4572000" algn="ctr"/>
              </a:tabLst>
            </a:pPr>
            <a:r>
              <a:rPr lang="en-US" altLang="en-US" sz="2400" i="0">
                <a:solidFill>
                  <a:srgbClr val="FF0000"/>
                </a:solidFill>
              </a:rPr>
              <a:t>Priority-based:</a:t>
            </a:r>
            <a:r>
              <a:rPr lang="en-US" altLang="en-US" sz="2400" i="0"/>
              <a:t> Low priority process may starve if higher priority processes keep joining the queue</a:t>
            </a:r>
          </a:p>
          <a:p>
            <a:pPr lvl="4">
              <a:tabLst>
                <a:tab pos="1887538" algn="ctr"/>
                <a:tab pos="4572000" algn="ctr"/>
              </a:tabLst>
            </a:pPr>
            <a:endParaRPr lang="en-US" altLang="en-US"/>
          </a:p>
          <a:p>
            <a:pPr lvl="2">
              <a:tabLst>
                <a:tab pos="1887538" algn="ctr"/>
                <a:tab pos="4572000" algn="ctr"/>
              </a:tabLst>
            </a:pPr>
            <a:r>
              <a:rPr lang="en-US" altLang="en-US" sz="2400" i="0">
                <a:solidFill>
                  <a:srgbClr val="FF0000"/>
                </a:solidFill>
              </a:rPr>
              <a:t>Last-In-First-Out policy</a:t>
            </a:r>
            <a:endParaRPr lang="en-US" altLang="en-US" sz="2400" i="0"/>
          </a:p>
          <a:p>
            <a:pPr lvl="2">
              <a:tabLst>
                <a:tab pos="1887538" algn="ctr"/>
                <a:tab pos="4572000" algn="ctr"/>
              </a:tabLst>
            </a:pPr>
            <a:endParaRPr lang="en-US" altLang="en-US" sz="28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Footer Placeholder 3">
            <a:extLst>
              <a:ext uri="{FF2B5EF4-FFF2-40B4-BE49-F238E27FC236}">
                <a16:creationId xmlns:a16="http://schemas.microsoft.com/office/drawing/2014/main" id="{28605E08-9B28-4230-9E38-5710F41EA20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5843" name="Rectangle 4">
            <a:extLst>
              <a:ext uri="{FF2B5EF4-FFF2-40B4-BE49-F238E27FC236}">
                <a16:creationId xmlns:a16="http://schemas.microsoft.com/office/drawing/2014/main" id="{E5E677AE-3098-42CF-9131-99380B564D54}"/>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95235" name="Rectangle 2">
            <a:extLst>
              <a:ext uri="{FF2B5EF4-FFF2-40B4-BE49-F238E27FC236}">
                <a16:creationId xmlns:a16="http://schemas.microsoft.com/office/drawing/2014/main" id="{038A2EE2-8CAB-45F6-A7C2-200F9F40BEE2}"/>
              </a:ext>
            </a:extLst>
          </p:cNvPr>
          <p:cNvSpPr>
            <a:spLocks noGrp="1" noChangeArrowheads="1"/>
          </p:cNvSpPr>
          <p:nvPr>
            <p:ph type="title"/>
          </p:nvPr>
        </p:nvSpPr>
        <p:spPr>
          <a:xfrm>
            <a:off x="901700" y="495300"/>
            <a:ext cx="7408863" cy="457200"/>
          </a:xfrm>
        </p:spPr>
        <p:txBody>
          <a:bodyPr/>
          <a:lstStyle/>
          <a:p>
            <a:r>
              <a:rPr lang="en-US" altLang="en-US"/>
              <a:t>Classical Problems of Synchronization</a:t>
            </a:r>
          </a:p>
        </p:txBody>
      </p:sp>
      <p:sp>
        <p:nvSpPr>
          <p:cNvPr id="95236" name="Rectangle 3">
            <a:extLst>
              <a:ext uri="{FF2B5EF4-FFF2-40B4-BE49-F238E27FC236}">
                <a16:creationId xmlns:a16="http://schemas.microsoft.com/office/drawing/2014/main" id="{ECAD2E95-D8B5-4BF6-8589-7ED8E5E5315B}"/>
              </a:ext>
            </a:extLst>
          </p:cNvPr>
          <p:cNvSpPr>
            <a:spLocks noGrp="1" noChangeArrowheads="1"/>
          </p:cNvSpPr>
          <p:nvPr>
            <p:ph type="body" idx="1"/>
          </p:nvPr>
        </p:nvSpPr>
        <p:spPr>
          <a:xfrm>
            <a:off x="655638" y="1549400"/>
            <a:ext cx="7900987" cy="4114800"/>
          </a:xfrm>
        </p:spPr>
        <p:txBody>
          <a:bodyPr/>
          <a:lstStyle/>
          <a:p>
            <a:r>
              <a:rPr lang="en-US" altLang="en-US" sz="2800"/>
              <a:t>Bounded-Buffer (Producer-Consumer) Problem</a:t>
            </a:r>
          </a:p>
          <a:p>
            <a:r>
              <a:rPr lang="en-US" altLang="en-US" sz="2800"/>
              <a:t>Dining-Philosophers Problem</a:t>
            </a:r>
          </a:p>
          <a:p>
            <a:r>
              <a:rPr lang="en-US" altLang="en-US" sz="2800"/>
              <a:t>Readers and Writers Problem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3">
            <a:extLst>
              <a:ext uri="{FF2B5EF4-FFF2-40B4-BE49-F238E27FC236}">
                <a16:creationId xmlns:a16="http://schemas.microsoft.com/office/drawing/2014/main" id="{5BDE9E90-EE0E-4542-B27C-B81AC3208234}"/>
              </a:ext>
            </a:extLst>
          </p:cNvPr>
          <p:cNvSpPr>
            <a:spLocks noGrp="1" noChangeArrowheads="1"/>
          </p:cNvSpPr>
          <p:nvPr>
            <p:ph type="body" idx="1"/>
          </p:nvPr>
        </p:nvSpPr>
        <p:spPr>
          <a:xfrm>
            <a:off x="117475" y="1108075"/>
            <a:ext cx="8928100" cy="4745038"/>
          </a:xfrm>
        </p:spPr>
        <p:txBody>
          <a:bodyPr/>
          <a:lstStyle/>
          <a:p>
            <a:pPr>
              <a:tabLst>
                <a:tab pos="2058988" algn="l"/>
                <a:tab pos="2459038" algn="l"/>
              </a:tabLst>
              <a:defRPr/>
            </a:pPr>
            <a:r>
              <a:rPr lang="en-US" altLang="en-US" sz="2400" dirty="0"/>
              <a:t>Consider multiple producers/consumers</a:t>
            </a:r>
          </a:p>
          <a:p>
            <a:pPr lvl="1">
              <a:tabLst>
                <a:tab pos="2058988" algn="l"/>
                <a:tab pos="2459038" algn="l"/>
              </a:tabLst>
              <a:defRPr/>
            </a:pPr>
            <a:r>
              <a:rPr lang="en-US" altLang="en-US" sz="2000" dirty="0"/>
              <a:t>We used </a:t>
            </a:r>
            <a:r>
              <a:rPr lang="en-US" altLang="en-US" sz="2000" b="1" dirty="0">
                <a:solidFill>
                  <a:schemeClr val="accent1">
                    <a:lumMod val="75000"/>
                  </a:schemeClr>
                </a:solidFill>
              </a:rPr>
              <a:t>counter, in</a:t>
            </a:r>
            <a:r>
              <a:rPr lang="en-US" altLang="en-US" sz="2000" dirty="0"/>
              <a:t> and </a:t>
            </a:r>
            <a:r>
              <a:rPr lang="en-US" altLang="en-US" sz="2000" b="1" dirty="0">
                <a:solidFill>
                  <a:schemeClr val="accent1">
                    <a:lumMod val="75000"/>
                  </a:schemeClr>
                </a:solidFill>
              </a:rPr>
              <a:t>out</a:t>
            </a:r>
            <a:r>
              <a:rPr lang="en-US" altLang="en-US" sz="2000" dirty="0"/>
              <a:t> variables for a producer-consumer pair</a:t>
            </a:r>
          </a:p>
          <a:p>
            <a:pPr lvl="1">
              <a:tabLst>
                <a:tab pos="2058988" algn="l"/>
                <a:tab pos="2459038" algn="l"/>
              </a:tabLst>
              <a:defRPr/>
            </a:pPr>
            <a:r>
              <a:rPr lang="en-US" altLang="en-US" sz="2000" b="1" dirty="0">
                <a:solidFill>
                  <a:schemeClr val="accent1">
                    <a:lumMod val="75000"/>
                  </a:schemeClr>
                </a:solidFill>
              </a:rPr>
              <a:t>in</a:t>
            </a:r>
            <a:r>
              <a:rPr lang="en-US" altLang="en-US" sz="2000" dirty="0"/>
              <a:t>/</a:t>
            </a:r>
            <a:r>
              <a:rPr lang="en-US" altLang="en-US" sz="2000" b="1" dirty="0">
                <a:solidFill>
                  <a:schemeClr val="accent1">
                    <a:lumMod val="75000"/>
                  </a:schemeClr>
                </a:solidFill>
              </a:rPr>
              <a:t>out </a:t>
            </a:r>
            <a:r>
              <a:rPr lang="en-US" altLang="en-US" sz="2000" dirty="0"/>
              <a:t>are also shared variables now (</a:t>
            </a:r>
            <a:r>
              <a:rPr lang="en-US" altLang="en-US" sz="2000" b="1" dirty="0">
                <a:solidFill>
                  <a:schemeClr val="accent1">
                    <a:lumMod val="75000"/>
                  </a:schemeClr>
                </a:solidFill>
              </a:rPr>
              <a:t>in </a:t>
            </a:r>
            <a:r>
              <a:rPr lang="en-US" altLang="en-US" sz="2000" dirty="0"/>
              <a:t>- producers, </a:t>
            </a:r>
            <a:r>
              <a:rPr lang="en-US" altLang="en-US" sz="2000" b="1" dirty="0">
                <a:solidFill>
                  <a:schemeClr val="accent1">
                    <a:lumMod val="75000"/>
                  </a:schemeClr>
                </a:solidFill>
              </a:rPr>
              <a:t>out </a:t>
            </a:r>
            <a:r>
              <a:rPr lang="en-US" altLang="en-US" sz="2000" dirty="0"/>
              <a:t>- consumers)</a:t>
            </a:r>
            <a:endParaRPr lang="en-US" altLang="en-US" sz="2000" b="1" dirty="0">
              <a:solidFill>
                <a:schemeClr val="accent1">
                  <a:lumMod val="75000"/>
                </a:schemeClr>
              </a:solidFill>
            </a:endParaRPr>
          </a:p>
          <a:p>
            <a:pPr lvl="4">
              <a:tabLst>
                <a:tab pos="2058988" algn="l"/>
                <a:tab pos="2459038" algn="l"/>
              </a:tabLst>
              <a:defRPr/>
            </a:pPr>
            <a:endParaRPr lang="en-US" altLang="en-US" dirty="0"/>
          </a:p>
          <a:p>
            <a:pPr>
              <a:tabLst>
                <a:tab pos="2058988" algn="l"/>
                <a:tab pos="2459038" algn="l"/>
              </a:tabLst>
              <a:defRPr/>
            </a:pPr>
            <a:r>
              <a:rPr lang="en-US" altLang="en-US" sz="2400" dirty="0"/>
              <a:t>Shared data and resources (</a:t>
            </a:r>
            <a:r>
              <a:rPr lang="en-US" altLang="en-US" sz="2400" dirty="0">
                <a:solidFill>
                  <a:srgbClr val="FF0000"/>
                </a:solidFill>
              </a:rPr>
              <a:t>Step 1</a:t>
            </a:r>
            <a:r>
              <a:rPr lang="en-US" altLang="en-US" sz="2400" dirty="0"/>
              <a:t>)</a:t>
            </a:r>
          </a:p>
          <a:p>
            <a:pPr lvl="1">
              <a:tabLst>
                <a:tab pos="2058988" algn="l"/>
                <a:tab pos="2459038" algn="l"/>
              </a:tabLst>
              <a:defRPr/>
            </a:pPr>
            <a:r>
              <a:rPr lang="en-US" altLang="en-US" sz="2000" b="1" dirty="0">
                <a:solidFill>
                  <a:schemeClr val="accent1">
                    <a:lumMod val="75000"/>
                  </a:schemeClr>
                </a:solidFill>
              </a:rPr>
              <a:t>item buffer[n];</a:t>
            </a:r>
          </a:p>
          <a:p>
            <a:pPr lvl="1">
              <a:tabLst>
                <a:tab pos="2058988" algn="l"/>
                <a:tab pos="2459038" algn="l"/>
              </a:tabLst>
              <a:defRPr/>
            </a:pPr>
            <a:r>
              <a:rPr lang="en-US" altLang="en-US" sz="2000" dirty="0"/>
              <a:t>buffer is a shared data structure</a:t>
            </a:r>
          </a:p>
          <a:p>
            <a:pPr lvl="1">
              <a:tabLst>
                <a:tab pos="2058988" algn="l"/>
                <a:tab pos="2459038" algn="l"/>
              </a:tabLst>
              <a:defRPr/>
            </a:pPr>
            <a:r>
              <a:rPr lang="en-US" altLang="en-US" sz="2000" dirty="0"/>
              <a:t>Slots in buffer are shared resources</a:t>
            </a:r>
          </a:p>
          <a:p>
            <a:pPr lvl="4">
              <a:tabLst>
                <a:tab pos="2058988" algn="l"/>
                <a:tab pos="2459038" algn="l"/>
              </a:tabLst>
              <a:defRPr/>
            </a:pPr>
            <a:endParaRPr lang="en-US" altLang="en-US" dirty="0"/>
          </a:p>
          <a:p>
            <a:pPr>
              <a:tabLst>
                <a:tab pos="2058988" algn="l"/>
                <a:tab pos="2459038" algn="l"/>
              </a:tabLst>
              <a:defRPr/>
            </a:pPr>
            <a:r>
              <a:rPr lang="en-US" altLang="en-US" sz="2400" dirty="0"/>
              <a:t>Semaphores to be used</a:t>
            </a:r>
            <a:endParaRPr lang="en-US" altLang="en-US" sz="2400" b="1" dirty="0">
              <a:solidFill>
                <a:schemeClr val="accent1">
                  <a:lumMod val="75000"/>
                </a:schemeClr>
              </a:solidFill>
            </a:endParaRPr>
          </a:p>
          <a:p>
            <a:pPr>
              <a:spcBef>
                <a:spcPct val="15000"/>
              </a:spcBef>
              <a:buFontTx/>
              <a:buNone/>
              <a:tabLst>
                <a:tab pos="2058988" algn="l"/>
                <a:tab pos="2459038" algn="l"/>
              </a:tabLst>
              <a:defRPr/>
            </a:pPr>
            <a:r>
              <a:rPr lang="en-US" altLang="en-US" sz="2400" b="1" dirty="0">
                <a:solidFill>
                  <a:schemeClr val="accent1">
                    <a:lumMod val="75000"/>
                  </a:schemeClr>
                </a:solidFill>
              </a:rPr>
              <a:t>	       semaphore</a:t>
            </a:r>
            <a:r>
              <a:rPr lang="en-US" altLang="en-US" sz="2400" b="1" i="1" dirty="0">
                <a:solidFill>
                  <a:schemeClr val="accent1">
                    <a:lumMod val="75000"/>
                  </a:schemeClr>
                </a:solidFill>
              </a:rPr>
              <a:t> full, empty, </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spcBef>
                <a:spcPct val="15000"/>
              </a:spcBef>
              <a:buFontTx/>
              <a:buNone/>
              <a:tabLst>
                <a:tab pos="2058988" algn="l"/>
                <a:tab pos="2459038"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full</a:t>
            </a:r>
            <a:r>
              <a:rPr lang="en-US" altLang="en-US" sz="2400" b="1" dirty="0">
                <a:solidFill>
                  <a:schemeClr val="accent1">
                    <a:lumMod val="75000"/>
                  </a:schemeClr>
                </a:solidFill>
              </a:rPr>
              <a:t> =0; </a:t>
            </a:r>
            <a:r>
              <a:rPr lang="en-US" altLang="en-US" sz="2400" b="1" i="1" dirty="0">
                <a:solidFill>
                  <a:schemeClr val="accent1">
                    <a:lumMod val="75000"/>
                  </a:schemeClr>
                </a:solidFill>
              </a:rPr>
              <a:t>empty</a:t>
            </a:r>
            <a:r>
              <a:rPr lang="en-US" altLang="en-US" sz="2400" b="1" dirty="0">
                <a:solidFill>
                  <a:schemeClr val="accent1">
                    <a:lumMod val="75000"/>
                  </a:schemeClr>
                </a:solidFill>
              </a:rPr>
              <a:t> = </a:t>
            </a:r>
            <a:r>
              <a:rPr lang="en-US" altLang="en-US" sz="2400" b="1" i="1" dirty="0">
                <a:solidFill>
                  <a:schemeClr val="accent1">
                    <a:lumMod val="75000"/>
                  </a:schemeClr>
                </a:solidFill>
              </a:rPr>
              <a:t>n</a:t>
            </a:r>
            <a:r>
              <a:rPr lang="en-US" altLang="en-US" sz="2400" b="1" dirty="0">
                <a:solidFill>
                  <a:schemeClr val="accent1">
                    <a:lumMod val="75000"/>
                  </a:schemeClr>
                </a:solidFill>
              </a:rPr>
              <a:t>; </a:t>
            </a:r>
            <a:r>
              <a:rPr lang="en-US" altLang="en-US" sz="2400" b="1" i="1" dirty="0" err="1">
                <a:solidFill>
                  <a:schemeClr val="accent1">
                    <a:lumMod val="75000"/>
                  </a:schemeClr>
                </a:solidFill>
              </a:rPr>
              <a:t>mutex</a:t>
            </a:r>
            <a:r>
              <a:rPr lang="en-US" altLang="en-US" sz="2400" b="1" dirty="0">
                <a:solidFill>
                  <a:schemeClr val="accent1">
                    <a:lumMod val="75000"/>
                  </a:schemeClr>
                </a:solidFill>
              </a:rPr>
              <a:t> =1;</a:t>
            </a:r>
          </a:p>
        </p:txBody>
      </p:sp>
      <p:sp>
        <p:nvSpPr>
          <p:cNvPr id="97282" name="Footer Placeholder 3">
            <a:extLst>
              <a:ext uri="{FF2B5EF4-FFF2-40B4-BE49-F238E27FC236}">
                <a16:creationId xmlns:a16="http://schemas.microsoft.com/office/drawing/2014/main" id="{29509680-5932-44A7-BB87-5A7E5922D60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7891" name="Rectangle 4">
            <a:extLst>
              <a:ext uri="{FF2B5EF4-FFF2-40B4-BE49-F238E27FC236}">
                <a16:creationId xmlns:a16="http://schemas.microsoft.com/office/drawing/2014/main" id="{1AA8F159-AB77-4D6F-86D5-06A73A5D0CCD}"/>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97284" name="Rectangle 2">
            <a:extLst>
              <a:ext uri="{FF2B5EF4-FFF2-40B4-BE49-F238E27FC236}">
                <a16:creationId xmlns:a16="http://schemas.microsoft.com/office/drawing/2014/main" id="{51A6898D-CB13-4BBF-B2FE-39A61F99E486}"/>
              </a:ext>
            </a:extLst>
          </p:cNvPr>
          <p:cNvSpPr>
            <a:spLocks noGrp="1" noChangeArrowheads="1"/>
          </p:cNvSpPr>
          <p:nvPr>
            <p:ph type="title"/>
          </p:nvPr>
        </p:nvSpPr>
        <p:spPr>
          <a:xfrm>
            <a:off x="684213" y="495300"/>
            <a:ext cx="7831137" cy="457200"/>
          </a:xfrm>
        </p:spPr>
        <p:txBody>
          <a:bodyPr/>
          <a:lstStyle/>
          <a:p>
            <a:r>
              <a:rPr lang="en-US" altLang="en-US"/>
              <a:t>Producer-Consumer with Bounded-Buffer</a:t>
            </a:r>
          </a:p>
        </p:txBody>
      </p:sp>
      <p:cxnSp>
        <p:nvCxnSpPr>
          <p:cNvPr id="4" name="Straight Connector 3">
            <a:extLst>
              <a:ext uri="{FF2B5EF4-FFF2-40B4-BE49-F238E27FC236}">
                <a16:creationId xmlns:a16="http://schemas.microsoft.com/office/drawing/2014/main" id="{EB59406E-8167-44E7-83D4-9445336CC289}"/>
              </a:ext>
            </a:extLst>
          </p:cNvPr>
          <p:cNvCxnSpPr>
            <a:cxnSpLocks noChangeShapeType="1"/>
          </p:cNvCxnSpPr>
          <p:nvPr/>
        </p:nvCxnSpPr>
        <p:spPr bwMode="auto">
          <a:xfrm flipV="1">
            <a:off x="1028700" y="5726113"/>
            <a:ext cx="965200" cy="15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cxnSp>
      <p:sp>
        <p:nvSpPr>
          <p:cNvPr id="10" name="Freeform 9">
            <a:extLst>
              <a:ext uri="{FF2B5EF4-FFF2-40B4-BE49-F238E27FC236}">
                <a16:creationId xmlns:a16="http://schemas.microsoft.com/office/drawing/2014/main" id="{0DC61AE0-D992-4C3C-82AC-40BFA5DFD02B}"/>
              </a:ext>
            </a:extLst>
          </p:cNvPr>
          <p:cNvSpPr>
            <a:spLocks/>
          </p:cNvSpPr>
          <p:nvPr/>
        </p:nvSpPr>
        <p:spPr bwMode="auto">
          <a:xfrm rot="3859235">
            <a:off x="538957" y="5596731"/>
            <a:ext cx="565150" cy="519113"/>
          </a:xfrm>
          <a:custGeom>
            <a:avLst/>
            <a:gdLst>
              <a:gd name="T0" fmla="*/ 388253 w 480532"/>
              <a:gd name="T1" fmla="*/ 0 h 213623"/>
              <a:gd name="T2" fmla="*/ 157901 w 480532"/>
              <a:gd name="T3" fmla="*/ 817120923 h 213623"/>
              <a:gd name="T4" fmla="*/ 2461421 w 480532"/>
              <a:gd name="T5" fmla="*/ 817120923 h 213623"/>
              <a:gd name="T6" fmla="*/ 0 60000 65536"/>
              <a:gd name="T7" fmla="*/ 0 60000 65536"/>
              <a:gd name="T8" fmla="*/ 0 60000 65536"/>
            </a:gdLst>
            <a:ahLst/>
            <a:cxnLst>
              <a:cxn ang="T6">
                <a:pos x="T0" y="T1"/>
              </a:cxn>
              <a:cxn ang="T7">
                <a:pos x="T2" y="T3"/>
              </a:cxn>
              <a:cxn ang="T8">
                <a:pos x="T4" y="T5"/>
              </a:cxn>
            </a:cxnLst>
            <a:rect l="0" t="0" r="r" b="b"/>
            <a:pathLst>
              <a:path w="480532" h="213623">
                <a:moveTo>
                  <a:pt x="75797" y="0"/>
                </a:moveTo>
                <a:cubicBezTo>
                  <a:pt x="19584" y="81196"/>
                  <a:pt x="-36629" y="162393"/>
                  <a:pt x="30827" y="194872"/>
                </a:cubicBezTo>
                <a:cubicBezTo>
                  <a:pt x="98283" y="227351"/>
                  <a:pt x="289407" y="211111"/>
                  <a:pt x="480532" y="194872"/>
                </a:cubicBezTo>
              </a:path>
            </a:pathLst>
          </a:custGeom>
          <a:noFill/>
          <a:ln w="9525" cap="flat" cmpd="sng">
            <a:solidFill>
              <a:schemeClr val="accent2"/>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11" name="TextBox 10">
            <a:extLst>
              <a:ext uri="{FF2B5EF4-FFF2-40B4-BE49-F238E27FC236}">
                <a16:creationId xmlns:a16="http://schemas.microsoft.com/office/drawing/2014/main" id="{36656E90-F0B7-4950-93F8-908DAE8003C3}"/>
              </a:ext>
            </a:extLst>
          </p:cNvPr>
          <p:cNvSpPr txBox="1">
            <a:spLocks noChangeArrowheads="1"/>
          </p:cNvSpPr>
          <p:nvPr/>
        </p:nvSpPr>
        <p:spPr bwMode="auto">
          <a:xfrm>
            <a:off x="800100" y="5867400"/>
            <a:ext cx="39592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chemeClr val="accent2"/>
                </a:solidFill>
                <a:latin typeface="Comic Sans MS" panose="030F0702030302020204" pitchFamily="66" charset="0"/>
              </a:rPr>
              <a:t>Counting semaphore for consumers to identify full buffer to consume</a:t>
            </a:r>
          </a:p>
        </p:txBody>
      </p:sp>
      <p:cxnSp>
        <p:nvCxnSpPr>
          <p:cNvPr id="16" name="Straight Connector 15">
            <a:extLst>
              <a:ext uri="{FF2B5EF4-FFF2-40B4-BE49-F238E27FC236}">
                <a16:creationId xmlns:a16="http://schemas.microsoft.com/office/drawing/2014/main" id="{E06A3BFE-5667-483B-8D5E-5DC92C9F832E}"/>
              </a:ext>
            </a:extLst>
          </p:cNvPr>
          <p:cNvCxnSpPr>
            <a:cxnSpLocks noChangeShapeType="1"/>
          </p:cNvCxnSpPr>
          <p:nvPr/>
        </p:nvCxnSpPr>
        <p:spPr bwMode="auto">
          <a:xfrm flipV="1">
            <a:off x="4410075" y="5291138"/>
            <a:ext cx="1027113" cy="15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21" name="TextBox 20">
            <a:extLst>
              <a:ext uri="{FF2B5EF4-FFF2-40B4-BE49-F238E27FC236}">
                <a16:creationId xmlns:a16="http://schemas.microsoft.com/office/drawing/2014/main" id="{1CE475EB-21CD-47D7-B693-FF81EF3DDFB5}"/>
              </a:ext>
            </a:extLst>
          </p:cNvPr>
          <p:cNvSpPr txBox="1">
            <a:spLocks noChangeArrowheads="1"/>
          </p:cNvSpPr>
          <p:nvPr/>
        </p:nvSpPr>
        <p:spPr bwMode="auto">
          <a:xfrm>
            <a:off x="4987925" y="3068638"/>
            <a:ext cx="3378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Binary semaphore for mutual exclusion to update buffer</a:t>
            </a:r>
          </a:p>
        </p:txBody>
      </p:sp>
      <p:cxnSp>
        <p:nvCxnSpPr>
          <p:cNvPr id="17" name="Straight Connector 16">
            <a:extLst>
              <a:ext uri="{FF2B5EF4-FFF2-40B4-BE49-F238E27FC236}">
                <a16:creationId xmlns:a16="http://schemas.microsoft.com/office/drawing/2014/main" id="{3B85812C-3AF4-4BBF-B783-3C507D1F16FD}"/>
              </a:ext>
            </a:extLst>
          </p:cNvPr>
          <p:cNvCxnSpPr>
            <a:cxnSpLocks noChangeShapeType="1"/>
          </p:cNvCxnSpPr>
          <p:nvPr/>
        </p:nvCxnSpPr>
        <p:spPr bwMode="auto">
          <a:xfrm flipV="1">
            <a:off x="2051050" y="5730875"/>
            <a:ext cx="1536700"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9" name="TextBox 18">
            <a:extLst>
              <a:ext uri="{FF2B5EF4-FFF2-40B4-BE49-F238E27FC236}">
                <a16:creationId xmlns:a16="http://schemas.microsoft.com/office/drawing/2014/main" id="{412FA147-7BF2-431E-9077-F27ADCBFD978}"/>
              </a:ext>
            </a:extLst>
          </p:cNvPr>
          <p:cNvSpPr txBox="1">
            <a:spLocks noChangeArrowheads="1"/>
          </p:cNvSpPr>
          <p:nvPr/>
        </p:nvSpPr>
        <p:spPr bwMode="auto">
          <a:xfrm>
            <a:off x="4987925" y="5786438"/>
            <a:ext cx="38687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latin typeface="Comic Sans MS" panose="030F0702030302020204" pitchFamily="66" charset="0"/>
              </a:rPr>
              <a:t>Counting semaphore for producers to identify empty buffer to fill</a:t>
            </a:r>
          </a:p>
        </p:txBody>
      </p:sp>
      <p:cxnSp>
        <p:nvCxnSpPr>
          <p:cNvPr id="8" name="Curved Connector 7">
            <a:extLst>
              <a:ext uri="{FF2B5EF4-FFF2-40B4-BE49-F238E27FC236}">
                <a16:creationId xmlns:a16="http://schemas.microsoft.com/office/drawing/2014/main" id="{10B1C415-E031-48F0-8D2D-044311A07137}"/>
              </a:ext>
            </a:extLst>
          </p:cNvPr>
          <p:cNvCxnSpPr>
            <a:cxnSpLocks noChangeShapeType="1"/>
          </p:cNvCxnSpPr>
          <p:nvPr/>
        </p:nvCxnSpPr>
        <p:spPr bwMode="auto">
          <a:xfrm>
            <a:off x="3644900" y="5675313"/>
            <a:ext cx="1343025" cy="5080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 name="Curved Connector 2">
            <a:extLst>
              <a:ext uri="{FF2B5EF4-FFF2-40B4-BE49-F238E27FC236}">
                <a16:creationId xmlns:a16="http://schemas.microsoft.com/office/drawing/2014/main" id="{E0EF864B-44B5-4140-954B-526524CE4191}"/>
              </a:ext>
            </a:extLst>
          </p:cNvPr>
          <p:cNvCxnSpPr>
            <a:cxnSpLocks noChangeShapeType="1"/>
          </p:cNvCxnSpPr>
          <p:nvPr/>
        </p:nvCxnSpPr>
        <p:spPr bwMode="auto">
          <a:xfrm rot="5400000" flipH="1" flipV="1">
            <a:off x="4704557" y="4033043"/>
            <a:ext cx="1352550" cy="601663"/>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26" name="TextBox 25">
            <a:extLst>
              <a:ext uri="{FF2B5EF4-FFF2-40B4-BE49-F238E27FC236}">
                <a16:creationId xmlns:a16="http://schemas.microsoft.com/office/drawing/2014/main" id="{7A0680AD-9910-49D1-969C-5D3F438DDBB2}"/>
              </a:ext>
            </a:extLst>
          </p:cNvPr>
          <p:cNvSpPr txBox="1">
            <a:spLocks noChangeArrowheads="1"/>
          </p:cNvSpPr>
          <p:nvPr/>
        </p:nvSpPr>
        <p:spPr bwMode="auto">
          <a:xfrm>
            <a:off x="5757863" y="4011613"/>
            <a:ext cx="3190875" cy="1477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85750" indent="-285750">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pPr>
            <a:r>
              <a:rPr lang="en-US" altLang="en-US" b="1">
                <a:solidFill>
                  <a:srgbClr val="009973"/>
                </a:solidFill>
              </a:rPr>
              <a:t>in</a:t>
            </a:r>
            <a:r>
              <a:rPr lang="en-US" altLang="en-US"/>
              <a:t> replaced with </a:t>
            </a:r>
            <a:r>
              <a:rPr lang="en-US" altLang="en-US" b="1">
                <a:solidFill>
                  <a:srgbClr val="009973"/>
                </a:solidFill>
              </a:rPr>
              <a:t>empty</a:t>
            </a:r>
          </a:p>
          <a:p>
            <a:pPr>
              <a:spcBef>
                <a:spcPct val="0"/>
              </a:spcBef>
              <a:buSzTx/>
            </a:pPr>
            <a:r>
              <a:rPr lang="en-US" altLang="en-US" b="1">
                <a:solidFill>
                  <a:srgbClr val="009973"/>
                </a:solidFill>
              </a:rPr>
              <a:t>out</a:t>
            </a:r>
            <a:r>
              <a:rPr lang="en-US" altLang="en-US"/>
              <a:t> replaced with </a:t>
            </a:r>
            <a:r>
              <a:rPr lang="en-US" altLang="en-US" b="1">
                <a:solidFill>
                  <a:srgbClr val="009973"/>
                </a:solidFill>
              </a:rPr>
              <a:t>full</a:t>
            </a:r>
          </a:p>
          <a:p>
            <a:pPr>
              <a:spcBef>
                <a:spcPct val="0"/>
              </a:spcBef>
              <a:buSzTx/>
            </a:pPr>
            <a:r>
              <a:rPr lang="en-US" altLang="en-US" b="1">
                <a:solidFill>
                  <a:srgbClr val="009973"/>
                </a:solidFill>
              </a:rPr>
              <a:t>counter </a:t>
            </a:r>
            <a:r>
              <a:rPr lang="en-US" altLang="en-US"/>
              <a:t>not used (why?)</a:t>
            </a:r>
          </a:p>
          <a:p>
            <a:pPr>
              <a:spcBef>
                <a:spcPct val="0"/>
              </a:spcBef>
              <a:buSzTx/>
            </a:pPr>
            <a:r>
              <a:rPr lang="en-US" altLang="en-US" b="1">
                <a:solidFill>
                  <a:srgbClr val="009973"/>
                </a:solidFill>
              </a:rPr>
              <a:t>mutex </a:t>
            </a:r>
            <a:r>
              <a:rPr lang="en-US" altLang="en-US"/>
              <a:t>introduced to control access to buffer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6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69">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6869">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69">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869">
                                            <p:txEl>
                                              <p:pRg st="11" end="1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19" grpId="0"/>
      <p:bldP spid="2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a:extLst>
              <a:ext uri="{FF2B5EF4-FFF2-40B4-BE49-F238E27FC236}">
                <a16:creationId xmlns:a16="http://schemas.microsoft.com/office/drawing/2014/main" id="{6901DF91-5D42-49DF-9CE0-8F60B4378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3376613"/>
            <a:ext cx="3494088" cy="2190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99330" name="Footer Placeholder 3">
            <a:extLst>
              <a:ext uri="{FF2B5EF4-FFF2-40B4-BE49-F238E27FC236}">
                <a16:creationId xmlns:a16="http://schemas.microsoft.com/office/drawing/2014/main" id="{221615EA-C989-4320-821B-668CC74FF38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8916" name="Rectangle 4">
            <a:extLst>
              <a:ext uri="{FF2B5EF4-FFF2-40B4-BE49-F238E27FC236}">
                <a16:creationId xmlns:a16="http://schemas.microsoft.com/office/drawing/2014/main" id="{110D5EC4-9499-4BA5-8BD3-1243CC08B8CA}"/>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99332" name="Rectangle 2">
            <a:extLst>
              <a:ext uri="{FF2B5EF4-FFF2-40B4-BE49-F238E27FC236}">
                <a16:creationId xmlns:a16="http://schemas.microsoft.com/office/drawing/2014/main" id="{44DF21CA-BCEE-445F-A35A-6C5C3FB524C3}"/>
              </a:ext>
            </a:extLst>
          </p:cNvPr>
          <p:cNvSpPr>
            <a:spLocks noGrp="1" noChangeArrowheads="1"/>
          </p:cNvSpPr>
          <p:nvPr>
            <p:ph type="title"/>
          </p:nvPr>
        </p:nvSpPr>
        <p:spPr/>
        <p:txBody>
          <a:bodyPr/>
          <a:lstStyle/>
          <a:p>
            <a:r>
              <a:rPr lang="en-US" altLang="en-US"/>
              <a:t>Bounded-Buffer Problem (Cont.)</a:t>
            </a:r>
          </a:p>
        </p:txBody>
      </p:sp>
      <p:sp>
        <p:nvSpPr>
          <p:cNvPr id="95237" name="Rectangle 3">
            <a:extLst>
              <a:ext uri="{FF2B5EF4-FFF2-40B4-BE49-F238E27FC236}">
                <a16:creationId xmlns:a16="http://schemas.microsoft.com/office/drawing/2014/main" id="{8AB68A27-BD3F-4B4A-9D55-C1F19BF9A14B}"/>
              </a:ext>
            </a:extLst>
          </p:cNvPr>
          <p:cNvSpPr>
            <a:spLocks noGrp="1" noChangeArrowheads="1"/>
          </p:cNvSpPr>
          <p:nvPr>
            <p:ph type="body" idx="1"/>
          </p:nvPr>
        </p:nvSpPr>
        <p:spPr>
          <a:xfrm>
            <a:off x="1574800" y="1203325"/>
            <a:ext cx="7472363" cy="5181600"/>
          </a:xfrm>
        </p:spPr>
        <p:txBody>
          <a:bodyPr/>
          <a:lstStyle/>
          <a:p>
            <a:pPr marL="0" indent="0">
              <a:lnSpc>
                <a:spcPct val="70000"/>
              </a:lnSpc>
              <a:buFontTx/>
              <a:buNone/>
              <a:tabLst>
                <a:tab pos="2459038" algn="l"/>
                <a:tab pos="2740025" algn="l"/>
                <a:tab pos="3084513" algn="l"/>
              </a:tabLst>
              <a:defRPr/>
            </a:pPr>
            <a:r>
              <a:rPr lang="en-US" altLang="en-US" sz="2800" dirty="0">
                <a:solidFill>
                  <a:srgbClr val="FF0000"/>
                </a:solidFill>
              </a:rPr>
              <a:t>      Producer process </a:t>
            </a:r>
            <a:r>
              <a:rPr lang="en-US" altLang="en-US" sz="2800" dirty="0"/>
              <a:t>(</a:t>
            </a:r>
            <a:r>
              <a:rPr lang="en-US" altLang="en-US" sz="2800" dirty="0">
                <a:solidFill>
                  <a:srgbClr val="FF0000"/>
                </a:solidFill>
              </a:rPr>
              <a:t>Step 2</a:t>
            </a:r>
            <a:r>
              <a:rPr lang="en-US" altLang="en-US" sz="2800" dirty="0"/>
              <a:t>)</a:t>
            </a:r>
            <a:br>
              <a:rPr lang="en-US" altLang="en-US" sz="2800" dirty="0"/>
            </a:br>
            <a:endParaRPr lang="en-US" altLang="en-US" sz="2800" dirty="0"/>
          </a:p>
          <a:p>
            <a:pPr marL="0" indent="0">
              <a:lnSpc>
                <a:spcPct val="70000"/>
              </a:lnSpc>
              <a:buFontTx/>
              <a:buNone/>
              <a:tabLst>
                <a:tab pos="2459038" algn="l"/>
                <a:tab pos="2740025" algn="l"/>
                <a:tab pos="3084513" algn="l"/>
              </a:tabLst>
              <a:defRPr/>
            </a:pPr>
            <a:r>
              <a:rPr lang="en-US" altLang="en-US" sz="2800" dirty="0"/>
              <a:t>                         </a:t>
            </a:r>
            <a:r>
              <a:rPr lang="en-US" altLang="en-US" sz="2800" u="sng" dirty="0">
                <a:solidFill>
                  <a:schemeClr val="accent2"/>
                </a:solidFill>
              </a:rPr>
              <a:t>Protect Shared Data:</a:t>
            </a:r>
          </a:p>
          <a:p>
            <a:pPr marL="0" indent="0">
              <a:lnSpc>
                <a:spcPct val="70000"/>
              </a:lnSpc>
              <a:buFontTx/>
              <a:buNone/>
              <a:tabLst>
                <a:tab pos="2459038" algn="l"/>
                <a:tab pos="2740025" algn="l"/>
                <a:tab pos="3084513" algn="l"/>
              </a:tabLst>
              <a:defRPr/>
            </a:pPr>
            <a:endParaRPr lang="en-US" altLang="en-US" sz="2000" b="1" dirty="0">
              <a:solidFill>
                <a:srgbClr val="FF0000"/>
              </a:solidFill>
            </a:endParaRPr>
          </a:p>
          <a:p>
            <a:pPr>
              <a:lnSpc>
                <a:spcPct val="70000"/>
              </a:lnSpc>
              <a:spcBef>
                <a:spcPct val="15000"/>
              </a:spcBef>
              <a:buFontTx/>
              <a:buNone/>
              <a:tabLst>
                <a:tab pos="2459038" algn="l"/>
                <a:tab pos="2740025" algn="l"/>
                <a:tab pos="3084513" algn="l"/>
              </a:tabLst>
              <a:defRPr/>
            </a:pPr>
            <a:r>
              <a:rPr lang="en-US" altLang="en-US" sz="2800" dirty="0"/>
              <a:t>		 </a:t>
            </a:r>
            <a:r>
              <a:rPr lang="en-US" altLang="en-US" sz="2600" dirty="0"/>
              <a:t>item </a:t>
            </a:r>
            <a:r>
              <a:rPr lang="en-US" altLang="en-US" sz="2600" i="1" dirty="0" err="1"/>
              <a:t>nextProduced</a:t>
            </a:r>
            <a:r>
              <a:rPr lang="en-US" altLang="en-US" sz="2600" dirty="0"/>
              <a:t>;</a:t>
            </a:r>
          </a:p>
          <a:p>
            <a:pPr>
              <a:lnSpc>
                <a:spcPct val="70000"/>
              </a:lnSpc>
              <a:spcBef>
                <a:spcPct val="15000"/>
              </a:spcBef>
              <a:buFontTx/>
              <a:buNone/>
              <a:tabLst>
                <a:tab pos="2459038" algn="l"/>
                <a:tab pos="2740025" algn="l"/>
                <a:tab pos="3084513" algn="l"/>
              </a:tabLst>
              <a:defRPr/>
            </a:pPr>
            <a:r>
              <a:rPr lang="en-US" altLang="en-US" sz="2600" dirty="0"/>
              <a:t>		 while (1) {</a:t>
            </a:r>
          </a:p>
          <a:p>
            <a:pPr>
              <a:lnSpc>
                <a:spcPct val="70000"/>
              </a:lnSpc>
              <a:spcBef>
                <a:spcPct val="15000"/>
              </a:spcBef>
              <a:buFontTx/>
              <a:buNone/>
              <a:tabLst>
                <a:tab pos="2459038" algn="l"/>
                <a:tab pos="2740025" algn="l"/>
                <a:tab pos="3084513" algn="l"/>
              </a:tabLst>
              <a:defRPr/>
            </a:pPr>
            <a:r>
              <a:rPr lang="en-US" altLang="en-US" sz="2600" dirty="0"/>
              <a:t>			   	…</a:t>
            </a:r>
          </a:p>
          <a:p>
            <a:pPr>
              <a:lnSpc>
                <a:spcPct val="70000"/>
              </a:lnSpc>
              <a:spcBef>
                <a:spcPct val="15000"/>
              </a:spcBef>
              <a:buFontTx/>
              <a:buNone/>
              <a:tabLst>
                <a:tab pos="2459038" algn="l"/>
                <a:tab pos="2740025" algn="l"/>
                <a:tab pos="3084513" algn="l"/>
              </a:tabLst>
              <a:defRPr/>
            </a:pPr>
            <a:r>
              <a:rPr lang="en-US" altLang="en-US" sz="2600" dirty="0"/>
              <a:t>		   produce </a:t>
            </a:r>
            <a:r>
              <a:rPr lang="en-US" altLang="en-US" sz="2600" i="1" dirty="0" err="1"/>
              <a:t>nextProduced</a:t>
            </a:r>
            <a:r>
              <a:rPr lang="en-US" altLang="en-US" sz="2600" i="1" dirty="0"/>
              <a:t>;</a:t>
            </a:r>
            <a:endParaRPr lang="en-US" altLang="en-US" sz="2600" dirty="0"/>
          </a:p>
          <a:p>
            <a:pPr>
              <a:lnSpc>
                <a:spcPct val="70000"/>
              </a:lnSpc>
              <a:spcBef>
                <a:spcPct val="15000"/>
              </a:spcBef>
              <a:buFontTx/>
              <a:buNone/>
              <a:tabLst>
                <a:tab pos="2459038" algn="l"/>
                <a:tab pos="2740025" algn="l"/>
                <a:tab pos="3084513" algn="l"/>
              </a:tabLst>
              <a:defRPr/>
            </a:pPr>
            <a:r>
              <a:rPr lang="en-US" altLang="en-US" sz="2600" dirty="0"/>
              <a:t>				 …</a:t>
            </a:r>
          </a:p>
          <a:p>
            <a:pPr>
              <a:lnSpc>
                <a:spcPct val="70000"/>
              </a:lnSpc>
              <a:spcBef>
                <a:spcPct val="15000"/>
              </a:spcBef>
              <a:buFontTx/>
              <a:buNone/>
              <a:tabLst>
                <a:tab pos="2459038" algn="l"/>
                <a:tab pos="2740025" algn="l"/>
                <a:tab pos="3084513" algn="l"/>
              </a:tabLst>
              <a:defRPr/>
            </a:pPr>
            <a:r>
              <a:rPr lang="en-US" altLang="en-US" sz="2600" dirty="0"/>
              <a:t>			</a:t>
            </a:r>
            <a:r>
              <a:rPr lang="en-US" altLang="en-US" sz="2600" b="1" i="1" dirty="0">
                <a:solidFill>
                  <a:schemeClr val="accent1">
                    <a:lumMod val="75000"/>
                  </a:schemeClr>
                </a:solidFill>
              </a:rPr>
              <a:t>Wait</a:t>
            </a:r>
            <a:r>
              <a:rPr lang="en-US" altLang="en-US" sz="2600" b="1" dirty="0">
                <a:solidFill>
                  <a:schemeClr val="accent1">
                    <a:lumMod val="75000"/>
                  </a:schemeClr>
                </a:solidFill>
              </a:rPr>
              <a:t>(</a:t>
            </a:r>
            <a:r>
              <a:rPr lang="en-US" altLang="en-US" sz="2600" b="1" i="1" dirty="0" err="1">
                <a:solidFill>
                  <a:schemeClr val="accent1">
                    <a:lumMod val="75000"/>
                  </a:schemeClr>
                </a:solidFill>
              </a:rPr>
              <a:t>mutex</a:t>
            </a:r>
            <a:r>
              <a:rPr lang="en-US" altLang="en-US" sz="2600" b="1" dirty="0">
                <a:solidFill>
                  <a:schemeClr val="accent1">
                    <a:lumMod val="75000"/>
                  </a:schemeClr>
                </a:solidFill>
              </a:rPr>
              <a:t>);</a:t>
            </a:r>
          </a:p>
          <a:p>
            <a:pPr>
              <a:lnSpc>
                <a:spcPct val="70000"/>
              </a:lnSpc>
              <a:spcBef>
                <a:spcPct val="15000"/>
              </a:spcBef>
              <a:buFontTx/>
              <a:buNone/>
              <a:tabLst>
                <a:tab pos="2459038" algn="l"/>
                <a:tab pos="2740025" algn="l"/>
                <a:tab pos="3084513" algn="l"/>
              </a:tabLst>
              <a:defRPr/>
            </a:pPr>
            <a:r>
              <a:rPr lang="en-US" altLang="en-US" sz="2600" dirty="0"/>
              <a:t>			 	 …</a:t>
            </a:r>
          </a:p>
          <a:p>
            <a:pPr>
              <a:lnSpc>
                <a:spcPct val="70000"/>
              </a:lnSpc>
              <a:spcBef>
                <a:spcPct val="15000"/>
              </a:spcBef>
              <a:buFontTx/>
              <a:buNone/>
              <a:tabLst>
                <a:tab pos="2459038" algn="l"/>
                <a:tab pos="2740025" algn="l"/>
                <a:tab pos="3084513" algn="l"/>
              </a:tabLst>
              <a:defRPr/>
            </a:pPr>
            <a:r>
              <a:rPr lang="en-US" altLang="en-US" sz="2600" dirty="0"/>
              <a:t> 		    add </a:t>
            </a:r>
            <a:r>
              <a:rPr lang="en-US" altLang="en-US" sz="2600" i="1" dirty="0" err="1"/>
              <a:t>nextProduced</a:t>
            </a:r>
            <a:r>
              <a:rPr lang="en-US" altLang="en-US" sz="2600" dirty="0"/>
              <a:t> to </a:t>
            </a:r>
            <a:r>
              <a:rPr lang="en-US" altLang="en-US" sz="2600" i="1" dirty="0"/>
              <a:t>buffer;</a:t>
            </a:r>
            <a:endParaRPr lang="en-US" altLang="en-US" sz="2600" dirty="0"/>
          </a:p>
          <a:p>
            <a:pPr>
              <a:lnSpc>
                <a:spcPct val="70000"/>
              </a:lnSpc>
              <a:spcBef>
                <a:spcPct val="15000"/>
              </a:spcBef>
              <a:buFontTx/>
              <a:buNone/>
              <a:tabLst>
                <a:tab pos="2459038" algn="l"/>
                <a:tab pos="2740025" algn="l"/>
                <a:tab pos="3084513" algn="l"/>
              </a:tabLst>
              <a:defRPr/>
            </a:pPr>
            <a:r>
              <a:rPr lang="en-US" altLang="en-US" sz="2600" dirty="0"/>
              <a:t>                                   …</a:t>
            </a:r>
          </a:p>
          <a:p>
            <a:pPr>
              <a:lnSpc>
                <a:spcPct val="70000"/>
              </a:lnSpc>
              <a:spcBef>
                <a:spcPct val="15000"/>
              </a:spcBef>
              <a:buFontTx/>
              <a:buNone/>
              <a:tabLst>
                <a:tab pos="2459038" algn="l"/>
                <a:tab pos="2740025" algn="l"/>
                <a:tab pos="3084513" algn="l"/>
              </a:tabLst>
              <a:defRPr/>
            </a:pPr>
            <a:r>
              <a:rPr lang="en-US" altLang="en-US" sz="2600" b="1" dirty="0">
                <a:solidFill>
                  <a:schemeClr val="accent1">
                    <a:lumMod val="75000"/>
                  </a:schemeClr>
                </a:solidFill>
              </a:rPr>
              <a:t>			 </a:t>
            </a:r>
            <a:r>
              <a:rPr lang="en-US" altLang="en-US" sz="2600" b="1" i="1" dirty="0">
                <a:solidFill>
                  <a:schemeClr val="accent1">
                    <a:lumMod val="75000"/>
                  </a:schemeClr>
                </a:solidFill>
              </a:rPr>
              <a:t>Signal</a:t>
            </a:r>
            <a:r>
              <a:rPr lang="en-US" altLang="en-US" sz="2600" b="1" dirty="0">
                <a:solidFill>
                  <a:schemeClr val="accent1">
                    <a:lumMod val="75000"/>
                  </a:schemeClr>
                </a:solidFill>
              </a:rPr>
              <a:t>(</a:t>
            </a:r>
            <a:r>
              <a:rPr lang="en-US" altLang="en-US" sz="2600" b="1" i="1" dirty="0" err="1">
                <a:solidFill>
                  <a:schemeClr val="accent1">
                    <a:lumMod val="75000"/>
                  </a:schemeClr>
                </a:solidFill>
              </a:rPr>
              <a:t>mutex</a:t>
            </a:r>
            <a:r>
              <a:rPr lang="en-US" altLang="en-US" sz="2600" b="1" dirty="0">
                <a:solidFill>
                  <a:schemeClr val="accent1">
                    <a:lumMod val="75000"/>
                  </a:schemeClr>
                </a:solidFill>
              </a:rPr>
              <a:t>);</a:t>
            </a:r>
          </a:p>
          <a:p>
            <a:pPr>
              <a:lnSpc>
                <a:spcPct val="70000"/>
              </a:lnSpc>
              <a:spcBef>
                <a:spcPct val="15000"/>
              </a:spcBef>
              <a:buFontTx/>
              <a:buNone/>
              <a:tabLst>
                <a:tab pos="2459038" algn="l"/>
                <a:tab pos="2740025" algn="l"/>
                <a:tab pos="3084513" algn="l"/>
              </a:tabLst>
              <a:defRPr/>
            </a:pPr>
            <a:r>
              <a:rPr lang="en-US" altLang="en-US" sz="2600" dirty="0"/>
              <a:t>    	 }</a:t>
            </a:r>
          </a:p>
          <a:p>
            <a:pPr>
              <a:lnSpc>
                <a:spcPct val="70000"/>
              </a:lnSpc>
              <a:buFontTx/>
              <a:buNone/>
              <a:tabLst>
                <a:tab pos="2459038" algn="l"/>
                <a:tab pos="2740025" algn="l"/>
                <a:tab pos="3084513" algn="l"/>
              </a:tabLst>
              <a:defRPr/>
            </a:pPr>
            <a:r>
              <a:rPr lang="en-US" altLang="en-US" sz="2800" dirty="0"/>
              <a:t>	</a:t>
            </a:r>
          </a:p>
        </p:txBody>
      </p:sp>
      <p:sp>
        <p:nvSpPr>
          <p:cNvPr id="99334" name="TextBox 1">
            <a:extLst>
              <a:ext uri="{FF2B5EF4-FFF2-40B4-BE49-F238E27FC236}">
                <a16:creationId xmlns:a16="http://schemas.microsoft.com/office/drawing/2014/main" id="{D98F1A58-B4EB-4545-B8BF-A1F64692F8C8}"/>
              </a:ext>
            </a:extLst>
          </p:cNvPr>
          <p:cNvSpPr txBox="1">
            <a:spLocks noChangeArrowheads="1"/>
          </p:cNvSpPr>
          <p:nvPr/>
        </p:nvSpPr>
        <p:spPr bwMode="auto">
          <a:xfrm>
            <a:off x="307975" y="2887663"/>
            <a:ext cx="2698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u="sng">
                <a:solidFill>
                  <a:schemeClr val="accent2"/>
                </a:solidFill>
              </a:rPr>
              <a:t>Without synchronization:</a:t>
            </a:r>
          </a:p>
        </p:txBody>
      </p:sp>
      <p:sp>
        <p:nvSpPr>
          <p:cNvPr id="99335" name="Right Arrow 2">
            <a:extLst>
              <a:ext uri="{FF2B5EF4-FFF2-40B4-BE49-F238E27FC236}">
                <a16:creationId xmlns:a16="http://schemas.microsoft.com/office/drawing/2014/main" id="{4B2EDC3E-B2F7-41A5-B540-74949590F49F}"/>
              </a:ext>
            </a:extLst>
          </p:cNvPr>
          <p:cNvSpPr>
            <a:spLocks noChangeArrowheads="1"/>
          </p:cNvSpPr>
          <p:nvPr/>
        </p:nvSpPr>
        <p:spPr bwMode="auto">
          <a:xfrm>
            <a:off x="3568700" y="3567113"/>
            <a:ext cx="549275" cy="454025"/>
          </a:xfrm>
          <a:prstGeom prst="rightArrow">
            <a:avLst>
              <a:gd name="adj1" fmla="val 50000"/>
              <a:gd name="adj2" fmla="val 50027"/>
            </a:avLst>
          </a:prstGeom>
          <a:solidFill>
            <a:srgbClr val="FF000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7" name="Picture 2">
            <a:extLst>
              <a:ext uri="{FF2B5EF4-FFF2-40B4-BE49-F238E27FC236}">
                <a16:creationId xmlns:a16="http://schemas.microsoft.com/office/drawing/2014/main" id="{F02080FD-6DA5-4A58-8C3E-8711F0641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163" y="2446338"/>
            <a:ext cx="3519487" cy="352425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1378" name="Footer Placeholder 3">
            <a:extLst>
              <a:ext uri="{FF2B5EF4-FFF2-40B4-BE49-F238E27FC236}">
                <a16:creationId xmlns:a16="http://schemas.microsoft.com/office/drawing/2014/main" id="{155623B2-B284-4D12-AF01-06D197E02D0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9940" name="Rectangle 4">
            <a:extLst>
              <a:ext uri="{FF2B5EF4-FFF2-40B4-BE49-F238E27FC236}">
                <a16:creationId xmlns:a16="http://schemas.microsoft.com/office/drawing/2014/main" id="{0CFB1051-24C8-49C1-8180-BD7E8601800C}"/>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01380" name="Rectangle 2">
            <a:extLst>
              <a:ext uri="{FF2B5EF4-FFF2-40B4-BE49-F238E27FC236}">
                <a16:creationId xmlns:a16="http://schemas.microsoft.com/office/drawing/2014/main" id="{14065AFA-4DC2-4D17-9D64-75BA49E4F5EB}"/>
              </a:ext>
            </a:extLst>
          </p:cNvPr>
          <p:cNvSpPr>
            <a:spLocks noGrp="1" noChangeArrowheads="1"/>
          </p:cNvSpPr>
          <p:nvPr>
            <p:ph type="title"/>
          </p:nvPr>
        </p:nvSpPr>
        <p:spPr/>
        <p:txBody>
          <a:bodyPr/>
          <a:lstStyle/>
          <a:p>
            <a:r>
              <a:rPr lang="en-US" altLang="en-US"/>
              <a:t>Bounded-Buffer Problem (Cont.)</a:t>
            </a:r>
          </a:p>
        </p:txBody>
      </p:sp>
      <p:sp>
        <p:nvSpPr>
          <p:cNvPr id="97285" name="Rectangle 3">
            <a:extLst>
              <a:ext uri="{FF2B5EF4-FFF2-40B4-BE49-F238E27FC236}">
                <a16:creationId xmlns:a16="http://schemas.microsoft.com/office/drawing/2014/main" id="{1A20C25C-C7D4-4A2F-9353-3D9EC4501707}"/>
              </a:ext>
            </a:extLst>
          </p:cNvPr>
          <p:cNvSpPr>
            <a:spLocks noGrp="1" noChangeArrowheads="1"/>
          </p:cNvSpPr>
          <p:nvPr>
            <p:ph type="body" idx="1"/>
          </p:nvPr>
        </p:nvSpPr>
        <p:spPr>
          <a:xfrm>
            <a:off x="1574800" y="1203325"/>
            <a:ext cx="7286625" cy="5181600"/>
          </a:xfrm>
        </p:spPr>
        <p:txBody>
          <a:bodyPr/>
          <a:lstStyle/>
          <a:p>
            <a:pPr marL="0" indent="0">
              <a:lnSpc>
                <a:spcPct val="70000"/>
              </a:lnSpc>
              <a:buFontTx/>
              <a:buNone/>
              <a:tabLst>
                <a:tab pos="2459038" algn="l"/>
                <a:tab pos="2740025" algn="l"/>
                <a:tab pos="3084513" algn="l"/>
              </a:tabLst>
              <a:defRPr/>
            </a:pPr>
            <a:r>
              <a:rPr lang="en-US" altLang="en-US" sz="2800" dirty="0">
                <a:solidFill>
                  <a:srgbClr val="FF0000"/>
                </a:solidFill>
              </a:rPr>
              <a:t>      Producer process </a:t>
            </a:r>
            <a:r>
              <a:rPr lang="en-US" altLang="en-US" sz="2800" dirty="0"/>
              <a:t>(</a:t>
            </a:r>
            <a:r>
              <a:rPr lang="en-US" altLang="en-US" sz="2800" dirty="0">
                <a:solidFill>
                  <a:srgbClr val="FF0000"/>
                </a:solidFill>
              </a:rPr>
              <a:t>Step 3</a:t>
            </a:r>
            <a:r>
              <a:rPr lang="en-US" altLang="en-US" sz="2800" dirty="0"/>
              <a:t>)</a:t>
            </a:r>
            <a:br>
              <a:rPr lang="en-US" altLang="en-US" sz="2800" dirty="0"/>
            </a:br>
            <a:endParaRPr lang="en-US" altLang="en-US" sz="2800" dirty="0"/>
          </a:p>
          <a:p>
            <a:pPr>
              <a:lnSpc>
                <a:spcPct val="70000"/>
              </a:lnSpc>
              <a:spcBef>
                <a:spcPct val="15000"/>
              </a:spcBef>
              <a:buFontTx/>
              <a:buNone/>
              <a:tabLst>
                <a:tab pos="2459038" algn="l"/>
                <a:tab pos="2740025" algn="l"/>
                <a:tab pos="3084513" algn="l"/>
              </a:tabLst>
              <a:defRPr/>
            </a:pPr>
            <a:r>
              <a:rPr lang="en-US" altLang="en-US" sz="2800" dirty="0"/>
              <a:t>		</a:t>
            </a:r>
            <a:r>
              <a:rPr lang="en-US" altLang="en-US" sz="2400" u="sng" dirty="0">
                <a:solidFill>
                  <a:schemeClr val="accent2"/>
                </a:solidFill>
              </a:rPr>
              <a:t>Manage Shared Resources:</a:t>
            </a:r>
          </a:p>
          <a:p>
            <a:pPr>
              <a:lnSpc>
                <a:spcPct val="70000"/>
              </a:lnSpc>
              <a:spcBef>
                <a:spcPct val="15000"/>
              </a:spcBef>
              <a:buFontTx/>
              <a:buNone/>
              <a:tabLst>
                <a:tab pos="2459038" algn="l"/>
                <a:tab pos="2740025" algn="l"/>
                <a:tab pos="3084513" algn="l"/>
              </a:tabLst>
              <a:defRPr/>
            </a:pPr>
            <a:endParaRPr lang="en-US" altLang="en-US" sz="2400" u="sng" dirty="0">
              <a:solidFill>
                <a:schemeClr val="accent2"/>
              </a:solidFill>
            </a:endParaRPr>
          </a:p>
          <a:p>
            <a:pPr>
              <a:lnSpc>
                <a:spcPct val="70000"/>
              </a:lnSpc>
              <a:spcBef>
                <a:spcPct val="15000"/>
              </a:spcBef>
              <a:buFontTx/>
              <a:buNone/>
              <a:tabLst>
                <a:tab pos="2459038" algn="l"/>
                <a:tab pos="2740025" algn="l"/>
                <a:tab pos="3084513" algn="l"/>
              </a:tabLst>
              <a:defRPr/>
            </a:pPr>
            <a:r>
              <a:rPr lang="en-US" altLang="en-US" sz="2400" dirty="0"/>
              <a:t>		item </a:t>
            </a:r>
            <a:r>
              <a:rPr lang="en-US" altLang="en-US" sz="2400" i="1" dirty="0" err="1"/>
              <a:t>nextProduced</a:t>
            </a:r>
            <a:r>
              <a:rPr lang="en-US" altLang="en-US" sz="2400" dirty="0"/>
              <a:t>;</a:t>
            </a:r>
          </a:p>
          <a:p>
            <a:pPr>
              <a:lnSpc>
                <a:spcPct val="70000"/>
              </a:lnSpc>
              <a:spcBef>
                <a:spcPct val="15000"/>
              </a:spcBef>
              <a:buFontTx/>
              <a:buNone/>
              <a:tabLst>
                <a:tab pos="2459038" algn="l"/>
                <a:tab pos="2740025" algn="l"/>
                <a:tab pos="3084513" algn="l"/>
              </a:tabLst>
              <a:defRPr/>
            </a:pPr>
            <a:r>
              <a:rPr lang="en-US" altLang="en-US" sz="2400" dirty="0"/>
              <a:t>		while (1) {</a:t>
            </a:r>
          </a:p>
          <a:p>
            <a:pPr>
              <a:lnSpc>
                <a:spcPct val="70000"/>
              </a:lnSpc>
              <a:spcBef>
                <a:spcPct val="15000"/>
              </a:spcBef>
              <a:buFontTx/>
              <a:buNone/>
              <a:tabLst>
                <a:tab pos="2459038" algn="l"/>
                <a:tab pos="2740025" algn="l"/>
                <a:tab pos="3084513" algn="l"/>
              </a:tabLst>
              <a:defRPr/>
            </a:pPr>
            <a:r>
              <a:rPr lang="en-US" altLang="en-US" sz="2400" dirty="0"/>
              <a:t>				…</a:t>
            </a:r>
          </a:p>
          <a:p>
            <a:pPr>
              <a:lnSpc>
                <a:spcPct val="70000"/>
              </a:lnSpc>
              <a:spcBef>
                <a:spcPct val="15000"/>
              </a:spcBef>
              <a:buFontTx/>
              <a:buNone/>
              <a:tabLst>
                <a:tab pos="2459038" algn="l"/>
                <a:tab pos="2740025" algn="l"/>
                <a:tab pos="3084513" algn="l"/>
              </a:tabLst>
              <a:defRPr/>
            </a:pPr>
            <a:r>
              <a:rPr lang="en-US" altLang="en-US" sz="2400" dirty="0"/>
              <a:t>			produce </a:t>
            </a:r>
            <a:r>
              <a:rPr lang="en-US" altLang="en-US" sz="2400" i="1" dirty="0" err="1"/>
              <a:t>nextProduced</a:t>
            </a:r>
            <a:r>
              <a:rPr lang="en-US" altLang="en-US" sz="2400" i="1" dirty="0"/>
              <a:t>;</a:t>
            </a:r>
            <a:endParaRPr lang="en-US" altLang="en-US" sz="2400" dirty="0"/>
          </a:p>
          <a:p>
            <a:pPr>
              <a:lnSpc>
                <a:spcPct val="70000"/>
              </a:lnSpc>
              <a:spcBef>
                <a:spcPct val="15000"/>
              </a:spcBef>
              <a:buFontTx/>
              <a:buNone/>
              <a:tabLst>
                <a:tab pos="2459038" algn="l"/>
                <a:tab pos="2740025" algn="l"/>
                <a:tab pos="3084513" algn="l"/>
              </a:tabLst>
              <a:defRPr/>
            </a:pPr>
            <a:r>
              <a:rPr lang="en-US" altLang="en-US" sz="2400" dirty="0"/>
              <a:t>				 …</a:t>
            </a:r>
          </a:p>
          <a:p>
            <a:pPr>
              <a:lnSpc>
                <a:spcPct val="70000"/>
              </a:lnSpc>
              <a:spcBef>
                <a:spcPct val="15000"/>
              </a:spcBef>
              <a:buFontTx/>
              <a:buNone/>
              <a:tabLst>
                <a:tab pos="2459038" algn="l"/>
                <a:tab pos="2740025" algn="l"/>
                <a:tab pos="3084513"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empty</a:t>
            </a:r>
            <a:r>
              <a:rPr lang="en-US" altLang="en-US" sz="2400" b="1" dirty="0">
                <a:solidFill>
                  <a:schemeClr val="accent1">
                    <a:lumMod val="75000"/>
                  </a:schemeClr>
                </a:solidFill>
              </a:rPr>
              <a:t>);</a:t>
            </a:r>
          </a:p>
          <a:p>
            <a:pPr>
              <a:lnSpc>
                <a:spcPct val="70000"/>
              </a:lnSpc>
              <a:spcBef>
                <a:spcPct val="15000"/>
              </a:spcBef>
              <a:buFontTx/>
              <a:buNone/>
              <a:tabLst>
                <a:tab pos="2459038" algn="l"/>
                <a:tab pos="2740025" algn="l"/>
                <a:tab pos="3084513" algn="l"/>
              </a:tabLst>
              <a:defRPr/>
            </a:pPr>
            <a:r>
              <a:rPr lang="en-US" altLang="en-US" sz="2400" dirty="0"/>
              <a:t>			</a:t>
            </a:r>
            <a:r>
              <a:rPr lang="en-US" altLang="en-US" sz="2400" i="1" dirty="0"/>
              <a:t>Wait</a:t>
            </a:r>
            <a:r>
              <a:rPr lang="en-US" altLang="en-US" sz="2400" dirty="0"/>
              <a:t>(</a:t>
            </a:r>
            <a:r>
              <a:rPr lang="en-US" altLang="en-US" sz="2400" i="1" dirty="0" err="1"/>
              <a:t>mutex</a:t>
            </a:r>
            <a:r>
              <a:rPr lang="en-US" altLang="en-US" sz="2400" dirty="0"/>
              <a:t>);</a:t>
            </a:r>
          </a:p>
          <a:p>
            <a:pPr>
              <a:lnSpc>
                <a:spcPct val="70000"/>
              </a:lnSpc>
              <a:spcBef>
                <a:spcPct val="15000"/>
              </a:spcBef>
              <a:buFontTx/>
              <a:buNone/>
              <a:tabLst>
                <a:tab pos="2459038" algn="l"/>
                <a:tab pos="2740025" algn="l"/>
                <a:tab pos="3084513" algn="l"/>
              </a:tabLst>
              <a:defRPr/>
            </a:pPr>
            <a:r>
              <a:rPr lang="en-US" altLang="en-US" sz="2400" dirty="0"/>
              <a:t>				…</a:t>
            </a:r>
          </a:p>
          <a:p>
            <a:pPr>
              <a:lnSpc>
                <a:spcPct val="70000"/>
              </a:lnSpc>
              <a:spcBef>
                <a:spcPct val="15000"/>
              </a:spcBef>
              <a:buFontTx/>
              <a:buNone/>
              <a:tabLst>
                <a:tab pos="2459038" algn="l"/>
                <a:tab pos="2740025" algn="l"/>
                <a:tab pos="3084513" algn="l"/>
              </a:tabLst>
              <a:defRPr/>
            </a:pPr>
            <a:r>
              <a:rPr lang="en-US" altLang="en-US" sz="2400" dirty="0"/>
              <a:t> 		   add </a:t>
            </a:r>
            <a:r>
              <a:rPr lang="en-US" altLang="en-US" sz="2400" i="1" dirty="0" err="1"/>
              <a:t>nextProduced</a:t>
            </a:r>
            <a:r>
              <a:rPr lang="en-US" altLang="en-US" sz="2400" dirty="0"/>
              <a:t> to </a:t>
            </a:r>
            <a:r>
              <a:rPr lang="en-US" altLang="en-US" sz="2400" i="1" dirty="0"/>
              <a:t>buffer;</a:t>
            </a:r>
            <a:endParaRPr lang="en-US" altLang="en-US" sz="2400" dirty="0"/>
          </a:p>
          <a:p>
            <a:pPr>
              <a:lnSpc>
                <a:spcPct val="70000"/>
              </a:lnSpc>
              <a:spcBef>
                <a:spcPct val="15000"/>
              </a:spcBef>
              <a:buFontTx/>
              <a:buNone/>
              <a:tabLst>
                <a:tab pos="2459038" algn="l"/>
                <a:tab pos="2740025" algn="l"/>
                <a:tab pos="3084513" algn="l"/>
              </a:tabLst>
              <a:defRPr/>
            </a:pPr>
            <a:r>
              <a:rPr lang="en-US" altLang="en-US" sz="2400" dirty="0"/>
              <a:t>                                 …</a:t>
            </a:r>
          </a:p>
          <a:p>
            <a:pPr>
              <a:lnSpc>
                <a:spcPct val="70000"/>
              </a:lnSpc>
              <a:spcBef>
                <a:spcPct val="15000"/>
              </a:spcBef>
              <a:buFontTx/>
              <a:buNone/>
              <a:tabLst>
                <a:tab pos="2459038" algn="l"/>
                <a:tab pos="2740025" algn="l"/>
                <a:tab pos="3084513" algn="l"/>
              </a:tabLst>
              <a:defRPr/>
            </a:pPr>
            <a:r>
              <a:rPr lang="en-US" altLang="en-US" sz="2400" dirty="0"/>
              <a:t>			</a:t>
            </a:r>
            <a:r>
              <a:rPr lang="en-US" altLang="en-US" sz="2400" i="1" dirty="0"/>
              <a:t>Signal</a:t>
            </a:r>
            <a:r>
              <a:rPr lang="en-US" altLang="en-US" sz="2400" dirty="0"/>
              <a:t>(</a:t>
            </a:r>
            <a:r>
              <a:rPr lang="en-US" altLang="en-US" sz="2400" i="1" dirty="0" err="1"/>
              <a:t>mutex</a:t>
            </a:r>
            <a:r>
              <a:rPr lang="en-US" altLang="en-US" sz="2400" dirty="0"/>
              <a:t>);</a:t>
            </a:r>
          </a:p>
          <a:p>
            <a:pPr>
              <a:lnSpc>
                <a:spcPct val="70000"/>
              </a:lnSpc>
              <a:spcBef>
                <a:spcPct val="15000"/>
              </a:spcBef>
              <a:buFontTx/>
              <a:buNone/>
              <a:tabLst>
                <a:tab pos="2459038" algn="l"/>
                <a:tab pos="2740025" algn="l"/>
                <a:tab pos="3084513"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a:solidFill>
                  <a:schemeClr val="accent1">
                    <a:lumMod val="75000"/>
                  </a:schemeClr>
                </a:solidFill>
              </a:rPr>
              <a:t>full</a:t>
            </a:r>
            <a:r>
              <a:rPr lang="en-US" altLang="en-US" sz="2400" b="1" dirty="0">
                <a:solidFill>
                  <a:schemeClr val="accent1">
                    <a:lumMod val="75000"/>
                  </a:schemeClr>
                </a:solidFill>
              </a:rPr>
              <a:t>);</a:t>
            </a:r>
          </a:p>
          <a:p>
            <a:pPr>
              <a:lnSpc>
                <a:spcPct val="70000"/>
              </a:lnSpc>
              <a:spcBef>
                <a:spcPct val="15000"/>
              </a:spcBef>
              <a:buFontTx/>
              <a:buNone/>
              <a:tabLst>
                <a:tab pos="2459038" algn="l"/>
                <a:tab pos="2740025" algn="l"/>
                <a:tab pos="3084513" algn="l"/>
              </a:tabLst>
              <a:defRPr/>
            </a:pPr>
            <a:r>
              <a:rPr lang="en-US" altLang="en-US" sz="2400" dirty="0"/>
              <a:t>		}</a:t>
            </a:r>
          </a:p>
          <a:p>
            <a:pPr>
              <a:lnSpc>
                <a:spcPct val="70000"/>
              </a:lnSpc>
              <a:buFontTx/>
              <a:buNone/>
              <a:tabLst>
                <a:tab pos="2459038" algn="l"/>
                <a:tab pos="2740025" algn="l"/>
                <a:tab pos="3084513" algn="l"/>
              </a:tabLst>
              <a:defRPr/>
            </a:pPr>
            <a:r>
              <a:rPr lang="en-US" altLang="en-US" sz="2400" dirty="0"/>
              <a:t>	</a:t>
            </a:r>
          </a:p>
        </p:txBody>
      </p:sp>
      <p:sp>
        <p:nvSpPr>
          <p:cNvPr id="101382" name="Right Arrow 2">
            <a:extLst>
              <a:ext uri="{FF2B5EF4-FFF2-40B4-BE49-F238E27FC236}">
                <a16:creationId xmlns:a16="http://schemas.microsoft.com/office/drawing/2014/main" id="{EDA8A6C9-356B-40FD-88EB-1CCBF276C92D}"/>
              </a:ext>
            </a:extLst>
          </p:cNvPr>
          <p:cNvSpPr>
            <a:spLocks noChangeArrowheads="1"/>
          </p:cNvSpPr>
          <p:nvPr/>
        </p:nvSpPr>
        <p:spPr bwMode="auto">
          <a:xfrm>
            <a:off x="3529013" y="3492500"/>
            <a:ext cx="549275" cy="454025"/>
          </a:xfrm>
          <a:prstGeom prst="rightArrow">
            <a:avLst>
              <a:gd name="adj1" fmla="val 50000"/>
              <a:gd name="adj2" fmla="val 50027"/>
            </a:avLst>
          </a:prstGeom>
          <a:solidFill>
            <a:srgbClr val="FF0000"/>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1" name="TextBox 10">
            <a:extLst>
              <a:ext uri="{FF2B5EF4-FFF2-40B4-BE49-F238E27FC236}">
                <a16:creationId xmlns:a16="http://schemas.microsoft.com/office/drawing/2014/main" id="{566B85B4-2762-4173-8E51-E30DCF736EC9}"/>
              </a:ext>
            </a:extLst>
          </p:cNvPr>
          <p:cNvSpPr txBox="1">
            <a:spLocks noChangeArrowheads="1"/>
          </p:cNvSpPr>
          <p:nvPr/>
        </p:nvSpPr>
        <p:spPr bwMode="auto">
          <a:xfrm>
            <a:off x="7364413" y="2479675"/>
            <a:ext cx="15954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Consume one empty slot</a:t>
            </a:r>
          </a:p>
        </p:txBody>
      </p:sp>
      <p:sp>
        <p:nvSpPr>
          <p:cNvPr id="12" name="Freeform 11">
            <a:extLst>
              <a:ext uri="{FF2B5EF4-FFF2-40B4-BE49-F238E27FC236}">
                <a16:creationId xmlns:a16="http://schemas.microsoft.com/office/drawing/2014/main" id="{FF24CBE8-47D9-4257-B685-3EB5DA574335}"/>
              </a:ext>
            </a:extLst>
          </p:cNvPr>
          <p:cNvSpPr>
            <a:spLocks/>
          </p:cNvSpPr>
          <p:nvPr/>
        </p:nvSpPr>
        <p:spPr bwMode="auto">
          <a:xfrm flipH="1" flipV="1">
            <a:off x="6038850" y="5788025"/>
            <a:ext cx="2268538" cy="341313"/>
          </a:xfrm>
          <a:custGeom>
            <a:avLst/>
            <a:gdLst>
              <a:gd name="T0" fmla="*/ 2147483646 w 169213"/>
              <a:gd name="T1" fmla="*/ 0 h 2025738"/>
              <a:gd name="T2" fmla="*/ 2147483646 w 169213"/>
              <a:gd name="T3" fmla="*/ 0 h 2025738"/>
              <a:gd name="T4" fmla="*/ 2147483646 w 169213"/>
              <a:gd name="T5" fmla="*/ 0 h 2025738"/>
              <a:gd name="T6" fmla="*/ 0 60000 65536"/>
              <a:gd name="T7" fmla="*/ 0 60000 65536"/>
              <a:gd name="T8" fmla="*/ 0 60000 65536"/>
            </a:gdLst>
            <a:ahLst/>
            <a:cxnLst>
              <a:cxn ang="T6">
                <a:pos x="T0" y="T1"/>
              </a:cxn>
              <a:cxn ang="T7">
                <a:pos x="T2" y="T3"/>
              </a:cxn>
              <a:cxn ang="T8">
                <a:pos x="T4" y="T5"/>
              </a:cxn>
            </a:cxnLst>
            <a:rect l="0" t="0" r="r" b="b"/>
            <a:pathLst>
              <a:path w="169213" h="2025738">
                <a:moveTo>
                  <a:pt x="64282" y="2025738"/>
                </a:moveTo>
                <a:cubicBezTo>
                  <a:pt x="25557" y="1306210"/>
                  <a:pt x="-13168" y="586682"/>
                  <a:pt x="4321" y="256899"/>
                </a:cubicBezTo>
                <a:cubicBezTo>
                  <a:pt x="21809" y="-72885"/>
                  <a:pt x="95511" y="-12924"/>
                  <a:pt x="169213" y="47037"/>
                </a:cubicBezTo>
              </a:path>
            </a:pathLst>
          </a:custGeom>
          <a:noFill/>
          <a:ln w="9525" cap="flat" cmpd="sng">
            <a:solidFill>
              <a:srgbClr val="FF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13" name="TextBox 12">
            <a:extLst>
              <a:ext uri="{FF2B5EF4-FFF2-40B4-BE49-F238E27FC236}">
                <a16:creationId xmlns:a16="http://schemas.microsoft.com/office/drawing/2014/main" id="{D598A4CF-253F-4FAF-AC54-B40E3AFCAEB9}"/>
              </a:ext>
            </a:extLst>
          </p:cNvPr>
          <p:cNvSpPr txBox="1">
            <a:spLocks noChangeArrowheads="1"/>
          </p:cNvSpPr>
          <p:nvPr/>
        </p:nvSpPr>
        <p:spPr bwMode="auto">
          <a:xfrm>
            <a:off x="6686550" y="5495925"/>
            <a:ext cx="2039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Signal consumers</a:t>
            </a:r>
          </a:p>
        </p:txBody>
      </p:sp>
      <p:sp>
        <p:nvSpPr>
          <p:cNvPr id="101386" name="TextBox 13">
            <a:extLst>
              <a:ext uri="{FF2B5EF4-FFF2-40B4-BE49-F238E27FC236}">
                <a16:creationId xmlns:a16="http://schemas.microsoft.com/office/drawing/2014/main" id="{150E86EB-E614-42DD-9F3B-822DE7C0FA1C}"/>
              </a:ext>
            </a:extLst>
          </p:cNvPr>
          <p:cNvSpPr txBox="1">
            <a:spLocks noChangeArrowheads="1"/>
          </p:cNvSpPr>
          <p:nvPr/>
        </p:nvSpPr>
        <p:spPr bwMode="auto">
          <a:xfrm>
            <a:off x="404813" y="1901825"/>
            <a:ext cx="2339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u="sng">
                <a:solidFill>
                  <a:schemeClr val="accent2"/>
                </a:solidFill>
              </a:rPr>
              <a:t>Protect Shared Data:</a:t>
            </a:r>
          </a:p>
        </p:txBody>
      </p:sp>
      <p:cxnSp>
        <p:nvCxnSpPr>
          <p:cNvPr id="3" name="Curved Connector 2">
            <a:extLst>
              <a:ext uri="{FF2B5EF4-FFF2-40B4-BE49-F238E27FC236}">
                <a16:creationId xmlns:a16="http://schemas.microsoft.com/office/drawing/2014/main" id="{0645BE91-363D-482C-AF33-B2B6814B416B}"/>
              </a:ext>
            </a:extLst>
          </p:cNvPr>
          <p:cNvCxnSpPr>
            <a:cxnSpLocks noChangeShapeType="1"/>
          </p:cNvCxnSpPr>
          <p:nvPr/>
        </p:nvCxnSpPr>
        <p:spPr bwMode="auto">
          <a:xfrm flipV="1">
            <a:off x="6273800" y="3125788"/>
            <a:ext cx="1897063" cy="1144587"/>
          </a:xfrm>
          <a:prstGeom prst="curvedConnector3">
            <a:avLst>
              <a:gd name="adj1" fmla="val 99745"/>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C0533-0401-C13E-1727-DE6C5051EE44}"/>
            </a:ext>
          </a:extLst>
        </p:cNvPr>
        <p:cNvGrpSpPr/>
        <p:nvPr/>
      </p:nvGrpSpPr>
      <p:grpSpPr>
        <a:xfrm>
          <a:off x="0" y="0"/>
          <a:ext cx="0" cy="0"/>
          <a:chOff x="0" y="0"/>
          <a:chExt cx="0" cy="0"/>
        </a:xfrm>
      </p:grpSpPr>
      <p:sp>
        <p:nvSpPr>
          <p:cNvPr id="103425" name="Footer Placeholder 3">
            <a:extLst>
              <a:ext uri="{FF2B5EF4-FFF2-40B4-BE49-F238E27FC236}">
                <a16:creationId xmlns:a16="http://schemas.microsoft.com/office/drawing/2014/main" id="{31C71505-7431-048A-3377-A6B5674B533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0963" name="Rectangle 4">
            <a:extLst>
              <a:ext uri="{FF2B5EF4-FFF2-40B4-BE49-F238E27FC236}">
                <a16:creationId xmlns:a16="http://schemas.microsoft.com/office/drawing/2014/main" id="{8E001BFD-C81F-5E52-AD31-F426D782A5BD}"/>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03427" name="Rectangle 2">
            <a:extLst>
              <a:ext uri="{FF2B5EF4-FFF2-40B4-BE49-F238E27FC236}">
                <a16:creationId xmlns:a16="http://schemas.microsoft.com/office/drawing/2014/main" id="{3CDF264F-F0D5-C0BE-62A0-40F081022861}"/>
              </a:ext>
            </a:extLst>
          </p:cNvPr>
          <p:cNvSpPr>
            <a:spLocks noGrp="1" noChangeArrowheads="1"/>
          </p:cNvSpPr>
          <p:nvPr>
            <p:ph type="title"/>
          </p:nvPr>
        </p:nvSpPr>
        <p:spPr/>
        <p:txBody>
          <a:bodyPr/>
          <a:lstStyle/>
          <a:p>
            <a:r>
              <a:rPr lang="en-US" altLang="en-US"/>
              <a:t>Bounded-Buffer Problem (Cont.)</a:t>
            </a:r>
          </a:p>
        </p:txBody>
      </p:sp>
      <p:sp>
        <p:nvSpPr>
          <p:cNvPr id="99332" name="Rectangle 3">
            <a:extLst>
              <a:ext uri="{FF2B5EF4-FFF2-40B4-BE49-F238E27FC236}">
                <a16:creationId xmlns:a16="http://schemas.microsoft.com/office/drawing/2014/main" id="{4C6B3223-217F-D1A6-DF17-4A3765857249}"/>
              </a:ext>
            </a:extLst>
          </p:cNvPr>
          <p:cNvSpPr>
            <a:spLocks noGrp="1" noChangeArrowheads="1"/>
          </p:cNvSpPr>
          <p:nvPr>
            <p:ph type="body" idx="1"/>
          </p:nvPr>
        </p:nvSpPr>
        <p:spPr>
          <a:xfrm>
            <a:off x="414338" y="1296988"/>
            <a:ext cx="8216900" cy="5124450"/>
          </a:xfrm>
        </p:spPr>
        <p:txBody>
          <a:bodyPr/>
          <a:lstStyle/>
          <a:p>
            <a:pPr marL="0" indent="0">
              <a:lnSpc>
                <a:spcPct val="70000"/>
              </a:lnSpc>
              <a:spcBef>
                <a:spcPct val="15000"/>
              </a:spcBef>
              <a:buFontTx/>
              <a:buNone/>
              <a:tabLst>
                <a:tab pos="1597025" algn="l"/>
                <a:tab pos="1941513" algn="l"/>
                <a:tab pos="2286000" algn="l"/>
              </a:tabLst>
              <a:defRPr/>
            </a:pPr>
            <a:r>
              <a:rPr lang="en-US" altLang="en-US" sz="2800" dirty="0">
                <a:solidFill>
                  <a:srgbClr val="FF0000"/>
                </a:solidFill>
              </a:rPr>
              <a:t>                           Consumer process</a:t>
            </a:r>
          </a:p>
          <a:p>
            <a:pPr marL="0" indent="0">
              <a:lnSpc>
                <a:spcPct val="70000"/>
              </a:lnSpc>
              <a:spcBef>
                <a:spcPct val="15000"/>
              </a:spcBef>
              <a:buFontTx/>
              <a:buNone/>
              <a:tabLst>
                <a:tab pos="1597025" algn="l"/>
                <a:tab pos="1941513" algn="l"/>
                <a:tab pos="2286000" algn="l"/>
              </a:tabLst>
              <a:defRPr/>
            </a:pPr>
            <a:endParaRPr lang="en-US" altLang="en-US" sz="2400" dirty="0">
              <a:solidFill>
                <a:srgbClr val="FF0000"/>
              </a:solidFill>
            </a:endParaRPr>
          </a:p>
          <a:p>
            <a:pPr marL="0" indent="0">
              <a:lnSpc>
                <a:spcPct val="70000"/>
              </a:lnSpc>
              <a:spcBef>
                <a:spcPct val="15000"/>
              </a:spcBef>
              <a:buFontTx/>
              <a:buNone/>
              <a:tabLst>
                <a:tab pos="1597025" algn="l"/>
                <a:tab pos="1941513" algn="l"/>
                <a:tab pos="2286000" algn="l"/>
              </a:tabLst>
              <a:defRPr/>
            </a:pPr>
            <a:r>
              <a:rPr lang="en-US" altLang="en-US" sz="2400" dirty="0"/>
              <a:t>      </a:t>
            </a:r>
            <a:r>
              <a:rPr lang="en-US" altLang="en-US" sz="2400" u="sng" dirty="0">
                <a:solidFill>
                  <a:schemeClr val="accent2"/>
                </a:solidFill>
              </a:rPr>
              <a:t>Protect Shared Data and Manage Shared Resources:</a:t>
            </a:r>
            <a:endParaRPr lang="en-US" altLang="en-US" sz="2800" dirty="0">
              <a:solidFill>
                <a:srgbClr val="FF0000"/>
              </a:solidFill>
            </a:endParaRPr>
          </a:p>
          <a:p>
            <a:pPr marL="0" indent="0">
              <a:lnSpc>
                <a:spcPct val="70000"/>
              </a:lnSpc>
              <a:spcBef>
                <a:spcPct val="15000"/>
              </a:spcBef>
              <a:buFontTx/>
              <a:buNone/>
              <a:tabLst>
                <a:tab pos="1597025" algn="l"/>
                <a:tab pos="1941513" algn="l"/>
                <a:tab pos="2286000" algn="l"/>
              </a:tabLst>
              <a:defRPr/>
            </a:pPr>
            <a:endParaRPr lang="en-US" altLang="en-US" sz="2400" dirty="0">
              <a:solidFill>
                <a:srgbClr val="FF0000"/>
              </a:solidFill>
            </a:endParaRPr>
          </a:p>
          <a:p>
            <a:pPr>
              <a:lnSpc>
                <a:spcPct val="70000"/>
              </a:lnSpc>
              <a:spcBef>
                <a:spcPct val="15000"/>
              </a:spcBef>
              <a:buFontTx/>
              <a:buNone/>
              <a:tabLst>
                <a:tab pos="1597025" algn="l"/>
                <a:tab pos="1941513" algn="l"/>
                <a:tab pos="2286000" algn="l"/>
              </a:tabLst>
              <a:defRPr/>
            </a:pPr>
            <a:r>
              <a:rPr lang="en-US" altLang="en-US" sz="2400" dirty="0"/>
              <a:t>	         item </a:t>
            </a:r>
            <a:r>
              <a:rPr lang="en-US" altLang="en-US" sz="2400" i="1" dirty="0" err="1"/>
              <a:t>nextConsumed</a:t>
            </a:r>
            <a:r>
              <a:rPr lang="en-US" altLang="en-US" sz="2400" dirty="0"/>
              <a:t>;</a:t>
            </a:r>
          </a:p>
          <a:p>
            <a:pPr>
              <a:lnSpc>
                <a:spcPct val="70000"/>
              </a:lnSpc>
              <a:spcBef>
                <a:spcPct val="15000"/>
              </a:spcBef>
              <a:buFontTx/>
              <a:buNone/>
              <a:tabLst>
                <a:tab pos="1597025" algn="l"/>
                <a:tab pos="1941513" algn="l"/>
                <a:tab pos="2286000" algn="l"/>
              </a:tabLst>
              <a:defRPr/>
            </a:pPr>
            <a:r>
              <a:rPr lang="en-US" altLang="en-US" sz="2400" dirty="0"/>
              <a:t>	         while (1) {</a:t>
            </a:r>
          </a:p>
          <a:p>
            <a:pPr>
              <a:lnSpc>
                <a:spcPct val="70000"/>
              </a:lnSpc>
              <a:spcBef>
                <a:spcPct val="15000"/>
              </a:spcBef>
              <a:buFontTx/>
              <a:buNone/>
              <a:tabLst>
                <a:tab pos="1597025" algn="l"/>
                <a:tab pos="1941513" algn="l"/>
                <a:tab pos="2286000" algn="l"/>
              </a:tabLst>
              <a:defRPr/>
            </a:pPr>
            <a:r>
              <a:rPr lang="en-US" altLang="en-US" sz="2400" dirty="0"/>
              <a:t>	</a:t>
            </a: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full</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dirty="0"/>
              <a:t>		 …</a:t>
            </a:r>
          </a:p>
          <a:p>
            <a:pPr>
              <a:lnSpc>
                <a:spcPct val="70000"/>
              </a:lnSpc>
              <a:spcBef>
                <a:spcPct val="15000"/>
              </a:spcBef>
              <a:buFontTx/>
              <a:buNone/>
              <a:tabLst>
                <a:tab pos="1597025" algn="l"/>
                <a:tab pos="1941513" algn="l"/>
                <a:tab pos="2286000" algn="l"/>
              </a:tabLst>
              <a:defRPr/>
            </a:pPr>
            <a:r>
              <a:rPr lang="en-US" altLang="en-US" sz="2400" dirty="0"/>
              <a:t>	            </a:t>
            </a:r>
            <a:r>
              <a:rPr lang="en-US" altLang="en-US" sz="2400" i="1" dirty="0" err="1"/>
              <a:t>nextConsumed</a:t>
            </a:r>
            <a:r>
              <a:rPr lang="en-US" altLang="en-US" sz="2400" dirty="0"/>
              <a:t> = item from b</a:t>
            </a:r>
            <a:r>
              <a:rPr lang="en-US" altLang="en-US" sz="2400" i="1" dirty="0"/>
              <a:t>uffer;</a:t>
            </a:r>
            <a:endParaRPr lang="en-US" altLang="en-US" sz="2400" dirty="0"/>
          </a:p>
          <a:p>
            <a:pPr>
              <a:lnSpc>
                <a:spcPct val="70000"/>
              </a:lnSpc>
              <a:spcBef>
                <a:spcPct val="15000"/>
              </a:spcBef>
              <a:buFontTx/>
              <a:buNone/>
              <a:tabLst>
                <a:tab pos="1597025" algn="l"/>
                <a:tab pos="1941513" algn="l"/>
                <a:tab pos="2286000" algn="l"/>
              </a:tabLst>
              <a:defRPr/>
            </a:pPr>
            <a:r>
              <a:rPr lang="en-US" altLang="en-US" sz="2400" dirty="0"/>
              <a:t>		 …</a:t>
            </a:r>
          </a:p>
          <a:p>
            <a:pPr>
              <a:lnSpc>
                <a:spcPct val="70000"/>
              </a:lnSpc>
              <a:spcBef>
                <a:spcPct val="15000"/>
              </a:spcBef>
              <a:buFontTx/>
              <a:buNone/>
              <a:tabLst>
                <a:tab pos="1597025" algn="l"/>
                <a:tab pos="1941513" algn="l"/>
                <a:tab pos="2286000" algn="l"/>
              </a:tabLst>
              <a:defRPr/>
            </a:pPr>
            <a:r>
              <a:rPr lang="en-US" altLang="en-US" sz="2400" dirty="0"/>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a:solidFill>
                  <a:schemeClr val="accent1">
                    <a:lumMod val="75000"/>
                  </a:schemeClr>
                </a:solidFill>
              </a:rPr>
              <a:t>empty</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dirty="0"/>
              <a:t>		 …</a:t>
            </a:r>
          </a:p>
          <a:p>
            <a:pPr>
              <a:lnSpc>
                <a:spcPct val="70000"/>
              </a:lnSpc>
              <a:spcBef>
                <a:spcPct val="15000"/>
              </a:spcBef>
              <a:buFontTx/>
              <a:buNone/>
              <a:tabLst>
                <a:tab pos="1597025" algn="l"/>
                <a:tab pos="1941513" algn="l"/>
                <a:tab pos="2286000" algn="l"/>
              </a:tabLst>
              <a:defRPr/>
            </a:pPr>
            <a:r>
              <a:rPr lang="en-US" altLang="en-US" sz="2400" dirty="0"/>
              <a:t>	             consume the item </a:t>
            </a:r>
            <a:r>
              <a:rPr lang="en-US" altLang="en-US" sz="2400" i="1" dirty="0" err="1"/>
              <a:t>nextConsumed</a:t>
            </a:r>
            <a:r>
              <a:rPr lang="en-US" altLang="en-US" sz="2400" i="1" dirty="0"/>
              <a:t>;</a:t>
            </a:r>
            <a:endParaRPr lang="en-US" altLang="en-US" sz="2400" dirty="0"/>
          </a:p>
          <a:p>
            <a:pPr>
              <a:lnSpc>
                <a:spcPct val="70000"/>
              </a:lnSpc>
              <a:spcBef>
                <a:spcPct val="15000"/>
              </a:spcBef>
              <a:buFontTx/>
              <a:buNone/>
              <a:tabLst>
                <a:tab pos="1597025" algn="l"/>
                <a:tab pos="1941513" algn="l"/>
                <a:tab pos="2286000" algn="l"/>
              </a:tabLst>
              <a:defRPr/>
            </a:pPr>
            <a:r>
              <a:rPr lang="en-US" altLang="en-US" sz="2400" dirty="0"/>
              <a:t>	          }</a:t>
            </a:r>
          </a:p>
        </p:txBody>
      </p:sp>
      <p:sp>
        <p:nvSpPr>
          <p:cNvPr id="6" name="TextBox 5">
            <a:extLst>
              <a:ext uri="{FF2B5EF4-FFF2-40B4-BE49-F238E27FC236}">
                <a16:creationId xmlns:a16="http://schemas.microsoft.com/office/drawing/2014/main" id="{3750A16F-3BEC-B962-97B7-8D76427ED347}"/>
              </a:ext>
            </a:extLst>
          </p:cNvPr>
          <p:cNvSpPr txBox="1">
            <a:spLocks noChangeArrowheads="1"/>
          </p:cNvSpPr>
          <p:nvPr/>
        </p:nvSpPr>
        <p:spPr bwMode="auto">
          <a:xfrm>
            <a:off x="4329113" y="2897188"/>
            <a:ext cx="15954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Consume one full slot</a:t>
            </a:r>
          </a:p>
        </p:txBody>
      </p:sp>
      <p:sp>
        <p:nvSpPr>
          <p:cNvPr id="8" name="TextBox 7">
            <a:extLst>
              <a:ext uri="{FF2B5EF4-FFF2-40B4-BE49-F238E27FC236}">
                <a16:creationId xmlns:a16="http://schemas.microsoft.com/office/drawing/2014/main" id="{9CC45487-EB79-6999-4B8D-6E3D65918700}"/>
              </a:ext>
            </a:extLst>
          </p:cNvPr>
          <p:cNvSpPr txBox="1">
            <a:spLocks noChangeArrowheads="1"/>
          </p:cNvSpPr>
          <p:nvPr/>
        </p:nvSpPr>
        <p:spPr bwMode="auto">
          <a:xfrm>
            <a:off x="4160838" y="5073650"/>
            <a:ext cx="2038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Signal producers</a:t>
            </a:r>
          </a:p>
        </p:txBody>
      </p:sp>
      <p:cxnSp>
        <p:nvCxnSpPr>
          <p:cNvPr id="9" name="Curved Connector 8">
            <a:extLst>
              <a:ext uri="{FF2B5EF4-FFF2-40B4-BE49-F238E27FC236}">
                <a16:creationId xmlns:a16="http://schemas.microsoft.com/office/drawing/2014/main" id="{DE8E4CEF-9A36-4526-CDE7-622053889A97}"/>
              </a:ext>
            </a:extLst>
          </p:cNvPr>
          <p:cNvCxnSpPr>
            <a:cxnSpLocks noChangeShapeType="1"/>
          </p:cNvCxnSpPr>
          <p:nvPr/>
        </p:nvCxnSpPr>
        <p:spPr bwMode="auto">
          <a:xfrm flipV="1">
            <a:off x="3190875" y="3219450"/>
            <a:ext cx="1138238" cy="176213"/>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13" name="Curved Connector 12">
            <a:extLst>
              <a:ext uri="{FF2B5EF4-FFF2-40B4-BE49-F238E27FC236}">
                <a16:creationId xmlns:a16="http://schemas.microsoft.com/office/drawing/2014/main" id="{A1564BB5-71FB-0049-196E-5CF6B9681F1B}"/>
              </a:ext>
            </a:extLst>
          </p:cNvPr>
          <p:cNvCxnSpPr>
            <a:cxnSpLocks noChangeShapeType="1"/>
            <a:endCxn id="8" idx="1"/>
          </p:cNvCxnSpPr>
          <p:nvPr/>
        </p:nvCxnSpPr>
        <p:spPr bwMode="auto">
          <a:xfrm flipV="1">
            <a:off x="3938588" y="5259388"/>
            <a:ext cx="222250" cy="0"/>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F44013D6-7220-5402-640C-AD8E4A6C3C2A}"/>
              </a:ext>
            </a:extLst>
          </p:cNvPr>
          <p:cNvSpPr txBox="1">
            <a:spLocks noChangeArrowheads="1"/>
          </p:cNvSpPr>
          <p:nvPr/>
        </p:nvSpPr>
        <p:spPr bwMode="auto">
          <a:xfrm>
            <a:off x="6985000" y="2630488"/>
            <a:ext cx="1954213" cy="1603324"/>
          </a:xfrm>
          <a:prstGeom prst="rect">
            <a:avLst/>
          </a:prstGeom>
          <a:noFill/>
          <a:ln w="9525">
            <a:solidFill>
              <a:srgbClr val="000000"/>
            </a:solidFill>
            <a:miter lim="800000"/>
            <a:headEnd/>
            <a:tailEnd/>
          </a:ln>
        </p:spPr>
        <p:txBody>
          <a:bodyPr>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eaLnBrk="0" fontAlgn="base" hangingPunct="0">
              <a:spcBef>
                <a:spcPct val="0"/>
              </a:spcBef>
              <a:spcAft>
                <a:spcPct val="0"/>
              </a:spcAft>
              <a:defRPr>
                <a:solidFill>
                  <a:schemeClr val="tx1"/>
                </a:solidFill>
                <a:latin typeface="Helvetica" charset="0"/>
              </a:defRPr>
            </a:lvl6pPr>
            <a:lvl7pPr marL="2971800" indent="-228600" eaLnBrk="0" fontAlgn="base" hangingPunct="0">
              <a:spcBef>
                <a:spcPct val="0"/>
              </a:spcBef>
              <a:spcAft>
                <a:spcPct val="0"/>
              </a:spcAft>
              <a:defRPr>
                <a:solidFill>
                  <a:schemeClr val="tx1"/>
                </a:solidFill>
                <a:latin typeface="Helvetica" charset="0"/>
              </a:defRPr>
            </a:lvl7pPr>
            <a:lvl8pPr marL="3429000" indent="-228600" eaLnBrk="0" fontAlgn="base" hangingPunct="0">
              <a:spcBef>
                <a:spcPct val="0"/>
              </a:spcBef>
              <a:spcAft>
                <a:spcPct val="0"/>
              </a:spcAft>
              <a:defRPr>
                <a:solidFill>
                  <a:schemeClr val="tx1"/>
                </a:solidFill>
                <a:latin typeface="Helvetica" charset="0"/>
              </a:defRPr>
            </a:lvl8pPr>
            <a:lvl9pPr marL="3886200" indent="-228600" eaLnBrk="0" fontAlgn="base" hangingPunct="0">
              <a:spcBef>
                <a:spcPct val="0"/>
              </a:spcBef>
              <a:spcAft>
                <a:spcPct val="0"/>
              </a:spcAft>
              <a:defRPr>
                <a:solidFill>
                  <a:schemeClr val="tx1"/>
                </a:solidFill>
                <a:latin typeface="Helvetica" charset="0"/>
              </a:defRPr>
            </a:lvl9pPr>
          </a:lstStyle>
          <a:p>
            <a:pPr>
              <a:defRPr/>
            </a:pPr>
            <a:r>
              <a:rPr lang="en-US" altLang="en-US" dirty="0"/>
              <a:t>What if we swap as below?</a:t>
            </a:r>
          </a:p>
          <a:p>
            <a:pPr>
              <a:lnSpc>
                <a:spcPct val="70000"/>
              </a:lnSpc>
              <a:spcBef>
                <a:spcPct val="15000"/>
              </a:spcBef>
              <a:tabLst>
                <a:tab pos="1597025" algn="l"/>
                <a:tab pos="1941513" algn="l"/>
                <a:tab pos="2286000" algn="l"/>
              </a:tabLst>
              <a:defRPr/>
            </a:pPr>
            <a:endParaRPr lang="en-US" altLang="en-US" b="1" i="1" dirty="0">
              <a:solidFill>
                <a:schemeClr val="accent1">
                  <a:lumMod val="75000"/>
                </a:schemeClr>
              </a:solidFill>
            </a:endParaRPr>
          </a:p>
          <a:p>
            <a:pPr>
              <a:lnSpc>
                <a:spcPct val="70000"/>
              </a:lnSpc>
              <a:spcBef>
                <a:spcPct val="15000"/>
              </a:spcBef>
              <a:tabLst>
                <a:tab pos="1597025" algn="l"/>
                <a:tab pos="1941513" algn="l"/>
                <a:tab pos="2286000" algn="l"/>
              </a:tabLst>
              <a:defRPr/>
            </a:pPr>
            <a:r>
              <a:rPr lang="en-US" altLang="en-US" b="1" i="1" dirty="0">
                <a:solidFill>
                  <a:schemeClr val="accent1">
                    <a:lumMod val="75000"/>
                  </a:schemeClr>
                </a:solidFill>
              </a:rPr>
              <a:t>Wait</a:t>
            </a:r>
            <a:r>
              <a:rPr lang="en-US" altLang="en-US" b="1" dirty="0">
                <a:solidFill>
                  <a:schemeClr val="accent1">
                    <a:lumMod val="75000"/>
                  </a:schemeClr>
                </a:solidFill>
              </a:rPr>
              <a:t>(</a:t>
            </a:r>
            <a:r>
              <a:rPr lang="en-US" altLang="en-US" b="1" i="1" dirty="0" err="1">
                <a:solidFill>
                  <a:schemeClr val="accent1">
                    <a:lumMod val="75000"/>
                  </a:schemeClr>
                </a:solidFill>
              </a:rPr>
              <a:t>mutex</a:t>
            </a:r>
            <a:r>
              <a:rPr lang="en-US" altLang="en-US" b="1" dirty="0">
                <a:solidFill>
                  <a:schemeClr val="accent1">
                    <a:lumMod val="75000"/>
                  </a:schemeClr>
                </a:solidFill>
              </a:rPr>
              <a:t>);</a:t>
            </a:r>
          </a:p>
          <a:p>
            <a:pPr>
              <a:lnSpc>
                <a:spcPct val="70000"/>
              </a:lnSpc>
              <a:spcBef>
                <a:spcPct val="15000"/>
              </a:spcBef>
              <a:tabLst>
                <a:tab pos="1597025" algn="l"/>
                <a:tab pos="1941513" algn="l"/>
                <a:tab pos="2286000" algn="l"/>
              </a:tabLst>
              <a:defRPr/>
            </a:pPr>
            <a:r>
              <a:rPr lang="en-US" altLang="en-US" b="1" i="1" dirty="0">
                <a:solidFill>
                  <a:schemeClr val="accent1">
                    <a:lumMod val="75000"/>
                  </a:schemeClr>
                </a:solidFill>
              </a:rPr>
              <a:t>Wait</a:t>
            </a:r>
            <a:r>
              <a:rPr lang="en-US" altLang="en-US" b="1" dirty="0">
                <a:solidFill>
                  <a:schemeClr val="accent1">
                    <a:lumMod val="75000"/>
                  </a:schemeClr>
                </a:solidFill>
              </a:rPr>
              <a:t>(</a:t>
            </a:r>
            <a:r>
              <a:rPr lang="en-US" altLang="en-US" b="1" i="1" dirty="0">
                <a:solidFill>
                  <a:schemeClr val="accent1">
                    <a:lumMod val="75000"/>
                  </a:schemeClr>
                </a:solidFill>
              </a:rPr>
              <a:t>full</a:t>
            </a:r>
            <a:r>
              <a:rPr lang="en-US" altLang="en-US" b="1" dirty="0">
                <a:solidFill>
                  <a:schemeClr val="accent1">
                    <a:lumMod val="75000"/>
                  </a:schemeClr>
                </a:solidFill>
              </a:rPr>
              <a:t>);</a:t>
            </a:r>
          </a:p>
          <a:p>
            <a:pPr>
              <a:lnSpc>
                <a:spcPct val="70000"/>
              </a:lnSpc>
              <a:spcBef>
                <a:spcPct val="15000"/>
              </a:spcBef>
              <a:tabLst>
                <a:tab pos="1597025" algn="l"/>
                <a:tab pos="1941513" algn="l"/>
                <a:tab pos="2286000" algn="l"/>
              </a:tabLst>
              <a:defRPr/>
            </a:pPr>
            <a:endParaRPr lang="en-US" altLang="en-US" b="1" dirty="0">
              <a:solidFill>
                <a:schemeClr val="accent1">
                  <a:lumMod val="75000"/>
                </a:schemeClr>
              </a:solidFill>
            </a:endParaRPr>
          </a:p>
        </p:txBody>
      </p:sp>
    </p:spTree>
    <p:extLst>
      <p:ext uri="{BB962C8B-B14F-4D97-AF65-F5344CB8AC3E}">
        <p14:creationId xmlns:p14="http://schemas.microsoft.com/office/powerpoint/2010/main" val="14838241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DA56-9F10-1B2A-542C-AC3B46E68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AD111-5B42-76CB-ECD9-A49C216E6A3E}"/>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14A24C27-5CFB-6094-593D-B3AA601FC754}"/>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5314D851-1D14-3F59-C42E-E9BCB2B36E17}"/>
                  </a:ext>
                </a:extLst>
              </p:cNvPr>
              <p:cNvGraphicFramePr>
                <a:graphicFrameLocks noGrp="1"/>
              </p:cNvGraphicFramePr>
              <p:nvPr>
                <p:extLst>
                  <p:ext uri="{D42A27DB-BD31-4B8C-83A1-F6EECF244321}">
                    <p14:modId xmlns:p14="http://schemas.microsoft.com/office/powerpoint/2010/main" val="3809293303"/>
                  </p:ext>
                </p:extLst>
              </p:nvPr>
            </p:nvGraphicFramePr>
            <p:xfrm>
              <a:off x="0" y="1264853"/>
              <a:ext cx="9144000" cy="509784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5314D851-1D14-3F59-C42E-E9BCB2B36E17}"/>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1264853"/>
                <a:ext cx="9144000" cy="5097847"/>
              </a:xfrm>
              <a:prstGeom prst="rect">
                <a:avLst/>
              </a:prstGeom>
            </p:spPr>
          </p:pic>
        </mc:Fallback>
      </mc:AlternateContent>
    </p:spTree>
    <p:extLst>
      <p:ext uri="{BB962C8B-B14F-4D97-AF65-F5344CB8AC3E}">
        <p14:creationId xmlns:p14="http://schemas.microsoft.com/office/powerpoint/2010/main" val="13428321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Footer Placeholder 3">
            <a:extLst>
              <a:ext uri="{FF2B5EF4-FFF2-40B4-BE49-F238E27FC236}">
                <a16:creationId xmlns:a16="http://schemas.microsoft.com/office/drawing/2014/main" id="{95B9B1F2-E425-4480-8D64-B5C9F0666FA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0963" name="Rectangle 4">
            <a:extLst>
              <a:ext uri="{FF2B5EF4-FFF2-40B4-BE49-F238E27FC236}">
                <a16:creationId xmlns:a16="http://schemas.microsoft.com/office/drawing/2014/main" id="{6FA94477-6859-4F83-88C0-2EBE57EA3DE7}"/>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03427" name="Rectangle 2">
            <a:extLst>
              <a:ext uri="{FF2B5EF4-FFF2-40B4-BE49-F238E27FC236}">
                <a16:creationId xmlns:a16="http://schemas.microsoft.com/office/drawing/2014/main" id="{00EC92BF-1D5C-4266-90F9-CA9B396093B0}"/>
              </a:ext>
            </a:extLst>
          </p:cNvPr>
          <p:cNvSpPr>
            <a:spLocks noGrp="1" noChangeArrowheads="1"/>
          </p:cNvSpPr>
          <p:nvPr>
            <p:ph type="title"/>
          </p:nvPr>
        </p:nvSpPr>
        <p:spPr/>
        <p:txBody>
          <a:bodyPr/>
          <a:lstStyle/>
          <a:p>
            <a:r>
              <a:rPr lang="en-US" altLang="en-US"/>
              <a:t>Bounded-Buffer Problem (Cont.)</a:t>
            </a:r>
          </a:p>
        </p:txBody>
      </p:sp>
      <p:sp>
        <p:nvSpPr>
          <p:cNvPr id="99332" name="Rectangle 3">
            <a:extLst>
              <a:ext uri="{FF2B5EF4-FFF2-40B4-BE49-F238E27FC236}">
                <a16:creationId xmlns:a16="http://schemas.microsoft.com/office/drawing/2014/main" id="{1543927A-04EE-4491-A388-FC065D919E16}"/>
              </a:ext>
            </a:extLst>
          </p:cNvPr>
          <p:cNvSpPr>
            <a:spLocks noGrp="1" noChangeArrowheads="1"/>
          </p:cNvSpPr>
          <p:nvPr>
            <p:ph type="body" idx="1"/>
          </p:nvPr>
        </p:nvSpPr>
        <p:spPr>
          <a:xfrm>
            <a:off x="414338" y="1296988"/>
            <a:ext cx="8216900" cy="5124450"/>
          </a:xfrm>
        </p:spPr>
        <p:txBody>
          <a:bodyPr/>
          <a:lstStyle/>
          <a:p>
            <a:pPr marL="0" indent="0">
              <a:lnSpc>
                <a:spcPct val="70000"/>
              </a:lnSpc>
              <a:spcBef>
                <a:spcPct val="15000"/>
              </a:spcBef>
              <a:buFontTx/>
              <a:buNone/>
              <a:tabLst>
                <a:tab pos="1597025" algn="l"/>
                <a:tab pos="1941513" algn="l"/>
                <a:tab pos="2286000" algn="l"/>
              </a:tabLst>
              <a:defRPr/>
            </a:pPr>
            <a:r>
              <a:rPr lang="en-US" altLang="en-US" sz="2800" dirty="0">
                <a:solidFill>
                  <a:srgbClr val="FF0000"/>
                </a:solidFill>
              </a:rPr>
              <a:t>                           Consumer process</a:t>
            </a:r>
          </a:p>
          <a:p>
            <a:pPr marL="0" indent="0">
              <a:lnSpc>
                <a:spcPct val="70000"/>
              </a:lnSpc>
              <a:spcBef>
                <a:spcPct val="15000"/>
              </a:spcBef>
              <a:buFontTx/>
              <a:buNone/>
              <a:tabLst>
                <a:tab pos="1597025" algn="l"/>
                <a:tab pos="1941513" algn="l"/>
                <a:tab pos="2286000" algn="l"/>
              </a:tabLst>
              <a:defRPr/>
            </a:pPr>
            <a:endParaRPr lang="en-US" altLang="en-US" sz="2400" dirty="0">
              <a:solidFill>
                <a:srgbClr val="FF0000"/>
              </a:solidFill>
            </a:endParaRPr>
          </a:p>
          <a:p>
            <a:pPr marL="0" indent="0">
              <a:lnSpc>
                <a:spcPct val="70000"/>
              </a:lnSpc>
              <a:spcBef>
                <a:spcPct val="15000"/>
              </a:spcBef>
              <a:buFontTx/>
              <a:buNone/>
              <a:tabLst>
                <a:tab pos="1597025" algn="l"/>
                <a:tab pos="1941513" algn="l"/>
                <a:tab pos="2286000" algn="l"/>
              </a:tabLst>
              <a:defRPr/>
            </a:pPr>
            <a:r>
              <a:rPr lang="en-US" altLang="en-US" sz="2400" dirty="0"/>
              <a:t>      </a:t>
            </a:r>
            <a:r>
              <a:rPr lang="en-US" altLang="en-US" sz="2400" u="sng" dirty="0">
                <a:solidFill>
                  <a:schemeClr val="accent2"/>
                </a:solidFill>
              </a:rPr>
              <a:t>Protect Shared Data and Manage Shared Resources:</a:t>
            </a:r>
            <a:endParaRPr lang="en-US" altLang="en-US" sz="2800" dirty="0">
              <a:solidFill>
                <a:srgbClr val="FF0000"/>
              </a:solidFill>
            </a:endParaRPr>
          </a:p>
          <a:p>
            <a:pPr marL="0" indent="0">
              <a:lnSpc>
                <a:spcPct val="70000"/>
              </a:lnSpc>
              <a:spcBef>
                <a:spcPct val="15000"/>
              </a:spcBef>
              <a:buFontTx/>
              <a:buNone/>
              <a:tabLst>
                <a:tab pos="1597025" algn="l"/>
                <a:tab pos="1941513" algn="l"/>
                <a:tab pos="2286000" algn="l"/>
              </a:tabLst>
              <a:defRPr/>
            </a:pPr>
            <a:endParaRPr lang="en-US" altLang="en-US" sz="2400" dirty="0">
              <a:solidFill>
                <a:srgbClr val="FF0000"/>
              </a:solidFill>
            </a:endParaRPr>
          </a:p>
          <a:p>
            <a:pPr>
              <a:lnSpc>
                <a:spcPct val="70000"/>
              </a:lnSpc>
              <a:spcBef>
                <a:spcPct val="15000"/>
              </a:spcBef>
              <a:buFontTx/>
              <a:buNone/>
              <a:tabLst>
                <a:tab pos="1597025" algn="l"/>
                <a:tab pos="1941513" algn="l"/>
                <a:tab pos="2286000" algn="l"/>
              </a:tabLst>
              <a:defRPr/>
            </a:pPr>
            <a:r>
              <a:rPr lang="en-US" altLang="en-US" sz="2400" dirty="0"/>
              <a:t>	         item </a:t>
            </a:r>
            <a:r>
              <a:rPr lang="en-US" altLang="en-US" sz="2400" i="1" dirty="0" err="1"/>
              <a:t>nextConsumed</a:t>
            </a:r>
            <a:r>
              <a:rPr lang="en-US" altLang="en-US" sz="2400" dirty="0"/>
              <a:t>;</a:t>
            </a:r>
          </a:p>
          <a:p>
            <a:pPr>
              <a:lnSpc>
                <a:spcPct val="70000"/>
              </a:lnSpc>
              <a:spcBef>
                <a:spcPct val="15000"/>
              </a:spcBef>
              <a:buFontTx/>
              <a:buNone/>
              <a:tabLst>
                <a:tab pos="1597025" algn="l"/>
                <a:tab pos="1941513" algn="l"/>
                <a:tab pos="2286000" algn="l"/>
              </a:tabLst>
              <a:defRPr/>
            </a:pPr>
            <a:r>
              <a:rPr lang="en-US" altLang="en-US" sz="2400" dirty="0"/>
              <a:t>	         while (1) {</a:t>
            </a:r>
          </a:p>
          <a:p>
            <a:pPr>
              <a:lnSpc>
                <a:spcPct val="70000"/>
              </a:lnSpc>
              <a:spcBef>
                <a:spcPct val="15000"/>
              </a:spcBef>
              <a:buFontTx/>
              <a:buNone/>
              <a:tabLst>
                <a:tab pos="1597025" algn="l"/>
                <a:tab pos="1941513" algn="l"/>
                <a:tab pos="2286000" algn="l"/>
              </a:tabLst>
              <a:defRPr/>
            </a:pPr>
            <a:r>
              <a:rPr lang="en-US" altLang="en-US" sz="2400" dirty="0"/>
              <a:t>	</a:t>
            </a: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full</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dirty="0"/>
              <a:t>		 …</a:t>
            </a:r>
          </a:p>
          <a:p>
            <a:pPr>
              <a:lnSpc>
                <a:spcPct val="70000"/>
              </a:lnSpc>
              <a:spcBef>
                <a:spcPct val="15000"/>
              </a:spcBef>
              <a:buFontTx/>
              <a:buNone/>
              <a:tabLst>
                <a:tab pos="1597025" algn="l"/>
                <a:tab pos="1941513" algn="l"/>
                <a:tab pos="2286000" algn="l"/>
              </a:tabLst>
              <a:defRPr/>
            </a:pPr>
            <a:r>
              <a:rPr lang="en-US" altLang="en-US" sz="2400" dirty="0"/>
              <a:t>	            </a:t>
            </a:r>
            <a:r>
              <a:rPr lang="en-US" altLang="en-US" sz="2400" i="1" dirty="0" err="1"/>
              <a:t>nextConsumed</a:t>
            </a:r>
            <a:r>
              <a:rPr lang="en-US" altLang="en-US" sz="2400" dirty="0"/>
              <a:t> = item from b</a:t>
            </a:r>
            <a:r>
              <a:rPr lang="en-US" altLang="en-US" sz="2400" i="1" dirty="0"/>
              <a:t>uffer;</a:t>
            </a:r>
            <a:endParaRPr lang="en-US" altLang="en-US" sz="2400" dirty="0"/>
          </a:p>
          <a:p>
            <a:pPr>
              <a:lnSpc>
                <a:spcPct val="70000"/>
              </a:lnSpc>
              <a:spcBef>
                <a:spcPct val="15000"/>
              </a:spcBef>
              <a:buFontTx/>
              <a:buNone/>
              <a:tabLst>
                <a:tab pos="1597025" algn="l"/>
                <a:tab pos="1941513" algn="l"/>
                <a:tab pos="2286000" algn="l"/>
              </a:tabLst>
              <a:defRPr/>
            </a:pPr>
            <a:r>
              <a:rPr lang="en-US" altLang="en-US" sz="2400" dirty="0"/>
              <a:t>		 …</a:t>
            </a:r>
          </a:p>
          <a:p>
            <a:pPr>
              <a:lnSpc>
                <a:spcPct val="70000"/>
              </a:lnSpc>
              <a:spcBef>
                <a:spcPct val="15000"/>
              </a:spcBef>
              <a:buFontTx/>
              <a:buNone/>
              <a:tabLst>
                <a:tab pos="1597025" algn="l"/>
                <a:tab pos="1941513" algn="l"/>
                <a:tab pos="2286000" algn="l"/>
              </a:tabLst>
              <a:defRPr/>
            </a:pPr>
            <a:r>
              <a:rPr lang="en-US" altLang="en-US" sz="2400" dirty="0"/>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a:solidFill>
                  <a:schemeClr val="accent1">
                    <a:lumMod val="75000"/>
                  </a:schemeClr>
                </a:solidFill>
              </a:rPr>
              <a:t>empty</a:t>
            </a:r>
            <a:r>
              <a:rPr lang="en-US" altLang="en-US" sz="2400" b="1" dirty="0">
                <a:solidFill>
                  <a:schemeClr val="accent1">
                    <a:lumMod val="75000"/>
                  </a:schemeClr>
                </a:solidFill>
              </a:rPr>
              <a:t>);</a:t>
            </a:r>
          </a:p>
          <a:p>
            <a:pPr>
              <a:lnSpc>
                <a:spcPct val="70000"/>
              </a:lnSpc>
              <a:spcBef>
                <a:spcPct val="15000"/>
              </a:spcBef>
              <a:buFontTx/>
              <a:buNone/>
              <a:tabLst>
                <a:tab pos="1597025" algn="l"/>
                <a:tab pos="1941513" algn="l"/>
                <a:tab pos="2286000" algn="l"/>
              </a:tabLst>
              <a:defRPr/>
            </a:pPr>
            <a:r>
              <a:rPr lang="en-US" altLang="en-US" sz="2400" dirty="0"/>
              <a:t>		 …</a:t>
            </a:r>
          </a:p>
          <a:p>
            <a:pPr>
              <a:lnSpc>
                <a:spcPct val="70000"/>
              </a:lnSpc>
              <a:spcBef>
                <a:spcPct val="15000"/>
              </a:spcBef>
              <a:buFontTx/>
              <a:buNone/>
              <a:tabLst>
                <a:tab pos="1597025" algn="l"/>
                <a:tab pos="1941513" algn="l"/>
                <a:tab pos="2286000" algn="l"/>
              </a:tabLst>
              <a:defRPr/>
            </a:pPr>
            <a:r>
              <a:rPr lang="en-US" altLang="en-US" sz="2400" dirty="0"/>
              <a:t>	             consume the item </a:t>
            </a:r>
            <a:r>
              <a:rPr lang="en-US" altLang="en-US" sz="2400" i="1" dirty="0" err="1"/>
              <a:t>nextConsumed</a:t>
            </a:r>
            <a:r>
              <a:rPr lang="en-US" altLang="en-US" sz="2400" i="1" dirty="0"/>
              <a:t>;</a:t>
            </a:r>
            <a:endParaRPr lang="en-US" altLang="en-US" sz="2400" dirty="0"/>
          </a:p>
          <a:p>
            <a:pPr>
              <a:lnSpc>
                <a:spcPct val="70000"/>
              </a:lnSpc>
              <a:spcBef>
                <a:spcPct val="15000"/>
              </a:spcBef>
              <a:buFontTx/>
              <a:buNone/>
              <a:tabLst>
                <a:tab pos="1597025" algn="l"/>
                <a:tab pos="1941513" algn="l"/>
                <a:tab pos="2286000" algn="l"/>
              </a:tabLst>
              <a:defRPr/>
            </a:pPr>
            <a:r>
              <a:rPr lang="en-US" altLang="en-US" sz="2400" dirty="0"/>
              <a:t>	          }</a:t>
            </a:r>
          </a:p>
        </p:txBody>
      </p:sp>
      <p:sp>
        <p:nvSpPr>
          <p:cNvPr id="6" name="TextBox 5">
            <a:extLst>
              <a:ext uri="{FF2B5EF4-FFF2-40B4-BE49-F238E27FC236}">
                <a16:creationId xmlns:a16="http://schemas.microsoft.com/office/drawing/2014/main" id="{EE51B3DF-45A7-45F2-8666-D2965B749267}"/>
              </a:ext>
            </a:extLst>
          </p:cNvPr>
          <p:cNvSpPr txBox="1">
            <a:spLocks noChangeArrowheads="1"/>
          </p:cNvSpPr>
          <p:nvPr/>
        </p:nvSpPr>
        <p:spPr bwMode="auto">
          <a:xfrm>
            <a:off x="4329113" y="2897188"/>
            <a:ext cx="15954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Consume one full slot</a:t>
            </a:r>
          </a:p>
        </p:txBody>
      </p:sp>
      <p:sp>
        <p:nvSpPr>
          <p:cNvPr id="8" name="TextBox 7">
            <a:extLst>
              <a:ext uri="{FF2B5EF4-FFF2-40B4-BE49-F238E27FC236}">
                <a16:creationId xmlns:a16="http://schemas.microsoft.com/office/drawing/2014/main" id="{967F93A2-53A8-48E0-A5D4-676C604DA2B7}"/>
              </a:ext>
            </a:extLst>
          </p:cNvPr>
          <p:cNvSpPr txBox="1">
            <a:spLocks noChangeArrowheads="1"/>
          </p:cNvSpPr>
          <p:nvPr/>
        </p:nvSpPr>
        <p:spPr bwMode="auto">
          <a:xfrm>
            <a:off x="4160838" y="5073650"/>
            <a:ext cx="2038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Signal producers</a:t>
            </a:r>
          </a:p>
        </p:txBody>
      </p:sp>
      <p:cxnSp>
        <p:nvCxnSpPr>
          <p:cNvPr id="9" name="Curved Connector 8">
            <a:extLst>
              <a:ext uri="{FF2B5EF4-FFF2-40B4-BE49-F238E27FC236}">
                <a16:creationId xmlns:a16="http://schemas.microsoft.com/office/drawing/2014/main" id="{C31EAEBE-7508-4CF2-B719-2C23C242E335}"/>
              </a:ext>
            </a:extLst>
          </p:cNvPr>
          <p:cNvCxnSpPr>
            <a:cxnSpLocks noChangeShapeType="1"/>
          </p:cNvCxnSpPr>
          <p:nvPr/>
        </p:nvCxnSpPr>
        <p:spPr bwMode="auto">
          <a:xfrm flipV="1">
            <a:off x="3190875" y="3219450"/>
            <a:ext cx="1138238" cy="176213"/>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13" name="Curved Connector 12">
            <a:extLst>
              <a:ext uri="{FF2B5EF4-FFF2-40B4-BE49-F238E27FC236}">
                <a16:creationId xmlns:a16="http://schemas.microsoft.com/office/drawing/2014/main" id="{4E1FB92F-31F0-4EAB-BE91-00F227CBB35B}"/>
              </a:ext>
            </a:extLst>
          </p:cNvPr>
          <p:cNvCxnSpPr>
            <a:cxnSpLocks noChangeShapeType="1"/>
            <a:endCxn id="8" idx="1"/>
          </p:cNvCxnSpPr>
          <p:nvPr/>
        </p:nvCxnSpPr>
        <p:spPr bwMode="auto">
          <a:xfrm flipV="1">
            <a:off x="3938588" y="5259388"/>
            <a:ext cx="222250" cy="0"/>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4E92097C-0032-453B-B1BC-F31EFDED01F3}"/>
              </a:ext>
            </a:extLst>
          </p:cNvPr>
          <p:cNvSpPr txBox="1">
            <a:spLocks noChangeArrowheads="1"/>
          </p:cNvSpPr>
          <p:nvPr/>
        </p:nvSpPr>
        <p:spPr bwMode="auto">
          <a:xfrm>
            <a:off x="6985000" y="2630488"/>
            <a:ext cx="1954213" cy="2017712"/>
          </a:xfrm>
          <a:prstGeom prst="rect">
            <a:avLst/>
          </a:prstGeom>
          <a:noFill/>
          <a:ln w="9525">
            <a:solidFill>
              <a:srgbClr val="000000"/>
            </a:solidFill>
            <a:miter lim="800000"/>
            <a:headEnd/>
            <a:tailEnd/>
          </a:ln>
        </p:spPr>
        <p:txBody>
          <a:bodyPr>
            <a:spAutoFit/>
          </a:bodyPr>
          <a:lstStyle>
            <a:lvl1pPr>
              <a:defRPr>
                <a:solidFill>
                  <a:schemeClr val="tx1"/>
                </a:solidFill>
                <a:latin typeface="Helvetica" charset="0"/>
              </a:defRPr>
            </a:lvl1pPr>
            <a:lvl2pPr marL="742950" indent="-285750">
              <a:defRPr>
                <a:solidFill>
                  <a:schemeClr val="tx1"/>
                </a:solidFill>
                <a:latin typeface="Helvetica" charset="0"/>
              </a:defRPr>
            </a:lvl2pPr>
            <a:lvl3pPr marL="1143000" indent="-228600">
              <a:defRPr>
                <a:solidFill>
                  <a:schemeClr val="tx1"/>
                </a:solidFill>
                <a:latin typeface="Helvetica" charset="0"/>
              </a:defRPr>
            </a:lvl3pPr>
            <a:lvl4pPr marL="1600200" indent="-228600">
              <a:defRPr>
                <a:solidFill>
                  <a:schemeClr val="tx1"/>
                </a:solidFill>
                <a:latin typeface="Helvetica" charset="0"/>
              </a:defRPr>
            </a:lvl4pPr>
            <a:lvl5pPr marL="2057400" indent="-228600">
              <a:defRPr>
                <a:solidFill>
                  <a:schemeClr val="tx1"/>
                </a:solidFill>
                <a:latin typeface="Helvetica" charset="0"/>
              </a:defRPr>
            </a:lvl5pPr>
            <a:lvl6pPr marL="2514600" indent="-228600" eaLnBrk="0" fontAlgn="base" hangingPunct="0">
              <a:spcBef>
                <a:spcPct val="0"/>
              </a:spcBef>
              <a:spcAft>
                <a:spcPct val="0"/>
              </a:spcAft>
              <a:defRPr>
                <a:solidFill>
                  <a:schemeClr val="tx1"/>
                </a:solidFill>
                <a:latin typeface="Helvetica" charset="0"/>
              </a:defRPr>
            </a:lvl6pPr>
            <a:lvl7pPr marL="2971800" indent="-228600" eaLnBrk="0" fontAlgn="base" hangingPunct="0">
              <a:spcBef>
                <a:spcPct val="0"/>
              </a:spcBef>
              <a:spcAft>
                <a:spcPct val="0"/>
              </a:spcAft>
              <a:defRPr>
                <a:solidFill>
                  <a:schemeClr val="tx1"/>
                </a:solidFill>
                <a:latin typeface="Helvetica" charset="0"/>
              </a:defRPr>
            </a:lvl7pPr>
            <a:lvl8pPr marL="3429000" indent="-228600" eaLnBrk="0" fontAlgn="base" hangingPunct="0">
              <a:spcBef>
                <a:spcPct val="0"/>
              </a:spcBef>
              <a:spcAft>
                <a:spcPct val="0"/>
              </a:spcAft>
              <a:defRPr>
                <a:solidFill>
                  <a:schemeClr val="tx1"/>
                </a:solidFill>
                <a:latin typeface="Helvetica" charset="0"/>
              </a:defRPr>
            </a:lvl8pPr>
            <a:lvl9pPr marL="3886200" indent="-228600" eaLnBrk="0" fontAlgn="base" hangingPunct="0">
              <a:spcBef>
                <a:spcPct val="0"/>
              </a:spcBef>
              <a:spcAft>
                <a:spcPct val="0"/>
              </a:spcAft>
              <a:defRPr>
                <a:solidFill>
                  <a:schemeClr val="tx1"/>
                </a:solidFill>
                <a:latin typeface="Helvetica" charset="0"/>
              </a:defRPr>
            </a:lvl9pPr>
          </a:lstStyle>
          <a:p>
            <a:pPr>
              <a:defRPr/>
            </a:pPr>
            <a:r>
              <a:rPr lang="en-US" altLang="en-US" dirty="0"/>
              <a:t>What if we swap as below?</a:t>
            </a:r>
          </a:p>
          <a:p>
            <a:pPr>
              <a:lnSpc>
                <a:spcPct val="70000"/>
              </a:lnSpc>
              <a:spcBef>
                <a:spcPct val="15000"/>
              </a:spcBef>
              <a:tabLst>
                <a:tab pos="1597025" algn="l"/>
                <a:tab pos="1941513" algn="l"/>
                <a:tab pos="2286000" algn="l"/>
              </a:tabLst>
              <a:defRPr/>
            </a:pPr>
            <a:endParaRPr lang="en-US" altLang="en-US" b="1" i="1" dirty="0">
              <a:solidFill>
                <a:schemeClr val="accent1">
                  <a:lumMod val="75000"/>
                </a:schemeClr>
              </a:solidFill>
            </a:endParaRPr>
          </a:p>
          <a:p>
            <a:pPr>
              <a:lnSpc>
                <a:spcPct val="70000"/>
              </a:lnSpc>
              <a:spcBef>
                <a:spcPct val="15000"/>
              </a:spcBef>
              <a:tabLst>
                <a:tab pos="1597025" algn="l"/>
                <a:tab pos="1941513" algn="l"/>
                <a:tab pos="2286000" algn="l"/>
              </a:tabLst>
              <a:defRPr/>
            </a:pPr>
            <a:r>
              <a:rPr lang="en-US" altLang="en-US" b="1" i="1" dirty="0">
                <a:solidFill>
                  <a:schemeClr val="accent1">
                    <a:lumMod val="75000"/>
                  </a:schemeClr>
                </a:solidFill>
              </a:rPr>
              <a:t>Wait</a:t>
            </a:r>
            <a:r>
              <a:rPr lang="en-US" altLang="en-US" b="1" dirty="0">
                <a:solidFill>
                  <a:schemeClr val="accent1">
                    <a:lumMod val="75000"/>
                  </a:schemeClr>
                </a:solidFill>
              </a:rPr>
              <a:t>(</a:t>
            </a:r>
            <a:r>
              <a:rPr lang="en-US" altLang="en-US" b="1" i="1" dirty="0" err="1">
                <a:solidFill>
                  <a:schemeClr val="accent1">
                    <a:lumMod val="75000"/>
                  </a:schemeClr>
                </a:solidFill>
              </a:rPr>
              <a:t>mutex</a:t>
            </a:r>
            <a:r>
              <a:rPr lang="en-US" altLang="en-US" b="1" dirty="0">
                <a:solidFill>
                  <a:schemeClr val="accent1">
                    <a:lumMod val="75000"/>
                  </a:schemeClr>
                </a:solidFill>
              </a:rPr>
              <a:t>);</a:t>
            </a:r>
          </a:p>
          <a:p>
            <a:pPr>
              <a:lnSpc>
                <a:spcPct val="70000"/>
              </a:lnSpc>
              <a:spcBef>
                <a:spcPct val="15000"/>
              </a:spcBef>
              <a:tabLst>
                <a:tab pos="1597025" algn="l"/>
                <a:tab pos="1941513" algn="l"/>
                <a:tab pos="2286000" algn="l"/>
              </a:tabLst>
              <a:defRPr/>
            </a:pPr>
            <a:r>
              <a:rPr lang="en-US" altLang="en-US" b="1" i="1" dirty="0">
                <a:solidFill>
                  <a:schemeClr val="accent1">
                    <a:lumMod val="75000"/>
                  </a:schemeClr>
                </a:solidFill>
              </a:rPr>
              <a:t>Wait</a:t>
            </a:r>
            <a:r>
              <a:rPr lang="en-US" altLang="en-US" b="1" dirty="0">
                <a:solidFill>
                  <a:schemeClr val="accent1">
                    <a:lumMod val="75000"/>
                  </a:schemeClr>
                </a:solidFill>
              </a:rPr>
              <a:t>(</a:t>
            </a:r>
            <a:r>
              <a:rPr lang="en-US" altLang="en-US" b="1" i="1" dirty="0">
                <a:solidFill>
                  <a:schemeClr val="accent1">
                    <a:lumMod val="75000"/>
                  </a:schemeClr>
                </a:solidFill>
              </a:rPr>
              <a:t>full</a:t>
            </a:r>
            <a:r>
              <a:rPr lang="en-US" altLang="en-US" b="1" dirty="0">
                <a:solidFill>
                  <a:schemeClr val="accent1">
                    <a:lumMod val="75000"/>
                  </a:schemeClr>
                </a:solidFill>
              </a:rPr>
              <a:t>);</a:t>
            </a:r>
          </a:p>
          <a:p>
            <a:pPr>
              <a:lnSpc>
                <a:spcPct val="70000"/>
              </a:lnSpc>
              <a:spcBef>
                <a:spcPct val="15000"/>
              </a:spcBef>
              <a:tabLst>
                <a:tab pos="1597025" algn="l"/>
                <a:tab pos="1941513" algn="l"/>
                <a:tab pos="2286000" algn="l"/>
              </a:tabLst>
              <a:defRPr/>
            </a:pPr>
            <a:endParaRPr lang="en-US" altLang="en-US" b="1" dirty="0">
              <a:solidFill>
                <a:schemeClr val="accent1">
                  <a:lumMod val="75000"/>
                </a:schemeClr>
              </a:solidFill>
            </a:endParaRPr>
          </a:p>
          <a:p>
            <a:pPr>
              <a:lnSpc>
                <a:spcPct val="70000"/>
              </a:lnSpc>
              <a:spcBef>
                <a:spcPct val="15000"/>
              </a:spcBef>
              <a:tabLst>
                <a:tab pos="1597025" algn="l"/>
                <a:tab pos="1941513" algn="l"/>
                <a:tab pos="2286000" algn="l"/>
              </a:tabLst>
              <a:defRPr/>
            </a:pPr>
            <a:r>
              <a:rPr lang="en-US" altLang="en-US" b="1" dirty="0">
                <a:solidFill>
                  <a:srgbClr val="FF0000"/>
                </a:solidFill>
              </a:rPr>
              <a:t>DEADLOCK if buffer is empty!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Footer Placeholder 1">
            <a:extLst>
              <a:ext uri="{FF2B5EF4-FFF2-40B4-BE49-F238E27FC236}">
                <a16:creationId xmlns:a16="http://schemas.microsoft.com/office/drawing/2014/main" id="{0BE022DD-2245-4960-8FEE-EAA786C9E2F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1987" name="Rectangle 1026">
            <a:extLst>
              <a:ext uri="{FF2B5EF4-FFF2-40B4-BE49-F238E27FC236}">
                <a16:creationId xmlns:a16="http://schemas.microsoft.com/office/drawing/2014/main" id="{C881D64A-5DE3-4235-B164-7B7056444DFC}"/>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05475" name="Rectangle 1028">
            <a:extLst>
              <a:ext uri="{FF2B5EF4-FFF2-40B4-BE49-F238E27FC236}">
                <a16:creationId xmlns:a16="http://schemas.microsoft.com/office/drawing/2014/main" id="{32931578-9D45-402A-A825-5F9678C03506}"/>
              </a:ext>
            </a:extLst>
          </p:cNvPr>
          <p:cNvSpPr>
            <a:spLocks noChangeArrowheads="1"/>
          </p:cNvSpPr>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b="1">
                <a:solidFill>
                  <a:schemeClr val="tx2"/>
                </a:solidFill>
              </a:rPr>
              <a:t>Dining-Philosophers Problem</a:t>
            </a:r>
          </a:p>
        </p:txBody>
      </p:sp>
      <p:sp>
        <p:nvSpPr>
          <p:cNvPr id="105476" name="Rectangle 1029">
            <a:extLst>
              <a:ext uri="{FF2B5EF4-FFF2-40B4-BE49-F238E27FC236}">
                <a16:creationId xmlns:a16="http://schemas.microsoft.com/office/drawing/2014/main" id="{E17A47A7-2181-4170-A64C-52E281ED776A}"/>
              </a:ext>
            </a:extLst>
          </p:cNvPr>
          <p:cNvSpPr>
            <a:spLocks noChangeArrowheads="1"/>
          </p:cNvSpPr>
          <p:nvPr/>
        </p:nvSpPr>
        <p:spPr bwMode="auto">
          <a:xfrm>
            <a:off x="382588" y="1333500"/>
            <a:ext cx="8347075"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tabLst>
                <a:tab pos="1941513" algn="l"/>
                <a:tab pos="2168525" algn="l"/>
                <a:tab pos="2459038" algn="l"/>
              </a:tabLst>
              <a:defRPr>
                <a:solidFill>
                  <a:schemeClr val="tx1"/>
                </a:solidFill>
                <a:latin typeface="Helvetica" panose="020B0604020202020204" pitchFamily="34" charset="0"/>
              </a:defRPr>
            </a:lvl1pPr>
            <a:lvl2pPr marL="742950" indent="-285750">
              <a:spcBef>
                <a:spcPct val="20000"/>
              </a:spcBef>
              <a:buChar char="–"/>
              <a:tabLst>
                <a:tab pos="1941513" algn="l"/>
                <a:tab pos="2168525" algn="l"/>
                <a:tab pos="2459038"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1941513" algn="l"/>
                <a:tab pos="2168525" algn="l"/>
                <a:tab pos="2459038" algn="l"/>
              </a:tabLst>
              <a:defRPr i="1">
                <a:solidFill>
                  <a:schemeClr val="tx1"/>
                </a:solidFill>
                <a:latin typeface="Helvetica" panose="020B0604020202020204" pitchFamily="34" charset="0"/>
              </a:defRPr>
            </a:lvl3pPr>
            <a:lvl4pPr marL="1600200" indent="-228600">
              <a:spcBef>
                <a:spcPct val="20000"/>
              </a:spcBef>
              <a:buChar char="–"/>
              <a:tabLst>
                <a:tab pos="1941513" algn="l"/>
                <a:tab pos="2168525" algn="l"/>
                <a:tab pos="2459038" algn="l"/>
              </a:tabLst>
              <a:defRPr>
                <a:solidFill>
                  <a:schemeClr val="tx1"/>
                </a:solidFill>
                <a:latin typeface="Helvetica" panose="020B0604020202020204" pitchFamily="34" charset="0"/>
              </a:defRPr>
            </a:lvl4pPr>
            <a:lvl5pPr marL="2057400" indent="-228600">
              <a:spcBef>
                <a:spcPct val="20000"/>
              </a:spcBef>
              <a:buChar char="»"/>
              <a:tabLst>
                <a:tab pos="1941513" algn="l"/>
                <a:tab pos="2168525" algn="l"/>
                <a:tab pos="2459038" algn="l"/>
              </a:tabLst>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1941513" algn="l"/>
                <a:tab pos="2168525" algn="l"/>
                <a:tab pos="2459038" algn="l"/>
              </a:tabLst>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1941513" algn="l"/>
                <a:tab pos="2168525" algn="l"/>
                <a:tab pos="2459038" algn="l"/>
              </a:tabLst>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1941513" algn="l"/>
                <a:tab pos="2168525" algn="l"/>
                <a:tab pos="2459038" algn="l"/>
              </a:tabLst>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1941513" algn="l"/>
                <a:tab pos="2168525" algn="l"/>
                <a:tab pos="2459038" algn="l"/>
              </a:tabLst>
              <a:defRPr sz="1200">
                <a:solidFill>
                  <a:schemeClr val="tx1"/>
                </a:solidFill>
                <a:latin typeface="Helvetica" panose="020B0604020202020204" pitchFamily="34" charset="0"/>
              </a:defRPr>
            </a:lvl9pPr>
          </a:lstStyle>
          <a:p>
            <a:pPr>
              <a:lnSpc>
                <a:spcPct val="80000"/>
              </a:lnSpc>
              <a:spcBef>
                <a:spcPct val="15000"/>
              </a:spcBef>
              <a:buFontTx/>
              <a:buNone/>
            </a:pPr>
            <a:endParaRPr lang="en-US" altLang="en-US" sz="2400"/>
          </a:p>
          <a:p>
            <a:pPr>
              <a:lnSpc>
                <a:spcPct val="80000"/>
              </a:lnSpc>
              <a:spcBef>
                <a:spcPct val="15000"/>
              </a:spcBef>
              <a:buFontTx/>
              <a:buNone/>
            </a:pPr>
            <a:r>
              <a:rPr lang="en-US" altLang="en-US" sz="2400"/>
              <a:t> </a:t>
            </a:r>
            <a:endParaRPr lang="en-US" altLang="en-US" sz="2800" i="1"/>
          </a:p>
        </p:txBody>
      </p:sp>
      <p:pic>
        <p:nvPicPr>
          <p:cNvPr id="105477" name="Picture 1030">
            <a:extLst>
              <a:ext uri="{FF2B5EF4-FFF2-40B4-BE49-F238E27FC236}">
                <a16:creationId xmlns:a16="http://schemas.microsoft.com/office/drawing/2014/main" id="{D59A78D7-DD46-4449-923F-1EE870DEBE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184" t="1529" r="9151" b="710"/>
          <a:stretch>
            <a:fillRect/>
          </a:stretch>
        </p:blipFill>
        <p:spPr bwMode="auto">
          <a:xfrm>
            <a:off x="2863850" y="3792538"/>
            <a:ext cx="315595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0">
            <a:extLst>
              <a:ext uri="{FF2B5EF4-FFF2-40B4-BE49-F238E27FC236}">
                <a16:creationId xmlns:a16="http://schemas.microsoft.com/office/drawing/2014/main" id="{5167FBBA-A6FC-474B-ABAC-01A21844E535}"/>
              </a:ext>
            </a:extLst>
          </p:cNvPr>
          <p:cNvSpPr txBox="1">
            <a:spLocks noChangeArrowheads="1"/>
          </p:cNvSpPr>
          <p:nvPr/>
        </p:nvSpPr>
        <p:spPr>
          <a:xfrm>
            <a:off x="684213" y="1109663"/>
            <a:ext cx="7831137" cy="3170237"/>
          </a:xfrm>
          <a:prstGeom prst="rect">
            <a:avLst/>
          </a:prstGeom>
          <a:noFill/>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a:spcBef>
                <a:spcPct val="15000"/>
              </a:spcBef>
              <a:tabLst>
                <a:tab pos="2005013" algn="l"/>
                <a:tab pos="2232025" algn="l"/>
                <a:tab pos="2459038" algn="l"/>
              </a:tabLst>
              <a:defRPr/>
            </a:pPr>
            <a:r>
              <a:rPr lang="en-US" altLang="en-US" sz="2400" kern="0" dirty="0"/>
              <a:t>Five philosophers seated in a round table alternating between eating and thinking</a:t>
            </a:r>
          </a:p>
          <a:p>
            <a:pPr lvl="4">
              <a:spcBef>
                <a:spcPct val="15000"/>
              </a:spcBef>
              <a:tabLst>
                <a:tab pos="2005013" algn="l"/>
                <a:tab pos="2232025" algn="l"/>
                <a:tab pos="2459038" algn="l"/>
              </a:tabLst>
              <a:defRPr/>
            </a:pPr>
            <a:endParaRPr lang="en-US" altLang="en-US" kern="0" dirty="0"/>
          </a:p>
          <a:p>
            <a:pPr>
              <a:spcBef>
                <a:spcPct val="15000"/>
              </a:spcBef>
              <a:tabLst>
                <a:tab pos="2005013" algn="l"/>
                <a:tab pos="2232025" algn="l"/>
                <a:tab pos="2459038" algn="l"/>
              </a:tabLst>
              <a:defRPr/>
            </a:pPr>
            <a:r>
              <a:rPr lang="en-US" altLang="en-US" sz="2400" kern="0" dirty="0"/>
              <a:t>Five plates (one for each philosopher) and </a:t>
            </a:r>
            <a:r>
              <a:rPr lang="en-US" altLang="en-US" sz="2400" kern="0" dirty="0">
                <a:solidFill>
                  <a:schemeClr val="accent2"/>
                </a:solidFill>
              </a:rPr>
              <a:t>only five chopsticks (one between each plate)</a:t>
            </a:r>
          </a:p>
          <a:p>
            <a:pPr lvl="4">
              <a:spcBef>
                <a:spcPct val="15000"/>
              </a:spcBef>
              <a:tabLst>
                <a:tab pos="2005013" algn="l"/>
                <a:tab pos="2232025" algn="l"/>
                <a:tab pos="2459038" algn="l"/>
              </a:tabLst>
              <a:defRPr/>
            </a:pPr>
            <a:endParaRPr lang="en-US" altLang="en-US" kern="0" dirty="0"/>
          </a:p>
          <a:p>
            <a:pPr>
              <a:spcBef>
                <a:spcPct val="15000"/>
              </a:spcBef>
              <a:tabLst>
                <a:tab pos="2005013" algn="l"/>
                <a:tab pos="2232025" algn="l"/>
                <a:tab pos="2459038" algn="l"/>
              </a:tabLst>
              <a:defRPr/>
            </a:pPr>
            <a:r>
              <a:rPr lang="en-US" altLang="en-US" sz="2400" kern="0" dirty="0">
                <a:solidFill>
                  <a:srgbClr val="FF0000"/>
                </a:solidFill>
              </a:rPr>
              <a:t>Problem:</a:t>
            </a:r>
            <a:r>
              <a:rPr lang="en-US" altLang="en-US" sz="2400" kern="0" dirty="0"/>
              <a:t> Devise a strategy to enable the philosophers to eat peacefully!</a:t>
            </a:r>
          </a:p>
          <a:p>
            <a:pPr>
              <a:spcBef>
                <a:spcPct val="15000"/>
              </a:spcBef>
              <a:buFontTx/>
              <a:buNone/>
              <a:tabLst>
                <a:tab pos="2005013" algn="l"/>
                <a:tab pos="2232025" algn="l"/>
                <a:tab pos="2459038" algn="l"/>
              </a:tabLst>
              <a:defRPr/>
            </a:pPr>
            <a:endParaRPr lang="en-US" altLang="en-US" sz="2800" kern="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Footer Placeholder 3">
            <a:extLst>
              <a:ext uri="{FF2B5EF4-FFF2-40B4-BE49-F238E27FC236}">
                <a16:creationId xmlns:a16="http://schemas.microsoft.com/office/drawing/2014/main" id="{47D9989A-9488-4148-BD38-AEF29783F22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3011" name="Rectangle 6">
            <a:extLst>
              <a:ext uri="{FF2B5EF4-FFF2-40B4-BE49-F238E27FC236}">
                <a16:creationId xmlns:a16="http://schemas.microsoft.com/office/drawing/2014/main" id="{EDC67A00-AB37-470C-953E-A934D589B204}"/>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07523" name="Rectangle 2">
            <a:extLst>
              <a:ext uri="{FF2B5EF4-FFF2-40B4-BE49-F238E27FC236}">
                <a16:creationId xmlns:a16="http://schemas.microsoft.com/office/drawing/2014/main" id="{81225463-F911-4151-AF66-0CA8AC0FED4C}"/>
              </a:ext>
            </a:extLst>
          </p:cNvPr>
          <p:cNvSpPr>
            <a:spLocks noGrp="1" noChangeArrowheads="1"/>
          </p:cNvSpPr>
          <p:nvPr>
            <p:ph type="title"/>
          </p:nvPr>
        </p:nvSpPr>
        <p:spPr>
          <a:xfrm>
            <a:off x="1162050" y="495300"/>
            <a:ext cx="7112000" cy="457200"/>
          </a:xfrm>
        </p:spPr>
        <p:txBody>
          <a:bodyPr/>
          <a:lstStyle/>
          <a:p>
            <a:r>
              <a:rPr lang="en-US" altLang="en-US"/>
              <a:t>Dining-Philosophers Problem (Cont.) </a:t>
            </a:r>
          </a:p>
        </p:txBody>
      </p:sp>
      <p:sp>
        <p:nvSpPr>
          <p:cNvPr id="103428" name="Rectangle 10">
            <a:extLst>
              <a:ext uri="{FF2B5EF4-FFF2-40B4-BE49-F238E27FC236}">
                <a16:creationId xmlns:a16="http://schemas.microsoft.com/office/drawing/2014/main" id="{9887DE1B-973D-42BA-81E3-DF02777087E0}"/>
              </a:ext>
            </a:extLst>
          </p:cNvPr>
          <p:cNvSpPr>
            <a:spLocks noGrp="1" noChangeArrowheads="1"/>
          </p:cNvSpPr>
          <p:nvPr>
            <p:ph type="body" idx="1"/>
          </p:nvPr>
        </p:nvSpPr>
        <p:spPr>
          <a:xfrm>
            <a:off x="538163" y="1265238"/>
            <a:ext cx="8242300" cy="3170237"/>
          </a:xfrm>
        </p:spPr>
        <p:txBody>
          <a:bodyPr/>
          <a:lstStyle/>
          <a:p>
            <a:pPr>
              <a:lnSpc>
                <a:spcPct val="80000"/>
              </a:lnSpc>
              <a:spcBef>
                <a:spcPct val="15000"/>
              </a:spcBef>
              <a:defRPr/>
            </a:pPr>
            <a:r>
              <a:rPr lang="en-US" altLang="en-US" sz="2400" dirty="0">
                <a:solidFill>
                  <a:srgbClr val="FF0000"/>
                </a:solidFill>
              </a:rPr>
              <a:t>Initial Solution</a:t>
            </a:r>
          </a:p>
          <a:p>
            <a:pPr lvl="1">
              <a:lnSpc>
                <a:spcPct val="80000"/>
              </a:lnSpc>
              <a:spcBef>
                <a:spcPct val="15000"/>
              </a:spcBef>
              <a:defRPr/>
            </a:pPr>
            <a:r>
              <a:rPr lang="en-US" altLang="en-US" sz="2400" dirty="0"/>
              <a:t>Each philosopher is a process</a:t>
            </a:r>
          </a:p>
          <a:p>
            <a:pPr lvl="1">
              <a:lnSpc>
                <a:spcPct val="80000"/>
              </a:lnSpc>
              <a:spcBef>
                <a:spcPct val="15000"/>
              </a:spcBef>
              <a:defRPr/>
            </a:pPr>
            <a:r>
              <a:rPr lang="en-US" altLang="en-US" sz="2400" dirty="0"/>
              <a:t>Each chopstick is a shared resource protected by a binary semaphore (</a:t>
            </a:r>
            <a:r>
              <a:rPr lang="en-US" altLang="en-US" sz="2400" b="1" dirty="0">
                <a:solidFill>
                  <a:schemeClr val="accent1">
                    <a:lumMod val="75000"/>
                  </a:schemeClr>
                </a:solidFill>
              </a:rPr>
              <a:t>chopstick [ 5 ];</a:t>
            </a:r>
            <a:r>
              <a:rPr lang="en-US" altLang="en-US" sz="2400" dirty="0"/>
              <a:t>)</a:t>
            </a:r>
          </a:p>
          <a:p>
            <a:pPr lvl="1">
              <a:lnSpc>
                <a:spcPct val="80000"/>
              </a:lnSpc>
              <a:spcBef>
                <a:spcPct val="15000"/>
              </a:spcBef>
              <a:defRPr/>
            </a:pPr>
            <a:r>
              <a:rPr lang="en-US" altLang="en-US" sz="2400" dirty="0"/>
              <a:t>Initially, for all </a:t>
            </a:r>
            <a:r>
              <a:rPr lang="en-US" altLang="en-US" sz="2400" dirty="0" err="1"/>
              <a:t>i</a:t>
            </a:r>
            <a:r>
              <a:rPr lang="en-US" altLang="en-US" sz="2400" dirty="0"/>
              <a:t>, </a:t>
            </a:r>
            <a:r>
              <a:rPr lang="en-US" altLang="en-US" sz="2400" b="1" dirty="0">
                <a:solidFill>
                  <a:schemeClr val="accent1">
                    <a:lumMod val="75000"/>
                  </a:schemeClr>
                </a:solidFill>
              </a:rPr>
              <a:t>chopstick [ </a:t>
            </a:r>
            <a:r>
              <a:rPr lang="en-US" altLang="en-US" sz="2400" b="1" dirty="0" err="1">
                <a:solidFill>
                  <a:schemeClr val="accent1">
                    <a:lumMod val="75000"/>
                  </a:schemeClr>
                </a:solidFill>
              </a:rPr>
              <a:t>i</a:t>
            </a:r>
            <a:r>
              <a:rPr lang="en-US" altLang="en-US" sz="2400" b="1" dirty="0">
                <a:solidFill>
                  <a:schemeClr val="accent1">
                    <a:lumMod val="75000"/>
                  </a:schemeClr>
                </a:solidFill>
              </a:rPr>
              <a:t> ] = 1;</a:t>
            </a:r>
            <a:endParaRPr lang="en-US" altLang="en-US" sz="2400" dirty="0"/>
          </a:p>
          <a:p>
            <a:pPr lvl="4">
              <a:lnSpc>
                <a:spcPct val="80000"/>
              </a:lnSpc>
              <a:spcBef>
                <a:spcPct val="15000"/>
              </a:spcBef>
              <a:defRPr/>
            </a:pPr>
            <a:endParaRPr lang="en-US" altLang="en-US" dirty="0"/>
          </a:p>
          <a:p>
            <a:pPr>
              <a:lnSpc>
                <a:spcPct val="80000"/>
              </a:lnSpc>
              <a:tabLst>
                <a:tab pos="2005013" algn="l"/>
                <a:tab pos="2232025" algn="l"/>
                <a:tab pos="2459038" algn="l"/>
              </a:tabLst>
              <a:defRPr/>
            </a:pPr>
            <a:r>
              <a:rPr lang="en-US" altLang="en-US" sz="2400" dirty="0">
                <a:solidFill>
                  <a:srgbClr val="FF0000"/>
                </a:solidFill>
              </a:rPr>
              <a:t>Code (Philosopher </a:t>
            </a:r>
            <a:r>
              <a:rPr lang="en-US" altLang="en-US" sz="2400" dirty="0" err="1">
                <a:solidFill>
                  <a:srgbClr val="FF0000"/>
                </a:solidFill>
              </a:rPr>
              <a:t>i</a:t>
            </a:r>
            <a:r>
              <a:rPr lang="en-US" altLang="en-US" sz="2400" dirty="0">
                <a:solidFill>
                  <a:srgbClr val="FF0000"/>
                </a:solidFill>
              </a:rPr>
              <a:t>)</a:t>
            </a:r>
          </a:p>
          <a:p>
            <a:pPr marL="0" indent="0">
              <a:lnSpc>
                <a:spcPct val="80000"/>
              </a:lnSpc>
              <a:buFontTx/>
              <a:buNone/>
              <a:tabLst>
                <a:tab pos="2005013" algn="l"/>
                <a:tab pos="2232025" algn="l"/>
                <a:tab pos="2459038" algn="l"/>
              </a:tabLst>
              <a:defRPr/>
            </a:pPr>
            <a:r>
              <a:rPr lang="en-US" altLang="en-US" sz="2400" b="1" dirty="0">
                <a:solidFill>
                  <a:srgbClr val="FF0000"/>
                </a:solidFill>
              </a:rPr>
              <a:t>	</a:t>
            </a:r>
            <a:r>
              <a:rPr lang="en-US" altLang="en-US" sz="2400" dirty="0"/>
              <a:t>	while (1) {</a:t>
            </a:r>
          </a:p>
          <a:p>
            <a:pPr>
              <a:lnSpc>
                <a:spcPct val="80000"/>
              </a:lnSpc>
              <a:spcBef>
                <a:spcPct val="15000"/>
              </a:spcBef>
              <a:buFontTx/>
              <a:buNone/>
              <a:tabLst>
                <a:tab pos="2005013" algn="l"/>
                <a:tab pos="2232025" algn="l"/>
                <a:tab pos="2459038" algn="l"/>
              </a:tabLst>
              <a:defRPr/>
            </a:pPr>
            <a:r>
              <a:rPr lang="en-US" altLang="en-US" sz="2400" dirty="0"/>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chopstick </a:t>
            </a:r>
            <a:r>
              <a:rPr lang="en-US" altLang="en-US" sz="2400" b="1" dirty="0">
                <a:solidFill>
                  <a:schemeClr val="accent1">
                    <a:lumMod val="75000"/>
                  </a:schemeClr>
                </a:solidFill>
              </a:rPr>
              <a:t>[ </a:t>
            </a:r>
            <a:r>
              <a:rPr lang="en-US" altLang="en-US" sz="2400" b="1" i="1" dirty="0" err="1">
                <a:solidFill>
                  <a:schemeClr val="accent1">
                    <a:lumMod val="75000"/>
                  </a:schemeClr>
                </a:solidFill>
              </a:rPr>
              <a:t>i</a:t>
            </a:r>
            <a:r>
              <a:rPr lang="en-US" altLang="en-US" sz="2400" b="1" i="1" dirty="0">
                <a:solidFill>
                  <a:schemeClr val="accent1">
                    <a:lumMod val="75000"/>
                  </a:schemeClr>
                </a:solidFill>
              </a:rPr>
              <a:t> </a:t>
            </a:r>
            <a:r>
              <a:rPr lang="en-US" altLang="en-US" sz="2400" b="1" dirty="0">
                <a:solidFill>
                  <a:schemeClr val="accent1">
                    <a:lumMod val="75000"/>
                  </a:schemeClr>
                </a:solidFill>
              </a:rPr>
              <a:t>]);</a:t>
            </a:r>
          </a:p>
          <a:p>
            <a:pPr>
              <a:lnSpc>
                <a:spcPct val="80000"/>
              </a:lnSpc>
              <a:spcBef>
                <a:spcPct val="15000"/>
              </a:spcBef>
              <a:buFontTx/>
              <a:buNone/>
              <a:tabLst>
                <a:tab pos="2005013" algn="l"/>
                <a:tab pos="2232025" algn="l"/>
                <a:tab pos="2459038"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a:solidFill>
                  <a:schemeClr val="accent1">
                    <a:lumMod val="75000"/>
                  </a:schemeClr>
                </a:solidFill>
              </a:rPr>
              <a:t>chopstick </a:t>
            </a:r>
            <a:r>
              <a:rPr lang="en-US" altLang="en-US" sz="2400" b="1" dirty="0">
                <a:solidFill>
                  <a:schemeClr val="accent1">
                    <a:lumMod val="75000"/>
                  </a:schemeClr>
                </a:solidFill>
              </a:rPr>
              <a:t>[ (</a:t>
            </a:r>
            <a:r>
              <a:rPr lang="en-US" altLang="en-US" sz="2400" b="1" i="1" dirty="0">
                <a:solidFill>
                  <a:schemeClr val="accent1">
                    <a:lumMod val="75000"/>
                  </a:schemeClr>
                </a:solidFill>
              </a:rPr>
              <a:t>i</a:t>
            </a:r>
            <a:r>
              <a:rPr lang="en-US" altLang="en-US" sz="2400" b="1" dirty="0">
                <a:solidFill>
                  <a:schemeClr val="accent1">
                    <a:lumMod val="75000"/>
                  </a:schemeClr>
                </a:solidFill>
              </a:rPr>
              <a:t>+1)%5 ]);</a:t>
            </a:r>
          </a:p>
          <a:p>
            <a:pPr>
              <a:lnSpc>
                <a:spcPct val="80000"/>
              </a:lnSpc>
              <a:spcBef>
                <a:spcPct val="15000"/>
              </a:spcBef>
              <a:buFontTx/>
              <a:buNone/>
              <a:tabLst>
                <a:tab pos="2005013" algn="l"/>
                <a:tab pos="2232025" algn="l"/>
                <a:tab pos="2459038" algn="l"/>
              </a:tabLst>
              <a:defRPr/>
            </a:pPr>
            <a:r>
              <a:rPr lang="en-US" altLang="en-US" sz="2400" dirty="0"/>
              <a:t>					eat</a:t>
            </a:r>
          </a:p>
          <a:p>
            <a:pPr>
              <a:lnSpc>
                <a:spcPct val="80000"/>
              </a:lnSpc>
              <a:spcBef>
                <a:spcPct val="15000"/>
              </a:spcBef>
              <a:buFontTx/>
              <a:buNone/>
              <a:tabLst>
                <a:tab pos="2005013" algn="l"/>
                <a:tab pos="2232025" algn="l"/>
                <a:tab pos="2459038" algn="l"/>
              </a:tabLst>
              <a:defRPr/>
            </a:pPr>
            <a:r>
              <a:rPr lang="en-US" altLang="en-US" sz="2400" dirty="0"/>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a:solidFill>
                  <a:schemeClr val="accent1">
                    <a:lumMod val="75000"/>
                  </a:schemeClr>
                </a:solidFill>
              </a:rPr>
              <a:t>chopstick </a:t>
            </a:r>
            <a:r>
              <a:rPr lang="en-US" altLang="en-US" sz="2400" b="1" dirty="0">
                <a:solidFill>
                  <a:schemeClr val="accent1">
                    <a:lumMod val="75000"/>
                  </a:schemeClr>
                </a:solidFill>
              </a:rPr>
              <a:t>[ </a:t>
            </a:r>
            <a:r>
              <a:rPr lang="en-US" altLang="en-US" sz="2400" b="1" i="1" dirty="0" err="1">
                <a:solidFill>
                  <a:schemeClr val="accent1">
                    <a:lumMod val="75000"/>
                  </a:schemeClr>
                </a:solidFill>
              </a:rPr>
              <a:t>i</a:t>
            </a:r>
            <a:r>
              <a:rPr lang="en-US" altLang="en-US" sz="2400" b="1" i="1" dirty="0">
                <a:solidFill>
                  <a:schemeClr val="accent1">
                    <a:lumMod val="75000"/>
                  </a:schemeClr>
                </a:solidFill>
              </a:rPr>
              <a:t> </a:t>
            </a:r>
            <a:r>
              <a:rPr lang="en-US" altLang="en-US" sz="2400" b="1" dirty="0">
                <a:solidFill>
                  <a:schemeClr val="accent1">
                    <a:lumMod val="75000"/>
                  </a:schemeClr>
                </a:solidFill>
              </a:rPr>
              <a:t>]);</a:t>
            </a:r>
          </a:p>
          <a:p>
            <a:pPr>
              <a:lnSpc>
                <a:spcPct val="80000"/>
              </a:lnSpc>
              <a:spcBef>
                <a:spcPct val="15000"/>
              </a:spcBef>
              <a:buFontTx/>
              <a:buNone/>
              <a:tabLst>
                <a:tab pos="2005013" algn="l"/>
                <a:tab pos="2232025" algn="l"/>
                <a:tab pos="2459038"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a:solidFill>
                  <a:schemeClr val="accent1">
                    <a:lumMod val="75000"/>
                  </a:schemeClr>
                </a:solidFill>
              </a:rPr>
              <a:t>chopstick </a:t>
            </a:r>
            <a:r>
              <a:rPr lang="en-US" altLang="en-US" sz="2400" b="1" dirty="0">
                <a:solidFill>
                  <a:schemeClr val="accent1">
                    <a:lumMod val="75000"/>
                  </a:schemeClr>
                </a:solidFill>
              </a:rPr>
              <a:t>[ (</a:t>
            </a:r>
            <a:r>
              <a:rPr lang="en-US" altLang="en-US" sz="2400" b="1" i="1" dirty="0">
                <a:solidFill>
                  <a:schemeClr val="accent1">
                    <a:lumMod val="75000"/>
                  </a:schemeClr>
                </a:solidFill>
              </a:rPr>
              <a:t>i</a:t>
            </a:r>
            <a:r>
              <a:rPr lang="en-US" altLang="en-US" sz="2400" b="1" dirty="0">
                <a:solidFill>
                  <a:schemeClr val="accent1">
                    <a:lumMod val="75000"/>
                  </a:schemeClr>
                </a:solidFill>
              </a:rPr>
              <a:t>+1)%5 ]);</a:t>
            </a:r>
          </a:p>
          <a:p>
            <a:pPr>
              <a:lnSpc>
                <a:spcPct val="80000"/>
              </a:lnSpc>
              <a:spcBef>
                <a:spcPct val="15000"/>
              </a:spcBef>
              <a:buFontTx/>
              <a:buNone/>
              <a:tabLst>
                <a:tab pos="2005013" algn="l"/>
                <a:tab pos="2232025" algn="l"/>
                <a:tab pos="2459038" algn="l"/>
              </a:tabLst>
              <a:defRPr/>
            </a:pPr>
            <a:r>
              <a:rPr lang="en-US" altLang="en-US" sz="2400" dirty="0"/>
              <a:t>					think</a:t>
            </a:r>
          </a:p>
          <a:p>
            <a:pPr>
              <a:lnSpc>
                <a:spcPct val="80000"/>
              </a:lnSpc>
              <a:spcBef>
                <a:spcPct val="15000"/>
              </a:spcBef>
              <a:buFontTx/>
              <a:buNone/>
              <a:tabLst>
                <a:tab pos="2005013" algn="l"/>
                <a:tab pos="2232025" algn="l"/>
                <a:tab pos="2459038" algn="l"/>
              </a:tabLst>
              <a:defRPr/>
            </a:pPr>
            <a:r>
              <a:rPr lang="en-US" altLang="en-US" sz="2400" dirty="0"/>
              <a:t>		   }</a:t>
            </a:r>
          </a:p>
          <a:p>
            <a:pPr>
              <a:spcBef>
                <a:spcPct val="15000"/>
              </a:spcBef>
              <a:buFontTx/>
              <a:buNone/>
              <a:tabLst>
                <a:tab pos="2005013" algn="l"/>
                <a:tab pos="2232025" algn="l"/>
                <a:tab pos="2459038" algn="l"/>
              </a:tabLst>
              <a:defRPr/>
            </a:pPr>
            <a:endParaRPr lang="en-US" alt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Footer Placeholder 1">
            <a:extLst>
              <a:ext uri="{FF2B5EF4-FFF2-40B4-BE49-F238E27FC236}">
                <a16:creationId xmlns:a16="http://schemas.microsoft.com/office/drawing/2014/main" id="{0896F03C-A367-44C1-9690-61B7A89C409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5059" name="Rectangle 2">
            <a:extLst>
              <a:ext uri="{FF2B5EF4-FFF2-40B4-BE49-F238E27FC236}">
                <a16:creationId xmlns:a16="http://schemas.microsoft.com/office/drawing/2014/main" id="{CE1D7BA8-0DB9-4CCC-B45B-AE1C7EB7AEC4}"/>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09571" name="Rectangle 3">
            <a:extLst>
              <a:ext uri="{FF2B5EF4-FFF2-40B4-BE49-F238E27FC236}">
                <a16:creationId xmlns:a16="http://schemas.microsoft.com/office/drawing/2014/main" id="{D2BC9559-4129-4C1C-9807-E29729C80D85}"/>
              </a:ext>
            </a:extLst>
          </p:cNvPr>
          <p:cNvSpPr>
            <a:spLocks noChangeArrowheads="1"/>
          </p:cNvSpPr>
          <p:nvPr/>
        </p:nvSpPr>
        <p:spPr bwMode="auto">
          <a:xfrm>
            <a:off x="957263" y="439738"/>
            <a:ext cx="7129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b="1">
                <a:solidFill>
                  <a:schemeClr val="tx2"/>
                </a:solidFill>
              </a:rPr>
              <a:t>Dining-Philosophers Problem (Cont.)</a:t>
            </a:r>
          </a:p>
        </p:txBody>
      </p:sp>
      <p:sp>
        <p:nvSpPr>
          <p:cNvPr id="107524" name="Rectangle 4">
            <a:extLst>
              <a:ext uri="{FF2B5EF4-FFF2-40B4-BE49-F238E27FC236}">
                <a16:creationId xmlns:a16="http://schemas.microsoft.com/office/drawing/2014/main" id="{255AC94B-00C0-43E6-B37C-7C3238E339FB}"/>
              </a:ext>
            </a:extLst>
          </p:cNvPr>
          <p:cNvSpPr>
            <a:spLocks noChangeArrowheads="1"/>
          </p:cNvSpPr>
          <p:nvPr/>
        </p:nvSpPr>
        <p:spPr bwMode="auto">
          <a:xfrm>
            <a:off x="82550" y="1470025"/>
            <a:ext cx="8974138" cy="4746625"/>
          </a:xfrm>
          <a:prstGeom prst="rect">
            <a:avLst/>
          </a:prstGeom>
          <a:noFill/>
          <a:ln>
            <a:noFill/>
          </a:ln>
        </p:spPr>
        <p:txBody>
          <a:bodyPr/>
          <a:lstStyle>
            <a:lvl1pPr marL="228600" indent="-228600">
              <a:spcBef>
                <a:spcPct val="50000"/>
              </a:spcBef>
              <a:buSzPct val="140000"/>
              <a:buChar char="•"/>
              <a:tabLst>
                <a:tab pos="3148013" algn="ctr"/>
              </a:tabLst>
              <a:defRPr>
                <a:solidFill>
                  <a:schemeClr val="tx1"/>
                </a:solidFill>
                <a:latin typeface="Helvetica" charset="0"/>
              </a:defRPr>
            </a:lvl1pPr>
            <a:lvl2pPr marL="742950" indent="-285750">
              <a:spcBef>
                <a:spcPct val="20000"/>
              </a:spcBef>
              <a:buChar char="–"/>
              <a:tabLst>
                <a:tab pos="3148013" algn="ctr"/>
              </a:tabLst>
              <a:defRPr>
                <a:solidFill>
                  <a:schemeClr val="tx1"/>
                </a:solidFill>
                <a:latin typeface="Helvetica" charset="0"/>
              </a:defRPr>
            </a:lvl2pPr>
            <a:lvl3pPr marL="1143000" indent="-228600">
              <a:spcBef>
                <a:spcPct val="20000"/>
              </a:spcBef>
              <a:buSzPct val="85000"/>
              <a:buFont typeface="Monotype Sorts" charset="2"/>
              <a:buChar char="T"/>
              <a:tabLst>
                <a:tab pos="3148013" algn="ctr"/>
              </a:tabLst>
              <a:defRPr i="1">
                <a:solidFill>
                  <a:schemeClr val="tx1"/>
                </a:solidFill>
                <a:latin typeface="Helvetica" charset="0"/>
              </a:defRPr>
            </a:lvl3pPr>
            <a:lvl4pPr marL="1600200" indent="-228600">
              <a:spcBef>
                <a:spcPct val="20000"/>
              </a:spcBef>
              <a:buChar char="–"/>
              <a:tabLst>
                <a:tab pos="3148013" algn="ctr"/>
              </a:tabLst>
              <a:defRPr>
                <a:solidFill>
                  <a:schemeClr val="tx1"/>
                </a:solidFill>
                <a:latin typeface="Helvetica" charset="0"/>
              </a:defRPr>
            </a:lvl4pPr>
            <a:lvl5pPr marL="2057400" indent="-228600">
              <a:spcBef>
                <a:spcPct val="20000"/>
              </a:spcBef>
              <a:buChar char="»"/>
              <a:tabLst>
                <a:tab pos="3148013" algn="ctr"/>
              </a:tabLst>
              <a:defRPr sz="1200">
                <a:solidFill>
                  <a:schemeClr val="tx1"/>
                </a:solidFill>
                <a:latin typeface="Helvetica" charset="0"/>
              </a:defRPr>
            </a:lvl5pPr>
            <a:lvl6pPr marL="2514600" indent="-228600" eaLnBrk="0" fontAlgn="base" hangingPunct="0">
              <a:spcBef>
                <a:spcPct val="20000"/>
              </a:spcBef>
              <a:spcAft>
                <a:spcPct val="0"/>
              </a:spcAft>
              <a:buChar char="»"/>
              <a:tabLst>
                <a:tab pos="3148013" algn="ctr"/>
              </a:tabLst>
              <a:defRPr sz="1200">
                <a:solidFill>
                  <a:schemeClr val="tx1"/>
                </a:solidFill>
                <a:latin typeface="Helvetica" charset="0"/>
              </a:defRPr>
            </a:lvl6pPr>
            <a:lvl7pPr marL="2971800" indent="-228600" eaLnBrk="0" fontAlgn="base" hangingPunct="0">
              <a:spcBef>
                <a:spcPct val="20000"/>
              </a:spcBef>
              <a:spcAft>
                <a:spcPct val="0"/>
              </a:spcAft>
              <a:buChar char="»"/>
              <a:tabLst>
                <a:tab pos="3148013" algn="ctr"/>
              </a:tabLst>
              <a:defRPr sz="1200">
                <a:solidFill>
                  <a:schemeClr val="tx1"/>
                </a:solidFill>
                <a:latin typeface="Helvetica" charset="0"/>
              </a:defRPr>
            </a:lvl7pPr>
            <a:lvl8pPr marL="3429000" indent="-228600" eaLnBrk="0" fontAlgn="base" hangingPunct="0">
              <a:spcBef>
                <a:spcPct val="20000"/>
              </a:spcBef>
              <a:spcAft>
                <a:spcPct val="0"/>
              </a:spcAft>
              <a:buChar char="»"/>
              <a:tabLst>
                <a:tab pos="3148013" algn="ctr"/>
              </a:tabLst>
              <a:defRPr sz="1200">
                <a:solidFill>
                  <a:schemeClr val="tx1"/>
                </a:solidFill>
                <a:latin typeface="Helvetica" charset="0"/>
              </a:defRPr>
            </a:lvl8pPr>
            <a:lvl9pPr marL="3886200" indent="-228600" eaLnBrk="0" fontAlgn="base" hangingPunct="0">
              <a:spcBef>
                <a:spcPct val="20000"/>
              </a:spcBef>
              <a:spcAft>
                <a:spcPct val="0"/>
              </a:spcAft>
              <a:buChar char="»"/>
              <a:tabLst>
                <a:tab pos="3148013" algn="ctr"/>
              </a:tabLst>
              <a:defRPr sz="1200">
                <a:solidFill>
                  <a:schemeClr val="tx1"/>
                </a:solidFill>
                <a:latin typeface="Helvetica" charset="0"/>
              </a:defRPr>
            </a:lvl9pPr>
          </a:lstStyle>
          <a:p>
            <a:pPr>
              <a:spcBef>
                <a:spcPct val="15000"/>
              </a:spcBef>
              <a:defRPr/>
            </a:pPr>
            <a:r>
              <a:rPr lang="en-US" altLang="en-US" sz="2800" dirty="0">
                <a:solidFill>
                  <a:srgbClr val="FF0000"/>
                </a:solidFill>
              </a:rPr>
              <a:t>Does the above solution have a problem?</a:t>
            </a:r>
          </a:p>
          <a:p>
            <a:pPr lvl="4">
              <a:spcBef>
                <a:spcPct val="15000"/>
              </a:spcBef>
              <a:defRPr/>
            </a:pPr>
            <a:endParaRPr lang="en-US" altLang="en-US" dirty="0">
              <a:solidFill>
                <a:srgbClr val="FF0000"/>
              </a:solidFill>
            </a:endParaRPr>
          </a:p>
          <a:p>
            <a:pPr>
              <a:spcBef>
                <a:spcPct val="15000"/>
              </a:spcBef>
              <a:defRPr/>
            </a:pPr>
            <a:r>
              <a:rPr lang="en-US" altLang="en-US" sz="2800" dirty="0">
                <a:solidFill>
                  <a:schemeClr val="accent2"/>
                </a:solidFill>
              </a:rPr>
              <a:t>Consider the following interleaving (P</a:t>
            </a:r>
            <a:r>
              <a:rPr lang="en-US" altLang="en-US" sz="2800" baseline="-25000" dirty="0">
                <a:solidFill>
                  <a:schemeClr val="accent2"/>
                </a:solidFill>
              </a:rPr>
              <a:t>i</a:t>
            </a:r>
            <a:r>
              <a:rPr lang="en-US" altLang="en-US" sz="2800" dirty="0">
                <a:solidFill>
                  <a:schemeClr val="accent2"/>
                </a:solidFill>
              </a:rPr>
              <a:t>=Philosopher </a:t>
            </a:r>
            <a:r>
              <a:rPr lang="en-US" altLang="en-US" sz="2800" dirty="0" err="1">
                <a:solidFill>
                  <a:schemeClr val="accent2"/>
                </a:solidFill>
              </a:rPr>
              <a:t>i</a:t>
            </a:r>
            <a:r>
              <a:rPr lang="en-US" altLang="en-US" sz="2800" dirty="0">
                <a:solidFill>
                  <a:schemeClr val="accent2"/>
                </a:solidFill>
              </a:rPr>
              <a:t>):</a:t>
            </a:r>
          </a:p>
          <a:p>
            <a:pPr marL="914400" lvl="1" indent="-457200">
              <a:spcBef>
                <a:spcPct val="15000"/>
              </a:spcBef>
              <a:buFont typeface="+mj-lt"/>
              <a:buAutoNum type="arabicPeriod"/>
              <a:defRPr/>
            </a:pPr>
            <a:r>
              <a:rPr lang="en-US" altLang="en-US" sz="2400" dirty="0"/>
              <a:t>P</a:t>
            </a:r>
            <a:r>
              <a:rPr lang="en-US" altLang="en-US" sz="2400" baseline="-25000" dirty="0"/>
              <a:t>0</a:t>
            </a:r>
            <a:r>
              <a:rPr lang="en-US" altLang="en-US" sz="2400" dirty="0"/>
              <a:t> executes </a:t>
            </a:r>
            <a:r>
              <a:rPr lang="en-US" altLang="en-US" sz="2400" b="1" dirty="0">
                <a:solidFill>
                  <a:schemeClr val="accent1">
                    <a:lumMod val="75000"/>
                  </a:schemeClr>
                </a:solidFill>
              </a:rPr>
              <a:t>Wait(0); </a:t>
            </a:r>
            <a:r>
              <a:rPr lang="en-US" altLang="en-US" sz="2400" dirty="0"/>
              <a:t>and then </a:t>
            </a:r>
            <a:r>
              <a:rPr lang="en-US" altLang="en-US" sz="2400" b="1" dirty="0"/>
              <a:t>context switch </a:t>
            </a:r>
            <a:r>
              <a:rPr lang="en-US" altLang="en-US" sz="2400" dirty="0"/>
              <a:t>to P</a:t>
            </a:r>
            <a:r>
              <a:rPr lang="en-US" altLang="en-US" sz="2400" baseline="-25000" dirty="0"/>
              <a:t>1</a:t>
            </a:r>
          </a:p>
          <a:p>
            <a:pPr marL="914400" lvl="1" indent="-457200">
              <a:spcBef>
                <a:spcPct val="15000"/>
              </a:spcBef>
              <a:buFont typeface="+mj-lt"/>
              <a:buAutoNum type="arabicPeriod"/>
              <a:defRPr/>
            </a:pPr>
            <a:r>
              <a:rPr lang="en-US" altLang="en-US" sz="2400" dirty="0"/>
              <a:t>P</a:t>
            </a:r>
            <a:r>
              <a:rPr lang="en-US" altLang="en-US" sz="2400" baseline="-25000" dirty="0"/>
              <a:t>1</a:t>
            </a:r>
            <a:r>
              <a:rPr lang="en-US" altLang="en-US" sz="2400" dirty="0"/>
              <a:t> executes </a:t>
            </a:r>
            <a:r>
              <a:rPr lang="en-US" altLang="en-US" sz="2400" b="1" dirty="0">
                <a:solidFill>
                  <a:schemeClr val="accent1">
                    <a:lumMod val="75000"/>
                  </a:schemeClr>
                </a:solidFill>
              </a:rPr>
              <a:t>Wait(1); </a:t>
            </a:r>
            <a:r>
              <a:rPr lang="en-US" altLang="en-US" sz="2400" dirty="0"/>
              <a:t>and then </a:t>
            </a:r>
            <a:r>
              <a:rPr lang="en-US" altLang="en-US" sz="2400" b="1" dirty="0"/>
              <a:t>context switch </a:t>
            </a:r>
            <a:r>
              <a:rPr lang="en-US" altLang="en-US" sz="2400" dirty="0"/>
              <a:t>to P</a:t>
            </a:r>
            <a:r>
              <a:rPr lang="en-US" altLang="en-US" sz="2400" baseline="-25000" dirty="0"/>
              <a:t>2</a:t>
            </a:r>
          </a:p>
          <a:p>
            <a:pPr marL="914400" lvl="1" indent="-457200">
              <a:spcBef>
                <a:spcPct val="15000"/>
              </a:spcBef>
              <a:buFont typeface="+mj-lt"/>
              <a:buAutoNum type="arabicPeriod"/>
              <a:defRPr/>
            </a:pPr>
            <a:r>
              <a:rPr lang="en-US" altLang="en-US" sz="2400" dirty="0"/>
              <a:t>P</a:t>
            </a:r>
            <a:r>
              <a:rPr lang="en-US" altLang="en-US" sz="2400" baseline="-25000" dirty="0"/>
              <a:t>2</a:t>
            </a:r>
            <a:r>
              <a:rPr lang="en-US" altLang="en-US" sz="2400" dirty="0"/>
              <a:t> executes </a:t>
            </a:r>
            <a:r>
              <a:rPr lang="en-US" altLang="en-US" sz="2400" b="1" dirty="0">
                <a:solidFill>
                  <a:schemeClr val="accent1">
                    <a:lumMod val="75000"/>
                  </a:schemeClr>
                </a:solidFill>
              </a:rPr>
              <a:t>Wait(2); </a:t>
            </a:r>
            <a:r>
              <a:rPr lang="en-US" altLang="en-US" sz="2400" dirty="0"/>
              <a:t>and then </a:t>
            </a:r>
            <a:r>
              <a:rPr lang="en-US" altLang="en-US" sz="2400" b="1" dirty="0"/>
              <a:t>context switch </a:t>
            </a:r>
            <a:r>
              <a:rPr lang="en-US" altLang="en-US" sz="2400" dirty="0"/>
              <a:t>to P</a:t>
            </a:r>
            <a:r>
              <a:rPr lang="en-US" altLang="en-US" sz="2400" baseline="-25000" dirty="0"/>
              <a:t>3</a:t>
            </a:r>
            <a:endParaRPr lang="en-US" altLang="en-US" sz="2400" b="1" baseline="-25000" dirty="0"/>
          </a:p>
          <a:p>
            <a:pPr marL="914400" lvl="1" indent="-457200">
              <a:spcBef>
                <a:spcPct val="15000"/>
              </a:spcBef>
              <a:buFont typeface="+mj-lt"/>
              <a:buAutoNum type="arabicPeriod"/>
              <a:defRPr/>
            </a:pPr>
            <a:r>
              <a:rPr lang="en-US" altLang="en-US" sz="2400" dirty="0"/>
              <a:t>P</a:t>
            </a:r>
            <a:r>
              <a:rPr lang="en-US" altLang="en-US" sz="2400" baseline="-25000" dirty="0"/>
              <a:t>3</a:t>
            </a:r>
            <a:r>
              <a:rPr lang="en-US" altLang="en-US" sz="2400" dirty="0"/>
              <a:t> executes </a:t>
            </a:r>
            <a:r>
              <a:rPr lang="en-US" altLang="en-US" sz="2400" b="1" dirty="0">
                <a:solidFill>
                  <a:schemeClr val="accent1">
                    <a:lumMod val="75000"/>
                  </a:schemeClr>
                </a:solidFill>
              </a:rPr>
              <a:t>Wait(3); </a:t>
            </a:r>
            <a:r>
              <a:rPr lang="en-US" altLang="en-US" sz="2400" dirty="0"/>
              <a:t>and then </a:t>
            </a:r>
            <a:r>
              <a:rPr lang="en-US" altLang="en-US" sz="2400" b="1" dirty="0"/>
              <a:t>context switch </a:t>
            </a:r>
            <a:r>
              <a:rPr lang="en-US" altLang="en-US" sz="2400" dirty="0"/>
              <a:t>to P</a:t>
            </a:r>
            <a:r>
              <a:rPr lang="en-US" altLang="en-US" sz="2400" baseline="-25000" dirty="0"/>
              <a:t>4</a:t>
            </a:r>
            <a:endParaRPr lang="en-US" altLang="en-US" sz="2400" b="1" baseline="-25000" dirty="0"/>
          </a:p>
          <a:p>
            <a:pPr marL="914400" lvl="1" indent="-457200">
              <a:spcBef>
                <a:spcPct val="15000"/>
              </a:spcBef>
              <a:buFont typeface="+mj-lt"/>
              <a:buAutoNum type="arabicPeriod"/>
              <a:defRPr/>
            </a:pPr>
            <a:r>
              <a:rPr lang="en-US" altLang="en-US" sz="2400" dirty="0"/>
              <a:t>P</a:t>
            </a:r>
            <a:r>
              <a:rPr lang="en-US" altLang="en-US" sz="2400" baseline="-25000" dirty="0"/>
              <a:t>4</a:t>
            </a:r>
            <a:r>
              <a:rPr lang="en-US" altLang="en-US" sz="2400" dirty="0"/>
              <a:t> executes </a:t>
            </a:r>
            <a:r>
              <a:rPr lang="en-US" altLang="en-US" sz="2400" b="1" dirty="0">
                <a:solidFill>
                  <a:schemeClr val="accent1">
                    <a:lumMod val="75000"/>
                  </a:schemeClr>
                </a:solidFill>
              </a:rPr>
              <a:t>Wait(4);</a:t>
            </a:r>
            <a:endParaRPr lang="en-US" altLang="en-US" sz="2400" b="1" dirty="0"/>
          </a:p>
          <a:p>
            <a:pPr marL="914400" lvl="1" indent="-457200">
              <a:spcBef>
                <a:spcPct val="15000"/>
              </a:spcBef>
              <a:buFont typeface="+mj-lt"/>
              <a:buAutoNum type="arabicPeriod"/>
              <a:defRPr/>
            </a:pPr>
            <a:endParaRPr lang="en-US" altLang="en-US" sz="2400" b="1" dirty="0"/>
          </a:p>
          <a:p>
            <a:pPr marL="0" indent="0" algn="ctr">
              <a:spcBef>
                <a:spcPct val="15000"/>
              </a:spcBef>
              <a:buFontTx/>
              <a:buNone/>
              <a:defRPr/>
            </a:pPr>
            <a:r>
              <a:rPr lang="en-US" altLang="en-US" sz="2400" b="1" dirty="0">
                <a:solidFill>
                  <a:srgbClr val="FF0000"/>
                </a:solidFill>
              </a:rPr>
              <a:t>Each philosopher has 1 chopstick and needs another to eat Deadlock!</a:t>
            </a:r>
          </a:p>
          <a:p>
            <a:pPr marL="1028700" lvl="1" indent="-514350">
              <a:spcBef>
                <a:spcPct val="15000"/>
              </a:spcBef>
              <a:buFont typeface="+mj-lt"/>
              <a:buAutoNum type="arabicPeriod"/>
              <a:defRPr/>
            </a:pPr>
            <a:endParaRPr lang="en-US" altLang="en-US" sz="2800" dirty="0">
              <a:solidFill>
                <a:srgbClr val="FF0000"/>
              </a:solidFill>
            </a:endParaRPr>
          </a:p>
          <a:p>
            <a:pPr>
              <a:spcBef>
                <a:spcPct val="15000"/>
              </a:spcBef>
              <a:buFontTx/>
              <a:buNone/>
              <a:defRPr/>
            </a:pPr>
            <a:endParaRPr lang="en-US" altLang="en-US" sz="1000" dirty="0"/>
          </a:p>
          <a:p>
            <a:pPr>
              <a:buFontTx/>
              <a:buNone/>
              <a:defRPr/>
            </a:pPr>
            <a:endParaRPr lang="en-US"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752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52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52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52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752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7524">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752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5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Footer Placeholder 1">
            <a:extLst>
              <a:ext uri="{FF2B5EF4-FFF2-40B4-BE49-F238E27FC236}">
                <a16:creationId xmlns:a16="http://schemas.microsoft.com/office/drawing/2014/main" id="{203E53F8-1729-4EFB-B376-1B69C3E860B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7107" name="Rectangle 1026">
            <a:extLst>
              <a:ext uri="{FF2B5EF4-FFF2-40B4-BE49-F238E27FC236}">
                <a16:creationId xmlns:a16="http://schemas.microsoft.com/office/drawing/2014/main" id="{D427120E-1181-4F7C-8039-948AE918D382}"/>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11619" name="Rectangle 1027">
            <a:extLst>
              <a:ext uri="{FF2B5EF4-FFF2-40B4-BE49-F238E27FC236}">
                <a16:creationId xmlns:a16="http://schemas.microsoft.com/office/drawing/2014/main" id="{62F2B2B3-CB4B-46F8-A244-BACFA55998B7}"/>
              </a:ext>
            </a:extLst>
          </p:cNvPr>
          <p:cNvSpPr>
            <a:spLocks noChangeArrowheads="1"/>
          </p:cNvSpPr>
          <p:nvPr/>
        </p:nvSpPr>
        <p:spPr bwMode="auto">
          <a:xfrm>
            <a:off x="1162050" y="495300"/>
            <a:ext cx="7129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b="1">
                <a:solidFill>
                  <a:schemeClr val="tx2"/>
                </a:solidFill>
              </a:rPr>
              <a:t>Dining-Philosophers Problem (Cont.)</a:t>
            </a:r>
          </a:p>
        </p:txBody>
      </p:sp>
      <p:sp>
        <p:nvSpPr>
          <p:cNvPr id="110596" name="Rectangle 1028">
            <a:extLst>
              <a:ext uri="{FF2B5EF4-FFF2-40B4-BE49-F238E27FC236}">
                <a16:creationId xmlns:a16="http://schemas.microsoft.com/office/drawing/2014/main" id="{1AE51AF7-7B6D-4850-A34E-FBBE96BF3490}"/>
              </a:ext>
            </a:extLst>
          </p:cNvPr>
          <p:cNvSpPr>
            <a:spLocks noChangeArrowheads="1"/>
          </p:cNvSpPr>
          <p:nvPr/>
        </p:nvSpPr>
        <p:spPr bwMode="auto">
          <a:xfrm>
            <a:off x="492125" y="1193800"/>
            <a:ext cx="8312150"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525" indent="-9525">
              <a:spcBef>
                <a:spcPct val="50000"/>
              </a:spcBef>
              <a:buSzPct val="140000"/>
              <a:buChar char="•"/>
              <a:tabLst>
                <a:tab pos="3148013" algn="ctr"/>
              </a:tabLst>
              <a:defRPr>
                <a:solidFill>
                  <a:schemeClr val="tx1"/>
                </a:solidFill>
                <a:latin typeface="Helvetica" panose="020B0604020202020204" pitchFamily="34" charset="0"/>
              </a:defRPr>
            </a:lvl1pPr>
            <a:lvl2pPr marL="742950" indent="-285750">
              <a:spcBef>
                <a:spcPct val="20000"/>
              </a:spcBef>
              <a:buChar char="–"/>
              <a:tabLst>
                <a:tab pos="3148013" algn="ctr"/>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3148013" algn="ctr"/>
              </a:tabLst>
              <a:defRPr i="1">
                <a:solidFill>
                  <a:schemeClr val="tx1"/>
                </a:solidFill>
                <a:latin typeface="Helvetica" panose="020B0604020202020204" pitchFamily="34" charset="0"/>
              </a:defRPr>
            </a:lvl3pPr>
            <a:lvl4pPr marL="1600200" indent="-228600">
              <a:spcBef>
                <a:spcPct val="20000"/>
              </a:spcBef>
              <a:buChar char="–"/>
              <a:tabLst>
                <a:tab pos="3148013" algn="ctr"/>
              </a:tabLst>
              <a:defRPr>
                <a:solidFill>
                  <a:schemeClr val="tx1"/>
                </a:solidFill>
                <a:latin typeface="Helvetica" panose="020B0604020202020204" pitchFamily="34" charset="0"/>
              </a:defRPr>
            </a:lvl4pPr>
            <a:lvl5pPr marL="2057400" indent="-228600">
              <a:spcBef>
                <a:spcPct val="20000"/>
              </a:spcBef>
              <a:buChar char="»"/>
              <a:tabLst>
                <a:tab pos="3148013" algn="ctr"/>
              </a:tabLst>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3148013" algn="ctr"/>
              </a:tabLst>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3148013" algn="ctr"/>
              </a:tabLst>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3148013" algn="ctr"/>
              </a:tabLst>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3148013" algn="ctr"/>
              </a:tabLst>
              <a:defRPr sz="1200">
                <a:solidFill>
                  <a:schemeClr val="tx1"/>
                </a:solidFill>
                <a:latin typeface="Helvetica" panose="020B0604020202020204" pitchFamily="34" charset="0"/>
              </a:defRPr>
            </a:lvl9pPr>
          </a:lstStyle>
          <a:p>
            <a:pPr>
              <a:lnSpc>
                <a:spcPct val="80000"/>
              </a:lnSpc>
              <a:buFontTx/>
              <a:buNone/>
            </a:pPr>
            <a:r>
              <a:rPr lang="en-US" altLang="en-US" sz="2800">
                <a:solidFill>
                  <a:srgbClr val="FF0000"/>
                </a:solidFill>
              </a:rPr>
              <a:t>There are several possible remedies to avoid the above deadlock problem</a:t>
            </a:r>
            <a:endParaRPr lang="en-US" altLang="en-US" sz="2800"/>
          </a:p>
          <a:p>
            <a:pPr lvl="4">
              <a:lnSpc>
                <a:spcPct val="80000"/>
              </a:lnSpc>
            </a:pPr>
            <a:endParaRPr lang="en-US" altLang="en-US" sz="1800"/>
          </a:p>
          <a:p>
            <a:pPr lvl="1">
              <a:lnSpc>
                <a:spcPct val="80000"/>
              </a:lnSpc>
            </a:pPr>
            <a:r>
              <a:rPr lang="en-US" altLang="en-US" sz="2800"/>
              <a:t>Allow at most four philosophers to be hungry simultaneously</a:t>
            </a:r>
          </a:p>
          <a:p>
            <a:pPr lvl="4">
              <a:lnSpc>
                <a:spcPct val="80000"/>
              </a:lnSpc>
            </a:pPr>
            <a:endParaRPr lang="en-US" altLang="en-US" sz="2200"/>
          </a:p>
          <a:p>
            <a:pPr lvl="1">
              <a:lnSpc>
                <a:spcPct val="80000"/>
              </a:lnSpc>
            </a:pPr>
            <a:r>
              <a:rPr lang="en-US" altLang="en-US" sz="2800"/>
              <a:t>Allow a philosopher to pick up his chopsticks only if both chopsticks are available</a:t>
            </a:r>
          </a:p>
          <a:p>
            <a:pPr lvl="4">
              <a:lnSpc>
                <a:spcPct val="80000"/>
              </a:lnSpc>
            </a:pPr>
            <a:endParaRPr lang="en-US" altLang="en-US" sz="2200"/>
          </a:p>
          <a:p>
            <a:pPr lvl="1">
              <a:lnSpc>
                <a:spcPct val="80000"/>
              </a:lnSpc>
            </a:pPr>
            <a:r>
              <a:rPr lang="en-US" altLang="en-US" sz="2800"/>
              <a:t>Use an asymmetric solution</a:t>
            </a:r>
            <a:endParaRPr lang="en-US" altLang="en-US"/>
          </a:p>
          <a:p>
            <a:pPr lvl="2">
              <a:lnSpc>
                <a:spcPct val="80000"/>
              </a:lnSpc>
            </a:pPr>
            <a:r>
              <a:rPr lang="en-US" altLang="en-US" sz="2400" i="0"/>
              <a:t>An </a:t>
            </a:r>
            <a:r>
              <a:rPr lang="en-US" altLang="en-US" sz="2400" i="0">
                <a:solidFill>
                  <a:schemeClr val="accent2"/>
                </a:solidFill>
              </a:rPr>
              <a:t>odd</a:t>
            </a:r>
            <a:r>
              <a:rPr lang="en-US" altLang="en-US" sz="2400" i="0"/>
              <a:t> philosopher picks up </a:t>
            </a:r>
            <a:r>
              <a:rPr lang="en-US" altLang="en-US" sz="2400" i="0">
                <a:solidFill>
                  <a:schemeClr val="accent2"/>
                </a:solidFill>
              </a:rPr>
              <a:t>first his left chopstick </a:t>
            </a:r>
            <a:r>
              <a:rPr lang="en-US" altLang="en-US" sz="2400" i="0"/>
              <a:t>and </a:t>
            </a:r>
            <a:r>
              <a:rPr lang="en-US" altLang="en-US" sz="2400" i="0">
                <a:solidFill>
                  <a:schemeClr val="accent2"/>
                </a:solidFill>
              </a:rPr>
              <a:t>then his right chopstick</a:t>
            </a:r>
            <a:endParaRPr lang="en-US" altLang="en-US" i="0"/>
          </a:p>
          <a:p>
            <a:pPr lvl="2">
              <a:lnSpc>
                <a:spcPct val="80000"/>
              </a:lnSpc>
            </a:pPr>
            <a:r>
              <a:rPr lang="en-US" altLang="en-US" sz="2400" i="0"/>
              <a:t>An </a:t>
            </a:r>
            <a:r>
              <a:rPr lang="en-US" altLang="en-US" sz="2400" i="0">
                <a:solidFill>
                  <a:srgbClr val="FF0000"/>
                </a:solidFill>
              </a:rPr>
              <a:t>even</a:t>
            </a:r>
            <a:r>
              <a:rPr lang="en-US" altLang="en-US" sz="2400" i="0">
                <a:solidFill>
                  <a:schemeClr val="accent2"/>
                </a:solidFill>
              </a:rPr>
              <a:t> </a:t>
            </a:r>
            <a:r>
              <a:rPr lang="en-US" altLang="en-US" sz="2400" i="0"/>
              <a:t>philosopher picks up </a:t>
            </a:r>
            <a:r>
              <a:rPr lang="en-US" altLang="en-US" sz="2400" i="0">
                <a:solidFill>
                  <a:srgbClr val="FF0000"/>
                </a:solidFill>
              </a:rPr>
              <a:t>first his right chopstick</a:t>
            </a:r>
            <a:r>
              <a:rPr lang="en-US" altLang="en-US" sz="2400" i="0">
                <a:solidFill>
                  <a:schemeClr val="accent2"/>
                </a:solidFill>
              </a:rPr>
              <a:t> </a:t>
            </a:r>
            <a:r>
              <a:rPr lang="en-US" altLang="en-US" sz="2400" i="0"/>
              <a:t>and </a:t>
            </a:r>
            <a:r>
              <a:rPr lang="en-US" altLang="en-US" sz="2400" i="0">
                <a:solidFill>
                  <a:srgbClr val="FF0000"/>
                </a:solidFill>
              </a:rPr>
              <a:t>then his left chopstick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0596">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059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59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059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Footer Placeholder 3">
            <a:extLst>
              <a:ext uri="{FF2B5EF4-FFF2-40B4-BE49-F238E27FC236}">
                <a16:creationId xmlns:a16="http://schemas.microsoft.com/office/drawing/2014/main" id="{4CC5DEBC-C69C-4901-BBF6-1269C171A3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8131" name="Rectangle 4">
            <a:extLst>
              <a:ext uri="{FF2B5EF4-FFF2-40B4-BE49-F238E27FC236}">
                <a16:creationId xmlns:a16="http://schemas.microsoft.com/office/drawing/2014/main" id="{9EB05035-BB86-4483-B153-8E14080BD555}"/>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13667" name="Rectangle 2">
            <a:extLst>
              <a:ext uri="{FF2B5EF4-FFF2-40B4-BE49-F238E27FC236}">
                <a16:creationId xmlns:a16="http://schemas.microsoft.com/office/drawing/2014/main" id="{BEEC16E8-A2EB-492B-A020-2F874BE38BAE}"/>
              </a:ext>
            </a:extLst>
          </p:cNvPr>
          <p:cNvSpPr>
            <a:spLocks noGrp="1" noChangeArrowheads="1"/>
          </p:cNvSpPr>
          <p:nvPr>
            <p:ph type="title"/>
          </p:nvPr>
        </p:nvSpPr>
        <p:spPr/>
        <p:txBody>
          <a:bodyPr/>
          <a:lstStyle/>
          <a:p>
            <a:r>
              <a:rPr lang="en-US" altLang="en-US"/>
              <a:t>Readers-Writers Problem</a:t>
            </a:r>
          </a:p>
        </p:txBody>
      </p:sp>
      <p:sp>
        <p:nvSpPr>
          <p:cNvPr id="46085" name="Rectangle 3">
            <a:extLst>
              <a:ext uri="{FF2B5EF4-FFF2-40B4-BE49-F238E27FC236}">
                <a16:creationId xmlns:a16="http://schemas.microsoft.com/office/drawing/2014/main" id="{723E1FA9-4F37-40F1-81FA-281B2A33438B}"/>
              </a:ext>
            </a:extLst>
          </p:cNvPr>
          <p:cNvSpPr>
            <a:spLocks noGrp="1" noChangeArrowheads="1"/>
          </p:cNvSpPr>
          <p:nvPr>
            <p:ph type="body" idx="1"/>
          </p:nvPr>
        </p:nvSpPr>
        <p:spPr>
          <a:xfrm>
            <a:off x="350838" y="1128713"/>
            <a:ext cx="8656637" cy="4813300"/>
          </a:xfrm>
        </p:spPr>
        <p:txBody>
          <a:bodyPr/>
          <a:lstStyle/>
          <a:p>
            <a:pPr>
              <a:lnSpc>
                <a:spcPct val="80000"/>
              </a:lnSpc>
              <a:spcBef>
                <a:spcPct val="15000"/>
              </a:spcBef>
              <a:tabLst>
                <a:tab pos="2232025" algn="l"/>
                <a:tab pos="2513013" algn="l"/>
                <a:tab pos="2857500" algn="l"/>
              </a:tabLst>
              <a:defRPr/>
            </a:pPr>
            <a:r>
              <a:rPr lang="en-US" altLang="en-US" sz="2800" dirty="0"/>
              <a:t>Problem: Scenario in a database or file</a:t>
            </a:r>
          </a:p>
          <a:p>
            <a:pPr lvl="1">
              <a:lnSpc>
                <a:spcPct val="80000"/>
              </a:lnSpc>
              <a:spcBef>
                <a:spcPct val="15000"/>
              </a:spcBef>
              <a:tabLst>
                <a:tab pos="2232025" algn="l"/>
                <a:tab pos="2513013" algn="l"/>
                <a:tab pos="2857500" algn="l"/>
              </a:tabLst>
              <a:defRPr/>
            </a:pPr>
            <a:r>
              <a:rPr lang="en-US" altLang="en-US" sz="2400" dirty="0"/>
              <a:t>A writer requires exclusive access</a:t>
            </a:r>
          </a:p>
          <a:p>
            <a:pPr lvl="1">
              <a:lnSpc>
                <a:spcPct val="80000"/>
              </a:lnSpc>
              <a:spcBef>
                <a:spcPct val="15000"/>
              </a:spcBef>
              <a:tabLst>
                <a:tab pos="2232025" algn="l"/>
                <a:tab pos="2513013" algn="l"/>
                <a:tab pos="2857500" algn="l"/>
              </a:tabLst>
              <a:defRPr/>
            </a:pPr>
            <a:r>
              <a:rPr lang="en-US" altLang="en-US" sz="2400" dirty="0"/>
              <a:t>Multiple readers can concurrently access</a:t>
            </a:r>
          </a:p>
          <a:p>
            <a:pPr lvl="2">
              <a:lnSpc>
                <a:spcPct val="80000"/>
              </a:lnSpc>
              <a:spcBef>
                <a:spcPct val="15000"/>
              </a:spcBef>
              <a:buFont typeface="Monotype Sorts" charset="2"/>
              <a:buChar char="T"/>
              <a:tabLst>
                <a:tab pos="2232025" algn="l"/>
                <a:tab pos="2513013" algn="l"/>
                <a:tab pos="2857500" algn="l"/>
              </a:tabLst>
              <a:defRPr/>
            </a:pPr>
            <a:r>
              <a:rPr lang="en-US" altLang="en-US" sz="2000" i="0" dirty="0">
                <a:solidFill>
                  <a:schemeClr val="accent2"/>
                </a:solidFill>
              </a:rPr>
              <a:t>The first reader:</a:t>
            </a:r>
            <a:r>
              <a:rPr lang="en-US" altLang="en-US" sz="2000" i="0" dirty="0"/>
              <a:t> Before reading, it must </a:t>
            </a:r>
            <a:r>
              <a:rPr lang="en-US" altLang="en-US" sz="2000" b="1" i="0" dirty="0"/>
              <a:t>block the writers</a:t>
            </a:r>
          </a:p>
          <a:p>
            <a:pPr lvl="2">
              <a:lnSpc>
                <a:spcPct val="80000"/>
              </a:lnSpc>
              <a:spcBef>
                <a:spcPct val="15000"/>
              </a:spcBef>
              <a:buFont typeface="Monotype Sorts" charset="2"/>
              <a:buChar char="T"/>
              <a:tabLst>
                <a:tab pos="2232025" algn="l"/>
                <a:tab pos="2513013" algn="l"/>
                <a:tab pos="2857500" algn="l"/>
              </a:tabLst>
              <a:defRPr/>
            </a:pPr>
            <a:r>
              <a:rPr lang="en-US" altLang="en-US" sz="2000" i="0" dirty="0">
                <a:solidFill>
                  <a:schemeClr val="accent2"/>
                </a:solidFill>
              </a:rPr>
              <a:t>The last reader: </a:t>
            </a:r>
            <a:r>
              <a:rPr lang="en-US" altLang="en-US" sz="2000" i="0" dirty="0"/>
              <a:t>After reading, it can </a:t>
            </a:r>
            <a:r>
              <a:rPr lang="en-US" altLang="en-US" sz="2000" b="1" i="0" dirty="0"/>
              <a:t>allow writers</a:t>
            </a:r>
          </a:p>
          <a:p>
            <a:pPr lvl="2">
              <a:lnSpc>
                <a:spcPct val="80000"/>
              </a:lnSpc>
              <a:spcBef>
                <a:spcPct val="15000"/>
              </a:spcBef>
              <a:buFont typeface="Monotype Sorts" charset="2"/>
              <a:buChar char="T"/>
              <a:tabLst>
                <a:tab pos="2232025" algn="l"/>
                <a:tab pos="2513013" algn="l"/>
                <a:tab pos="2857500" algn="l"/>
              </a:tabLst>
              <a:defRPr/>
            </a:pPr>
            <a:r>
              <a:rPr lang="en-US" altLang="en-US" sz="2000" i="0" dirty="0">
                <a:solidFill>
                  <a:schemeClr val="accent2"/>
                </a:solidFill>
              </a:rPr>
              <a:t>Readers given preference </a:t>
            </a:r>
            <a:r>
              <a:rPr lang="en-US" altLang="en-US" sz="2000" i="0" dirty="0"/>
              <a:t>(writer preference also possible)</a:t>
            </a:r>
          </a:p>
          <a:p>
            <a:pPr lvl="2">
              <a:lnSpc>
                <a:spcPct val="80000"/>
              </a:lnSpc>
              <a:spcBef>
                <a:spcPct val="15000"/>
              </a:spcBef>
              <a:buFont typeface="Monotype Sorts" charset="2"/>
              <a:buChar char="T"/>
              <a:tabLst>
                <a:tab pos="2232025" algn="l"/>
                <a:tab pos="2513013" algn="l"/>
                <a:tab pos="2857500" algn="l"/>
              </a:tabLst>
              <a:defRPr/>
            </a:pPr>
            <a:endParaRPr lang="en-US" altLang="en-US" sz="2000" i="0" dirty="0"/>
          </a:p>
          <a:p>
            <a:pPr lvl="4">
              <a:lnSpc>
                <a:spcPct val="80000"/>
              </a:lnSpc>
              <a:spcBef>
                <a:spcPct val="15000"/>
              </a:spcBef>
              <a:tabLst>
                <a:tab pos="2232025" algn="l"/>
                <a:tab pos="2513013" algn="l"/>
                <a:tab pos="2857500" algn="l"/>
              </a:tabLst>
              <a:defRPr/>
            </a:pPr>
            <a:endParaRPr lang="en-US" altLang="en-US" sz="2000" dirty="0"/>
          </a:p>
          <a:p>
            <a:pPr>
              <a:lnSpc>
                <a:spcPct val="80000"/>
              </a:lnSpc>
              <a:spcBef>
                <a:spcPct val="15000"/>
              </a:spcBef>
              <a:tabLst>
                <a:tab pos="2232025" algn="l"/>
                <a:tab pos="2513013" algn="l"/>
                <a:tab pos="2857500" algn="l"/>
              </a:tabLst>
              <a:defRPr/>
            </a:pPr>
            <a:r>
              <a:rPr lang="en-US" altLang="en-US" sz="2800" dirty="0"/>
              <a:t>Shared data</a:t>
            </a:r>
          </a:p>
          <a:p>
            <a:pPr lvl="1">
              <a:lnSpc>
                <a:spcPct val="80000"/>
              </a:lnSpc>
              <a:spcBef>
                <a:spcPct val="15000"/>
              </a:spcBef>
              <a:tabLst>
                <a:tab pos="2232025" algn="l"/>
                <a:tab pos="2513013" algn="l"/>
                <a:tab pos="2857500" algn="l"/>
              </a:tabLst>
              <a:defRPr/>
            </a:pPr>
            <a:r>
              <a:rPr lang="en-US" altLang="en-US" sz="2400" b="1" dirty="0" err="1">
                <a:solidFill>
                  <a:schemeClr val="accent1">
                    <a:lumMod val="75000"/>
                  </a:schemeClr>
                </a:solidFill>
              </a:rPr>
              <a:t>int</a:t>
            </a:r>
            <a:r>
              <a:rPr lang="en-US" altLang="en-US" sz="2400" b="1" dirty="0">
                <a:solidFill>
                  <a:schemeClr val="accent1">
                    <a:lumMod val="75000"/>
                  </a:schemeClr>
                </a:solidFill>
              </a:rPr>
              <a:t> </a:t>
            </a:r>
            <a:r>
              <a:rPr lang="en-US" altLang="en-US" sz="2400" b="1" i="1" dirty="0" err="1">
                <a:solidFill>
                  <a:schemeClr val="accent1">
                    <a:lumMod val="75000"/>
                  </a:schemeClr>
                </a:solidFill>
              </a:rPr>
              <a:t>readcount</a:t>
            </a:r>
            <a:r>
              <a:rPr lang="en-US" altLang="en-US" sz="2400" b="1" i="1" dirty="0">
                <a:solidFill>
                  <a:schemeClr val="accent1">
                    <a:lumMod val="75000"/>
                  </a:schemeClr>
                </a:solidFill>
              </a:rPr>
              <a:t> </a:t>
            </a:r>
            <a:r>
              <a:rPr lang="en-US" altLang="en-US" sz="2400" b="1" dirty="0">
                <a:solidFill>
                  <a:schemeClr val="accent1">
                    <a:lumMod val="75000"/>
                  </a:schemeClr>
                </a:solidFill>
              </a:rPr>
              <a:t>=0;  </a:t>
            </a:r>
            <a:r>
              <a:rPr lang="en-US" altLang="en-US" sz="2400" dirty="0"/>
              <a:t>// Tracks #readers in the database</a:t>
            </a:r>
          </a:p>
          <a:p>
            <a:pPr lvl="1">
              <a:lnSpc>
                <a:spcPct val="80000"/>
              </a:lnSpc>
              <a:spcBef>
                <a:spcPct val="15000"/>
              </a:spcBef>
              <a:tabLst>
                <a:tab pos="2232025" algn="l"/>
                <a:tab pos="2513013" algn="l"/>
                <a:tab pos="2857500" algn="l"/>
              </a:tabLst>
              <a:defRPr/>
            </a:pPr>
            <a:r>
              <a:rPr lang="en-US" altLang="en-US" sz="2400" dirty="0"/>
              <a:t>Database itself</a:t>
            </a:r>
          </a:p>
          <a:p>
            <a:pPr lvl="4">
              <a:lnSpc>
                <a:spcPct val="80000"/>
              </a:lnSpc>
              <a:spcBef>
                <a:spcPct val="15000"/>
              </a:spcBef>
              <a:tabLst>
                <a:tab pos="2232025" algn="l"/>
                <a:tab pos="2513013" algn="l"/>
                <a:tab pos="2857500" algn="l"/>
              </a:tabLst>
              <a:defRPr/>
            </a:pPr>
            <a:endParaRPr lang="en-US" altLang="en-US" sz="2000" dirty="0"/>
          </a:p>
          <a:p>
            <a:pPr>
              <a:lnSpc>
                <a:spcPct val="80000"/>
              </a:lnSpc>
              <a:spcBef>
                <a:spcPct val="15000"/>
              </a:spcBef>
              <a:tabLst>
                <a:tab pos="2232025" algn="l"/>
                <a:tab pos="2513013" algn="l"/>
                <a:tab pos="2857500" algn="l"/>
              </a:tabLst>
              <a:defRPr/>
            </a:pPr>
            <a:r>
              <a:rPr lang="en-US" altLang="en-US" sz="2800" dirty="0"/>
              <a:t>Semaphores to be used</a:t>
            </a:r>
          </a:p>
          <a:p>
            <a:pPr lvl="1">
              <a:lnSpc>
                <a:spcPct val="80000"/>
              </a:lnSpc>
              <a:spcBef>
                <a:spcPct val="15000"/>
              </a:spcBef>
              <a:tabLst>
                <a:tab pos="2232025" algn="l"/>
                <a:tab pos="2513013" algn="l"/>
                <a:tab pos="2857500" algn="l"/>
              </a:tabLst>
              <a:defRPr/>
            </a:pPr>
            <a:r>
              <a:rPr lang="en-US" altLang="en-US" sz="2600" b="1" dirty="0" err="1">
                <a:solidFill>
                  <a:schemeClr val="accent1">
                    <a:lumMod val="75000"/>
                  </a:schemeClr>
                </a:solidFill>
              </a:rPr>
              <a:t>mutex</a:t>
            </a:r>
            <a:r>
              <a:rPr lang="en-US" altLang="en-US" sz="2600" b="1" dirty="0">
                <a:solidFill>
                  <a:schemeClr val="accent1">
                    <a:lumMod val="75000"/>
                  </a:schemeClr>
                </a:solidFill>
              </a:rPr>
              <a:t>=1;</a:t>
            </a:r>
          </a:p>
          <a:p>
            <a:pPr lvl="1">
              <a:lnSpc>
                <a:spcPct val="80000"/>
              </a:lnSpc>
              <a:spcBef>
                <a:spcPct val="15000"/>
              </a:spcBef>
              <a:tabLst>
                <a:tab pos="2232025" algn="l"/>
                <a:tab pos="2513013" algn="l"/>
                <a:tab pos="2857500" algn="l"/>
              </a:tabLst>
              <a:defRPr/>
            </a:pPr>
            <a:r>
              <a:rPr lang="en-US" altLang="en-US" sz="2600" b="1" dirty="0" err="1">
                <a:solidFill>
                  <a:schemeClr val="accent1">
                    <a:lumMod val="75000"/>
                  </a:schemeClr>
                </a:solidFill>
              </a:rPr>
              <a:t>wrt</a:t>
            </a:r>
            <a:r>
              <a:rPr lang="en-US" altLang="en-US" sz="2600" b="1" dirty="0">
                <a:solidFill>
                  <a:schemeClr val="accent1">
                    <a:lumMod val="75000"/>
                  </a:schemeClr>
                </a:solidFill>
              </a:rPr>
              <a:t>=1;  </a:t>
            </a:r>
          </a:p>
          <a:p>
            <a:pPr>
              <a:lnSpc>
                <a:spcPct val="80000"/>
              </a:lnSpc>
              <a:spcBef>
                <a:spcPct val="15000"/>
              </a:spcBef>
              <a:buFontTx/>
              <a:buNone/>
              <a:tabLst>
                <a:tab pos="2232025" algn="l"/>
                <a:tab pos="2513013" algn="l"/>
                <a:tab pos="2857500" algn="l"/>
              </a:tabLst>
              <a:defRPr/>
            </a:pPr>
            <a:endParaRPr lang="en-US" altLang="en-US" sz="2600" dirty="0"/>
          </a:p>
          <a:p>
            <a:pPr lvl="4">
              <a:lnSpc>
                <a:spcPct val="80000"/>
              </a:lnSpc>
              <a:spcBef>
                <a:spcPct val="15000"/>
              </a:spcBef>
              <a:tabLst>
                <a:tab pos="2232025" algn="l"/>
                <a:tab pos="2513013" algn="l"/>
                <a:tab pos="2857500" algn="l"/>
              </a:tabLst>
              <a:defRPr/>
            </a:pPr>
            <a:endParaRPr lang="en-US" altLang="en-US" sz="2000" dirty="0"/>
          </a:p>
        </p:txBody>
      </p:sp>
      <p:sp>
        <p:nvSpPr>
          <p:cNvPr id="8" name="TextBox 7">
            <a:extLst>
              <a:ext uri="{FF2B5EF4-FFF2-40B4-BE49-F238E27FC236}">
                <a16:creationId xmlns:a16="http://schemas.microsoft.com/office/drawing/2014/main" id="{BDEF1C43-5B6E-4F42-9FB9-71C70CB85CB0}"/>
              </a:ext>
            </a:extLst>
          </p:cNvPr>
          <p:cNvSpPr txBox="1">
            <a:spLocks noChangeArrowheads="1"/>
          </p:cNvSpPr>
          <p:nvPr/>
        </p:nvSpPr>
        <p:spPr bwMode="auto">
          <a:xfrm>
            <a:off x="3578225" y="5507038"/>
            <a:ext cx="5410200" cy="368300"/>
          </a:xfrm>
          <a:prstGeom prst="rect">
            <a:avLst/>
          </a:prstGeom>
          <a:noFill/>
          <a:ln>
            <a:noFill/>
          </a:ln>
        </p:spPr>
        <p:txBody>
          <a:bodyPr>
            <a:spAutoFit/>
          </a:bodyPr>
          <a:lstStyle>
            <a:lvl1pPr>
              <a:spcBef>
                <a:spcPct val="50000"/>
              </a:spcBef>
              <a:buSzPct val="140000"/>
              <a:buChar char="•"/>
              <a:defRPr>
                <a:solidFill>
                  <a:schemeClr val="tx1"/>
                </a:solidFill>
                <a:latin typeface="Helvetica" charset="0"/>
              </a:defRPr>
            </a:lvl1pPr>
            <a:lvl2pPr marL="742950" indent="-285750">
              <a:spcBef>
                <a:spcPct val="20000"/>
              </a:spcBef>
              <a:buChar char="–"/>
              <a:defRPr>
                <a:solidFill>
                  <a:schemeClr val="tx1"/>
                </a:solidFill>
                <a:latin typeface="Helvetica" charset="0"/>
              </a:defRPr>
            </a:lvl2pPr>
            <a:lvl3pPr marL="1143000" indent="-228600">
              <a:spcBef>
                <a:spcPct val="20000"/>
              </a:spcBef>
              <a:buSzPct val="85000"/>
              <a:buFont typeface="Monotype Sorts" charset="2"/>
              <a:buChar char="T"/>
              <a:defRPr i="1">
                <a:solidFill>
                  <a:schemeClr val="tx1"/>
                </a:solidFill>
                <a:latin typeface="Helvetica" charset="0"/>
              </a:defRPr>
            </a:lvl3pPr>
            <a:lvl4pPr marL="1600200" indent="-228600">
              <a:spcBef>
                <a:spcPct val="20000"/>
              </a:spcBef>
              <a:buChar char="–"/>
              <a:defRPr>
                <a:solidFill>
                  <a:schemeClr val="tx1"/>
                </a:solidFill>
                <a:latin typeface="Helvetica" charset="0"/>
              </a:defRPr>
            </a:lvl4pPr>
            <a:lvl5pPr marL="2057400" indent="-228600">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r>
              <a:rPr lang="en-US" altLang="en-US" dirty="0">
                <a:solidFill>
                  <a:srgbClr val="FF0000"/>
                </a:solidFill>
                <a:latin typeface="Comic Sans MS" charset="0"/>
              </a:rPr>
              <a:t>Binary semaphore protects access to </a:t>
            </a:r>
            <a:r>
              <a:rPr lang="en-US" altLang="en-US" b="1" dirty="0" err="1">
                <a:solidFill>
                  <a:schemeClr val="accent1">
                    <a:lumMod val="75000"/>
                  </a:schemeClr>
                </a:solidFill>
                <a:latin typeface="Comic Sans MS" charset="0"/>
              </a:rPr>
              <a:t>readcount</a:t>
            </a:r>
            <a:endParaRPr lang="en-US" altLang="en-US" b="1" dirty="0">
              <a:solidFill>
                <a:schemeClr val="accent1">
                  <a:lumMod val="75000"/>
                </a:schemeClr>
              </a:solidFill>
              <a:latin typeface="Comic Sans MS" charset="0"/>
            </a:endParaRPr>
          </a:p>
        </p:txBody>
      </p:sp>
      <p:cxnSp>
        <p:nvCxnSpPr>
          <p:cNvPr id="9" name="Curved Connector 8">
            <a:extLst>
              <a:ext uri="{FF2B5EF4-FFF2-40B4-BE49-F238E27FC236}">
                <a16:creationId xmlns:a16="http://schemas.microsoft.com/office/drawing/2014/main" id="{CC762BC4-9F79-4ECA-A8C1-D4EA8A27DD21}"/>
              </a:ext>
            </a:extLst>
          </p:cNvPr>
          <p:cNvCxnSpPr>
            <a:cxnSpLocks noChangeShapeType="1"/>
            <a:endCxn id="8" idx="1"/>
          </p:cNvCxnSpPr>
          <p:nvPr/>
        </p:nvCxnSpPr>
        <p:spPr bwMode="auto">
          <a:xfrm>
            <a:off x="2714625" y="5670550"/>
            <a:ext cx="863600" cy="20638"/>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C961FC9A-B3BF-4617-B9BD-42A26C9799AE}"/>
              </a:ext>
            </a:extLst>
          </p:cNvPr>
          <p:cNvSpPr txBox="1">
            <a:spLocks noChangeArrowheads="1"/>
          </p:cNvSpPr>
          <p:nvPr/>
        </p:nvSpPr>
        <p:spPr bwMode="auto">
          <a:xfrm>
            <a:off x="2957513" y="5918200"/>
            <a:ext cx="5807075" cy="369888"/>
          </a:xfrm>
          <a:prstGeom prst="rect">
            <a:avLst/>
          </a:prstGeom>
          <a:noFill/>
          <a:ln>
            <a:noFill/>
          </a:ln>
        </p:spPr>
        <p:txBody>
          <a:bodyPr>
            <a:spAutoFit/>
          </a:bodyPr>
          <a:lstStyle>
            <a:lvl1pPr>
              <a:spcBef>
                <a:spcPct val="50000"/>
              </a:spcBef>
              <a:buSzPct val="140000"/>
              <a:buChar char="•"/>
              <a:defRPr>
                <a:solidFill>
                  <a:schemeClr val="tx1"/>
                </a:solidFill>
                <a:latin typeface="Helvetica" charset="0"/>
              </a:defRPr>
            </a:lvl1pPr>
            <a:lvl2pPr marL="742950" indent="-285750">
              <a:spcBef>
                <a:spcPct val="20000"/>
              </a:spcBef>
              <a:buChar char="–"/>
              <a:defRPr>
                <a:solidFill>
                  <a:schemeClr val="tx1"/>
                </a:solidFill>
                <a:latin typeface="Helvetica" charset="0"/>
              </a:defRPr>
            </a:lvl2pPr>
            <a:lvl3pPr marL="1143000" indent="-228600">
              <a:spcBef>
                <a:spcPct val="20000"/>
              </a:spcBef>
              <a:buSzPct val="85000"/>
              <a:buFont typeface="Monotype Sorts" charset="2"/>
              <a:buChar char="T"/>
              <a:defRPr i="1">
                <a:solidFill>
                  <a:schemeClr val="tx1"/>
                </a:solidFill>
                <a:latin typeface="Helvetica" charset="0"/>
              </a:defRPr>
            </a:lvl3pPr>
            <a:lvl4pPr marL="1600200" indent="-228600">
              <a:spcBef>
                <a:spcPct val="20000"/>
              </a:spcBef>
              <a:buChar char="–"/>
              <a:defRPr>
                <a:solidFill>
                  <a:schemeClr val="tx1"/>
                </a:solidFill>
                <a:latin typeface="Helvetica" charset="0"/>
              </a:defRPr>
            </a:lvl4pPr>
            <a:lvl5pPr marL="2057400" indent="-228600">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r>
              <a:rPr lang="en-US" altLang="en-US" dirty="0">
                <a:solidFill>
                  <a:srgbClr val="FF0000"/>
                </a:solidFill>
                <a:latin typeface="Comic Sans MS" charset="0"/>
              </a:rPr>
              <a:t>Binary semaphore for mutual exclusion to database</a:t>
            </a:r>
            <a:endParaRPr lang="en-US" altLang="en-US" b="1" dirty="0">
              <a:solidFill>
                <a:schemeClr val="accent1">
                  <a:lumMod val="75000"/>
                </a:schemeClr>
              </a:solidFill>
              <a:latin typeface="Comic Sans MS" charset="0"/>
            </a:endParaRPr>
          </a:p>
        </p:txBody>
      </p:sp>
      <p:cxnSp>
        <p:nvCxnSpPr>
          <p:cNvPr id="16" name="Curved Connector 15">
            <a:extLst>
              <a:ext uri="{FF2B5EF4-FFF2-40B4-BE49-F238E27FC236}">
                <a16:creationId xmlns:a16="http://schemas.microsoft.com/office/drawing/2014/main" id="{885B9486-4A78-4BC3-AC1E-A86F8DB4B9F5}"/>
              </a:ext>
            </a:extLst>
          </p:cNvPr>
          <p:cNvCxnSpPr>
            <a:cxnSpLocks noChangeShapeType="1"/>
            <a:endCxn id="15" idx="1"/>
          </p:cNvCxnSpPr>
          <p:nvPr/>
        </p:nvCxnSpPr>
        <p:spPr bwMode="auto">
          <a:xfrm>
            <a:off x="2208213" y="6070600"/>
            <a:ext cx="749300" cy="33338"/>
          </a:xfrm>
          <a:prstGeom prst="curvedConnector3">
            <a:avLst>
              <a:gd name="adj1" fmla="val 50000"/>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24" name="TextBox 23">
            <a:extLst>
              <a:ext uri="{FF2B5EF4-FFF2-40B4-BE49-F238E27FC236}">
                <a16:creationId xmlns:a16="http://schemas.microsoft.com/office/drawing/2014/main" id="{2E70D382-5229-417B-B8F1-0BFDDF7774A1}"/>
              </a:ext>
            </a:extLst>
          </p:cNvPr>
          <p:cNvSpPr txBox="1">
            <a:spLocks noChangeArrowheads="1"/>
          </p:cNvSpPr>
          <p:nvPr/>
        </p:nvSpPr>
        <p:spPr bwMode="auto">
          <a:xfrm>
            <a:off x="2976563" y="3224213"/>
            <a:ext cx="6021387" cy="369887"/>
          </a:xfrm>
          <a:prstGeom prst="rect">
            <a:avLst/>
          </a:prstGeom>
          <a:noFill/>
          <a:ln>
            <a:noFill/>
          </a:ln>
        </p:spPr>
        <p:txBody>
          <a:bodyPr>
            <a:spAutoFit/>
          </a:bodyPr>
          <a:lstStyle>
            <a:lvl1pPr>
              <a:spcBef>
                <a:spcPct val="50000"/>
              </a:spcBef>
              <a:buSzPct val="140000"/>
              <a:buChar char="•"/>
              <a:defRPr>
                <a:solidFill>
                  <a:schemeClr val="tx1"/>
                </a:solidFill>
                <a:latin typeface="Helvetica" charset="0"/>
              </a:defRPr>
            </a:lvl1pPr>
            <a:lvl2pPr marL="742950" indent="-285750">
              <a:spcBef>
                <a:spcPct val="20000"/>
              </a:spcBef>
              <a:buChar char="–"/>
              <a:defRPr>
                <a:solidFill>
                  <a:schemeClr val="tx1"/>
                </a:solidFill>
                <a:latin typeface="Helvetica" charset="0"/>
              </a:defRPr>
            </a:lvl2pPr>
            <a:lvl3pPr marL="1143000" indent="-228600">
              <a:spcBef>
                <a:spcPct val="20000"/>
              </a:spcBef>
              <a:buSzPct val="85000"/>
              <a:buFont typeface="Monotype Sorts" charset="2"/>
              <a:buChar char="T"/>
              <a:defRPr i="1">
                <a:solidFill>
                  <a:schemeClr val="tx1"/>
                </a:solidFill>
                <a:latin typeface="Helvetica" charset="0"/>
              </a:defRPr>
            </a:lvl3pPr>
            <a:lvl4pPr marL="1600200" indent="-228600">
              <a:spcBef>
                <a:spcPct val="20000"/>
              </a:spcBef>
              <a:buChar char="–"/>
              <a:defRPr>
                <a:solidFill>
                  <a:schemeClr val="tx1"/>
                </a:solidFill>
                <a:latin typeface="Helvetica" charset="0"/>
              </a:defRPr>
            </a:lvl4pPr>
            <a:lvl5pPr marL="2057400" indent="-228600">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r>
              <a:rPr lang="en-US" altLang="en-US" dirty="0">
                <a:solidFill>
                  <a:srgbClr val="FF0000"/>
                </a:solidFill>
                <a:latin typeface="Comic Sans MS" charset="0"/>
              </a:rPr>
              <a:t>If a reader is in database, more readers </a:t>
            </a:r>
            <a:r>
              <a:rPr lang="en-US" altLang="en-US">
                <a:solidFill>
                  <a:srgbClr val="FF0000"/>
                </a:solidFill>
                <a:latin typeface="Comic Sans MS" charset="0"/>
              </a:rPr>
              <a:t>can access it </a:t>
            </a:r>
            <a:endParaRPr lang="en-US" altLang="en-US" b="1" dirty="0">
              <a:solidFill>
                <a:schemeClr val="accent1">
                  <a:lumMod val="75000"/>
                </a:schemeClr>
              </a:solidFill>
              <a:latin typeface="Comic Sans MS" charset="0"/>
            </a:endParaRPr>
          </a:p>
        </p:txBody>
      </p:sp>
      <p:cxnSp>
        <p:nvCxnSpPr>
          <p:cNvPr id="113674" name="Curved Connector 24">
            <a:extLst>
              <a:ext uri="{FF2B5EF4-FFF2-40B4-BE49-F238E27FC236}">
                <a16:creationId xmlns:a16="http://schemas.microsoft.com/office/drawing/2014/main" id="{F8741825-B6F8-44F7-8A04-1DC3A45FE409}"/>
              </a:ext>
            </a:extLst>
          </p:cNvPr>
          <p:cNvCxnSpPr>
            <a:cxnSpLocks noChangeShapeType="1"/>
            <a:endCxn id="24" idx="1"/>
          </p:cNvCxnSpPr>
          <p:nvPr/>
        </p:nvCxnSpPr>
        <p:spPr bwMode="auto">
          <a:xfrm>
            <a:off x="2447925" y="3100388"/>
            <a:ext cx="528638" cy="307975"/>
          </a:xfrm>
          <a:prstGeom prst="curvedConnector3">
            <a:avLst>
              <a:gd name="adj1" fmla="val -3375"/>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5">
                                            <p:txEl>
                                              <p:pRg st="8" end="8"/>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085">
                                            <p:txEl>
                                              <p:pRg st="9" end="9"/>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085">
                                            <p:txEl>
                                              <p:pRg st="10" end="1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5">
                                            <p:txEl>
                                              <p:pRg st="12" end="1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5">
                                            <p:txEl>
                                              <p:pRg st="13" end="1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085">
                                            <p:txEl>
                                              <p:pRg st="14" end="1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build="p"/>
      <p:bldP spid="8" grpId="0"/>
      <p:bldP spid="1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Footer Placeholder 3">
            <a:extLst>
              <a:ext uri="{FF2B5EF4-FFF2-40B4-BE49-F238E27FC236}">
                <a16:creationId xmlns:a16="http://schemas.microsoft.com/office/drawing/2014/main" id="{46341465-222B-43DC-B641-91E5B7D1C1E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8131" name="Rectangle 4">
            <a:extLst>
              <a:ext uri="{FF2B5EF4-FFF2-40B4-BE49-F238E27FC236}">
                <a16:creationId xmlns:a16="http://schemas.microsoft.com/office/drawing/2014/main" id="{231F3768-6CB4-40E7-AFD0-4C6300E8015F}"/>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15715" name="Rectangle 2">
            <a:extLst>
              <a:ext uri="{FF2B5EF4-FFF2-40B4-BE49-F238E27FC236}">
                <a16:creationId xmlns:a16="http://schemas.microsoft.com/office/drawing/2014/main" id="{AF0E6FBE-2BB5-45B5-9D57-960B590BE930}"/>
              </a:ext>
            </a:extLst>
          </p:cNvPr>
          <p:cNvSpPr>
            <a:spLocks noGrp="1" noChangeArrowheads="1"/>
          </p:cNvSpPr>
          <p:nvPr>
            <p:ph type="title"/>
          </p:nvPr>
        </p:nvSpPr>
        <p:spPr/>
        <p:txBody>
          <a:bodyPr/>
          <a:lstStyle/>
          <a:p>
            <a:r>
              <a:rPr lang="en-US" altLang="en-US"/>
              <a:t>Readers-Writers Problem</a:t>
            </a:r>
          </a:p>
        </p:txBody>
      </p:sp>
      <p:sp>
        <p:nvSpPr>
          <p:cNvPr id="46085" name="Rectangle 3">
            <a:extLst>
              <a:ext uri="{FF2B5EF4-FFF2-40B4-BE49-F238E27FC236}">
                <a16:creationId xmlns:a16="http://schemas.microsoft.com/office/drawing/2014/main" id="{B62C0181-9F7B-4077-BF52-A5BD3FBC3A29}"/>
              </a:ext>
            </a:extLst>
          </p:cNvPr>
          <p:cNvSpPr>
            <a:spLocks noGrp="1" noChangeArrowheads="1"/>
          </p:cNvSpPr>
          <p:nvPr>
            <p:ph type="body" idx="1"/>
          </p:nvPr>
        </p:nvSpPr>
        <p:spPr>
          <a:xfrm>
            <a:off x="401638" y="1323975"/>
            <a:ext cx="8347075" cy="4813300"/>
          </a:xfrm>
        </p:spPr>
        <p:txBody>
          <a:bodyPr/>
          <a:lstStyle/>
          <a:p>
            <a:pPr marL="0" indent="0">
              <a:lnSpc>
                <a:spcPct val="80000"/>
              </a:lnSpc>
              <a:spcBef>
                <a:spcPct val="15000"/>
              </a:spcBef>
              <a:buFontTx/>
              <a:buNone/>
              <a:tabLst>
                <a:tab pos="2232025" algn="l"/>
                <a:tab pos="2513013" algn="l"/>
                <a:tab pos="2857500" algn="l"/>
              </a:tabLst>
              <a:defRPr/>
            </a:pPr>
            <a:r>
              <a:rPr lang="en-US" altLang="en-US" sz="2800" dirty="0"/>
              <a:t>	        </a:t>
            </a:r>
            <a:r>
              <a:rPr lang="en-US" altLang="en-US" sz="2800" dirty="0">
                <a:solidFill>
                  <a:srgbClr val="FF0000"/>
                </a:solidFill>
              </a:rPr>
              <a:t>Writer process</a:t>
            </a:r>
          </a:p>
          <a:p>
            <a:pPr marL="0" indent="0">
              <a:lnSpc>
                <a:spcPct val="80000"/>
              </a:lnSpc>
              <a:spcBef>
                <a:spcPct val="15000"/>
              </a:spcBef>
              <a:buFontTx/>
              <a:buNone/>
              <a:tabLst>
                <a:tab pos="2232025" algn="l"/>
                <a:tab pos="2513013" algn="l"/>
                <a:tab pos="2857500" algn="l"/>
              </a:tabLst>
              <a:defRPr/>
            </a:pPr>
            <a:endParaRPr lang="en-US" altLang="en-US" sz="2800" dirty="0">
              <a:solidFill>
                <a:srgbClr val="FF0000"/>
              </a:solidFill>
            </a:endParaRPr>
          </a:p>
          <a:p>
            <a:pPr>
              <a:lnSpc>
                <a:spcPct val="80000"/>
              </a:lnSpc>
              <a:spcBef>
                <a:spcPct val="15000"/>
              </a:spcBef>
              <a:buFontTx/>
              <a:buNone/>
              <a:tabLst>
                <a:tab pos="2232025" algn="l"/>
                <a:tab pos="2513013" algn="l"/>
                <a:tab pos="2857500" algn="l"/>
              </a:tabLst>
              <a:defRPr/>
            </a:pPr>
            <a:r>
              <a:rPr lang="en-US" altLang="en-US" sz="2800" b="1" dirty="0">
                <a:solidFill>
                  <a:schemeClr val="accent1">
                    <a:lumMod val="75000"/>
                  </a:schemeClr>
                </a:solidFill>
              </a:rPr>
              <a:t>				</a:t>
            </a:r>
            <a:r>
              <a:rPr lang="en-US" altLang="en-US" sz="2800" b="1" i="1" dirty="0">
                <a:solidFill>
                  <a:schemeClr val="accent1">
                    <a:lumMod val="75000"/>
                  </a:schemeClr>
                </a:solidFill>
              </a:rPr>
              <a:t>Wait</a:t>
            </a:r>
            <a:r>
              <a:rPr lang="en-US" altLang="en-US" sz="2800" b="1" dirty="0">
                <a:solidFill>
                  <a:schemeClr val="accent1">
                    <a:lumMod val="75000"/>
                  </a:schemeClr>
                </a:solidFill>
              </a:rPr>
              <a:t>(</a:t>
            </a:r>
            <a:r>
              <a:rPr lang="en-US" altLang="en-US" sz="2800" b="1" i="1" dirty="0" err="1">
                <a:solidFill>
                  <a:schemeClr val="accent1">
                    <a:lumMod val="75000"/>
                  </a:schemeClr>
                </a:solidFill>
              </a:rPr>
              <a:t>wrt</a:t>
            </a:r>
            <a:r>
              <a:rPr lang="en-US" altLang="en-US" sz="2800" b="1" dirty="0">
                <a:solidFill>
                  <a:schemeClr val="accent1">
                    <a:lumMod val="75000"/>
                  </a:schemeClr>
                </a:solidFill>
              </a:rPr>
              <a:t>);</a:t>
            </a:r>
          </a:p>
          <a:p>
            <a:pPr>
              <a:lnSpc>
                <a:spcPct val="80000"/>
              </a:lnSpc>
              <a:spcBef>
                <a:spcPct val="15000"/>
              </a:spcBef>
              <a:buFontTx/>
              <a:buNone/>
              <a:tabLst>
                <a:tab pos="2232025" algn="l"/>
                <a:tab pos="2513013" algn="l"/>
                <a:tab pos="2857500" algn="l"/>
              </a:tabLst>
              <a:defRPr/>
            </a:pPr>
            <a:r>
              <a:rPr lang="en-US" altLang="en-US" sz="2800" dirty="0"/>
              <a:t>					 …</a:t>
            </a:r>
          </a:p>
          <a:p>
            <a:pPr>
              <a:lnSpc>
                <a:spcPct val="80000"/>
              </a:lnSpc>
              <a:spcBef>
                <a:spcPct val="15000"/>
              </a:spcBef>
              <a:buFontTx/>
              <a:buNone/>
              <a:tabLst>
                <a:tab pos="2232025" algn="l"/>
                <a:tab pos="2513013" algn="l"/>
                <a:tab pos="2857500" algn="l"/>
              </a:tabLst>
              <a:defRPr/>
            </a:pPr>
            <a:r>
              <a:rPr lang="en-US" altLang="en-US" sz="2800" dirty="0"/>
              <a:t>				writing is performed</a:t>
            </a:r>
          </a:p>
          <a:p>
            <a:pPr>
              <a:lnSpc>
                <a:spcPct val="80000"/>
              </a:lnSpc>
              <a:spcBef>
                <a:spcPct val="15000"/>
              </a:spcBef>
              <a:buFontTx/>
              <a:buNone/>
              <a:tabLst>
                <a:tab pos="2232025" algn="l"/>
                <a:tab pos="2513013" algn="l"/>
                <a:tab pos="2857500" algn="l"/>
              </a:tabLst>
              <a:defRPr/>
            </a:pPr>
            <a:r>
              <a:rPr lang="en-US" altLang="en-US" sz="2800" dirty="0"/>
              <a:t>					 …</a:t>
            </a:r>
          </a:p>
          <a:p>
            <a:pPr>
              <a:lnSpc>
                <a:spcPct val="80000"/>
              </a:lnSpc>
              <a:spcBef>
                <a:spcPct val="15000"/>
              </a:spcBef>
              <a:buFontTx/>
              <a:buNone/>
              <a:tabLst>
                <a:tab pos="2232025" algn="l"/>
                <a:tab pos="2513013" algn="l"/>
                <a:tab pos="2857500" algn="l"/>
              </a:tabLst>
              <a:defRPr/>
            </a:pPr>
            <a:r>
              <a:rPr lang="en-US" altLang="en-US" sz="2800" b="1" dirty="0">
                <a:solidFill>
                  <a:schemeClr val="accent1">
                    <a:lumMod val="75000"/>
                  </a:schemeClr>
                </a:solidFill>
              </a:rPr>
              <a:t>				</a:t>
            </a:r>
            <a:r>
              <a:rPr lang="en-US" altLang="en-US" sz="2800" b="1" i="1" dirty="0">
                <a:solidFill>
                  <a:schemeClr val="accent1">
                    <a:lumMod val="75000"/>
                  </a:schemeClr>
                </a:solidFill>
              </a:rPr>
              <a:t>Signal</a:t>
            </a:r>
            <a:r>
              <a:rPr lang="en-US" altLang="en-US" sz="2800" b="1" dirty="0">
                <a:solidFill>
                  <a:schemeClr val="accent1">
                    <a:lumMod val="75000"/>
                  </a:schemeClr>
                </a:solidFill>
              </a:rPr>
              <a:t>(</a:t>
            </a:r>
            <a:r>
              <a:rPr lang="en-US" altLang="en-US" sz="2800" b="1" i="1" dirty="0" err="1">
                <a:solidFill>
                  <a:schemeClr val="accent1">
                    <a:lumMod val="75000"/>
                  </a:schemeClr>
                </a:solidFill>
              </a:rPr>
              <a:t>wrt</a:t>
            </a:r>
            <a:r>
              <a:rPr lang="en-US" altLang="en-US" sz="2800" b="1" dirty="0">
                <a:solidFill>
                  <a:schemeClr val="accent1">
                    <a:lumMod val="75000"/>
                  </a:schemeClr>
                </a:solidFill>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Footer Placeholder 3">
            <a:extLst>
              <a:ext uri="{FF2B5EF4-FFF2-40B4-BE49-F238E27FC236}">
                <a16:creationId xmlns:a16="http://schemas.microsoft.com/office/drawing/2014/main" id="{D7BF19DC-ADB7-4D49-97A2-56DB9286D10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9155" name="Rectangle 4">
            <a:extLst>
              <a:ext uri="{FF2B5EF4-FFF2-40B4-BE49-F238E27FC236}">
                <a16:creationId xmlns:a16="http://schemas.microsoft.com/office/drawing/2014/main" id="{E96D0362-7333-448E-B348-708D306BD171}"/>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117763" name="Rectangle 2">
            <a:extLst>
              <a:ext uri="{FF2B5EF4-FFF2-40B4-BE49-F238E27FC236}">
                <a16:creationId xmlns:a16="http://schemas.microsoft.com/office/drawing/2014/main" id="{2D3B997B-BF8C-419E-B15B-8BB154A48CD7}"/>
              </a:ext>
            </a:extLst>
          </p:cNvPr>
          <p:cNvSpPr>
            <a:spLocks noGrp="1" noChangeArrowheads="1"/>
          </p:cNvSpPr>
          <p:nvPr>
            <p:ph type="title"/>
          </p:nvPr>
        </p:nvSpPr>
        <p:spPr/>
        <p:txBody>
          <a:bodyPr/>
          <a:lstStyle/>
          <a:p>
            <a:r>
              <a:rPr lang="en-US" altLang="en-US"/>
              <a:t>Readers-Writers Problem (Cont.)</a:t>
            </a:r>
          </a:p>
        </p:txBody>
      </p:sp>
      <p:sp>
        <p:nvSpPr>
          <p:cNvPr id="49157" name="Rectangle 3">
            <a:extLst>
              <a:ext uri="{FF2B5EF4-FFF2-40B4-BE49-F238E27FC236}">
                <a16:creationId xmlns:a16="http://schemas.microsoft.com/office/drawing/2014/main" id="{25A96968-716A-4B78-AE2E-BADA561140E3}"/>
              </a:ext>
            </a:extLst>
          </p:cNvPr>
          <p:cNvSpPr>
            <a:spLocks noGrp="1" noChangeArrowheads="1"/>
          </p:cNvSpPr>
          <p:nvPr>
            <p:ph type="body" idx="1"/>
          </p:nvPr>
        </p:nvSpPr>
        <p:spPr>
          <a:xfrm>
            <a:off x="382588" y="1333500"/>
            <a:ext cx="8347075" cy="5064125"/>
          </a:xfrm>
        </p:spPr>
        <p:txBody>
          <a:bodyPr/>
          <a:lstStyle/>
          <a:p>
            <a:pPr marL="0" indent="0">
              <a:lnSpc>
                <a:spcPct val="80000"/>
              </a:lnSpc>
              <a:spcBef>
                <a:spcPct val="15000"/>
              </a:spcBef>
              <a:buFontTx/>
              <a:buNone/>
              <a:tabLst>
                <a:tab pos="1941513" algn="l"/>
                <a:tab pos="2168525" algn="l"/>
                <a:tab pos="2459038" algn="l"/>
              </a:tabLst>
              <a:defRPr/>
            </a:pPr>
            <a:r>
              <a:rPr lang="en-US" altLang="en-US" sz="2800" dirty="0"/>
              <a:t>		       </a:t>
            </a:r>
            <a:r>
              <a:rPr lang="en-US" altLang="en-US" sz="2800" dirty="0">
                <a:solidFill>
                  <a:srgbClr val="FF0000"/>
                </a:solidFill>
              </a:rPr>
              <a:t>Reader process</a:t>
            </a:r>
          </a:p>
          <a:p>
            <a:pPr>
              <a:lnSpc>
                <a:spcPct val="80000"/>
              </a:lnSpc>
              <a:spcBef>
                <a:spcPct val="15000"/>
              </a:spcBef>
              <a:tabLst>
                <a:tab pos="1941513" algn="l"/>
                <a:tab pos="2168525" algn="l"/>
                <a:tab pos="2459038" algn="l"/>
              </a:tabLst>
              <a:defRPr/>
            </a:pPr>
            <a:endParaRPr lang="en-US" altLang="en-US" sz="2800" dirty="0"/>
          </a:p>
          <a:p>
            <a:pPr>
              <a:lnSpc>
                <a:spcPct val="80000"/>
              </a:lnSpc>
              <a:spcBef>
                <a:spcPct val="15000"/>
              </a:spcBef>
              <a:buFontTx/>
              <a:buNone/>
              <a:tabLst>
                <a:tab pos="1941513" algn="l"/>
                <a:tab pos="2168525" algn="l"/>
                <a:tab pos="2459038" algn="l"/>
              </a:tabLst>
              <a:defRPr/>
            </a:pPr>
            <a:r>
              <a:rPr lang="en-US" altLang="en-US" sz="2800" dirty="0"/>
              <a:t>	</a:t>
            </a:r>
            <a:r>
              <a:rPr lang="en-US" altLang="en-US" sz="2400" dirty="0"/>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80000"/>
              </a:lnSpc>
              <a:spcBef>
                <a:spcPct val="15000"/>
              </a:spcBef>
              <a:buFontTx/>
              <a:buNone/>
              <a:tabLst>
                <a:tab pos="1941513" algn="l"/>
                <a:tab pos="2168525" algn="l"/>
                <a:tab pos="2459038" algn="l"/>
              </a:tabLst>
              <a:defRPr/>
            </a:pPr>
            <a:r>
              <a:rPr lang="en-US" altLang="en-US" sz="2400" dirty="0"/>
              <a:t>		</a:t>
            </a:r>
            <a:r>
              <a:rPr lang="en-US" altLang="en-US" sz="2400" i="1" dirty="0" err="1"/>
              <a:t>readcount</a:t>
            </a:r>
            <a:r>
              <a:rPr lang="en-US" altLang="en-US" sz="2400" dirty="0"/>
              <a:t> ++;</a:t>
            </a:r>
          </a:p>
          <a:p>
            <a:pPr>
              <a:lnSpc>
                <a:spcPct val="80000"/>
              </a:lnSpc>
              <a:spcBef>
                <a:spcPct val="15000"/>
              </a:spcBef>
              <a:buFontTx/>
              <a:buNone/>
              <a:tabLst>
                <a:tab pos="1941513" algn="l"/>
                <a:tab pos="2168525" algn="l"/>
                <a:tab pos="2459038" algn="l"/>
              </a:tabLst>
              <a:defRPr/>
            </a:pPr>
            <a:r>
              <a:rPr lang="en-US" altLang="en-US" sz="2400" dirty="0"/>
              <a:t>		if (</a:t>
            </a:r>
            <a:r>
              <a:rPr lang="en-US" altLang="en-US" sz="2400" i="1" dirty="0" err="1"/>
              <a:t>readcount</a:t>
            </a:r>
            <a:r>
              <a:rPr lang="en-US" altLang="en-US" sz="2400" dirty="0"/>
              <a:t> == 1)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err="1">
                <a:solidFill>
                  <a:schemeClr val="accent1">
                    <a:lumMod val="75000"/>
                  </a:schemeClr>
                </a:solidFill>
              </a:rPr>
              <a:t>wrt</a:t>
            </a:r>
            <a:r>
              <a:rPr lang="en-US" altLang="en-US" sz="2400" b="1" dirty="0">
                <a:solidFill>
                  <a:schemeClr val="accent1">
                    <a:lumMod val="75000"/>
                  </a:schemeClr>
                </a:solidFill>
              </a:rPr>
              <a:t>);</a:t>
            </a:r>
          </a:p>
          <a:p>
            <a:pPr>
              <a:lnSpc>
                <a:spcPct val="80000"/>
              </a:lnSpc>
              <a:spcBef>
                <a:spcPct val="15000"/>
              </a:spcBef>
              <a:buFontTx/>
              <a:buNone/>
              <a:tabLst>
                <a:tab pos="1941513" algn="l"/>
                <a:tab pos="2168525" algn="l"/>
                <a:tab pos="2459038"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80000"/>
              </a:lnSpc>
              <a:spcBef>
                <a:spcPct val="15000"/>
              </a:spcBef>
              <a:buFontTx/>
              <a:buNone/>
              <a:tabLst>
                <a:tab pos="1941513" algn="l"/>
                <a:tab pos="2168525" algn="l"/>
                <a:tab pos="2459038" algn="l"/>
              </a:tabLst>
              <a:defRPr/>
            </a:pPr>
            <a:r>
              <a:rPr lang="en-US" altLang="en-US" sz="2400" dirty="0"/>
              <a:t>				 …</a:t>
            </a:r>
          </a:p>
          <a:p>
            <a:pPr>
              <a:lnSpc>
                <a:spcPct val="80000"/>
              </a:lnSpc>
              <a:spcBef>
                <a:spcPct val="15000"/>
              </a:spcBef>
              <a:buFontTx/>
              <a:buNone/>
              <a:tabLst>
                <a:tab pos="1941513" algn="l"/>
                <a:tab pos="2168525" algn="l"/>
                <a:tab pos="2459038" algn="l"/>
              </a:tabLst>
              <a:defRPr/>
            </a:pPr>
            <a:r>
              <a:rPr lang="en-US" altLang="en-US" sz="2400" dirty="0"/>
              <a:t>			reading is performed</a:t>
            </a:r>
          </a:p>
          <a:p>
            <a:pPr>
              <a:lnSpc>
                <a:spcPct val="80000"/>
              </a:lnSpc>
              <a:spcBef>
                <a:spcPct val="15000"/>
              </a:spcBef>
              <a:buFontTx/>
              <a:buNone/>
              <a:tabLst>
                <a:tab pos="1941513" algn="l"/>
                <a:tab pos="2168525" algn="l"/>
                <a:tab pos="2459038" algn="l"/>
              </a:tabLst>
              <a:defRPr/>
            </a:pPr>
            <a:r>
              <a:rPr lang="en-US" altLang="en-US" sz="2400" dirty="0"/>
              <a:t>				 …</a:t>
            </a:r>
          </a:p>
          <a:p>
            <a:pPr>
              <a:lnSpc>
                <a:spcPct val="80000"/>
              </a:lnSpc>
              <a:spcBef>
                <a:spcPct val="15000"/>
              </a:spcBef>
              <a:buFontTx/>
              <a:buNone/>
              <a:tabLst>
                <a:tab pos="1941513" algn="l"/>
                <a:tab pos="2168525" algn="l"/>
                <a:tab pos="2459038" algn="l"/>
              </a:tabLst>
              <a:defRPr/>
            </a:pPr>
            <a:r>
              <a:rPr lang="en-US" altLang="en-US" sz="2400" b="1" dirty="0">
                <a:solidFill>
                  <a:schemeClr val="accent1">
                    <a:lumMod val="75000"/>
                  </a:schemeClr>
                </a:solidFill>
              </a:rPr>
              <a:t>		</a:t>
            </a:r>
            <a:r>
              <a:rPr lang="en-US" altLang="en-US" sz="2400" b="1" i="1" dirty="0">
                <a:solidFill>
                  <a:schemeClr val="accent1">
                    <a:lumMod val="75000"/>
                  </a:schemeClr>
                </a:solidFill>
              </a:rPr>
              <a:t>Wait</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a:p>
            <a:pPr>
              <a:lnSpc>
                <a:spcPct val="80000"/>
              </a:lnSpc>
              <a:spcBef>
                <a:spcPct val="15000"/>
              </a:spcBef>
              <a:buFontTx/>
              <a:buNone/>
              <a:tabLst>
                <a:tab pos="1941513" algn="l"/>
                <a:tab pos="2168525" algn="l"/>
                <a:tab pos="2459038" algn="l"/>
              </a:tabLst>
              <a:defRPr/>
            </a:pPr>
            <a:r>
              <a:rPr lang="en-US" altLang="en-US" sz="2400" dirty="0"/>
              <a:t>		</a:t>
            </a:r>
            <a:r>
              <a:rPr lang="en-US" altLang="en-US" sz="2400" i="1" dirty="0" err="1"/>
              <a:t>readcount</a:t>
            </a:r>
            <a:r>
              <a:rPr lang="en-US" altLang="en-US" sz="2400" dirty="0"/>
              <a:t> --;</a:t>
            </a:r>
          </a:p>
          <a:p>
            <a:pPr>
              <a:lnSpc>
                <a:spcPct val="80000"/>
              </a:lnSpc>
              <a:spcBef>
                <a:spcPct val="15000"/>
              </a:spcBef>
              <a:buFontTx/>
              <a:buNone/>
              <a:tabLst>
                <a:tab pos="1941513" algn="l"/>
                <a:tab pos="2168525" algn="l"/>
                <a:tab pos="2459038" algn="l"/>
              </a:tabLst>
              <a:defRPr/>
            </a:pPr>
            <a:r>
              <a:rPr lang="en-US" altLang="en-US" sz="2400" dirty="0"/>
              <a:t>		if (</a:t>
            </a:r>
            <a:r>
              <a:rPr lang="en-US" altLang="en-US" sz="2400" i="1" dirty="0" err="1"/>
              <a:t>readcount</a:t>
            </a:r>
            <a:r>
              <a:rPr lang="en-US" altLang="en-US" sz="2400" dirty="0"/>
              <a:t> == 0) </a:t>
            </a:r>
            <a:r>
              <a:rPr lang="en-US" altLang="en-US" sz="2400" b="1" i="1" dirty="0">
                <a:solidFill>
                  <a:schemeClr val="accent1">
                    <a:lumMod val="75000"/>
                  </a:schemeClr>
                </a:solidFill>
              </a:rPr>
              <a:t>Signal</a:t>
            </a:r>
            <a:r>
              <a:rPr lang="en-US" altLang="en-US" sz="2400" b="1" dirty="0">
                <a:solidFill>
                  <a:schemeClr val="accent1">
                    <a:lumMod val="75000"/>
                  </a:schemeClr>
                </a:solidFill>
              </a:rPr>
              <a:t>(</a:t>
            </a:r>
            <a:r>
              <a:rPr lang="en-US" altLang="en-US" sz="2400" b="1" i="1" dirty="0" err="1">
                <a:solidFill>
                  <a:schemeClr val="accent1">
                    <a:lumMod val="75000"/>
                  </a:schemeClr>
                </a:solidFill>
              </a:rPr>
              <a:t>wrt</a:t>
            </a:r>
            <a:r>
              <a:rPr lang="en-US" altLang="en-US" sz="2400" b="1" dirty="0">
                <a:solidFill>
                  <a:schemeClr val="accent1">
                    <a:lumMod val="75000"/>
                  </a:schemeClr>
                </a:solidFill>
              </a:rPr>
              <a:t>);</a:t>
            </a:r>
          </a:p>
          <a:p>
            <a:pPr>
              <a:lnSpc>
                <a:spcPct val="80000"/>
              </a:lnSpc>
              <a:spcBef>
                <a:spcPct val="15000"/>
              </a:spcBef>
              <a:buFontTx/>
              <a:buNone/>
              <a:tabLst>
                <a:tab pos="1941513" algn="l"/>
                <a:tab pos="2168525" algn="l"/>
                <a:tab pos="2459038" algn="l"/>
              </a:tabLst>
              <a:defRPr/>
            </a:pPr>
            <a:r>
              <a:rPr lang="en-US" altLang="en-US" sz="2400" b="1" i="1" dirty="0">
                <a:solidFill>
                  <a:schemeClr val="accent1">
                    <a:lumMod val="75000"/>
                  </a:schemeClr>
                </a:solidFill>
              </a:rPr>
              <a:t>		Signal</a:t>
            </a:r>
            <a:r>
              <a:rPr lang="en-US" altLang="en-US" sz="2400" b="1" dirty="0">
                <a:solidFill>
                  <a:schemeClr val="accent1">
                    <a:lumMod val="75000"/>
                  </a:schemeClr>
                </a:solidFill>
              </a:rPr>
              <a:t>(</a:t>
            </a:r>
            <a:r>
              <a:rPr lang="en-US" altLang="en-US" sz="2400" b="1" i="1" dirty="0" err="1">
                <a:solidFill>
                  <a:schemeClr val="accent1">
                    <a:lumMod val="75000"/>
                  </a:schemeClr>
                </a:solidFill>
              </a:rPr>
              <a:t>mutex</a:t>
            </a:r>
            <a:r>
              <a:rPr lang="en-US" altLang="en-US" sz="2400" b="1" dirty="0">
                <a:solidFill>
                  <a:schemeClr val="accent1">
                    <a:lumMod val="75000"/>
                  </a:schemeClr>
                </a:solidFill>
              </a:rPr>
              <a:t>);</a:t>
            </a:r>
          </a:p>
        </p:txBody>
      </p:sp>
      <p:sp>
        <p:nvSpPr>
          <p:cNvPr id="117765" name="Left Brace 1">
            <a:extLst>
              <a:ext uri="{FF2B5EF4-FFF2-40B4-BE49-F238E27FC236}">
                <a16:creationId xmlns:a16="http://schemas.microsoft.com/office/drawing/2014/main" id="{0D451FB5-AA69-4F19-A74F-DBDCA29879FE}"/>
              </a:ext>
            </a:extLst>
          </p:cNvPr>
          <p:cNvSpPr>
            <a:spLocks/>
          </p:cNvSpPr>
          <p:nvPr/>
        </p:nvSpPr>
        <p:spPr bwMode="auto">
          <a:xfrm>
            <a:off x="1976438" y="2243138"/>
            <a:ext cx="457200" cy="1327150"/>
          </a:xfrm>
          <a:prstGeom prst="leftBrace">
            <a:avLst>
              <a:gd name="adj1" fmla="val 8332"/>
              <a:gd name="adj2" fmla="val 50000"/>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17766" name="TextBox 2">
            <a:extLst>
              <a:ext uri="{FF2B5EF4-FFF2-40B4-BE49-F238E27FC236}">
                <a16:creationId xmlns:a16="http://schemas.microsoft.com/office/drawing/2014/main" id="{EE27642E-5D5E-442D-91DE-D4E573EDDC0B}"/>
              </a:ext>
            </a:extLst>
          </p:cNvPr>
          <p:cNvSpPr txBox="1">
            <a:spLocks noChangeArrowheads="1"/>
          </p:cNvSpPr>
          <p:nvPr/>
        </p:nvSpPr>
        <p:spPr bwMode="auto">
          <a:xfrm>
            <a:off x="330200" y="2552700"/>
            <a:ext cx="1774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chemeClr val="accent2"/>
                </a:solidFill>
              </a:rPr>
              <a:t>When a reader </a:t>
            </a:r>
          </a:p>
          <a:p>
            <a:pPr algn="ctr">
              <a:spcBef>
                <a:spcPct val="0"/>
              </a:spcBef>
              <a:buSzTx/>
              <a:buFontTx/>
              <a:buNone/>
            </a:pPr>
            <a:r>
              <a:rPr lang="en-US" altLang="en-US">
                <a:solidFill>
                  <a:schemeClr val="accent2"/>
                </a:solidFill>
              </a:rPr>
              <a:t>comes</a:t>
            </a:r>
          </a:p>
        </p:txBody>
      </p:sp>
      <p:sp>
        <p:nvSpPr>
          <p:cNvPr id="117767" name="Left Brace 9">
            <a:extLst>
              <a:ext uri="{FF2B5EF4-FFF2-40B4-BE49-F238E27FC236}">
                <a16:creationId xmlns:a16="http://schemas.microsoft.com/office/drawing/2014/main" id="{53B72E7B-E433-4F61-A0C9-381682325802}"/>
              </a:ext>
            </a:extLst>
          </p:cNvPr>
          <p:cNvSpPr>
            <a:spLocks/>
          </p:cNvSpPr>
          <p:nvPr/>
        </p:nvSpPr>
        <p:spPr bwMode="auto">
          <a:xfrm>
            <a:off x="1935163" y="4722813"/>
            <a:ext cx="457200" cy="1327150"/>
          </a:xfrm>
          <a:prstGeom prst="leftBrace">
            <a:avLst>
              <a:gd name="adj1" fmla="val 8332"/>
              <a:gd name="adj2" fmla="val 50000"/>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17768" name="TextBox 10">
            <a:extLst>
              <a:ext uri="{FF2B5EF4-FFF2-40B4-BE49-F238E27FC236}">
                <a16:creationId xmlns:a16="http://schemas.microsoft.com/office/drawing/2014/main" id="{767F3521-5B21-4601-B860-6FFFD65E771C}"/>
              </a:ext>
            </a:extLst>
          </p:cNvPr>
          <p:cNvSpPr txBox="1">
            <a:spLocks noChangeArrowheads="1"/>
          </p:cNvSpPr>
          <p:nvPr/>
        </p:nvSpPr>
        <p:spPr bwMode="auto">
          <a:xfrm>
            <a:off x="287338" y="5032375"/>
            <a:ext cx="1774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chemeClr val="accent2"/>
                </a:solidFill>
              </a:rPr>
              <a:t>When a reader </a:t>
            </a:r>
          </a:p>
          <a:p>
            <a:pPr algn="ctr">
              <a:spcBef>
                <a:spcPct val="0"/>
              </a:spcBef>
              <a:buSzTx/>
              <a:buFontTx/>
              <a:buNone/>
            </a:pPr>
            <a:r>
              <a:rPr lang="en-US" altLang="en-US">
                <a:solidFill>
                  <a:schemeClr val="accent2"/>
                </a:solidFill>
              </a:rPr>
              <a:t>leaves</a:t>
            </a:r>
          </a:p>
        </p:txBody>
      </p:sp>
      <p:sp>
        <p:nvSpPr>
          <p:cNvPr id="12" name="TextBox 11">
            <a:extLst>
              <a:ext uri="{FF2B5EF4-FFF2-40B4-BE49-F238E27FC236}">
                <a16:creationId xmlns:a16="http://schemas.microsoft.com/office/drawing/2014/main" id="{32A25849-FF90-4E71-A9B8-A62CEA54834D}"/>
              </a:ext>
            </a:extLst>
          </p:cNvPr>
          <p:cNvSpPr txBox="1">
            <a:spLocks noChangeArrowheads="1"/>
          </p:cNvSpPr>
          <p:nvPr/>
        </p:nvSpPr>
        <p:spPr bwMode="auto">
          <a:xfrm>
            <a:off x="5665788" y="2157413"/>
            <a:ext cx="3381375" cy="646112"/>
          </a:xfrm>
          <a:prstGeom prst="rect">
            <a:avLst/>
          </a:prstGeom>
          <a:noFill/>
          <a:ln>
            <a:noFill/>
          </a:ln>
        </p:spPr>
        <p:txBody>
          <a:bodyPr>
            <a:spAutoFit/>
          </a:bodyPr>
          <a:lstStyle>
            <a:lvl1pPr>
              <a:spcBef>
                <a:spcPct val="50000"/>
              </a:spcBef>
              <a:buSzPct val="140000"/>
              <a:buChar char="•"/>
              <a:defRPr>
                <a:solidFill>
                  <a:schemeClr val="tx1"/>
                </a:solidFill>
                <a:latin typeface="Helvetica" charset="0"/>
              </a:defRPr>
            </a:lvl1pPr>
            <a:lvl2pPr marL="742950" indent="-285750">
              <a:spcBef>
                <a:spcPct val="20000"/>
              </a:spcBef>
              <a:buChar char="–"/>
              <a:defRPr>
                <a:solidFill>
                  <a:schemeClr val="tx1"/>
                </a:solidFill>
                <a:latin typeface="Helvetica" charset="0"/>
              </a:defRPr>
            </a:lvl2pPr>
            <a:lvl3pPr marL="1143000" indent="-228600">
              <a:spcBef>
                <a:spcPct val="20000"/>
              </a:spcBef>
              <a:buSzPct val="85000"/>
              <a:buFont typeface="Monotype Sorts" charset="2"/>
              <a:buChar char="T"/>
              <a:defRPr i="1">
                <a:solidFill>
                  <a:schemeClr val="tx1"/>
                </a:solidFill>
                <a:latin typeface="Helvetica" charset="0"/>
              </a:defRPr>
            </a:lvl3pPr>
            <a:lvl4pPr marL="1600200" indent="-228600">
              <a:spcBef>
                <a:spcPct val="20000"/>
              </a:spcBef>
              <a:buChar char="–"/>
              <a:defRPr>
                <a:solidFill>
                  <a:schemeClr val="tx1"/>
                </a:solidFill>
                <a:latin typeface="Helvetica" charset="0"/>
              </a:defRPr>
            </a:lvl4pPr>
            <a:lvl5pPr marL="2057400" indent="-228600">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r>
              <a:rPr lang="en-US" altLang="en-US" dirty="0">
                <a:solidFill>
                  <a:srgbClr val="FF0000"/>
                </a:solidFill>
                <a:latin typeface="Comic Sans MS" charset="0"/>
              </a:rPr>
              <a:t>The first reader?</a:t>
            </a:r>
          </a:p>
          <a:p>
            <a:pPr algn="ctr">
              <a:spcBef>
                <a:spcPct val="0"/>
              </a:spcBef>
              <a:buSzTx/>
              <a:buFontTx/>
              <a:buNone/>
              <a:defRPr/>
            </a:pPr>
            <a:r>
              <a:rPr lang="en-US" altLang="en-US" b="1" dirty="0">
                <a:solidFill>
                  <a:srgbClr val="FF0000"/>
                </a:solidFill>
                <a:latin typeface="Comic Sans MS" charset="0"/>
              </a:rPr>
              <a:t>Request access to database</a:t>
            </a:r>
            <a:endParaRPr lang="en-US" altLang="en-US" b="1" dirty="0">
              <a:solidFill>
                <a:schemeClr val="accent1">
                  <a:lumMod val="75000"/>
                </a:schemeClr>
              </a:solidFill>
              <a:latin typeface="Comic Sans MS" charset="0"/>
            </a:endParaRPr>
          </a:p>
        </p:txBody>
      </p:sp>
      <p:cxnSp>
        <p:nvCxnSpPr>
          <p:cNvPr id="13" name="Curved Connector 12">
            <a:extLst>
              <a:ext uri="{FF2B5EF4-FFF2-40B4-BE49-F238E27FC236}">
                <a16:creationId xmlns:a16="http://schemas.microsoft.com/office/drawing/2014/main" id="{26FD6D8B-4FDE-47EB-A4E1-9573D0293E6D}"/>
              </a:ext>
            </a:extLst>
          </p:cNvPr>
          <p:cNvCxnSpPr>
            <a:cxnSpLocks noChangeShapeType="1"/>
            <a:endCxn id="12" idx="1"/>
          </p:cNvCxnSpPr>
          <p:nvPr/>
        </p:nvCxnSpPr>
        <p:spPr bwMode="auto">
          <a:xfrm rot="5400000" flipH="1" flipV="1">
            <a:off x="5235576" y="2508250"/>
            <a:ext cx="457200" cy="403225"/>
          </a:xfrm>
          <a:prstGeom prst="curvedConnector2">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7" name="TextBox 16">
            <a:extLst>
              <a:ext uri="{FF2B5EF4-FFF2-40B4-BE49-F238E27FC236}">
                <a16:creationId xmlns:a16="http://schemas.microsoft.com/office/drawing/2014/main" id="{BCEA4851-1DCE-4F7B-A2C5-F8FB3A23C7AC}"/>
              </a:ext>
            </a:extLst>
          </p:cNvPr>
          <p:cNvSpPr txBox="1">
            <a:spLocks noChangeArrowheads="1"/>
          </p:cNvSpPr>
          <p:nvPr/>
        </p:nvSpPr>
        <p:spPr bwMode="auto">
          <a:xfrm>
            <a:off x="6743700" y="4271963"/>
            <a:ext cx="2185988" cy="646112"/>
          </a:xfrm>
          <a:prstGeom prst="rect">
            <a:avLst/>
          </a:prstGeom>
          <a:noFill/>
          <a:ln>
            <a:noFill/>
          </a:ln>
        </p:spPr>
        <p:txBody>
          <a:bodyPr>
            <a:spAutoFit/>
          </a:bodyPr>
          <a:lstStyle>
            <a:lvl1pPr>
              <a:spcBef>
                <a:spcPct val="50000"/>
              </a:spcBef>
              <a:buSzPct val="140000"/>
              <a:buChar char="•"/>
              <a:defRPr>
                <a:solidFill>
                  <a:schemeClr val="tx1"/>
                </a:solidFill>
                <a:latin typeface="Helvetica" charset="0"/>
              </a:defRPr>
            </a:lvl1pPr>
            <a:lvl2pPr marL="742950" indent="-285750">
              <a:spcBef>
                <a:spcPct val="20000"/>
              </a:spcBef>
              <a:buChar char="–"/>
              <a:defRPr>
                <a:solidFill>
                  <a:schemeClr val="tx1"/>
                </a:solidFill>
                <a:latin typeface="Helvetica" charset="0"/>
              </a:defRPr>
            </a:lvl2pPr>
            <a:lvl3pPr marL="1143000" indent="-228600">
              <a:spcBef>
                <a:spcPct val="20000"/>
              </a:spcBef>
              <a:buSzPct val="85000"/>
              <a:buFont typeface="Monotype Sorts" charset="2"/>
              <a:buChar char="T"/>
              <a:defRPr i="1">
                <a:solidFill>
                  <a:schemeClr val="tx1"/>
                </a:solidFill>
                <a:latin typeface="Helvetica" charset="0"/>
              </a:defRPr>
            </a:lvl3pPr>
            <a:lvl4pPr marL="1600200" indent="-228600">
              <a:spcBef>
                <a:spcPct val="20000"/>
              </a:spcBef>
              <a:buChar char="–"/>
              <a:defRPr>
                <a:solidFill>
                  <a:schemeClr val="tx1"/>
                </a:solidFill>
                <a:latin typeface="Helvetica" charset="0"/>
              </a:defRPr>
            </a:lvl4pPr>
            <a:lvl5pPr marL="2057400" indent="-228600">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r>
              <a:rPr lang="en-US" altLang="en-US" dirty="0">
                <a:solidFill>
                  <a:srgbClr val="FF0000"/>
                </a:solidFill>
                <a:latin typeface="Comic Sans MS" charset="0"/>
              </a:rPr>
              <a:t>The last reader?</a:t>
            </a:r>
          </a:p>
          <a:p>
            <a:pPr algn="ctr">
              <a:spcBef>
                <a:spcPct val="0"/>
              </a:spcBef>
              <a:buSzTx/>
              <a:buFontTx/>
              <a:buNone/>
              <a:defRPr/>
            </a:pPr>
            <a:r>
              <a:rPr lang="en-US" altLang="en-US" b="1" dirty="0">
                <a:solidFill>
                  <a:srgbClr val="FF0000"/>
                </a:solidFill>
                <a:latin typeface="Comic Sans MS" charset="0"/>
              </a:rPr>
              <a:t>Release database</a:t>
            </a:r>
            <a:endParaRPr lang="en-US" altLang="en-US" b="1" dirty="0">
              <a:solidFill>
                <a:schemeClr val="accent1">
                  <a:lumMod val="75000"/>
                </a:schemeClr>
              </a:solidFill>
              <a:latin typeface="Comic Sans MS" charset="0"/>
            </a:endParaRPr>
          </a:p>
        </p:txBody>
      </p:sp>
      <p:cxnSp>
        <p:nvCxnSpPr>
          <p:cNvPr id="18" name="Curved Connector 17">
            <a:extLst>
              <a:ext uri="{FF2B5EF4-FFF2-40B4-BE49-F238E27FC236}">
                <a16:creationId xmlns:a16="http://schemas.microsoft.com/office/drawing/2014/main" id="{4B43A1B2-705D-480B-BC00-83FF8E7F0E60}"/>
              </a:ext>
            </a:extLst>
          </p:cNvPr>
          <p:cNvCxnSpPr>
            <a:cxnSpLocks noChangeShapeType="1"/>
          </p:cNvCxnSpPr>
          <p:nvPr/>
        </p:nvCxnSpPr>
        <p:spPr bwMode="auto">
          <a:xfrm flipV="1">
            <a:off x="5665788" y="4543425"/>
            <a:ext cx="1077912" cy="787400"/>
          </a:xfrm>
          <a:prstGeom prst="curvedConnector3">
            <a:avLst>
              <a:gd name="adj1" fmla="val 407"/>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157">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7">
                                            <p:txEl>
                                              <p:pRg st="12" end="1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915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9157">
                                            <p:txEl>
                                              <p:pRg st="11" end="1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Footer Placeholder 3">
            <a:extLst>
              <a:ext uri="{FF2B5EF4-FFF2-40B4-BE49-F238E27FC236}">
                <a16:creationId xmlns:a16="http://schemas.microsoft.com/office/drawing/2014/main" id="{115CEA13-8D4E-4F98-B188-9075C11B007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19810" name="Rectangle 2">
            <a:extLst>
              <a:ext uri="{FF2B5EF4-FFF2-40B4-BE49-F238E27FC236}">
                <a16:creationId xmlns:a16="http://schemas.microsoft.com/office/drawing/2014/main" id="{3A223877-A1DD-43EE-8C23-A5C815B8C3A7}"/>
              </a:ext>
            </a:extLst>
          </p:cNvPr>
          <p:cNvSpPr>
            <a:spLocks noGrp="1" noChangeArrowheads="1"/>
          </p:cNvSpPr>
          <p:nvPr>
            <p:ph type="title"/>
          </p:nvPr>
        </p:nvSpPr>
        <p:spPr/>
        <p:txBody>
          <a:bodyPr/>
          <a:lstStyle/>
          <a:p>
            <a:endParaRPr lang="en-GB" altLang="en-US"/>
          </a:p>
        </p:txBody>
      </p:sp>
      <p:sp>
        <p:nvSpPr>
          <p:cNvPr id="119811" name="Rectangle 3">
            <a:extLst>
              <a:ext uri="{FF2B5EF4-FFF2-40B4-BE49-F238E27FC236}">
                <a16:creationId xmlns:a16="http://schemas.microsoft.com/office/drawing/2014/main" id="{440AF37A-7572-4C39-957E-1C13E9F2A43D}"/>
              </a:ext>
            </a:extLst>
          </p:cNvPr>
          <p:cNvSpPr>
            <a:spLocks noGrp="1" noChangeArrowheads="1"/>
          </p:cNvSpPr>
          <p:nvPr>
            <p:ph type="body" idx="1"/>
          </p:nvPr>
        </p:nvSpPr>
        <p:spPr>
          <a:xfrm>
            <a:off x="684213" y="1316038"/>
            <a:ext cx="7831137" cy="4979987"/>
          </a:xfrm>
        </p:spPr>
        <p:txBody>
          <a:bodyPr/>
          <a:lstStyle/>
          <a:p>
            <a:pPr>
              <a:lnSpc>
                <a:spcPct val="80000"/>
              </a:lnSpc>
              <a:tabLst>
                <a:tab pos="1023938" algn="l"/>
                <a:tab pos="1601788" algn="l"/>
                <a:tab pos="2120900" algn="l"/>
                <a:tab pos="2395538" algn="l"/>
              </a:tabLst>
            </a:pPr>
            <a:r>
              <a:rPr lang="en-US" altLang="en-US" sz="2400"/>
              <a:t>High-level synchronization construct that allows the sharing of variables among concurrent processes</a:t>
            </a:r>
          </a:p>
          <a:p>
            <a:pPr lvl="4">
              <a:lnSpc>
                <a:spcPct val="80000"/>
              </a:lnSpc>
              <a:tabLst>
                <a:tab pos="1023938" algn="l"/>
                <a:tab pos="1601788" algn="l"/>
                <a:tab pos="2120900" algn="l"/>
                <a:tab pos="2395538" algn="l"/>
              </a:tabLst>
            </a:pPr>
            <a:endParaRPr lang="en-US" altLang="en-US"/>
          </a:p>
          <a:p>
            <a:pPr>
              <a:lnSpc>
                <a:spcPct val="80000"/>
              </a:lnSpc>
              <a:tabLst>
                <a:tab pos="1023938" algn="l"/>
                <a:tab pos="1601788" algn="l"/>
                <a:tab pos="2120900" algn="l"/>
                <a:tab pos="2395538" algn="l"/>
              </a:tabLst>
            </a:pPr>
            <a:r>
              <a:rPr lang="en-GB" altLang="en-US" sz="2400"/>
              <a:t>Monitor is a collection of procedures and data</a:t>
            </a:r>
          </a:p>
          <a:p>
            <a:pPr lvl="4">
              <a:lnSpc>
                <a:spcPct val="80000"/>
              </a:lnSpc>
              <a:tabLst>
                <a:tab pos="1023938" algn="l"/>
                <a:tab pos="1601788" algn="l"/>
                <a:tab pos="2120900" algn="l"/>
                <a:tab pos="2395538" algn="l"/>
              </a:tabLst>
            </a:pPr>
            <a:endParaRPr lang="en-GB" altLang="en-US"/>
          </a:p>
          <a:p>
            <a:pPr>
              <a:lnSpc>
                <a:spcPct val="80000"/>
              </a:lnSpc>
              <a:tabLst>
                <a:tab pos="1023938" algn="l"/>
                <a:tab pos="1601788" algn="l"/>
                <a:tab pos="2120900" algn="l"/>
                <a:tab pos="2395538" algn="l"/>
              </a:tabLst>
            </a:pPr>
            <a:r>
              <a:rPr lang="en-GB" altLang="en-US" sz="2400"/>
              <a:t>Processes may call procedures within monitor to access and update the data</a:t>
            </a:r>
          </a:p>
          <a:p>
            <a:pPr lvl="4">
              <a:lnSpc>
                <a:spcPct val="80000"/>
              </a:lnSpc>
              <a:tabLst>
                <a:tab pos="1023938" algn="l"/>
                <a:tab pos="1601788" algn="l"/>
                <a:tab pos="2120900" algn="l"/>
                <a:tab pos="2395538" algn="l"/>
              </a:tabLst>
            </a:pPr>
            <a:endParaRPr lang="en-GB" altLang="en-US"/>
          </a:p>
          <a:p>
            <a:pPr>
              <a:lnSpc>
                <a:spcPct val="80000"/>
              </a:lnSpc>
              <a:tabLst>
                <a:tab pos="1023938" algn="l"/>
                <a:tab pos="1601788" algn="l"/>
                <a:tab pos="2120900" algn="l"/>
                <a:tab pos="2395538" algn="l"/>
              </a:tabLst>
            </a:pPr>
            <a:r>
              <a:rPr lang="en-GB" altLang="en-US" sz="2400"/>
              <a:t>Only one process can be active in the monitor at any one time (i.e., only one process can be executing a monitor procedure at any one time)</a:t>
            </a:r>
          </a:p>
          <a:p>
            <a:pPr lvl="4">
              <a:lnSpc>
                <a:spcPct val="80000"/>
              </a:lnSpc>
              <a:tabLst>
                <a:tab pos="1023938" algn="l"/>
                <a:tab pos="1601788" algn="l"/>
                <a:tab pos="2120900" algn="l"/>
                <a:tab pos="2395538" algn="l"/>
              </a:tabLst>
            </a:pPr>
            <a:endParaRPr lang="en-GB" altLang="en-US"/>
          </a:p>
          <a:p>
            <a:pPr>
              <a:lnSpc>
                <a:spcPct val="80000"/>
              </a:lnSpc>
              <a:tabLst>
                <a:tab pos="1023938" algn="l"/>
                <a:tab pos="1601788" algn="l"/>
                <a:tab pos="2120900" algn="l"/>
                <a:tab pos="2395538" algn="l"/>
              </a:tabLst>
            </a:pPr>
            <a:r>
              <a:rPr lang="en-GB" altLang="en-US" sz="2400"/>
              <a:t>Data within monitor can only be accessed by procedures within it</a:t>
            </a:r>
            <a:r>
              <a:rPr lang="en-US" altLang="en-US" sz="2400"/>
              <a:t>		</a:t>
            </a:r>
          </a:p>
        </p:txBody>
      </p:sp>
      <p:sp>
        <p:nvSpPr>
          <p:cNvPr id="50181" name="Rectangle 4">
            <a:extLst>
              <a:ext uri="{FF2B5EF4-FFF2-40B4-BE49-F238E27FC236}">
                <a16:creationId xmlns:a16="http://schemas.microsoft.com/office/drawing/2014/main" id="{F30AA64F-EA7A-4920-8FCC-C2DBAD50A168}"/>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r>
              <a:rPr lang="en-US" altLang="en-US" sz="3000" b="1"/>
              <a:t>Monitor</a:t>
            </a:r>
          </a:p>
        </p:txBody>
      </p:sp>
      <p:sp>
        <p:nvSpPr>
          <p:cNvPr id="119813" name="TextBox 1">
            <a:extLst>
              <a:ext uri="{FF2B5EF4-FFF2-40B4-BE49-F238E27FC236}">
                <a16:creationId xmlns:a16="http://schemas.microsoft.com/office/drawing/2014/main" id="{7068663D-DE26-4254-9A03-D9C980C8F8ED}"/>
              </a:ext>
            </a:extLst>
          </p:cNvPr>
          <p:cNvSpPr txBox="1">
            <a:spLocks noChangeArrowheads="1"/>
          </p:cNvSpPr>
          <p:nvPr/>
        </p:nvSpPr>
        <p:spPr bwMode="auto">
          <a:xfrm>
            <a:off x="869950" y="5973763"/>
            <a:ext cx="7454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800" u="sng">
                <a:solidFill>
                  <a:srgbClr val="FF0000"/>
                </a:solidFill>
                <a:latin typeface="Comic Sans MS" panose="030F0702030302020204" pitchFamily="66" charset="0"/>
              </a:rPr>
              <a:t>This slide is not examinable  </a:t>
            </a:r>
          </a:p>
        </p:txBody>
      </p:sp>
    </p:spTree>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409D1DCD-46D3-3C4F-AE81-0DA43A95F69E}">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5ee&quot;"/>
    <we:property name="BJCBGE:66d852356e59c04a7e34b5ee:SlideId" value="420"/>
  </we:properties>
  <we:bindings/>
  <we:snapshot xmlns:r="http://schemas.openxmlformats.org/officeDocument/2006/relationships"/>
</we:webextension>
</file>

<file path=ppt/webextensions/webextension2.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5f6&quot;"/>
    <we:property name="BJCBGE:66d852356e59c04a7e34b5f6:SlideId" value="421"/>
  </we:properties>
  <we:bindings/>
  <we:snapshot xmlns:r="http://schemas.openxmlformats.org/officeDocument/2006/relationships"/>
</we:webextension>
</file>

<file path=ppt/webextensions/webextension3.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5fc&quot;"/>
    <we:property name="BJCBGE:66d852356e59c04a7e34b5fc:SlideId" value="423"/>
  </we:properties>
  <we:bindings/>
  <we:snapshot xmlns:r="http://schemas.openxmlformats.org/officeDocument/2006/relationships"/>
</we:webextension>
</file>

<file path=ppt/webextensions/webextension4.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612&quot;"/>
    <we:property name="BJCBGE:66d852356e59c04a7e34b612:SlideId" value="425"/>
  </we:properties>
  <we:bindings/>
  <we:snapshot xmlns:r="http://schemas.openxmlformats.org/officeDocument/2006/relationships"/>
</we:webextension>
</file>

<file path=ppt/webextensions/webextension5.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602&quot;"/>
    <we:property name="BJCBGE:66d852356e59c04a7e34b602:SlideId" value="428"/>
  </we:properties>
  <we:bindings/>
  <we:snapshot xmlns:r="http://schemas.openxmlformats.org/officeDocument/2006/relationships"/>
</we:webextension>
</file>

<file path=ppt/webextensions/webextension6.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916afcd76e6528e55d165&quot;"/>
    <we:property name="BJCBGE:66d916afcd76e6528e55d165:SlideId" value="432"/>
  </we:properties>
  <we:bindings/>
  <we:snapshot xmlns:r="http://schemas.openxmlformats.org/officeDocument/2006/relationships"/>
</we:webextension>
</file>

<file path=ppt/webextensions/webextension7.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80eb97f6f27903589f0&quot;"/>
    <we:property name="BJCBGE:66d8580eb97f6f27903589f0:SlideId" value="433"/>
  </we:properties>
  <we:bindings/>
  <we:snapshot xmlns:r="http://schemas.openxmlformats.org/officeDocument/2006/relationships"/>
</we:webextension>
</file>

<file path=ppt/webextensions/webextension8.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80d4d040bbb0e1b2752&quot;"/>
    <we:property name="BJCBGE:66d8580d4d040bbb0e1b2752:SlideId" value="427"/>
  </we:properties>
  <we:bindings/>
  <we:snapshot xmlns:r="http://schemas.openxmlformats.org/officeDocument/2006/relationships"/>
</we:webextension>
</file>

<file path=ppt/webextensions/webextension9.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607&quot;"/>
    <we:property name="BJCBGE:66d852356e59c04a7e34b607:SlideId" value="434"/>
  </we:properties>
  <we:bindings/>
  <we:snapshot xmlns:r="http://schemas.openxmlformats.org/officeDocument/2006/relationships"/>
</we:webextension>
</file>

<file path=ppt/webextensions/webextension10.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d852356e59c04a7e34b60c&quot;"/>
    <we:property name="BJCBGE:66d852356e59c04a7e34b60c:SlideId" value="435"/>
  </we:properties>
  <we:bindings/>
  <we:snapshot xmlns:r="http://schemas.openxmlformats.org/officeDocument/2006/relationships"/>
</we:webextension>
</file>

<file path=ppt/webextensions/webextension11.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e1685a74042a04542e78aa&quot;"/>
    <we:property name="BJCBGE:66e1685a74042a04542e78aa:SlideId" value="436"/>
  </we:properties>
  <we:bindings/>
  <we:snapshot xmlns:r="http://schemas.openxmlformats.org/officeDocument/2006/relationships"/>
</we:webextension>
</file>

<file path=ppt/webextensions/webextension12.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e1685a74042a04542e78af&quot;"/>
    <we:property name="BJCBGE:66e1685a74042a04542e78af:SlideId" value="437"/>
  </we:properties>
  <we:bindings/>
  <we:snapshot xmlns:r="http://schemas.openxmlformats.org/officeDocument/2006/relationships"/>
</we:webextension>
</file>

<file path=ppt/webextensions/webextension13.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e1685a74042a04542e78b4&quot;"/>
    <we:property name="BJCBGE:66e1685a74042a04542e78b4:SlideId" value="438"/>
  </we:properties>
  <we:bindings/>
  <we:snapshot xmlns:r="http://schemas.openxmlformats.org/officeDocument/2006/relationships"/>
</we:webextension>
</file>

<file path=ppt/webextensions/webextension14.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JCBGE&quot;"/>
    <we:property name="selectedQuestionId" value="&quot;66e2507d0b1ba57071b32dc4&quot;"/>
    <we:property name="BJCBGE:66e2507d0b1ba57071b32dc4:SlideId" value="440"/>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21503</TotalTime>
  <Words>10290</Words>
  <Application>Microsoft Macintosh PowerPoint</Application>
  <PresentationFormat>On-screen Show (4:3)</PresentationFormat>
  <Paragraphs>1087</Paragraphs>
  <Slides>73</Slides>
  <Notes>68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73</vt:i4>
      </vt:variant>
    </vt:vector>
  </HeadingPairs>
  <TitlesOfParts>
    <vt:vector size="82" baseType="lpstr">
      <vt:lpstr>Arial</vt:lpstr>
      <vt:lpstr>Comic Sans MS</vt:lpstr>
      <vt:lpstr>Helvetica</vt:lpstr>
      <vt:lpstr>Monotype Sorts</vt:lpstr>
      <vt:lpstr>MT Extra</vt:lpstr>
      <vt:lpstr>Symbol</vt:lpstr>
      <vt:lpstr>Times New Roman</vt:lpstr>
      <vt:lpstr>Wingdings</vt:lpstr>
      <vt:lpstr>avi</vt:lpstr>
      <vt:lpstr>Wooclap</vt:lpstr>
      <vt:lpstr>CPU Scheduling Lecture Concepts</vt:lpstr>
      <vt:lpstr>Course Overview</vt:lpstr>
      <vt:lpstr>Synchronization Concept</vt:lpstr>
      <vt:lpstr>Synchronization Concept</vt:lpstr>
      <vt:lpstr>Part 4:  Process Synchronization</vt:lpstr>
      <vt:lpstr>Background</vt:lpstr>
      <vt:lpstr>Example: Producer-Consumer  (with bounded buffer)</vt:lpstr>
      <vt:lpstr>Bounded-Buffer (Cont.)</vt:lpstr>
      <vt:lpstr>Bounded-Buffer (Cont.)</vt:lpstr>
      <vt:lpstr>Bounded-Buffer (Cont.)</vt:lpstr>
      <vt:lpstr>Race Condition</vt:lpstr>
      <vt:lpstr>The Critical-Section Problem</vt:lpstr>
      <vt:lpstr>Generic Solution Structure for the  Critical-Section Problem</vt:lpstr>
      <vt:lpstr>Desired Properties of Solutions  to the Critical-Section Problem</vt:lpstr>
      <vt:lpstr>Solution to Critical-Section Problem (Cont.)</vt:lpstr>
      <vt:lpstr>Matching Exercise</vt:lpstr>
      <vt:lpstr>Part 4:  Process Synchronization</vt:lpstr>
      <vt:lpstr>How Do People Synchronize for Coffee?</vt:lpstr>
      <vt:lpstr>How Do People Synchronize for Coffee?</vt:lpstr>
      <vt:lpstr>PowerPoint Presentation</vt:lpstr>
      <vt:lpstr>Algorithm 1</vt:lpstr>
      <vt:lpstr>Synchronization Concept</vt:lpstr>
      <vt:lpstr>Algorithm 1: Property Analysis</vt:lpstr>
      <vt:lpstr>Synchronization Concept</vt:lpstr>
      <vt:lpstr>Algorithm 2</vt:lpstr>
      <vt:lpstr>Synchronization Concept</vt:lpstr>
      <vt:lpstr>Algorithm 2: Property Analysis</vt:lpstr>
      <vt:lpstr>Algorithm 3</vt:lpstr>
      <vt:lpstr>Synchronization Concept</vt:lpstr>
      <vt:lpstr>Algorithm 3: Property Analysis</vt:lpstr>
      <vt:lpstr>Part 4:  Process Synchronization</vt:lpstr>
      <vt:lpstr>OS Support for Synchronization</vt:lpstr>
      <vt:lpstr>Synchronization Hardware</vt:lpstr>
      <vt:lpstr>Critical-Section with Test-and-Set</vt:lpstr>
      <vt:lpstr>TestAndSet: Property Analysis</vt:lpstr>
      <vt:lpstr>Test&amp;Set and Bounded Waiting</vt:lpstr>
      <vt:lpstr>Bounded Waiting fails with TestAndSet</vt:lpstr>
      <vt:lpstr>Limited Resource Synchronization</vt:lpstr>
      <vt:lpstr>Semaphore</vt:lpstr>
      <vt:lpstr>Limited Resource Synchronization</vt:lpstr>
      <vt:lpstr>Semaphore Understanding</vt:lpstr>
      <vt:lpstr>Semaphore Solution for the Critical Section Problem </vt:lpstr>
      <vt:lpstr>Classical Semaphore Implementation (Busy Waiting)</vt:lpstr>
      <vt:lpstr>Busy Waiting Semaphore (Property Analysis)</vt:lpstr>
      <vt:lpstr>Semaphore Understanding</vt:lpstr>
      <vt:lpstr>Current Semaphore Implementation  (Blocking)</vt:lpstr>
      <vt:lpstr>Blocking Semaphore Implementation block() and wakeup()</vt:lpstr>
      <vt:lpstr>Blocking Semaphore Implementation Wait(S) and Signal(S)</vt:lpstr>
      <vt:lpstr>Blocking Semaphore Implementation  Wait and Signal must still be atomic?</vt:lpstr>
      <vt:lpstr>Blocking Semaphore Implementation  S.value-- at the end of Wait(S)?</vt:lpstr>
      <vt:lpstr>Semaphore Understanding</vt:lpstr>
      <vt:lpstr>Semaphore Understanding</vt:lpstr>
      <vt:lpstr>Part 4:  Process Synchronization</vt:lpstr>
      <vt:lpstr>Best Practices for Semaphores</vt:lpstr>
      <vt:lpstr>Semaphore as General Synchronization Tool</vt:lpstr>
      <vt:lpstr>Deadlocks (Incorrect Semaphore Use)</vt:lpstr>
      <vt:lpstr>Starvation (Incorrect Semaphore Use)</vt:lpstr>
      <vt:lpstr>Classical Problems of Synchronization</vt:lpstr>
      <vt:lpstr>Producer-Consumer with Bounded-Buffer</vt:lpstr>
      <vt:lpstr>Bounded-Buffer Problem (Cont.)</vt:lpstr>
      <vt:lpstr>Bounded-Buffer Problem (Cont.)</vt:lpstr>
      <vt:lpstr>Bounded-Buffer Problem (Cont.)</vt:lpstr>
      <vt:lpstr>Synchronization Concept</vt:lpstr>
      <vt:lpstr>Bounded-Buffer Problem (Cont.)</vt:lpstr>
      <vt:lpstr>PowerPoint Presentation</vt:lpstr>
      <vt:lpstr>Dining-Philosophers Problem (Cont.) </vt:lpstr>
      <vt:lpstr>PowerPoint Presentation</vt:lpstr>
      <vt:lpstr>PowerPoint Presentation</vt:lpstr>
      <vt:lpstr>Readers-Writers Problem</vt:lpstr>
      <vt:lpstr>Readers-Writers Problem</vt:lpstr>
      <vt:lpstr>Readers-Writers Problem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4:  Process Synchronization</dc:title>
  <dc:creator>Arvind Easwaran</dc:creator>
  <cp:lastModifiedBy>Arvind Easwaran</cp:lastModifiedBy>
  <cp:revision>16</cp:revision>
  <cp:lastPrinted>2017-08-04T06:03:39Z</cp:lastPrinted>
  <dcterms:created xsi:type="dcterms:W3CDTF">2019-11-25T05:16:37Z</dcterms:created>
  <dcterms:modified xsi:type="dcterms:W3CDTF">2025-01-09T08:10:23Z</dcterms:modified>
</cp:coreProperties>
</file>