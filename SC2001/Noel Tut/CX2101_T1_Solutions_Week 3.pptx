
<file path=[Content_Types].xml><?xml version="1.0" encoding="utf-8"?>
<Types xmlns="http://schemas.openxmlformats.org/package/2006/content-types">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7" r:id="rId3"/>
    <p:sldId id="257" r:id="rId4"/>
    <p:sldId id="258" r:id="rId5"/>
    <p:sldId id="259" r:id="rId6"/>
    <p:sldId id="260" r:id="rId7"/>
    <p:sldId id="261" r:id="rId8"/>
    <p:sldId id="262" r:id="rId9"/>
    <p:sldId id="263" r:id="rId10"/>
    <p:sldId id="266" r:id="rId11"/>
    <p:sldId id="267" r:id="rId12"/>
    <p:sldId id="298"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FFFF"/>
    <a:srgbClr val="66FFFF"/>
    <a:srgbClr val="00FFFF"/>
    <a:srgbClr val="00CCFF"/>
    <a:srgbClr val="F79A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p:cViewPr varScale="1">
        <p:scale>
          <a:sx n="91" d="100"/>
          <a:sy n="91" d="100"/>
        </p:scale>
        <p:origin x="96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9" Type="http://schemas.openxmlformats.org/officeDocument/2006/relationships/image" Target="../media/image1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7.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8.bin"/><Relationship Id="rId18" Type="http://schemas.openxmlformats.org/officeDocument/2006/relationships/image" Target="../media/image10.w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7.wmf"/><Relationship Id="rId17" Type="http://schemas.openxmlformats.org/officeDocument/2006/relationships/oleObject" Target="../embeddings/oleObject10.bin"/><Relationship Id="rId2" Type="http://schemas.openxmlformats.org/officeDocument/2006/relationships/slideLayout" Target="../slideLayouts/slideLayout2.xml"/><Relationship Id="rId16" Type="http://schemas.openxmlformats.org/officeDocument/2006/relationships/image" Target="../media/image9.wmf"/><Relationship Id="rId20" Type="http://schemas.openxmlformats.org/officeDocument/2006/relationships/image" Target="../media/image11.wmf"/><Relationship Id="rId1" Type="http://schemas.openxmlformats.org/officeDocument/2006/relationships/vmlDrawing" Target="../drawings/vmlDrawing2.vml"/><Relationship Id="rId6" Type="http://schemas.openxmlformats.org/officeDocument/2006/relationships/image" Target="../media/image4.wmf"/><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oleObject" Target="../embeddings/oleObject9.bin"/><Relationship Id="rId10" Type="http://schemas.openxmlformats.org/officeDocument/2006/relationships/image" Target="../media/image6.wmf"/><Relationship Id="rId19" Type="http://schemas.openxmlformats.org/officeDocument/2006/relationships/oleObject" Target="../embeddings/oleObject11.bin"/><Relationship Id="rId4" Type="http://schemas.openxmlformats.org/officeDocument/2006/relationships/image" Target="../media/image3.wmf"/><Relationship Id="rId9" Type="http://schemas.openxmlformats.org/officeDocument/2006/relationships/oleObject" Target="../embeddings/oleObject6.bin"/><Relationship Id="rId14" Type="http://schemas.openxmlformats.org/officeDocument/2006/relationships/image" Target="../media/image8.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CX2101 Algorithm Design and Analysis</a:t>
            </a:r>
            <a:endParaRPr lang="en-US" dirty="0"/>
          </a:p>
        </p:txBody>
      </p:sp>
      <p:sp>
        <p:nvSpPr>
          <p:cNvPr id="3" name="Subtitle 2"/>
          <p:cNvSpPr>
            <a:spLocks noGrp="1"/>
          </p:cNvSpPr>
          <p:nvPr>
            <p:ph type="subTitle" idx="1"/>
          </p:nvPr>
        </p:nvSpPr>
        <p:spPr/>
        <p:txBody>
          <a:bodyPr/>
          <a:lstStyle/>
          <a:p>
            <a:r>
              <a:rPr lang="en-US" dirty="0">
                <a:solidFill>
                  <a:srgbClr val="0000FF"/>
                </a:solidFill>
              </a:rPr>
              <a:t>Tutorial </a:t>
            </a:r>
            <a:r>
              <a:rPr lang="en-US" dirty="0" smtClean="0">
                <a:solidFill>
                  <a:srgbClr val="0000FF"/>
                </a:solidFill>
              </a:rPr>
              <a:t>1 </a:t>
            </a:r>
            <a:r>
              <a:rPr lang="en-US" dirty="0">
                <a:solidFill>
                  <a:srgbClr val="0000FF"/>
                </a:solidFill>
              </a:rPr>
              <a:t>(Sorting</a:t>
            </a:r>
            <a:r>
              <a:rPr lang="en-US" dirty="0" smtClean="0">
                <a:solidFill>
                  <a:srgbClr val="0000FF"/>
                </a:solidFill>
              </a:rPr>
              <a:t>)</a:t>
            </a:r>
          </a:p>
          <a:p>
            <a:r>
              <a:rPr lang="en-US" dirty="0" smtClean="0">
                <a:solidFill>
                  <a:srgbClr val="0000FF"/>
                </a:solidFill>
              </a:rPr>
              <a:t>Week </a:t>
            </a:r>
            <a:r>
              <a:rPr lang="en-US" dirty="0" smtClean="0">
                <a:solidFill>
                  <a:srgbClr val="0000FF"/>
                </a:solidFill>
              </a:rPr>
              <a:t>3: </a:t>
            </a:r>
            <a:r>
              <a:rPr lang="en-US" dirty="0" smtClean="0">
                <a:solidFill>
                  <a:srgbClr val="0000FF"/>
                </a:solidFill>
              </a:rPr>
              <a:t>Q1-Q3</a:t>
            </a:r>
            <a:endParaRPr lang="en-US" dirty="0">
              <a:solidFill>
                <a:srgbClr val="0000FF"/>
              </a:solidFill>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This Tutorial</a:t>
            </a:r>
            <a:endParaRPr lang="en-SG" dirty="0"/>
          </a:p>
        </p:txBody>
      </p:sp>
      <p:sp>
        <p:nvSpPr>
          <p:cNvPr id="3" name="Content Placeholder 2"/>
          <p:cNvSpPr>
            <a:spLocks noGrp="1"/>
          </p:cNvSpPr>
          <p:nvPr>
            <p:ph idx="1"/>
          </p:nvPr>
        </p:nvSpPr>
        <p:spPr/>
        <p:txBody>
          <a:bodyPr/>
          <a:lstStyle/>
          <a:p>
            <a:pPr>
              <a:defRPr/>
            </a:pPr>
            <a:r>
              <a:rPr lang="en-US" dirty="0" smtClean="0"/>
              <a:t>Insertion Sort</a:t>
            </a:r>
          </a:p>
          <a:p>
            <a:pPr marL="0" indent="0">
              <a:buFont typeface="Wingdings" pitchFamily="2" charset="2"/>
              <a:buNone/>
              <a:defRPr/>
            </a:pPr>
            <a:endParaRPr lang="en-US" dirty="0" smtClean="0"/>
          </a:p>
          <a:p>
            <a:pPr>
              <a:defRPr/>
            </a:pPr>
            <a:r>
              <a:rPr lang="en-US" dirty="0" smtClean="0"/>
              <a:t>Divide and Conquer Approach</a:t>
            </a:r>
          </a:p>
          <a:p>
            <a:pPr>
              <a:defRPr/>
            </a:pPr>
            <a:endParaRPr lang="en-US" dirty="0" smtClean="0"/>
          </a:p>
          <a:p>
            <a:pPr>
              <a:defRPr/>
            </a:pPr>
            <a:r>
              <a:rPr lang="en-US" dirty="0" err="1" smtClean="0"/>
              <a:t>Mergesort</a:t>
            </a:r>
            <a:endParaRPr lang="en-US" dirty="0"/>
          </a:p>
          <a:p>
            <a:pPr>
              <a:defRPr/>
            </a:pPr>
            <a:endParaRPr lang="en-US" dirty="0" smtClean="0"/>
          </a:p>
        </p:txBody>
      </p:sp>
    </p:spTree>
    <p:extLst>
      <p:ext uri="{BB962C8B-B14F-4D97-AF65-F5344CB8AC3E}">
        <p14:creationId xmlns:p14="http://schemas.microsoft.com/office/powerpoint/2010/main" val="16920242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pPr lvl="0"/>
            <a:r>
              <a:rPr lang="en-US" sz="2400" dirty="0">
                <a:solidFill>
                  <a:srgbClr val="0000FF"/>
                </a:solidFill>
              </a:rPr>
              <a:t>The worst case for Insertion Sort occurs when the keys are initially in decreasing order. Suppose the performance of Insertion Sort is measured by the total number of comparisons between array elements (not counting the number of swaps). Show at least two other initial arrangements of keys that are also worst cases for Insertion Sort.</a:t>
            </a:r>
          </a:p>
          <a:p>
            <a:r>
              <a:rPr lang="en-US" sz="2400" b="1" dirty="0" err="1"/>
              <a:t>Ans</a:t>
            </a:r>
            <a:r>
              <a:rPr lang="en-US" sz="2400" dirty="0"/>
              <a:t>: Two other worst-case input for Insertion sort are:</a:t>
            </a:r>
          </a:p>
          <a:p>
            <a:endParaRPr lang="en-US" sz="2400" dirty="0"/>
          </a:p>
          <a:p>
            <a:pPr>
              <a:buNone/>
            </a:pPr>
            <a:r>
              <a:rPr lang="en-US" sz="2400" dirty="0"/>
              <a:t>		(</a:t>
            </a:r>
            <a:r>
              <a:rPr lang="en-US" sz="2400" i="1" dirty="0"/>
              <a:t>n</a:t>
            </a:r>
            <a:r>
              <a:rPr lang="en-US" sz="2400" dirty="0"/>
              <a:t>, </a:t>
            </a:r>
            <a:r>
              <a:rPr lang="en-US" sz="2400" i="1" dirty="0"/>
              <a:t>n</a:t>
            </a:r>
            <a:r>
              <a:rPr lang="en-US" sz="2400" dirty="0"/>
              <a:t> − 1, </a:t>
            </a:r>
            <a:r>
              <a:rPr lang="en-US" sz="2400" i="1" dirty="0"/>
              <a:t>n</a:t>
            </a:r>
            <a:r>
              <a:rPr lang="en-US" sz="2400" dirty="0"/>
              <a:t> − 2, …, 3, 1, 2)</a:t>
            </a:r>
          </a:p>
          <a:p>
            <a:pPr>
              <a:buNone/>
            </a:pPr>
            <a:r>
              <a:rPr lang="en-US" sz="2400" dirty="0"/>
              <a:t>		(1, </a:t>
            </a:r>
            <a:r>
              <a:rPr lang="en-US" sz="2400" i="1" dirty="0"/>
              <a:t>n</a:t>
            </a:r>
            <a:r>
              <a:rPr lang="en-US" sz="2400" dirty="0"/>
              <a:t>, </a:t>
            </a:r>
            <a:r>
              <a:rPr lang="en-US" sz="2400" i="1" dirty="0"/>
              <a:t>n</a:t>
            </a:r>
            <a:r>
              <a:rPr lang="en-US" sz="2400" dirty="0"/>
              <a:t> − 1, </a:t>
            </a:r>
            <a:r>
              <a:rPr lang="en-US" sz="2400" i="1" dirty="0"/>
              <a:t>n</a:t>
            </a:r>
            <a:r>
              <a:rPr lang="en-US" sz="2400" dirty="0"/>
              <a:t> − 2, …, 2)</a:t>
            </a:r>
          </a:p>
          <a:p>
            <a:endParaRPr lang="en-US" sz="2400" dirty="0"/>
          </a:p>
          <a:p>
            <a:pPr>
              <a:buNone/>
            </a:pPr>
            <a:r>
              <a:rPr lang="en-US" sz="2400" dirty="0"/>
              <a:t>	Note: In each of above lists, the </a:t>
            </a:r>
            <a:r>
              <a:rPr lang="en-US" sz="2400" b="1" i="1" dirty="0" err="1"/>
              <a:t>i</a:t>
            </a:r>
            <a:r>
              <a:rPr lang="en-US" sz="2400" dirty="0" err="1"/>
              <a:t>th</a:t>
            </a:r>
            <a:r>
              <a:rPr lang="en-US" sz="2400" dirty="0"/>
              <a:t> key still requires </a:t>
            </a:r>
            <a:r>
              <a:rPr lang="en-US" sz="2400" b="1" i="1" dirty="0" err="1"/>
              <a:t>i</a:t>
            </a:r>
            <a:r>
              <a:rPr lang="en-US" sz="2400" b="1" dirty="0"/>
              <a:t> comparisons</a:t>
            </a:r>
            <a:r>
              <a:rPr lang="en-US" sz="2400" dirty="0"/>
              <a:t> to find its correct position, although a comparison may not be followed by a </a:t>
            </a:r>
            <a:r>
              <a:rPr lang="en-US" sz="2400" b="1" dirty="0"/>
              <a:t>swap</a:t>
            </a:r>
            <a:r>
              <a:rPr lang="en-US" sz="2400" dirty="0"/>
              <a:t> of keys.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p>
        </p:txBody>
      </p:sp>
      <p:sp>
        <p:nvSpPr>
          <p:cNvPr id="3" name="Content Placeholder 2"/>
          <p:cNvSpPr>
            <a:spLocks noGrp="1"/>
          </p:cNvSpPr>
          <p:nvPr>
            <p:ph idx="1"/>
          </p:nvPr>
        </p:nvSpPr>
        <p:spPr>
          <a:xfrm>
            <a:off x="457200" y="1371600"/>
            <a:ext cx="8229600" cy="4754563"/>
          </a:xfrm>
        </p:spPr>
        <p:txBody>
          <a:bodyPr>
            <a:normAutofit fontScale="92500" lnSpcReduction="20000"/>
          </a:bodyPr>
          <a:lstStyle/>
          <a:p>
            <a:r>
              <a:rPr lang="en-US" sz="2600" dirty="0">
                <a:solidFill>
                  <a:srgbClr val="0000FF"/>
                </a:solidFill>
              </a:rPr>
              <a:t>Use the divide and conquer approach to design an algorithm that finds both the largest and the smallest elements in an array of </a:t>
            </a:r>
            <a:r>
              <a:rPr lang="en-US" sz="2600" i="1" dirty="0">
                <a:solidFill>
                  <a:srgbClr val="0000FF"/>
                </a:solidFill>
              </a:rPr>
              <a:t>n</a:t>
            </a:r>
            <a:r>
              <a:rPr lang="en-US" sz="2600" dirty="0">
                <a:solidFill>
                  <a:srgbClr val="0000FF"/>
                </a:solidFill>
              </a:rPr>
              <a:t> integers.  Show that your algorithm does at most roughly 1.5</a:t>
            </a:r>
            <a:r>
              <a:rPr lang="en-US" sz="2600" i="1" dirty="0">
                <a:solidFill>
                  <a:srgbClr val="0000FF"/>
                </a:solidFill>
              </a:rPr>
              <a:t>n</a:t>
            </a:r>
            <a:r>
              <a:rPr lang="en-US" sz="2600" dirty="0">
                <a:solidFill>
                  <a:srgbClr val="0000FF"/>
                </a:solidFill>
              </a:rPr>
              <a:t> comparisons of the elements. Assume </a:t>
            </a:r>
            <a:r>
              <a:rPr lang="en-US" sz="2600" i="1" dirty="0">
                <a:solidFill>
                  <a:srgbClr val="0000FF"/>
                </a:solidFill>
              </a:rPr>
              <a:t>n</a:t>
            </a:r>
            <a:r>
              <a:rPr lang="en-US" sz="2600" dirty="0">
                <a:solidFill>
                  <a:srgbClr val="0000FF"/>
                </a:solidFill>
              </a:rPr>
              <a:t> = 2</a:t>
            </a:r>
            <a:r>
              <a:rPr lang="en-US" sz="2600" i="1" baseline="30000" dirty="0">
                <a:solidFill>
                  <a:srgbClr val="0000FF"/>
                </a:solidFill>
              </a:rPr>
              <a:t>k</a:t>
            </a:r>
            <a:r>
              <a:rPr lang="en-US" sz="2600" dirty="0">
                <a:solidFill>
                  <a:srgbClr val="0000FF"/>
                </a:solidFill>
              </a:rPr>
              <a:t>.</a:t>
            </a:r>
          </a:p>
          <a:p>
            <a:r>
              <a:rPr lang="en-US" sz="2400" dirty="0" err="1"/>
              <a:t>Ans</a:t>
            </a:r>
            <a:r>
              <a:rPr lang="en-US" sz="2400" dirty="0"/>
              <a:t>:</a:t>
            </a:r>
          </a:p>
          <a:p>
            <a:endParaRPr lang="en-US" sz="2400" dirty="0"/>
          </a:p>
          <a:p>
            <a:pPr>
              <a:buNone/>
            </a:pPr>
            <a:r>
              <a:rPr lang="en-US" sz="1600" dirty="0">
                <a:latin typeface="Courier New" pitchFamily="49" charset="0"/>
                <a:cs typeface="Courier New" pitchFamily="49" charset="0"/>
              </a:rPr>
              <a:t>	</a:t>
            </a:r>
            <a:r>
              <a:rPr lang="en-US" sz="1600" b="1" dirty="0">
                <a:latin typeface="Courier New" pitchFamily="49" charset="0"/>
                <a:cs typeface="Courier New" pitchFamily="49" charset="0"/>
              </a:rPr>
              <a:t>void </a:t>
            </a:r>
            <a:r>
              <a:rPr lang="en-US" sz="1600" b="1" dirty="0" err="1">
                <a:latin typeface="Courier New" pitchFamily="49" charset="0"/>
                <a:cs typeface="Courier New" pitchFamily="49" charset="0"/>
              </a:rPr>
              <a:t>findMinMax</a:t>
            </a:r>
            <a:r>
              <a:rPr lang="en-US" sz="1600" b="1" dirty="0">
                <a:latin typeface="Courier New" pitchFamily="49" charset="0"/>
                <a:cs typeface="Courier New" pitchFamily="49" charset="0"/>
              </a:rPr>
              <a:t>(</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ar</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start,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end,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minMax</a:t>
            </a:r>
            <a:r>
              <a:rPr lang="en-US" sz="1600" b="1" dirty="0">
                <a:latin typeface="Courier New" pitchFamily="49" charset="0"/>
                <a:cs typeface="Courier New" pitchFamily="49" charset="0"/>
              </a:rPr>
              <a:t>)</a:t>
            </a:r>
          </a:p>
          <a:p>
            <a:pPr>
              <a:buNone/>
            </a:pPr>
            <a:r>
              <a:rPr lang="en-US" sz="1600" b="1" dirty="0">
                <a:latin typeface="Courier New" pitchFamily="49" charset="0"/>
                <a:cs typeface="Courier New" pitchFamily="49" charset="0"/>
              </a:rPr>
              <a:t>	// </a:t>
            </a:r>
            <a:r>
              <a:rPr lang="en-US" sz="1600" b="1" dirty="0" err="1">
                <a:latin typeface="Courier New" pitchFamily="49" charset="0"/>
                <a:cs typeface="Courier New" pitchFamily="49" charset="0"/>
              </a:rPr>
              <a:t>minMax</a:t>
            </a:r>
            <a:r>
              <a:rPr lang="en-US" sz="1600" b="1" dirty="0">
                <a:latin typeface="Courier New" pitchFamily="49" charset="0"/>
                <a:cs typeface="Courier New" pitchFamily="49" charset="0"/>
              </a:rPr>
              <a:t> is an array of two integers to return the minimum</a:t>
            </a:r>
          </a:p>
          <a:p>
            <a:pPr>
              <a:buNone/>
            </a:pPr>
            <a:r>
              <a:rPr lang="en-US" sz="1600" b="1" dirty="0">
                <a:latin typeface="Courier New" pitchFamily="49" charset="0"/>
                <a:cs typeface="Courier New" pitchFamily="49" charset="0"/>
              </a:rPr>
              <a:t>	// and maximum found</a:t>
            </a:r>
          </a:p>
          <a:p>
            <a:pPr>
              <a:buNone/>
            </a:pPr>
            <a:r>
              <a:rPr lang="en-US" sz="1600" b="1" dirty="0">
                <a:latin typeface="Courier New" pitchFamily="49" charset="0"/>
                <a:cs typeface="Courier New" pitchFamily="49" charset="0"/>
              </a:rPr>
              <a:t>	{	</a:t>
            </a:r>
          </a:p>
          <a:p>
            <a:pPr>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tempMinMax1[] = new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[2];</a:t>
            </a:r>
          </a:p>
          <a:p>
            <a:pPr>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tempMinMax2[] = new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[2];</a:t>
            </a:r>
          </a:p>
          <a:p>
            <a:pPr>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mid;</a:t>
            </a:r>
          </a:p>
          <a:p>
            <a:pPr>
              <a:buNone/>
            </a:pPr>
            <a:endParaRPr lang="en-US" sz="1600" b="1" dirty="0">
              <a:latin typeface="Courier New" pitchFamily="49" charset="0"/>
              <a:cs typeface="Courier New" pitchFamily="49" charset="0"/>
            </a:endParaRPr>
          </a:p>
          <a:p>
            <a:pPr marL="91440">
              <a:spcBef>
                <a:spcPts val="0"/>
              </a:spcBef>
              <a:buNone/>
            </a:pPr>
            <a:r>
              <a:rPr lang="en-US" sz="1600" dirty="0">
                <a:latin typeface="Courier New" pitchFamily="49" charset="0"/>
                <a:cs typeface="Courier New" pitchFamily="49" charset="0"/>
              </a:rPr>
              <a:t>	</a:t>
            </a:r>
            <a:r>
              <a:rPr lang="en-US" sz="1600" b="1" dirty="0">
                <a:latin typeface="Courier New" pitchFamily="49" charset="0"/>
                <a:cs typeface="Courier New" pitchFamily="49" charset="0"/>
              </a:rPr>
              <a:t>	if (start == end) { // </a:t>
            </a:r>
            <a:r>
              <a:rPr lang="en-US" sz="1600" b="1" dirty="0">
                <a:solidFill>
                  <a:srgbClr val="FF0000"/>
                </a:solidFill>
                <a:latin typeface="Courier New" pitchFamily="49" charset="0"/>
                <a:cs typeface="Courier New" pitchFamily="49" charset="0"/>
              </a:rPr>
              <a:t>one element array</a:t>
            </a:r>
          </a:p>
          <a:p>
            <a:pPr>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minMax</a:t>
            </a:r>
            <a:r>
              <a:rPr lang="en-US" sz="1600" b="1" dirty="0">
                <a:latin typeface="Courier New" pitchFamily="49" charset="0"/>
                <a:cs typeface="Courier New" pitchFamily="49" charset="0"/>
              </a:rPr>
              <a:t>[0] = </a:t>
            </a:r>
            <a:r>
              <a:rPr lang="en-US" sz="1600" b="1" dirty="0" err="1">
                <a:latin typeface="Courier New" pitchFamily="49" charset="0"/>
                <a:cs typeface="Courier New" pitchFamily="49" charset="0"/>
              </a:rPr>
              <a:t>ar</a:t>
            </a:r>
            <a:r>
              <a:rPr lang="en-US" sz="1600" b="1" dirty="0">
                <a:latin typeface="Courier New" pitchFamily="49" charset="0"/>
                <a:cs typeface="Courier New" pitchFamily="49" charset="0"/>
              </a:rPr>
              <a:t>[start];</a:t>
            </a:r>
          </a:p>
          <a:p>
            <a:pPr>
              <a:buNone/>
            </a:pP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minMax</a:t>
            </a:r>
            <a:r>
              <a:rPr lang="en-US" sz="1600" b="1" dirty="0">
                <a:latin typeface="Courier New" pitchFamily="49" charset="0"/>
                <a:cs typeface="Courier New" pitchFamily="49" charset="0"/>
              </a:rPr>
              <a:t>[1] = </a:t>
            </a:r>
            <a:r>
              <a:rPr lang="en-US" sz="1600" b="1" dirty="0" err="1">
                <a:latin typeface="Courier New" pitchFamily="49" charset="0"/>
                <a:cs typeface="Courier New" pitchFamily="49" charset="0"/>
              </a:rPr>
              <a:t>ar</a:t>
            </a:r>
            <a:r>
              <a:rPr lang="en-US" sz="1600" b="1" dirty="0">
                <a:latin typeface="Courier New" pitchFamily="49" charset="0"/>
                <a:cs typeface="Courier New" pitchFamily="49" charset="0"/>
              </a:rPr>
              <a:t>[start];</a:t>
            </a:r>
          </a:p>
          <a:p>
            <a:pPr>
              <a:buNone/>
            </a:pPr>
            <a:r>
              <a:rPr lang="en-US" sz="1600" b="1" dirty="0">
                <a:latin typeface="Courier New" pitchFamily="49" charset="0"/>
                <a:cs typeface="Courier New" pitchFamily="49" charset="0"/>
              </a:rPr>
              <a:t>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Autofit/>
          </a:bodyPr>
          <a:lstStyle/>
          <a:p>
            <a:pPr>
              <a:buNone/>
            </a:pPr>
            <a:r>
              <a:rPr lang="en-US" sz="1400" b="1" dirty="0">
                <a:latin typeface="Courier New" pitchFamily="49" charset="0"/>
                <a:cs typeface="Courier New" pitchFamily="49" charset="0"/>
              </a:rPr>
              <a:t>		else if (end – start == 1) { //</a:t>
            </a:r>
            <a:r>
              <a:rPr lang="en-US" sz="1400" b="1" dirty="0">
                <a:solidFill>
                  <a:srgbClr val="FF0000"/>
                </a:solidFill>
                <a:latin typeface="Courier New" pitchFamily="49" charset="0"/>
                <a:cs typeface="Courier New" pitchFamily="49" charset="0"/>
              </a:rPr>
              <a:t> two element array</a:t>
            </a:r>
            <a:r>
              <a:rPr lang="en-US" sz="1400" b="1" dirty="0">
                <a:latin typeface="Courier New" pitchFamily="49" charset="0"/>
                <a:cs typeface="Courier New" pitchFamily="49" charset="0"/>
              </a:rPr>
              <a:t/>
            </a:r>
            <a:br>
              <a:rPr lang="en-US" sz="1400" b="1" dirty="0">
                <a:latin typeface="Courier New" pitchFamily="49" charset="0"/>
                <a:cs typeface="Courier New" pitchFamily="49" charset="0"/>
              </a:rPr>
            </a:br>
            <a:r>
              <a:rPr lang="en-US" sz="1400" b="1" dirty="0">
                <a:latin typeface="Courier New" pitchFamily="49" charset="0"/>
                <a:cs typeface="Courier New" pitchFamily="49" charset="0"/>
              </a:rPr>
              <a:t>		if (</a:t>
            </a:r>
            <a:r>
              <a:rPr lang="en-US" sz="1400" b="1" dirty="0" err="1">
                <a:latin typeface="Courier New" pitchFamily="49" charset="0"/>
                <a:cs typeface="Courier New" pitchFamily="49" charset="0"/>
              </a:rPr>
              <a:t>ar</a:t>
            </a:r>
            <a:r>
              <a:rPr lang="en-US" sz="1400" b="1" dirty="0">
                <a:latin typeface="Courier New" pitchFamily="49" charset="0"/>
                <a:cs typeface="Courier New" pitchFamily="49" charset="0"/>
              </a:rPr>
              <a:t>[start] &gt; </a:t>
            </a:r>
            <a:r>
              <a:rPr lang="en-US" sz="1400" b="1" dirty="0" err="1">
                <a:latin typeface="Courier New" pitchFamily="49" charset="0"/>
                <a:cs typeface="Courier New" pitchFamily="49" charset="0"/>
              </a:rPr>
              <a:t>ar</a:t>
            </a:r>
            <a:r>
              <a:rPr lang="en-US" sz="1400" b="1" dirty="0">
                <a:latin typeface="Courier New" pitchFamily="49" charset="0"/>
                <a:cs typeface="Courier New" pitchFamily="49" charset="0"/>
              </a:rPr>
              <a:t>[end]) {</a:t>
            </a:r>
          </a:p>
          <a:p>
            <a:pPr>
              <a:buNone/>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minMax</a:t>
            </a:r>
            <a:r>
              <a:rPr lang="en-US" sz="1400" b="1" dirty="0">
                <a:latin typeface="Courier New" pitchFamily="49" charset="0"/>
                <a:cs typeface="Courier New" pitchFamily="49" charset="0"/>
              </a:rPr>
              <a:t>[1] = </a:t>
            </a:r>
            <a:r>
              <a:rPr lang="en-US" sz="1400" b="1" dirty="0" err="1">
                <a:latin typeface="Courier New" pitchFamily="49" charset="0"/>
                <a:cs typeface="Courier New" pitchFamily="49" charset="0"/>
              </a:rPr>
              <a:t>ar</a:t>
            </a:r>
            <a:r>
              <a:rPr lang="en-US" sz="1400" b="1" dirty="0">
                <a:latin typeface="Courier New" pitchFamily="49" charset="0"/>
                <a:cs typeface="Courier New" pitchFamily="49" charset="0"/>
              </a:rPr>
              <a:t>[start];</a:t>
            </a:r>
          </a:p>
          <a:p>
            <a:pPr>
              <a:buNone/>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minMax</a:t>
            </a:r>
            <a:r>
              <a:rPr lang="en-US" sz="1400" b="1" dirty="0">
                <a:latin typeface="Courier New" pitchFamily="49" charset="0"/>
                <a:cs typeface="Courier New" pitchFamily="49" charset="0"/>
              </a:rPr>
              <a:t>[0] = </a:t>
            </a:r>
            <a:r>
              <a:rPr lang="en-US" sz="1400" b="1" dirty="0" err="1">
                <a:latin typeface="Courier New" pitchFamily="49" charset="0"/>
                <a:cs typeface="Courier New" pitchFamily="49" charset="0"/>
              </a:rPr>
              <a:t>ar</a:t>
            </a:r>
            <a:r>
              <a:rPr lang="en-US" sz="1400" b="1" dirty="0">
                <a:latin typeface="Courier New" pitchFamily="49" charset="0"/>
                <a:cs typeface="Courier New" pitchFamily="49" charset="0"/>
              </a:rPr>
              <a:t>[end];</a:t>
            </a:r>
          </a:p>
          <a:p>
            <a:pPr>
              <a:buNone/>
            </a:pPr>
            <a:r>
              <a:rPr lang="en-US" sz="1400" b="1" dirty="0">
                <a:latin typeface="Courier New" pitchFamily="49" charset="0"/>
                <a:cs typeface="Courier New" pitchFamily="49" charset="0"/>
              </a:rPr>
              <a:t>			} else {</a:t>
            </a:r>
          </a:p>
          <a:p>
            <a:pPr>
              <a:buNone/>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minMax</a:t>
            </a:r>
            <a:r>
              <a:rPr lang="en-US" sz="1400" b="1" dirty="0">
                <a:latin typeface="Courier New" pitchFamily="49" charset="0"/>
                <a:cs typeface="Courier New" pitchFamily="49" charset="0"/>
              </a:rPr>
              <a:t>[0] = </a:t>
            </a:r>
            <a:r>
              <a:rPr lang="en-US" sz="1400" b="1" dirty="0" err="1">
                <a:latin typeface="Courier New" pitchFamily="49" charset="0"/>
                <a:cs typeface="Courier New" pitchFamily="49" charset="0"/>
              </a:rPr>
              <a:t>ar</a:t>
            </a:r>
            <a:r>
              <a:rPr lang="en-US" sz="1400" b="1" dirty="0">
                <a:latin typeface="Courier New" pitchFamily="49" charset="0"/>
                <a:cs typeface="Courier New" pitchFamily="49" charset="0"/>
              </a:rPr>
              <a:t>[start];</a:t>
            </a:r>
          </a:p>
          <a:p>
            <a:pPr>
              <a:buNone/>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minMax</a:t>
            </a:r>
            <a:r>
              <a:rPr lang="en-US" sz="1400" b="1" dirty="0">
                <a:latin typeface="Courier New" pitchFamily="49" charset="0"/>
                <a:cs typeface="Courier New" pitchFamily="49" charset="0"/>
              </a:rPr>
              <a:t>[1] = </a:t>
            </a:r>
            <a:r>
              <a:rPr lang="en-US" sz="1400" b="1" dirty="0" err="1">
                <a:latin typeface="Courier New" pitchFamily="49" charset="0"/>
                <a:cs typeface="Courier New" pitchFamily="49" charset="0"/>
              </a:rPr>
              <a:t>ar</a:t>
            </a:r>
            <a:r>
              <a:rPr lang="en-US" sz="1400" b="1" dirty="0">
                <a:latin typeface="Courier New" pitchFamily="49" charset="0"/>
                <a:cs typeface="Courier New" pitchFamily="49" charset="0"/>
              </a:rPr>
              <a:t>[end];</a:t>
            </a:r>
          </a:p>
          <a:p>
            <a:pPr>
              <a:buNone/>
            </a:pPr>
            <a:r>
              <a:rPr lang="en-US" sz="1400" b="1" dirty="0">
                <a:latin typeface="Courier New" pitchFamily="49" charset="0"/>
                <a:cs typeface="Courier New" pitchFamily="49" charset="0"/>
              </a:rPr>
              <a:t>			}</a:t>
            </a:r>
          </a:p>
          <a:p>
            <a:pPr>
              <a:buNone/>
            </a:pPr>
            <a:r>
              <a:rPr lang="en-US" sz="1400" b="1" dirty="0">
                <a:latin typeface="Courier New" pitchFamily="49" charset="0"/>
                <a:cs typeface="Courier New" pitchFamily="49" charset="0"/>
              </a:rPr>
              <a:t>		}</a:t>
            </a:r>
          </a:p>
          <a:p>
            <a:pPr>
              <a:buNone/>
            </a:pPr>
            <a:r>
              <a:rPr lang="en-US" sz="1400" b="1" dirty="0">
                <a:latin typeface="Courier New" pitchFamily="49" charset="0"/>
                <a:cs typeface="Courier New" pitchFamily="49" charset="0"/>
              </a:rPr>
              <a:t>		else {	// </a:t>
            </a:r>
            <a:r>
              <a:rPr lang="en-US" sz="1400" b="1" dirty="0">
                <a:solidFill>
                  <a:srgbClr val="FF0000"/>
                </a:solidFill>
                <a:latin typeface="Courier New" pitchFamily="49" charset="0"/>
                <a:cs typeface="Courier New" pitchFamily="49" charset="0"/>
              </a:rPr>
              <a:t>array longer than two elements</a:t>
            </a:r>
          </a:p>
          <a:p>
            <a:pPr>
              <a:buNone/>
            </a:pPr>
            <a:r>
              <a:rPr lang="en-US" sz="1400" b="1" dirty="0">
                <a:latin typeface="Courier New" pitchFamily="49" charset="0"/>
                <a:cs typeface="Courier New" pitchFamily="49" charset="0"/>
              </a:rPr>
              <a:t>			mid = (start + end)/2;</a:t>
            </a:r>
          </a:p>
          <a:p>
            <a:pPr>
              <a:buNone/>
            </a:pPr>
            <a:r>
              <a:rPr lang="en-US" sz="1400" b="1" dirty="0">
                <a:latin typeface="Courier New" pitchFamily="49" charset="0"/>
                <a:cs typeface="Courier New" pitchFamily="49" charset="0"/>
              </a:rPr>
              <a:t>			</a:t>
            </a:r>
          </a:p>
          <a:p>
            <a:pPr>
              <a:buNone/>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findMinMax</a:t>
            </a:r>
            <a:r>
              <a:rPr lang="en-US" sz="1400" b="1" dirty="0">
                <a:latin typeface="Courier New" pitchFamily="49" charset="0"/>
                <a:cs typeface="Courier New" pitchFamily="49" charset="0"/>
              </a:rPr>
              <a:t>(</a:t>
            </a:r>
            <a:r>
              <a:rPr lang="en-US" sz="1400" b="1" dirty="0" err="1">
                <a:latin typeface="Courier New" pitchFamily="49" charset="0"/>
                <a:cs typeface="Courier New" pitchFamily="49" charset="0"/>
              </a:rPr>
              <a:t>ar</a:t>
            </a:r>
            <a:r>
              <a:rPr lang="en-US" sz="1400" b="1" dirty="0">
                <a:latin typeface="Courier New" pitchFamily="49" charset="0"/>
                <a:cs typeface="Courier New" pitchFamily="49" charset="0"/>
              </a:rPr>
              <a:t>, start, mid, tempMinMax1);	</a:t>
            </a:r>
          </a:p>
          <a:p>
            <a:pPr>
              <a:buNone/>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findMinMax</a:t>
            </a:r>
            <a:r>
              <a:rPr lang="en-US" sz="1400" b="1" dirty="0">
                <a:latin typeface="Courier New" pitchFamily="49" charset="0"/>
                <a:cs typeface="Courier New" pitchFamily="49" charset="0"/>
              </a:rPr>
              <a:t>(</a:t>
            </a:r>
            <a:r>
              <a:rPr lang="en-US" sz="1400" b="1" dirty="0" err="1">
                <a:latin typeface="Courier New" pitchFamily="49" charset="0"/>
                <a:cs typeface="Courier New" pitchFamily="49" charset="0"/>
              </a:rPr>
              <a:t>ar</a:t>
            </a:r>
            <a:r>
              <a:rPr lang="en-US" sz="1400" b="1" dirty="0">
                <a:latin typeface="Courier New" pitchFamily="49" charset="0"/>
                <a:cs typeface="Courier New" pitchFamily="49" charset="0"/>
              </a:rPr>
              <a:t>, mid+1, end, tempMinMax2);</a:t>
            </a:r>
          </a:p>
          <a:p>
            <a:pPr>
              <a:buNone/>
            </a:pPr>
            <a:endParaRPr lang="en-US" sz="1400" b="1" dirty="0">
              <a:latin typeface="Courier New" pitchFamily="49" charset="0"/>
              <a:cs typeface="Courier New" pitchFamily="49" charset="0"/>
            </a:endParaRPr>
          </a:p>
          <a:p>
            <a:pPr>
              <a:buNone/>
            </a:pPr>
            <a:r>
              <a:rPr lang="en-US" sz="1400" b="1" dirty="0">
                <a:latin typeface="Courier New" pitchFamily="49" charset="0"/>
                <a:cs typeface="Courier New" pitchFamily="49" charset="0"/>
              </a:rPr>
              <a:t>			if (tempMinMax1[0] &lt; tempMinMax2[0])</a:t>
            </a:r>
          </a:p>
          <a:p>
            <a:pPr>
              <a:buNone/>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minMax</a:t>
            </a:r>
            <a:r>
              <a:rPr lang="en-US" sz="1400" b="1" dirty="0">
                <a:latin typeface="Courier New" pitchFamily="49" charset="0"/>
                <a:cs typeface="Courier New" pitchFamily="49" charset="0"/>
              </a:rPr>
              <a:t>[0] = tempMinMax1[0];</a:t>
            </a:r>
          </a:p>
          <a:p>
            <a:pPr>
              <a:buNone/>
            </a:pPr>
            <a:r>
              <a:rPr lang="en-US" sz="1400" b="1" dirty="0">
                <a:latin typeface="Courier New" pitchFamily="49" charset="0"/>
                <a:cs typeface="Courier New" pitchFamily="49" charset="0"/>
              </a:rPr>
              <a:t>			else	</a:t>
            </a:r>
            <a:r>
              <a:rPr lang="en-US" sz="1400" b="1" dirty="0" err="1">
                <a:latin typeface="Courier New" pitchFamily="49" charset="0"/>
                <a:cs typeface="Courier New" pitchFamily="49" charset="0"/>
              </a:rPr>
              <a:t>minMax</a:t>
            </a:r>
            <a:r>
              <a:rPr lang="en-US" sz="1400" b="1" dirty="0">
                <a:latin typeface="Courier New" pitchFamily="49" charset="0"/>
                <a:cs typeface="Courier New" pitchFamily="49" charset="0"/>
              </a:rPr>
              <a:t>[0] = tempMinMax2[0];</a:t>
            </a:r>
          </a:p>
          <a:p>
            <a:pPr>
              <a:buNone/>
            </a:pPr>
            <a:endParaRPr lang="en-US" sz="1400" b="1" dirty="0">
              <a:latin typeface="Courier New" pitchFamily="49" charset="0"/>
              <a:cs typeface="Courier New" pitchFamily="49" charset="0"/>
            </a:endParaRPr>
          </a:p>
          <a:p>
            <a:pPr>
              <a:buNone/>
            </a:pPr>
            <a:r>
              <a:rPr lang="en-US" sz="1400" b="1" dirty="0">
                <a:latin typeface="Courier New" pitchFamily="49" charset="0"/>
                <a:cs typeface="Courier New" pitchFamily="49" charset="0"/>
              </a:rPr>
              <a:t>			if (tempMinMax1[1] &gt; tempMinMax2[1])</a:t>
            </a:r>
          </a:p>
          <a:p>
            <a:pPr>
              <a:buNone/>
            </a:pPr>
            <a:r>
              <a:rPr lang="en-US" sz="1400" b="1" dirty="0">
                <a:latin typeface="Courier New" pitchFamily="49" charset="0"/>
                <a:cs typeface="Courier New" pitchFamily="49" charset="0"/>
              </a:rPr>
              <a:t>				</a:t>
            </a:r>
            <a:r>
              <a:rPr lang="en-US" sz="1400" b="1" dirty="0" err="1">
                <a:latin typeface="Courier New" pitchFamily="49" charset="0"/>
                <a:cs typeface="Courier New" pitchFamily="49" charset="0"/>
              </a:rPr>
              <a:t>minMax</a:t>
            </a:r>
            <a:r>
              <a:rPr lang="en-US" sz="1400" b="1" dirty="0">
                <a:latin typeface="Courier New" pitchFamily="49" charset="0"/>
                <a:cs typeface="Courier New" pitchFamily="49" charset="0"/>
              </a:rPr>
              <a:t>[1] = tempMinMax1[1];</a:t>
            </a:r>
          </a:p>
          <a:p>
            <a:pPr>
              <a:buNone/>
            </a:pPr>
            <a:r>
              <a:rPr lang="en-US" sz="1400" b="1" dirty="0">
                <a:latin typeface="Courier New" pitchFamily="49" charset="0"/>
                <a:cs typeface="Courier New" pitchFamily="49" charset="0"/>
              </a:rPr>
              <a:t>			else	</a:t>
            </a:r>
            <a:r>
              <a:rPr lang="en-US" sz="1400" b="1" dirty="0" err="1">
                <a:latin typeface="Courier New" pitchFamily="49" charset="0"/>
                <a:cs typeface="Courier New" pitchFamily="49" charset="0"/>
              </a:rPr>
              <a:t>minMax</a:t>
            </a:r>
            <a:r>
              <a:rPr lang="en-US" sz="1400" b="1" dirty="0">
                <a:latin typeface="Courier New" pitchFamily="49" charset="0"/>
                <a:cs typeface="Courier New" pitchFamily="49" charset="0"/>
              </a:rPr>
              <a:t>[1] = tempMinMax2[1];</a:t>
            </a:r>
          </a:p>
          <a:p>
            <a:pPr>
              <a:buNone/>
            </a:pPr>
            <a:r>
              <a:rPr lang="en-US" sz="1400" b="1" dirty="0">
                <a:latin typeface="Courier New" pitchFamily="49" charset="0"/>
                <a:cs typeface="Courier New" pitchFamily="49" charset="0"/>
              </a:rPr>
              <a:t>		}</a:t>
            </a:r>
          </a:p>
          <a:p>
            <a:pPr>
              <a:buNone/>
            </a:pPr>
            <a:r>
              <a:rPr lang="en-US" sz="1400" b="1" dirty="0">
                <a:latin typeface="Courier New" pitchFamily="49" charset="0"/>
                <a:cs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8" end="1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9" end="1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20" end="2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21" end="2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22" end="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Question 2</a:t>
            </a:r>
          </a:p>
        </p:txBody>
      </p:sp>
      <p:sp>
        <p:nvSpPr>
          <p:cNvPr id="3" name="Content Placeholder 2"/>
          <p:cNvSpPr>
            <a:spLocks noGrp="1"/>
          </p:cNvSpPr>
          <p:nvPr>
            <p:ph idx="1"/>
          </p:nvPr>
        </p:nvSpPr>
        <p:spPr>
          <a:xfrm>
            <a:off x="457200" y="990600"/>
            <a:ext cx="8229600" cy="5135563"/>
          </a:xfrm>
        </p:spPr>
        <p:txBody>
          <a:bodyPr>
            <a:normAutofit/>
          </a:bodyPr>
          <a:lstStyle/>
          <a:p>
            <a:r>
              <a:rPr lang="en-US" sz="2400" dirty="0"/>
              <a:t>To show that the above algorithm does at most roughly 1.5</a:t>
            </a:r>
            <a:r>
              <a:rPr lang="en-US" sz="2400" i="1" dirty="0"/>
              <a:t>n</a:t>
            </a:r>
            <a:r>
              <a:rPr lang="en-US" sz="2400" dirty="0"/>
              <a:t> comparisons of the elements (assume </a:t>
            </a:r>
            <a:r>
              <a:rPr lang="en-US" sz="2400" i="1" dirty="0"/>
              <a:t>n</a:t>
            </a:r>
            <a:r>
              <a:rPr lang="en-US" sz="2400" dirty="0"/>
              <a:t> = 2</a:t>
            </a:r>
            <a:r>
              <a:rPr lang="en-US" sz="2400" i="1" baseline="30000" dirty="0"/>
              <a:t>k</a:t>
            </a:r>
            <a:r>
              <a:rPr lang="en-US" sz="2400" dirty="0"/>
              <a:t>):</a:t>
            </a:r>
          </a:p>
          <a:p>
            <a:r>
              <a:rPr lang="en-US" sz="2400" dirty="0"/>
              <a:t>Let </a:t>
            </a:r>
            <a:r>
              <a:rPr lang="en-US" sz="2400" i="1" dirty="0" err="1">
                <a:solidFill>
                  <a:srgbClr val="0000FF"/>
                </a:solidFill>
              </a:rPr>
              <a:t>W</a:t>
            </a:r>
            <a:r>
              <a:rPr lang="en-US" sz="2400" i="1" baseline="-25000" dirty="0" err="1">
                <a:solidFill>
                  <a:srgbClr val="0000FF"/>
                </a:solidFill>
              </a:rPr>
              <a:t>i</a:t>
            </a:r>
            <a:r>
              <a:rPr lang="en-US" sz="2400" dirty="0"/>
              <a:t> be the number of comparisons for </a:t>
            </a:r>
            <a:r>
              <a:rPr lang="en-US" sz="2400" i="1" dirty="0" err="1">
                <a:solidFill>
                  <a:srgbClr val="0000FF"/>
                </a:solidFill>
              </a:rPr>
              <a:t>i</a:t>
            </a:r>
            <a:r>
              <a:rPr lang="en-US" sz="2400" dirty="0"/>
              <a:t> elements, then the recurrence equation is:</a:t>
            </a:r>
          </a:p>
          <a:p>
            <a:endParaRPr lang="en-US" sz="2400" dirty="0"/>
          </a:p>
          <a:p>
            <a:endParaRPr lang="en-US" sz="2400" dirty="0"/>
          </a:p>
          <a:p>
            <a:endParaRPr lang="en-US" sz="2400" dirty="0"/>
          </a:p>
          <a:p>
            <a:endParaRPr lang="en-US" sz="2400" dirty="0"/>
          </a:p>
          <a:p>
            <a:r>
              <a:rPr lang="en-US" sz="2400" dirty="0"/>
              <a:t>If </a:t>
            </a:r>
            <a:r>
              <a:rPr lang="en-US" sz="2400" i="1" dirty="0"/>
              <a:t>n</a:t>
            </a:r>
            <a:r>
              <a:rPr lang="en-US" sz="2400" dirty="0"/>
              <a:t> = 2</a:t>
            </a:r>
            <a:r>
              <a:rPr lang="en-US" sz="2400" i="1" baseline="30000" dirty="0"/>
              <a:t>k</a:t>
            </a:r>
            <a:r>
              <a:rPr lang="en-US" sz="2400" dirty="0"/>
              <a:t>, where </a:t>
            </a:r>
            <a:r>
              <a:rPr lang="en-US" sz="2400" i="1" dirty="0"/>
              <a:t>k</a:t>
            </a:r>
            <a:r>
              <a:rPr lang="en-US" sz="2400" dirty="0"/>
              <a:t> is a positive integer,</a:t>
            </a:r>
          </a:p>
          <a:p>
            <a:pPr>
              <a:buNone/>
            </a:pPr>
            <a:endParaRPr lang="en-US" sz="2400" dirty="0"/>
          </a:p>
        </p:txBody>
      </p:sp>
      <p:graphicFrame>
        <p:nvGraphicFramePr>
          <p:cNvPr id="4" name="Object 3"/>
          <p:cNvGraphicFramePr>
            <a:graphicFrameLocks noChangeAspect="1"/>
          </p:cNvGraphicFramePr>
          <p:nvPr/>
        </p:nvGraphicFramePr>
        <p:xfrm>
          <a:off x="2514600" y="2743200"/>
          <a:ext cx="2717800" cy="1371600"/>
        </p:xfrm>
        <a:graphic>
          <a:graphicData uri="http://schemas.openxmlformats.org/presentationml/2006/ole">
            <mc:AlternateContent xmlns:mc="http://schemas.openxmlformats.org/markup-compatibility/2006">
              <mc:Choice xmlns:v="urn:schemas-microsoft-com:vml" Requires="v">
                <p:oleObj spid="_x0000_s1064" name="Equation" r:id="rId3" imgW="1358900" imgH="685800" progId="Equation.3">
                  <p:embed/>
                </p:oleObj>
              </mc:Choice>
              <mc:Fallback>
                <p:oleObj name="Equation" r:id="rId3" imgW="1358900" imgH="6858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743200"/>
                        <a:ext cx="27178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nvGraphicFramePr>
        <p:xfrm>
          <a:off x="2590800" y="5029200"/>
          <a:ext cx="1981200" cy="488515"/>
        </p:xfrm>
        <a:graphic>
          <a:graphicData uri="http://schemas.openxmlformats.org/presentationml/2006/ole">
            <mc:AlternateContent xmlns:mc="http://schemas.openxmlformats.org/markup-compatibility/2006">
              <mc:Choice xmlns:v="urn:schemas-microsoft-com:vml" Requires="v">
                <p:oleObj spid="_x0000_s1065" name="Equation" r:id="rId5" imgW="927100" imgH="228600" progId="Equation.3">
                  <p:embed/>
                </p:oleObj>
              </mc:Choice>
              <mc:Fallback>
                <p:oleObj name="Equation" r:id="rId5" imgW="927100" imgH="2286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5029200"/>
                        <a:ext cx="1981200" cy="488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lstStyle/>
          <a:p>
            <a:endParaRPr lang="en-US" dirty="0"/>
          </a:p>
          <a:p>
            <a:endParaRPr lang="en-US" dirty="0"/>
          </a:p>
          <a:p>
            <a:endParaRPr lang="en-US" dirty="0"/>
          </a:p>
          <a:p>
            <a:endParaRPr lang="en-US" dirty="0"/>
          </a:p>
        </p:txBody>
      </p:sp>
      <p:graphicFrame>
        <p:nvGraphicFramePr>
          <p:cNvPr id="4" name="Object 3"/>
          <p:cNvGraphicFramePr>
            <a:graphicFrameLocks noChangeAspect="1"/>
          </p:cNvGraphicFramePr>
          <p:nvPr/>
        </p:nvGraphicFramePr>
        <p:xfrm>
          <a:off x="2362200" y="457200"/>
          <a:ext cx="1699683" cy="419100"/>
        </p:xfrm>
        <a:graphic>
          <a:graphicData uri="http://schemas.openxmlformats.org/presentationml/2006/ole">
            <mc:AlternateContent xmlns:mc="http://schemas.openxmlformats.org/markup-compatibility/2006">
              <mc:Choice xmlns:v="urn:schemas-microsoft-com:vml" Requires="v">
                <p:oleObj spid="_x0000_s2221" name="Equation" r:id="rId3" imgW="927100" imgH="228600" progId="Equation.3">
                  <p:embed/>
                </p:oleObj>
              </mc:Choice>
              <mc:Fallback>
                <p:oleObj name="Equation" r:id="rId3" imgW="927100" imgH="228600" progId="Equation.3">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57200"/>
                        <a:ext cx="1699683"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nvGraphicFramePr>
        <p:xfrm>
          <a:off x="2743200" y="990600"/>
          <a:ext cx="2097087" cy="931862"/>
        </p:xfrm>
        <a:graphic>
          <a:graphicData uri="http://schemas.openxmlformats.org/presentationml/2006/ole">
            <mc:AlternateContent xmlns:mc="http://schemas.openxmlformats.org/markup-compatibility/2006">
              <mc:Choice xmlns:v="urn:schemas-microsoft-com:vml" Requires="v">
                <p:oleObj spid="_x0000_s2222" name="Equation" r:id="rId5" imgW="1143000" imgH="508000" progId="Equation.3">
                  <p:embed/>
                </p:oleObj>
              </mc:Choice>
              <mc:Fallback>
                <p:oleObj name="Equation" r:id="rId5" imgW="1143000" imgH="508000" progId="Equation.3">
                  <p:embed/>
                  <p:pic>
                    <p:nvPicPr>
                      <p:cNvPr id="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990600"/>
                        <a:ext cx="2097087" cy="931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nvGraphicFramePr>
        <p:xfrm>
          <a:off x="2667000" y="1905000"/>
          <a:ext cx="2727325" cy="977900"/>
        </p:xfrm>
        <a:graphic>
          <a:graphicData uri="http://schemas.openxmlformats.org/presentationml/2006/ole">
            <mc:AlternateContent xmlns:mc="http://schemas.openxmlformats.org/markup-compatibility/2006">
              <mc:Choice xmlns:v="urn:schemas-microsoft-com:vml" Requires="v">
                <p:oleObj spid="_x0000_s2223" name="Equation" r:id="rId7" imgW="1485900" imgH="533400" progId="Equation.3">
                  <p:embed/>
                </p:oleObj>
              </mc:Choice>
              <mc:Fallback>
                <p:oleObj name="Equation" r:id="rId7" imgW="1485900" imgH="533400" progId="Equation.3">
                  <p:embed/>
                  <p:pic>
                    <p:nvPicPr>
                      <p:cNvPr id="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0" y="1905000"/>
                        <a:ext cx="2727325" cy="97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5"/>
          <p:cNvGraphicFramePr>
            <a:graphicFrameLocks noChangeAspect="1"/>
          </p:cNvGraphicFramePr>
          <p:nvPr/>
        </p:nvGraphicFramePr>
        <p:xfrm>
          <a:off x="2895600" y="2971800"/>
          <a:ext cx="325438" cy="139700"/>
        </p:xfrm>
        <a:graphic>
          <a:graphicData uri="http://schemas.openxmlformats.org/presentationml/2006/ole">
            <mc:AlternateContent xmlns:mc="http://schemas.openxmlformats.org/markup-compatibility/2006">
              <mc:Choice xmlns:v="urn:schemas-microsoft-com:vml" Requires="v">
                <p:oleObj spid="_x0000_s2224" name="Equation" r:id="rId9" imgW="177415" imgH="76035" progId="Equation.3">
                  <p:embed/>
                </p:oleObj>
              </mc:Choice>
              <mc:Fallback>
                <p:oleObj name="Equation" r:id="rId9" imgW="177415" imgH="76035" progId="Equation.3">
                  <p:embed/>
                  <p:pic>
                    <p:nvPicPr>
                      <p:cNvPr id="0"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5600" y="2971800"/>
                        <a:ext cx="325438" cy="13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4" name="Object 6"/>
          <p:cNvGraphicFramePr>
            <a:graphicFrameLocks noChangeAspect="1"/>
          </p:cNvGraphicFramePr>
          <p:nvPr/>
        </p:nvGraphicFramePr>
        <p:xfrm>
          <a:off x="2743200" y="3276600"/>
          <a:ext cx="4195763" cy="465137"/>
        </p:xfrm>
        <a:graphic>
          <a:graphicData uri="http://schemas.openxmlformats.org/presentationml/2006/ole">
            <mc:AlternateContent xmlns:mc="http://schemas.openxmlformats.org/markup-compatibility/2006">
              <mc:Choice xmlns:v="urn:schemas-microsoft-com:vml" Requires="v">
                <p:oleObj spid="_x0000_s2225" name="Equation" r:id="rId11" imgW="2286000" imgH="254000" progId="Equation.3">
                  <p:embed/>
                </p:oleObj>
              </mc:Choice>
              <mc:Fallback>
                <p:oleObj name="Equation" r:id="rId11" imgW="2286000" imgH="254000" progId="Equation.3">
                  <p:embed/>
                  <p:pic>
                    <p:nvPicPr>
                      <p:cNvPr id="0" name="Picture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43200" y="3276600"/>
                        <a:ext cx="4195763"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5" name="Object 7"/>
          <p:cNvGraphicFramePr>
            <a:graphicFrameLocks noChangeAspect="1"/>
          </p:cNvGraphicFramePr>
          <p:nvPr/>
        </p:nvGraphicFramePr>
        <p:xfrm>
          <a:off x="2743200" y="3886200"/>
          <a:ext cx="3497263" cy="349250"/>
        </p:xfrm>
        <a:graphic>
          <a:graphicData uri="http://schemas.openxmlformats.org/presentationml/2006/ole">
            <mc:AlternateContent xmlns:mc="http://schemas.openxmlformats.org/markup-compatibility/2006">
              <mc:Choice xmlns:v="urn:schemas-microsoft-com:vml" Requires="v">
                <p:oleObj spid="_x0000_s2226" name="Equation" r:id="rId13" imgW="1905000" imgH="190500" progId="Equation.3">
                  <p:embed/>
                </p:oleObj>
              </mc:Choice>
              <mc:Fallback>
                <p:oleObj name="Equation" r:id="rId13" imgW="1905000" imgH="190500" progId="Equation.3">
                  <p:embed/>
                  <p:pic>
                    <p:nvPicPr>
                      <p:cNvPr id="0" name="Picture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43200" y="3886200"/>
                        <a:ext cx="3497263"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6" name="Object 8"/>
          <p:cNvGraphicFramePr>
            <a:graphicFrameLocks noChangeAspect="1"/>
          </p:cNvGraphicFramePr>
          <p:nvPr/>
        </p:nvGraphicFramePr>
        <p:xfrm>
          <a:off x="2743200" y="4419600"/>
          <a:ext cx="3800475" cy="419100"/>
        </p:xfrm>
        <a:graphic>
          <a:graphicData uri="http://schemas.openxmlformats.org/presentationml/2006/ole">
            <mc:AlternateContent xmlns:mc="http://schemas.openxmlformats.org/markup-compatibility/2006">
              <mc:Choice xmlns:v="urn:schemas-microsoft-com:vml" Requires="v">
                <p:oleObj spid="_x0000_s2227" name="Equation" r:id="rId15" imgW="2070100" imgH="228600" progId="Equation.3">
                  <p:embed/>
                </p:oleObj>
              </mc:Choice>
              <mc:Fallback>
                <p:oleObj name="Equation" r:id="rId15" imgW="2070100" imgH="228600" progId="Equation.3">
                  <p:embed/>
                  <p:pic>
                    <p:nvPicPr>
                      <p:cNvPr id="0" name="Picture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43200" y="4419600"/>
                        <a:ext cx="380047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7" name="Object 9"/>
          <p:cNvGraphicFramePr>
            <a:graphicFrameLocks noChangeAspect="1"/>
          </p:cNvGraphicFramePr>
          <p:nvPr/>
        </p:nvGraphicFramePr>
        <p:xfrm>
          <a:off x="2743200" y="4876800"/>
          <a:ext cx="2074862" cy="838200"/>
        </p:xfrm>
        <a:graphic>
          <a:graphicData uri="http://schemas.openxmlformats.org/presentationml/2006/ole">
            <mc:AlternateContent xmlns:mc="http://schemas.openxmlformats.org/markup-compatibility/2006">
              <mc:Choice xmlns:v="urn:schemas-microsoft-com:vml" Requires="v">
                <p:oleObj spid="_x0000_s2228" name="Equation" r:id="rId17" imgW="1130300" imgH="457200" progId="Equation.3">
                  <p:embed/>
                </p:oleObj>
              </mc:Choice>
              <mc:Fallback>
                <p:oleObj name="Equation" r:id="rId17" imgW="1130300" imgH="457200" progId="Equation.3">
                  <p:embed/>
                  <p:pic>
                    <p:nvPicPr>
                      <p:cNvPr id="0" name="Picture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43200" y="4876800"/>
                        <a:ext cx="2074862"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8" name="Object 10"/>
          <p:cNvGraphicFramePr>
            <a:graphicFrameLocks noChangeAspect="1"/>
          </p:cNvGraphicFramePr>
          <p:nvPr/>
        </p:nvGraphicFramePr>
        <p:xfrm>
          <a:off x="2743200" y="5715000"/>
          <a:ext cx="2563812" cy="722312"/>
        </p:xfrm>
        <a:graphic>
          <a:graphicData uri="http://schemas.openxmlformats.org/presentationml/2006/ole">
            <mc:AlternateContent xmlns:mc="http://schemas.openxmlformats.org/markup-compatibility/2006">
              <mc:Choice xmlns:v="urn:schemas-microsoft-com:vml" Requires="v">
                <p:oleObj spid="_x0000_s2229" name="Equation" r:id="rId19" imgW="1396394" imgH="393529" progId="Equation.3">
                  <p:embed/>
                </p:oleObj>
              </mc:Choice>
              <mc:Fallback>
                <p:oleObj name="Equation" r:id="rId19" imgW="1396394" imgH="393529" progId="Equation.3">
                  <p:embed/>
                  <p:pic>
                    <p:nvPicPr>
                      <p:cNvPr id="0" name="Picture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43200" y="5715000"/>
                        <a:ext cx="2563812" cy="722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ounded Rectangular Callout 13"/>
          <p:cNvSpPr/>
          <p:nvPr/>
        </p:nvSpPr>
        <p:spPr>
          <a:xfrm>
            <a:off x="381000" y="2209800"/>
            <a:ext cx="1905000" cy="990600"/>
          </a:xfrm>
          <a:prstGeom prst="wedgeRoundRectCallout">
            <a:avLst>
              <a:gd name="adj1" fmla="val 116374"/>
              <a:gd name="adj2" fmla="val 67362"/>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57200" y="2209800"/>
            <a:ext cx="1676400" cy="923330"/>
          </a:xfrm>
          <a:prstGeom prst="rect">
            <a:avLst/>
          </a:prstGeom>
          <a:noFill/>
        </p:spPr>
        <p:txBody>
          <a:bodyPr wrap="square" rtlCol="0">
            <a:spAutoFit/>
          </a:bodyPr>
          <a:lstStyle/>
          <a:p>
            <a:r>
              <a:rPr lang="en-US" dirty="0"/>
              <a:t>Since </a:t>
            </a:r>
            <a:r>
              <a:rPr lang="en-US" i="1" dirty="0"/>
              <a:t>n</a:t>
            </a:r>
            <a:r>
              <a:rPr lang="en-US" dirty="0"/>
              <a:t> = 2</a:t>
            </a:r>
            <a:r>
              <a:rPr lang="en-US" i="1" baseline="30000" dirty="0"/>
              <a:t>k</a:t>
            </a:r>
            <a:endParaRPr lang="en-US" i="1" dirty="0"/>
          </a:p>
          <a:p>
            <a:r>
              <a:rPr lang="en-US" dirty="0"/>
              <a:t>So </a:t>
            </a:r>
            <a:r>
              <a:rPr lang="en-US" i="1" dirty="0"/>
              <a:t>n</a:t>
            </a:r>
            <a:r>
              <a:rPr lang="en-US" dirty="0"/>
              <a:t>/2</a:t>
            </a:r>
            <a:r>
              <a:rPr lang="en-US" i="1" baseline="30000" dirty="0"/>
              <a:t>k</a:t>
            </a:r>
            <a:r>
              <a:rPr lang="en-US" baseline="30000" dirty="0"/>
              <a:t>−1</a:t>
            </a:r>
            <a:r>
              <a:rPr lang="en-US" dirty="0"/>
              <a:t> = 2</a:t>
            </a:r>
          </a:p>
          <a:p>
            <a:r>
              <a:rPr lang="en-US" i="1" dirty="0"/>
              <a:t>W</a:t>
            </a:r>
            <a:r>
              <a:rPr lang="en-US" baseline="-25000" dirty="0"/>
              <a:t>2</a:t>
            </a:r>
            <a:r>
              <a:rPr lang="en-US" dirty="0"/>
              <a:t> = 1</a:t>
            </a:r>
          </a:p>
        </p:txBody>
      </p:sp>
      <p:sp>
        <p:nvSpPr>
          <p:cNvPr id="16" name="Rounded Rectangular Callout 15"/>
          <p:cNvSpPr/>
          <p:nvPr/>
        </p:nvSpPr>
        <p:spPr>
          <a:xfrm>
            <a:off x="5791200" y="4876800"/>
            <a:ext cx="1905000" cy="609600"/>
          </a:xfrm>
          <a:prstGeom prst="wedgeRoundRectCallout">
            <a:avLst>
              <a:gd name="adj1" fmla="val -68833"/>
              <a:gd name="adj2" fmla="val -62391"/>
              <a:gd name="adj3" fmla="val 1666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867400" y="4953000"/>
            <a:ext cx="1752600" cy="369332"/>
          </a:xfrm>
          <a:prstGeom prst="rect">
            <a:avLst/>
          </a:prstGeom>
          <a:noFill/>
        </p:spPr>
        <p:txBody>
          <a:bodyPr wrap="square" rtlCol="0">
            <a:spAutoFit/>
          </a:bodyPr>
          <a:lstStyle/>
          <a:p>
            <a:r>
              <a:rPr lang="en-US" dirty="0"/>
              <a:t>Geometric series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334962"/>
          </a:xfrm>
        </p:spPr>
        <p:txBody>
          <a:bodyPr>
            <a:noAutofit/>
          </a:bodyPr>
          <a:lstStyle/>
          <a:p>
            <a:r>
              <a:rPr lang="en-US" sz="2800" dirty="0"/>
              <a:t>Question 3</a:t>
            </a:r>
          </a:p>
        </p:txBody>
      </p:sp>
      <p:sp>
        <p:nvSpPr>
          <p:cNvPr id="3" name="Content Placeholder 2"/>
          <p:cNvSpPr>
            <a:spLocks noGrp="1"/>
          </p:cNvSpPr>
          <p:nvPr>
            <p:ph idx="1"/>
          </p:nvPr>
        </p:nvSpPr>
        <p:spPr>
          <a:xfrm>
            <a:off x="457200" y="1219200"/>
            <a:ext cx="8153400" cy="5257800"/>
          </a:xfrm>
        </p:spPr>
        <p:txBody>
          <a:bodyPr>
            <a:normAutofit/>
          </a:bodyPr>
          <a:lstStyle/>
          <a:p>
            <a:pPr lvl="0"/>
            <a:r>
              <a:rPr lang="en-US" sz="2000" dirty="0">
                <a:solidFill>
                  <a:srgbClr val="0000FF"/>
                </a:solidFill>
              </a:rPr>
              <a:t>Show how </a:t>
            </a:r>
            <a:r>
              <a:rPr lang="en-US" sz="2000" dirty="0" err="1">
                <a:solidFill>
                  <a:srgbClr val="0000FF"/>
                </a:solidFill>
              </a:rPr>
              <a:t>MergeSort</a:t>
            </a:r>
            <a:r>
              <a:rPr lang="en-US" sz="2000" dirty="0">
                <a:solidFill>
                  <a:srgbClr val="0000FF"/>
                </a:solidFill>
              </a:rPr>
              <a:t> sorts each of the arrays below and give the number of comparisons among array elements in sorting each array.</a:t>
            </a:r>
          </a:p>
          <a:p>
            <a:pPr lvl="0">
              <a:buNone/>
            </a:pPr>
            <a:r>
              <a:rPr lang="en-US" sz="2000" dirty="0"/>
              <a:t>	</a:t>
            </a:r>
            <a:r>
              <a:rPr lang="en-US" sz="2000" dirty="0">
                <a:solidFill>
                  <a:srgbClr val="0000FF"/>
                </a:solidFill>
              </a:rPr>
              <a:t>(1) 	14  40  31  28  3  15  17  51</a:t>
            </a:r>
          </a:p>
          <a:p>
            <a:pPr lvl="0">
              <a:buNone/>
            </a:pPr>
            <a:r>
              <a:rPr lang="en-US" sz="2400" dirty="0">
                <a:solidFill>
                  <a:srgbClr val="0000FF"/>
                </a:solidFill>
              </a:rPr>
              <a:t>	</a:t>
            </a:r>
            <a:r>
              <a:rPr lang="en-US" sz="2000" b="1" dirty="0" err="1"/>
              <a:t>Ans</a:t>
            </a:r>
            <a:r>
              <a:rPr lang="en-US" sz="2000" dirty="0"/>
              <a:t>: The array is first divided into two equal parts</a:t>
            </a:r>
          </a:p>
          <a:p>
            <a:endParaRPr lang="en-US" sz="2000" dirty="0"/>
          </a:p>
          <a:p>
            <a:endParaRPr lang="en-US" sz="2000" dirty="0"/>
          </a:p>
          <a:p>
            <a:pPr>
              <a:buNone/>
            </a:pPr>
            <a:r>
              <a:rPr lang="en-US" sz="2000" dirty="0"/>
              <a:t>Each part is then sorted by </a:t>
            </a:r>
            <a:r>
              <a:rPr lang="en-US" sz="2000" dirty="0" err="1"/>
              <a:t>MergeSort</a:t>
            </a:r>
            <a:r>
              <a:rPr lang="en-US" sz="2000" dirty="0"/>
              <a:t>. The process begins by dividing each part into equal parts</a:t>
            </a:r>
          </a:p>
          <a:p>
            <a:pPr>
              <a:buNone/>
            </a:pPr>
            <a:endParaRPr lang="en-US" sz="2000" dirty="0"/>
          </a:p>
          <a:p>
            <a:pPr>
              <a:buNone/>
            </a:pPr>
            <a:endParaRPr lang="en-US" sz="2000" dirty="0"/>
          </a:p>
          <a:p>
            <a:pPr>
              <a:buNone/>
            </a:pPr>
            <a:r>
              <a:rPr lang="en-US" sz="2000" dirty="0"/>
              <a:t>and then each of these parts into equal parts</a:t>
            </a:r>
          </a:p>
          <a:p>
            <a:endParaRPr lang="en-US" sz="2000" dirty="0"/>
          </a:p>
          <a:p>
            <a:endParaRPr lang="en-US" sz="2000" dirty="0"/>
          </a:p>
          <a:p>
            <a:pPr>
              <a:buNone/>
            </a:pPr>
            <a:r>
              <a:rPr lang="en-US" sz="2000" dirty="0"/>
              <a:t>This subdivision process now ends because each part contains only one item.</a:t>
            </a:r>
          </a:p>
        </p:txBody>
      </p:sp>
      <p:grpSp>
        <p:nvGrpSpPr>
          <p:cNvPr id="55" name="Group 54"/>
          <p:cNvGrpSpPr/>
          <p:nvPr/>
        </p:nvGrpSpPr>
        <p:grpSpPr>
          <a:xfrm>
            <a:off x="2590800" y="2971800"/>
            <a:ext cx="3810000" cy="381000"/>
            <a:chOff x="2590800" y="2971800"/>
            <a:chExt cx="3810000" cy="381000"/>
          </a:xfrm>
        </p:grpSpPr>
        <p:sp>
          <p:nvSpPr>
            <p:cNvPr id="4" name="Rectangle 3"/>
            <p:cNvSpPr/>
            <p:nvPr/>
          </p:nvSpPr>
          <p:spPr>
            <a:xfrm>
              <a:off x="25908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590800" y="2971800"/>
              <a:ext cx="457200" cy="338554"/>
            </a:xfrm>
            <a:prstGeom prst="rect">
              <a:avLst/>
            </a:prstGeom>
            <a:noFill/>
          </p:spPr>
          <p:txBody>
            <a:bodyPr wrap="square" rtlCol="0">
              <a:spAutoFit/>
            </a:bodyPr>
            <a:lstStyle/>
            <a:p>
              <a:r>
                <a:rPr lang="en-US" sz="1600" dirty="0"/>
                <a:t>14</a:t>
              </a:r>
            </a:p>
          </p:txBody>
        </p:sp>
        <p:sp>
          <p:nvSpPr>
            <p:cNvPr id="6" name="Rectangle 5"/>
            <p:cNvSpPr/>
            <p:nvPr/>
          </p:nvSpPr>
          <p:spPr>
            <a:xfrm>
              <a:off x="29718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971800" y="2971800"/>
              <a:ext cx="457200" cy="338554"/>
            </a:xfrm>
            <a:prstGeom prst="rect">
              <a:avLst/>
            </a:prstGeom>
            <a:noFill/>
          </p:spPr>
          <p:txBody>
            <a:bodyPr wrap="square" rtlCol="0">
              <a:spAutoFit/>
            </a:bodyPr>
            <a:lstStyle/>
            <a:p>
              <a:r>
                <a:rPr lang="en-US" sz="1600" dirty="0"/>
                <a:t>40</a:t>
              </a:r>
            </a:p>
          </p:txBody>
        </p:sp>
        <p:sp>
          <p:nvSpPr>
            <p:cNvPr id="8" name="Rectangle 7"/>
            <p:cNvSpPr/>
            <p:nvPr/>
          </p:nvSpPr>
          <p:spPr>
            <a:xfrm>
              <a:off x="33528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352800" y="2971800"/>
              <a:ext cx="457200" cy="338554"/>
            </a:xfrm>
            <a:prstGeom prst="rect">
              <a:avLst/>
            </a:prstGeom>
            <a:noFill/>
          </p:spPr>
          <p:txBody>
            <a:bodyPr wrap="square" rtlCol="0">
              <a:spAutoFit/>
            </a:bodyPr>
            <a:lstStyle/>
            <a:p>
              <a:r>
                <a:rPr lang="en-US" sz="1600" dirty="0"/>
                <a:t>31</a:t>
              </a:r>
            </a:p>
          </p:txBody>
        </p:sp>
        <p:sp>
          <p:nvSpPr>
            <p:cNvPr id="10" name="Rectangle 9"/>
            <p:cNvSpPr/>
            <p:nvPr/>
          </p:nvSpPr>
          <p:spPr>
            <a:xfrm>
              <a:off x="37338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733800" y="2971800"/>
              <a:ext cx="457200" cy="338554"/>
            </a:xfrm>
            <a:prstGeom prst="rect">
              <a:avLst/>
            </a:prstGeom>
            <a:noFill/>
          </p:spPr>
          <p:txBody>
            <a:bodyPr wrap="square" rtlCol="0">
              <a:spAutoFit/>
            </a:bodyPr>
            <a:lstStyle/>
            <a:p>
              <a:r>
                <a:rPr lang="en-US" sz="1600" dirty="0"/>
                <a:t>28</a:t>
              </a:r>
            </a:p>
          </p:txBody>
        </p:sp>
        <p:sp>
          <p:nvSpPr>
            <p:cNvPr id="12" name="Rectangle 11"/>
            <p:cNvSpPr/>
            <p:nvPr/>
          </p:nvSpPr>
          <p:spPr>
            <a:xfrm>
              <a:off x="48006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800600" y="2971800"/>
              <a:ext cx="457200" cy="338554"/>
            </a:xfrm>
            <a:prstGeom prst="rect">
              <a:avLst/>
            </a:prstGeom>
            <a:noFill/>
          </p:spPr>
          <p:txBody>
            <a:bodyPr wrap="square" rtlCol="0">
              <a:spAutoFit/>
            </a:bodyPr>
            <a:lstStyle/>
            <a:p>
              <a:r>
                <a:rPr lang="en-US" sz="1600" dirty="0"/>
                <a:t>3</a:t>
              </a:r>
            </a:p>
          </p:txBody>
        </p:sp>
        <p:sp>
          <p:nvSpPr>
            <p:cNvPr id="14" name="Rectangle 13"/>
            <p:cNvSpPr/>
            <p:nvPr/>
          </p:nvSpPr>
          <p:spPr>
            <a:xfrm>
              <a:off x="51816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181600" y="2971800"/>
              <a:ext cx="457200" cy="338554"/>
            </a:xfrm>
            <a:prstGeom prst="rect">
              <a:avLst/>
            </a:prstGeom>
            <a:noFill/>
          </p:spPr>
          <p:txBody>
            <a:bodyPr wrap="square" rtlCol="0">
              <a:spAutoFit/>
            </a:bodyPr>
            <a:lstStyle/>
            <a:p>
              <a:r>
                <a:rPr lang="en-US" sz="1600" dirty="0"/>
                <a:t>15</a:t>
              </a:r>
            </a:p>
          </p:txBody>
        </p:sp>
        <p:sp>
          <p:nvSpPr>
            <p:cNvPr id="16" name="Rectangle 15"/>
            <p:cNvSpPr/>
            <p:nvPr/>
          </p:nvSpPr>
          <p:spPr>
            <a:xfrm>
              <a:off x="55626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562600" y="2971800"/>
              <a:ext cx="457200" cy="338554"/>
            </a:xfrm>
            <a:prstGeom prst="rect">
              <a:avLst/>
            </a:prstGeom>
            <a:noFill/>
          </p:spPr>
          <p:txBody>
            <a:bodyPr wrap="square" rtlCol="0">
              <a:spAutoFit/>
            </a:bodyPr>
            <a:lstStyle/>
            <a:p>
              <a:r>
                <a:rPr lang="en-US" sz="1600" dirty="0"/>
                <a:t>17</a:t>
              </a:r>
            </a:p>
          </p:txBody>
        </p:sp>
        <p:sp>
          <p:nvSpPr>
            <p:cNvPr id="18" name="Rectangle 17"/>
            <p:cNvSpPr/>
            <p:nvPr/>
          </p:nvSpPr>
          <p:spPr>
            <a:xfrm>
              <a:off x="59436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5943600" y="2971800"/>
              <a:ext cx="457200" cy="338554"/>
            </a:xfrm>
            <a:prstGeom prst="rect">
              <a:avLst/>
            </a:prstGeom>
            <a:noFill/>
          </p:spPr>
          <p:txBody>
            <a:bodyPr wrap="square" rtlCol="0">
              <a:spAutoFit/>
            </a:bodyPr>
            <a:lstStyle/>
            <a:p>
              <a:r>
                <a:rPr lang="en-US" sz="1600" dirty="0"/>
                <a:t>51</a:t>
              </a:r>
            </a:p>
          </p:txBody>
        </p:sp>
      </p:grpSp>
      <p:grpSp>
        <p:nvGrpSpPr>
          <p:cNvPr id="53" name="Group 52"/>
          <p:cNvGrpSpPr/>
          <p:nvPr/>
        </p:nvGrpSpPr>
        <p:grpSpPr>
          <a:xfrm>
            <a:off x="2362200" y="4343400"/>
            <a:ext cx="4572000" cy="381000"/>
            <a:chOff x="2362200" y="4343400"/>
            <a:chExt cx="4572000" cy="381000"/>
          </a:xfrm>
        </p:grpSpPr>
        <p:sp>
          <p:nvSpPr>
            <p:cNvPr id="20" name="Rectangle 19"/>
            <p:cNvSpPr/>
            <p:nvPr/>
          </p:nvSpPr>
          <p:spPr>
            <a:xfrm>
              <a:off x="2362200" y="4343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2362200" y="4343400"/>
              <a:ext cx="444500" cy="338554"/>
            </a:xfrm>
            <a:prstGeom prst="rect">
              <a:avLst/>
            </a:prstGeom>
            <a:noFill/>
          </p:spPr>
          <p:txBody>
            <a:bodyPr wrap="square" rtlCol="0">
              <a:spAutoFit/>
            </a:bodyPr>
            <a:lstStyle/>
            <a:p>
              <a:r>
                <a:rPr lang="en-US" sz="1600" dirty="0"/>
                <a:t>14</a:t>
              </a:r>
            </a:p>
          </p:txBody>
        </p:sp>
        <p:sp>
          <p:nvSpPr>
            <p:cNvPr id="22" name="Rectangle 21"/>
            <p:cNvSpPr/>
            <p:nvPr/>
          </p:nvSpPr>
          <p:spPr>
            <a:xfrm>
              <a:off x="2743200" y="4343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2743200" y="4343400"/>
              <a:ext cx="444500" cy="338554"/>
            </a:xfrm>
            <a:prstGeom prst="rect">
              <a:avLst/>
            </a:prstGeom>
            <a:noFill/>
          </p:spPr>
          <p:txBody>
            <a:bodyPr wrap="square" rtlCol="0">
              <a:spAutoFit/>
            </a:bodyPr>
            <a:lstStyle/>
            <a:p>
              <a:r>
                <a:rPr lang="en-US" sz="1600" dirty="0"/>
                <a:t>40</a:t>
              </a:r>
            </a:p>
          </p:txBody>
        </p:sp>
        <p:sp>
          <p:nvSpPr>
            <p:cNvPr id="24" name="Rectangle 23"/>
            <p:cNvSpPr/>
            <p:nvPr/>
          </p:nvSpPr>
          <p:spPr>
            <a:xfrm>
              <a:off x="34290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3429000" y="4343400"/>
              <a:ext cx="457200" cy="338554"/>
            </a:xfrm>
            <a:prstGeom prst="rect">
              <a:avLst/>
            </a:prstGeom>
            <a:noFill/>
          </p:spPr>
          <p:txBody>
            <a:bodyPr wrap="square" rtlCol="0">
              <a:spAutoFit/>
            </a:bodyPr>
            <a:lstStyle/>
            <a:p>
              <a:r>
                <a:rPr lang="en-US" sz="1600" dirty="0"/>
                <a:t>31</a:t>
              </a:r>
            </a:p>
          </p:txBody>
        </p:sp>
        <p:sp>
          <p:nvSpPr>
            <p:cNvPr id="26" name="Rectangle 25"/>
            <p:cNvSpPr/>
            <p:nvPr/>
          </p:nvSpPr>
          <p:spPr>
            <a:xfrm>
              <a:off x="38100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3810000" y="4343400"/>
              <a:ext cx="457200" cy="338554"/>
            </a:xfrm>
            <a:prstGeom prst="rect">
              <a:avLst/>
            </a:prstGeom>
            <a:noFill/>
          </p:spPr>
          <p:txBody>
            <a:bodyPr wrap="square" rtlCol="0">
              <a:spAutoFit/>
            </a:bodyPr>
            <a:lstStyle/>
            <a:p>
              <a:r>
                <a:rPr lang="en-US" sz="1600" dirty="0"/>
                <a:t>28</a:t>
              </a:r>
            </a:p>
          </p:txBody>
        </p:sp>
        <p:sp>
          <p:nvSpPr>
            <p:cNvPr id="28" name="Rectangle 27"/>
            <p:cNvSpPr/>
            <p:nvPr/>
          </p:nvSpPr>
          <p:spPr>
            <a:xfrm>
              <a:off x="48768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4953000" y="4343400"/>
              <a:ext cx="457200" cy="338554"/>
            </a:xfrm>
            <a:prstGeom prst="rect">
              <a:avLst/>
            </a:prstGeom>
            <a:noFill/>
          </p:spPr>
          <p:txBody>
            <a:bodyPr wrap="square" rtlCol="0">
              <a:spAutoFit/>
            </a:bodyPr>
            <a:lstStyle/>
            <a:p>
              <a:r>
                <a:rPr lang="en-US" sz="1600" dirty="0"/>
                <a:t>3</a:t>
              </a:r>
            </a:p>
          </p:txBody>
        </p:sp>
        <p:sp>
          <p:nvSpPr>
            <p:cNvPr id="30" name="Rectangle 29"/>
            <p:cNvSpPr/>
            <p:nvPr/>
          </p:nvSpPr>
          <p:spPr>
            <a:xfrm>
              <a:off x="52578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5257800" y="4343400"/>
              <a:ext cx="457200" cy="338554"/>
            </a:xfrm>
            <a:prstGeom prst="rect">
              <a:avLst/>
            </a:prstGeom>
            <a:noFill/>
          </p:spPr>
          <p:txBody>
            <a:bodyPr wrap="square" rtlCol="0">
              <a:spAutoFit/>
            </a:bodyPr>
            <a:lstStyle/>
            <a:p>
              <a:r>
                <a:rPr lang="en-US" sz="1600" dirty="0"/>
                <a:t>15</a:t>
              </a:r>
            </a:p>
          </p:txBody>
        </p:sp>
        <p:sp>
          <p:nvSpPr>
            <p:cNvPr id="32" name="Rectangle 31"/>
            <p:cNvSpPr/>
            <p:nvPr/>
          </p:nvSpPr>
          <p:spPr>
            <a:xfrm>
              <a:off x="60960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6096000" y="4343400"/>
              <a:ext cx="457200" cy="338554"/>
            </a:xfrm>
            <a:prstGeom prst="rect">
              <a:avLst/>
            </a:prstGeom>
            <a:noFill/>
          </p:spPr>
          <p:txBody>
            <a:bodyPr wrap="square" rtlCol="0">
              <a:spAutoFit/>
            </a:bodyPr>
            <a:lstStyle/>
            <a:p>
              <a:r>
                <a:rPr lang="en-US" sz="1600" dirty="0"/>
                <a:t>17</a:t>
              </a:r>
            </a:p>
          </p:txBody>
        </p:sp>
        <p:sp>
          <p:nvSpPr>
            <p:cNvPr id="34" name="Rectangle 33"/>
            <p:cNvSpPr/>
            <p:nvPr/>
          </p:nvSpPr>
          <p:spPr>
            <a:xfrm>
              <a:off x="64770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6477000" y="4343400"/>
              <a:ext cx="457200" cy="338554"/>
            </a:xfrm>
            <a:prstGeom prst="rect">
              <a:avLst/>
            </a:prstGeom>
            <a:noFill/>
          </p:spPr>
          <p:txBody>
            <a:bodyPr wrap="square" rtlCol="0">
              <a:spAutoFit/>
            </a:bodyPr>
            <a:lstStyle/>
            <a:p>
              <a:r>
                <a:rPr lang="en-US" sz="1600" dirty="0"/>
                <a:t>51</a:t>
              </a:r>
            </a:p>
          </p:txBody>
        </p:sp>
      </p:grpSp>
      <p:grpSp>
        <p:nvGrpSpPr>
          <p:cNvPr id="54" name="Group 53"/>
          <p:cNvGrpSpPr/>
          <p:nvPr/>
        </p:nvGrpSpPr>
        <p:grpSpPr>
          <a:xfrm>
            <a:off x="1371600" y="5486400"/>
            <a:ext cx="5638800" cy="381000"/>
            <a:chOff x="1371600" y="5486400"/>
            <a:chExt cx="5638800" cy="381000"/>
          </a:xfrm>
        </p:grpSpPr>
        <p:sp>
          <p:nvSpPr>
            <p:cNvPr id="36" name="Rectangle 35"/>
            <p:cNvSpPr/>
            <p:nvPr/>
          </p:nvSpPr>
          <p:spPr>
            <a:xfrm>
              <a:off x="1371600" y="5486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1371600" y="5486400"/>
              <a:ext cx="444500" cy="338554"/>
            </a:xfrm>
            <a:prstGeom prst="rect">
              <a:avLst/>
            </a:prstGeom>
            <a:noFill/>
          </p:spPr>
          <p:txBody>
            <a:bodyPr wrap="square" rtlCol="0">
              <a:spAutoFit/>
            </a:bodyPr>
            <a:lstStyle/>
            <a:p>
              <a:r>
                <a:rPr lang="en-US" sz="1600" dirty="0"/>
                <a:t>14</a:t>
              </a:r>
            </a:p>
          </p:txBody>
        </p:sp>
        <p:sp>
          <p:nvSpPr>
            <p:cNvPr id="38" name="Rectangle 37"/>
            <p:cNvSpPr/>
            <p:nvPr/>
          </p:nvSpPr>
          <p:spPr>
            <a:xfrm>
              <a:off x="2133600" y="5486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2133600" y="5486400"/>
              <a:ext cx="444500" cy="338554"/>
            </a:xfrm>
            <a:prstGeom prst="rect">
              <a:avLst/>
            </a:prstGeom>
            <a:noFill/>
          </p:spPr>
          <p:txBody>
            <a:bodyPr wrap="square" rtlCol="0">
              <a:spAutoFit/>
            </a:bodyPr>
            <a:lstStyle/>
            <a:p>
              <a:r>
                <a:rPr lang="en-US" sz="1600" dirty="0"/>
                <a:t>40</a:t>
              </a:r>
            </a:p>
          </p:txBody>
        </p:sp>
        <p:sp>
          <p:nvSpPr>
            <p:cNvPr id="40" name="Rectangle 39"/>
            <p:cNvSpPr/>
            <p:nvPr/>
          </p:nvSpPr>
          <p:spPr>
            <a:xfrm>
              <a:off x="28194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2819400" y="5486400"/>
              <a:ext cx="457200" cy="338554"/>
            </a:xfrm>
            <a:prstGeom prst="rect">
              <a:avLst/>
            </a:prstGeom>
            <a:noFill/>
          </p:spPr>
          <p:txBody>
            <a:bodyPr wrap="square" rtlCol="0">
              <a:spAutoFit/>
            </a:bodyPr>
            <a:lstStyle/>
            <a:p>
              <a:r>
                <a:rPr lang="en-US" sz="1600" dirty="0"/>
                <a:t>31</a:t>
              </a:r>
            </a:p>
          </p:txBody>
        </p:sp>
        <p:sp>
          <p:nvSpPr>
            <p:cNvPr id="42" name="Rectangle 41"/>
            <p:cNvSpPr/>
            <p:nvPr/>
          </p:nvSpPr>
          <p:spPr>
            <a:xfrm>
              <a:off x="35052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3505200" y="5486400"/>
              <a:ext cx="457200" cy="338554"/>
            </a:xfrm>
            <a:prstGeom prst="rect">
              <a:avLst/>
            </a:prstGeom>
            <a:noFill/>
          </p:spPr>
          <p:txBody>
            <a:bodyPr wrap="square" rtlCol="0">
              <a:spAutoFit/>
            </a:bodyPr>
            <a:lstStyle/>
            <a:p>
              <a:r>
                <a:rPr lang="en-US" sz="1600" dirty="0"/>
                <a:t>28</a:t>
              </a:r>
            </a:p>
          </p:txBody>
        </p:sp>
        <p:sp>
          <p:nvSpPr>
            <p:cNvPr id="44" name="Rectangle 43"/>
            <p:cNvSpPr/>
            <p:nvPr/>
          </p:nvSpPr>
          <p:spPr>
            <a:xfrm>
              <a:off x="42672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4267200" y="5486400"/>
              <a:ext cx="457200" cy="338554"/>
            </a:xfrm>
            <a:prstGeom prst="rect">
              <a:avLst/>
            </a:prstGeom>
            <a:noFill/>
          </p:spPr>
          <p:txBody>
            <a:bodyPr wrap="square" rtlCol="0">
              <a:spAutoFit/>
            </a:bodyPr>
            <a:lstStyle/>
            <a:p>
              <a:r>
                <a:rPr lang="en-US" sz="1600" dirty="0"/>
                <a:t>3</a:t>
              </a:r>
            </a:p>
          </p:txBody>
        </p:sp>
        <p:sp>
          <p:nvSpPr>
            <p:cNvPr id="46" name="Rectangle 45"/>
            <p:cNvSpPr/>
            <p:nvPr/>
          </p:nvSpPr>
          <p:spPr>
            <a:xfrm>
              <a:off x="50292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5029200" y="5486400"/>
              <a:ext cx="457200" cy="338554"/>
            </a:xfrm>
            <a:prstGeom prst="rect">
              <a:avLst/>
            </a:prstGeom>
            <a:noFill/>
          </p:spPr>
          <p:txBody>
            <a:bodyPr wrap="square" rtlCol="0">
              <a:spAutoFit/>
            </a:bodyPr>
            <a:lstStyle/>
            <a:p>
              <a:r>
                <a:rPr lang="en-US" sz="1600" dirty="0"/>
                <a:t>15</a:t>
              </a:r>
            </a:p>
          </p:txBody>
        </p:sp>
        <p:sp>
          <p:nvSpPr>
            <p:cNvPr id="48" name="Rectangle 47"/>
            <p:cNvSpPr/>
            <p:nvPr/>
          </p:nvSpPr>
          <p:spPr>
            <a:xfrm>
              <a:off x="58674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5867400" y="5486400"/>
              <a:ext cx="457200" cy="338554"/>
            </a:xfrm>
            <a:prstGeom prst="rect">
              <a:avLst/>
            </a:prstGeom>
            <a:noFill/>
          </p:spPr>
          <p:txBody>
            <a:bodyPr wrap="square" rtlCol="0">
              <a:spAutoFit/>
            </a:bodyPr>
            <a:lstStyle/>
            <a:p>
              <a:r>
                <a:rPr lang="en-US" sz="1600" dirty="0"/>
                <a:t>17</a:t>
              </a:r>
            </a:p>
          </p:txBody>
        </p:sp>
        <p:sp>
          <p:nvSpPr>
            <p:cNvPr id="50" name="Rectangle 49"/>
            <p:cNvSpPr/>
            <p:nvPr/>
          </p:nvSpPr>
          <p:spPr>
            <a:xfrm>
              <a:off x="65532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p:cNvSpPr txBox="1"/>
            <p:nvPr/>
          </p:nvSpPr>
          <p:spPr>
            <a:xfrm>
              <a:off x="6553200" y="5486400"/>
              <a:ext cx="457200" cy="338554"/>
            </a:xfrm>
            <a:prstGeom prst="rect">
              <a:avLst/>
            </a:prstGeom>
            <a:noFill/>
          </p:spPr>
          <p:txBody>
            <a:bodyPr wrap="square" rtlCol="0">
              <a:spAutoFit/>
            </a:bodyPr>
            <a:lstStyle/>
            <a:p>
              <a:r>
                <a:rPr lang="en-US" sz="1600" dirty="0"/>
                <a:t>51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endParaRPr lang="en-US" dirty="0"/>
          </a:p>
          <a:p>
            <a:pPr>
              <a:buNone/>
            </a:pPr>
            <a:endParaRPr lang="en-US" dirty="0"/>
          </a:p>
          <a:p>
            <a:pPr>
              <a:buNone/>
            </a:pPr>
            <a:r>
              <a:rPr lang="en-US" sz="2000" dirty="0"/>
              <a:t>Each pair is then merged</a:t>
            </a:r>
          </a:p>
          <a:p>
            <a:pPr>
              <a:buNone/>
            </a:pPr>
            <a:endParaRPr lang="en-US" sz="2000" dirty="0"/>
          </a:p>
          <a:p>
            <a:pPr>
              <a:buNone/>
            </a:pPr>
            <a:endParaRPr lang="en-US" sz="2000" dirty="0"/>
          </a:p>
          <a:p>
            <a:pPr>
              <a:buNone/>
            </a:pPr>
            <a:r>
              <a:rPr lang="en-US" sz="2000" dirty="0"/>
              <a:t>Each of these pairs is then merged</a:t>
            </a:r>
          </a:p>
          <a:p>
            <a:pPr>
              <a:buNone/>
            </a:pPr>
            <a:endParaRPr lang="en-US" sz="2000" dirty="0"/>
          </a:p>
          <a:p>
            <a:pPr>
              <a:buNone/>
            </a:pPr>
            <a:endParaRPr lang="en-US" sz="2000" dirty="0"/>
          </a:p>
          <a:p>
            <a:pPr>
              <a:buNone/>
            </a:pPr>
            <a:endParaRPr lang="en-US" sz="2000" dirty="0"/>
          </a:p>
          <a:p>
            <a:pPr>
              <a:buNone/>
            </a:pPr>
            <a:r>
              <a:rPr lang="en-US" sz="2000" dirty="0"/>
              <a:t>Finally these pairs are merged</a:t>
            </a:r>
          </a:p>
          <a:p>
            <a:pPr>
              <a:buNone/>
            </a:pPr>
            <a:endParaRPr lang="en-US" sz="2000" dirty="0"/>
          </a:p>
          <a:p>
            <a:pPr>
              <a:buNone/>
            </a:pPr>
            <a:endParaRPr lang="en-US" sz="2000" dirty="0"/>
          </a:p>
          <a:p>
            <a:pPr>
              <a:buNone/>
            </a:pPr>
            <a:r>
              <a:rPr lang="en-US" sz="2000" dirty="0"/>
              <a:t>to obtain the sorted array. Totally, it takes 4 + 5 + 7 = 16 comparisons.</a:t>
            </a:r>
          </a:p>
        </p:txBody>
      </p:sp>
      <p:sp>
        <p:nvSpPr>
          <p:cNvPr id="4" name="Rectangle 3"/>
          <p:cNvSpPr/>
          <p:nvPr/>
        </p:nvSpPr>
        <p:spPr>
          <a:xfrm>
            <a:off x="1447800" y="10668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447800" y="1066800"/>
            <a:ext cx="444500" cy="338554"/>
          </a:xfrm>
          <a:prstGeom prst="rect">
            <a:avLst/>
          </a:prstGeom>
          <a:noFill/>
        </p:spPr>
        <p:txBody>
          <a:bodyPr wrap="square" rtlCol="0">
            <a:spAutoFit/>
          </a:bodyPr>
          <a:lstStyle/>
          <a:p>
            <a:r>
              <a:rPr lang="en-US" sz="1600" dirty="0"/>
              <a:t>14</a:t>
            </a:r>
          </a:p>
        </p:txBody>
      </p:sp>
      <p:sp>
        <p:nvSpPr>
          <p:cNvPr id="6" name="Rectangle 5"/>
          <p:cNvSpPr/>
          <p:nvPr/>
        </p:nvSpPr>
        <p:spPr>
          <a:xfrm>
            <a:off x="2209800" y="10668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209800" y="1066800"/>
            <a:ext cx="444500" cy="338554"/>
          </a:xfrm>
          <a:prstGeom prst="rect">
            <a:avLst/>
          </a:prstGeom>
          <a:noFill/>
        </p:spPr>
        <p:txBody>
          <a:bodyPr wrap="square" rtlCol="0">
            <a:spAutoFit/>
          </a:bodyPr>
          <a:lstStyle/>
          <a:p>
            <a:r>
              <a:rPr lang="en-US" sz="1600" dirty="0"/>
              <a:t>40</a:t>
            </a:r>
          </a:p>
        </p:txBody>
      </p:sp>
      <p:sp>
        <p:nvSpPr>
          <p:cNvPr id="8" name="Rectangle 7"/>
          <p:cNvSpPr/>
          <p:nvPr/>
        </p:nvSpPr>
        <p:spPr>
          <a:xfrm>
            <a:off x="28956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895600" y="1066800"/>
            <a:ext cx="457200" cy="338554"/>
          </a:xfrm>
          <a:prstGeom prst="rect">
            <a:avLst/>
          </a:prstGeom>
          <a:noFill/>
        </p:spPr>
        <p:txBody>
          <a:bodyPr wrap="square" rtlCol="0">
            <a:spAutoFit/>
          </a:bodyPr>
          <a:lstStyle/>
          <a:p>
            <a:r>
              <a:rPr lang="en-US" sz="1600" dirty="0"/>
              <a:t>31</a:t>
            </a:r>
          </a:p>
        </p:txBody>
      </p:sp>
      <p:sp>
        <p:nvSpPr>
          <p:cNvPr id="10" name="Rectangle 9"/>
          <p:cNvSpPr/>
          <p:nvPr/>
        </p:nvSpPr>
        <p:spPr>
          <a:xfrm>
            <a:off x="35814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581400" y="1066800"/>
            <a:ext cx="457200" cy="338554"/>
          </a:xfrm>
          <a:prstGeom prst="rect">
            <a:avLst/>
          </a:prstGeom>
          <a:noFill/>
        </p:spPr>
        <p:txBody>
          <a:bodyPr wrap="square" rtlCol="0">
            <a:spAutoFit/>
          </a:bodyPr>
          <a:lstStyle/>
          <a:p>
            <a:r>
              <a:rPr lang="en-US" sz="1600" dirty="0"/>
              <a:t>28</a:t>
            </a:r>
          </a:p>
        </p:txBody>
      </p:sp>
      <p:sp>
        <p:nvSpPr>
          <p:cNvPr id="12" name="Rectangle 11"/>
          <p:cNvSpPr/>
          <p:nvPr/>
        </p:nvSpPr>
        <p:spPr>
          <a:xfrm>
            <a:off x="43434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343400" y="1066800"/>
            <a:ext cx="457200" cy="338554"/>
          </a:xfrm>
          <a:prstGeom prst="rect">
            <a:avLst/>
          </a:prstGeom>
          <a:noFill/>
        </p:spPr>
        <p:txBody>
          <a:bodyPr wrap="square" rtlCol="0">
            <a:spAutoFit/>
          </a:bodyPr>
          <a:lstStyle/>
          <a:p>
            <a:r>
              <a:rPr lang="en-US" sz="1600" dirty="0"/>
              <a:t>3</a:t>
            </a:r>
          </a:p>
        </p:txBody>
      </p:sp>
      <p:sp>
        <p:nvSpPr>
          <p:cNvPr id="14" name="Rectangle 13"/>
          <p:cNvSpPr/>
          <p:nvPr/>
        </p:nvSpPr>
        <p:spPr>
          <a:xfrm>
            <a:off x="51054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105400" y="1066800"/>
            <a:ext cx="457200" cy="338554"/>
          </a:xfrm>
          <a:prstGeom prst="rect">
            <a:avLst/>
          </a:prstGeom>
          <a:noFill/>
        </p:spPr>
        <p:txBody>
          <a:bodyPr wrap="square" rtlCol="0">
            <a:spAutoFit/>
          </a:bodyPr>
          <a:lstStyle/>
          <a:p>
            <a:r>
              <a:rPr lang="en-US" sz="1600" dirty="0"/>
              <a:t>15</a:t>
            </a:r>
          </a:p>
        </p:txBody>
      </p:sp>
      <p:sp>
        <p:nvSpPr>
          <p:cNvPr id="16" name="Rectangle 15"/>
          <p:cNvSpPr/>
          <p:nvPr/>
        </p:nvSpPr>
        <p:spPr>
          <a:xfrm>
            <a:off x="59436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943600" y="1066800"/>
            <a:ext cx="457200" cy="338554"/>
          </a:xfrm>
          <a:prstGeom prst="rect">
            <a:avLst/>
          </a:prstGeom>
          <a:noFill/>
        </p:spPr>
        <p:txBody>
          <a:bodyPr wrap="square" rtlCol="0">
            <a:spAutoFit/>
          </a:bodyPr>
          <a:lstStyle/>
          <a:p>
            <a:r>
              <a:rPr lang="en-US" sz="1600" dirty="0"/>
              <a:t>17</a:t>
            </a:r>
          </a:p>
        </p:txBody>
      </p:sp>
      <p:sp>
        <p:nvSpPr>
          <p:cNvPr id="18" name="Rectangle 17"/>
          <p:cNvSpPr/>
          <p:nvPr/>
        </p:nvSpPr>
        <p:spPr>
          <a:xfrm>
            <a:off x="66294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6629400" y="1066800"/>
            <a:ext cx="457200" cy="338554"/>
          </a:xfrm>
          <a:prstGeom prst="rect">
            <a:avLst/>
          </a:prstGeom>
          <a:noFill/>
        </p:spPr>
        <p:txBody>
          <a:bodyPr wrap="square" rtlCol="0">
            <a:spAutoFit/>
          </a:bodyPr>
          <a:lstStyle/>
          <a:p>
            <a:r>
              <a:rPr lang="en-US" sz="1600" dirty="0"/>
              <a:t>51</a:t>
            </a:r>
          </a:p>
        </p:txBody>
      </p:sp>
      <p:grpSp>
        <p:nvGrpSpPr>
          <p:cNvPr id="71" name="Group 70"/>
          <p:cNvGrpSpPr/>
          <p:nvPr/>
        </p:nvGrpSpPr>
        <p:grpSpPr>
          <a:xfrm>
            <a:off x="1600200" y="2438400"/>
            <a:ext cx="4572000" cy="381000"/>
            <a:chOff x="1600200" y="2438400"/>
            <a:chExt cx="4572000" cy="381000"/>
          </a:xfrm>
        </p:grpSpPr>
        <p:sp>
          <p:nvSpPr>
            <p:cNvPr id="20" name="Rectangle 19"/>
            <p:cNvSpPr/>
            <p:nvPr/>
          </p:nvSpPr>
          <p:spPr>
            <a:xfrm>
              <a:off x="1600200" y="2438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600200" y="2438400"/>
              <a:ext cx="444500" cy="338554"/>
            </a:xfrm>
            <a:prstGeom prst="rect">
              <a:avLst/>
            </a:prstGeom>
            <a:noFill/>
          </p:spPr>
          <p:txBody>
            <a:bodyPr wrap="square" rtlCol="0">
              <a:spAutoFit/>
            </a:bodyPr>
            <a:lstStyle/>
            <a:p>
              <a:r>
                <a:rPr lang="en-US" sz="1600" dirty="0"/>
                <a:t>14</a:t>
              </a:r>
            </a:p>
          </p:txBody>
        </p:sp>
        <p:sp>
          <p:nvSpPr>
            <p:cNvPr id="22" name="Rectangle 21"/>
            <p:cNvSpPr/>
            <p:nvPr/>
          </p:nvSpPr>
          <p:spPr>
            <a:xfrm>
              <a:off x="1981200" y="2438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1981200" y="2438400"/>
              <a:ext cx="444500" cy="338554"/>
            </a:xfrm>
            <a:prstGeom prst="rect">
              <a:avLst/>
            </a:prstGeom>
            <a:noFill/>
          </p:spPr>
          <p:txBody>
            <a:bodyPr wrap="square" rtlCol="0">
              <a:spAutoFit/>
            </a:bodyPr>
            <a:lstStyle/>
            <a:p>
              <a:r>
                <a:rPr lang="en-US" sz="1600" dirty="0"/>
                <a:t>40</a:t>
              </a:r>
            </a:p>
          </p:txBody>
        </p:sp>
        <p:sp>
          <p:nvSpPr>
            <p:cNvPr id="24" name="Rectangle 23"/>
            <p:cNvSpPr/>
            <p:nvPr/>
          </p:nvSpPr>
          <p:spPr>
            <a:xfrm>
              <a:off x="26670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2667000" y="2438400"/>
              <a:ext cx="457200" cy="338554"/>
            </a:xfrm>
            <a:prstGeom prst="rect">
              <a:avLst/>
            </a:prstGeom>
            <a:noFill/>
          </p:spPr>
          <p:txBody>
            <a:bodyPr wrap="square" rtlCol="0">
              <a:spAutoFit/>
            </a:bodyPr>
            <a:lstStyle/>
            <a:p>
              <a:r>
                <a:rPr lang="en-US" sz="1600" dirty="0"/>
                <a:t>28</a:t>
              </a:r>
            </a:p>
          </p:txBody>
        </p:sp>
        <p:sp>
          <p:nvSpPr>
            <p:cNvPr id="26" name="Rectangle 25"/>
            <p:cNvSpPr/>
            <p:nvPr/>
          </p:nvSpPr>
          <p:spPr>
            <a:xfrm>
              <a:off x="30480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3048000" y="2438400"/>
              <a:ext cx="457200" cy="338554"/>
            </a:xfrm>
            <a:prstGeom prst="rect">
              <a:avLst/>
            </a:prstGeom>
            <a:noFill/>
          </p:spPr>
          <p:txBody>
            <a:bodyPr wrap="square" rtlCol="0">
              <a:spAutoFit/>
            </a:bodyPr>
            <a:lstStyle/>
            <a:p>
              <a:r>
                <a:rPr lang="en-US" sz="1600" dirty="0"/>
                <a:t>31</a:t>
              </a:r>
            </a:p>
          </p:txBody>
        </p:sp>
        <p:sp>
          <p:nvSpPr>
            <p:cNvPr id="28" name="Rectangle 27"/>
            <p:cNvSpPr/>
            <p:nvPr/>
          </p:nvSpPr>
          <p:spPr>
            <a:xfrm>
              <a:off x="41148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4191000" y="2438400"/>
              <a:ext cx="457200" cy="338554"/>
            </a:xfrm>
            <a:prstGeom prst="rect">
              <a:avLst/>
            </a:prstGeom>
            <a:noFill/>
          </p:spPr>
          <p:txBody>
            <a:bodyPr wrap="square" rtlCol="0">
              <a:spAutoFit/>
            </a:bodyPr>
            <a:lstStyle/>
            <a:p>
              <a:r>
                <a:rPr lang="en-US" sz="1600" dirty="0"/>
                <a:t>3</a:t>
              </a:r>
            </a:p>
          </p:txBody>
        </p:sp>
        <p:sp>
          <p:nvSpPr>
            <p:cNvPr id="30" name="Rectangle 29"/>
            <p:cNvSpPr/>
            <p:nvPr/>
          </p:nvSpPr>
          <p:spPr>
            <a:xfrm>
              <a:off x="44958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4495800" y="2438400"/>
              <a:ext cx="457200" cy="338554"/>
            </a:xfrm>
            <a:prstGeom prst="rect">
              <a:avLst/>
            </a:prstGeom>
            <a:noFill/>
          </p:spPr>
          <p:txBody>
            <a:bodyPr wrap="square" rtlCol="0">
              <a:spAutoFit/>
            </a:bodyPr>
            <a:lstStyle/>
            <a:p>
              <a:r>
                <a:rPr lang="en-US" sz="1600" dirty="0"/>
                <a:t>15</a:t>
              </a:r>
            </a:p>
          </p:txBody>
        </p:sp>
        <p:sp>
          <p:nvSpPr>
            <p:cNvPr id="32" name="Rectangle 31"/>
            <p:cNvSpPr/>
            <p:nvPr/>
          </p:nvSpPr>
          <p:spPr>
            <a:xfrm>
              <a:off x="53340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5334000" y="2438400"/>
              <a:ext cx="457200" cy="338554"/>
            </a:xfrm>
            <a:prstGeom prst="rect">
              <a:avLst/>
            </a:prstGeom>
            <a:noFill/>
          </p:spPr>
          <p:txBody>
            <a:bodyPr wrap="square" rtlCol="0">
              <a:spAutoFit/>
            </a:bodyPr>
            <a:lstStyle/>
            <a:p>
              <a:r>
                <a:rPr lang="en-US" sz="1600" dirty="0"/>
                <a:t>17</a:t>
              </a:r>
            </a:p>
          </p:txBody>
        </p:sp>
        <p:sp>
          <p:nvSpPr>
            <p:cNvPr id="34" name="Rectangle 33"/>
            <p:cNvSpPr/>
            <p:nvPr/>
          </p:nvSpPr>
          <p:spPr>
            <a:xfrm>
              <a:off x="57150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5715000" y="2438400"/>
              <a:ext cx="457200" cy="338554"/>
            </a:xfrm>
            <a:prstGeom prst="rect">
              <a:avLst/>
            </a:prstGeom>
            <a:noFill/>
          </p:spPr>
          <p:txBody>
            <a:bodyPr wrap="square" rtlCol="0">
              <a:spAutoFit/>
            </a:bodyPr>
            <a:lstStyle/>
            <a:p>
              <a:r>
                <a:rPr lang="en-US" sz="1600" dirty="0"/>
                <a:t>51</a:t>
              </a:r>
            </a:p>
          </p:txBody>
        </p:sp>
      </p:grpSp>
      <p:sp>
        <p:nvSpPr>
          <p:cNvPr id="36" name="TextBox 35"/>
          <p:cNvSpPr txBox="1"/>
          <p:nvPr/>
        </p:nvSpPr>
        <p:spPr>
          <a:xfrm>
            <a:off x="6858000" y="2362200"/>
            <a:ext cx="1828800" cy="400110"/>
          </a:xfrm>
          <a:prstGeom prst="rect">
            <a:avLst/>
          </a:prstGeom>
          <a:noFill/>
        </p:spPr>
        <p:txBody>
          <a:bodyPr wrap="square" rtlCol="0">
            <a:spAutoFit/>
          </a:bodyPr>
          <a:lstStyle/>
          <a:p>
            <a:r>
              <a:rPr lang="en-US" sz="2000" i="1" dirty="0">
                <a:solidFill>
                  <a:srgbClr val="0000FF"/>
                </a:solidFill>
              </a:rPr>
              <a:t>4 comparisons</a:t>
            </a:r>
          </a:p>
        </p:txBody>
      </p:sp>
      <p:grpSp>
        <p:nvGrpSpPr>
          <p:cNvPr id="72" name="Group 71"/>
          <p:cNvGrpSpPr/>
          <p:nvPr/>
        </p:nvGrpSpPr>
        <p:grpSpPr>
          <a:xfrm>
            <a:off x="1676400" y="3581400"/>
            <a:ext cx="3810000" cy="381000"/>
            <a:chOff x="1676400" y="3581400"/>
            <a:chExt cx="3810000" cy="381000"/>
          </a:xfrm>
        </p:grpSpPr>
        <p:sp>
          <p:nvSpPr>
            <p:cNvPr id="37" name="Rectangle 36"/>
            <p:cNvSpPr/>
            <p:nvPr/>
          </p:nvSpPr>
          <p:spPr>
            <a:xfrm>
              <a:off x="16764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1676400" y="3581400"/>
              <a:ext cx="457200" cy="338554"/>
            </a:xfrm>
            <a:prstGeom prst="rect">
              <a:avLst/>
            </a:prstGeom>
            <a:noFill/>
          </p:spPr>
          <p:txBody>
            <a:bodyPr wrap="square" rtlCol="0">
              <a:spAutoFit/>
            </a:bodyPr>
            <a:lstStyle/>
            <a:p>
              <a:r>
                <a:rPr lang="en-US" sz="1600" dirty="0"/>
                <a:t>14</a:t>
              </a:r>
            </a:p>
          </p:txBody>
        </p:sp>
        <p:sp>
          <p:nvSpPr>
            <p:cNvPr id="39" name="Rectangle 38"/>
            <p:cNvSpPr/>
            <p:nvPr/>
          </p:nvSpPr>
          <p:spPr>
            <a:xfrm>
              <a:off x="20574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2057400" y="3581400"/>
              <a:ext cx="457200" cy="338554"/>
            </a:xfrm>
            <a:prstGeom prst="rect">
              <a:avLst/>
            </a:prstGeom>
            <a:noFill/>
          </p:spPr>
          <p:txBody>
            <a:bodyPr wrap="square" rtlCol="0">
              <a:spAutoFit/>
            </a:bodyPr>
            <a:lstStyle/>
            <a:p>
              <a:r>
                <a:rPr lang="en-US" sz="1600" dirty="0"/>
                <a:t>28</a:t>
              </a:r>
            </a:p>
          </p:txBody>
        </p:sp>
        <p:sp>
          <p:nvSpPr>
            <p:cNvPr id="41" name="Rectangle 40"/>
            <p:cNvSpPr/>
            <p:nvPr/>
          </p:nvSpPr>
          <p:spPr>
            <a:xfrm>
              <a:off x="24384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2438400" y="3581400"/>
              <a:ext cx="457200" cy="338554"/>
            </a:xfrm>
            <a:prstGeom prst="rect">
              <a:avLst/>
            </a:prstGeom>
            <a:noFill/>
          </p:spPr>
          <p:txBody>
            <a:bodyPr wrap="square" rtlCol="0">
              <a:spAutoFit/>
            </a:bodyPr>
            <a:lstStyle/>
            <a:p>
              <a:r>
                <a:rPr lang="en-US" sz="1600" dirty="0"/>
                <a:t>31</a:t>
              </a:r>
            </a:p>
          </p:txBody>
        </p:sp>
        <p:sp>
          <p:nvSpPr>
            <p:cNvPr id="43" name="Rectangle 42"/>
            <p:cNvSpPr/>
            <p:nvPr/>
          </p:nvSpPr>
          <p:spPr>
            <a:xfrm>
              <a:off x="28194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2819400" y="3581400"/>
              <a:ext cx="457200" cy="338554"/>
            </a:xfrm>
            <a:prstGeom prst="rect">
              <a:avLst/>
            </a:prstGeom>
            <a:noFill/>
          </p:spPr>
          <p:txBody>
            <a:bodyPr wrap="square" rtlCol="0">
              <a:spAutoFit/>
            </a:bodyPr>
            <a:lstStyle/>
            <a:p>
              <a:r>
                <a:rPr lang="en-US" sz="1600" dirty="0"/>
                <a:t>40</a:t>
              </a:r>
            </a:p>
          </p:txBody>
        </p:sp>
        <p:sp>
          <p:nvSpPr>
            <p:cNvPr id="45" name="Rectangle 44"/>
            <p:cNvSpPr/>
            <p:nvPr/>
          </p:nvSpPr>
          <p:spPr>
            <a:xfrm>
              <a:off x="38862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3886200" y="3581400"/>
              <a:ext cx="381000" cy="338554"/>
            </a:xfrm>
            <a:prstGeom prst="rect">
              <a:avLst/>
            </a:prstGeom>
            <a:noFill/>
          </p:spPr>
          <p:txBody>
            <a:bodyPr wrap="square" rtlCol="0">
              <a:spAutoFit/>
            </a:bodyPr>
            <a:lstStyle/>
            <a:p>
              <a:r>
                <a:rPr lang="en-US" sz="1600" dirty="0"/>
                <a:t>3</a:t>
              </a:r>
            </a:p>
          </p:txBody>
        </p:sp>
        <p:sp>
          <p:nvSpPr>
            <p:cNvPr id="47" name="Rectangle 46"/>
            <p:cNvSpPr/>
            <p:nvPr/>
          </p:nvSpPr>
          <p:spPr>
            <a:xfrm>
              <a:off x="42672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4267200" y="3581400"/>
              <a:ext cx="457200" cy="338554"/>
            </a:xfrm>
            <a:prstGeom prst="rect">
              <a:avLst/>
            </a:prstGeom>
            <a:noFill/>
          </p:spPr>
          <p:txBody>
            <a:bodyPr wrap="square" rtlCol="0">
              <a:spAutoFit/>
            </a:bodyPr>
            <a:lstStyle/>
            <a:p>
              <a:r>
                <a:rPr lang="en-US" sz="1600" dirty="0"/>
                <a:t>15</a:t>
              </a:r>
            </a:p>
          </p:txBody>
        </p:sp>
        <p:sp>
          <p:nvSpPr>
            <p:cNvPr id="49" name="Rectangle 48"/>
            <p:cNvSpPr/>
            <p:nvPr/>
          </p:nvSpPr>
          <p:spPr>
            <a:xfrm>
              <a:off x="46482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4648200" y="3581400"/>
              <a:ext cx="457200" cy="338554"/>
            </a:xfrm>
            <a:prstGeom prst="rect">
              <a:avLst/>
            </a:prstGeom>
            <a:noFill/>
          </p:spPr>
          <p:txBody>
            <a:bodyPr wrap="square" rtlCol="0">
              <a:spAutoFit/>
            </a:bodyPr>
            <a:lstStyle/>
            <a:p>
              <a:r>
                <a:rPr lang="en-US" sz="1600" dirty="0"/>
                <a:t>17</a:t>
              </a:r>
            </a:p>
          </p:txBody>
        </p:sp>
        <p:sp>
          <p:nvSpPr>
            <p:cNvPr id="51" name="Rectangle 50"/>
            <p:cNvSpPr/>
            <p:nvPr/>
          </p:nvSpPr>
          <p:spPr>
            <a:xfrm>
              <a:off x="50292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5029200" y="3581400"/>
              <a:ext cx="457200" cy="338554"/>
            </a:xfrm>
            <a:prstGeom prst="rect">
              <a:avLst/>
            </a:prstGeom>
            <a:noFill/>
          </p:spPr>
          <p:txBody>
            <a:bodyPr wrap="square" rtlCol="0">
              <a:spAutoFit/>
            </a:bodyPr>
            <a:lstStyle/>
            <a:p>
              <a:r>
                <a:rPr lang="en-US" sz="1600" dirty="0"/>
                <a:t>51</a:t>
              </a:r>
            </a:p>
          </p:txBody>
        </p:sp>
      </p:grpSp>
      <p:sp>
        <p:nvSpPr>
          <p:cNvPr id="53" name="TextBox 52"/>
          <p:cNvSpPr txBox="1"/>
          <p:nvPr/>
        </p:nvSpPr>
        <p:spPr>
          <a:xfrm>
            <a:off x="6934200" y="3505200"/>
            <a:ext cx="1828800" cy="400110"/>
          </a:xfrm>
          <a:prstGeom prst="rect">
            <a:avLst/>
          </a:prstGeom>
          <a:noFill/>
        </p:spPr>
        <p:txBody>
          <a:bodyPr wrap="square" rtlCol="0">
            <a:spAutoFit/>
          </a:bodyPr>
          <a:lstStyle/>
          <a:p>
            <a:r>
              <a:rPr lang="en-US" sz="2000" i="1" dirty="0" smtClean="0">
                <a:solidFill>
                  <a:srgbClr val="0000FF"/>
                </a:solidFill>
              </a:rPr>
              <a:t>5 comparisons</a:t>
            </a:r>
            <a:endParaRPr lang="en-US" sz="2000" i="1" dirty="0">
              <a:solidFill>
                <a:srgbClr val="0000FF"/>
              </a:solidFill>
            </a:endParaRPr>
          </a:p>
        </p:txBody>
      </p:sp>
      <p:grpSp>
        <p:nvGrpSpPr>
          <p:cNvPr id="73" name="Group 72"/>
          <p:cNvGrpSpPr/>
          <p:nvPr/>
        </p:nvGrpSpPr>
        <p:grpSpPr>
          <a:xfrm>
            <a:off x="2362200" y="4953000"/>
            <a:ext cx="3124200" cy="381000"/>
            <a:chOff x="2362200" y="4953000"/>
            <a:chExt cx="3124200" cy="381000"/>
          </a:xfrm>
        </p:grpSpPr>
        <p:sp>
          <p:nvSpPr>
            <p:cNvPr id="54" name="Rectangle 53"/>
            <p:cNvSpPr/>
            <p:nvPr/>
          </p:nvSpPr>
          <p:spPr>
            <a:xfrm>
              <a:off x="2362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p:cNvSpPr txBox="1"/>
            <p:nvPr/>
          </p:nvSpPr>
          <p:spPr>
            <a:xfrm>
              <a:off x="2438400" y="4953000"/>
              <a:ext cx="457200" cy="338554"/>
            </a:xfrm>
            <a:prstGeom prst="rect">
              <a:avLst/>
            </a:prstGeom>
            <a:noFill/>
          </p:spPr>
          <p:txBody>
            <a:bodyPr wrap="square" rtlCol="0">
              <a:spAutoFit/>
            </a:bodyPr>
            <a:lstStyle/>
            <a:p>
              <a:r>
                <a:rPr lang="en-US" sz="1600" dirty="0"/>
                <a:t>3</a:t>
              </a:r>
            </a:p>
          </p:txBody>
        </p:sp>
        <p:sp>
          <p:nvSpPr>
            <p:cNvPr id="56" name="Rectangle 55"/>
            <p:cNvSpPr/>
            <p:nvPr/>
          </p:nvSpPr>
          <p:spPr>
            <a:xfrm>
              <a:off x="2743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2743200" y="4953000"/>
              <a:ext cx="457200" cy="338554"/>
            </a:xfrm>
            <a:prstGeom prst="rect">
              <a:avLst/>
            </a:prstGeom>
            <a:noFill/>
          </p:spPr>
          <p:txBody>
            <a:bodyPr wrap="square" rtlCol="0">
              <a:spAutoFit/>
            </a:bodyPr>
            <a:lstStyle/>
            <a:p>
              <a:r>
                <a:rPr lang="en-US" sz="1600" dirty="0"/>
                <a:t>14</a:t>
              </a:r>
            </a:p>
          </p:txBody>
        </p:sp>
        <p:sp>
          <p:nvSpPr>
            <p:cNvPr id="58" name="Rectangle 57"/>
            <p:cNvSpPr/>
            <p:nvPr/>
          </p:nvSpPr>
          <p:spPr>
            <a:xfrm>
              <a:off x="3124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p:cNvSpPr txBox="1"/>
            <p:nvPr/>
          </p:nvSpPr>
          <p:spPr>
            <a:xfrm>
              <a:off x="3124200" y="4953000"/>
              <a:ext cx="457200" cy="338554"/>
            </a:xfrm>
            <a:prstGeom prst="rect">
              <a:avLst/>
            </a:prstGeom>
            <a:noFill/>
          </p:spPr>
          <p:txBody>
            <a:bodyPr wrap="square" rtlCol="0">
              <a:spAutoFit/>
            </a:bodyPr>
            <a:lstStyle/>
            <a:p>
              <a:r>
                <a:rPr lang="en-US" sz="1600" dirty="0"/>
                <a:t>15</a:t>
              </a:r>
            </a:p>
          </p:txBody>
        </p:sp>
        <p:sp>
          <p:nvSpPr>
            <p:cNvPr id="60" name="Rectangle 59"/>
            <p:cNvSpPr/>
            <p:nvPr/>
          </p:nvSpPr>
          <p:spPr>
            <a:xfrm>
              <a:off x="3505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p:cNvSpPr txBox="1"/>
            <p:nvPr/>
          </p:nvSpPr>
          <p:spPr>
            <a:xfrm>
              <a:off x="3505200" y="4953000"/>
              <a:ext cx="457200" cy="338554"/>
            </a:xfrm>
            <a:prstGeom prst="rect">
              <a:avLst/>
            </a:prstGeom>
            <a:noFill/>
          </p:spPr>
          <p:txBody>
            <a:bodyPr wrap="square" rtlCol="0">
              <a:spAutoFit/>
            </a:bodyPr>
            <a:lstStyle/>
            <a:p>
              <a:r>
                <a:rPr lang="en-US" sz="1600" dirty="0"/>
                <a:t>17</a:t>
              </a:r>
            </a:p>
          </p:txBody>
        </p:sp>
        <p:sp>
          <p:nvSpPr>
            <p:cNvPr id="62" name="Rectangle 61"/>
            <p:cNvSpPr/>
            <p:nvPr/>
          </p:nvSpPr>
          <p:spPr>
            <a:xfrm>
              <a:off x="3886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3886200" y="4953000"/>
              <a:ext cx="457200" cy="338554"/>
            </a:xfrm>
            <a:prstGeom prst="rect">
              <a:avLst/>
            </a:prstGeom>
            <a:noFill/>
          </p:spPr>
          <p:txBody>
            <a:bodyPr wrap="square" rtlCol="0">
              <a:spAutoFit/>
            </a:bodyPr>
            <a:lstStyle/>
            <a:p>
              <a:r>
                <a:rPr lang="en-US" sz="1600" dirty="0"/>
                <a:t>28</a:t>
              </a:r>
            </a:p>
          </p:txBody>
        </p:sp>
        <p:sp>
          <p:nvSpPr>
            <p:cNvPr id="64" name="Rectangle 63"/>
            <p:cNvSpPr/>
            <p:nvPr/>
          </p:nvSpPr>
          <p:spPr>
            <a:xfrm>
              <a:off x="4267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4267200" y="4953000"/>
              <a:ext cx="457200" cy="338554"/>
            </a:xfrm>
            <a:prstGeom prst="rect">
              <a:avLst/>
            </a:prstGeom>
            <a:noFill/>
          </p:spPr>
          <p:txBody>
            <a:bodyPr wrap="square" rtlCol="0">
              <a:spAutoFit/>
            </a:bodyPr>
            <a:lstStyle/>
            <a:p>
              <a:r>
                <a:rPr lang="en-US" sz="1600" dirty="0"/>
                <a:t>31</a:t>
              </a:r>
            </a:p>
          </p:txBody>
        </p:sp>
        <p:sp>
          <p:nvSpPr>
            <p:cNvPr id="66" name="Rectangle 65"/>
            <p:cNvSpPr/>
            <p:nvPr/>
          </p:nvSpPr>
          <p:spPr>
            <a:xfrm>
              <a:off x="4648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p:cNvSpPr txBox="1"/>
            <p:nvPr/>
          </p:nvSpPr>
          <p:spPr>
            <a:xfrm>
              <a:off x="4648200" y="4953000"/>
              <a:ext cx="457200" cy="338554"/>
            </a:xfrm>
            <a:prstGeom prst="rect">
              <a:avLst/>
            </a:prstGeom>
            <a:noFill/>
          </p:spPr>
          <p:txBody>
            <a:bodyPr wrap="square" rtlCol="0">
              <a:spAutoFit/>
            </a:bodyPr>
            <a:lstStyle/>
            <a:p>
              <a:r>
                <a:rPr lang="en-US" sz="1600" dirty="0"/>
                <a:t>40</a:t>
              </a:r>
            </a:p>
          </p:txBody>
        </p:sp>
        <p:sp>
          <p:nvSpPr>
            <p:cNvPr id="68" name="Rectangle 67"/>
            <p:cNvSpPr/>
            <p:nvPr/>
          </p:nvSpPr>
          <p:spPr>
            <a:xfrm>
              <a:off x="5029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p:cNvSpPr txBox="1"/>
            <p:nvPr/>
          </p:nvSpPr>
          <p:spPr>
            <a:xfrm>
              <a:off x="5029200" y="4953000"/>
              <a:ext cx="457200" cy="338554"/>
            </a:xfrm>
            <a:prstGeom prst="rect">
              <a:avLst/>
            </a:prstGeom>
            <a:noFill/>
          </p:spPr>
          <p:txBody>
            <a:bodyPr wrap="square" rtlCol="0">
              <a:spAutoFit/>
            </a:bodyPr>
            <a:lstStyle/>
            <a:p>
              <a:r>
                <a:rPr lang="en-US" sz="1600" dirty="0"/>
                <a:t>51</a:t>
              </a:r>
            </a:p>
          </p:txBody>
        </p:sp>
      </p:grpSp>
      <p:sp>
        <p:nvSpPr>
          <p:cNvPr id="70" name="TextBox 69"/>
          <p:cNvSpPr txBox="1"/>
          <p:nvPr/>
        </p:nvSpPr>
        <p:spPr>
          <a:xfrm>
            <a:off x="6934200" y="4876800"/>
            <a:ext cx="1828800" cy="400110"/>
          </a:xfrm>
          <a:prstGeom prst="rect">
            <a:avLst/>
          </a:prstGeom>
          <a:noFill/>
        </p:spPr>
        <p:txBody>
          <a:bodyPr wrap="square" rtlCol="0">
            <a:spAutoFit/>
          </a:bodyPr>
          <a:lstStyle/>
          <a:p>
            <a:r>
              <a:rPr lang="en-US" sz="2000" i="1" dirty="0">
                <a:solidFill>
                  <a:srgbClr val="0000FF"/>
                </a:solidFill>
              </a:rPr>
              <a:t>7 comparisons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53" grpId="0"/>
      <p:bldP spid="7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334962"/>
          </a:xfrm>
        </p:spPr>
        <p:txBody>
          <a:bodyPr>
            <a:noAutofit/>
          </a:bodyPr>
          <a:lstStyle/>
          <a:p>
            <a:r>
              <a:rPr lang="en-US" sz="2800" dirty="0"/>
              <a:t>Question 3</a:t>
            </a:r>
          </a:p>
        </p:txBody>
      </p:sp>
      <p:sp>
        <p:nvSpPr>
          <p:cNvPr id="3" name="Content Placeholder 2"/>
          <p:cNvSpPr>
            <a:spLocks noGrp="1"/>
          </p:cNvSpPr>
          <p:nvPr>
            <p:ph idx="1"/>
          </p:nvPr>
        </p:nvSpPr>
        <p:spPr>
          <a:xfrm>
            <a:off x="457200" y="1219200"/>
            <a:ext cx="8153400" cy="5257800"/>
          </a:xfrm>
        </p:spPr>
        <p:txBody>
          <a:bodyPr>
            <a:normAutofit/>
          </a:bodyPr>
          <a:lstStyle/>
          <a:p>
            <a:pPr lvl="0"/>
            <a:r>
              <a:rPr lang="en-US" sz="2000" dirty="0">
                <a:solidFill>
                  <a:srgbClr val="0000FF"/>
                </a:solidFill>
              </a:rPr>
              <a:t>Show how </a:t>
            </a:r>
            <a:r>
              <a:rPr lang="en-US" sz="2000" dirty="0" err="1">
                <a:solidFill>
                  <a:srgbClr val="0000FF"/>
                </a:solidFill>
              </a:rPr>
              <a:t>MergeSort</a:t>
            </a:r>
            <a:r>
              <a:rPr lang="en-US" sz="2000" dirty="0">
                <a:solidFill>
                  <a:srgbClr val="0000FF"/>
                </a:solidFill>
              </a:rPr>
              <a:t> sorts each of the arrays below and give the number of comparisons among array elements in sorting each array.</a:t>
            </a:r>
          </a:p>
          <a:p>
            <a:pPr lvl="0">
              <a:buNone/>
            </a:pPr>
            <a:r>
              <a:rPr lang="en-US" sz="2000" dirty="0"/>
              <a:t>	</a:t>
            </a:r>
            <a:r>
              <a:rPr lang="en-US" sz="2000" dirty="0">
                <a:solidFill>
                  <a:srgbClr val="0000FF"/>
                </a:solidFill>
              </a:rPr>
              <a:t>(2) 	23  23  23  23  23  23  23  23</a:t>
            </a:r>
          </a:p>
          <a:p>
            <a:pPr lvl="0">
              <a:buNone/>
            </a:pPr>
            <a:r>
              <a:rPr lang="en-US" sz="2400" dirty="0">
                <a:solidFill>
                  <a:srgbClr val="0000FF"/>
                </a:solidFill>
              </a:rPr>
              <a:t>	</a:t>
            </a:r>
            <a:r>
              <a:rPr lang="en-US" sz="2000" dirty="0"/>
              <a:t>(2) </a:t>
            </a:r>
            <a:r>
              <a:rPr lang="en-US" sz="2000" b="1" dirty="0" err="1"/>
              <a:t>Ans</a:t>
            </a:r>
            <a:r>
              <a:rPr lang="en-US" sz="2000" dirty="0"/>
              <a:t>: The array is first divided into two equal parts</a:t>
            </a:r>
          </a:p>
          <a:p>
            <a:endParaRPr lang="en-US" sz="2000" dirty="0"/>
          </a:p>
          <a:p>
            <a:endParaRPr lang="en-US" sz="2000" dirty="0"/>
          </a:p>
          <a:p>
            <a:pPr>
              <a:buNone/>
            </a:pPr>
            <a:r>
              <a:rPr lang="en-US" sz="2000" dirty="0"/>
              <a:t>Each part is then sorted by </a:t>
            </a:r>
            <a:r>
              <a:rPr lang="en-US" sz="2000" dirty="0" err="1"/>
              <a:t>mergesort</a:t>
            </a:r>
            <a:r>
              <a:rPr lang="en-US" sz="2000" dirty="0"/>
              <a:t>. The process begins by dividing each part into equal parts</a:t>
            </a:r>
          </a:p>
          <a:p>
            <a:pPr>
              <a:buNone/>
            </a:pPr>
            <a:endParaRPr lang="en-US" sz="2000" dirty="0"/>
          </a:p>
          <a:p>
            <a:pPr>
              <a:buNone/>
            </a:pPr>
            <a:endParaRPr lang="en-US" sz="2000" dirty="0"/>
          </a:p>
          <a:p>
            <a:pPr>
              <a:buNone/>
            </a:pPr>
            <a:r>
              <a:rPr lang="en-US" sz="2000" dirty="0"/>
              <a:t>and then each of these parts into equal parts</a:t>
            </a:r>
          </a:p>
          <a:p>
            <a:endParaRPr lang="en-US" sz="2000" dirty="0"/>
          </a:p>
          <a:p>
            <a:endParaRPr lang="en-US" sz="2000" dirty="0"/>
          </a:p>
          <a:p>
            <a:pPr>
              <a:buNone/>
            </a:pPr>
            <a:r>
              <a:rPr lang="en-US" sz="2000" dirty="0"/>
              <a:t>This subdivision process now ends because each part contains only one item.</a:t>
            </a:r>
          </a:p>
        </p:txBody>
      </p:sp>
      <p:grpSp>
        <p:nvGrpSpPr>
          <p:cNvPr id="52" name="Group 51"/>
          <p:cNvGrpSpPr/>
          <p:nvPr/>
        </p:nvGrpSpPr>
        <p:grpSpPr>
          <a:xfrm>
            <a:off x="2590800" y="2971800"/>
            <a:ext cx="3810000" cy="381000"/>
            <a:chOff x="2590800" y="2971800"/>
            <a:chExt cx="3810000" cy="381000"/>
          </a:xfrm>
        </p:grpSpPr>
        <p:sp>
          <p:nvSpPr>
            <p:cNvPr id="4" name="Rectangle 3"/>
            <p:cNvSpPr/>
            <p:nvPr/>
          </p:nvSpPr>
          <p:spPr>
            <a:xfrm>
              <a:off x="25908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590800" y="2971800"/>
              <a:ext cx="457200" cy="338554"/>
            </a:xfrm>
            <a:prstGeom prst="rect">
              <a:avLst/>
            </a:prstGeom>
            <a:noFill/>
          </p:spPr>
          <p:txBody>
            <a:bodyPr wrap="square" rtlCol="0">
              <a:spAutoFit/>
            </a:bodyPr>
            <a:lstStyle/>
            <a:p>
              <a:r>
                <a:rPr lang="en-US" sz="1600" dirty="0"/>
                <a:t>23</a:t>
              </a:r>
            </a:p>
          </p:txBody>
        </p:sp>
        <p:sp>
          <p:nvSpPr>
            <p:cNvPr id="6" name="Rectangle 5"/>
            <p:cNvSpPr/>
            <p:nvPr/>
          </p:nvSpPr>
          <p:spPr>
            <a:xfrm>
              <a:off x="29718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971800" y="2971800"/>
              <a:ext cx="457200" cy="338554"/>
            </a:xfrm>
            <a:prstGeom prst="rect">
              <a:avLst/>
            </a:prstGeom>
            <a:noFill/>
          </p:spPr>
          <p:txBody>
            <a:bodyPr wrap="square" rtlCol="0">
              <a:spAutoFit/>
            </a:bodyPr>
            <a:lstStyle/>
            <a:p>
              <a:r>
                <a:rPr lang="en-US" sz="1600" dirty="0"/>
                <a:t>23</a:t>
              </a:r>
            </a:p>
          </p:txBody>
        </p:sp>
        <p:sp>
          <p:nvSpPr>
            <p:cNvPr id="8" name="Rectangle 7"/>
            <p:cNvSpPr/>
            <p:nvPr/>
          </p:nvSpPr>
          <p:spPr>
            <a:xfrm>
              <a:off x="33528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352800" y="2971800"/>
              <a:ext cx="457200" cy="338554"/>
            </a:xfrm>
            <a:prstGeom prst="rect">
              <a:avLst/>
            </a:prstGeom>
            <a:noFill/>
          </p:spPr>
          <p:txBody>
            <a:bodyPr wrap="square" rtlCol="0">
              <a:spAutoFit/>
            </a:bodyPr>
            <a:lstStyle/>
            <a:p>
              <a:r>
                <a:rPr lang="en-US" sz="1600" dirty="0"/>
                <a:t>23</a:t>
              </a:r>
            </a:p>
          </p:txBody>
        </p:sp>
        <p:sp>
          <p:nvSpPr>
            <p:cNvPr id="10" name="Rectangle 9"/>
            <p:cNvSpPr/>
            <p:nvPr/>
          </p:nvSpPr>
          <p:spPr>
            <a:xfrm>
              <a:off x="37338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733800" y="2971800"/>
              <a:ext cx="457200" cy="338554"/>
            </a:xfrm>
            <a:prstGeom prst="rect">
              <a:avLst/>
            </a:prstGeom>
            <a:noFill/>
          </p:spPr>
          <p:txBody>
            <a:bodyPr wrap="square" rtlCol="0">
              <a:spAutoFit/>
            </a:bodyPr>
            <a:lstStyle/>
            <a:p>
              <a:r>
                <a:rPr lang="en-US" sz="1600" dirty="0"/>
                <a:t>23</a:t>
              </a:r>
            </a:p>
          </p:txBody>
        </p:sp>
        <p:sp>
          <p:nvSpPr>
            <p:cNvPr id="12" name="Rectangle 11"/>
            <p:cNvSpPr/>
            <p:nvPr/>
          </p:nvSpPr>
          <p:spPr>
            <a:xfrm>
              <a:off x="48006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800600" y="2971800"/>
              <a:ext cx="457200" cy="338554"/>
            </a:xfrm>
            <a:prstGeom prst="rect">
              <a:avLst/>
            </a:prstGeom>
            <a:noFill/>
          </p:spPr>
          <p:txBody>
            <a:bodyPr wrap="square" rtlCol="0">
              <a:spAutoFit/>
            </a:bodyPr>
            <a:lstStyle/>
            <a:p>
              <a:r>
                <a:rPr lang="en-US" sz="1600" dirty="0"/>
                <a:t>23</a:t>
              </a:r>
            </a:p>
          </p:txBody>
        </p:sp>
        <p:sp>
          <p:nvSpPr>
            <p:cNvPr id="14" name="Rectangle 13"/>
            <p:cNvSpPr/>
            <p:nvPr/>
          </p:nvSpPr>
          <p:spPr>
            <a:xfrm>
              <a:off x="51816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181600" y="2971800"/>
              <a:ext cx="457200" cy="338554"/>
            </a:xfrm>
            <a:prstGeom prst="rect">
              <a:avLst/>
            </a:prstGeom>
            <a:noFill/>
          </p:spPr>
          <p:txBody>
            <a:bodyPr wrap="square" rtlCol="0">
              <a:spAutoFit/>
            </a:bodyPr>
            <a:lstStyle/>
            <a:p>
              <a:r>
                <a:rPr lang="en-US" sz="1600" dirty="0"/>
                <a:t>23</a:t>
              </a:r>
            </a:p>
          </p:txBody>
        </p:sp>
        <p:sp>
          <p:nvSpPr>
            <p:cNvPr id="16" name="Rectangle 15"/>
            <p:cNvSpPr/>
            <p:nvPr/>
          </p:nvSpPr>
          <p:spPr>
            <a:xfrm>
              <a:off x="55626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562600" y="2971800"/>
              <a:ext cx="457200" cy="338554"/>
            </a:xfrm>
            <a:prstGeom prst="rect">
              <a:avLst/>
            </a:prstGeom>
            <a:noFill/>
          </p:spPr>
          <p:txBody>
            <a:bodyPr wrap="square" rtlCol="0">
              <a:spAutoFit/>
            </a:bodyPr>
            <a:lstStyle/>
            <a:p>
              <a:r>
                <a:rPr lang="en-US" sz="1600" dirty="0"/>
                <a:t>23</a:t>
              </a:r>
            </a:p>
          </p:txBody>
        </p:sp>
        <p:sp>
          <p:nvSpPr>
            <p:cNvPr id="18" name="Rectangle 17"/>
            <p:cNvSpPr/>
            <p:nvPr/>
          </p:nvSpPr>
          <p:spPr>
            <a:xfrm>
              <a:off x="5943600" y="2971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5943600" y="2971800"/>
              <a:ext cx="457200" cy="338554"/>
            </a:xfrm>
            <a:prstGeom prst="rect">
              <a:avLst/>
            </a:prstGeom>
            <a:noFill/>
          </p:spPr>
          <p:txBody>
            <a:bodyPr wrap="square" rtlCol="0">
              <a:spAutoFit/>
            </a:bodyPr>
            <a:lstStyle/>
            <a:p>
              <a:r>
                <a:rPr lang="en-US" sz="1600" dirty="0"/>
                <a:t>23</a:t>
              </a:r>
            </a:p>
          </p:txBody>
        </p:sp>
      </p:grpSp>
      <p:grpSp>
        <p:nvGrpSpPr>
          <p:cNvPr id="53" name="Group 52"/>
          <p:cNvGrpSpPr/>
          <p:nvPr/>
        </p:nvGrpSpPr>
        <p:grpSpPr>
          <a:xfrm>
            <a:off x="2362200" y="4343400"/>
            <a:ext cx="4572000" cy="381000"/>
            <a:chOff x="2362200" y="4343400"/>
            <a:chExt cx="4572000" cy="381000"/>
          </a:xfrm>
        </p:grpSpPr>
        <p:sp>
          <p:nvSpPr>
            <p:cNvPr id="20" name="Rectangle 19"/>
            <p:cNvSpPr/>
            <p:nvPr/>
          </p:nvSpPr>
          <p:spPr>
            <a:xfrm>
              <a:off x="2362200" y="4343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2362200" y="4343400"/>
              <a:ext cx="444500" cy="338554"/>
            </a:xfrm>
            <a:prstGeom prst="rect">
              <a:avLst/>
            </a:prstGeom>
            <a:noFill/>
          </p:spPr>
          <p:txBody>
            <a:bodyPr wrap="square" rtlCol="0">
              <a:spAutoFit/>
            </a:bodyPr>
            <a:lstStyle/>
            <a:p>
              <a:r>
                <a:rPr lang="en-US" sz="1600" dirty="0"/>
                <a:t>23</a:t>
              </a:r>
            </a:p>
          </p:txBody>
        </p:sp>
        <p:sp>
          <p:nvSpPr>
            <p:cNvPr id="22" name="Rectangle 21"/>
            <p:cNvSpPr/>
            <p:nvPr/>
          </p:nvSpPr>
          <p:spPr>
            <a:xfrm>
              <a:off x="2743200" y="4343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2743200" y="4343400"/>
              <a:ext cx="444500" cy="338554"/>
            </a:xfrm>
            <a:prstGeom prst="rect">
              <a:avLst/>
            </a:prstGeom>
            <a:noFill/>
          </p:spPr>
          <p:txBody>
            <a:bodyPr wrap="square" rtlCol="0">
              <a:spAutoFit/>
            </a:bodyPr>
            <a:lstStyle/>
            <a:p>
              <a:r>
                <a:rPr lang="en-US" sz="1600" dirty="0"/>
                <a:t>23</a:t>
              </a:r>
            </a:p>
          </p:txBody>
        </p:sp>
        <p:sp>
          <p:nvSpPr>
            <p:cNvPr id="24" name="Rectangle 23"/>
            <p:cNvSpPr/>
            <p:nvPr/>
          </p:nvSpPr>
          <p:spPr>
            <a:xfrm>
              <a:off x="34290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3429000" y="4343400"/>
              <a:ext cx="457200" cy="338554"/>
            </a:xfrm>
            <a:prstGeom prst="rect">
              <a:avLst/>
            </a:prstGeom>
            <a:noFill/>
          </p:spPr>
          <p:txBody>
            <a:bodyPr wrap="square" rtlCol="0">
              <a:spAutoFit/>
            </a:bodyPr>
            <a:lstStyle/>
            <a:p>
              <a:r>
                <a:rPr lang="en-US" sz="1600" dirty="0"/>
                <a:t>23</a:t>
              </a:r>
            </a:p>
          </p:txBody>
        </p:sp>
        <p:sp>
          <p:nvSpPr>
            <p:cNvPr id="26" name="Rectangle 25"/>
            <p:cNvSpPr/>
            <p:nvPr/>
          </p:nvSpPr>
          <p:spPr>
            <a:xfrm>
              <a:off x="38100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3810000" y="4343400"/>
              <a:ext cx="457200" cy="338554"/>
            </a:xfrm>
            <a:prstGeom prst="rect">
              <a:avLst/>
            </a:prstGeom>
            <a:noFill/>
          </p:spPr>
          <p:txBody>
            <a:bodyPr wrap="square" rtlCol="0">
              <a:spAutoFit/>
            </a:bodyPr>
            <a:lstStyle/>
            <a:p>
              <a:r>
                <a:rPr lang="en-US" sz="1600" dirty="0"/>
                <a:t>23</a:t>
              </a:r>
            </a:p>
          </p:txBody>
        </p:sp>
        <p:sp>
          <p:nvSpPr>
            <p:cNvPr id="28" name="Rectangle 27"/>
            <p:cNvSpPr/>
            <p:nvPr/>
          </p:nvSpPr>
          <p:spPr>
            <a:xfrm>
              <a:off x="48768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4876800" y="4343400"/>
              <a:ext cx="457200" cy="338554"/>
            </a:xfrm>
            <a:prstGeom prst="rect">
              <a:avLst/>
            </a:prstGeom>
            <a:noFill/>
          </p:spPr>
          <p:txBody>
            <a:bodyPr wrap="square" rtlCol="0">
              <a:spAutoFit/>
            </a:bodyPr>
            <a:lstStyle/>
            <a:p>
              <a:r>
                <a:rPr lang="en-US" sz="1600" dirty="0"/>
                <a:t>23</a:t>
              </a:r>
            </a:p>
          </p:txBody>
        </p:sp>
        <p:sp>
          <p:nvSpPr>
            <p:cNvPr id="30" name="Rectangle 29"/>
            <p:cNvSpPr/>
            <p:nvPr/>
          </p:nvSpPr>
          <p:spPr>
            <a:xfrm>
              <a:off x="52578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5257800" y="4343400"/>
              <a:ext cx="457200" cy="338554"/>
            </a:xfrm>
            <a:prstGeom prst="rect">
              <a:avLst/>
            </a:prstGeom>
            <a:noFill/>
          </p:spPr>
          <p:txBody>
            <a:bodyPr wrap="square" rtlCol="0">
              <a:spAutoFit/>
            </a:bodyPr>
            <a:lstStyle/>
            <a:p>
              <a:r>
                <a:rPr lang="en-US" sz="1600" dirty="0"/>
                <a:t>23</a:t>
              </a:r>
            </a:p>
          </p:txBody>
        </p:sp>
        <p:sp>
          <p:nvSpPr>
            <p:cNvPr id="32" name="Rectangle 31"/>
            <p:cNvSpPr/>
            <p:nvPr/>
          </p:nvSpPr>
          <p:spPr>
            <a:xfrm>
              <a:off x="60960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6096000" y="4343400"/>
              <a:ext cx="457200" cy="338554"/>
            </a:xfrm>
            <a:prstGeom prst="rect">
              <a:avLst/>
            </a:prstGeom>
            <a:noFill/>
          </p:spPr>
          <p:txBody>
            <a:bodyPr wrap="square" rtlCol="0">
              <a:spAutoFit/>
            </a:bodyPr>
            <a:lstStyle/>
            <a:p>
              <a:r>
                <a:rPr lang="en-US" sz="1600" dirty="0"/>
                <a:t>23</a:t>
              </a:r>
            </a:p>
          </p:txBody>
        </p:sp>
        <p:sp>
          <p:nvSpPr>
            <p:cNvPr id="34" name="Rectangle 33"/>
            <p:cNvSpPr/>
            <p:nvPr/>
          </p:nvSpPr>
          <p:spPr>
            <a:xfrm>
              <a:off x="6477000" y="4343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6477000" y="4343400"/>
              <a:ext cx="457200" cy="338554"/>
            </a:xfrm>
            <a:prstGeom prst="rect">
              <a:avLst/>
            </a:prstGeom>
            <a:noFill/>
          </p:spPr>
          <p:txBody>
            <a:bodyPr wrap="square" rtlCol="0">
              <a:spAutoFit/>
            </a:bodyPr>
            <a:lstStyle/>
            <a:p>
              <a:r>
                <a:rPr lang="en-US" sz="1600" dirty="0"/>
                <a:t>23</a:t>
              </a:r>
            </a:p>
          </p:txBody>
        </p:sp>
      </p:grpSp>
      <p:grpSp>
        <p:nvGrpSpPr>
          <p:cNvPr id="54" name="Group 53"/>
          <p:cNvGrpSpPr/>
          <p:nvPr/>
        </p:nvGrpSpPr>
        <p:grpSpPr>
          <a:xfrm>
            <a:off x="1371600" y="5486400"/>
            <a:ext cx="5638800" cy="381000"/>
            <a:chOff x="1371600" y="5486400"/>
            <a:chExt cx="5638800" cy="381000"/>
          </a:xfrm>
        </p:grpSpPr>
        <p:sp>
          <p:nvSpPr>
            <p:cNvPr id="36" name="Rectangle 35"/>
            <p:cNvSpPr/>
            <p:nvPr/>
          </p:nvSpPr>
          <p:spPr>
            <a:xfrm>
              <a:off x="1371600" y="5486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1371600" y="5486400"/>
              <a:ext cx="444500" cy="338554"/>
            </a:xfrm>
            <a:prstGeom prst="rect">
              <a:avLst/>
            </a:prstGeom>
            <a:noFill/>
          </p:spPr>
          <p:txBody>
            <a:bodyPr wrap="square" rtlCol="0">
              <a:spAutoFit/>
            </a:bodyPr>
            <a:lstStyle/>
            <a:p>
              <a:r>
                <a:rPr lang="en-US" sz="1600" dirty="0"/>
                <a:t>23</a:t>
              </a:r>
            </a:p>
          </p:txBody>
        </p:sp>
        <p:sp>
          <p:nvSpPr>
            <p:cNvPr id="38" name="Rectangle 37"/>
            <p:cNvSpPr/>
            <p:nvPr/>
          </p:nvSpPr>
          <p:spPr>
            <a:xfrm>
              <a:off x="2133600" y="5486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2133600" y="5486400"/>
              <a:ext cx="444500" cy="338554"/>
            </a:xfrm>
            <a:prstGeom prst="rect">
              <a:avLst/>
            </a:prstGeom>
            <a:noFill/>
          </p:spPr>
          <p:txBody>
            <a:bodyPr wrap="square" rtlCol="0">
              <a:spAutoFit/>
            </a:bodyPr>
            <a:lstStyle/>
            <a:p>
              <a:r>
                <a:rPr lang="en-US" sz="1600" dirty="0"/>
                <a:t>23</a:t>
              </a:r>
            </a:p>
          </p:txBody>
        </p:sp>
        <p:sp>
          <p:nvSpPr>
            <p:cNvPr id="40" name="Rectangle 39"/>
            <p:cNvSpPr/>
            <p:nvPr/>
          </p:nvSpPr>
          <p:spPr>
            <a:xfrm>
              <a:off x="28194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2819400" y="5486400"/>
              <a:ext cx="457200" cy="338554"/>
            </a:xfrm>
            <a:prstGeom prst="rect">
              <a:avLst/>
            </a:prstGeom>
            <a:noFill/>
          </p:spPr>
          <p:txBody>
            <a:bodyPr wrap="square" rtlCol="0">
              <a:spAutoFit/>
            </a:bodyPr>
            <a:lstStyle/>
            <a:p>
              <a:r>
                <a:rPr lang="en-US" sz="1600" dirty="0"/>
                <a:t>23</a:t>
              </a:r>
            </a:p>
          </p:txBody>
        </p:sp>
        <p:sp>
          <p:nvSpPr>
            <p:cNvPr id="42" name="Rectangle 41"/>
            <p:cNvSpPr/>
            <p:nvPr/>
          </p:nvSpPr>
          <p:spPr>
            <a:xfrm>
              <a:off x="35052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3505200" y="5486400"/>
              <a:ext cx="457200" cy="338554"/>
            </a:xfrm>
            <a:prstGeom prst="rect">
              <a:avLst/>
            </a:prstGeom>
            <a:noFill/>
          </p:spPr>
          <p:txBody>
            <a:bodyPr wrap="square" rtlCol="0">
              <a:spAutoFit/>
            </a:bodyPr>
            <a:lstStyle/>
            <a:p>
              <a:r>
                <a:rPr lang="en-US" sz="1600" dirty="0"/>
                <a:t>23</a:t>
              </a:r>
            </a:p>
          </p:txBody>
        </p:sp>
        <p:sp>
          <p:nvSpPr>
            <p:cNvPr id="44" name="Rectangle 43"/>
            <p:cNvSpPr/>
            <p:nvPr/>
          </p:nvSpPr>
          <p:spPr>
            <a:xfrm>
              <a:off x="42672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4267200" y="5486400"/>
              <a:ext cx="457200" cy="338554"/>
            </a:xfrm>
            <a:prstGeom prst="rect">
              <a:avLst/>
            </a:prstGeom>
            <a:noFill/>
          </p:spPr>
          <p:txBody>
            <a:bodyPr wrap="square" rtlCol="0">
              <a:spAutoFit/>
            </a:bodyPr>
            <a:lstStyle/>
            <a:p>
              <a:r>
                <a:rPr lang="en-US" sz="1600" dirty="0"/>
                <a:t>23</a:t>
              </a:r>
            </a:p>
          </p:txBody>
        </p:sp>
        <p:sp>
          <p:nvSpPr>
            <p:cNvPr id="46" name="Rectangle 45"/>
            <p:cNvSpPr/>
            <p:nvPr/>
          </p:nvSpPr>
          <p:spPr>
            <a:xfrm>
              <a:off x="50292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5029200" y="5486400"/>
              <a:ext cx="457200" cy="338554"/>
            </a:xfrm>
            <a:prstGeom prst="rect">
              <a:avLst/>
            </a:prstGeom>
            <a:noFill/>
          </p:spPr>
          <p:txBody>
            <a:bodyPr wrap="square" rtlCol="0">
              <a:spAutoFit/>
            </a:bodyPr>
            <a:lstStyle/>
            <a:p>
              <a:r>
                <a:rPr lang="en-US" sz="1600" dirty="0"/>
                <a:t>23</a:t>
              </a:r>
            </a:p>
          </p:txBody>
        </p:sp>
        <p:sp>
          <p:nvSpPr>
            <p:cNvPr id="48" name="Rectangle 47"/>
            <p:cNvSpPr/>
            <p:nvPr/>
          </p:nvSpPr>
          <p:spPr>
            <a:xfrm>
              <a:off x="58674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5867400" y="5486400"/>
              <a:ext cx="457200" cy="338554"/>
            </a:xfrm>
            <a:prstGeom prst="rect">
              <a:avLst/>
            </a:prstGeom>
            <a:noFill/>
          </p:spPr>
          <p:txBody>
            <a:bodyPr wrap="square" rtlCol="0">
              <a:spAutoFit/>
            </a:bodyPr>
            <a:lstStyle/>
            <a:p>
              <a:r>
                <a:rPr lang="en-US" sz="1600" dirty="0"/>
                <a:t>23</a:t>
              </a:r>
            </a:p>
          </p:txBody>
        </p:sp>
        <p:sp>
          <p:nvSpPr>
            <p:cNvPr id="50" name="Rectangle 49"/>
            <p:cNvSpPr/>
            <p:nvPr/>
          </p:nvSpPr>
          <p:spPr>
            <a:xfrm>
              <a:off x="6553200" y="5486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p:cNvSpPr txBox="1"/>
            <p:nvPr/>
          </p:nvSpPr>
          <p:spPr>
            <a:xfrm>
              <a:off x="6553200" y="5486400"/>
              <a:ext cx="457200" cy="338554"/>
            </a:xfrm>
            <a:prstGeom prst="rect">
              <a:avLst/>
            </a:prstGeom>
            <a:noFill/>
          </p:spPr>
          <p:txBody>
            <a:bodyPr wrap="square" rtlCol="0">
              <a:spAutoFit/>
            </a:bodyPr>
            <a:lstStyle/>
            <a:p>
              <a:r>
                <a:rPr lang="en-US" sz="1600" dirty="0"/>
                <a:t>23</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endParaRPr lang="en-US" dirty="0"/>
          </a:p>
          <a:p>
            <a:pPr>
              <a:buNone/>
            </a:pPr>
            <a:endParaRPr lang="en-US" dirty="0"/>
          </a:p>
          <a:p>
            <a:pPr>
              <a:buNone/>
            </a:pPr>
            <a:r>
              <a:rPr lang="en-US" sz="2000" dirty="0"/>
              <a:t>Each pair is then merged</a:t>
            </a:r>
          </a:p>
          <a:p>
            <a:pPr>
              <a:buNone/>
            </a:pPr>
            <a:endParaRPr lang="en-US" sz="2000" dirty="0"/>
          </a:p>
          <a:p>
            <a:pPr>
              <a:buNone/>
            </a:pPr>
            <a:endParaRPr lang="en-US" sz="2000" dirty="0"/>
          </a:p>
          <a:p>
            <a:pPr>
              <a:buNone/>
            </a:pPr>
            <a:r>
              <a:rPr lang="en-US" sz="2000" dirty="0"/>
              <a:t>Each of these pairs is then merged</a:t>
            </a:r>
          </a:p>
          <a:p>
            <a:pPr>
              <a:buNone/>
            </a:pPr>
            <a:endParaRPr lang="en-US" sz="2000" dirty="0"/>
          </a:p>
          <a:p>
            <a:pPr>
              <a:buNone/>
            </a:pPr>
            <a:endParaRPr lang="en-US" sz="2000" dirty="0"/>
          </a:p>
          <a:p>
            <a:pPr>
              <a:buNone/>
            </a:pPr>
            <a:endParaRPr lang="en-US" sz="2000" dirty="0"/>
          </a:p>
          <a:p>
            <a:pPr>
              <a:buNone/>
            </a:pPr>
            <a:r>
              <a:rPr lang="en-US" sz="2000" dirty="0"/>
              <a:t>Finally these pairs are merged</a:t>
            </a:r>
          </a:p>
          <a:p>
            <a:pPr>
              <a:buNone/>
            </a:pPr>
            <a:endParaRPr lang="en-US" sz="2000" dirty="0"/>
          </a:p>
          <a:p>
            <a:pPr>
              <a:buNone/>
            </a:pPr>
            <a:endParaRPr lang="en-US" sz="2000" dirty="0"/>
          </a:p>
          <a:p>
            <a:pPr>
              <a:buNone/>
            </a:pPr>
            <a:r>
              <a:rPr lang="en-US" sz="2000" dirty="0"/>
              <a:t>to obtain the sorted array. Totally, it takes 4 + 4 + 4 = 12 comparisons.</a:t>
            </a:r>
          </a:p>
        </p:txBody>
      </p:sp>
      <p:sp>
        <p:nvSpPr>
          <p:cNvPr id="4" name="Rectangle 3"/>
          <p:cNvSpPr/>
          <p:nvPr/>
        </p:nvSpPr>
        <p:spPr>
          <a:xfrm>
            <a:off x="1447800" y="10668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447800" y="1066800"/>
            <a:ext cx="444500" cy="338554"/>
          </a:xfrm>
          <a:prstGeom prst="rect">
            <a:avLst/>
          </a:prstGeom>
          <a:noFill/>
        </p:spPr>
        <p:txBody>
          <a:bodyPr wrap="square" rtlCol="0">
            <a:spAutoFit/>
          </a:bodyPr>
          <a:lstStyle/>
          <a:p>
            <a:r>
              <a:rPr lang="en-US" sz="1600" dirty="0"/>
              <a:t>23</a:t>
            </a:r>
          </a:p>
        </p:txBody>
      </p:sp>
      <p:sp>
        <p:nvSpPr>
          <p:cNvPr id="6" name="Rectangle 5"/>
          <p:cNvSpPr/>
          <p:nvPr/>
        </p:nvSpPr>
        <p:spPr>
          <a:xfrm>
            <a:off x="2209800" y="10668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209800" y="1066800"/>
            <a:ext cx="444500" cy="338554"/>
          </a:xfrm>
          <a:prstGeom prst="rect">
            <a:avLst/>
          </a:prstGeom>
          <a:noFill/>
        </p:spPr>
        <p:txBody>
          <a:bodyPr wrap="square" rtlCol="0">
            <a:spAutoFit/>
          </a:bodyPr>
          <a:lstStyle/>
          <a:p>
            <a:r>
              <a:rPr lang="en-US" sz="1600" dirty="0"/>
              <a:t>23</a:t>
            </a:r>
          </a:p>
        </p:txBody>
      </p:sp>
      <p:sp>
        <p:nvSpPr>
          <p:cNvPr id="8" name="Rectangle 7"/>
          <p:cNvSpPr/>
          <p:nvPr/>
        </p:nvSpPr>
        <p:spPr>
          <a:xfrm>
            <a:off x="28956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895600" y="1066800"/>
            <a:ext cx="457200" cy="338554"/>
          </a:xfrm>
          <a:prstGeom prst="rect">
            <a:avLst/>
          </a:prstGeom>
          <a:noFill/>
        </p:spPr>
        <p:txBody>
          <a:bodyPr wrap="square" rtlCol="0">
            <a:spAutoFit/>
          </a:bodyPr>
          <a:lstStyle/>
          <a:p>
            <a:r>
              <a:rPr lang="en-US" sz="1600" dirty="0"/>
              <a:t>23</a:t>
            </a:r>
          </a:p>
        </p:txBody>
      </p:sp>
      <p:sp>
        <p:nvSpPr>
          <p:cNvPr id="10" name="Rectangle 9"/>
          <p:cNvSpPr/>
          <p:nvPr/>
        </p:nvSpPr>
        <p:spPr>
          <a:xfrm>
            <a:off x="35814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581400" y="1066800"/>
            <a:ext cx="457200" cy="338554"/>
          </a:xfrm>
          <a:prstGeom prst="rect">
            <a:avLst/>
          </a:prstGeom>
          <a:noFill/>
        </p:spPr>
        <p:txBody>
          <a:bodyPr wrap="square" rtlCol="0">
            <a:spAutoFit/>
          </a:bodyPr>
          <a:lstStyle/>
          <a:p>
            <a:r>
              <a:rPr lang="en-US" sz="1600" dirty="0"/>
              <a:t>23</a:t>
            </a:r>
          </a:p>
        </p:txBody>
      </p:sp>
      <p:sp>
        <p:nvSpPr>
          <p:cNvPr id="12" name="Rectangle 11"/>
          <p:cNvSpPr/>
          <p:nvPr/>
        </p:nvSpPr>
        <p:spPr>
          <a:xfrm>
            <a:off x="43434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343400" y="1066800"/>
            <a:ext cx="457200" cy="338554"/>
          </a:xfrm>
          <a:prstGeom prst="rect">
            <a:avLst/>
          </a:prstGeom>
          <a:noFill/>
        </p:spPr>
        <p:txBody>
          <a:bodyPr wrap="square" rtlCol="0">
            <a:spAutoFit/>
          </a:bodyPr>
          <a:lstStyle/>
          <a:p>
            <a:r>
              <a:rPr lang="en-US" sz="1600" dirty="0"/>
              <a:t>23</a:t>
            </a:r>
          </a:p>
        </p:txBody>
      </p:sp>
      <p:sp>
        <p:nvSpPr>
          <p:cNvPr id="14" name="Rectangle 13"/>
          <p:cNvSpPr/>
          <p:nvPr/>
        </p:nvSpPr>
        <p:spPr>
          <a:xfrm>
            <a:off x="51054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105400" y="1066800"/>
            <a:ext cx="457200" cy="338554"/>
          </a:xfrm>
          <a:prstGeom prst="rect">
            <a:avLst/>
          </a:prstGeom>
          <a:noFill/>
        </p:spPr>
        <p:txBody>
          <a:bodyPr wrap="square" rtlCol="0">
            <a:spAutoFit/>
          </a:bodyPr>
          <a:lstStyle/>
          <a:p>
            <a:r>
              <a:rPr lang="en-US" sz="1600" dirty="0"/>
              <a:t>23</a:t>
            </a:r>
          </a:p>
        </p:txBody>
      </p:sp>
      <p:sp>
        <p:nvSpPr>
          <p:cNvPr id="16" name="Rectangle 15"/>
          <p:cNvSpPr/>
          <p:nvPr/>
        </p:nvSpPr>
        <p:spPr>
          <a:xfrm>
            <a:off x="59436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943600" y="1066800"/>
            <a:ext cx="457200" cy="338554"/>
          </a:xfrm>
          <a:prstGeom prst="rect">
            <a:avLst/>
          </a:prstGeom>
          <a:noFill/>
        </p:spPr>
        <p:txBody>
          <a:bodyPr wrap="square" rtlCol="0">
            <a:spAutoFit/>
          </a:bodyPr>
          <a:lstStyle/>
          <a:p>
            <a:r>
              <a:rPr lang="en-US" sz="1600" dirty="0"/>
              <a:t>23</a:t>
            </a:r>
          </a:p>
        </p:txBody>
      </p:sp>
      <p:sp>
        <p:nvSpPr>
          <p:cNvPr id="18" name="Rectangle 17"/>
          <p:cNvSpPr/>
          <p:nvPr/>
        </p:nvSpPr>
        <p:spPr>
          <a:xfrm>
            <a:off x="6629400" y="10668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6629400" y="1066800"/>
            <a:ext cx="457200" cy="338554"/>
          </a:xfrm>
          <a:prstGeom prst="rect">
            <a:avLst/>
          </a:prstGeom>
          <a:noFill/>
        </p:spPr>
        <p:txBody>
          <a:bodyPr wrap="square" rtlCol="0">
            <a:spAutoFit/>
          </a:bodyPr>
          <a:lstStyle/>
          <a:p>
            <a:r>
              <a:rPr lang="en-US" sz="1600" dirty="0"/>
              <a:t>23</a:t>
            </a:r>
          </a:p>
        </p:txBody>
      </p:sp>
      <p:grpSp>
        <p:nvGrpSpPr>
          <p:cNvPr id="71" name="Group 70"/>
          <p:cNvGrpSpPr/>
          <p:nvPr/>
        </p:nvGrpSpPr>
        <p:grpSpPr>
          <a:xfrm>
            <a:off x="1600200" y="2438400"/>
            <a:ext cx="4572000" cy="381000"/>
            <a:chOff x="1600200" y="2438400"/>
            <a:chExt cx="4572000" cy="381000"/>
          </a:xfrm>
        </p:grpSpPr>
        <p:sp>
          <p:nvSpPr>
            <p:cNvPr id="20" name="Rectangle 19"/>
            <p:cNvSpPr/>
            <p:nvPr/>
          </p:nvSpPr>
          <p:spPr>
            <a:xfrm>
              <a:off x="1600200" y="2438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600200" y="2438400"/>
              <a:ext cx="444500" cy="338554"/>
            </a:xfrm>
            <a:prstGeom prst="rect">
              <a:avLst/>
            </a:prstGeom>
            <a:noFill/>
          </p:spPr>
          <p:txBody>
            <a:bodyPr wrap="square" rtlCol="0">
              <a:spAutoFit/>
            </a:bodyPr>
            <a:lstStyle/>
            <a:p>
              <a:r>
                <a:rPr lang="en-US" sz="1600" dirty="0"/>
                <a:t>23</a:t>
              </a:r>
            </a:p>
          </p:txBody>
        </p:sp>
        <p:sp>
          <p:nvSpPr>
            <p:cNvPr id="22" name="Rectangle 21"/>
            <p:cNvSpPr/>
            <p:nvPr/>
          </p:nvSpPr>
          <p:spPr>
            <a:xfrm>
              <a:off x="1981200" y="2438400"/>
              <a:ext cx="370417"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1981200" y="2438400"/>
              <a:ext cx="444500" cy="338554"/>
            </a:xfrm>
            <a:prstGeom prst="rect">
              <a:avLst/>
            </a:prstGeom>
            <a:noFill/>
          </p:spPr>
          <p:txBody>
            <a:bodyPr wrap="square" rtlCol="0">
              <a:spAutoFit/>
            </a:bodyPr>
            <a:lstStyle/>
            <a:p>
              <a:r>
                <a:rPr lang="en-US" sz="1600" dirty="0"/>
                <a:t>23</a:t>
              </a:r>
            </a:p>
          </p:txBody>
        </p:sp>
        <p:sp>
          <p:nvSpPr>
            <p:cNvPr id="24" name="Rectangle 23"/>
            <p:cNvSpPr/>
            <p:nvPr/>
          </p:nvSpPr>
          <p:spPr>
            <a:xfrm>
              <a:off x="26670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2667000" y="2438400"/>
              <a:ext cx="457200" cy="338554"/>
            </a:xfrm>
            <a:prstGeom prst="rect">
              <a:avLst/>
            </a:prstGeom>
            <a:noFill/>
          </p:spPr>
          <p:txBody>
            <a:bodyPr wrap="square" rtlCol="0">
              <a:spAutoFit/>
            </a:bodyPr>
            <a:lstStyle/>
            <a:p>
              <a:r>
                <a:rPr lang="en-US" sz="1600" dirty="0"/>
                <a:t>23</a:t>
              </a:r>
            </a:p>
          </p:txBody>
        </p:sp>
        <p:sp>
          <p:nvSpPr>
            <p:cNvPr id="26" name="Rectangle 25"/>
            <p:cNvSpPr/>
            <p:nvPr/>
          </p:nvSpPr>
          <p:spPr>
            <a:xfrm>
              <a:off x="30480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3048000" y="2438400"/>
              <a:ext cx="457200" cy="338554"/>
            </a:xfrm>
            <a:prstGeom prst="rect">
              <a:avLst/>
            </a:prstGeom>
            <a:noFill/>
          </p:spPr>
          <p:txBody>
            <a:bodyPr wrap="square" rtlCol="0">
              <a:spAutoFit/>
            </a:bodyPr>
            <a:lstStyle/>
            <a:p>
              <a:r>
                <a:rPr lang="en-US" sz="1600" dirty="0"/>
                <a:t>23</a:t>
              </a:r>
            </a:p>
          </p:txBody>
        </p:sp>
        <p:sp>
          <p:nvSpPr>
            <p:cNvPr id="28" name="Rectangle 27"/>
            <p:cNvSpPr/>
            <p:nvPr/>
          </p:nvSpPr>
          <p:spPr>
            <a:xfrm>
              <a:off x="41148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4114800" y="2438400"/>
              <a:ext cx="457200" cy="338554"/>
            </a:xfrm>
            <a:prstGeom prst="rect">
              <a:avLst/>
            </a:prstGeom>
            <a:noFill/>
          </p:spPr>
          <p:txBody>
            <a:bodyPr wrap="square" rtlCol="0">
              <a:spAutoFit/>
            </a:bodyPr>
            <a:lstStyle/>
            <a:p>
              <a:r>
                <a:rPr lang="en-US" sz="1600" dirty="0"/>
                <a:t>23</a:t>
              </a:r>
            </a:p>
          </p:txBody>
        </p:sp>
        <p:sp>
          <p:nvSpPr>
            <p:cNvPr id="30" name="Rectangle 29"/>
            <p:cNvSpPr/>
            <p:nvPr/>
          </p:nvSpPr>
          <p:spPr>
            <a:xfrm>
              <a:off x="44958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4495800" y="2438400"/>
              <a:ext cx="457200" cy="338554"/>
            </a:xfrm>
            <a:prstGeom prst="rect">
              <a:avLst/>
            </a:prstGeom>
            <a:noFill/>
          </p:spPr>
          <p:txBody>
            <a:bodyPr wrap="square" rtlCol="0">
              <a:spAutoFit/>
            </a:bodyPr>
            <a:lstStyle/>
            <a:p>
              <a:r>
                <a:rPr lang="en-US" sz="1600" dirty="0"/>
                <a:t>23</a:t>
              </a:r>
            </a:p>
          </p:txBody>
        </p:sp>
        <p:sp>
          <p:nvSpPr>
            <p:cNvPr id="32" name="Rectangle 31"/>
            <p:cNvSpPr/>
            <p:nvPr/>
          </p:nvSpPr>
          <p:spPr>
            <a:xfrm>
              <a:off x="53340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5334000" y="2438400"/>
              <a:ext cx="457200" cy="338554"/>
            </a:xfrm>
            <a:prstGeom prst="rect">
              <a:avLst/>
            </a:prstGeom>
            <a:noFill/>
          </p:spPr>
          <p:txBody>
            <a:bodyPr wrap="square" rtlCol="0">
              <a:spAutoFit/>
            </a:bodyPr>
            <a:lstStyle/>
            <a:p>
              <a:r>
                <a:rPr lang="en-US" sz="1600" dirty="0"/>
                <a:t>23</a:t>
              </a:r>
            </a:p>
          </p:txBody>
        </p:sp>
        <p:sp>
          <p:nvSpPr>
            <p:cNvPr id="34" name="Rectangle 33"/>
            <p:cNvSpPr/>
            <p:nvPr/>
          </p:nvSpPr>
          <p:spPr>
            <a:xfrm>
              <a:off x="5715000" y="2438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5715000" y="2438400"/>
              <a:ext cx="457200" cy="338554"/>
            </a:xfrm>
            <a:prstGeom prst="rect">
              <a:avLst/>
            </a:prstGeom>
            <a:noFill/>
          </p:spPr>
          <p:txBody>
            <a:bodyPr wrap="square" rtlCol="0">
              <a:spAutoFit/>
            </a:bodyPr>
            <a:lstStyle/>
            <a:p>
              <a:r>
                <a:rPr lang="en-US" sz="1600" dirty="0"/>
                <a:t>23</a:t>
              </a:r>
            </a:p>
          </p:txBody>
        </p:sp>
      </p:grpSp>
      <p:sp>
        <p:nvSpPr>
          <p:cNvPr id="36" name="TextBox 35"/>
          <p:cNvSpPr txBox="1"/>
          <p:nvPr/>
        </p:nvSpPr>
        <p:spPr>
          <a:xfrm>
            <a:off x="6858000" y="2362200"/>
            <a:ext cx="1828800" cy="400110"/>
          </a:xfrm>
          <a:prstGeom prst="rect">
            <a:avLst/>
          </a:prstGeom>
          <a:noFill/>
        </p:spPr>
        <p:txBody>
          <a:bodyPr wrap="square" rtlCol="0">
            <a:spAutoFit/>
          </a:bodyPr>
          <a:lstStyle/>
          <a:p>
            <a:r>
              <a:rPr lang="en-US" sz="2000" i="1" dirty="0">
                <a:solidFill>
                  <a:srgbClr val="0000FF"/>
                </a:solidFill>
              </a:rPr>
              <a:t>4 comparisons</a:t>
            </a:r>
          </a:p>
        </p:txBody>
      </p:sp>
      <p:grpSp>
        <p:nvGrpSpPr>
          <p:cNvPr id="72" name="Group 71"/>
          <p:cNvGrpSpPr/>
          <p:nvPr/>
        </p:nvGrpSpPr>
        <p:grpSpPr>
          <a:xfrm>
            <a:off x="1676400" y="3581400"/>
            <a:ext cx="3810000" cy="381000"/>
            <a:chOff x="1676400" y="3581400"/>
            <a:chExt cx="3810000" cy="381000"/>
          </a:xfrm>
        </p:grpSpPr>
        <p:sp>
          <p:nvSpPr>
            <p:cNvPr id="37" name="Rectangle 36"/>
            <p:cNvSpPr/>
            <p:nvPr/>
          </p:nvSpPr>
          <p:spPr>
            <a:xfrm>
              <a:off x="16764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1676400" y="3581400"/>
              <a:ext cx="457200" cy="338554"/>
            </a:xfrm>
            <a:prstGeom prst="rect">
              <a:avLst/>
            </a:prstGeom>
            <a:noFill/>
          </p:spPr>
          <p:txBody>
            <a:bodyPr wrap="square" rtlCol="0">
              <a:spAutoFit/>
            </a:bodyPr>
            <a:lstStyle/>
            <a:p>
              <a:r>
                <a:rPr lang="en-US" sz="1600" dirty="0"/>
                <a:t>23</a:t>
              </a:r>
            </a:p>
          </p:txBody>
        </p:sp>
        <p:sp>
          <p:nvSpPr>
            <p:cNvPr id="39" name="Rectangle 38"/>
            <p:cNvSpPr/>
            <p:nvPr/>
          </p:nvSpPr>
          <p:spPr>
            <a:xfrm>
              <a:off x="20574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2057400" y="3581400"/>
              <a:ext cx="457200" cy="338554"/>
            </a:xfrm>
            <a:prstGeom prst="rect">
              <a:avLst/>
            </a:prstGeom>
            <a:noFill/>
          </p:spPr>
          <p:txBody>
            <a:bodyPr wrap="square" rtlCol="0">
              <a:spAutoFit/>
            </a:bodyPr>
            <a:lstStyle/>
            <a:p>
              <a:r>
                <a:rPr lang="en-US" sz="1600" dirty="0"/>
                <a:t>23</a:t>
              </a:r>
            </a:p>
          </p:txBody>
        </p:sp>
        <p:sp>
          <p:nvSpPr>
            <p:cNvPr id="41" name="Rectangle 40"/>
            <p:cNvSpPr/>
            <p:nvPr/>
          </p:nvSpPr>
          <p:spPr>
            <a:xfrm>
              <a:off x="24384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2438400" y="3581400"/>
              <a:ext cx="457200" cy="338554"/>
            </a:xfrm>
            <a:prstGeom prst="rect">
              <a:avLst/>
            </a:prstGeom>
            <a:noFill/>
          </p:spPr>
          <p:txBody>
            <a:bodyPr wrap="square" rtlCol="0">
              <a:spAutoFit/>
            </a:bodyPr>
            <a:lstStyle/>
            <a:p>
              <a:r>
                <a:rPr lang="en-US" sz="1600" dirty="0"/>
                <a:t>23</a:t>
              </a:r>
            </a:p>
          </p:txBody>
        </p:sp>
        <p:sp>
          <p:nvSpPr>
            <p:cNvPr id="43" name="Rectangle 42"/>
            <p:cNvSpPr/>
            <p:nvPr/>
          </p:nvSpPr>
          <p:spPr>
            <a:xfrm>
              <a:off x="28194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2819400" y="3581400"/>
              <a:ext cx="457200" cy="338554"/>
            </a:xfrm>
            <a:prstGeom prst="rect">
              <a:avLst/>
            </a:prstGeom>
            <a:noFill/>
          </p:spPr>
          <p:txBody>
            <a:bodyPr wrap="square" rtlCol="0">
              <a:spAutoFit/>
            </a:bodyPr>
            <a:lstStyle/>
            <a:p>
              <a:r>
                <a:rPr lang="en-US" sz="1600" dirty="0"/>
                <a:t>23</a:t>
              </a:r>
            </a:p>
          </p:txBody>
        </p:sp>
        <p:sp>
          <p:nvSpPr>
            <p:cNvPr id="45" name="Rectangle 44"/>
            <p:cNvSpPr/>
            <p:nvPr/>
          </p:nvSpPr>
          <p:spPr>
            <a:xfrm>
              <a:off x="38862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3886200" y="3581400"/>
              <a:ext cx="457200" cy="338554"/>
            </a:xfrm>
            <a:prstGeom prst="rect">
              <a:avLst/>
            </a:prstGeom>
            <a:noFill/>
          </p:spPr>
          <p:txBody>
            <a:bodyPr wrap="square" rtlCol="0">
              <a:spAutoFit/>
            </a:bodyPr>
            <a:lstStyle/>
            <a:p>
              <a:r>
                <a:rPr lang="en-US" sz="1600" dirty="0"/>
                <a:t>23</a:t>
              </a:r>
            </a:p>
          </p:txBody>
        </p:sp>
        <p:sp>
          <p:nvSpPr>
            <p:cNvPr id="47" name="Rectangle 46"/>
            <p:cNvSpPr/>
            <p:nvPr/>
          </p:nvSpPr>
          <p:spPr>
            <a:xfrm>
              <a:off x="42672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4267200" y="3581400"/>
              <a:ext cx="457200" cy="338554"/>
            </a:xfrm>
            <a:prstGeom prst="rect">
              <a:avLst/>
            </a:prstGeom>
            <a:noFill/>
          </p:spPr>
          <p:txBody>
            <a:bodyPr wrap="square" rtlCol="0">
              <a:spAutoFit/>
            </a:bodyPr>
            <a:lstStyle/>
            <a:p>
              <a:r>
                <a:rPr lang="en-US" sz="1600" dirty="0"/>
                <a:t>23</a:t>
              </a:r>
            </a:p>
          </p:txBody>
        </p:sp>
        <p:sp>
          <p:nvSpPr>
            <p:cNvPr id="49" name="Rectangle 48"/>
            <p:cNvSpPr/>
            <p:nvPr/>
          </p:nvSpPr>
          <p:spPr>
            <a:xfrm>
              <a:off x="46482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4648200" y="3581400"/>
              <a:ext cx="457200" cy="338554"/>
            </a:xfrm>
            <a:prstGeom prst="rect">
              <a:avLst/>
            </a:prstGeom>
            <a:noFill/>
          </p:spPr>
          <p:txBody>
            <a:bodyPr wrap="square" rtlCol="0">
              <a:spAutoFit/>
            </a:bodyPr>
            <a:lstStyle/>
            <a:p>
              <a:r>
                <a:rPr lang="en-US" sz="1600" dirty="0"/>
                <a:t>23</a:t>
              </a:r>
            </a:p>
          </p:txBody>
        </p:sp>
        <p:sp>
          <p:nvSpPr>
            <p:cNvPr id="51" name="Rectangle 50"/>
            <p:cNvSpPr/>
            <p:nvPr/>
          </p:nvSpPr>
          <p:spPr>
            <a:xfrm>
              <a:off x="5029200" y="35814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5029200" y="3581400"/>
              <a:ext cx="457200" cy="338554"/>
            </a:xfrm>
            <a:prstGeom prst="rect">
              <a:avLst/>
            </a:prstGeom>
            <a:noFill/>
          </p:spPr>
          <p:txBody>
            <a:bodyPr wrap="square" rtlCol="0">
              <a:spAutoFit/>
            </a:bodyPr>
            <a:lstStyle/>
            <a:p>
              <a:r>
                <a:rPr lang="en-US" sz="1600" dirty="0"/>
                <a:t>23</a:t>
              </a:r>
            </a:p>
          </p:txBody>
        </p:sp>
      </p:grpSp>
      <p:sp>
        <p:nvSpPr>
          <p:cNvPr id="53" name="TextBox 52"/>
          <p:cNvSpPr txBox="1"/>
          <p:nvPr/>
        </p:nvSpPr>
        <p:spPr>
          <a:xfrm>
            <a:off x="6934200" y="3505200"/>
            <a:ext cx="1828800" cy="400110"/>
          </a:xfrm>
          <a:prstGeom prst="rect">
            <a:avLst/>
          </a:prstGeom>
          <a:noFill/>
        </p:spPr>
        <p:txBody>
          <a:bodyPr wrap="square" rtlCol="0">
            <a:spAutoFit/>
          </a:bodyPr>
          <a:lstStyle/>
          <a:p>
            <a:r>
              <a:rPr lang="en-US" sz="2000" i="1" dirty="0">
                <a:solidFill>
                  <a:srgbClr val="0000FF"/>
                </a:solidFill>
              </a:rPr>
              <a:t>4 comparisons</a:t>
            </a:r>
          </a:p>
        </p:txBody>
      </p:sp>
      <p:grpSp>
        <p:nvGrpSpPr>
          <p:cNvPr id="73" name="Group 72"/>
          <p:cNvGrpSpPr/>
          <p:nvPr/>
        </p:nvGrpSpPr>
        <p:grpSpPr>
          <a:xfrm>
            <a:off x="2362200" y="4953000"/>
            <a:ext cx="3124200" cy="381000"/>
            <a:chOff x="2362200" y="4953000"/>
            <a:chExt cx="3124200" cy="381000"/>
          </a:xfrm>
        </p:grpSpPr>
        <p:sp>
          <p:nvSpPr>
            <p:cNvPr id="54" name="Rectangle 53"/>
            <p:cNvSpPr/>
            <p:nvPr/>
          </p:nvSpPr>
          <p:spPr>
            <a:xfrm>
              <a:off x="2362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p:cNvSpPr txBox="1"/>
            <p:nvPr/>
          </p:nvSpPr>
          <p:spPr>
            <a:xfrm>
              <a:off x="2362200" y="4953000"/>
              <a:ext cx="457200" cy="338554"/>
            </a:xfrm>
            <a:prstGeom prst="rect">
              <a:avLst/>
            </a:prstGeom>
            <a:noFill/>
          </p:spPr>
          <p:txBody>
            <a:bodyPr wrap="square" rtlCol="0">
              <a:spAutoFit/>
            </a:bodyPr>
            <a:lstStyle/>
            <a:p>
              <a:r>
                <a:rPr lang="en-US" sz="1600" dirty="0"/>
                <a:t>23</a:t>
              </a:r>
            </a:p>
          </p:txBody>
        </p:sp>
        <p:sp>
          <p:nvSpPr>
            <p:cNvPr id="56" name="Rectangle 55"/>
            <p:cNvSpPr/>
            <p:nvPr/>
          </p:nvSpPr>
          <p:spPr>
            <a:xfrm>
              <a:off x="2743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2743200" y="4953000"/>
              <a:ext cx="457200" cy="338554"/>
            </a:xfrm>
            <a:prstGeom prst="rect">
              <a:avLst/>
            </a:prstGeom>
            <a:noFill/>
          </p:spPr>
          <p:txBody>
            <a:bodyPr wrap="square" rtlCol="0">
              <a:spAutoFit/>
            </a:bodyPr>
            <a:lstStyle/>
            <a:p>
              <a:r>
                <a:rPr lang="en-US" sz="1600" dirty="0"/>
                <a:t>23</a:t>
              </a:r>
            </a:p>
          </p:txBody>
        </p:sp>
        <p:sp>
          <p:nvSpPr>
            <p:cNvPr id="58" name="Rectangle 57"/>
            <p:cNvSpPr/>
            <p:nvPr/>
          </p:nvSpPr>
          <p:spPr>
            <a:xfrm>
              <a:off x="3124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p:cNvSpPr txBox="1"/>
            <p:nvPr/>
          </p:nvSpPr>
          <p:spPr>
            <a:xfrm>
              <a:off x="3124200" y="4953000"/>
              <a:ext cx="457200" cy="338554"/>
            </a:xfrm>
            <a:prstGeom prst="rect">
              <a:avLst/>
            </a:prstGeom>
            <a:noFill/>
          </p:spPr>
          <p:txBody>
            <a:bodyPr wrap="square" rtlCol="0">
              <a:spAutoFit/>
            </a:bodyPr>
            <a:lstStyle/>
            <a:p>
              <a:r>
                <a:rPr lang="en-US" sz="1600" dirty="0"/>
                <a:t>23</a:t>
              </a:r>
            </a:p>
          </p:txBody>
        </p:sp>
        <p:sp>
          <p:nvSpPr>
            <p:cNvPr id="60" name="Rectangle 59"/>
            <p:cNvSpPr/>
            <p:nvPr/>
          </p:nvSpPr>
          <p:spPr>
            <a:xfrm>
              <a:off x="3505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p:cNvSpPr txBox="1"/>
            <p:nvPr/>
          </p:nvSpPr>
          <p:spPr>
            <a:xfrm>
              <a:off x="3505200" y="4953000"/>
              <a:ext cx="457200" cy="338554"/>
            </a:xfrm>
            <a:prstGeom prst="rect">
              <a:avLst/>
            </a:prstGeom>
            <a:noFill/>
          </p:spPr>
          <p:txBody>
            <a:bodyPr wrap="square" rtlCol="0">
              <a:spAutoFit/>
            </a:bodyPr>
            <a:lstStyle/>
            <a:p>
              <a:r>
                <a:rPr lang="en-US" sz="1600" dirty="0"/>
                <a:t>23</a:t>
              </a:r>
            </a:p>
          </p:txBody>
        </p:sp>
        <p:sp>
          <p:nvSpPr>
            <p:cNvPr id="62" name="Rectangle 61"/>
            <p:cNvSpPr/>
            <p:nvPr/>
          </p:nvSpPr>
          <p:spPr>
            <a:xfrm>
              <a:off x="3886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3886200" y="4953000"/>
              <a:ext cx="457200" cy="338554"/>
            </a:xfrm>
            <a:prstGeom prst="rect">
              <a:avLst/>
            </a:prstGeom>
            <a:noFill/>
          </p:spPr>
          <p:txBody>
            <a:bodyPr wrap="square" rtlCol="0">
              <a:spAutoFit/>
            </a:bodyPr>
            <a:lstStyle/>
            <a:p>
              <a:r>
                <a:rPr lang="en-US" sz="1600" dirty="0"/>
                <a:t>23</a:t>
              </a:r>
            </a:p>
          </p:txBody>
        </p:sp>
        <p:sp>
          <p:nvSpPr>
            <p:cNvPr id="64" name="Rectangle 63"/>
            <p:cNvSpPr/>
            <p:nvPr/>
          </p:nvSpPr>
          <p:spPr>
            <a:xfrm>
              <a:off x="4267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4267200" y="4953000"/>
              <a:ext cx="457200" cy="338554"/>
            </a:xfrm>
            <a:prstGeom prst="rect">
              <a:avLst/>
            </a:prstGeom>
            <a:noFill/>
          </p:spPr>
          <p:txBody>
            <a:bodyPr wrap="square" rtlCol="0">
              <a:spAutoFit/>
            </a:bodyPr>
            <a:lstStyle/>
            <a:p>
              <a:r>
                <a:rPr lang="en-US" sz="1600" dirty="0"/>
                <a:t>23</a:t>
              </a:r>
            </a:p>
          </p:txBody>
        </p:sp>
        <p:sp>
          <p:nvSpPr>
            <p:cNvPr id="66" name="Rectangle 65"/>
            <p:cNvSpPr/>
            <p:nvPr/>
          </p:nvSpPr>
          <p:spPr>
            <a:xfrm>
              <a:off x="4648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p:cNvSpPr txBox="1"/>
            <p:nvPr/>
          </p:nvSpPr>
          <p:spPr>
            <a:xfrm>
              <a:off x="4648200" y="4953000"/>
              <a:ext cx="457200" cy="338554"/>
            </a:xfrm>
            <a:prstGeom prst="rect">
              <a:avLst/>
            </a:prstGeom>
            <a:noFill/>
          </p:spPr>
          <p:txBody>
            <a:bodyPr wrap="square" rtlCol="0">
              <a:spAutoFit/>
            </a:bodyPr>
            <a:lstStyle/>
            <a:p>
              <a:r>
                <a:rPr lang="en-US" sz="1600" dirty="0"/>
                <a:t>23</a:t>
              </a:r>
            </a:p>
          </p:txBody>
        </p:sp>
        <p:sp>
          <p:nvSpPr>
            <p:cNvPr id="68" name="Rectangle 67"/>
            <p:cNvSpPr/>
            <p:nvPr/>
          </p:nvSpPr>
          <p:spPr>
            <a:xfrm>
              <a:off x="5029200" y="4953000"/>
              <a:ext cx="381000" cy="381000"/>
            </a:xfrm>
            <a:prstGeom prst="rect">
              <a:avLst/>
            </a:prstGeom>
            <a:solidFill>
              <a:schemeClr val="accent2">
                <a:lumMod val="20000"/>
                <a:lumOff val="80000"/>
              </a:schemeClr>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p:cNvSpPr txBox="1"/>
            <p:nvPr/>
          </p:nvSpPr>
          <p:spPr>
            <a:xfrm>
              <a:off x="5029200" y="4953000"/>
              <a:ext cx="457200" cy="338554"/>
            </a:xfrm>
            <a:prstGeom prst="rect">
              <a:avLst/>
            </a:prstGeom>
            <a:noFill/>
          </p:spPr>
          <p:txBody>
            <a:bodyPr wrap="square" rtlCol="0">
              <a:spAutoFit/>
            </a:bodyPr>
            <a:lstStyle/>
            <a:p>
              <a:r>
                <a:rPr lang="en-US" sz="1600" dirty="0"/>
                <a:t>23</a:t>
              </a:r>
            </a:p>
          </p:txBody>
        </p:sp>
      </p:grpSp>
      <p:sp>
        <p:nvSpPr>
          <p:cNvPr id="70" name="TextBox 69"/>
          <p:cNvSpPr txBox="1"/>
          <p:nvPr/>
        </p:nvSpPr>
        <p:spPr>
          <a:xfrm>
            <a:off x="6934200" y="4876800"/>
            <a:ext cx="1828800" cy="400110"/>
          </a:xfrm>
          <a:prstGeom prst="rect">
            <a:avLst/>
          </a:prstGeom>
          <a:noFill/>
        </p:spPr>
        <p:txBody>
          <a:bodyPr wrap="square" rtlCol="0">
            <a:spAutoFit/>
          </a:bodyPr>
          <a:lstStyle/>
          <a:p>
            <a:r>
              <a:rPr lang="en-US" sz="2000" i="1" dirty="0">
                <a:solidFill>
                  <a:srgbClr val="0000FF"/>
                </a:solidFill>
              </a:rPr>
              <a:t>4 comparisons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53" grpId="0"/>
      <p:bldP spid="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What we have exercised</a:t>
            </a:r>
            <a:endParaRPr lang="en-SG" dirty="0"/>
          </a:p>
        </p:txBody>
      </p:sp>
      <p:sp>
        <p:nvSpPr>
          <p:cNvPr id="3" name="Content Placeholder 2"/>
          <p:cNvSpPr>
            <a:spLocks noGrp="1"/>
          </p:cNvSpPr>
          <p:nvPr>
            <p:ph idx="1"/>
          </p:nvPr>
        </p:nvSpPr>
        <p:spPr>
          <a:xfrm>
            <a:off x="685800" y="1485900"/>
            <a:ext cx="7772400" cy="4114800"/>
          </a:xfrm>
        </p:spPr>
        <p:txBody>
          <a:bodyPr>
            <a:normAutofit fontScale="85000" lnSpcReduction="10000"/>
          </a:bodyPr>
          <a:lstStyle/>
          <a:p>
            <a:r>
              <a:rPr lang="en-US" altLang="en-US" dirty="0" smtClean="0"/>
              <a:t>Insertion Sort</a:t>
            </a:r>
          </a:p>
          <a:p>
            <a:pPr lvl="1"/>
            <a:r>
              <a:rPr lang="en-US" altLang="en-US" dirty="0" smtClean="0"/>
              <a:t>Worst case: descending order and its variants</a:t>
            </a:r>
          </a:p>
          <a:p>
            <a:r>
              <a:rPr lang="en-US" dirty="0"/>
              <a:t>Divide and Conquer </a:t>
            </a:r>
            <a:r>
              <a:rPr lang="en-US" dirty="0" smtClean="0"/>
              <a:t>Approach</a:t>
            </a:r>
            <a:endParaRPr lang="en-US" altLang="en-US" dirty="0" smtClean="0"/>
          </a:p>
          <a:p>
            <a:pPr lvl="1"/>
            <a:r>
              <a:rPr lang="en-US" altLang="en-US" dirty="0" smtClean="0"/>
              <a:t>Terminating condition</a:t>
            </a:r>
          </a:p>
          <a:p>
            <a:pPr lvl="1"/>
            <a:r>
              <a:rPr lang="en-US" altLang="en-US" dirty="0" smtClean="0"/>
              <a:t>Divide and combine</a:t>
            </a:r>
          </a:p>
          <a:p>
            <a:pPr lvl="1"/>
            <a:r>
              <a:rPr lang="en-US" altLang="en-US" dirty="0" smtClean="0">
                <a:solidFill>
                  <a:srgbClr val="0000FF"/>
                </a:solidFill>
              </a:rPr>
              <a:t>Complexity analysis by solving recurrence equation</a:t>
            </a:r>
          </a:p>
          <a:p>
            <a:r>
              <a:rPr lang="en-US" dirty="0" err="1" smtClean="0"/>
              <a:t>Mergesort</a:t>
            </a:r>
            <a:endParaRPr lang="en-US" dirty="0" smtClean="0"/>
          </a:p>
          <a:p>
            <a:pPr lvl="1"/>
            <a:r>
              <a:rPr lang="en-US" dirty="0" smtClean="0"/>
              <a:t>Divide and conquer</a:t>
            </a:r>
          </a:p>
          <a:p>
            <a:pPr lvl="1"/>
            <a:r>
              <a:rPr lang="en-US" dirty="0" smtClean="0">
                <a:solidFill>
                  <a:srgbClr val="0000FF"/>
                </a:solidFill>
              </a:rPr>
              <a:t>Complexity analysis by counting the number of comparisons</a:t>
            </a:r>
            <a:endParaRPr lang="en-US" dirty="0">
              <a:solidFill>
                <a:srgbClr val="0000FF"/>
              </a:solidFill>
            </a:endParaRPr>
          </a:p>
          <a:p>
            <a:endParaRPr lang="en-US" altLang="en-US" dirty="0" smtClean="0"/>
          </a:p>
        </p:txBody>
      </p:sp>
    </p:spTree>
    <p:extLst>
      <p:ext uri="{BB962C8B-B14F-4D97-AF65-F5344CB8AC3E}">
        <p14:creationId xmlns:p14="http://schemas.microsoft.com/office/powerpoint/2010/main" val="175835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1904</TotalTime>
  <Words>498</Words>
  <Application>Microsoft Office PowerPoint</Application>
  <PresentationFormat>On-screen Show (4:3)</PresentationFormat>
  <Paragraphs>250</Paragraphs>
  <Slides>12</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8" baseType="lpstr">
      <vt:lpstr>Arial</vt:lpstr>
      <vt:lpstr>Courier New</vt:lpstr>
      <vt:lpstr>Times New Roman</vt:lpstr>
      <vt:lpstr>Wingdings</vt:lpstr>
      <vt:lpstr>Office Theme</vt:lpstr>
      <vt:lpstr>Equation</vt:lpstr>
      <vt:lpstr>CX2101 Algorithm Design and Analysis</vt:lpstr>
      <vt:lpstr>This Tutorial</vt:lpstr>
      <vt:lpstr>Question 1</vt:lpstr>
      <vt:lpstr>Question 2</vt:lpstr>
      <vt:lpstr>PowerPoint Presentation</vt:lpstr>
      <vt:lpstr>Question 2</vt:lpstr>
      <vt:lpstr>PowerPoint Presentation</vt:lpstr>
      <vt:lpstr>Question 3</vt:lpstr>
      <vt:lpstr>PowerPoint Presentation</vt:lpstr>
      <vt:lpstr>Question 3</vt:lpstr>
      <vt:lpstr>PowerPoint Presentation</vt:lpstr>
      <vt:lpstr>What we have exercised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CE2001/CZ2001/CSC202</dc:title>
  <dc:creator>Zheng Jie (Asst Prof)</dc:creator>
  <cp:lastModifiedBy>Ke Kelly</cp:lastModifiedBy>
  <cp:revision>383</cp:revision>
  <dcterms:created xsi:type="dcterms:W3CDTF">2006-08-16T00:00:00Z</dcterms:created>
  <dcterms:modified xsi:type="dcterms:W3CDTF">2021-01-25T08:31:36Z</dcterms:modified>
</cp:coreProperties>
</file>