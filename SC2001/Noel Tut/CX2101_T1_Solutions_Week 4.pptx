
<file path=[Content_Types].xml><?xml version="1.0" encoding="utf-8"?>
<Types xmlns="http://schemas.openxmlformats.org/package/2006/content-types">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2" r:id="rId2"/>
    <p:sldId id="293" r:id="rId3"/>
    <p:sldId id="268" r:id="rId4"/>
    <p:sldId id="269" r:id="rId5"/>
    <p:sldId id="270" r:id="rId6"/>
    <p:sldId id="271" r:id="rId7"/>
    <p:sldId id="272" r:id="rId8"/>
    <p:sldId id="289" r:id="rId9"/>
    <p:sldId id="290" r:id="rId10"/>
    <p:sldId id="291" r:id="rId11"/>
    <p:sldId id="29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FFFF"/>
    <a:srgbClr val="66FFFF"/>
    <a:srgbClr val="00FFFF"/>
    <a:srgbClr val="00CCFF"/>
    <a:srgbClr val="F79A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p:cViewPr varScale="1">
        <p:scale>
          <a:sx n="91" d="100"/>
          <a:sy n="91" d="100"/>
        </p:scale>
        <p:origin x="96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CX2101 Algorithm Design and Analysis</a:t>
            </a:r>
            <a:endParaRPr lang="en-US" dirty="0"/>
          </a:p>
        </p:txBody>
      </p:sp>
      <p:sp>
        <p:nvSpPr>
          <p:cNvPr id="3" name="Subtitle 2"/>
          <p:cNvSpPr>
            <a:spLocks noGrp="1"/>
          </p:cNvSpPr>
          <p:nvPr>
            <p:ph type="subTitle" idx="1"/>
          </p:nvPr>
        </p:nvSpPr>
        <p:spPr/>
        <p:txBody>
          <a:bodyPr/>
          <a:lstStyle/>
          <a:p>
            <a:r>
              <a:rPr lang="en-US" dirty="0">
                <a:solidFill>
                  <a:srgbClr val="0000FF"/>
                </a:solidFill>
              </a:rPr>
              <a:t>Tutorial </a:t>
            </a:r>
            <a:r>
              <a:rPr lang="en-US" dirty="0" smtClean="0">
                <a:solidFill>
                  <a:srgbClr val="0000FF"/>
                </a:solidFill>
              </a:rPr>
              <a:t>1 </a:t>
            </a:r>
            <a:r>
              <a:rPr lang="en-US" dirty="0">
                <a:solidFill>
                  <a:srgbClr val="0000FF"/>
                </a:solidFill>
              </a:rPr>
              <a:t>(Sorting</a:t>
            </a:r>
            <a:r>
              <a:rPr lang="en-US" dirty="0" smtClean="0">
                <a:solidFill>
                  <a:srgbClr val="0000FF"/>
                </a:solidFill>
              </a:rPr>
              <a:t>)</a:t>
            </a:r>
          </a:p>
          <a:p>
            <a:r>
              <a:rPr lang="en-US" dirty="0" smtClean="0">
                <a:solidFill>
                  <a:srgbClr val="0000FF"/>
                </a:solidFill>
              </a:rPr>
              <a:t>Week </a:t>
            </a:r>
            <a:r>
              <a:rPr lang="en-US" dirty="0" smtClean="0">
                <a:solidFill>
                  <a:srgbClr val="0000FF"/>
                </a:solidFill>
              </a:rPr>
              <a:t>4: Q4-Q6</a:t>
            </a:r>
            <a:endParaRPr lang="en-US" dirty="0">
              <a:solidFill>
                <a:srgbClr val="0000FF"/>
              </a:solidFill>
            </a:endParaRPr>
          </a:p>
          <a:p>
            <a:endParaRPr lang="en-US" dirty="0"/>
          </a:p>
        </p:txBody>
      </p:sp>
    </p:spTree>
    <p:extLst>
      <p:ext uri="{BB962C8B-B14F-4D97-AF65-F5344CB8AC3E}">
        <p14:creationId xmlns:p14="http://schemas.microsoft.com/office/powerpoint/2010/main" val="41174857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This Tutorial</a:t>
            </a:r>
            <a:endParaRPr lang="en-SG" dirty="0"/>
          </a:p>
        </p:txBody>
      </p:sp>
      <p:sp>
        <p:nvSpPr>
          <p:cNvPr id="3" name="Content Placeholder 2"/>
          <p:cNvSpPr>
            <a:spLocks noGrp="1"/>
          </p:cNvSpPr>
          <p:nvPr>
            <p:ph idx="1"/>
          </p:nvPr>
        </p:nvSpPr>
        <p:spPr/>
        <p:txBody>
          <a:bodyPr/>
          <a:lstStyle/>
          <a:p>
            <a:pPr>
              <a:defRPr/>
            </a:pPr>
            <a:r>
              <a:rPr lang="en-US" dirty="0" smtClean="0"/>
              <a:t>Quicksort</a:t>
            </a:r>
            <a:endParaRPr lang="en-US" dirty="0" smtClean="0"/>
          </a:p>
          <a:p>
            <a:pPr marL="0" indent="0">
              <a:buFont typeface="Wingdings" pitchFamily="2" charset="2"/>
              <a:buNone/>
              <a:defRPr/>
            </a:pPr>
            <a:endParaRPr lang="en-US" dirty="0" smtClean="0"/>
          </a:p>
          <a:p>
            <a:pPr marL="0" indent="0">
              <a:buFont typeface="Wingdings" pitchFamily="2" charset="2"/>
              <a:buNone/>
              <a:defRPr/>
            </a:pPr>
            <a:endParaRPr lang="en-US" dirty="0" smtClean="0"/>
          </a:p>
          <a:p>
            <a:pPr>
              <a:defRPr/>
            </a:pPr>
            <a:r>
              <a:rPr lang="en-US" dirty="0" smtClean="0"/>
              <a:t>Algorithm Design</a:t>
            </a:r>
            <a:endParaRPr lang="en-US" dirty="0" smtClean="0"/>
          </a:p>
          <a:p>
            <a:pPr>
              <a:defRPr/>
            </a:pPr>
            <a:endParaRPr lang="en-US" dirty="0" smtClean="0"/>
          </a:p>
        </p:txBody>
      </p:sp>
    </p:spTree>
    <p:extLst>
      <p:ext uri="{BB962C8B-B14F-4D97-AF65-F5344CB8AC3E}">
        <p14:creationId xmlns:p14="http://schemas.microsoft.com/office/powerpoint/2010/main" val="39436271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a:t>Question 4</a:t>
            </a:r>
          </a:p>
        </p:txBody>
      </p:sp>
      <p:sp>
        <p:nvSpPr>
          <p:cNvPr id="3" name="Content Placeholder 2"/>
          <p:cNvSpPr>
            <a:spLocks noGrp="1"/>
          </p:cNvSpPr>
          <p:nvPr>
            <p:ph idx="1"/>
          </p:nvPr>
        </p:nvSpPr>
        <p:spPr>
          <a:xfrm>
            <a:off x="457200" y="990600"/>
            <a:ext cx="8229600" cy="5135563"/>
          </a:xfrm>
        </p:spPr>
        <p:txBody>
          <a:bodyPr>
            <a:normAutofit fontScale="92500" lnSpcReduction="10000"/>
          </a:bodyPr>
          <a:lstStyle/>
          <a:p>
            <a:pPr lvl="0"/>
            <a:r>
              <a:rPr lang="en-US" sz="2400" dirty="0">
                <a:solidFill>
                  <a:srgbClr val="0000FF"/>
                </a:solidFill>
              </a:rPr>
              <a:t>Suppose that, instead of using E[middle] as pivot, </a:t>
            </a:r>
            <a:r>
              <a:rPr lang="en-US" sz="2400" dirty="0" err="1">
                <a:solidFill>
                  <a:srgbClr val="0000FF"/>
                </a:solidFill>
              </a:rPr>
              <a:t>QuickSort</a:t>
            </a:r>
            <a:r>
              <a:rPr lang="en-US" sz="2400" dirty="0">
                <a:solidFill>
                  <a:srgbClr val="0000FF"/>
                </a:solidFill>
              </a:rPr>
              <a:t> also can use the median of E[first], E[(first + last)/2] and E[last].  How many key comparisons will </a:t>
            </a:r>
            <a:r>
              <a:rPr lang="en-US" sz="2400" dirty="0" err="1">
                <a:solidFill>
                  <a:srgbClr val="0000FF"/>
                </a:solidFill>
              </a:rPr>
              <a:t>QuickSort</a:t>
            </a:r>
            <a:r>
              <a:rPr lang="en-US" sz="2400" dirty="0">
                <a:solidFill>
                  <a:srgbClr val="0000FF"/>
                </a:solidFill>
              </a:rPr>
              <a:t> do in the worst case to sort </a:t>
            </a:r>
            <a:r>
              <a:rPr lang="en-US" sz="2400" i="1" dirty="0">
                <a:solidFill>
                  <a:srgbClr val="0000FF"/>
                </a:solidFill>
              </a:rPr>
              <a:t>n</a:t>
            </a:r>
            <a:r>
              <a:rPr lang="en-US" sz="2400" dirty="0">
                <a:solidFill>
                  <a:srgbClr val="0000FF"/>
                </a:solidFill>
              </a:rPr>
              <a:t> elements?  (Remember to count the comparisons done in choosing the pivot.)</a:t>
            </a:r>
          </a:p>
          <a:p>
            <a:r>
              <a:rPr lang="en-US" sz="2400" b="1" dirty="0" err="1"/>
              <a:t>Ans</a:t>
            </a:r>
            <a:r>
              <a:rPr lang="en-US" sz="2400" dirty="0"/>
              <a:t>: </a:t>
            </a:r>
          </a:p>
          <a:p>
            <a:r>
              <a:rPr lang="en-US" sz="2400" dirty="0"/>
              <a:t>Consider a </a:t>
            </a:r>
            <a:r>
              <a:rPr lang="en-US" sz="2400" dirty="0" err="1"/>
              <a:t>subrange</a:t>
            </a:r>
            <a:r>
              <a:rPr lang="en-US" sz="2400" dirty="0"/>
              <a:t> of </a:t>
            </a:r>
            <a:r>
              <a:rPr lang="en-US" sz="2400" i="1" dirty="0">
                <a:solidFill>
                  <a:srgbClr val="FF0000"/>
                </a:solidFill>
              </a:rPr>
              <a:t>k</a:t>
            </a:r>
            <a:r>
              <a:rPr lang="en-US" sz="2400" dirty="0"/>
              <a:t> elements to be partitioned.</a:t>
            </a:r>
          </a:p>
          <a:p>
            <a:r>
              <a:rPr lang="en-US" sz="2400" dirty="0"/>
              <a:t>Choosing the pivot requires 3 key </a:t>
            </a:r>
            <a:r>
              <a:rPr lang="en-US" sz="2400" dirty="0" smtClean="0"/>
              <a:t>comparisons in the worst case.</a:t>
            </a:r>
            <a:endParaRPr lang="en-US" sz="2400" dirty="0"/>
          </a:p>
          <a:p>
            <a:r>
              <a:rPr lang="en-US" sz="2400" dirty="0"/>
              <a:t>Now </a:t>
            </a:r>
            <a:r>
              <a:rPr lang="en-US" sz="2400" i="1" dirty="0"/>
              <a:t>k</a:t>
            </a:r>
            <a:r>
              <a:rPr lang="en-US" sz="2400" dirty="0"/>
              <a:t> – 3 elements remain to be compared to the pivot.</a:t>
            </a:r>
          </a:p>
          <a:p>
            <a:pPr lvl="1"/>
            <a:r>
              <a:rPr lang="en-US" sz="2400" dirty="0"/>
              <a:t>It’s easy to arrange not to compare elements that were candidates for the pivot again by swapping them to the extremes of the </a:t>
            </a:r>
            <a:r>
              <a:rPr lang="en-US" sz="2400" dirty="0" err="1"/>
              <a:t>subrange</a:t>
            </a:r>
            <a:endParaRPr lang="en-US" sz="2400" dirty="0"/>
          </a:p>
          <a:p>
            <a:r>
              <a:rPr lang="en-US" sz="2400" dirty="0"/>
              <a:t>So </a:t>
            </a:r>
            <a:r>
              <a:rPr lang="en-US" sz="2400" i="1" dirty="0">
                <a:solidFill>
                  <a:srgbClr val="FF0000"/>
                </a:solidFill>
              </a:rPr>
              <a:t>k</a:t>
            </a:r>
            <a:r>
              <a:rPr lang="en-US" sz="2400" dirty="0"/>
              <a:t> comparisons are done by the time partition is finished.</a:t>
            </a:r>
          </a:p>
          <a:p>
            <a:r>
              <a:rPr lang="en-US" sz="2400" dirty="0"/>
              <a:t>This is one more than if E[middle] is simply chosen as the pivot.</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791200"/>
          </a:xfrm>
        </p:spPr>
        <p:txBody>
          <a:bodyPr>
            <a:normAutofit fontScale="92500" lnSpcReduction="10000"/>
          </a:bodyPr>
          <a:lstStyle/>
          <a:p>
            <a:r>
              <a:rPr lang="en-US" sz="2000" dirty="0"/>
              <a:t>An example of the worst case might be E[first] = 100, E[first + last/2] = 99, E[last] = 98, and all other elements are over 100.</a:t>
            </a:r>
          </a:p>
          <a:p>
            <a:r>
              <a:rPr lang="en-US" sz="2000" dirty="0"/>
              <a:t>Then, 99 becomes the pivot, 98 is the only element less than the pivot, and </a:t>
            </a:r>
            <a:r>
              <a:rPr lang="en-US" sz="2000" i="1" dirty="0"/>
              <a:t>k</a:t>
            </a:r>
            <a:r>
              <a:rPr lang="en-US" sz="2000" dirty="0"/>
              <a:t> – 2 elements are greater than the pivot.</a:t>
            </a:r>
          </a:p>
          <a:p>
            <a:r>
              <a:rPr lang="en-US" sz="2000" dirty="0"/>
              <a:t>The remaining keys can be chosen so that the worst case repeats – that is, we can arrange that the median-of-3 always comes out to be the second-smallest key in the range.</a:t>
            </a:r>
          </a:p>
          <a:p>
            <a:r>
              <a:rPr lang="en-US" sz="2000" dirty="0"/>
              <a:t>Since the larger </a:t>
            </a:r>
            <a:r>
              <a:rPr lang="en-US" sz="2000" dirty="0" err="1"/>
              <a:t>subrange</a:t>
            </a:r>
            <a:r>
              <a:rPr lang="en-US" sz="2000" dirty="0"/>
              <a:t> is reduced by only 2 at each depth of recursion in </a:t>
            </a:r>
            <a:r>
              <a:rPr lang="en-US" sz="2000" dirty="0" err="1"/>
              <a:t>QuickSort</a:t>
            </a:r>
            <a:r>
              <a:rPr lang="en-US" sz="2000" dirty="0"/>
              <a:t>, it will require </a:t>
            </a:r>
            <a:r>
              <a:rPr lang="en-US" sz="2000" i="1" dirty="0"/>
              <a:t>n</a:t>
            </a:r>
            <a:r>
              <a:rPr lang="en-US" sz="2000" dirty="0"/>
              <a:t>/2 calls to partition(), with ranges of size </a:t>
            </a:r>
            <a:r>
              <a:rPr lang="en-US" sz="2000" i="1" dirty="0"/>
              <a:t>n</a:t>
            </a:r>
            <a:r>
              <a:rPr lang="en-US" sz="2000" dirty="0"/>
              <a:t>, </a:t>
            </a:r>
            <a:r>
              <a:rPr lang="en-US" sz="2000" i="1" dirty="0"/>
              <a:t>n </a:t>
            </a:r>
            <a:r>
              <a:rPr lang="en-US" sz="2000" dirty="0"/>
              <a:t>− 2, </a:t>
            </a:r>
          </a:p>
          <a:p>
            <a:pPr>
              <a:buNone/>
            </a:pPr>
            <a:r>
              <a:rPr lang="en-US" sz="2000" i="1" dirty="0"/>
              <a:t>	n </a:t>
            </a:r>
            <a:r>
              <a:rPr lang="en-US" sz="2000" dirty="0"/>
              <a:t>− 4, …, 2 (suppose </a:t>
            </a:r>
            <a:r>
              <a:rPr lang="en-US" sz="2000" i="1" dirty="0"/>
              <a:t>n</a:t>
            </a:r>
            <a:r>
              <a:rPr lang="en-US" sz="2000" dirty="0"/>
              <a:t> is even), then the total number of comparisons is</a:t>
            </a:r>
          </a:p>
          <a:p>
            <a:endParaRPr lang="en-US" sz="2400" dirty="0"/>
          </a:p>
          <a:p>
            <a:endParaRPr lang="en-US" sz="2400" dirty="0"/>
          </a:p>
          <a:p>
            <a:endParaRPr lang="en-US" sz="2400" dirty="0"/>
          </a:p>
          <a:p>
            <a:endParaRPr lang="en-US" sz="2400" dirty="0"/>
          </a:p>
          <a:p>
            <a:endParaRPr lang="en-US" sz="2400" dirty="0"/>
          </a:p>
          <a:p>
            <a:endParaRPr lang="en-US" sz="2400" dirty="0"/>
          </a:p>
          <a:p>
            <a:r>
              <a:rPr lang="en-US" sz="2000" dirty="0"/>
              <a:t>When </a:t>
            </a:r>
            <a:r>
              <a:rPr lang="en-US" sz="2000" i="1" dirty="0"/>
              <a:t>n</a:t>
            </a:r>
            <a:r>
              <a:rPr lang="en-US" sz="2000" dirty="0"/>
              <a:t> is odd, the total number of comparisons is also about </a:t>
            </a:r>
            <a:r>
              <a:rPr lang="en-US" sz="2000" i="1" dirty="0">
                <a:sym typeface="Symbol"/>
              </a:rPr>
              <a:t>n</a:t>
            </a:r>
            <a:r>
              <a:rPr lang="en-US" sz="2000" baseline="30000" dirty="0">
                <a:sym typeface="Symbol"/>
              </a:rPr>
              <a:t>2 </a:t>
            </a:r>
            <a:r>
              <a:rPr lang="en-US" sz="2000" dirty="0"/>
              <a:t>/4. </a:t>
            </a:r>
          </a:p>
          <a:p>
            <a:r>
              <a:rPr lang="en-US" sz="2000" dirty="0"/>
              <a:t>So the worst-case time complexity with the median-of-3 strategy is </a:t>
            </a:r>
            <a:r>
              <a:rPr lang="en-US" sz="2000" dirty="0">
                <a:sym typeface="Symbol"/>
              </a:rPr>
              <a:t>(</a:t>
            </a:r>
            <a:r>
              <a:rPr lang="en-US" sz="2000" i="1" dirty="0">
                <a:sym typeface="Symbol"/>
              </a:rPr>
              <a:t>n</a:t>
            </a:r>
            <a:r>
              <a:rPr lang="en-US" sz="2000" baseline="30000" dirty="0">
                <a:sym typeface="Symbol"/>
              </a:rPr>
              <a:t>2</a:t>
            </a:r>
            <a:r>
              <a:rPr lang="en-US" sz="2000" dirty="0">
                <a:sym typeface="Symbol"/>
              </a:rPr>
              <a:t>).</a:t>
            </a:r>
            <a:endParaRPr lang="en-US" sz="2000" dirty="0"/>
          </a:p>
        </p:txBody>
      </p:sp>
      <p:graphicFrame>
        <p:nvGraphicFramePr>
          <p:cNvPr id="4" name="Object 3"/>
          <p:cNvGraphicFramePr>
            <a:graphicFrameLocks noChangeAspect="1"/>
          </p:cNvGraphicFramePr>
          <p:nvPr/>
        </p:nvGraphicFramePr>
        <p:xfrm>
          <a:off x="2622550" y="3505200"/>
          <a:ext cx="2601913" cy="268288"/>
        </p:xfrm>
        <a:graphic>
          <a:graphicData uri="http://schemas.openxmlformats.org/presentationml/2006/ole">
            <mc:AlternateContent xmlns:mc="http://schemas.openxmlformats.org/markup-compatibility/2006">
              <mc:Choice xmlns:v="urn:schemas-microsoft-com:vml" Requires="v">
                <p:oleObj spid="_x0000_s19562" name="Equation" r:id="rId3" imgW="1968500" imgH="203200" progId="Equation.3">
                  <p:embed/>
                </p:oleObj>
              </mc:Choice>
              <mc:Fallback>
                <p:oleObj name="Equation" r:id="rId3" imgW="1968500" imgH="2032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2550" y="3505200"/>
                        <a:ext cx="2601913" cy="268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59" name="Object 3"/>
          <p:cNvGraphicFramePr>
            <a:graphicFrameLocks noChangeAspect="1"/>
          </p:cNvGraphicFramePr>
          <p:nvPr/>
        </p:nvGraphicFramePr>
        <p:xfrm>
          <a:off x="2632075" y="3962400"/>
          <a:ext cx="2165350" cy="268288"/>
        </p:xfrm>
        <a:graphic>
          <a:graphicData uri="http://schemas.openxmlformats.org/presentationml/2006/ole">
            <mc:AlternateContent xmlns:mc="http://schemas.openxmlformats.org/markup-compatibility/2006">
              <mc:Choice xmlns:v="urn:schemas-microsoft-com:vml" Requires="v">
                <p:oleObj spid="_x0000_s19563" name="Equation" r:id="rId5" imgW="1637589" imgH="203112" progId="Equation.3">
                  <p:embed/>
                </p:oleObj>
              </mc:Choice>
              <mc:Fallback>
                <p:oleObj name="Equation" r:id="rId5" imgW="1637589" imgH="203112"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2075" y="3962400"/>
                        <a:ext cx="2165350" cy="268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0" name="Object 4"/>
          <p:cNvGraphicFramePr>
            <a:graphicFrameLocks noChangeAspect="1"/>
          </p:cNvGraphicFramePr>
          <p:nvPr/>
        </p:nvGraphicFramePr>
        <p:xfrm>
          <a:off x="1693863" y="4359275"/>
          <a:ext cx="3890962" cy="519113"/>
        </p:xfrm>
        <a:graphic>
          <a:graphicData uri="http://schemas.openxmlformats.org/presentationml/2006/ole">
            <mc:AlternateContent xmlns:mc="http://schemas.openxmlformats.org/markup-compatibility/2006">
              <mc:Choice xmlns:v="urn:schemas-microsoft-com:vml" Requires="v">
                <p:oleObj spid="_x0000_s19564" name="Equation" r:id="rId7" imgW="2946400" imgH="393700" progId="Equation.3">
                  <p:embed/>
                </p:oleObj>
              </mc:Choice>
              <mc:Fallback>
                <p:oleObj name="Equation" r:id="rId7" imgW="2946400" imgH="393700" progId="Equation.3">
                  <p:embed/>
                  <p:pic>
                    <p:nvPicPr>
                      <p:cNvPr id="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3863" y="4359275"/>
                        <a:ext cx="3890962"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1" name="Object 5"/>
          <p:cNvGraphicFramePr>
            <a:graphicFrameLocks noChangeAspect="1"/>
          </p:cNvGraphicFramePr>
          <p:nvPr/>
        </p:nvGraphicFramePr>
        <p:xfrm>
          <a:off x="1970088" y="4876800"/>
          <a:ext cx="1879600" cy="554038"/>
        </p:xfrm>
        <a:graphic>
          <a:graphicData uri="http://schemas.openxmlformats.org/presentationml/2006/ole">
            <mc:AlternateContent xmlns:mc="http://schemas.openxmlformats.org/markup-compatibility/2006">
              <mc:Choice xmlns:v="urn:schemas-microsoft-com:vml" Requires="v">
                <p:oleObj spid="_x0000_s19565" name="Equation" r:id="rId9" imgW="1422400" imgH="419100" progId="Equation.3">
                  <p:embed/>
                </p:oleObj>
              </mc:Choice>
              <mc:Fallback>
                <p:oleObj name="Equation" r:id="rId9" imgW="1422400" imgH="419100" progId="Equation.3">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0088" y="4876800"/>
                        <a:ext cx="1879600"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Group 8"/>
          <p:cNvGrpSpPr/>
          <p:nvPr/>
        </p:nvGrpSpPr>
        <p:grpSpPr>
          <a:xfrm>
            <a:off x="6019800" y="4191000"/>
            <a:ext cx="1981200" cy="685800"/>
            <a:chOff x="6019800" y="4191000"/>
            <a:chExt cx="1981200" cy="685800"/>
          </a:xfrm>
        </p:grpSpPr>
        <p:sp>
          <p:nvSpPr>
            <p:cNvPr id="7" name="TextBox 6"/>
            <p:cNvSpPr txBox="1"/>
            <p:nvPr/>
          </p:nvSpPr>
          <p:spPr>
            <a:xfrm>
              <a:off x="6324600" y="4343400"/>
              <a:ext cx="1050288" cy="369332"/>
            </a:xfrm>
            <a:prstGeom prst="rect">
              <a:avLst/>
            </a:prstGeom>
            <a:noFill/>
          </p:spPr>
          <p:txBody>
            <a:bodyPr wrap="none" rtlCol="0">
              <a:spAutoFit/>
            </a:bodyPr>
            <a:lstStyle/>
            <a:p>
              <a:r>
                <a:rPr lang="en-US" i="1" dirty="0"/>
                <a:t>n</a:t>
              </a:r>
              <a:r>
                <a:rPr lang="en-US" dirty="0"/>
                <a:t>/2 terms</a:t>
              </a:r>
            </a:p>
          </p:txBody>
        </p:sp>
        <p:sp>
          <p:nvSpPr>
            <p:cNvPr id="8" name="Rounded Rectangular Callout 7"/>
            <p:cNvSpPr/>
            <p:nvPr/>
          </p:nvSpPr>
          <p:spPr>
            <a:xfrm>
              <a:off x="6019800" y="4191000"/>
              <a:ext cx="1981200" cy="685800"/>
            </a:xfrm>
            <a:prstGeom prst="wedgeRoundRectCallout">
              <a:avLst>
                <a:gd name="adj1" fmla="val -104659"/>
                <a:gd name="adj2" fmla="val -58586"/>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45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46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4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Question 5</a:t>
            </a:r>
          </a:p>
        </p:txBody>
      </p:sp>
      <p:sp>
        <p:nvSpPr>
          <p:cNvPr id="3" name="Content Placeholder 2"/>
          <p:cNvSpPr>
            <a:spLocks noGrp="1"/>
          </p:cNvSpPr>
          <p:nvPr>
            <p:ph idx="1"/>
          </p:nvPr>
        </p:nvSpPr>
        <p:spPr>
          <a:xfrm>
            <a:off x="457200" y="1219200"/>
            <a:ext cx="8229600" cy="4906963"/>
          </a:xfrm>
        </p:spPr>
        <p:txBody>
          <a:bodyPr>
            <a:normAutofit/>
          </a:bodyPr>
          <a:lstStyle/>
          <a:p>
            <a:pPr lvl="0"/>
            <a:r>
              <a:rPr lang="en-US" sz="2400" dirty="0">
                <a:solidFill>
                  <a:srgbClr val="0000FF"/>
                </a:solidFill>
              </a:rPr>
              <a:t>Each of n elements in an array may have one of the key values </a:t>
            </a:r>
            <a:r>
              <a:rPr lang="en-US" sz="2400" i="1" dirty="0">
                <a:solidFill>
                  <a:srgbClr val="0000FF"/>
                </a:solidFill>
              </a:rPr>
              <a:t>red</a:t>
            </a:r>
            <a:r>
              <a:rPr lang="en-US" sz="2400" dirty="0">
                <a:solidFill>
                  <a:srgbClr val="0000FF"/>
                </a:solidFill>
              </a:rPr>
              <a:t>, </a:t>
            </a:r>
            <a:r>
              <a:rPr lang="en-US" sz="2400" i="1" dirty="0">
                <a:solidFill>
                  <a:srgbClr val="0000FF"/>
                </a:solidFill>
              </a:rPr>
              <a:t>white</a:t>
            </a:r>
            <a:r>
              <a:rPr lang="en-US" sz="2400" dirty="0">
                <a:solidFill>
                  <a:srgbClr val="0000FF"/>
                </a:solidFill>
              </a:rPr>
              <a:t>, or </a:t>
            </a:r>
            <a:r>
              <a:rPr lang="en-US" sz="2400" i="1" dirty="0">
                <a:solidFill>
                  <a:srgbClr val="0000FF"/>
                </a:solidFill>
              </a:rPr>
              <a:t>blue</a:t>
            </a:r>
            <a:r>
              <a:rPr lang="en-US" sz="2400" dirty="0">
                <a:solidFill>
                  <a:srgbClr val="0000FF"/>
                </a:solidFill>
              </a:rPr>
              <a:t>.  </a:t>
            </a:r>
          </a:p>
          <a:p>
            <a:pPr lvl="0"/>
            <a:r>
              <a:rPr lang="en-US" sz="2400" dirty="0">
                <a:solidFill>
                  <a:srgbClr val="0000FF"/>
                </a:solidFill>
              </a:rPr>
              <a:t>Give an efficient algorithm for rearranging the elements so that all the </a:t>
            </a:r>
            <a:r>
              <a:rPr lang="en-US" sz="2400" i="1" dirty="0">
                <a:solidFill>
                  <a:srgbClr val="0000FF"/>
                </a:solidFill>
              </a:rPr>
              <a:t>reds</a:t>
            </a:r>
            <a:r>
              <a:rPr lang="en-US" sz="2400" dirty="0">
                <a:solidFill>
                  <a:srgbClr val="0000FF"/>
                </a:solidFill>
              </a:rPr>
              <a:t> come before all the </a:t>
            </a:r>
            <a:r>
              <a:rPr lang="en-US" sz="2400" i="1" dirty="0">
                <a:solidFill>
                  <a:srgbClr val="0000FF"/>
                </a:solidFill>
              </a:rPr>
              <a:t>whites</a:t>
            </a:r>
            <a:r>
              <a:rPr lang="en-US" sz="2400" dirty="0">
                <a:solidFill>
                  <a:srgbClr val="0000FF"/>
                </a:solidFill>
              </a:rPr>
              <a:t>, and all the </a:t>
            </a:r>
            <a:r>
              <a:rPr lang="en-US" sz="2400" i="1" dirty="0">
                <a:solidFill>
                  <a:srgbClr val="0000FF"/>
                </a:solidFill>
              </a:rPr>
              <a:t>whites</a:t>
            </a:r>
            <a:r>
              <a:rPr lang="en-US" sz="2400" dirty="0">
                <a:solidFill>
                  <a:srgbClr val="0000FF"/>
                </a:solidFill>
              </a:rPr>
              <a:t> come before all the </a:t>
            </a:r>
            <a:r>
              <a:rPr lang="en-US" sz="2400" i="1" dirty="0">
                <a:solidFill>
                  <a:srgbClr val="0000FF"/>
                </a:solidFill>
              </a:rPr>
              <a:t>blues</a:t>
            </a:r>
            <a:r>
              <a:rPr lang="en-US" sz="2400" dirty="0">
                <a:solidFill>
                  <a:srgbClr val="0000FF"/>
                </a:solidFill>
              </a:rPr>
              <a:t>.  (It may happen that there are no elements of one or two of the </a:t>
            </a:r>
            <a:r>
              <a:rPr lang="en-US" sz="2400" dirty="0" err="1">
                <a:solidFill>
                  <a:srgbClr val="0000FF"/>
                </a:solidFill>
              </a:rPr>
              <a:t>colours</a:t>
            </a:r>
            <a:r>
              <a:rPr lang="en-US" sz="2400" dirty="0">
                <a:solidFill>
                  <a:srgbClr val="0000FF"/>
                </a:solidFill>
              </a:rPr>
              <a:t>.) </a:t>
            </a:r>
          </a:p>
          <a:p>
            <a:pPr lvl="0"/>
            <a:r>
              <a:rPr lang="en-US" sz="2400" dirty="0">
                <a:solidFill>
                  <a:srgbClr val="0000FF"/>
                </a:solidFill>
              </a:rPr>
              <a:t>The only operations permitted on the elements are examination of a key to find out what </a:t>
            </a:r>
            <a:r>
              <a:rPr lang="en-US" sz="2400" dirty="0" err="1">
                <a:solidFill>
                  <a:srgbClr val="0000FF"/>
                </a:solidFill>
              </a:rPr>
              <a:t>colour</a:t>
            </a:r>
            <a:r>
              <a:rPr lang="en-US" sz="2400" dirty="0">
                <a:solidFill>
                  <a:srgbClr val="0000FF"/>
                </a:solidFill>
              </a:rPr>
              <a:t> it is, and a swap, or interchange, of two elements (specified by their indices).  </a:t>
            </a:r>
          </a:p>
          <a:p>
            <a:pPr lvl="0"/>
            <a:r>
              <a:rPr lang="en-US" sz="2400" dirty="0">
                <a:solidFill>
                  <a:srgbClr val="0000FF"/>
                </a:solidFill>
              </a:rPr>
              <a:t>What is the asymptotic order of the worst case running time of your algorithm? (There is a linear-time solution.)</a:t>
            </a:r>
          </a:p>
          <a:p>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a:bodyPr>
          <a:lstStyle/>
          <a:p>
            <a:r>
              <a:rPr lang="en-US" sz="2400" dirty="0"/>
              <a:t>We assume the elements are stored in the range 1, …, </a:t>
            </a:r>
            <a:r>
              <a:rPr lang="en-US" sz="2400" i="1" dirty="0"/>
              <a:t>n</a:t>
            </a:r>
          </a:p>
          <a:p>
            <a:r>
              <a:rPr lang="en-US" sz="2400" dirty="0"/>
              <a:t>At an intermediate step the elements are divided into four regions: </a:t>
            </a:r>
          </a:p>
          <a:p>
            <a:pPr lvl="1"/>
            <a:r>
              <a:rPr lang="en-US" sz="2400" dirty="0"/>
              <a:t>The first contains only reds</a:t>
            </a:r>
          </a:p>
          <a:p>
            <a:pPr lvl="1"/>
            <a:r>
              <a:rPr lang="en-US" sz="2400" dirty="0"/>
              <a:t>The second contains only whites</a:t>
            </a:r>
          </a:p>
          <a:p>
            <a:pPr lvl="1"/>
            <a:r>
              <a:rPr lang="en-US" sz="2400" dirty="0"/>
              <a:t>The third contains elements of colors unknown yet</a:t>
            </a:r>
          </a:p>
          <a:p>
            <a:pPr lvl="1"/>
            <a:r>
              <a:rPr lang="en-US" sz="2400" dirty="0"/>
              <a:t>The fourth contains only blues</a:t>
            </a:r>
          </a:p>
          <a:p>
            <a:r>
              <a:rPr lang="en-US" sz="2400" dirty="0"/>
              <a:t>There are three indexes: r (last red), u (first unknown), b (first blue)</a:t>
            </a:r>
          </a:p>
          <a:p>
            <a:endParaRPr lang="en-US" sz="2000" dirty="0"/>
          </a:p>
          <a:p>
            <a:pPr>
              <a:buNone/>
            </a:pPr>
            <a:r>
              <a:rPr lang="en-US" sz="1400" b="1" dirty="0">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	</a:t>
            </a:r>
            <a:endParaRPr lang="en-US" sz="1500" b="1" dirty="0">
              <a:solidFill>
                <a:srgbClr val="0000FF"/>
              </a:solidFill>
              <a:latin typeface="Courier New" pitchFamily="49" charset="0"/>
              <a:cs typeface="Courier New" pitchFamily="49" charset="0"/>
            </a:endParaRPr>
          </a:p>
          <a:p>
            <a:endParaRPr lang="en-US" sz="2000" dirty="0"/>
          </a:p>
          <a:p>
            <a:endParaRPr lang="en-US" sz="2000" dirty="0"/>
          </a:p>
          <a:p>
            <a:endParaRPr lang="en-US" sz="2000" dirty="0"/>
          </a:p>
          <a:p>
            <a:endParaRPr lang="en-US" sz="2000" dirty="0"/>
          </a:p>
        </p:txBody>
      </p:sp>
      <p:grpSp>
        <p:nvGrpSpPr>
          <p:cNvPr id="28" name="Group 27"/>
          <p:cNvGrpSpPr/>
          <p:nvPr/>
        </p:nvGrpSpPr>
        <p:grpSpPr>
          <a:xfrm>
            <a:off x="1295400" y="4953000"/>
            <a:ext cx="6477000" cy="1238310"/>
            <a:chOff x="1295400" y="4953000"/>
            <a:chExt cx="6477000" cy="1238310"/>
          </a:xfrm>
        </p:grpSpPr>
        <p:sp>
          <p:nvSpPr>
            <p:cNvPr id="4" name="Rectangle 3"/>
            <p:cNvSpPr/>
            <p:nvPr/>
          </p:nvSpPr>
          <p:spPr>
            <a:xfrm>
              <a:off x="1676400" y="4953000"/>
              <a:ext cx="381000" cy="381000"/>
            </a:xfrm>
            <a:prstGeom prst="rect">
              <a:avLst/>
            </a:prstGeom>
            <a:solidFill>
              <a:srgbClr val="F79A9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343400" y="4953000"/>
              <a:ext cx="381000" cy="381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200400" y="49530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629400" y="4953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057400" y="4953000"/>
              <a:ext cx="381000" cy="381000"/>
            </a:xfrm>
            <a:prstGeom prst="rect">
              <a:avLst/>
            </a:prstGeom>
            <a:solidFill>
              <a:srgbClr val="F79A9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438400" y="4953000"/>
              <a:ext cx="381000" cy="381000"/>
            </a:xfrm>
            <a:prstGeom prst="rect">
              <a:avLst/>
            </a:prstGeom>
            <a:solidFill>
              <a:srgbClr val="F79A9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19400" y="4953000"/>
              <a:ext cx="381000" cy="381000"/>
            </a:xfrm>
            <a:prstGeom prst="rect">
              <a:avLst/>
            </a:prstGeom>
            <a:solidFill>
              <a:srgbClr val="F79A9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581400" y="49530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962400" y="49530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724400" y="4953000"/>
              <a:ext cx="381000" cy="381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105400" y="4953000"/>
              <a:ext cx="381000" cy="381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486400" y="4953000"/>
              <a:ext cx="381000" cy="381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867400" y="4953000"/>
              <a:ext cx="381000" cy="381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248400" y="4953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7010400" y="4953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391400" y="4953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295400" y="4953000"/>
              <a:ext cx="381000" cy="381000"/>
            </a:xfrm>
            <a:prstGeom prst="rect">
              <a:avLst/>
            </a:prstGeom>
            <a:solidFill>
              <a:srgbClr val="F79A9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Up Arrow 21"/>
            <p:cNvSpPr/>
            <p:nvPr/>
          </p:nvSpPr>
          <p:spPr>
            <a:xfrm>
              <a:off x="2895600" y="5410200"/>
              <a:ext cx="228600" cy="381000"/>
            </a:xfrm>
            <a:prstGeom prst="up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Up Arrow 22"/>
            <p:cNvSpPr/>
            <p:nvPr/>
          </p:nvSpPr>
          <p:spPr>
            <a:xfrm>
              <a:off x="4419600" y="5410200"/>
              <a:ext cx="228600" cy="381000"/>
            </a:xfrm>
            <a:prstGeom prst="up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Up Arrow 23"/>
            <p:cNvSpPr/>
            <p:nvPr/>
          </p:nvSpPr>
          <p:spPr>
            <a:xfrm>
              <a:off x="6324600" y="5410200"/>
              <a:ext cx="228600" cy="381000"/>
            </a:xfrm>
            <a:prstGeom prst="up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2895600" y="5791200"/>
              <a:ext cx="298480" cy="400110"/>
            </a:xfrm>
            <a:prstGeom prst="rect">
              <a:avLst/>
            </a:prstGeom>
            <a:noFill/>
          </p:spPr>
          <p:txBody>
            <a:bodyPr wrap="none" rtlCol="0">
              <a:spAutoFit/>
            </a:bodyPr>
            <a:lstStyle/>
            <a:p>
              <a:r>
                <a:rPr lang="en-US" sz="2000" b="1" dirty="0">
                  <a:solidFill>
                    <a:srgbClr val="FF0000"/>
                  </a:solidFill>
                </a:rPr>
                <a:t>r</a:t>
              </a:r>
            </a:p>
          </p:txBody>
        </p:sp>
        <p:sp>
          <p:nvSpPr>
            <p:cNvPr id="26" name="TextBox 25"/>
            <p:cNvSpPr txBox="1"/>
            <p:nvPr/>
          </p:nvSpPr>
          <p:spPr>
            <a:xfrm>
              <a:off x="4419600" y="5791200"/>
              <a:ext cx="327334" cy="400110"/>
            </a:xfrm>
            <a:prstGeom prst="rect">
              <a:avLst/>
            </a:prstGeom>
            <a:noFill/>
          </p:spPr>
          <p:txBody>
            <a:bodyPr wrap="none" rtlCol="0">
              <a:spAutoFit/>
            </a:bodyPr>
            <a:lstStyle/>
            <a:p>
              <a:r>
                <a:rPr lang="en-US" sz="2000" b="1" dirty="0">
                  <a:solidFill>
                    <a:srgbClr val="FF0000"/>
                  </a:solidFill>
                </a:rPr>
                <a:t>u</a:t>
              </a:r>
            </a:p>
          </p:txBody>
        </p:sp>
        <p:sp>
          <p:nvSpPr>
            <p:cNvPr id="27" name="TextBox 26"/>
            <p:cNvSpPr txBox="1"/>
            <p:nvPr/>
          </p:nvSpPr>
          <p:spPr>
            <a:xfrm>
              <a:off x="6248400" y="5791200"/>
              <a:ext cx="327334" cy="400110"/>
            </a:xfrm>
            <a:prstGeom prst="rect">
              <a:avLst/>
            </a:prstGeom>
            <a:noFill/>
          </p:spPr>
          <p:txBody>
            <a:bodyPr wrap="none" rtlCol="0">
              <a:spAutoFit/>
            </a:bodyPr>
            <a:lstStyle/>
            <a:p>
              <a:r>
                <a:rPr lang="en-US" sz="2000" b="1" dirty="0">
                  <a:solidFill>
                    <a:srgbClr val="FF0000"/>
                  </a:solidFill>
                </a:rPr>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fontScale="47500" lnSpcReduction="20000"/>
          </a:bodyPr>
          <a:lstStyle/>
          <a:p>
            <a:r>
              <a:rPr lang="en-US" sz="4200" dirty="0"/>
              <a:t>The algorithm is:</a:t>
            </a:r>
          </a:p>
          <a:p>
            <a:endParaRPr lang="en-US" dirty="0"/>
          </a:p>
          <a:p>
            <a:pPr>
              <a:buNone/>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int</a:t>
            </a:r>
            <a:r>
              <a:rPr lang="en-US" b="1" dirty="0">
                <a:solidFill>
                  <a:srgbClr val="0000FF"/>
                </a:solidFill>
                <a:latin typeface="Courier New" pitchFamily="49" charset="0"/>
                <a:cs typeface="Courier New" pitchFamily="49" charset="0"/>
              </a:rPr>
              <a:t> r; // index of last red</a:t>
            </a:r>
          </a:p>
          <a:p>
            <a:pPr>
              <a:buNone/>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int</a:t>
            </a:r>
            <a:r>
              <a:rPr lang="en-US" b="1" dirty="0">
                <a:solidFill>
                  <a:srgbClr val="0000FF"/>
                </a:solidFill>
                <a:latin typeface="Courier New" pitchFamily="49" charset="0"/>
                <a:cs typeface="Courier New" pitchFamily="49" charset="0"/>
              </a:rPr>
              <a:t> u; // index of first unknown</a:t>
            </a:r>
          </a:p>
          <a:p>
            <a:pPr>
              <a:buNone/>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int</a:t>
            </a:r>
            <a:r>
              <a:rPr lang="en-US" b="1" dirty="0">
                <a:solidFill>
                  <a:srgbClr val="0000FF"/>
                </a:solidFill>
                <a:latin typeface="Courier New" pitchFamily="49" charset="0"/>
                <a:cs typeface="Courier New" pitchFamily="49" charset="0"/>
              </a:rPr>
              <a:t> b; // index of first blue</a:t>
            </a:r>
          </a:p>
          <a:p>
            <a:pPr>
              <a:buNone/>
            </a:pPr>
            <a:endParaRPr lang="en-US" b="1" dirty="0">
              <a:solidFill>
                <a:srgbClr val="0000FF"/>
              </a:solidFill>
              <a:latin typeface="Courier New" pitchFamily="49" charset="0"/>
              <a:cs typeface="Courier New" pitchFamily="49" charset="0"/>
            </a:endParaRPr>
          </a:p>
          <a:p>
            <a:pPr>
              <a:buNone/>
            </a:pPr>
            <a:r>
              <a:rPr lang="en-US" b="1" dirty="0">
                <a:solidFill>
                  <a:srgbClr val="0000FF"/>
                </a:solidFill>
                <a:latin typeface="Courier New" pitchFamily="49" charset="0"/>
                <a:cs typeface="Courier New" pitchFamily="49" charset="0"/>
              </a:rPr>
              <a:t>		r = 0; u = 1; b = n+1;</a:t>
            </a:r>
          </a:p>
          <a:p>
            <a:pPr>
              <a:buNone/>
            </a:pPr>
            <a:r>
              <a:rPr lang="en-US" b="1" dirty="0">
                <a:solidFill>
                  <a:srgbClr val="0000FF"/>
                </a:solidFill>
                <a:latin typeface="Courier New" pitchFamily="49" charset="0"/>
                <a:cs typeface="Courier New" pitchFamily="49" charset="0"/>
              </a:rPr>
              <a:t>		while (u &lt; b)</a:t>
            </a:r>
          </a:p>
          <a:p>
            <a:pPr>
              <a:buNone/>
            </a:pPr>
            <a:r>
              <a:rPr lang="en-US" b="1" dirty="0">
                <a:solidFill>
                  <a:srgbClr val="0000FF"/>
                </a:solidFill>
                <a:latin typeface="Courier New" pitchFamily="49" charset="0"/>
                <a:cs typeface="Courier New" pitchFamily="49" charset="0"/>
              </a:rPr>
              <a:t>			if (E[u] == red)</a:t>
            </a:r>
          </a:p>
          <a:p>
            <a:pPr>
              <a:buNone/>
            </a:pPr>
            <a:r>
              <a:rPr lang="en-US" b="1" dirty="0">
                <a:solidFill>
                  <a:srgbClr val="0000FF"/>
                </a:solidFill>
                <a:latin typeface="Courier New" pitchFamily="49" charset="0"/>
                <a:cs typeface="Courier New" pitchFamily="49" charset="0"/>
              </a:rPr>
              <a:t>				Interchange E[r+1] and E[u];</a:t>
            </a:r>
          </a:p>
          <a:p>
            <a:pPr>
              <a:buNone/>
            </a:pPr>
            <a:r>
              <a:rPr lang="en-US" b="1" dirty="0">
                <a:solidFill>
                  <a:srgbClr val="0000FF"/>
                </a:solidFill>
                <a:latin typeface="Courier New" pitchFamily="49" charset="0"/>
                <a:cs typeface="Courier New" pitchFamily="49" charset="0"/>
              </a:rPr>
              <a:t>				r ++;</a:t>
            </a:r>
          </a:p>
          <a:p>
            <a:pPr>
              <a:buNone/>
            </a:pPr>
            <a:r>
              <a:rPr lang="en-US" b="1" dirty="0">
                <a:solidFill>
                  <a:srgbClr val="0000FF"/>
                </a:solidFill>
                <a:latin typeface="Courier New" pitchFamily="49" charset="0"/>
                <a:cs typeface="Courier New" pitchFamily="49" charset="0"/>
              </a:rPr>
              <a:t>				u ++;</a:t>
            </a:r>
          </a:p>
          <a:p>
            <a:pPr>
              <a:buNone/>
            </a:pPr>
            <a:r>
              <a:rPr lang="en-US" b="1" dirty="0">
                <a:solidFill>
                  <a:srgbClr val="0000FF"/>
                </a:solidFill>
                <a:latin typeface="Courier New" pitchFamily="49" charset="0"/>
                <a:cs typeface="Courier New" pitchFamily="49" charset="0"/>
              </a:rPr>
              <a:t>			else if (E[u] == white)</a:t>
            </a:r>
          </a:p>
          <a:p>
            <a:pPr>
              <a:buNone/>
            </a:pPr>
            <a:r>
              <a:rPr lang="en-US" b="1" dirty="0">
                <a:solidFill>
                  <a:srgbClr val="0000FF"/>
                </a:solidFill>
                <a:latin typeface="Courier New" pitchFamily="49" charset="0"/>
                <a:cs typeface="Courier New" pitchFamily="49" charset="0"/>
              </a:rPr>
              <a:t>				u ++;</a:t>
            </a:r>
          </a:p>
          <a:p>
            <a:pPr>
              <a:buNone/>
            </a:pPr>
            <a:r>
              <a:rPr lang="en-US" b="1" dirty="0">
                <a:solidFill>
                  <a:srgbClr val="0000FF"/>
                </a:solidFill>
                <a:latin typeface="Courier New" pitchFamily="49" charset="0"/>
                <a:cs typeface="Courier New" pitchFamily="49" charset="0"/>
              </a:rPr>
              <a:t>			else // (E[u] == blue)</a:t>
            </a:r>
          </a:p>
          <a:p>
            <a:pPr>
              <a:buNone/>
            </a:pPr>
            <a:r>
              <a:rPr lang="en-US" b="1" dirty="0">
                <a:solidFill>
                  <a:srgbClr val="0000FF"/>
                </a:solidFill>
                <a:latin typeface="Courier New" pitchFamily="49" charset="0"/>
                <a:cs typeface="Courier New" pitchFamily="49" charset="0"/>
              </a:rPr>
              <a:t>				Interchange E[b-1] and E[u]</a:t>
            </a:r>
          </a:p>
          <a:p>
            <a:pPr>
              <a:buNone/>
            </a:pPr>
            <a:r>
              <a:rPr lang="en-US" b="1" dirty="0">
                <a:solidFill>
                  <a:srgbClr val="0000FF"/>
                </a:solidFill>
                <a:latin typeface="Courier New" pitchFamily="49" charset="0"/>
                <a:cs typeface="Courier New" pitchFamily="49" charset="0"/>
              </a:rPr>
              <a:t>				b --;</a:t>
            </a:r>
          </a:p>
          <a:p>
            <a:pPr>
              <a:buNone/>
            </a:pPr>
            <a:endParaRPr lang="en-US" dirty="0"/>
          </a:p>
          <a:p>
            <a:r>
              <a:rPr lang="en-US" sz="4200" dirty="0"/>
              <a:t>With each iteration of the while loop, either u is increased by one or b is decreased by one, so there are </a:t>
            </a:r>
            <a:r>
              <a:rPr lang="en-US" sz="4200" i="1" dirty="0"/>
              <a:t>n</a:t>
            </a:r>
            <a:r>
              <a:rPr lang="en-US" sz="4200" dirty="0"/>
              <a:t> iterations. </a:t>
            </a:r>
          </a:p>
          <a:p>
            <a:r>
              <a:rPr lang="en-US" sz="4200" dirty="0"/>
              <a:t>Each iteration takes constant time, so the overall time is linear </a:t>
            </a:r>
            <a:r>
              <a:rPr lang="en-US" sz="4200" dirty="0">
                <a:sym typeface="Symbol"/>
              </a:rPr>
              <a:t>(</a:t>
            </a:r>
            <a:r>
              <a:rPr lang="en-US" sz="4200" i="1" dirty="0">
                <a:sym typeface="Symbol"/>
              </a:rPr>
              <a:t>n</a:t>
            </a:r>
            <a:r>
              <a:rPr lang="en-US" sz="4200" dirty="0">
                <a:sym typeface="Symbol"/>
              </a:rPr>
              <a:t>).</a:t>
            </a:r>
            <a:endParaRPr lang="en-US" sz="4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8" end="1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6</a:t>
            </a:r>
          </a:p>
        </p:txBody>
      </p:sp>
      <p:sp>
        <p:nvSpPr>
          <p:cNvPr id="3" name="Content Placeholder 2"/>
          <p:cNvSpPr>
            <a:spLocks noGrp="1"/>
          </p:cNvSpPr>
          <p:nvPr>
            <p:ph idx="1"/>
          </p:nvPr>
        </p:nvSpPr>
        <p:spPr>
          <a:xfrm>
            <a:off x="609600" y="1371600"/>
            <a:ext cx="8077200" cy="4754563"/>
          </a:xfrm>
        </p:spPr>
        <p:txBody>
          <a:bodyPr>
            <a:normAutofit lnSpcReduction="10000"/>
          </a:bodyPr>
          <a:lstStyle/>
          <a:p>
            <a:pPr lvl="0"/>
            <a:r>
              <a:rPr lang="en-US" sz="2400" dirty="0">
                <a:solidFill>
                  <a:srgbClr val="0000FF"/>
                </a:solidFill>
              </a:rPr>
              <a:t>Suppose we have an unsorted array </a:t>
            </a:r>
            <a:r>
              <a:rPr lang="en-US" sz="2400" i="1" dirty="0">
                <a:solidFill>
                  <a:srgbClr val="0000FF"/>
                </a:solidFill>
              </a:rPr>
              <a:t>A</a:t>
            </a:r>
            <a:r>
              <a:rPr lang="en-US" sz="2400" dirty="0">
                <a:solidFill>
                  <a:srgbClr val="0000FF"/>
                </a:solidFill>
              </a:rPr>
              <a:t> of </a:t>
            </a:r>
            <a:r>
              <a:rPr lang="en-US" sz="2400" i="1" dirty="0">
                <a:solidFill>
                  <a:srgbClr val="0000FF"/>
                </a:solidFill>
              </a:rPr>
              <a:t>n</a:t>
            </a:r>
            <a:r>
              <a:rPr lang="en-US" sz="2400" dirty="0">
                <a:solidFill>
                  <a:srgbClr val="0000FF"/>
                </a:solidFill>
              </a:rPr>
              <a:t> elements and we want to know if the array contains any duplicate elements.</a:t>
            </a:r>
          </a:p>
          <a:p>
            <a:pPr marL="514350" lvl="0" indent="-514350">
              <a:buNone/>
            </a:pPr>
            <a:r>
              <a:rPr lang="en-US" sz="2400" dirty="0">
                <a:solidFill>
                  <a:srgbClr val="0000FF"/>
                </a:solidFill>
              </a:rPr>
              <a:t>(a)  Outline (clearly) an efficient method for solving this problem.</a:t>
            </a:r>
          </a:p>
          <a:p>
            <a:pPr marL="514350" lvl="0" indent="-514350">
              <a:buNone/>
            </a:pPr>
            <a:endParaRPr lang="en-US" sz="3100" dirty="0">
              <a:solidFill>
                <a:srgbClr val="0000FF"/>
              </a:solidFill>
            </a:endParaRPr>
          </a:p>
          <a:p>
            <a:endParaRPr lang="en-US" dirty="0"/>
          </a:p>
          <a:p>
            <a:endParaRPr lang="en-US" dirty="0"/>
          </a:p>
          <a:p>
            <a:endParaRPr lang="en-US" dirty="0"/>
          </a:p>
          <a:p>
            <a:r>
              <a:rPr lang="en-US" sz="2400" b="1" dirty="0" err="1"/>
              <a:t>Ans</a:t>
            </a:r>
            <a:r>
              <a:rPr lang="en-US" sz="2400" dirty="0"/>
              <a:t>: First, sort the array in increasing (or decreasing) order. Then, do a post-scan of the sorted array to check for equal adjacent elements.</a:t>
            </a:r>
          </a:p>
        </p:txBody>
      </p:sp>
      <p:grpSp>
        <p:nvGrpSpPr>
          <p:cNvPr id="4" name="Group 55"/>
          <p:cNvGrpSpPr/>
          <p:nvPr/>
        </p:nvGrpSpPr>
        <p:grpSpPr>
          <a:xfrm>
            <a:off x="3276600" y="3505200"/>
            <a:ext cx="2286000" cy="381000"/>
            <a:chOff x="3276600" y="3505200"/>
            <a:chExt cx="2286000" cy="381000"/>
          </a:xfrm>
        </p:grpSpPr>
        <p:sp>
          <p:nvSpPr>
            <p:cNvPr id="7" name="Rectangle 6"/>
            <p:cNvSpPr/>
            <p:nvPr/>
          </p:nvSpPr>
          <p:spPr>
            <a:xfrm>
              <a:off x="3276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657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038600" y="3505200"/>
              <a:ext cx="381000" cy="381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419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800600" y="3505200"/>
              <a:ext cx="381000" cy="381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5181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3352800" y="3505200"/>
              <a:ext cx="304800" cy="369332"/>
            </a:xfrm>
            <a:prstGeom prst="rect">
              <a:avLst/>
            </a:prstGeom>
            <a:noFill/>
          </p:spPr>
          <p:txBody>
            <a:bodyPr wrap="square" rtlCol="0">
              <a:spAutoFit/>
            </a:bodyPr>
            <a:lstStyle/>
            <a:p>
              <a:r>
                <a:rPr lang="en-US" dirty="0"/>
                <a:t>6</a:t>
              </a:r>
            </a:p>
          </p:txBody>
        </p:sp>
        <p:sp>
          <p:nvSpPr>
            <p:cNvPr id="32" name="TextBox 31"/>
            <p:cNvSpPr txBox="1"/>
            <p:nvPr/>
          </p:nvSpPr>
          <p:spPr>
            <a:xfrm>
              <a:off x="3657600" y="3505200"/>
              <a:ext cx="304800" cy="369332"/>
            </a:xfrm>
            <a:prstGeom prst="rect">
              <a:avLst/>
            </a:prstGeom>
            <a:noFill/>
          </p:spPr>
          <p:txBody>
            <a:bodyPr wrap="square" rtlCol="0">
              <a:spAutoFit/>
            </a:bodyPr>
            <a:lstStyle/>
            <a:p>
              <a:r>
                <a:rPr lang="en-US" dirty="0"/>
                <a:t>9</a:t>
              </a:r>
            </a:p>
          </p:txBody>
        </p:sp>
        <p:sp>
          <p:nvSpPr>
            <p:cNvPr id="33" name="TextBox 32"/>
            <p:cNvSpPr txBox="1"/>
            <p:nvPr/>
          </p:nvSpPr>
          <p:spPr>
            <a:xfrm>
              <a:off x="4038600" y="3505200"/>
              <a:ext cx="304800" cy="369332"/>
            </a:xfrm>
            <a:prstGeom prst="rect">
              <a:avLst/>
            </a:prstGeom>
            <a:noFill/>
          </p:spPr>
          <p:txBody>
            <a:bodyPr wrap="square" rtlCol="0">
              <a:spAutoFit/>
            </a:bodyPr>
            <a:lstStyle/>
            <a:p>
              <a:r>
                <a:rPr lang="en-US" dirty="0"/>
                <a:t>5</a:t>
              </a:r>
            </a:p>
          </p:txBody>
        </p:sp>
        <p:sp>
          <p:nvSpPr>
            <p:cNvPr id="34" name="TextBox 33"/>
            <p:cNvSpPr txBox="1"/>
            <p:nvPr/>
          </p:nvSpPr>
          <p:spPr>
            <a:xfrm>
              <a:off x="4419600" y="3505200"/>
              <a:ext cx="304800" cy="369332"/>
            </a:xfrm>
            <a:prstGeom prst="rect">
              <a:avLst/>
            </a:prstGeom>
            <a:noFill/>
          </p:spPr>
          <p:txBody>
            <a:bodyPr wrap="square" rtlCol="0">
              <a:spAutoFit/>
            </a:bodyPr>
            <a:lstStyle/>
            <a:p>
              <a:r>
                <a:rPr lang="en-US" dirty="0"/>
                <a:t>3</a:t>
              </a:r>
            </a:p>
          </p:txBody>
        </p:sp>
        <p:sp>
          <p:nvSpPr>
            <p:cNvPr id="35" name="TextBox 34"/>
            <p:cNvSpPr txBox="1"/>
            <p:nvPr/>
          </p:nvSpPr>
          <p:spPr>
            <a:xfrm>
              <a:off x="4800600" y="3505200"/>
              <a:ext cx="304800" cy="369332"/>
            </a:xfrm>
            <a:prstGeom prst="rect">
              <a:avLst/>
            </a:prstGeom>
            <a:noFill/>
          </p:spPr>
          <p:txBody>
            <a:bodyPr wrap="square" rtlCol="0">
              <a:spAutoFit/>
            </a:bodyPr>
            <a:lstStyle/>
            <a:p>
              <a:r>
                <a:rPr lang="en-US" dirty="0"/>
                <a:t>5</a:t>
              </a:r>
            </a:p>
          </p:txBody>
        </p:sp>
        <p:sp>
          <p:nvSpPr>
            <p:cNvPr id="36" name="TextBox 35"/>
            <p:cNvSpPr txBox="1"/>
            <p:nvPr/>
          </p:nvSpPr>
          <p:spPr>
            <a:xfrm>
              <a:off x="5181600" y="3505200"/>
              <a:ext cx="304800" cy="369332"/>
            </a:xfrm>
            <a:prstGeom prst="rect">
              <a:avLst/>
            </a:prstGeom>
            <a:noFill/>
          </p:spPr>
          <p:txBody>
            <a:bodyPr wrap="square" rtlCol="0">
              <a:spAutoFit/>
            </a:bodyPr>
            <a:lstStyle/>
            <a:p>
              <a:r>
                <a:rPr lang="en-US" dirty="0"/>
                <a:t>8</a:t>
              </a:r>
            </a:p>
          </p:txBody>
        </p:sp>
      </p:grpSp>
      <p:sp>
        <p:nvSpPr>
          <p:cNvPr id="37" name="TextBox 36"/>
          <p:cNvSpPr txBox="1"/>
          <p:nvPr/>
        </p:nvSpPr>
        <p:spPr>
          <a:xfrm>
            <a:off x="1295400" y="3505200"/>
            <a:ext cx="1752600" cy="369332"/>
          </a:xfrm>
          <a:prstGeom prst="rect">
            <a:avLst/>
          </a:prstGeom>
          <a:noFill/>
        </p:spPr>
        <p:txBody>
          <a:bodyPr wrap="square" rtlCol="0">
            <a:spAutoFit/>
          </a:bodyPr>
          <a:lstStyle/>
          <a:p>
            <a:r>
              <a:rPr lang="en-US" b="1" dirty="0">
                <a:solidFill>
                  <a:srgbClr val="C00000"/>
                </a:solidFill>
                <a:latin typeface="+mj-lt"/>
              </a:rPr>
              <a:t>Input array </a:t>
            </a:r>
            <a:r>
              <a:rPr lang="en-US" b="1" i="1" dirty="0">
                <a:solidFill>
                  <a:srgbClr val="C00000"/>
                </a:solidFill>
                <a:latin typeface="+mj-lt"/>
              </a:rPr>
              <a:t>A:</a:t>
            </a:r>
          </a:p>
        </p:txBody>
      </p:sp>
      <p:grpSp>
        <p:nvGrpSpPr>
          <p:cNvPr id="5" name="Group 57"/>
          <p:cNvGrpSpPr/>
          <p:nvPr/>
        </p:nvGrpSpPr>
        <p:grpSpPr>
          <a:xfrm>
            <a:off x="6400800" y="2667000"/>
            <a:ext cx="1219200" cy="533400"/>
            <a:chOff x="6400800" y="2667000"/>
            <a:chExt cx="1219200" cy="533400"/>
          </a:xfrm>
        </p:grpSpPr>
        <p:sp>
          <p:nvSpPr>
            <p:cNvPr id="39" name="Rounded Rectangular Callout 38"/>
            <p:cNvSpPr/>
            <p:nvPr/>
          </p:nvSpPr>
          <p:spPr>
            <a:xfrm>
              <a:off x="6400800" y="2667000"/>
              <a:ext cx="1219200" cy="533400"/>
            </a:xfrm>
            <a:prstGeom prst="wedgeRoundRectCallout">
              <a:avLst>
                <a:gd name="adj1" fmla="val -227327"/>
                <a:gd name="adj2" fmla="val 9144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6"/>
            <p:cNvGrpSpPr/>
            <p:nvPr/>
          </p:nvGrpSpPr>
          <p:grpSpPr>
            <a:xfrm>
              <a:off x="6400800" y="2667000"/>
              <a:ext cx="1219200" cy="533400"/>
              <a:chOff x="6400800" y="2667000"/>
              <a:chExt cx="1219200" cy="533400"/>
            </a:xfrm>
          </p:grpSpPr>
          <p:sp>
            <p:nvSpPr>
              <p:cNvPr id="38" name="Rounded Rectangular Callout 37"/>
              <p:cNvSpPr/>
              <p:nvPr/>
            </p:nvSpPr>
            <p:spPr>
              <a:xfrm>
                <a:off x="6400800" y="2667000"/>
                <a:ext cx="1219200" cy="533400"/>
              </a:xfrm>
              <a:prstGeom prst="wedgeRoundRectCallout">
                <a:avLst>
                  <a:gd name="adj1" fmla="val -161093"/>
                  <a:gd name="adj2" fmla="val 100347"/>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6400800" y="2743200"/>
                <a:ext cx="1143000" cy="369332"/>
              </a:xfrm>
              <a:prstGeom prst="rect">
                <a:avLst/>
              </a:prstGeom>
              <a:noFill/>
            </p:spPr>
            <p:txBody>
              <a:bodyPr wrap="square" rtlCol="0">
                <a:spAutoFit/>
              </a:bodyPr>
              <a:lstStyle/>
              <a:p>
                <a:r>
                  <a:rPr lang="en-US" dirty="0"/>
                  <a:t>duplicate!</a:t>
                </a:r>
              </a:p>
            </p:txBody>
          </p:sp>
        </p:grpSp>
      </p:grpSp>
      <p:grpSp>
        <p:nvGrpSpPr>
          <p:cNvPr id="8" name="Group 58"/>
          <p:cNvGrpSpPr/>
          <p:nvPr/>
        </p:nvGrpSpPr>
        <p:grpSpPr>
          <a:xfrm>
            <a:off x="1295400" y="4419600"/>
            <a:ext cx="4343400" cy="381000"/>
            <a:chOff x="1295400" y="4419600"/>
            <a:chExt cx="4343400" cy="381000"/>
          </a:xfrm>
        </p:grpSpPr>
        <p:sp>
          <p:nvSpPr>
            <p:cNvPr id="41" name="Rectangle 40"/>
            <p:cNvSpPr/>
            <p:nvPr/>
          </p:nvSpPr>
          <p:spPr>
            <a:xfrm>
              <a:off x="3352800" y="44196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3733800" y="4419600"/>
              <a:ext cx="381000" cy="381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4114800" y="4419600"/>
              <a:ext cx="381000" cy="381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4495800" y="44196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4876800" y="44196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257800" y="44196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3429000" y="4419600"/>
              <a:ext cx="304800" cy="369332"/>
            </a:xfrm>
            <a:prstGeom prst="rect">
              <a:avLst/>
            </a:prstGeom>
            <a:noFill/>
          </p:spPr>
          <p:txBody>
            <a:bodyPr wrap="square" rtlCol="0">
              <a:spAutoFit/>
            </a:bodyPr>
            <a:lstStyle/>
            <a:p>
              <a:r>
                <a:rPr lang="en-US" dirty="0"/>
                <a:t>3</a:t>
              </a:r>
            </a:p>
          </p:txBody>
        </p:sp>
        <p:sp>
          <p:nvSpPr>
            <p:cNvPr id="48" name="TextBox 47"/>
            <p:cNvSpPr txBox="1"/>
            <p:nvPr/>
          </p:nvSpPr>
          <p:spPr>
            <a:xfrm>
              <a:off x="3733800" y="4419600"/>
              <a:ext cx="304800" cy="369332"/>
            </a:xfrm>
            <a:prstGeom prst="rect">
              <a:avLst/>
            </a:prstGeom>
            <a:noFill/>
          </p:spPr>
          <p:txBody>
            <a:bodyPr wrap="square" rtlCol="0">
              <a:spAutoFit/>
            </a:bodyPr>
            <a:lstStyle/>
            <a:p>
              <a:r>
                <a:rPr lang="en-US" dirty="0"/>
                <a:t>5</a:t>
              </a:r>
            </a:p>
          </p:txBody>
        </p:sp>
        <p:sp>
          <p:nvSpPr>
            <p:cNvPr id="49" name="TextBox 48"/>
            <p:cNvSpPr txBox="1"/>
            <p:nvPr/>
          </p:nvSpPr>
          <p:spPr>
            <a:xfrm>
              <a:off x="4114800" y="4419600"/>
              <a:ext cx="304800" cy="369332"/>
            </a:xfrm>
            <a:prstGeom prst="rect">
              <a:avLst/>
            </a:prstGeom>
            <a:noFill/>
          </p:spPr>
          <p:txBody>
            <a:bodyPr wrap="square" rtlCol="0">
              <a:spAutoFit/>
            </a:bodyPr>
            <a:lstStyle/>
            <a:p>
              <a:r>
                <a:rPr lang="en-US" dirty="0"/>
                <a:t>5</a:t>
              </a:r>
            </a:p>
          </p:txBody>
        </p:sp>
        <p:sp>
          <p:nvSpPr>
            <p:cNvPr id="50" name="TextBox 49"/>
            <p:cNvSpPr txBox="1"/>
            <p:nvPr/>
          </p:nvSpPr>
          <p:spPr>
            <a:xfrm>
              <a:off x="4495800" y="4419600"/>
              <a:ext cx="304800" cy="369332"/>
            </a:xfrm>
            <a:prstGeom prst="rect">
              <a:avLst/>
            </a:prstGeom>
            <a:noFill/>
          </p:spPr>
          <p:txBody>
            <a:bodyPr wrap="square" rtlCol="0">
              <a:spAutoFit/>
            </a:bodyPr>
            <a:lstStyle/>
            <a:p>
              <a:r>
                <a:rPr lang="en-US" dirty="0"/>
                <a:t>6</a:t>
              </a:r>
            </a:p>
          </p:txBody>
        </p:sp>
        <p:sp>
          <p:nvSpPr>
            <p:cNvPr id="51" name="TextBox 50"/>
            <p:cNvSpPr txBox="1"/>
            <p:nvPr/>
          </p:nvSpPr>
          <p:spPr>
            <a:xfrm>
              <a:off x="4876800" y="4419600"/>
              <a:ext cx="304800" cy="369332"/>
            </a:xfrm>
            <a:prstGeom prst="rect">
              <a:avLst/>
            </a:prstGeom>
            <a:noFill/>
          </p:spPr>
          <p:txBody>
            <a:bodyPr wrap="square" rtlCol="0">
              <a:spAutoFit/>
            </a:bodyPr>
            <a:lstStyle/>
            <a:p>
              <a:r>
                <a:rPr lang="en-US" dirty="0"/>
                <a:t>8</a:t>
              </a:r>
            </a:p>
          </p:txBody>
        </p:sp>
        <p:sp>
          <p:nvSpPr>
            <p:cNvPr id="52" name="TextBox 51"/>
            <p:cNvSpPr txBox="1"/>
            <p:nvPr/>
          </p:nvSpPr>
          <p:spPr>
            <a:xfrm>
              <a:off x="5257800" y="4419600"/>
              <a:ext cx="304800" cy="369332"/>
            </a:xfrm>
            <a:prstGeom prst="rect">
              <a:avLst/>
            </a:prstGeom>
            <a:noFill/>
          </p:spPr>
          <p:txBody>
            <a:bodyPr wrap="square" rtlCol="0">
              <a:spAutoFit/>
            </a:bodyPr>
            <a:lstStyle/>
            <a:p>
              <a:r>
                <a:rPr lang="en-US" dirty="0"/>
                <a:t>9</a:t>
              </a:r>
            </a:p>
          </p:txBody>
        </p:sp>
        <p:sp>
          <p:nvSpPr>
            <p:cNvPr id="53" name="TextBox 52"/>
            <p:cNvSpPr txBox="1"/>
            <p:nvPr/>
          </p:nvSpPr>
          <p:spPr>
            <a:xfrm>
              <a:off x="1295400" y="4419600"/>
              <a:ext cx="1752600" cy="369332"/>
            </a:xfrm>
            <a:prstGeom prst="rect">
              <a:avLst/>
            </a:prstGeom>
            <a:noFill/>
          </p:spPr>
          <p:txBody>
            <a:bodyPr wrap="square" rtlCol="0">
              <a:spAutoFit/>
            </a:bodyPr>
            <a:lstStyle/>
            <a:p>
              <a:r>
                <a:rPr lang="en-US" b="1" dirty="0">
                  <a:solidFill>
                    <a:srgbClr val="C00000"/>
                  </a:solidFill>
                  <a:latin typeface="+mj-lt"/>
                </a:rPr>
                <a:t>After sorting:</a:t>
              </a:r>
              <a:endParaRPr lang="en-US" b="1" i="1" dirty="0">
                <a:solidFill>
                  <a:srgbClr val="C00000"/>
                </a:solidFill>
                <a:latin typeface="+mj-lt"/>
              </a:endParaRPr>
            </a:p>
          </p:txBody>
        </p:sp>
      </p:grpSp>
      <p:grpSp>
        <p:nvGrpSpPr>
          <p:cNvPr id="9" name="Group 59"/>
          <p:cNvGrpSpPr/>
          <p:nvPr/>
        </p:nvGrpSpPr>
        <p:grpSpPr>
          <a:xfrm>
            <a:off x="6324600" y="3429000"/>
            <a:ext cx="2286000" cy="762000"/>
            <a:chOff x="6324600" y="3429000"/>
            <a:chExt cx="2286000" cy="762000"/>
          </a:xfrm>
        </p:grpSpPr>
        <p:sp>
          <p:nvSpPr>
            <p:cNvPr id="54" name="Rounded Rectangular Callout 53"/>
            <p:cNvSpPr/>
            <p:nvPr/>
          </p:nvSpPr>
          <p:spPr>
            <a:xfrm>
              <a:off x="6324600" y="3429000"/>
              <a:ext cx="2057400" cy="762000"/>
            </a:xfrm>
            <a:prstGeom prst="wedgeRoundRectCallout">
              <a:avLst>
                <a:gd name="adj1" fmla="val -156119"/>
                <a:gd name="adj2" fmla="val 776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6400800" y="3429000"/>
              <a:ext cx="2209800" cy="646331"/>
            </a:xfrm>
            <a:prstGeom prst="rect">
              <a:avLst/>
            </a:prstGeom>
            <a:noFill/>
          </p:spPr>
          <p:txBody>
            <a:bodyPr wrap="square" rtlCol="0">
              <a:spAutoFit/>
            </a:bodyPr>
            <a:lstStyle/>
            <a:p>
              <a:r>
                <a:rPr lang="en-US" dirty="0"/>
                <a:t>Duplicate elements are adjacent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dirty="0"/>
              <a:t>Question 6</a:t>
            </a:r>
          </a:p>
        </p:txBody>
      </p:sp>
      <p:sp>
        <p:nvSpPr>
          <p:cNvPr id="3" name="Content Placeholder 2"/>
          <p:cNvSpPr>
            <a:spLocks noGrp="1"/>
          </p:cNvSpPr>
          <p:nvPr>
            <p:ph idx="1"/>
          </p:nvPr>
        </p:nvSpPr>
        <p:spPr>
          <a:xfrm>
            <a:off x="457200" y="1066800"/>
            <a:ext cx="8229600" cy="5059363"/>
          </a:xfrm>
        </p:spPr>
        <p:txBody>
          <a:bodyPr>
            <a:normAutofit lnSpcReduction="10000"/>
          </a:bodyPr>
          <a:lstStyle/>
          <a:p>
            <a:pPr lvl="0">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Bool</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ExistDuplicate</a:t>
            </a:r>
            <a:r>
              <a:rPr lang="en-US" sz="1600" b="1" dirty="0">
                <a:latin typeface="Courier New" pitchFamily="49" charset="0"/>
                <a:cs typeface="Courier New" pitchFamily="49" charset="0"/>
              </a:rPr>
              <a:t>(</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A[],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n) {</a:t>
            </a:r>
          </a:p>
          <a:p>
            <a:pPr lvl="0">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MergeSort</a:t>
            </a:r>
            <a:r>
              <a:rPr lang="en-US" sz="1600" b="1" dirty="0">
                <a:latin typeface="Courier New" pitchFamily="49" charset="0"/>
                <a:cs typeface="Courier New" pitchFamily="49" charset="0"/>
              </a:rPr>
              <a:t>(A, n); // or </a:t>
            </a:r>
            <a:r>
              <a:rPr lang="en-US" sz="1600" b="1" dirty="0" err="1">
                <a:latin typeface="Courier New" pitchFamily="49" charset="0"/>
                <a:cs typeface="Courier New" pitchFamily="49" charset="0"/>
              </a:rPr>
              <a:t>Heapsort</a:t>
            </a:r>
            <a:endParaRPr lang="en-US" sz="1600" b="1" dirty="0">
              <a:latin typeface="Courier New" pitchFamily="49" charset="0"/>
              <a:cs typeface="Courier New" pitchFamily="49" charset="0"/>
            </a:endParaRPr>
          </a:p>
          <a:p>
            <a:pPr lvl="0">
              <a:buNone/>
            </a:pPr>
            <a:r>
              <a:rPr lang="en-US" sz="1600" b="1" dirty="0">
                <a:latin typeface="Courier New" pitchFamily="49" charset="0"/>
                <a:cs typeface="Courier New" pitchFamily="49" charset="0"/>
              </a:rPr>
              <a:t>		for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i</a:t>
            </a:r>
            <a:r>
              <a:rPr lang="en-US" sz="1600" b="1" dirty="0">
                <a:latin typeface="Courier New" pitchFamily="49" charset="0"/>
                <a:cs typeface="Courier New" pitchFamily="49" charset="0"/>
              </a:rPr>
              <a:t> = 1; </a:t>
            </a:r>
            <a:r>
              <a:rPr lang="en-US" sz="1600" b="1" dirty="0" err="1">
                <a:latin typeface="Courier New" pitchFamily="49" charset="0"/>
                <a:cs typeface="Courier New" pitchFamily="49" charset="0"/>
              </a:rPr>
              <a:t>i</a:t>
            </a:r>
            <a:r>
              <a:rPr lang="en-US" sz="1600" b="1" dirty="0">
                <a:latin typeface="Courier New" pitchFamily="49" charset="0"/>
                <a:cs typeface="Courier New" pitchFamily="49" charset="0"/>
              </a:rPr>
              <a:t> &lt; n; </a:t>
            </a:r>
            <a:r>
              <a:rPr lang="en-US" sz="1600" b="1" dirty="0" err="1">
                <a:latin typeface="Courier New" pitchFamily="49" charset="0"/>
                <a:cs typeface="Courier New" pitchFamily="49" charset="0"/>
              </a:rPr>
              <a:t>i</a:t>
            </a:r>
            <a:r>
              <a:rPr lang="en-US" sz="1600" b="1" dirty="0">
                <a:latin typeface="Courier New" pitchFamily="49" charset="0"/>
                <a:cs typeface="Courier New" pitchFamily="49" charset="0"/>
              </a:rPr>
              <a:t>++) {</a:t>
            </a:r>
          </a:p>
          <a:p>
            <a:pPr lvl="0">
              <a:buNone/>
            </a:pPr>
            <a:r>
              <a:rPr lang="en-US" sz="1600" b="1" dirty="0">
                <a:latin typeface="Courier New" pitchFamily="49" charset="0"/>
                <a:cs typeface="Courier New" pitchFamily="49" charset="0"/>
              </a:rPr>
              <a:t>			if (A[</a:t>
            </a:r>
            <a:r>
              <a:rPr lang="en-US" sz="1600" b="1" dirty="0" err="1">
                <a:latin typeface="Courier New" pitchFamily="49" charset="0"/>
                <a:cs typeface="Courier New" pitchFamily="49" charset="0"/>
              </a:rPr>
              <a:t>i</a:t>
            </a:r>
            <a:r>
              <a:rPr lang="en-US" sz="1600" b="1" dirty="0">
                <a:latin typeface="Courier New" pitchFamily="49" charset="0"/>
                <a:cs typeface="Courier New" pitchFamily="49" charset="0"/>
              </a:rPr>
              <a:t>] == A[i-1])</a:t>
            </a:r>
          </a:p>
          <a:p>
            <a:pPr lvl="0">
              <a:buNone/>
            </a:pPr>
            <a:r>
              <a:rPr lang="en-US" sz="1600" b="1" dirty="0">
                <a:latin typeface="Courier New" pitchFamily="49" charset="0"/>
                <a:cs typeface="Courier New" pitchFamily="49" charset="0"/>
              </a:rPr>
              <a:t>				return true;</a:t>
            </a:r>
          </a:p>
          <a:p>
            <a:pPr lvl="0">
              <a:buNone/>
            </a:pPr>
            <a:r>
              <a:rPr lang="en-US" sz="1600" b="1" dirty="0">
                <a:latin typeface="Courier New" pitchFamily="49" charset="0"/>
                <a:cs typeface="Courier New" pitchFamily="49" charset="0"/>
              </a:rPr>
              <a:t>		}</a:t>
            </a:r>
          </a:p>
          <a:p>
            <a:pPr lvl="0">
              <a:buNone/>
            </a:pPr>
            <a:r>
              <a:rPr lang="en-US" sz="1600" b="1" dirty="0">
                <a:latin typeface="Courier New" pitchFamily="49" charset="0"/>
                <a:cs typeface="Courier New" pitchFamily="49" charset="0"/>
              </a:rPr>
              <a:t>		return false;</a:t>
            </a:r>
          </a:p>
          <a:p>
            <a:pPr lvl="0">
              <a:buNone/>
            </a:pPr>
            <a:r>
              <a:rPr lang="en-US" sz="1600" b="1" dirty="0">
                <a:latin typeface="Courier New" pitchFamily="49" charset="0"/>
                <a:cs typeface="Courier New" pitchFamily="49" charset="0"/>
              </a:rPr>
              <a:t>	}</a:t>
            </a:r>
          </a:p>
          <a:p>
            <a:pPr lvl="0"/>
            <a:endParaRPr lang="en-US" sz="2400" dirty="0">
              <a:solidFill>
                <a:srgbClr val="0000FF"/>
              </a:solidFill>
            </a:endParaRPr>
          </a:p>
          <a:p>
            <a:pPr lvl="0"/>
            <a:r>
              <a:rPr lang="en-US" sz="2400" dirty="0">
                <a:solidFill>
                  <a:srgbClr val="0000FF"/>
                </a:solidFill>
              </a:rPr>
              <a:t>(b) What is the asymptotic order of the running time of your method in the worst case? Justify your answer.</a:t>
            </a:r>
          </a:p>
          <a:p>
            <a:r>
              <a:rPr lang="en-US" sz="2400" b="1" dirty="0" err="1"/>
              <a:t>Ans</a:t>
            </a:r>
            <a:r>
              <a:rPr lang="en-US" sz="2400" dirty="0"/>
              <a:t>: The worst-case time for sorting is </a:t>
            </a:r>
            <a:r>
              <a:rPr lang="en-US" sz="2400" dirty="0">
                <a:sym typeface="Symbol"/>
              </a:rPr>
              <a:t>(</a:t>
            </a:r>
            <a:r>
              <a:rPr lang="en-US" sz="2400" i="1" dirty="0" err="1">
                <a:sym typeface="Symbol"/>
              </a:rPr>
              <a:t>n</a:t>
            </a:r>
            <a:r>
              <a:rPr lang="en-US" sz="2400" dirty="0" err="1">
                <a:sym typeface="Symbol"/>
              </a:rPr>
              <a:t>lg</a:t>
            </a:r>
            <a:r>
              <a:rPr lang="en-US" sz="2400" i="1" dirty="0" err="1">
                <a:sym typeface="Symbol"/>
              </a:rPr>
              <a:t>n</a:t>
            </a:r>
            <a:r>
              <a:rPr lang="en-US" sz="2400" dirty="0">
                <a:sym typeface="Symbol"/>
              </a:rPr>
              <a:t>) using </a:t>
            </a:r>
            <a:r>
              <a:rPr lang="en-US" sz="2400" dirty="0" err="1">
                <a:sym typeface="Symbol"/>
              </a:rPr>
              <a:t>Mergesort</a:t>
            </a:r>
            <a:r>
              <a:rPr lang="en-US" sz="2400" dirty="0">
                <a:sym typeface="Symbol"/>
              </a:rPr>
              <a:t> (or </a:t>
            </a:r>
            <a:r>
              <a:rPr lang="en-US" sz="2400" dirty="0" err="1">
                <a:sym typeface="Symbol"/>
              </a:rPr>
              <a:t>Heapsort</a:t>
            </a:r>
            <a:r>
              <a:rPr lang="en-US" sz="2400" dirty="0">
                <a:sym typeface="Symbol"/>
              </a:rPr>
              <a:t>). The time for post-scan is (</a:t>
            </a:r>
            <a:r>
              <a:rPr lang="en-US" sz="2400" i="1" dirty="0">
                <a:sym typeface="Symbol"/>
              </a:rPr>
              <a:t>n</a:t>
            </a:r>
            <a:r>
              <a:rPr lang="en-US" sz="2400" dirty="0">
                <a:sym typeface="Symbol"/>
              </a:rPr>
              <a:t>). Therefore, the overall worst-case running time of the algorithm is (</a:t>
            </a:r>
            <a:r>
              <a:rPr lang="en-US" sz="2400" i="1" dirty="0" err="1">
                <a:sym typeface="Symbol"/>
              </a:rPr>
              <a:t>n</a:t>
            </a:r>
            <a:r>
              <a:rPr lang="en-US" sz="2400" dirty="0" err="1">
                <a:sym typeface="Symbol"/>
              </a:rPr>
              <a:t>lg</a:t>
            </a:r>
            <a:r>
              <a:rPr lang="en-US" sz="2400" i="1" dirty="0" err="1">
                <a:sym typeface="Symbol"/>
              </a:rPr>
              <a:t>n</a:t>
            </a:r>
            <a:r>
              <a:rPr lang="en-US" sz="2400" dirty="0">
                <a:sym typeface="Symbol"/>
              </a:rPr>
              <a: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a:t>Question 6</a:t>
            </a:r>
          </a:p>
        </p:txBody>
      </p:sp>
      <p:sp>
        <p:nvSpPr>
          <p:cNvPr id="3" name="Content Placeholder 2"/>
          <p:cNvSpPr>
            <a:spLocks noGrp="1"/>
          </p:cNvSpPr>
          <p:nvPr>
            <p:ph idx="1"/>
          </p:nvPr>
        </p:nvSpPr>
        <p:spPr>
          <a:xfrm>
            <a:off x="381000" y="1219200"/>
            <a:ext cx="4876800" cy="5029200"/>
          </a:xfrm>
        </p:spPr>
        <p:txBody>
          <a:bodyPr>
            <a:normAutofit fontScale="92500" lnSpcReduction="10000"/>
          </a:bodyPr>
          <a:lstStyle/>
          <a:p>
            <a:pPr marL="457200" lvl="0" indent="-457200">
              <a:buAutoNum type="alphaLcParenBoth" startAt="3"/>
            </a:pPr>
            <a:r>
              <a:rPr lang="en-US" sz="2000" dirty="0">
                <a:solidFill>
                  <a:srgbClr val="0000FF"/>
                </a:solidFill>
              </a:rPr>
              <a:t>Suppose we know the </a:t>
            </a:r>
            <a:r>
              <a:rPr lang="en-US" sz="2000" i="1" dirty="0">
                <a:solidFill>
                  <a:srgbClr val="0000FF"/>
                </a:solidFill>
              </a:rPr>
              <a:t>n</a:t>
            </a:r>
            <a:r>
              <a:rPr lang="en-US" sz="2000" dirty="0">
                <a:solidFill>
                  <a:srgbClr val="0000FF"/>
                </a:solidFill>
              </a:rPr>
              <a:t> elements are integers from the range 1, …, </a:t>
            </a:r>
            <a:r>
              <a:rPr lang="en-US" sz="2000" i="1" dirty="0">
                <a:solidFill>
                  <a:srgbClr val="0000FF"/>
                </a:solidFill>
              </a:rPr>
              <a:t>2n</a:t>
            </a:r>
            <a:r>
              <a:rPr lang="en-US" sz="2000" dirty="0">
                <a:solidFill>
                  <a:srgbClr val="0000FF"/>
                </a:solidFill>
              </a:rPr>
              <a:t>, so other operations besides comparing keys may be done.  Give an algorithm for the same problem that is specialized to use this information.  Tell the asymptotic order of the worst case running time for this solution.  It should be of lower order than your solution for part (a).</a:t>
            </a:r>
          </a:p>
          <a:p>
            <a:pPr marL="457200" lvl="0" indent="-457200">
              <a:buNone/>
            </a:pPr>
            <a:endParaRPr lang="en-US" sz="2000" dirty="0">
              <a:solidFill>
                <a:srgbClr val="0000FF"/>
              </a:solidFill>
            </a:endParaRPr>
          </a:p>
          <a:p>
            <a:r>
              <a:rPr lang="en-US" sz="2000" b="1" dirty="0" err="1"/>
              <a:t>Ans</a:t>
            </a:r>
            <a:r>
              <a:rPr lang="en-US" sz="2000" dirty="0"/>
              <a:t>: Simply count how many have each key value, using an array of </a:t>
            </a:r>
            <a:r>
              <a:rPr lang="en-US" sz="2000" dirty="0" smtClean="0"/>
              <a:t>2</a:t>
            </a:r>
            <a:r>
              <a:rPr lang="en-US" sz="2000" i="1" dirty="0" smtClean="0"/>
              <a:t>n</a:t>
            </a:r>
            <a:r>
              <a:rPr lang="en-US" sz="2000" dirty="0" smtClean="0"/>
              <a:t> </a:t>
            </a:r>
            <a:r>
              <a:rPr lang="en-US" sz="2000" dirty="0"/>
              <a:t>entries to store the counts.</a:t>
            </a:r>
          </a:p>
          <a:p>
            <a:r>
              <a:rPr lang="en-US" sz="2000" dirty="0"/>
              <a:t>We can quit as soon as any count becomes 2.</a:t>
            </a:r>
          </a:p>
          <a:p>
            <a:r>
              <a:rPr lang="en-US" sz="2000" dirty="0"/>
              <a:t>Since we scan the </a:t>
            </a:r>
            <a:r>
              <a:rPr lang="en-US" sz="2000" i="1" dirty="0"/>
              <a:t>n</a:t>
            </a:r>
            <a:r>
              <a:rPr lang="en-US" sz="2000" dirty="0"/>
              <a:t>-elements array once, and each element takes constant time to count, the overall worst-case running time is </a:t>
            </a:r>
            <a:r>
              <a:rPr lang="en-US" sz="2000" dirty="0">
                <a:sym typeface="Symbol"/>
              </a:rPr>
              <a:t></a:t>
            </a:r>
            <a:r>
              <a:rPr lang="en-US" sz="2000" dirty="0"/>
              <a:t>(</a:t>
            </a:r>
            <a:r>
              <a:rPr lang="en-US" sz="2000" i="1" dirty="0"/>
              <a:t>n</a:t>
            </a:r>
            <a:r>
              <a:rPr lang="en-US" sz="2000" dirty="0"/>
              <a:t>).</a:t>
            </a:r>
          </a:p>
        </p:txBody>
      </p:sp>
      <p:grpSp>
        <p:nvGrpSpPr>
          <p:cNvPr id="4" name="Group 89"/>
          <p:cNvGrpSpPr/>
          <p:nvPr/>
        </p:nvGrpSpPr>
        <p:grpSpPr>
          <a:xfrm>
            <a:off x="5791200" y="1066800"/>
            <a:ext cx="3124200" cy="5322332"/>
            <a:chOff x="5791200" y="1295400"/>
            <a:chExt cx="3124200" cy="5322332"/>
          </a:xfrm>
        </p:grpSpPr>
        <p:grpSp>
          <p:nvGrpSpPr>
            <p:cNvPr id="57" name="Group 3"/>
            <p:cNvGrpSpPr/>
            <p:nvPr/>
          </p:nvGrpSpPr>
          <p:grpSpPr>
            <a:xfrm>
              <a:off x="5791200" y="1676400"/>
              <a:ext cx="2286000" cy="381000"/>
              <a:chOff x="3276600" y="3505200"/>
              <a:chExt cx="2286000" cy="381000"/>
            </a:xfrm>
          </p:grpSpPr>
          <p:sp>
            <p:nvSpPr>
              <p:cNvPr id="5" name="Rectangle 4"/>
              <p:cNvSpPr/>
              <p:nvPr/>
            </p:nvSpPr>
            <p:spPr>
              <a:xfrm>
                <a:off x="3276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657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038600" y="3505200"/>
                <a:ext cx="381000" cy="381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419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800600" y="3505200"/>
                <a:ext cx="381000" cy="3810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181600" y="3505200"/>
                <a:ext cx="3810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352800" y="3505200"/>
                <a:ext cx="304800" cy="369332"/>
              </a:xfrm>
              <a:prstGeom prst="rect">
                <a:avLst/>
              </a:prstGeom>
              <a:noFill/>
            </p:spPr>
            <p:txBody>
              <a:bodyPr wrap="square" rtlCol="0">
                <a:spAutoFit/>
              </a:bodyPr>
              <a:lstStyle/>
              <a:p>
                <a:r>
                  <a:rPr lang="en-US" dirty="0"/>
                  <a:t>6</a:t>
                </a:r>
              </a:p>
            </p:txBody>
          </p:sp>
          <p:sp>
            <p:nvSpPr>
              <p:cNvPr id="12" name="TextBox 11"/>
              <p:cNvSpPr txBox="1"/>
              <p:nvPr/>
            </p:nvSpPr>
            <p:spPr>
              <a:xfrm>
                <a:off x="3657600" y="3505200"/>
                <a:ext cx="304800" cy="369332"/>
              </a:xfrm>
              <a:prstGeom prst="rect">
                <a:avLst/>
              </a:prstGeom>
              <a:noFill/>
            </p:spPr>
            <p:txBody>
              <a:bodyPr wrap="square" rtlCol="0">
                <a:spAutoFit/>
              </a:bodyPr>
              <a:lstStyle/>
              <a:p>
                <a:r>
                  <a:rPr lang="en-US" dirty="0"/>
                  <a:t>9</a:t>
                </a:r>
              </a:p>
            </p:txBody>
          </p:sp>
          <p:sp>
            <p:nvSpPr>
              <p:cNvPr id="13" name="TextBox 12"/>
              <p:cNvSpPr txBox="1"/>
              <p:nvPr/>
            </p:nvSpPr>
            <p:spPr>
              <a:xfrm>
                <a:off x="4038600" y="3505200"/>
                <a:ext cx="304800" cy="369332"/>
              </a:xfrm>
              <a:prstGeom prst="rect">
                <a:avLst/>
              </a:prstGeom>
              <a:noFill/>
            </p:spPr>
            <p:txBody>
              <a:bodyPr wrap="square" rtlCol="0">
                <a:spAutoFit/>
              </a:bodyPr>
              <a:lstStyle/>
              <a:p>
                <a:r>
                  <a:rPr lang="en-US" dirty="0"/>
                  <a:t>5</a:t>
                </a:r>
              </a:p>
            </p:txBody>
          </p:sp>
          <p:sp>
            <p:nvSpPr>
              <p:cNvPr id="14" name="TextBox 13"/>
              <p:cNvSpPr txBox="1"/>
              <p:nvPr/>
            </p:nvSpPr>
            <p:spPr>
              <a:xfrm>
                <a:off x="4419600" y="3505200"/>
                <a:ext cx="304800" cy="369332"/>
              </a:xfrm>
              <a:prstGeom prst="rect">
                <a:avLst/>
              </a:prstGeom>
              <a:noFill/>
            </p:spPr>
            <p:txBody>
              <a:bodyPr wrap="square" rtlCol="0">
                <a:spAutoFit/>
              </a:bodyPr>
              <a:lstStyle/>
              <a:p>
                <a:r>
                  <a:rPr lang="en-US" dirty="0"/>
                  <a:t>3</a:t>
                </a:r>
              </a:p>
            </p:txBody>
          </p:sp>
          <p:sp>
            <p:nvSpPr>
              <p:cNvPr id="15" name="TextBox 14"/>
              <p:cNvSpPr txBox="1"/>
              <p:nvPr/>
            </p:nvSpPr>
            <p:spPr>
              <a:xfrm>
                <a:off x="4800600" y="3505200"/>
                <a:ext cx="304800" cy="369332"/>
              </a:xfrm>
              <a:prstGeom prst="rect">
                <a:avLst/>
              </a:prstGeom>
              <a:noFill/>
            </p:spPr>
            <p:txBody>
              <a:bodyPr wrap="square" rtlCol="0">
                <a:spAutoFit/>
              </a:bodyPr>
              <a:lstStyle/>
              <a:p>
                <a:r>
                  <a:rPr lang="en-US" dirty="0"/>
                  <a:t>5</a:t>
                </a:r>
              </a:p>
            </p:txBody>
          </p:sp>
          <p:sp>
            <p:nvSpPr>
              <p:cNvPr id="16" name="TextBox 15"/>
              <p:cNvSpPr txBox="1"/>
              <p:nvPr/>
            </p:nvSpPr>
            <p:spPr>
              <a:xfrm>
                <a:off x="5181600" y="3505200"/>
                <a:ext cx="304800" cy="369332"/>
              </a:xfrm>
              <a:prstGeom prst="rect">
                <a:avLst/>
              </a:prstGeom>
              <a:noFill/>
            </p:spPr>
            <p:txBody>
              <a:bodyPr wrap="square" rtlCol="0">
                <a:spAutoFit/>
              </a:bodyPr>
              <a:lstStyle/>
              <a:p>
                <a:r>
                  <a:rPr lang="en-US" dirty="0"/>
                  <a:t>8</a:t>
                </a:r>
              </a:p>
            </p:txBody>
          </p:sp>
        </p:grpSp>
        <p:sp>
          <p:nvSpPr>
            <p:cNvPr id="17" name="TextBox 16"/>
            <p:cNvSpPr txBox="1"/>
            <p:nvPr/>
          </p:nvSpPr>
          <p:spPr>
            <a:xfrm>
              <a:off x="6553200" y="1295400"/>
              <a:ext cx="1066800" cy="369332"/>
            </a:xfrm>
            <a:prstGeom prst="rect">
              <a:avLst/>
            </a:prstGeom>
            <a:noFill/>
          </p:spPr>
          <p:txBody>
            <a:bodyPr wrap="square" rtlCol="0">
              <a:spAutoFit/>
            </a:bodyPr>
            <a:lstStyle/>
            <a:p>
              <a:r>
                <a:rPr lang="en-US" i="1" dirty="0"/>
                <a:t>n</a:t>
              </a:r>
              <a:r>
                <a:rPr lang="en-US" dirty="0"/>
                <a:t> = 6</a:t>
              </a:r>
            </a:p>
          </p:txBody>
        </p:sp>
        <p:sp>
          <p:nvSpPr>
            <p:cNvPr id="21" name="Rectangle 20"/>
            <p:cNvSpPr/>
            <p:nvPr/>
          </p:nvSpPr>
          <p:spPr>
            <a:xfrm>
              <a:off x="6705600" y="28956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6248400" y="2895600"/>
              <a:ext cx="304800" cy="369332"/>
            </a:xfrm>
            <a:prstGeom prst="rect">
              <a:avLst/>
            </a:prstGeom>
            <a:noFill/>
          </p:spPr>
          <p:txBody>
            <a:bodyPr wrap="square" rtlCol="0">
              <a:spAutoFit/>
            </a:bodyPr>
            <a:lstStyle/>
            <a:p>
              <a:r>
                <a:rPr lang="en-US" dirty="0"/>
                <a:t>1</a:t>
              </a:r>
            </a:p>
          </p:txBody>
        </p:sp>
        <p:sp>
          <p:nvSpPr>
            <p:cNvPr id="23" name="TextBox 22"/>
            <p:cNvSpPr txBox="1"/>
            <p:nvPr/>
          </p:nvSpPr>
          <p:spPr>
            <a:xfrm>
              <a:off x="6781800" y="2895600"/>
              <a:ext cx="685800" cy="369332"/>
            </a:xfrm>
            <a:prstGeom prst="rect">
              <a:avLst/>
            </a:prstGeom>
            <a:noFill/>
          </p:spPr>
          <p:txBody>
            <a:bodyPr wrap="square" rtlCol="0">
              <a:spAutoFit/>
            </a:bodyPr>
            <a:lstStyle/>
            <a:p>
              <a:pPr algn="ctr"/>
              <a:r>
                <a:rPr lang="en-US" dirty="0"/>
                <a:t>0</a:t>
              </a:r>
            </a:p>
          </p:txBody>
        </p:sp>
        <p:sp>
          <p:nvSpPr>
            <p:cNvPr id="24" name="Rectangle 23"/>
            <p:cNvSpPr/>
            <p:nvPr/>
          </p:nvSpPr>
          <p:spPr>
            <a:xfrm>
              <a:off x="6705600" y="32004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6248400" y="3200400"/>
              <a:ext cx="304800" cy="369332"/>
            </a:xfrm>
            <a:prstGeom prst="rect">
              <a:avLst/>
            </a:prstGeom>
            <a:noFill/>
          </p:spPr>
          <p:txBody>
            <a:bodyPr wrap="square" rtlCol="0">
              <a:spAutoFit/>
            </a:bodyPr>
            <a:lstStyle/>
            <a:p>
              <a:r>
                <a:rPr lang="en-US" dirty="0"/>
                <a:t>2</a:t>
              </a:r>
            </a:p>
          </p:txBody>
        </p:sp>
        <p:sp>
          <p:nvSpPr>
            <p:cNvPr id="26" name="TextBox 25"/>
            <p:cNvSpPr txBox="1"/>
            <p:nvPr/>
          </p:nvSpPr>
          <p:spPr>
            <a:xfrm>
              <a:off x="6781800" y="3200400"/>
              <a:ext cx="685800" cy="369332"/>
            </a:xfrm>
            <a:prstGeom prst="rect">
              <a:avLst/>
            </a:prstGeom>
            <a:noFill/>
          </p:spPr>
          <p:txBody>
            <a:bodyPr wrap="square" rtlCol="0">
              <a:spAutoFit/>
            </a:bodyPr>
            <a:lstStyle/>
            <a:p>
              <a:pPr algn="ctr"/>
              <a:r>
                <a:rPr lang="en-US" dirty="0"/>
                <a:t>0</a:t>
              </a:r>
            </a:p>
          </p:txBody>
        </p:sp>
        <p:sp>
          <p:nvSpPr>
            <p:cNvPr id="27" name="Rectangle 26"/>
            <p:cNvSpPr/>
            <p:nvPr/>
          </p:nvSpPr>
          <p:spPr>
            <a:xfrm>
              <a:off x="6705600" y="35052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6248400" y="3505200"/>
              <a:ext cx="304800" cy="369332"/>
            </a:xfrm>
            <a:prstGeom prst="rect">
              <a:avLst/>
            </a:prstGeom>
            <a:noFill/>
          </p:spPr>
          <p:txBody>
            <a:bodyPr wrap="square" rtlCol="0">
              <a:spAutoFit/>
            </a:bodyPr>
            <a:lstStyle/>
            <a:p>
              <a:r>
                <a:rPr lang="en-US" dirty="0"/>
                <a:t>3</a:t>
              </a:r>
            </a:p>
          </p:txBody>
        </p:sp>
        <p:sp>
          <p:nvSpPr>
            <p:cNvPr id="29" name="TextBox 28"/>
            <p:cNvSpPr txBox="1"/>
            <p:nvPr/>
          </p:nvSpPr>
          <p:spPr>
            <a:xfrm>
              <a:off x="6781800" y="3505200"/>
              <a:ext cx="685800" cy="369332"/>
            </a:xfrm>
            <a:prstGeom prst="rect">
              <a:avLst/>
            </a:prstGeom>
            <a:noFill/>
          </p:spPr>
          <p:txBody>
            <a:bodyPr wrap="square" rtlCol="0">
              <a:spAutoFit/>
            </a:bodyPr>
            <a:lstStyle/>
            <a:p>
              <a:pPr algn="ctr"/>
              <a:r>
                <a:rPr lang="en-US" dirty="0"/>
                <a:t>1</a:t>
              </a:r>
            </a:p>
          </p:txBody>
        </p:sp>
        <p:sp>
          <p:nvSpPr>
            <p:cNvPr id="30" name="Rectangle 29"/>
            <p:cNvSpPr/>
            <p:nvPr/>
          </p:nvSpPr>
          <p:spPr>
            <a:xfrm>
              <a:off x="6705600" y="38100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248400" y="3810000"/>
              <a:ext cx="304800" cy="369332"/>
            </a:xfrm>
            <a:prstGeom prst="rect">
              <a:avLst/>
            </a:prstGeom>
            <a:noFill/>
          </p:spPr>
          <p:txBody>
            <a:bodyPr wrap="square" rtlCol="0">
              <a:spAutoFit/>
            </a:bodyPr>
            <a:lstStyle/>
            <a:p>
              <a:r>
                <a:rPr lang="en-US" dirty="0"/>
                <a:t>4</a:t>
              </a:r>
            </a:p>
          </p:txBody>
        </p:sp>
        <p:sp>
          <p:nvSpPr>
            <p:cNvPr id="32" name="TextBox 31"/>
            <p:cNvSpPr txBox="1"/>
            <p:nvPr/>
          </p:nvSpPr>
          <p:spPr>
            <a:xfrm>
              <a:off x="6781800" y="3810000"/>
              <a:ext cx="685800" cy="369332"/>
            </a:xfrm>
            <a:prstGeom prst="rect">
              <a:avLst/>
            </a:prstGeom>
            <a:noFill/>
          </p:spPr>
          <p:txBody>
            <a:bodyPr wrap="square" rtlCol="0">
              <a:spAutoFit/>
            </a:bodyPr>
            <a:lstStyle/>
            <a:p>
              <a:pPr algn="ctr"/>
              <a:r>
                <a:rPr lang="en-US" dirty="0"/>
                <a:t>0</a:t>
              </a:r>
            </a:p>
          </p:txBody>
        </p:sp>
        <p:sp>
          <p:nvSpPr>
            <p:cNvPr id="33" name="Rectangle 32"/>
            <p:cNvSpPr/>
            <p:nvPr/>
          </p:nvSpPr>
          <p:spPr>
            <a:xfrm>
              <a:off x="6705600" y="41148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6248400" y="4114800"/>
              <a:ext cx="304800" cy="369332"/>
            </a:xfrm>
            <a:prstGeom prst="rect">
              <a:avLst/>
            </a:prstGeom>
            <a:noFill/>
          </p:spPr>
          <p:txBody>
            <a:bodyPr wrap="square" rtlCol="0">
              <a:spAutoFit/>
            </a:bodyPr>
            <a:lstStyle/>
            <a:p>
              <a:r>
                <a:rPr lang="en-US" dirty="0"/>
                <a:t>5</a:t>
              </a:r>
            </a:p>
          </p:txBody>
        </p:sp>
        <p:sp>
          <p:nvSpPr>
            <p:cNvPr id="35" name="TextBox 34"/>
            <p:cNvSpPr txBox="1"/>
            <p:nvPr/>
          </p:nvSpPr>
          <p:spPr>
            <a:xfrm>
              <a:off x="6781800" y="4114800"/>
              <a:ext cx="685800" cy="369332"/>
            </a:xfrm>
            <a:prstGeom prst="rect">
              <a:avLst/>
            </a:prstGeom>
            <a:noFill/>
          </p:spPr>
          <p:txBody>
            <a:bodyPr wrap="square" rtlCol="0">
              <a:spAutoFit/>
            </a:bodyPr>
            <a:lstStyle/>
            <a:p>
              <a:pPr algn="ctr"/>
              <a:r>
                <a:rPr lang="en-US" dirty="0"/>
                <a:t>2</a:t>
              </a:r>
            </a:p>
          </p:txBody>
        </p:sp>
        <p:sp>
          <p:nvSpPr>
            <p:cNvPr id="36" name="Rectangle 35"/>
            <p:cNvSpPr/>
            <p:nvPr/>
          </p:nvSpPr>
          <p:spPr>
            <a:xfrm>
              <a:off x="6705600" y="44196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6248400" y="4419600"/>
              <a:ext cx="304800" cy="369332"/>
            </a:xfrm>
            <a:prstGeom prst="rect">
              <a:avLst/>
            </a:prstGeom>
            <a:noFill/>
          </p:spPr>
          <p:txBody>
            <a:bodyPr wrap="square" rtlCol="0">
              <a:spAutoFit/>
            </a:bodyPr>
            <a:lstStyle/>
            <a:p>
              <a:r>
                <a:rPr lang="en-US" dirty="0"/>
                <a:t>6</a:t>
              </a:r>
            </a:p>
          </p:txBody>
        </p:sp>
        <p:sp>
          <p:nvSpPr>
            <p:cNvPr id="38" name="TextBox 37"/>
            <p:cNvSpPr txBox="1"/>
            <p:nvPr/>
          </p:nvSpPr>
          <p:spPr>
            <a:xfrm>
              <a:off x="6781800" y="4419600"/>
              <a:ext cx="685800" cy="369332"/>
            </a:xfrm>
            <a:prstGeom prst="rect">
              <a:avLst/>
            </a:prstGeom>
            <a:noFill/>
          </p:spPr>
          <p:txBody>
            <a:bodyPr wrap="square" rtlCol="0">
              <a:spAutoFit/>
            </a:bodyPr>
            <a:lstStyle/>
            <a:p>
              <a:pPr algn="ctr"/>
              <a:r>
                <a:rPr lang="en-US" dirty="0"/>
                <a:t>1</a:t>
              </a:r>
            </a:p>
          </p:txBody>
        </p:sp>
        <p:sp>
          <p:nvSpPr>
            <p:cNvPr id="39" name="Rectangle 38"/>
            <p:cNvSpPr/>
            <p:nvPr/>
          </p:nvSpPr>
          <p:spPr>
            <a:xfrm>
              <a:off x="6705600" y="47244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6248400" y="4724400"/>
              <a:ext cx="304800" cy="369332"/>
            </a:xfrm>
            <a:prstGeom prst="rect">
              <a:avLst/>
            </a:prstGeom>
            <a:noFill/>
          </p:spPr>
          <p:txBody>
            <a:bodyPr wrap="square" rtlCol="0">
              <a:spAutoFit/>
            </a:bodyPr>
            <a:lstStyle/>
            <a:p>
              <a:r>
                <a:rPr lang="en-US" dirty="0"/>
                <a:t>7</a:t>
              </a:r>
            </a:p>
          </p:txBody>
        </p:sp>
        <p:sp>
          <p:nvSpPr>
            <p:cNvPr id="41" name="TextBox 40"/>
            <p:cNvSpPr txBox="1"/>
            <p:nvPr/>
          </p:nvSpPr>
          <p:spPr>
            <a:xfrm>
              <a:off x="6781800" y="4724400"/>
              <a:ext cx="685800" cy="369332"/>
            </a:xfrm>
            <a:prstGeom prst="rect">
              <a:avLst/>
            </a:prstGeom>
            <a:noFill/>
          </p:spPr>
          <p:txBody>
            <a:bodyPr wrap="square" rtlCol="0">
              <a:spAutoFit/>
            </a:bodyPr>
            <a:lstStyle/>
            <a:p>
              <a:pPr algn="ctr"/>
              <a:r>
                <a:rPr lang="en-US" dirty="0"/>
                <a:t>0</a:t>
              </a:r>
            </a:p>
          </p:txBody>
        </p:sp>
        <p:sp>
          <p:nvSpPr>
            <p:cNvPr id="42" name="Rectangle 41"/>
            <p:cNvSpPr/>
            <p:nvPr/>
          </p:nvSpPr>
          <p:spPr>
            <a:xfrm>
              <a:off x="6705600" y="50292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6248400" y="5029200"/>
              <a:ext cx="304800" cy="369332"/>
            </a:xfrm>
            <a:prstGeom prst="rect">
              <a:avLst/>
            </a:prstGeom>
            <a:noFill/>
          </p:spPr>
          <p:txBody>
            <a:bodyPr wrap="square" rtlCol="0">
              <a:spAutoFit/>
            </a:bodyPr>
            <a:lstStyle/>
            <a:p>
              <a:r>
                <a:rPr lang="en-US" dirty="0"/>
                <a:t>8</a:t>
              </a:r>
            </a:p>
          </p:txBody>
        </p:sp>
        <p:sp>
          <p:nvSpPr>
            <p:cNvPr id="44" name="TextBox 43"/>
            <p:cNvSpPr txBox="1"/>
            <p:nvPr/>
          </p:nvSpPr>
          <p:spPr>
            <a:xfrm>
              <a:off x="6781800" y="5029200"/>
              <a:ext cx="685800" cy="369332"/>
            </a:xfrm>
            <a:prstGeom prst="rect">
              <a:avLst/>
            </a:prstGeom>
            <a:noFill/>
          </p:spPr>
          <p:txBody>
            <a:bodyPr wrap="square" rtlCol="0">
              <a:spAutoFit/>
            </a:bodyPr>
            <a:lstStyle/>
            <a:p>
              <a:pPr algn="ctr"/>
              <a:r>
                <a:rPr lang="en-US" dirty="0"/>
                <a:t>1</a:t>
              </a:r>
            </a:p>
          </p:txBody>
        </p:sp>
        <p:sp>
          <p:nvSpPr>
            <p:cNvPr id="45" name="Rectangle 44"/>
            <p:cNvSpPr/>
            <p:nvPr/>
          </p:nvSpPr>
          <p:spPr>
            <a:xfrm>
              <a:off x="6705600" y="53340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248400" y="5334000"/>
              <a:ext cx="304800" cy="369332"/>
            </a:xfrm>
            <a:prstGeom prst="rect">
              <a:avLst/>
            </a:prstGeom>
            <a:noFill/>
          </p:spPr>
          <p:txBody>
            <a:bodyPr wrap="square" rtlCol="0">
              <a:spAutoFit/>
            </a:bodyPr>
            <a:lstStyle/>
            <a:p>
              <a:r>
                <a:rPr lang="en-US" dirty="0"/>
                <a:t>9</a:t>
              </a:r>
            </a:p>
          </p:txBody>
        </p:sp>
        <p:sp>
          <p:nvSpPr>
            <p:cNvPr id="47" name="TextBox 46"/>
            <p:cNvSpPr txBox="1"/>
            <p:nvPr/>
          </p:nvSpPr>
          <p:spPr>
            <a:xfrm>
              <a:off x="6781800" y="5334000"/>
              <a:ext cx="685800" cy="369332"/>
            </a:xfrm>
            <a:prstGeom prst="rect">
              <a:avLst/>
            </a:prstGeom>
            <a:noFill/>
          </p:spPr>
          <p:txBody>
            <a:bodyPr wrap="square" rtlCol="0">
              <a:spAutoFit/>
            </a:bodyPr>
            <a:lstStyle/>
            <a:p>
              <a:pPr algn="ctr"/>
              <a:r>
                <a:rPr lang="en-US" dirty="0"/>
                <a:t>1</a:t>
              </a:r>
            </a:p>
          </p:txBody>
        </p:sp>
        <p:sp>
          <p:nvSpPr>
            <p:cNvPr id="48" name="Rectangle 47"/>
            <p:cNvSpPr/>
            <p:nvPr/>
          </p:nvSpPr>
          <p:spPr>
            <a:xfrm>
              <a:off x="6705600" y="56388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6096000" y="5638800"/>
              <a:ext cx="457200" cy="369332"/>
            </a:xfrm>
            <a:prstGeom prst="rect">
              <a:avLst/>
            </a:prstGeom>
            <a:noFill/>
          </p:spPr>
          <p:txBody>
            <a:bodyPr wrap="square" rtlCol="0">
              <a:spAutoFit/>
            </a:bodyPr>
            <a:lstStyle/>
            <a:p>
              <a:r>
                <a:rPr lang="en-US" dirty="0"/>
                <a:t>10</a:t>
              </a:r>
            </a:p>
          </p:txBody>
        </p:sp>
        <p:sp>
          <p:nvSpPr>
            <p:cNvPr id="50" name="TextBox 49"/>
            <p:cNvSpPr txBox="1"/>
            <p:nvPr/>
          </p:nvSpPr>
          <p:spPr>
            <a:xfrm>
              <a:off x="6781800" y="5638800"/>
              <a:ext cx="685800" cy="369332"/>
            </a:xfrm>
            <a:prstGeom prst="rect">
              <a:avLst/>
            </a:prstGeom>
            <a:noFill/>
          </p:spPr>
          <p:txBody>
            <a:bodyPr wrap="square" rtlCol="0">
              <a:spAutoFit/>
            </a:bodyPr>
            <a:lstStyle/>
            <a:p>
              <a:pPr algn="ctr"/>
              <a:r>
                <a:rPr lang="en-US" dirty="0"/>
                <a:t>0</a:t>
              </a:r>
            </a:p>
          </p:txBody>
        </p:sp>
        <p:sp>
          <p:nvSpPr>
            <p:cNvPr id="51" name="Rectangle 50"/>
            <p:cNvSpPr/>
            <p:nvPr/>
          </p:nvSpPr>
          <p:spPr>
            <a:xfrm>
              <a:off x="6705600" y="59436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6096000" y="5943600"/>
              <a:ext cx="457200" cy="369332"/>
            </a:xfrm>
            <a:prstGeom prst="rect">
              <a:avLst/>
            </a:prstGeom>
            <a:noFill/>
          </p:spPr>
          <p:txBody>
            <a:bodyPr wrap="square" rtlCol="0">
              <a:spAutoFit/>
            </a:bodyPr>
            <a:lstStyle/>
            <a:p>
              <a:r>
                <a:rPr lang="en-US" dirty="0"/>
                <a:t>11</a:t>
              </a:r>
            </a:p>
          </p:txBody>
        </p:sp>
        <p:sp>
          <p:nvSpPr>
            <p:cNvPr id="53" name="TextBox 52"/>
            <p:cNvSpPr txBox="1"/>
            <p:nvPr/>
          </p:nvSpPr>
          <p:spPr>
            <a:xfrm>
              <a:off x="6781800" y="5943600"/>
              <a:ext cx="685800" cy="369332"/>
            </a:xfrm>
            <a:prstGeom prst="rect">
              <a:avLst/>
            </a:prstGeom>
            <a:noFill/>
          </p:spPr>
          <p:txBody>
            <a:bodyPr wrap="square" rtlCol="0">
              <a:spAutoFit/>
            </a:bodyPr>
            <a:lstStyle/>
            <a:p>
              <a:pPr algn="ctr"/>
              <a:r>
                <a:rPr lang="en-US" dirty="0"/>
                <a:t>0</a:t>
              </a:r>
            </a:p>
          </p:txBody>
        </p:sp>
        <p:sp>
          <p:nvSpPr>
            <p:cNvPr id="54" name="Rectangle 53"/>
            <p:cNvSpPr/>
            <p:nvPr/>
          </p:nvSpPr>
          <p:spPr>
            <a:xfrm>
              <a:off x="6705600" y="6248400"/>
              <a:ext cx="762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6096000" y="6248400"/>
              <a:ext cx="457200" cy="369332"/>
            </a:xfrm>
            <a:prstGeom prst="rect">
              <a:avLst/>
            </a:prstGeom>
            <a:noFill/>
          </p:spPr>
          <p:txBody>
            <a:bodyPr wrap="square" rtlCol="0">
              <a:spAutoFit/>
            </a:bodyPr>
            <a:lstStyle/>
            <a:p>
              <a:r>
                <a:rPr lang="en-US" dirty="0"/>
                <a:t>12</a:t>
              </a:r>
            </a:p>
          </p:txBody>
        </p:sp>
        <p:sp>
          <p:nvSpPr>
            <p:cNvPr id="56" name="TextBox 55"/>
            <p:cNvSpPr txBox="1"/>
            <p:nvPr/>
          </p:nvSpPr>
          <p:spPr>
            <a:xfrm>
              <a:off x="6781800" y="6248400"/>
              <a:ext cx="685800" cy="369332"/>
            </a:xfrm>
            <a:prstGeom prst="rect">
              <a:avLst/>
            </a:prstGeom>
            <a:noFill/>
          </p:spPr>
          <p:txBody>
            <a:bodyPr wrap="square" rtlCol="0">
              <a:spAutoFit/>
            </a:bodyPr>
            <a:lstStyle/>
            <a:p>
              <a:pPr algn="ctr"/>
              <a:r>
                <a:rPr lang="en-US" dirty="0"/>
                <a:t>0</a:t>
              </a:r>
            </a:p>
          </p:txBody>
        </p:sp>
        <p:cxnSp>
          <p:nvCxnSpPr>
            <p:cNvPr id="68" name="Shape 67"/>
            <p:cNvCxnSpPr>
              <a:endCxn id="46" idx="1"/>
            </p:cNvCxnSpPr>
            <p:nvPr/>
          </p:nvCxnSpPr>
          <p:spPr>
            <a:xfrm rot="5400000">
              <a:off x="4555867" y="3749933"/>
              <a:ext cx="3461266" cy="76200"/>
            </a:xfrm>
            <a:prstGeom prst="curvedConnector4">
              <a:avLst>
                <a:gd name="adj1" fmla="val 44796"/>
                <a:gd name="adj2" fmla="val 1408000"/>
              </a:avLst>
            </a:prstGeom>
            <a:ln w="31750">
              <a:solidFill>
                <a:schemeClr val="accent3">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6400800" y="2133600"/>
              <a:ext cx="2514600" cy="307777"/>
            </a:xfrm>
            <a:prstGeom prst="rect">
              <a:avLst/>
            </a:prstGeom>
            <a:noFill/>
          </p:spPr>
          <p:txBody>
            <a:bodyPr wrap="square" rtlCol="0">
              <a:spAutoFit/>
            </a:bodyPr>
            <a:lstStyle/>
            <a:p>
              <a:r>
                <a:rPr lang="en-US" sz="1400" dirty="0">
                  <a:solidFill>
                    <a:srgbClr val="00B050"/>
                  </a:solidFill>
                  <a:latin typeface="Comic Sans MS" pitchFamily="66" charset="0"/>
                </a:rPr>
                <a:t>Use the key value as index</a:t>
              </a:r>
            </a:p>
          </p:txBody>
        </p:sp>
        <p:sp>
          <p:nvSpPr>
            <p:cNvPr id="88" name="Right Brace 87"/>
            <p:cNvSpPr/>
            <p:nvPr/>
          </p:nvSpPr>
          <p:spPr>
            <a:xfrm>
              <a:off x="7696200" y="3048000"/>
              <a:ext cx="304800" cy="3429000"/>
            </a:xfrm>
            <a:prstGeom prst="rightBrac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9" name="TextBox 88"/>
            <p:cNvSpPr txBox="1"/>
            <p:nvPr/>
          </p:nvSpPr>
          <p:spPr>
            <a:xfrm>
              <a:off x="8077200" y="4343400"/>
              <a:ext cx="685800" cy="523220"/>
            </a:xfrm>
            <a:prstGeom prst="rect">
              <a:avLst/>
            </a:prstGeom>
            <a:noFill/>
          </p:spPr>
          <p:txBody>
            <a:bodyPr wrap="square" rtlCol="0">
              <a:spAutoFit/>
            </a:bodyPr>
            <a:lstStyle/>
            <a:p>
              <a:r>
                <a:rPr lang="en-US" sz="1400" dirty="0" smtClean="0">
                  <a:solidFill>
                    <a:srgbClr val="0000FF"/>
                  </a:solidFill>
                </a:rPr>
                <a:t>2</a:t>
              </a:r>
              <a:r>
                <a:rPr lang="en-US" sz="1400" i="1" dirty="0" smtClean="0">
                  <a:solidFill>
                    <a:srgbClr val="0000FF"/>
                  </a:solidFill>
                </a:rPr>
                <a:t>n</a:t>
              </a:r>
              <a:r>
                <a:rPr lang="en-US" sz="1400" dirty="0" smtClean="0">
                  <a:solidFill>
                    <a:srgbClr val="0000FF"/>
                  </a:solidFill>
                </a:rPr>
                <a:t> </a:t>
              </a:r>
              <a:r>
                <a:rPr lang="en-US" sz="1400" dirty="0">
                  <a:solidFill>
                    <a:srgbClr val="0000FF"/>
                  </a:solidFill>
                </a:rPr>
                <a:t>entries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What we have exercised</a:t>
            </a:r>
            <a:endParaRPr lang="en-SG" dirty="0"/>
          </a:p>
        </p:txBody>
      </p:sp>
      <p:sp>
        <p:nvSpPr>
          <p:cNvPr id="3" name="Content Placeholder 2"/>
          <p:cNvSpPr>
            <a:spLocks noGrp="1"/>
          </p:cNvSpPr>
          <p:nvPr>
            <p:ph idx="1"/>
          </p:nvPr>
        </p:nvSpPr>
        <p:spPr/>
        <p:txBody>
          <a:bodyPr/>
          <a:lstStyle/>
          <a:p>
            <a:pPr>
              <a:defRPr/>
            </a:pPr>
            <a:r>
              <a:rPr lang="en-US" dirty="0" smtClean="0"/>
              <a:t>Quicksort</a:t>
            </a:r>
            <a:endParaRPr lang="en-US" dirty="0" smtClean="0"/>
          </a:p>
          <a:p>
            <a:pPr lvl="1">
              <a:defRPr/>
            </a:pPr>
            <a:r>
              <a:rPr lang="en-US" dirty="0" smtClean="0"/>
              <a:t>Pivot selection and its effect to time complexity</a:t>
            </a:r>
          </a:p>
          <a:p>
            <a:pPr marL="0" indent="0">
              <a:buFont typeface="Wingdings" pitchFamily="2" charset="2"/>
              <a:buNone/>
              <a:defRPr/>
            </a:pPr>
            <a:endParaRPr lang="en-US" dirty="0" smtClean="0"/>
          </a:p>
          <a:p>
            <a:pPr>
              <a:defRPr/>
            </a:pPr>
            <a:r>
              <a:rPr lang="en-US" dirty="0" smtClean="0"/>
              <a:t>Algorithm Design</a:t>
            </a:r>
          </a:p>
          <a:p>
            <a:pPr lvl="1">
              <a:defRPr/>
            </a:pPr>
            <a:r>
              <a:rPr lang="en-US" dirty="0" smtClean="0"/>
              <a:t>Use/Extend some functions in sorting algorithms to solve new problems</a:t>
            </a:r>
          </a:p>
          <a:p>
            <a:pPr lvl="1">
              <a:defRPr/>
            </a:pPr>
            <a:r>
              <a:rPr lang="en-US" dirty="0" smtClean="0"/>
              <a:t>Use sorting algorithms for problem solving</a:t>
            </a:r>
          </a:p>
          <a:p>
            <a:pPr lvl="1">
              <a:defRPr/>
            </a:pPr>
            <a:r>
              <a:rPr lang="en-US" dirty="0" smtClean="0"/>
              <a:t>Trade space for time</a:t>
            </a:r>
            <a:endParaRPr lang="en-US" dirty="0" smtClean="0"/>
          </a:p>
          <a:p>
            <a:pPr>
              <a:defRPr/>
            </a:pPr>
            <a:endParaRPr lang="en-US" dirty="0" smtClean="0"/>
          </a:p>
        </p:txBody>
      </p:sp>
    </p:spTree>
    <p:extLst>
      <p:ext uri="{BB962C8B-B14F-4D97-AF65-F5344CB8AC3E}">
        <p14:creationId xmlns:p14="http://schemas.microsoft.com/office/powerpoint/2010/main" val="15703144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1937</TotalTime>
  <Words>807</Words>
  <Application>Microsoft Office PowerPoint</Application>
  <PresentationFormat>On-screen Show (4:3)</PresentationFormat>
  <Paragraphs>153</Paragraphs>
  <Slides>11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9" baseType="lpstr">
      <vt:lpstr>Arial</vt:lpstr>
      <vt:lpstr>Comic Sans MS</vt:lpstr>
      <vt:lpstr>Courier New</vt:lpstr>
      <vt:lpstr>Symbol</vt:lpstr>
      <vt:lpstr>Times New Roman</vt:lpstr>
      <vt:lpstr>Wingdings</vt:lpstr>
      <vt:lpstr>Office Theme</vt:lpstr>
      <vt:lpstr>Equation</vt:lpstr>
      <vt:lpstr>CX2101 Algorithm Design and Analysis</vt:lpstr>
      <vt:lpstr>This Tutorial</vt:lpstr>
      <vt:lpstr>Question 4</vt:lpstr>
      <vt:lpstr>PowerPoint Presentation</vt:lpstr>
      <vt:lpstr>Question 5</vt:lpstr>
      <vt:lpstr>PowerPoint Presentation</vt:lpstr>
      <vt:lpstr>PowerPoint Presentation</vt:lpstr>
      <vt:lpstr>Question 6</vt:lpstr>
      <vt:lpstr>Question 6</vt:lpstr>
      <vt:lpstr>Question 6</vt:lpstr>
      <vt:lpstr>What we have exercised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CE2001/CZ2001/CSC202</dc:title>
  <dc:creator>Zheng Jie (Asst Prof)</dc:creator>
  <cp:lastModifiedBy>Ke Kelly</cp:lastModifiedBy>
  <cp:revision>388</cp:revision>
  <dcterms:created xsi:type="dcterms:W3CDTF">2006-08-16T00:00:00Z</dcterms:created>
  <dcterms:modified xsi:type="dcterms:W3CDTF">2021-02-01T14:47:17Z</dcterms:modified>
</cp:coreProperties>
</file>