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handoutMasterIdLst>
    <p:handoutMasterId r:id="rId18"/>
  </p:handoutMasterIdLst>
  <p:sldIdLst>
    <p:sldId id="256" r:id="rId2"/>
    <p:sldId id="302" r:id="rId3"/>
    <p:sldId id="303" r:id="rId4"/>
    <p:sldId id="304" r:id="rId5"/>
    <p:sldId id="305" r:id="rId6"/>
    <p:sldId id="306" r:id="rId7"/>
    <p:sldId id="307" r:id="rId8"/>
    <p:sldId id="308" r:id="rId9"/>
    <p:sldId id="309" r:id="rId10"/>
    <p:sldId id="311" r:id="rId11"/>
    <p:sldId id="532" r:id="rId12"/>
    <p:sldId id="626" r:id="rId13"/>
    <p:sldId id="312" r:id="rId14"/>
    <p:sldId id="313" r:id="rId15"/>
    <p:sldId id="310" r:id="rId16"/>
  </p:sldIdLst>
  <p:sldSz cx="9144000" cy="6858000" type="screen4x3"/>
  <p:notesSz cx="6669088" cy="97536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FF99"/>
    <a:srgbClr val="0000FF"/>
    <a:srgbClr val="008000"/>
    <a:srgbClr val="CC0099"/>
    <a:srgbClr val="339966"/>
    <a:srgbClr val="33CC33"/>
    <a:srgbClr val="F79A9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18C7B67-7012-4A3B-82B4-76D8CF875BFF}" v="6" dt="2022-09-20T13:21:15.04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>
      <p:cViewPr varScale="1">
        <p:scale>
          <a:sx n="68" d="100"/>
          <a:sy n="68" d="100"/>
        </p:scale>
        <p:origin x="1530" y="1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microsoft.com/office/2015/10/relationships/revisionInfo" Target="revisionInfo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ng-Wei Lin" userId="d614b8a91a354671" providerId="LiveId" clId="{718C7B67-7012-4A3B-82B4-76D8CF875BFF}"/>
    <pc:docChg chg="undo custSel addSld modSld">
      <pc:chgData name="Shang-Wei Lin" userId="d614b8a91a354671" providerId="LiveId" clId="{718C7B67-7012-4A3B-82B4-76D8CF875BFF}" dt="2022-09-20T13:21:27.418" v="25" actId="478"/>
      <pc:docMkLst>
        <pc:docMk/>
      </pc:docMkLst>
      <pc:sldChg chg="modSp add mod">
        <pc:chgData name="Shang-Wei Lin" userId="d614b8a91a354671" providerId="LiveId" clId="{718C7B67-7012-4A3B-82B4-76D8CF875BFF}" dt="2022-09-20T13:17:30.159" v="1" actId="27636"/>
        <pc:sldMkLst>
          <pc:docMk/>
          <pc:sldMk cId="0" sldId="532"/>
        </pc:sldMkLst>
        <pc:spChg chg="mod">
          <ac:chgData name="Shang-Wei Lin" userId="d614b8a91a354671" providerId="LiveId" clId="{718C7B67-7012-4A3B-82B4-76D8CF875BFF}" dt="2022-09-20T13:17:30.159" v="1" actId="27636"/>
          <ac:spMkLst>
            <pc:docMk/>
            <pc:sldMk cId="0" sldId="532"/>
            <ac:spMk id="2" creationId="{00000000-0000-0000-0000-000000000000}"/>
          </ac:spMkLst>
        </pc:spChg>
      </pc:sldChg>
      <pc:sldChg chg="addSp delSp modSp add mod delAnim modAnim">
        <pc:chgData name="Shang-Wei Lin" userId="d614b8a91a354671" providerId="LiveId" clId="{718C7B67-7012-4A3B-82B4-76D8CF875BFF}" dt="2022-09-20T13:21:27.418" v="25" actId="478"/>
        <pc:sldMkLst>
          <pc:docMk/>
          <pc:sldMk cId="3576017009" sldId="626"/>
        </pc:sldMkLst>
        <pc:spChg chg="mod">
          <ac:chgData name="Shang-Wei Lin" userId="d614b8a91a354671" providerId="LiveId" clId="{718C7B67-7012-4A3B-82B4-76D8CF875BFF}" dt="2022-09-20T13:21:21.797" v="23" actId="20577"/>
          <ac:spMkLst>
            <pc:docMk/>
            <pc:sldMk cId="3576017009" sldId="626"/>
            <ac:spMk id="2" creationId="{00000000-0000-0000-0000-000000000000}"/>
          </ac:spMkLst>
        </pc:spChg>
        <pc:spChg chg="del mod">
          <ac:chgData name="Shang-Wei Lin" userId="d614b8a91a354671" providerId="LiveId" clId="{718C7B67-7012-4A3B-82B4-76D8CF875BFF}" dt="2022-09-20T13:20:27.942" v="7" actId="478"/>
          <ac:spMkLst>
            <pc:docMk/>
            <pc:sldMk cId="3576017009" sldId="626"/>
            <ac:spMk id="3" creationId="{00000000-0000-0000-0000-000000000000}"/>
          </ac:spMkLst>
        </pc:spChg>
        <pc:spChg chg="add del mod">
          <ac:chgData name="Shang-Wei Lin" userId="d614b8a91a354671" providerId="LiveId" clId="{718C7B67-7012-4A3B-82B4-76D8CF875BFF}" dt="2022-09-20T13:20:49.455" v="10"/>
          <ac:spMkLst>
            <pc:docMk/>
            <pc:sldMk cId="3576017009" sldId="626"/>
            <ac:spMk id="4" creationId="{59588A1B-9910-AC93-C41C-31EA5542A85B}"/>
          </ac:spMkLst>
        </pc:spChg>
        <pc:spChg chg="del">
          <ac:chgData name="Shang-Wei Lin" userId="d614b8a91a354671" providerId="LiveId" clId="{718C7B67-7012-4A3B-82B4-76D8CF875BFF}" dt="2022-09-20T13:21:09.803" v="12" actId="478"/>
          <ac:spMkLst>
            <pc:docMk/>
            <pc:sldMk cId="3576017009" sldId="626"/>
            <ac:spMk id="5" creationId="{00000000-0000-0000-0000-000000000000}"/>
          </ac:spMkLst>
        </pc:spChg>
        <pc:spChg chg="add del mod">
          <ac:chgData name="Shang-Wei Lin" userId="d614b8a91a354671" providerId="LiveId" clId="{718C7B67-7012-4A3B-82B4-76D8CF875BFF}" dt="2022-09-20T13:20:49.455" v="10"/>
          <ac:spMkLst>
            <pc:docMk/>
            <pc:sldMk cId="3576017009" sldId="626"/>
            <ac:spMk id="6" creationId="{67BB4B8C-7342-6CBB-15AB-094A7D207536}"/>
          </ac:spMkLst>
        </pc:spChg>
        <pc:spChg chg="add mod">
          <ac:chgData name="Shang-Wei Lin" userId="d614b8a91a354671" providerId="LiveId" clId="{718C7B67-7012-4A3B-82B4-76D8CF875BFF}" dt="2022-09-20T13:20:53.953" v="11"/>
          <ac:spMkLst>
            <pc:docMk/>
            <pc:sldMk cId="3576017009" sldId="626"/>
            <ac:spMk id="8" creationId="{05574298-48A0-F6A8-0657-0658C30E5818}"/>
          </ac:spMkLst>
        </pc:spChg>
        <pc:spChg chg="add mod">
          <ac:chgData name="Shang-Wei Lin" userId="d614b8a91a354671" providerId="LiveId" clId="{718C7B67-7012-4A3B-82B4-76D8CF875BFF}" dt="2022-09-20T13:20:53.953" v="11"/>
          <ac:spMkLst>
            <pc:docMk/>
            <pc:sldMk cId="3576017009" sldId="626"/>
            <ac:spMk id="13" creationId="{69A695B0-1713-29B2-D6E9-FBD34BF1E274}"/>
          </ac:spMkLst>
        </pc:spChg>
        <pc:spChg chg="add del mod">
          <ac:chgData name="Shang-Wei Lin" userId="d614b8a91a354671" providerId="LiveId" clId="{718C7B67-7012-4A3B-82B4-76D8CF875BFF}" dt="2022-09-20T13:21:27.418" v="25" actId="478"/>
          <ac:spMkLst>
            <pc:docMk/>
            <pc:sldMk cId="3576017009" sldId="626"/>
            <ac:spMk id="20" creationId="{EB6C7248-EF81-4186-2657-1A0416691ECC}"/>
          </ac:spMkLst>
        </pc:spChg>
        <pc:spChg chg="del">
          <ac:chgData name="Shang-Wei Lin" userId="d614b8a91a354671" providerId="LiveId" clId="{718C7B67-7012-4A3B-82B4-76D8CF875BFF}" dt="2022-09-20T13:21:15.042" v="13" actId="478"/>
          <ac:spMkLst>
            <pc:docMk/>
            <pc:sldMk cId="3576017009" sldId="626"/>
            <ac:spMk id="21" creationId="{00000000-0000-0000-0000-000000000000}"/>
          </ac:spMkLst>
        </pc:spChg>
        <pc:spChg chg="del">
          <ac:chgData name="Shang-Wei Lin" userId="d614b8a91a354671" providerId="LiveId" clId="{718C7B67-7012-4A3B-82B4-76D8CF875BFF}" dt="2022-09-20T13:21:15.042" v="13" actId="478"/>
          <ac:spMkLst>
            <pc:docMk/>
            <pc:sldMk cId="3576017009" sldId="626"/>
            <ac:spMk id="22" creationId="{00000000-0000-0000-0000-000000000000}"/>
          </ac:spMkLst>
        </pc:spChg>
        <pc:spChg chg="del">
          <ac:chgData name="Shang-Wei Lin" userId="d614b8a91a354671" providerId="LiveId" clId="{718C7B67-7012-4A3B-82B4-76D8CF875BFF}" dt="2022-09-20T13:21:15.042" v="13" actId="478"/>
          <ac:spMkLst>
            <pc:docMk/>
            <pc:sldMk cId="3576017009" sldId="626"/>
            <ac:spMk id="23" creationId="{00000000-0000-0000-0000-000000000000}"/>
          </ac:spMkLst>
        </pc:spChg>
        <pc:spChg chg="del">
          <ac:chgData name="Shang-Wei Lin" userId="d614b8a91a354671" providerId="LiveId" clId="{718C7B67-7012-4A3B-82B4-76D8CF875BFF}" dt="2022-09-20T13:20:29.860" v="8" actId="478"/>
          <ac:spMkLst>
            <pc:docMk/>
            <pc:sldMk cId="3576017009" sldId="626"/>
            <ac:spMk id="43" creationId="{00000000-0000-0000-0000-000000000000}"/>
          </ac:spMkLst>
        </pc:spChg>
        <pc:spChg chg="del">
          <ac:chgData name="Shang-Wei Lin" userId="d614b8a91a354671" providerId="LiveId" clId="{718C7B67-7012-4A3B-82B4-76D8CF875BFF}" dt="2022-09-20T13:21:15.042" v="13" actId="478"/>
          <ac:spMkLst>
            <pc:docMk/>
            <pc:sldMk cId="3576017009" sldId="626"/>
            <ac:spMk id="44" creationId="{00000000-0000-0000-0000-000000000000}"/>
          </ac:spMkLst>
        </pc:spChg>
        <pc:grpChg chg="del">
          <ac:chgData name="Shang-Wei Lin" userId="d614b8a91a354671" providerId="LiveId" clId="{718C7B67-7012-4A3B-82B4-76D8CF875BFF}" dt="2022-09-20T13:21:15.042" v="13" actId="478"/>
          <ac:grpSpMkLst>
            <pc:docMk/>
            <pc:sldMk cId="3576017009" sldId="626"/>
            <ac:grpSpMk id="7" creationId="{00000000-0000-0000-0000-000000000000}"/>
          </ac:grpSpMkLst>
        </pc:grpChg>
      </pc:sldChg>
    </pc:docChg>
  </pc:docChgLst>
  <pc:docChgLst>
    <pc:chgData name="Shang-Wei Lin" userId="d614b8a91a354671" providerId="LiveId" clId="{74EE90D3-5A57-2141-8B52-E35EF6D8ADD8}"/>
    <pc:docChg chg="undo custSel modSld">
      <pc:chgData name="Shang-Wei Lin" userId="d614b8a91a354671" providerId="LiveId" clId="{74EE90D3-5A57-2141-8B52-E35EF6D8ADD8}" dt="2022-09-17T14:28:09.633" v="133" actId="1076"/>
      <pc:docMkLst>
        <pc:docMk/>
      </pc:docMkLst>
      <pc:sldChg chg="modSp mod">
        <pc:chgData name="Shang-Wei Lin" userId="d614b8a91a354671" providerId="LiveId" clId="{74EE90D3-5A57-2141-8B52-E35EF6D8ADD8}" dt="2022-09-17T14:10:42.136" v="42" actId="1076"/>
        <pc:sldMkLst>
          <pc:docMk/>
          <pc:sldMk cId="367382157" sldId="303"/>
        </pc:sldMkLst>
        <pc:spChg chg="mod">
          <ac:chgData name="Shang-Wei Lin" userId="d614b8a91a354671" providerId="LiveId" clId="{74EE90D3-5A57-2141-8B52-E35EF6D8ADD8}" dt="2022-09-17T14:10:42.136" v="42" actId="1076"/>
          <ac:spMkLst>
            <pc:docMk/>
            <pc:sldMk cId="367382157" sldId="303"/>
            <ac:spMk id="3" creationId="{00000000-0000-0000-0000-000000000000}"/>
          </ac:spMkLst>
        </pc:spChg>
      </pc:sldChg>
      <pc:sldChg chg="modSp mod">
        <pc:chgData name="Shang-Wei Lin" userId="d614b8a91a354671" providerId="LiveId" clId="{74EE90D3-5A57-2141-8B52-E35EF6D8ADD8}" dt="2022-09-17T14:11:08.158" v="44" actId="20577"/>
        <pc:sldMkLst>
          <pc:docMk/>
          <pc:sldMk cId="3881563097" sldId="304"/>
        </pc:sldMkLst>
        <pc:graphicFrameChg chg="modGraphic">
          <ac:chgData name="Shang-Wei Lin" userId="d614b8a91a354671" providerId="LiveId" clId="{74EE90D3-5A57-2141-8B52-E35EF6D8ADD8}" dt="2022-09-17T14:11:08.158" v="44" actId="20577"/>
          <ac:graphicFrameMkLst>
            <pc:docMk/>
            <pc:sldMk cId="3881563097" sldId="304"/>
            <ac:graphicFrameMk id="6" creationId="{00000000-0000-0000-0000-000000000000}"/>
          </ac:graphicFrameMkLst>
        </pc:graphicFrameChg>
      </pc:sldChg>
      <pc:sldChg chg="addSp delSp modSp mod modAnim">
        <pc:chgData name="Shang-Wei Lin" userId="d614b8a91a354671" providerId="LiveId" clId="{74EE90D3-5A57-2141-8B52-E35EF6D8ADD8}" dt="2022-09-17T14:20:17.446" v="103" actId="1076"/>
        <pc:sldMkLst>
          <pc:docMk/>
          <pc:sldMk cId="2998281063" sldId="305"/>
        </pc:sldMkLst>
        <pc:spChg chg="add mod">
          <ac:chgData name="Shang-Wei Lin" userId="d614b8a91a354671" providerId="LiveId" clId="{74EE90D3-5A57-2141-8B52-E35EF6D8ADD8}" dt="2022-09-17T14:17:27.114" v="89" actId="207"/>
          <ac:spMkLst>
            <pc:docMk/>
            <pc:sldMk cId="2998281063" sldId="305"/>
            <ac:spMk id="10" creationId="{D420B7A0-B50A-09AA-075B-29B7BFF239F7}"/>
          </ac:spMkLst>
        </pc:spChg>
        <pc:spChg chg="del">
          <ac:chgData name="Shang-Wei Lin" userId="d614b8a91a354671" providerId="LiveId" clId="{74EE90D3-5A57-2141-8B52-E35EF6D8ADD8}" dt="2022-09-17T14:15:00.225" v="53" actId="478"/>
          <ac:spMkLst>
            <pc:docMk/>
            <pc:sldMk cId="2998281063" sldId="305"/>
            <ac:spMk id="65" creationId="{00000000-0000-0000-0000-000000000000}"/>
          </ac:spMkLst>
        </pc:spChg>
        <pc:graphicFrameChg chg="add del mod modGraphic">
          <ac:chgData name="Shang-Wei Lin" userId="d614b8a91a354671" providerId="LiveId" clId="{74EE90D3-5A57-2141-8B52-E35EF6D8ADD8}" dt="2022-09-17T14:14:56.214" v="52"/>
          <ac:graphicFrameMkLst>
            <pc:docMk/>
            <pc:sldMk cId="2998281063" sldId="305"/>
            <ac:graphicFrameMk id="2" creationId="{6C510EB0-596B-31B8-1AD5-83E360DBCB0A}"/>
          </ac:graphicFrameMkLst>
        </pc:graphicFrameChg>
        <pc:picChg chg="add del mod">
          <ac:chgData name="Shang-Wei Lin" userId="d614b8a91a354671" providerId="LiveId" clId="{74EE90D3-5A57-2141-8B52-E35EF6D8ADD8}" dt="2022-09-17T14:18:07.779" v="92" actId="478"/>
          <ac:picMkLst>
            <pc:docMk/>
            <pc:sldMk cId="2998281063" sldId="305"/>
            <ac:picMk id="9" creationId="{E08D0CD0-C66F-C006-7413-FEF824816F70}"/>
          </ac:picMkLst>
        </pc:picChg>
        <pc:picChg chg="add mod">
          <ac:chgData name="Shang-Wei Lin" userId="d614b8a91a354671" providerId="LiveId" clId="{74EE90D3-5A57-2141-8B52-E35EF6D8ADD8}" dt="2022-09-17T14:20:17.446" v="103" actId="1076"/>
          <ac:picMkLst>
            <pc:docMk/>
            <pc:sldMk cId="2998281063" sldId="305"/>
            <ac:picMk id="16" creationId="{DFE9AF62-9DDE-2BD9-EEE9-FD29A8BEB8DE}"/>
          </ac:picMkLst>
        </pc:picChg>
        <pc:cxnChg chg="add mod">
          <ac:chgData name="Shang-Wei Lin" userId="d614b8a91a354671" providerId="LiveId" clId="{74EE90D3-5A57-2141-8B52-E35EF6D8ADD8}" dt="2022-09-17T14:18:33.422" v="96" actId="1076"/>
          <ac:cxnSpMkLst>
            <pc:docMk/>
            <pc:sldMk cId="2998281063" sldId="305"/>
            <ac:cxnSpMk id="12" creationId="{2EA99914-3DF5-754F-1C4A-8A20A27BA67E}"/>
          </ac:cxnSpMkLst>
        </pc:cxnChg>
      </pc:sldChg>
      <pc:sldChg chg="addSp delSp modSp mod">
        <pc:chgData name="Shang-Wei Lin" userId="d614b8a91a354671" providerId="LiveId" clId="{74EE90D3-5A57-2141-8B52-E35EF6D8ADD8}" dt="2022-09-17T14:25:41.150" v="125" actId="1076"/>
        <pc:sldMkLst>
          <pc:docMk/>
          <pc:sldMk cId="3689370343" sldId="306"/>
        </pc:sldMkLst>
        <pc:spChg chg="add mod">
          <ac:chgData name="Shang-Wei Lin" userId="d614b8a91a354671" providerId="LiveId" clId="{74EE90D3-5A57-2141-8B52-E35EF6D8ADD8}" dt="2022-09-17T14:23:04.414" v="113" actId="14100"/>
          <ac:spMkLst>
            <pc:docMk/>
            <pc:sldMk cId="3689370343" sldId="306"/>
            <ac:spMk id="9" creationId="{2634FD14-D0D6-371F-8081-CCC3AECDC4AD}"/>
          </ac:spMkLst>
        </pc:spChg>
        <pc:spChg chg="del">
          <ac:chgData name="Shang-Wei Lin" userId="d614b8a91a354671" providerId="LiveId" clId="{74EE90D3-5A57-2141-8B52-E35EF6D8ADD8}" dt="2022-09-17T14:22:20.287" v="104" actId="478"/>
          <ac:spMkLst>
            <pc:docMk/>
            <pc:sldMk cId="3689370343" sldId="306"/>
            <ac:spMk id="90" creationId="{00000000-0000-0000-0000-000000000000}"/>
          </ac:spMkLst>
        </pc:spChg>
        <pc:picChg chg="add del mod">
          <ac:chgData name="Shang-Wei Lin" userId="d614b8a91a354671" providerId="LiveId" clId="{74EE90D3-5A57-2141-8B52-E35EF6D8ADD8}" dt="2022-09-17T14:24:25.163" v="114" actId="478"/>
          <ac:picMkLst>
            <pc:docMk/>
            <pc:sldMk cId="3689370343" sldId="306"/>
            <ac:picMk id="8" creationId="{0A4567DA-570A-E60B-ED3A-5DA1B4568FFB}"/>
          </ac:picMkLst>
        </pc:picChg>
        <pc:picChg chg="add mod">
          <ac:chgData name="Shang-Wei Lin" userId="d614b8a91a354671" providerId="LiveId" clId="{74EE90D3-5A57-2141-8B52-E35EF6D8ADD8}" dt="2022-09-17T14:25:31.619" v="121" actId="1076"/>
          <ac:picMkLst>
            <pc:docMk/>
            <pc:sldMk cId="3689370343" sldId="306"/>
            <ac:picMk id="13" creationId="{ED67606C-2C8B-8388-0A97-971E3E5869A0}"/>
          </ac:picMkLst>
        </pc:picChg>
        <pc:cxnChg chg="add mod">
          <ac:chgData name="Shang-Wei Lin" userId="d614b8a91a354671" providerId="LiveId" clId="{74EE90D3-5A57-2141-8B52-E35EF6D8ADD8}" dt="2022-09-17T14:25:41.150" v="125" actId="1076"/>
          <ac:cxnSpMkLst>
            <pc:docMk/>
            <pc:sldMk cId="3689370343" sldId="306"/>
            <ac:cxnSpMk id="10" creationId="{9879C443-77BE-E968-065E-BD5417B257F3}"/>
          </ac:cxnSpMkLst>
        </pc:cxnChg>
      </pc:sldChg>
      <pc:sldChg chg="addSp delSp modSp mod">
        <pc:chgData name="Shang-Wei Lin" userId="d614b8a91a354671" providerId="LiveId" clId="{74EE90D3-5A57-2141-8B52-E35EF6D8ADD8}" dt="2022-09-17T14:28:09.633" v="133" actId="1076"/>
        <pc:sldMkLst>
          <pc:docMk/>
          <pc:sldMk cId="2010681019" sldId="307"/>
        </pc:sldMkLst>
        <pc:spChg chg="add mod">
          <ac:chgData name="Shang-Wei Lin" userId="d614b8a91a354671" providerId="LiveId" clId="{74EE90D3-5A57-2141-8B52-E35EF6D8ADD8}" dt="2022-09-17T14:28:04.657" v="132"/>
          <ac:spMkLst>
            <pc:docMk/>
            <pc:sldMk cId="2010681019" sldId="307"/>
            <ac:spMk id="8" creationId="{F7D8024D-9740-0B9F-5FE1-D4AAF59DCA5F}"/>
          </ac:spMkLst>
        </pc:spChg>
        <pc:spChg chg="del">
          <ac:chgData name="Shang-Wei Lin" userId="d614b8a91a354671" providerId="LiveId" clId="{74EE90D3-5A57-2141-8B52-E35EF6D8ADD8}" dt="2022-09-17T14:27:29.892" v="126" actId="478"/>
          <ac:spMkLst>
            <pc:docMk/>
            <pc:sldMk cId="2010681019" sldId="307"/>
            <ac:spMk id="89" creationId="{00000000-0000-0000-0000-000000000000}"/>
          </ac:spMkLst>
        </pc:spChg>
        <pc:picChg chg="add mod">
          <ac:chgData name="Shang-Wei Lin" userId="d614b8a91a354671" providerId="LiveId" clId="{74EE90D3-5A57-2141-8B52-E35EF6D8ADD8}" dt="2022-09-17T14:28:09.633" v="133" actId="1076"/>
          <ac:picMkLst>
            <pc:docMk/>
            <pc:sldMk cId="2010681019" sldId="307"/>
            <ac:picMk id="7" creationId="{B36911EE-4309-03A2-1555-8DBBD480C709}"/>
          </ac:picMkLst>
        </pc:picChg>
        <pc:cxnChg chg="add mod">
          <ac:chgData name="Shang-Wei Lin" userId="d614b8a91a354671" providerId="LiveId" clId="{74EE90D3-5A57-2141-8B52-E35EF6D8ADD8}" dt="2022-09-17T14:28:04.657" v="132"/>
          <ac:cxnSpMkLst>
            <pc:docMk/>
            <pc:sldMk cId="2010681019" sldId="307"/>
            <ac:cxnSpMk id="9" creationId="{AA05DC5D-7C09-B942-2810-4BF329F47846}"/>
          </ac:cxnSpMkLst>
        </pc:cxnChg>
      </pc:sldChg>
      <pc:sldChg chg="modSp mod">
        <pc:chgData name="Shang-Wei Lin" userId="d614b8a91a354671" providerId="LiveId" clId="{74EE90D3-5A57-2141-8B52-E35EF6D8ADD8}" dt="2022-09-17T14:07:53.196" v="4" actId="20577"/>
        <pc:sldMkLst>
          <pc:docMk/>
          <pc:sldMk cId="3923316883" sldId="308"/>
        </pc:sldMkLst>
        <pc:spChg chg="mod">
          <ac:chgData name="Shang-Wei Lin" userId="d614b8a91a354671" providerId="LiveId" clId="{74EE90D3-5A57-2141-8B52-E35EF6D8ADD8}" dt="2022-09-17T14:07:53.196" v="4" actId="20577"/>
          <ac:spMkLst>
            <pc:docMk/>
            <pc:sldMk cId="3923316883" sldId="308"/>
            <ac:spMk id="3" creationId="{00000000-0000-0000-0000-000000000000}"/>
          </ac:spMkLst>
        </pc:spChg>
      </pc:sldChg>
      <pc:sldChg chg="modSp mod">
        <pc:chgData name="Shang-Wei Lin" userId="d614b8a91a354671" providerId="LiveId" clId="{74EE90D3-5A57-2141-8B52-E35EF6D8ADD8}" dt="2022-09-17T14:08:35.367" v="12" actId="255"/>
        <pc:sldMkLst>
          <pc:docMk/>
          <pc:sldMk cId="2366797630" sldId="311"/>
        </pc:sldMkLst>
        <pc:spChg chg="mod">
          <ac:chgData name="Shang-Wei Lin" userId="d614b8a91a354671" providerId="LiveId" clId="{74EE90D3-5A57-2141-8B52-E35EF6D8ADD8}" dt="2022-09-17T14:08:35.367" v="12" actId="255"/>
          <ac:spMkLst>
            <pc:docMk/>
            <pc:sldMk cId="2366797630" sldId="311"/>
            <ac:spMk id="3" creationId="{00000000-0000-0000-0000-000000000000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87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778250" y="0"/>
            <a:ext cx="2889250" cy="487363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5C45C12-5EE9-48BB-8BB6-74016B2F1D7A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264650"/>
            <a:ext cx="2889250" cy="4873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778250" y="9264650"/>
            <a:ext cx="2889250" cy="48736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581CBA-8D6D-4ACD-B804-17C8AAE4345D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0066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889250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8250" y="0"/>
            <a:ext cx="2889250" cy="48895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36E8058-CEF3-4524-BA36-5DD97575DD40}" type="datetimeFigureOut">
              <a:rPr lang="en-SG" smtClean="0"/>
              <a:t>20/9/2022</a:t>
            </a:fld>
            <a:endParaRPr lang="en-SG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39825" y="1219200"/>
            <a:ext cx="4389438" cy="32924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SG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750" y="4694238"/>
            <a:ext cx="5335588" cy="384016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264650"/>
            <a:ext cx="2889250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8250" y="9264650"/>
            <a:ext cx="2889250" cy="48895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B6470FA-09B7-4FF6-BFC1-A8CAED90DE9C}" type="slidenum">
              <a:rPr lang="en-SG" smtClean="0"/>
              <a:t>‹#›</a:t>
            </a:fld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4655682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Khin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ound Same Side Corner Rectangle 3"/>
          <p:cNvSpPr/>
          <p:nvPr/>
        </p:nvSpPr>
        <p:spPr>
          <a:xfrm rot="10800000">
            <a:off x="101600" y="1212850"/>
            <a:ext cx="8864600" cy="5502275"/>
          </a:xfrm>
          <a:prstGeom prst="round2SameRect">
            <a:avLst>
              <a:gd name="adj1" fmla="val 3050"/>
              <a:gd name="adj2" fmla="val 0"/>
            </a:avLst>
          </a:prstGeom>
          <a:gradFill>
            <a:gsLst>
              <a:gs pos="100000">
                <a:schemeClr val="bg1"/>
              </a:gs>
              <a:gs pos="0">
                <a:srgbClr val="223944">
                  <a:lumMod val="75000"/>
                  <a:lumOff val="25000"/>
                </a:srgbClr>
              </a:gs>
            </a:gsLst>
            <a:lin ang="5400000" scaled="0"/>
          </a:gradFill>
          <a:ln>
            <a:noFill/>
          </a:ln>
          <a:effectLst>
            <a:outerShdw blurRad="647700" dist="304800" dir="6000000" sx="103000" sy="103000" algn="ctr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5" name="Round Same Side Corner Rectangle 4"/>
          <p:cNvSpPr/>
          <p:nvPr/>
        </p:nvSpPr>
        <p:spPr>
          <a:xfrm rot="10800000">
            <a:off x="130175" y="1212850"/>
            <a:ext cx="8864600" cy="5502275"/>
          </a:xfrm>
          <a:prstGeom prst="round2SameRect">
            <a:avLst>
              <a:gd name="adj1" fmla="val 3050"/>
              <a:gd name="adj2" fmla="val 0"/>
            </a:avLst>
          </a:prstGeom>
          <a:gradFill>
            <a:gsLst>
              <a:gs pos="100000">
                <a:schemeClr val="bg1"/>
              </a:gs>
              <a:gs pos="0">
                <a:srgbClr val="223944">
                  <a:lumMod val="75000"/>
                  <a:lumOff val="25000"/>
                </a:srgbClr>
              </a:gs>
            </a:gsLst>
            <a:lin ang="5400000" scaled="0"/>
          </a:gradFill>
          <a:ln>
            <a:noFill/>
          </a:ln>
          <a:effectLst>
            <a:outerShdw blurRad="647700" dist="304800" dir="6000000" sx="103000" sy="103000" algn="ctr" rotWithShape="0">
              <a:prstClr val="black">
                <a:alpha val="21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7" name="Rectangle 6"/>
          <p:cNvSpPr txBox="1">
            <a:spLocks noChangeArrowheads="1"/>
          </p:cNvSpPr>
          <p:nvPr/>
        </p:nvSpPr>
        <p:spPr bwMode="auto">
          <a:xfrm>
            <a:off x="6553200" y="6245225"/>
            <a:ext cx="21336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84433" tIns="42217" rIns="84433" bIns="42217"/>
          <a:lstStyle>
            <a:lvl1pPr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 b="1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r" eaLnBrk="1" hangingPunct="1">
              <a:defRPr/>
            </a:pPr>
            <a:fld id="{680F5704-1559-48DA-9EF2-1208927894F5}" type="slidenum">
              <a:rPr lang="en-US" altLang="en-US" sz="1200" smtClean="0"/>
              <a:pPr algn="r" eaLnBrk="1" hangingPunct="1">
                <a:defRPr/>
              </a:pPr>
              <a:t>‹#›</a:t>
            </a:fld>
            <a:endParaRPr lang="en-US" altLang="en-US" sz="1200"/>
          </a:p>
        </p:txBody>
      </p:sp>
      <p:sp>
        <p:nvSpPr>
          <p:cNvPr id="8" name="Rectangle 7"/>
          <p:cNvSpPr/>
          <p:nvPr/>
        </p:nvSpPr>
        <p:spPr>
          <a:xfrm rot="1700955">
            <a:off x="158750" y="1095375"/>
            <a:ext cx="1582738" cy="617538"/>
          </a:xfrm>
          <a:prstGeom prst="rect">
            <a:avLst/>
          </a:prstGeom>
          <a:solidFill>
            <a:srgbClr val="37070A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grpSp>
        <p:nvGrpSpPr>
          <p:cNvPr id="9" name="Group 11"/>
          <p:cNvGrpSpPr>
            <a:grpSpLocks/>
          </p:cNvGrpSpPr>
          <p:nvPr/>
        </p:nvGrpSpPr>
        <p:grpSpPr bwMode="auto">
          <a:xfrm>
            <a:off x="319088" y="1066800"/>
            <a:ext cx="8501062" cy="5411788"/>
            <a:chOff x="686064" y="-22263"/>
            <a:chExt cx="7620000" cy="5965864"/>
          </a:xfrm>
        </p:grpSpPr>
        <p:pic>
          <p:nvPicPr>
            <p:cNvPr id="10" name="Picture 3" descr="C:\Users\Tom\Documents\My Dropbox\!temp\page-curls\page-curl v5.png"/>
            <p:cNvPicPr>
              <a:picLocks noChangeAspect="1" noChangeArrowheads="1"/>
            </p:cNvPicPr>
            <p:nvPr/>
          </p:nvPicPr>
          <p:blipFill>
            <a:blip r:embed="rId2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733800" y="2514601"/>
              <a:ext cx="4572264" cy="3429000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</p:pic>
        <p:sp>
          <p:nvSpPr>
            <p:cNvPr id="11" name="Rounded Rectangle 10"/>
            <p:cNvSpPr/>
            <p:nvPr/>
          </p:nvSpPr>
          <p:spPr>
            <a:xfrm>
              <a:off x="686064" y="-22263"/>
              <a:ext cx="5334711" cy="5965864"/>
            </a:xfrm>
            <a:prstGeom prst="roundRect">
              <a:avLst>
                <a:gd name="adj" fmla="val 2594"/>
              </a:avLst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fontAlgn="auto">
                <a:spcBef>
                  <a:spcPts val="0"/>
                </a:spcBef>
                <a:spcAft>
                  <a:spcPts val="0"/>
                </a:spcAft>
                <a:defRPr/>
              </a:pPr>
              <a:endParaRPr lang="en-US" sz="1662" dirty="0"/>
            </a:p>
          </p:txBody>
        </p:sp>
      </p:grpSp>
      <p:sp>
        <p:nvSpPr>
          <p:cNvPr id="12" name="Rounded Rectangle 11"/>
          <p:cNvSpPr/>
          <p:nvPr/>
        </p:nvSpPr>
        <p:spPr bwMode="auto">
          <a:xfrm>
            <a:off x="4116388" y="1233488"/>
            <a:ext cx="4703762" cy="2816225"/>
          </a:xfrm>
          <a:prstGeom prst="roundRect">
            <a:avLst>
              <a:gd name="adj" fmla="val 259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13" name="Notched Right Arrow 12"/>
          <p:cNvSpPr/>
          <p:nvPr/>
        </p:nvSpPr>
        <p:spPr>
          <a:xfrm rot="10800000">
            <a:off x="104775" y="688975"/>
            <a:ext cx="5662613" cy="604838"/>
          </a:xfrm>
          <a:prstGeom prst="notchedRightArrow">
            <a:avLst>
              <a:gd name="adj1" fmla="val 100000"/>
              <a:gd name="adj2" fmla="val 0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14" name="Notched Right Arrow 13"/>
          <p:cNvSpPr/>
          <p:nvPr/>
        </p:nvSpPr>
        <p:spPr>
          <a:xfrm rot="10800000">
            <a:off x="679450" y="688975"/>
            <a:ext cx="8407400" cy="604838"/>
          </a:xfrm>
          <a:prstGeom prst="notchedRightArrow">
            <a:avLst>
              <a:gd name="adj1" fmla="val 100000"/>
              <a:gd name="adj2" fmla="val 55721"/>
            </a:avLst>
          </a:prstGeom>
          <a:solidFill>
            <a:srgbClr val="B5172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  <a:defRPr/>
            </a:pPr>
            <a:endParaRPr lang="en-US" sz="1662" dirty="0"/>
          </a:p>
        </p:txBody>
      </p:sp>
      <p:sp>
        <p:nvSpPr>
          <p:cNvPr id="15" name="TextBox 14"/>
          <p:cNvSpPr txBox="1"/>
          <p:nvPr/>
        </p:nvSpPr>
        <p:spPr>
          <a:xfrm>
            <a:off x="225425" y="695325"/>
            <a:ext cx="2390775" cy="60325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endParaRPr lang="en-US" sz="3324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73950" y="209550"/>
            <a:ext cx="1217613" cy="482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46" name="Text Placeholder 8"/>
          <p:cNvSpPr>
            <a:spLocks noGrp="1"/>
          </p:cNvSpPr>
          <p:nvPr>
            <p:ph type="body" sz="quarter" idx="16"/>
          </p:nvPr>
        </p:nvSpPr>
        <p:spPr>
          <a:xfrm>
            <a:off x="613859" y="737408"/>
            <a:ext cx="7916281" cy="495300"/>
          </a:xfrm>
          <a:prstGeom prst="rect">
            <a:avLst/>
          </a:prstGeom>
        </p:spPr>
        <p:txBody>
          <a:bodyPr anchor="ctr"/>
          <a:lstStyle>
            <a:lvl1pPr marL="0" indent="0" algn="ctr" defTabSz="844314" rtl="0" eaLnBrk="1" latinLnBrk="0" hangingPunct="1">
              <a:buFontTx/>
              <a:buNone/>
              <a:defRPr lang="en-US" sz="3200" b="1" kern="1200" dirty="0" smtClean="0">
                <a:solidFill>
                  <a:schemeClr val="bg1"/>
                </a:solidFill>
                <a:latin typeface="+mj-lt"/>
                <a:ea typeface="Verdana" panose="020B0604030504040204" pitchFamily="34" charset="0"/>
                <a:cs typeface="Verdana" panose="020B0604030504040204" pitchFamily="34" charset="0"/>
              </a:defRPr>
            </a:lvl1pPr>
            <a:lvl2pPr marL="422158" indent="0">
              <a:buFontTx/>
              <a:buNone/>
              <a:defRPr sz="1847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2pPr>
            <a:lvl3pPr marL="844314" indent="0">
              <a:buFontTx/>
              <a:buNone/>
              <a:defRPr sz="1662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3pPr>
            <a:lvl4pPr marL="1266473" indent="0">
              <a:buFontTx/>
              <a:buNone/>
              <a:defRPr sz="1477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4pPr>
            <a:lvl5pPr marL="1688630" indent="0">
              <a:buFontTx/>
              <a:buNone/>
              <a:defRPr sz="1477">
                <a:solidFill>
                  <a:srgbClr val="4B4B4B"/>
                </a:solidFill>
                <a:latin typeface="Open Sans Extrabold" panose="020B0906030804020204" pitchFamily="34" charset="0"/>
                <a:ea typeface="Open Sans Extrabold" panose="020B0906030804020204" pitchFamily="34" charset="0"/>
                <a:cs typeface="Open Sans Extrabold" panose="020B0906030804020204" pitchFamily="34" charset="0"/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7"/>
          </p:nvPr>
        </p:nvSpPr>
        <p:spPr>
          <a:xfrm>
            <a:off x="469392" y="1688930"/>
            <a:ext cx="8229600" cy="3987800"/>
          </a:xfr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  <a:lvl2pPr marL="685800" indent="-263525">
              <a:buFont typeface="Arial" panose="020B0604020202020204" pitchFamily="34" charset="0"/>
              <a:buChar char="•"/>
              <a:defRPr sz="2000"/>
            </a:lvl2pPr>
            <a:lvl3pPr marL="1054100" indent="-209550">
              <a:buFont typeface="Arial" panose="020B0604020202020204" pitchFamily="34" charset="0"/>
              <a:buChar char="•"/>
              <a:defRPr sz="2000"/>
            </a:lvl3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GB" dirty="0"/>
          </a:p>
        </p:txBody>
      </p:sp>
      <p:sp>
        <p:nvSpPr>
          <p:cNvPr id="20" name="Rectangle 6"/>
          <p:cNvSpPr>
            <a:spLocks noGrp="1" noChangeArrowheads="1"/>
          </p:cNvSpPr>
          <p:nvPr>
            <p:ph type="sldNum" sz="quarter" idx="20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EA8AC6B-18B7-411D-BC0A-DDF07DB1E0DE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  <p:sp>
        <p:nvSpPr>
          <p:cNvPr id="18" name="Rectangle 17"/>
          <p:cNvSpPr/>
          <p:nvPr userDrawn="1"/>
        </p:nvSpPr>
        <p:spPr>
          <a:xfrm>
            <a:off x="319473" y="326774"/>
            <a:ext cx="8348277" cy="29546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100" b="1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CE2101/ CZ2101: ALGORITHM</a:t>
            </a:r>
            <a:r>
              <a:rPr lang="en-US" sz="1100" b="1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DESIGN AND ANALYSIS</a:t>
            </a:r>
            <a:endParaRPr lang="en-GB" sz="1100" b="1" dirty="0">
              <a:solidFill>
                <a:schemeClr val="tx1">
                  <a:lumMod val="50000"/>
                  <a:lumOff val="50000"/>
                </a:schemeClr>
              </a:solidFill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8890731"/>
      </p:ext>
    </p:extLst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9/20/2022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dirty="0"/>
              <a:t>CX2101 Algorithm Design and Analysis</a:t>
            </a:r>
          </a:p>
        </p:txBody>
      </p:sp>
      <p:sp>
        <p:nvSpPr>
          <p:cNvPr id="9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r>
              <a:rPr lang="en-US" dirty="0">
                <a:solidFill>
                  <a:srgbClr val="0000FF"/>
                </a:solidFill>
              </a:rPr>
              <a:t>Tutorial 2 (Graphs)</a:t>
            </a:r>
          </a:p>
          <a:p>
            <a:r>
              <a:rPr lang="en-US" dirty="0">
                <a:solidFill>
                  <a:srgbClr val="0000FF"/>
                </a:solidFill>
              </a:rPr>
              <a:t>Week 7: Q4-Q6</a:t>
            </a:r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This Tutorial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Minimum spanning tree algorithm – Prim’s</a:t>
            </a:r>
          </a:p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>
              <a:defRPr/>
            </a:pPr>
            <a:r>
              <a:rPr lang="en-US" dirty="0"/>
              <a:t>Minimum spanning tree - concept</a:t>
            </a:r>
          </a:p>
        </p:txBody>
      </p:sp>
    </p:spTree>
    <p:extLst>
      <p:ext uri="{BB962C8B-B14F-4D97-AF65-F5344CB8AC3E}">
        <p14:creationId xmlns:p14="http://schemas.microsoft.com/office/powerpoint/2010/main" val="33076959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/>
              <a:t>Question 4</a:t>
            </a:r>
            <a:endParaRPr lang="en-SG" b="1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8587" y="1388945"/>
            <a:ext cx="8556612" cy="2819400"/>
          </a:xfrm>
        </p:spPr>
        <p:txBody>
          <a:bodyPr>
            <a:normAutofit/>
          </a:bodyPr>
          <a:lstStyle/>
          <a:p>
            <a:pPr lvl="0">
              <a:buNone/>
            </a:pPr>
            <a:r>
              <a:rPr lang="en-US" sz="2800" dirty="0">
                <a:solidFill>
                  <a:srgbClr val="0000FF"/>
                </a:solidFill>
              </a:rPr>
              <a:t>Execute Prim’s minimum spanning tree algorithm by hand on the graph below starting at vertex G.</a:t>
            </a:r>
          </a:p>
          <a:p>
            <a:pPr lvl="0">
              <a:buNone/>
            </a:pPr>
            <a:r>
              <a:rPr lang="en-US" sz="2800" dirty="0">
                <a:solidFill>
                  <a:srgbClr val="0000FF"/>
                </a:solidFill>
              </a:rPr>
              <a:t> </a:t>
            </a:r>
          </a:p>
          <a:p>
            <a:pPr lvl="0">
              <a:buNone/>
            </a:pPr>
            <a:r>
              <a:rPr lang="en-US" sz="2800" dirty="0">
                <a:solidFill>
                  <a:srgbClr val="0000FF"/>
                </a:solidFill>
              </a:rPr>
              <a:t>Show the contents of arrays S, d and pi after each iteration of the while loop when a vertex is added to the MST.</a:t>
            </a:r>
            <a:endParaRPr lang="en-SG" sz="2800" dirty="0">
              <a:solidFill>
                <a:srgbClr val="0000FF"/>
              </a:solidFill>
            </a:endParaRPr>
          </a:p>
          <a:p>
            <a:pPr>
              <a:buNone/>
            </a:pPr>
            <a:endParaRPr lang="en-SG" dirty="0"/>
          </a:p>
        </p:txBody>
      </p:sp>
      <p:grpSp>
        <p:nvGrpSpPr>
          <p:cNvPr id="7" name="Group 2"/>
          <p:cNvGrpSpPr>
            <a:grpSpLocks/>
          </p:cNvGrpSpPr>
          <p:nvPr/>
        </p:nvGrpSpPr>
        <p:grpSpPr bwMode="auto">
          <a:xfrm>
            <a:off x="1524000" y="4114800"/>
            <a:ext cx="5257800" cy="2514600"/>
            <a:chOff x="2614" y="2421"/>
            <a:chExt cx="5918" cy="2722"/>
          </a:xfrm>
        </p:grpSpPr>
        <p:sp>
          <p:nvSpPr>
            <p:cNvPr id="4" name="Text Box 40"/>
            <p:cNvSpPr txBox="1">
              <a:spLocks noChangeArrowheads="1"/>
            </p:cNvSpPr>
            <p:nvPr/>
          </p:nvSpPr>
          <p:spPr bwMode="auto">
            <a:xfrm>
              <a:off x="5292" y="242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" name="Text Box 42"/>
            <p:cNvSpPr txBox="1">
              <a:spLocks noChangeArrowheads="1"/>
            </p:cNvSpPr>
            <p:nvPr/>
          </p:nvSpPr>
          <p:spPr bwMode="auto">
            <a:xfrm>
              <a:off x="3214" y="4483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5</a:t>
              </a:r>
              <a:endParaRPr kumimoji="0" lang="en-US" sz="3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" name="Text Box 43"/>
            <p:cNvSpPr txBox="1">
              <a:spLocks noChangeArrowheads="1"/>
            </p:cNvSpPr>
            <p:nvPr/>
          </p:nvSpPr>
          <p:spPr bwMode="auto">
            <a:xfrm>
              <a:off x="5724" y="314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6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" name="Text Box 45"/>
            <p:cNvSpPr txBox="1">
              <a:spLocks noChangeArrowheads="1"/>
            </p:cNvSpPr>
            <p:nvPr/>
          </p:nvSpPr>
          <p:spPr bwMode="auto">
            <a:xfrm>
              <a:off x="4860" y="386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1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" name="Text Box 46"/>
            <p:cNvSpPr txBox="1">
              <a:spLocks noChangeArrowheads="1"/>
            </p:cNvSpPr>
            <p:nvPr/>
          </p:nvSpPr>
          <p:spPr bwMode="auto">
            <a:xfrm>
              <a:off x="5436" y="458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4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Text Box 49"/>
            <p:cNvSpPr txBox="1">
              <a:spLocks noChangeArrowheads="1"/>
            </p:cNvSpPr>
            <p:nvPr/>
          </p:nvSpPr>
          <p:spPr bwMode="auto">
            <a:xfrm>
              <a:off x="5004" y="2997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" name="Text Box 50"/>
            <p:cNvSpPr txBox="1">
              <a:spLocks noChangeArrowheads="1"/>
            </p:cNvSpPr>
            <p:nvPr/>
          </p:nvSpPr>
          <p:spPr bwMode="auto">
            <a:xfrm>
              <a:off x="6156" y="3717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Oval 51"/>
            <p:cNvSpPr>
              <a:spLocks noChangeArrowheads="1"/>
            </p:cNvSpPr>
            <p:nvPr/>
          </p:nvSpPr>
          <p:spPr bwMode="auto">
            <a:xfrm>
              <a:off x="4572" y="2709"/>
              <a:ext cx="504" cy="43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A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" name="Oval 52"/>
            <p:cNvSpPr>
              <a:spLocks noChangeArrowheads="1"/>
            </p:cNvSpPr>
            <p:nvPr/>
          </p:nvSpPr>
          <p:spPr bwMode="auto">
            <a:xfrm>
              <a:off x="6156" y="2581"/>
              <a:ext cx="504" cy="5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B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" name="Oval 53"/>
            <p:cNvSpPr>
              <a:spLocks noChangeArrowheads="1"/>
            </p:cNvSpPr>
            <p:nvPr/>
          </p:nvSpPr>
          <p:spPr bwMode="auto">
            <a:xfrm>
              <a:off x="5436" y="3459"/>
              <a:ext cx="504" cy="54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G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" name="Oval 54"/>
            <p:cNvSpPr>
              <a:spLocks noChangeArrowheads="1"/>
            </p:cNvSpPr>
            <p:nvPr/>
          </p:nvSpPr>
          <p:spPr bwMode="auto">
            <a:xfrm>
              <a:off x="2614" y="3861"/>
              <a:ext cx="518" cy="57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F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Oval 55"/>
            <p:cNvSpPr>
              <a:spLocks noChangeArrowheads="1"/>
            </p:cNvSpPr>
            <p:nvPr/>
          </p:nvSpPr>
          <p:spPr bwMode="auto">
            <a:xfrm>
              <a:off x="4299" y="4221"/>
              <a:ext cx="561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D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" name="Oval 56"/>
            <p:cNvSpPr>
              <a:spLocks noChangeArrowheads="1"/>
            </p:cNvSpPr>
            <p:nvPr/>
          </p:nvSpPr>
          <p:spPr bwMode="auto">
            <a:xfrm>
              <a:off x="6300" y="4221"/>
              <a:ext cx="576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E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" name="Oval 57"/>
            <p:cNvSpPr>
              <a:spLocks noChangeArrowheads="1"/>
            </p:cNvSpPr>
            <p:nvPr/>
          </p:nvSpPr>
          <p:spPr bwMode="auto">
            <a:xfrm>
              <a:off x="8028" y="4005"/>
              <a:ext cx="504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400" b="1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C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" name="Line 60"/>
            <p:cNvSpPr>
              <a:spLocks noChangeShapeType="1"/>
            </p:cNvSpPr>
            <p:nvPr/>
          </p:nvSpPr>
          <p:spPr bwMode="auto">
            <a:xfrm flipV="1">
              <a:off x="5076" y="2853"/>
              <a:ext cx="1080" cy="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24" name="Line 61"/>
            <p:cNvSpPr>
              <a:spLocks noChangeShapeType="1"/>
            </p:cNvSpPr>
            <p:nvPr/>
          </p:nvSpPr>
          <p:spPr bwMode="auto">
            <a:xfrm flipV="1">
              <a:off x="3132" y="2997"/>
              <a:ext cx="1440" cy="11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25" name="Line 62"/>
            <p:cNvSpPr>
              <a:spLocks noChangeShapeType="1"/>
            </p:cNvSpPr>
            <p:nvPr/>
          </p:nvSpPr>
          <p:spPr bwMode="auto">
            <a:xfrm>
              <a:off x="4860" y="3141"/>
              <a:ext cx="576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26" name="Line 63"/>
            <p:cNvSpPr>
              <a:spLocks noChangeShapeType="1"/>
            </p:cNvSpPr>
            <p:nvPr/>
          </p:nvSpPr>
          <p:spPr bwMode="auto">
            <a:xfrm flipV="1">
              <a:off x="5868" y="3141"/>
              <a:ext cx="432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27" name="Line 64"/>
            <p:cNvSpPr>
              <a:spLocks noChangeShapeType="1"/>
            </p:cNvSpPr>
            <p:nvPr/>
          </p:nvSpPr>
          <p:spPr bwMode="auto">
            <a:xfrm>
              <a:off x="5866" y="3925"/>
              <a:ext cx="578" cy="3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28" name="Line 65"/>
            <p:cNvSpPr>
              <a:spLocks noChangeShapeType="1"/>
            </p:cNvSpPr>
            <p:nvPr/>
          </p:nvSpPr>
          <p:spPr bwMode="auto">
            <a:xfrm flipH="1">
              <a:off x="4860" y="3925"/>
              <a:ext cx="65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29" name="Line 66"/>
            <p:cNvSpPr>
              <a:spLocks noChangeShapeType="1"/>
            </p:cNvSpPr>
            <p:nvPr/>
          </p:nvSpPr>
          <p:spPr bwMode="auto">
            <a:xfrm>
              <a:off x="3043" y="4318"/>
              <a:ext cx="1287" cy="165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30" name="Line 67"/>
            <p:cNvSpPr>
              <a:spLocks noChangeShapeType="1"/>
            </p:cNvSpPr>
            <p:nvPr/>
          </p:nvSpPr>
          <p:spPr bwMode="auto">
            <a:xfrm>
              <a:off x="4860" y="4581"/>
              <a:ext cx="14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35" name="Text Box 72"/>
            <p:cNvSpPr txBox="1">
              <a:spLocks noChangeArrowheads="1"/>
            </p:cNvSpPr>
            <p:nvPr/>
          </p:nvSpPr>
          <p:spPr bwMode="auto">
            <a:xfrm>
              <a:off x="3420" y="314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7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6" name="Text Box 73"/>
            <p:cNvSpPr txBox="1">
              <a:spLocks noChangeArrowheads="1"/>
            </p:cNvSpPr>
            <p:nvPr/>
          </p:nvSpPr>
          <p:spPr bwMode="auto">
            <a:xfrm>
              <a:off x="7308" y="314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4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" name="Line 74"/>
            <p:cNvSpPr>
              <a:spLocks noChangeShapeType="1"/>
            </p:cNvSpPr>
            <p:nvPr/>
          </p:nvSpPr>
          <p:spPr bwMode="auto">
            <a:xfrm>
              <a:off x="6660" y="2925"/>
              <a:ext cx="1512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38" name="Text Box 75"/>
            <p:cNvSpPr txBox="1">
              <a:spLocks noChangeArrowheads="1"/>
            </p:cNvSpPr>
            <p:nvPr/>
          </p:nvSpPr>
          <p:spPr bwMode="auto">
            <a:xfrm>
              <a:off x="7020" y="4005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9" name="Text Box 76"/>
            <p:cNvSpPr txBox="1">
              <a:spLocks noChangeArrowheads="1"/>
            </p:cNvSpPr>
            <p:nvPr/>
          </p:nvSpPr>
          <p:spPr bwMode="auto">
            <a:xfrm>
              <a:off x="5522" y="471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0" name="Line 77"/>
            <p:cNvSpPr>
              <a:spLocks noChangeShapeType="1"/>
            </p:cNvSpPr>
            <p:nvPr/>
          </p:nvSpPr>
          <p:spPr bwMode="auto">
            <a:xfrm flipV="1">
              <a:off x="6876" y="4293"/>
              <a:ext cx="1152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</p:grpSp>
    </p:spTree>
    <p:extLst>
      <p:ext uri="{BB962C8B-B14F-4D97-AF65-F5344CB8AC3E}">
        <p14:creationId xmlns:p14="http://schemas.microsoft.com/office/powerpoint/2010/main" val="3673821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143000"/>
            <a:ext cx="8229600" cy="4525963"/>
          </a:xfrm>
        </p:spPr>
        <p:txBody>
          <a:bodyPr/>
          <a:lstStyle/>
          <a:p>
            <a:pPr>
              <a:buNone/>
            </a:pPr>
            <a:r>
              <a:rPr lang="en-US" dirty="0"/>
              <a:t>After initialization: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sz="1800" dirty="0"/>
          </a:p>
          <a:p>
            <a:pPr>
              <a:buNone/>
            </a:pPr>
            <a:r>
              <a:rPr lang="en-US" dirty="0"/>
              <a:t>First iteration:</a:t>
            </a:r>
          </a:p>
          <a:p>
            <a:pPr>
              <a:buNone/>
            </a:pPr>
            <a:endParaRPr lang="en-SG" dirty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74793076"/>
              </p:ext>
            </p:extLst>
          </p:nvPr>
        </p:nvGraphicFramePr>
        <p:xfrm>
          <a:off x="533400" y="1828800"/>
          <a:ext cx="5534341" cy="1798320"/>
        </p:xfrm>
        <a:graphic>
          <a:graphicData uri="http://schemas.openxmlformats.org/drawingml/2006/table">
            <a:tbl>
              <a:tblPr/>
              <a:tblGrid>
                <a:gridCol w="67080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414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489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941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9640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941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9339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96404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495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B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E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F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S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∞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∞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∞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∞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∞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∞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958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pi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Null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Null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Null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Null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Null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Null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Null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533400" y="4572000"/>
          <a:ext cx="5791199" cy="1752600"/>
        </p:xfrm>
        <a:graphic>
          <a:graphicData uri="http://schemas.openxmlformats.org/drawingml/2006/table">
            <a:tbl>
              <a:tblPr/>
              <a:tblGrid>
                <a:gridCol w="7071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173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165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2989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314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910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2831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31462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381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B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E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F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S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SG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6</a:t>
                      </a:r>
                      <a:endParaRPr lang="en-SG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∞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SG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∞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81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pi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Null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Null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Null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4" name="Group 2"/>
          <p:cNvGrpSpPr>
            <a:grpSpLocks noChangeAspect="1"/>
          </p:cNvGrpSpPr>
          <p:nvPr/>
        </p:nvGrpSpPr>
        <p:grpSpPr bwMode="auto">
          <a:xfrm>
            <a:off x="5867400" y="381000"/>
            <a:ext cx="3108960" cy="1449097"/>
            <a:chOff x="2614" y="2421"/>
            <a:chExt cx="5918" cy="2722"/>
          </a:xfrm>
        </p:grpSpPr>
        <p:sp>
          <p:nvSpPr>
            <p:cNvPr id="9" name="Text Box 40"/>
            <p:cNvSpPr txBox="1">
              <a:spLocks noChangeArrowheads="1"/>
            </p:cNvSpPr>
            <p:nvPr/>
          </p:nvSpPr>
          <p:spPr bwMode="auto">
            <a:xfrm>
              <a:off x="5292" y="242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" name="Text Box 42"/>
            <p:cNvSpPr txBox="1">
              <a:spLocks noChangeArrowheads="1"/>
            </p:cNvSpPr>
            <p:nvPr/>
          </p:nvSpPr>
          <p:spPr bwMode="auto">
            <a:xfrm>
              <a:off x="3484" y="4425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5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" name="Text Box 43"/>
            <p:cNvSpPr txBox="1">
              <a:spLocks noChangeArrowheads="1"/>
            </p:cNvSpPr>
            <p:nvPr/>
          </p:nvSpPr>
          <p:spPr bwMode="auto">
            <a:xfrm>
              <a:off x="5660" y="2994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6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" name="Text Box 45"/>
            <p:cNvSpPr txBox="1">
              <a:spLocks noChangeArrowheads="1"/>
            </p:cNvSpPr>
            <p:nvPr/>
          </p:nvSpPr>
          <p:spPr bwMode="auto">
            <a:xfrm>
              <a:off x="4790" y="3709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1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3" name="Text Box 46"/>
            <p:cNvSpPr txBox="1">
              <a:spLocks noChangeArrowheads="1"/>
            </p:cNvSpPr>
            <p:nvPr/>
          </p:nvSpPr>
          <p:spPr bwMode="auto">
            <a:xfrm>
              <a:off x="5436" y="458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4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4" name="Text Box 49"/>
            <p:cNvSpPr txBox="1">
              <a:spLocks noChangeArrowheads="1"/>
            </p:cNvSpPr>
            <p:nvPr/>
          </p:nvSpPr>
          <p:spPr bwMode="auto">
            <a:xfrm>
              <a:off x="4790" y="3137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5" name="Text Box 50"/>
            <p:cNvSpPr txBox="1">
              <a:spLocks noChangeArrowheads="1"/>
            </p:cNvSpPr>
            <p:nvPr/>
          </p:nvSpPr>
          <p:spPr bwMode="auto">
            <a:xfrm>
              <a:off x="5950" y="3709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6" name="Oval 51"/>
            <p:cNvSpPr>
              <a:spLocks noChangeArrowheads="1"/>
            </p:cNvSpPr>
            <p:nvPr/>
          </p:nvSpPr>
          <p:spPr bwMode="auto">
            <a:xfrm>
              <a:off x="4572" y="2709"/>
              <a:ext cx="504" cy="428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A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7" name="Oval 52"/>
            <p:cNvSpPr>
              <a:spLocks noChangeArrowheads="1"/>
            </p:cNvSpPr>
            <p:nvPr/>
          </p:nvSpPr>
          <p:spPr bwMode="auto">
            <a:xfrm>
              <a:off x="6156" y="2581"/>
              <a:ext cx="504" cy="560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B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8" name="Oval 53"/>
            <p:cNvSpPr>
              <a:spLocks noChangeArrowheads="1"/>
            </p:cNvSpPr>
            <p:nvPr/>
          </p:nvSpPr>
          <p:spPr bwMode="auto">
            <a:xfrm>
              <a:off x="5436" y="3459"/>
              <a:ext cx="504" cy="54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G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9" name="Oval 54"/>
            <p:cNvSpPr>
              <a:spLocks noChangeArrowheads="1"/>
            </p:cNvSpPr>
            <p:nvPr/>
          </p:nvSpPr>
          <p:spPr bwMode="auto">
            <a:xfrm>
              <a:off x="2614" y="3861"/>
              <a:ext cx="518" cy="576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F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0" name="Oval 55"/>
            <p:cNvSpPr>
              <a:spLocks noChangeArrowheads="1"/>
            </p:cNvSpPr>
            <p:nvPr/>
          </p:nvSpPr>
          <p:spPr bwMode="auto">
            <a:xfrm>
              <a:off x="4299" y="4221"/>
              <a:ext cx="561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D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1" name="Oval 56"/>
            <p:cNvSpPr>
              <a:spLocks noChangeArrowheads="1"/>
            </p:cNvSpPr>
            <p:nvPr/>
          </p:nvSpPr>
          <p:spPr bwMode="auto">
            <a:xfrm>
              <a:off x="6300" y="4221"/>
              <a:ext cx="576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E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" name="Oval 57"/>
            <p:cNvSpPr>
              <a:spLocks noChangeArrowheads="1"/>
            </p:cNvSpPr>
            <p:nvPr/>
          </p:nvSpPr>
          <p:spPr bwMode="auto">
            <a:xfrm>
              <a:off x="8028" y="4005"/>
              <a:ext cx="504" cy="50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C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3" name="Line 60"/>
            <p:cNvSpPr>
              <a:spLocks noChangeShapeType="1"/>
            </p:cNvSpPr>
            <p:nvPr/>
          </p:nvSpPr>
          <p:spPr bwMode="auto">
            <a:xfrm flipV="1">
              <a:off x="5076" y="2853"/>
              <a:ext cx="1080" cy="7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24" name="Line 61"/>
            <p:cNvSpPr>
              <a:spLocks noChangeShapeType="1"/>
            </p:cNvSpPr>
            <p:nvPr/>
          </p:nvSpPr>
          <p:spPr bwMode="auto">
            <a:xfrm flipV="1">
              <a:off x="3132" y="2997"/>
              <a:ext cx="1440" cy="115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25" name="Line 62"/>
            <p:cNvSpPr>
              <a:spLocks noChangeShapeType="1"/>
            </p:cNvSpPr>
            <p:nvPr/>
          </p:nvSpPr>
          <p:spPr bwMode="auto">
            <a:xfrm>
              <a:off x="4860" y="3141"/>
              <a:ext cx="576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26" name="Line 63"/>
            <p:cNvSpPr>
              <a:spLocks noChangeShapeType="1"/>
            </p:cNvSpPr>
            <p:nvPr/>
          </p:nvSpPr>
          <p:spPr bwMode="auto">
            <a:xfrm flipV="1">
              <a:off x="5868" y="3141"/>
              <a:ext cx="432" cy="43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27" name="Line 64"/>
            <p:cNvSpPr>
              <a:spLocks noChangeShapeType="1"/>
            </p:cNvSpPr>
            <p:nvPr/>
          </p:nvSpPr>
          <p:spPr bwMode="auto">
            <a:xfrm>
              <a:off x="5866" y="3925"/>
              <a:ext cx="578" cy="368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28" name="Line 65"/>
            <p:cNvSpPr>
              <a:spLocks noChangeShapeType="1"/>
            </p:cNvSpPr>
            <p:nvPr/>
          </p:nvSpPr>
          <p:spPr bwMode="auto">
            <a:xfrm flipH="1">
              <a:off x="4860" y="3925"/>
              <a:ext cx="650" cy="512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29" name="Line 66"/>
            <p:cNvSpPr>
              <a:spLocks noChangeShapeType="1"/>
            </p:cNvSpPr>
            <p:nvPr/>
          </p:nvSpPr>
          <p:spPr bwMode="auto">
            <a:xfrm>
              <a:off x="3132" y="4293"/>
              <a:ext cx="1167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30" name="Line 67"/>
            <p:cNvSpPr>
              <a:spLocks noChangeShapeType="1"/>
            </p:cNvSpPr>
            <p:nvPr/>
          </p:nvSpPr>
          <p:spPr bwMode="auto">
            <a:xfrm>
              <a:off x="4860" y="4581"/>
              <a:ext cx="1440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31" name="Text Box 72"/>
            <p:cNvSpPr txBox="1">
              <a:spLocks noChangeArrowheads="1"/>
            </p:cNvSpPr>
            <p:nvPr/>
          </p:nvSpPr>
          <p:spPr bwMode="auto">
            <a:xfrm>
              <a:off x="3420" y="314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7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2" name="Text Box 73"/>
            <p:cNvSpPr txBox="1">
              <a:spLocks noChangeArrowheads="1"/>
            </p:cNvSpPr>
            <p:nvPr/>
          </p:nvSpPr>
          <p:spPr bwMode="auto">
            <a:xfrm>
              <a:off x="7308" y="314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4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3" name="Line 74"/>
            <p:cNvSpPr>
              <a:spLocks noChangeShapeType="1"/>
            </p:cNvSpPr>
            <p:nvPr/>
          </p:nvSpPr>
          <p:spPr bwMode="auto">
            <a:xfrm>
              <a:off x="6660" y="2925"/>
              <a:ext cx="1512" cy="10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34" name="Text Box 75"/>
            <p:cNvSpPr txBox="1">
              <a:spLocks noChangeArrowheads="1"/>
            </p:cNvSpPr>
            <p:nvPr/>
          </p:nvSpPr>
          <p:spPr bwMode="auto">
            <a:xfrm>
              <a:off x="7111" y="3852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5" name="Text Box 76"/>
            <p:cNvSpPr txBox="1">
              <a:spLocks noChangeArrowheads="1"/>
            </p:cNvSpPr>
            <p:nvPr/>
          </p:nvSpPr>
          <p:spPr bwMode="auto">
            <a:xfrm>
              <a:off x="5522" y="4711"/>
              <a:ext cx="432" cy="43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6" name="Line 77"/>
            <p:cNvSpPr>
              <a:spLocks noChangeShapeType="1"/>
            </p:cNvSpPr>
            <p:nvPr/>
          </p:nvSpPr>
          <p:spPr bwMode="auto">
            <a:xfrm flipV="1">
              <a:off x="6876" y="4293"/>
              <a:ext cx="1152" cy="18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</p:grpSp>
      <p:grpSp>
        <p:nvGrpSpPr>
          <p:cNvPr id="5" name="Group 67"/>
          <p:cNvGrpSpPr/>
          <p:nvPr/>
        </p:nvGrpSpPr>
        <p:grpSpPr>
          <a:xfrm>
            <a:off x="5791200" y="3276600"/>
            <a:ext cx="3108960" cy="1449097"/>
            <a:chOff x="5791200" y="3276600"/>
            <a:chExt cx="3108960" cy="1449097"/>
          </a:xfrm>
        </p:grpSpPr>
        <p:sp>
          <p:nvSpPr>
            <p:cNvPr id="38" name="Text Box 40"/>
            <p:cNvSpPr txBox="1">
              <a:spLocks noChangeArrowheads="1"/>
            </p:cNvSpPr>
            <p:nvPr/>
          </p:nvSpPr>
          <p:spPr bwMode="auto">
            <a:xfrm>
              <a:off x="7198060" y="3276600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9" name="Text Box 42"/>
            <p:cNvSpPr txBox="1">
              <a:spLocks noChangeArrowheads="1"/>
            </p:cNvSpPr>
            <p:nvPr/>
          </p:nvSpPr>
          <p:spPr bwMode="auto">
            <a:xfrm>
              <a:off x="6248245" y="4343459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5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0" name="Text Box 43"/>
            <p:cNvSpPr txBox="1">
              <a:spLocks noChangeArrowheads="1"/>
            </p:cNvSpPr>
            <p:nvPr/>
          </p:nvSpPr>
          <p:spPr bwMode="auto">
            <a:xfrm>
              <a:off x="7391385" y="3581645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6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1" name="Text Box 45"/>
            <p:cNvSpPr txBox="1">
              <a:spLocks noChangeArrowheads="1"/>
            </p:cNvSpPr>
            <p:nvPr/>
          </p:nvSpPr>
          <p:spPr bwMode="auto">
            <a:xfrm>
              <a:off x="6934339" y="3962286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1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2" name="Text Box 46"/>
            <p:cNvSpPr txBox="1">
              <a:spLocks noChangeArrowheads="1"/>
            </p:cNvSpPr>
            <p:nvPr/>
          </p:nvSpPr>
          <p:spPr bwMode="auto">
            <a:xfrm>
              <a:off x="7273708" y="4426508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2000" b="0" i="0" u="none" strike="noStrike" cap="none" normalizeH="0" baseline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4</a:t>
              </a:r>
              <a:endParaRPr kumimoji="0" lang="en-US" sz="36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3" name="Text Box 49"/>
            <p:cNvSpPr txBox="1">
              <a:spLocks noChangeArrowheads="1"/>
            </p:cNvSpPr>
            <p:nvPr/>
          </p:nvSpPr>
          <p:spPr bwMode="auto">
            <a:xfrm>
              <a:off x="6934339" y="3657773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4" name="Text Box 50"/>
            <p:cNvSpPr txBox="1">
              <a:spLocks noChangeArrowheads="1"/>
            </p:cNvSpPr>
            <p:nvPr/>
          </p:nvSpPr>
          <p:spPr bwMode="auto">
            <a:xfrm>
              <a:off x="7543733" y="3962286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5" name="Oval 51"/>
            <p:cNvSpPr>
              <a:spLocks noChangeArrowheads="1"/>
            </p:cNvSpPr>
            <p:nvPr/>
          </p:nvSpPr>
          <p:spPr bwMode="auto">
            <a:xfrm>
              <a:off x="6819815" y="3429921"/>
              <a:ext cx="264771" cy="22785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A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6" name="Oval 52"/>
            <p:cNvSpPr>
              <a:spLocks noChangeArrowheads="1"/>
            </p:cNvSpPr>
            <p:nvPr/>
          </p:nvSpPr>
          <p:spPr bwMode="auto">
            <a:xfrm>
              <a:off x="7651953" y="3361778"/>
              <a:ext cx="264771" cy="2981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B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7" name="Oval 53"/>
            <p:cNvSpPr>
              <a:spLocks noChangeArrowheads="1"/>
            </p:cNvSpPr>
            <p:nvPr/>
          </p:nvSpPr>
          <p:spPr bwMode="auto">
            <a:xfrm>
              <a:off x="7273708" y="3829195"/>
              <a:ext cx="264771" cy="2906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G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8" name="Oval 54"/>
            <p:cNvSpPr>
              <a:spLocks noChangeArrowheads="1"/>
            </p:cNvSpPr>
            <p:nvPr/>
          </p:nvSpPr>
          <p:spPr bwMode="auto">
            <a:xfrm>
              <a:off x="5791200" y="4043205"/>
              <a:ext cx="272126" cy="30664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F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9" name="Oval 55"/>
            <p:cNvSpPr>
              <a:spLocks noChangeArrowheads="1"/>
            </p:cNvSpPr>
            <p:nvPr/>
          </p:nvSpPr>
          <p:spPr bwMode="auto">
            <a:xfrm>
              <a:off x="6676397" y="4234857"/>
              <a:ext cx="294716" cy="26831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D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0" name="Oval 56"/>
            <p:cNvSpPr>
              <a:spLocks noChangeArrowheads="1"/>
            </p:cNvSpPr>
            <p:nvPr/>
          </p:nvSpPr>
          <p:spPr bwMode="auto">
            <a:xfrm>
              <a:off x="7727602" y="4234857"/>
              <a:ext cx="302596" cy="26831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E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1" name="Oval 57"/>
            <p:cNvSpPr>
              <a:spLocks noChangeArrowheads="1"/>
            </p:cNvSpPr>
            <p:nvPr/>
          </p:nvSpPr>
          <p:spPr bwMode="auto">
            <a:xfrm>
              <a:off x="8635389" y="4119866"/>
              <a:ext cx="264771" cy="26831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C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2" name="Line 60"/>
            <p:cNvSpPr>
              <a:spLocks noChangeShapeType="1"/>
            </p:cNvSpPr>
            <p:nvPr/>
          </p:nvSpPr>
          <p:spPr bwMode="auto">
            <a:xfrm flipV="1">
              <a:off x="7084586" y="3506582"/>
              <a:ext cx="567367" cy="383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53" name="Line 61"/>
            <p:cNvSpPr>
              <a:spLocks noChangeShapeType="1"/>
            </p:cNvSpPr>
            <p:nvPr/>
          </p:nvSpPr>
          <p:spPr bwMode="auto">
            <a:xfrm flipV="1">
              <a:off x="6063326" y="3583242"/>
              <a:ext cx="756489" cy="613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54" name="Line 62"/>
            <p:cNvSpPr>
              <a:spLocks noChangeShapeType="1"/>
            </p:cNvSpPr>
            <p:nvPr/>
          </p:nvSpPr>
          <p:spPr bwMode="auto">
            <a:xfrm>
              <a:off x="6971113" y="3659903"/>
              <a:ext cx="302596" cy="22998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55" name="Line 63"/>
            <p:cNvSpPr>
              <a:spLocks noChangeShapeType="1"/>
            </p:cNvSpPr>
            <p:nvPr/>
          </p:nvSpPr>
          <p:spPr bwMode="auto">
            <a:xfrm flipV="1">
              <a:off x="7500655" y="3659903"/>
              <a:ext cx="226947" cy="22998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56" name="Line 64"/>
            <p:cNvSpPr>
              <a:spLocks noChangeShapeType="1"/>
            </p:cNvSpPr>
            <p:nvPr/>
          </p:nvSpPr>
          <p:spPr bwMode="auto">
            <a:xfrm>
              <a:off x="7499605" y="4077277"/>
              <a:ext cx="303646" cy="19591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57" name="Line 65"/>
            <p:cNvSpPr>
              <a:spLocks noChangeShapeType="1"/>
            </p:cNvSpPr>
            <p:nvPr/>
          </p:nvSpPr>
          <p:spPr bwMode="auto">
            <a:xfrm flipH="1">
              <a:off x="6971113" y="4077277"/>
              <a:ext cx="341471" cy="272571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58" name="Line 66"/>
            <p:cNvSpPr>
              <a:spLocks noChangeShapeType="1"/>
            </p:cNvSpPr>
            <p:nvPr/>
          </p:nvSpPr>
          <p:spPr bwMode="auto">
            <a:xfrm>
              <a:off x="6063326" y="4273187"/>
              <a:ext cx="613071" cy="958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59" name="Line 67"/>
            <p:cNvSpPr>
              <a:spLocks noChangeShapeType="1"/>
            </p:cNvSpPr>
            <p:nvPr/>
          </p:nvSpPr>
          <p:spPr bwMode="auto">
            <a:xfrm>
              <a:off x="6971113" y="4426508"/>
              <a:ext cx="756489" cy="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60" name="Text Box 72"/>
            <p:cNvSpPr txBox="1">
              <a:spLocks noChangeArrowheads="1"/>
            </p:cNvSpPr>
            <p:nvPr/>
          </p:nvSpPr>
          <p:spPr bwMode="auto">
            <a:xfrm>
              <a:off x="6214624" y="3659903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7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1" name="Text Box 73"/>
            <p:cNvSpPr txBox="1">
              <a:spLocks noChangeArrowheads="1"/>
            </p:cNvSpPr>
            <p:nvPr/>
          </p:nvSpPr>
          <p:spPr bwMode="auto">
            <a:xfrm>
              <a:off x="8257144" y="3659903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4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2" name="Line 74"/>
            <p:cNvSpPr>
              <a:spLocks noChangeShapeType="1"/>
            </p:cNvSpPr>
            <p:nvPr/>
          </p:nvSpPr>
          <p:spPr bwMode="auto">
            <a:xfrm>
              <a:off x="7916724" y="3544912"/>
              <a:ext cx="794314" cy="5749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63" name="Text Box 75"/>
            <p:cNvSpPr txBox="1">
              <a:spLocks noChangeArrowheads="1"/>
            </p:cNvSpPr>
            <p:nvPr/>
          </p:nvSpPr>
          <p:spPr bwMode="auto">
            <a:xfrm>
              <a:off x="8153652" y="4038414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4" name="Text Box 76"/>
            <p:cNvSpPr txBox="1">
              <a:spLocks noChangeArrowheads="1"/>
            </p:cNvSpPr>
            <p:nvPr/>
          </p:nvSpPr>
          <p:spPr bwMode="auto">
            <a:xfrm>
              <a:off x="7318888" y="4495715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5" name="Line 77"/>
            <p:cNvSpPr>
              <a:spLocks noChangeShapeType="1"/>
            </p:cNvSpPr>
            <p:nvPr/>
          </p:nvSpPr>
          <p:spPr bwMode="auto">
            <a:xfrm flipV="1">
              <a:off x="8030198" y="4273187"/>
              <a:ext cx="605191" cy="958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</p:grpSp>
    </p:spTree>
    <p:extLst>
      <p:ext uri="{BB962C8B-B14F-4D97-AF65-F5344CB8AC3E}">
        <p14:creationId xmlns:p14="http://schemas.microsoft.com/office/powerpoint/2010/main" val="38815630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28600" y="1447800"/>
            <a:ext cx="8229600" cy="3992563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2</a:t>
            </a:r>
            <a:r>
              <a:rPr lang="en-US" sz="2400" baseline="30000" dirty="0"/>
              <a:t>nd</a:t>
            </a:r>
            <a:r>
              <a:rPr lang="en-US" sz="2400" dirty="0"/>
              <a:t> iteration: Edge GD becomes part of the MST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3rd iteration: Edge DE becomes part of the MST</a:t>
            </a:r>
            <a:endParaRPr lang="en-SG" sz="2400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SG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1981200"/>
          <a:ext cx="5638802" cy="1524000"/>
        </p:xfrm>
        <a:graphic>
          <a:graphicData uri="http://schemas.openxmlformats.org/drawingml/2006/table">
            <a:tbl>
              <a:tblPr/>
              <a:tblGrid>
                <a:gridCol w="688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4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76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068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2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991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9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22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B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E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F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S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6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∞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SG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5</a:t>
                      </a:r>
                      <a:endParaRPr lang="en-SG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pi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Null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Null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4572000"/>
          <a:ext cx="5638799" cy="1828800"/>
        </p:xfrm>
        <a:graphic>
          <a:graphicData uri="http://schemas.openxmlformats.org/drawingml/2006/table">
            <a:tbl>
              <a:tblPr/>
              <a:tblGrid>
                <a:gridCol w="68849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984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976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1068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12213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0991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09153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12213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B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E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F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S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6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SG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5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pi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E</a:t>
                      </a:r>
                      <a:endParaRPr lang="en-SG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Null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" name="Group 95"/>
          <p:cNvGrpSpPr/>
          <p:nvPr/>
        </p:nvGrpSpPr>
        <p:grpSpPr>
          <a:xfrm>
            <a:off x="5867400" y="228600"/>
            <a:ext cx="3108960" cy="1449097"/>
            <a:chOff x="5867400" y="228600"/>
            <a:chExt cx="3108960" cy="1449097"/>
          </a:xfrm>
        </p:grpSpPr>
        <p:sp>
          <p:nvSpPr>
            <p:cNvPr id="63" name="Text Box 76"/>
            <p:cNvSpPr txBox="1">
              <a:spLocks noChangeArrowheads="1"/>
            </p:cNvSpPr>
            <p:nvPr/>
          </p:nvSpPr>
          <p:spPr bwMode="auto">
            <a:xfrm>
              <a:off x="7395088" y="1447715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6" name="Text Box 40"/>
            <p:cNvSpPr txBox="1">
              <a:spLocks noChangeArrowheads="1"/>
            </p:cNvSpPr>
            <p:nvPr/>
          </p:nvSpPr>
          <p:spPr bwMode="auto">
            <a:xfrm>
              <a:off x="7274260" y="228600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" name="Text Box 42"/>
            <p:cNvSpPr txBox="1">
              <a:spLocks noChangeArrowheads="1"/>
            </p:cNvSpPr>
            <p:nvPr/>
          </p:nvSpPr>
          <p:spPr bwMode="auto">
            <a:xfrm>
              <a:off x="6324445" y="1295459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5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9" name="Text Box 43"/>
            <p:cNvSpPr txBox="1">
              <a:spLocks noChangeArrowheads="1"/>
            </p:cNvSpPr>
            <p:nvPr/>
          </p:nvSpPr>
          <p:spPr bwMode="auto">
            <a:xfrm>
              <a:off x="7467585" y="533645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6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0" name="Text Box 45"/>
            <p:cNvSpPr txBox="1">
              <a:spLocks noChangeArrowheads="1"/>
            </p:cNvSpPr>
            <p:nvPr/>
          </p:nvSpPr>
          <p:spPr bwMode="auto">
            <a:xfrm>
              <a:off x="7010539" y="914286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1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2" name="Text Box 49"/>
            <p:cNvSpPr txBox="1">
              <a:spLocks noChangeArrowheads="1"/>
            </p:cNvSpPr>
            <p:nvPr/>
          </p:nvSpPr>
          <p:spPr bwMode="auto">
            <a:xfrm>
              <a:off x="7010539" y="609773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3" name="Text Box 50"/>
            <p:cNvSpPr txBox="1">
              <a:spLocks noChangeArrowheads="1"/>
            </p:cNvSpPr>
            <p:nvPr/>
          </p:nvSpPr>
          <p:spPr bwMode="auto">
            <a:xfrm>
              <a:off x="7619933" y="914286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4" name="Oval 51"/>
            <p:cNvSpPr>
              <a:spLocks noChangeArrowheads="1"/>
            </p:cNvSpPr>
            <p:nvPr/>
          </p:nvSpPr>
          <p:spPr bwMode="auto">
            <a:xfrm>
              <a:off x="6896015" y="381921"/>
              <a:ext cx="264771" cy="22785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A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5" name="Oval 52"/>
            <p:cNvSpPr>
              <a:spLocks noChangeArrowheads="1"/>
            </p:cNvSpPr>
            <p:nvPr/>
          </p:nvSpPr>
          <p:spPr bwMode="auto">
            <a:xfrm>
              <a:off x="7728153" y="313778"/>
              <a:ext cx="264771" cy="2981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B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6" name="Oval 53"/>
            <p:cNvSpPr>
              <a:spLocks noChangeArrowheads="1"/>
            </p:cNvSpPr>
            <p:nvPr/>
          </p:nvSpPr>
          <p:spPr bwMode="auto">
            <a:xfrm>
              <a:off x="7349908" y="781195"/>
              <a:ext cx="264771" cy="2906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G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7" name="Oval 54"/>
            <p:cNvSpPr>
              <a:spLocks noChangeArrowheads="1"/>
            </p:cNvSpPr>
            <p:nvPr/>
          </p:nvSpPr>
          <p:spPr bwMode="auto">
            <a:xfrm>
              <a:off x="5867400" y="995205"/>
              <a:ext cx="272126" cy="30664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F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8" name="Oval 55"/>
            <p:cNvSpPr>
              <a:spLocks noChangeArrowheads="1"/>
            </p:cNvSpPr>
            <p:nvPr/>
          </p:nvSpPr>
          <p:spPr bwMode="auto">
            <a:xfrm>
              <a:off x="6752597" y="1186857"/>
              <a:ext cx="294716" cy="26831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D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9" name="Oval 56"/>
            <p:cNvSpPr>
              <a:spLocks noChangeArrowheads="1"/>
            </p:cNvSpPr>
            <p:nvPr/>
          </p:nvSpPr>
          <p:spPr bwMode="auto">
            <a:xfrm>
              <a:off x="7803802" y="1186857"/>
              <a:ext cx="302596" cy="26831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E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0" name="Oval 57"/>
            <p:cNvSpPr>
              <a:spLocks noChangeArrowheads="1"/>
            </p:cNvSpPr>
            <p:nvPr/>
          </p:nvSpPr>
          <p:spPr bwMode="auto">
            <a:xfrm>
              <a:off x="8711589" y="1071866"/>
              <a:ext cx="264771" cy="26831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C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1" name="Line 60"/>
            <p:cNvSpPr>
              <a:spLocks noChangeShapeType="1"/>
            </p:cNvSpPr>
            <p:nvPr/>
          </p:nvSpPr>
          <p:spPr bwMode="auto">
            <a:xfrm flipV="1">
              <a:off x="7160786" y="458582"/>
              <a:ext cx="567367" cy="383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52" name="Line 61"/>
            <p:cNvSpPr>
              <a:spLocks noChangeShapeType="1"/>
            </p:cNvSpPr>
            <p:nvPr/>
          </p:nvSpPr>
          <p:spPr bwMode="auto">
            <a:xfrm flipV="1">
              <a:off x="6139526" y="535242"/>
              <a:ext cx="756489" cy="613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53" name="Line 62"/>
            <p:cNvSpPr>
              <a:spLocks noChangeShapeType="1"/>
            </p:cNvSpPr>
            <p:nvPr/>
          </p:nvSpPr>
          <p:spPr bwMode="auto">
            <a:xfrm>
              <a:off x="7047313" y="611903"/>
              <a:ext cx="302596" cy="22998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54" name="Line 63"/>
            <p:cNvSpPr>
              <a:spLocks noChangeShapeType="1"/>
            </p:cNvSpPr>
            <p:nvPr/>
          </p:nvSpPr>
          <p:spPr bwMode="auto">
            <a:xfrm flipV="1">
              <a:off x="7576855" y="611903"/>
              <a:ext cx="226947" cy="22998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55" name="Line 64"/>
            <p:cNvSpPr>
              <a:spLocks noChangeShapeType="1"/>
            </p:cNvSpPr>
            <p:nvPr/>
          </p:nvSpPr>
          <p:spPr bwMode="auto">
            <a:xfrm>
              <a:off x="7575805" y="1029277"/>
              <a:ext cx="303646" cy="195910"/>
            </a:xfrm>
            <a:prstGeom prst="line">
              <a:avLst/>
            </a:prstGeom>
            <a:noFill/>
            <a:ln w="9525">
              <a:solidFill>
                <a:srgbClr val="00206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56" name="Line 65"/>
            <p:cNvSpPr>
              <a:spLocks noChangeShapeType="1"/>
            </p:cNvSpPr>
            <p:nvPr/>
          </p:nvSpPr>
          <p:spPr bwMode="auto">
            <a:xfrm flipH="1">
              <a:off x="7047313" y="1029277"/>
              <a:ext cx="341471" cy="27257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57" name="Line 66"/>
            <p:cNvSpPr>
              <a:spLocks noChangeShapeType="1"/>
            </p:cNvSpPr>
            <p:nvPr/>
          </p:nvSpPr>
          <p:spPr bwMode="auto">
            <a:xfrm>
              <a:off x="6139526" y="1225187"/>
              <a:ext cx="613071" cy="9582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58" name="Line 67"/>
            <p:cNvSpPr>
              <a:spLocks noChangeShapeType="1"/>
            </p:cNvSpPr>
            <p:nvPr/>
          </p:nvSpPr>
          <p:spPr bwMode="auto">
            <a:xfrm>
              <a:off x="7047313" y="1378508"/>
              <a:ext cx="756489" cy="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59" name="Text Box 72"/>
            <p:cNvSpPr txBox="1">
              <a:spLocks noChangeArrowheads="1"/>
            </p:cNvSpPr>
            <p:nvPr/>
          </p:nvSpPr>
          <p:spPr bwMode="auto">
            <a:xfrm>
              <a:off x="6290824" y="611903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7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0" name="Text Box 73"/>
            <p:cNvSpPr txBox="1">
              <a:spLocks noChangeArrowheads="1"/>
            </p:cNvSpPr>
            <p:nvPr/>
          </p:nvSpPr>
          <p:spPr bwMode="auto">
            <a:xfrm>
              <a:off x="8333344" y="611903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4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1" name="Line 74"/>
            <p:cNvSpPr>
              <a:spLocks noChangeShapeType="1"/>
            </p:cNvSpPr>
            <p:nvPr/>
          </p:nvSpPr>
          <p:spPr bwMode="auto">
            <a:xfrm>
              <a:off x="7992924" y="496912"/>
              <a:ext cx="794314" cy="5749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62" name="Text Box 75"/>
            <p:cNvSpPr txBox="1">
              <a:spLocks noChangeArrowheads="1"/>
            </p:cNvSpPr>
            <p:nvPr/>
          </p:nvSpPr>
          <p:spPr bwMode="auto">
            <a:xfrm>
              <a:off x="8229852" y="990414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4" name="Line 77"/>
            <p:cNvSpPr>
              <a:spLocks noChangeShapeType="1"/>
            </p:cNvSpPr>
            <p:nvPr/>
          </p:nvSpPr>
          <p:spPr bwMode="auto">
            <a:xfrm flipV="1">
              <a:off x="8106398" y="1225187"/>
              <a:ext cx="605191" cy="95826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</p:grpSp>
      <p:grpSp>
        <p:nvGrpSpPr>
          <p:cNvPr id="7" name="Group 124"/>
          <p:cNvGrpSpPr/>
          <p:nvPr/>
        </p:nvGrpSpPr>
        <p:grpSpPr>
          <a:xfrm>
            <a:off x="5791200" y="2971800"/>
            <a:ext cx="3108960" cy="1449097"/>
            <a:chOff x="5791200" y="2971800"/>
            <a:chExt cx="3108960" cy="1449097"/>
          </a:xfrm>
        </p:grpSpPr>
        <p:sp>
          <p:nvSpPr>
            <p:cNvPr id="98" name="Text Box 76"/>
            <p:cNvSpPr txBox="1">
              <a:spLocks noChangeArrowheads="1"/>
            </p:cNvSpPr>
            <p:nvPr/>
          </p:nvSpPr>
          <p:spPr bwMode="auto">
            <a:xfrm>
              <a:off x="7318888" y="4190915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99" name="Text Box 40"/>
            <p:cNvSpPr txBox="1">
              <a:spLocks noChangeArrowheads="1"/>
            </p:cNvSpPr>
            <p:nvPr/>
          </p:nvSpPr>
          <p:spPr bwMode="auto">
            <a:xfrm>
              <a:off x="7198060" y="2971800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0" name="Text Box 42"/>
            <p:cNvSpPr txBox="1">
              <a:spLocks noChangeArrowheads="1"/>
            </p:cNvSpPr>
            <p:nvPr/>
          </p:nvSpPr>
          <p:spPr bwMode="auto">
            <a:xfrm>
              <a:off x="6248245" y="4038659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5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1" name="Text Box 43"/>
            <p:cNvSpPr txBox="1">
              <a:spLocks noChangeArrowheads="1"/>
            </p:cNvSpPr>
            <p:nvPr/>
          </p:nvSpPr>
          <p:spPr bwMode="auto">
            <a:xfrm>
              <a:off x="7391385" y="3276845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6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2" name="Text Box 45"/>
            <p:cNvSpPr txBox="1">
              <a:spLocks noChangeArrowheads="1"/>
            </p:cNvSpPr>
            <p:nvPr/>
          </p:nvSpPr>
          <p:spPr bwMode="auto">
            <a:xfrm>
              <a:off x="6934339" y="3657486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1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3" name="Text Box 49"/>
            <p:cNvSpPr txBox="1">
              <a:spLocks noChangeArrowheads="1"/>
            </p:cNvSpPr>
            <p:nvPr/>
          </p:nvSpPr>
          <p:spPr bwMode="auto">
            <a:xfrm>
              <a:off x="6934339" y="3352973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4" name="Text Box 50"/>
            <p:cNvSpPr txBox="1">
              <a:spLocks noChangeArrowheads="1"/>
            </p:cNvSpPr>
            <p:nvPr/>
          </p:nvSpPr>
          <p:spPr bwMode="auto">
            <a:xfrm>
              <a:off x="7543733" y="3657486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5" name="Oval 51"/>
            <p:cNvSpPr>
              <a:spLocks noChangeArrowheads="1"/>
            </p:cNvSpPr>
            <p:nvPr/>
          </p:nvSpPr>
          <p:spPr bwMode="auto">
            <a:xfrm>
              <a:off x="6819815" y="3125121"/>
              <a:ext cx="264771" cy="22785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A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6" name="Oval 52"/>
            <p:cNvSpPr>
              <a:spLocks noChangeArrowheads="1"/>
            </p:cNvSpPr>
            <p:nvPr/>
          </p:nvSpPr>
          <p:spPr bwMode="auto">
            <a:xfrm>
              <a:off x="7651953" y="3056978"/>
              <a:ext cx="264771" cy="2981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B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7" name="Oval 53"/>
            <p:cNvSpPr>
              <a:spLocks noChangeArrowheads="1"/>
            </p:cNvSpPr>
            <p:nvPr/>
          </p:nvSpPr>
          <p:spPr bwMode="auto">
            <a:xfrm>
              <a:off x="7273708" y="3524395"/>
              <a:ext cx="264771" cy="2906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G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8" name="Oval 54"/>
            <p:cNvSpPr>
              <a:spLocks noChangeArrowheads="1"/>
            </p:cNvSpPr>
            <p:nvPr/>
          </p:nvSpPr>
          <p:spPr bwMode="auto">
            <a:xfrm>
              <a:off x="5791200" y="3738405"/>
              <a:ext cx="272126" cy="30664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F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09" name="Oval 55"/>
            <p:cNvSpPr>
              <a:spLocks noChangeArrowheads="1"/>
            </p:cNvSpPr>
            <p:nvPr/>
          </p:nvSpPr>
          <p:spPr bwMode="auto">
            <a:xfrm>
              <a:off x="6676397" y="3930057"/>
              <a:ext cx="294716" cy="26831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D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0" name="Oval 56"/>
            <p:cNvSpPr>
              <a:spLocks noChangeArrowheads="1"/>
            </p:cNvSpPr>
            <p:nvPr/>
          </p:nvSpPr>
          <p:spPr bwMode="auto">
            <a:xfrm>
              <a:off x="7727602" y="3930057"/>
              <a:ext cx="302596" cy="26831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E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1" name="Oval 57"/>
            <p:cNvSpPr>
              <a:spLocks noChangeArrowheads="1"/>
            </p:cNvSpPr>
            <p:nvPr/>
          </p:nvSpPr>
          <p:spPr bwMode="auto">
            <a:xfrm>
              <a:off x="8635389" y="3815066"/>
              <a:ext cx="264771" cy="26831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C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12" name="Line 60"/>
            <p:cNvSpPr>
              <a:spLocks noChangeShapeType="1"/>
            </p:cNvSpPr>
            <p:nvPr/>
          </p:nvSpPr>
          <p:spPr bwMode="auto">
            <a:xfrm flipV="1">
              <a:off x="7084586" y="3201782"/>
              <a:ext cx="567367" cy="383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13" name="Line 61"/>
            <p:cNvSpPr>
              <a:spLocks noChangeShapeType="1"/>
            </p:cNvSpPr>
            <p:nvPr/>
          </p:nvSpPr>
          <p:spPr bwMode="auto">
            <a:xfrm flipV="1">
              <a:off x="6063326" y="3278442"/>
              <a:ext cx="756489" cy="613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14" name="Line 62"/>
            <p:cNvSpPr>
              <a:spLocks noChangeShapeType="1"/>
            </p:cNvSpPr>
            <p:nvPr/>
          </p:nvSpPr>
          <p:spPr bwMode="auto">
            <a:xfrm>
              <a:off x="6971113" y="3355103"/>
              <a:ext cx="302596" cy="22998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15" name="Line 63"/>
            <p:cNvSpPr>
              <a:spLocks noChangeShapeType="1"/>
            </p:cNvSpPr>
            <p:nvPr/>
          </p:nvSpPr>
          <p:spPr bwMode="auto">
            <a:xfrm flipV="1">
              <a:off x="7500655" y="3355103"/>
              <a:ext cx="226947" cy="22998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16" name="Line 64"/>
            <p:cNvSpPr>
              <a:spLocks noChangeShapeType="1"/>
            </p:cNvSpPr>
            <p:nvPr/>
          </p:nvSpPr>
          <p:spPr bwMode="auto">
            <a:xfrm>
              <a:off x="7499605" y="3772477"/>
              <a:ext cx="303646" cy="195910"/>
            </a:xfrm>
            <a:prstGeom prst="line">
              <a:avLst/>
            </a:prstGeom>
            <a:noFill/>
            <a:ln w="9525">
              <a:solidFill>
                <a:srgbClr val="00206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17" name="Line 65"/>
            <p:cNvSpPr>
              <a:spLocks noChangeShapeType="1"/>
            </p:cNvSpPr>
            <p:nvPr/>
          </p:nvSpPr>
          <p:spPr bwMode="auto">
            <a:xfrm flipH="1">
              <a:off x="6971113" y="3772477"/>
              <a:ext cx="341471" cy="27257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18" name="Line 66"/>
            <p:cNvSpPr>
              <a:spLocks noChangeShapeType="1"/>
            </p:cNvSpPr>
            <p:nvPr/>
          </p:nvSpPr>
          <p:spPr bwMode="auto">
            <a:xfrm>
              <a:off x="6063326" y="3968387"/>
              <a:ext cx="613071" cy="9582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19" name="Line 67"/>
            <p:cNvSpPr>
              <a:spLocks noChangeShapeType="1"/>
            </p:cNvSpPr>
            <p:nvPr/>
          </p:nvSpPr>
          <p:spPr bwMode="auto">
            <a:xfrm>
              <a:off x="6971113" y="4121708"/>
              <a:ext cx="756489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20" name="Text Box 72"/>
            <p:cNvSpPr txBox="1">
              <a:spLocks noChangeArrowheads="1"/>
            </p:cNvSpPr>
            <p:nvPr/>
          </p:nvSpPr>
          <p:spPr bwMode="auto">
            <a:xfrm>
              <a:off x="6214624" y="3355103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7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1" name="Text Box 73"/>
            <p:cNvSpPr txBox="1">
              <a:spLocks noChangeArrowheads="1"/>
            </p:cNvSpPr>
            <p:nvPr/>
          </p:nvSpPr>
          <p:spPr bwMode="auto">
            <a:xfrm>
              <a:off x="8257144" y="3355103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4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2" name="Line 74"/>
            <p:cNvSpPr>
              <a:spLocks noChangeShapeType="1"/>
            </p:cNvSpPr>
            <p:nvPr/>
          </p:nvSpPr>
          <p:spPr bwMode="auto">
            <a:xfrm>
              <a:off x="7916724" y="3240112"/>
              <a:ext cx="794314" cy="57495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123" name="Text Box 75"/>
            <p:cNvSpPr txBox="1">
              <a:spLocks noChangeArrowheads="1"/>
            </p:cNvSpPr>
            <p:nvPr/>
          </p:nvSpPr>
          <p:spPr bwMode="auto">
            <a:xfrm>
              <a:off x="8153652" y="3733614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124" name="Line 77"/>
            <p:cNvSpPr>
              <a:spLocks noChangeShapeType="1"/>
            </p:cNvSpPr>
            <p:nvPr/>
          </p:nvSpPr>
          <p:spPr bwMode="auto">
            <a:xfrm flipV="1">
              <a:off x="8030198" y="3968387"/>
              <a:ext cx="605191" cy="9582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D420B7A0-B50A-09AA-075B-29B7BFF239F7}"/>
              </a:ext>
            </a:extLst>
          </p:cNvPr>
          <p:cNvSpPr txBox="1"/>
          <p:nvPr/>
        </p:nvSpPr>
        <p:spPr>
          <a:xfrm>
            <a:off x="30755" y="448550"/>
            <a:ext cx="813043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previous</a:t>
            </a:r>
          </a:p>
          <a:p>
            <a:r>
              <a:rPr lang="en-US" sz="1400" dirty="0">
                <a:solidFill>
                  <a:srgbClr val="0000FF"/>
                </a:solidFill>
              </a:rPr>
              <a:t>iteration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2EA99914-3DF5-754F-1C4A-8A20A27BA67E}"/>
              </a:ext>
            </a:extLst>
          </p:cNvPr>
          <p:cNvCxnSpPr>
            <a:cxnSpLocks/>
          </p:cNvCxnSpPr>
          <p:nvPr/>
        </p:nvCxnSpPr>
        <p:spPr>
          <a:xfrm flipV="1">
            <a:off x="854805" y="718797"/>
            <a:ext cx="539045" cy="5967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6" name="Picture 15" descr="A picture containing text, clipart&#10;&#10;Description automatically generated">
            <a:extLst>
              <a:ext uri="{FF2B5EF4-FFF2-40B4-BE49-F238E27FC236}">
                <a16:creationId xmlns:a16="http://schemas.microsoft.com/office/drawing/2014/main" id="{DFE9AF62-9DDE-2BD9-EEE9-FD29A8BEB8D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08010" y="34376"/>
            <a:ext cx="4013678" cy="1261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828106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04800" y="1447800"/>
            <a:ext cx="8229600" cy="3992563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4th iteration: Edge EC becomes part of the MST</a:t>
            </a:r>
            <a:endParaRPr lang="en-SG" sz="2400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5th iteration: Edge GA becomes part of the MST</a:t>
            </a:r>
          </a:p>
          <a:p>
            <a:pPr>
              <a:buNone/>
            </a:pPr>
            <a:endParaRPr lang="en-SG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33400" y="2133600"/>
          <a:ext cx="5159692" cy="1463040"/>
        </p:xfrm>
        <a:graphic>
          <a:graphicData uri="http://schemas.openxmlformats.org/drawingml/2006/table">
            <a:tbl>
              <a:tblPr/>
              <a:tblGrid>
                <a:gridCol w="62999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3909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839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02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169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4959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4889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169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619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B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E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F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S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4</a:t>
                      </a:r>
                      <a:endParaRPr lang="en-SG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5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19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pi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  <a:endParaRPr lang="en-SG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E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Null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09600" y="4572000"/>
          <a:ext cx="5181603" cy="1676400"/>
        </p:xfrm>
        <a:graphic>
          <a:graphicData uri="http://schemas.openxmlformats.org/drawingml/2006/table">
            <a:tbl>
              <a:tblPr/>
              <a:tblGrid>
                <a:gridCol w="6326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4181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111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3061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5446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5235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5165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54466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191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B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E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F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S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SG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5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910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pi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SG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E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Null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pSp>
        <p:nvGrpSpPr>
          <p:cNvPr id="6" name="Group 89"/>
          <p:cNvGrpSpPr/>
          <p:nvPr/>
        </p:nvGrpSpPr>
        <p:grpSpPr>
          <a:xfrm>
            <a:off x="5562600" y="228600"/>
            <a:ext cx="3108960" cy="1449097"/>
            <a:chOff x="5562600" y="228600"/>
            <a:chExt cx="3108960" cy="1449097"/>
          </a:xfrm>
        </p:grpSpPr>
        <p:sp>
          <p:nvSpPr>
            <p:cNvPr id="36" name="Text Box 76"/>
            <p:cNvSpPr txBox="1">
              <a:spLocks noChangeArrowheads="1"/>
            </p:cNvSpPr>
            <p:nvPr/>
          </p:nvSpPr>
          <p:spPr bwMode="auto">
            <a:xfrm>
              <a:off x="7090288" y="1447715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7" name="Text Box 40"/>
            <p:cNvSpPr txBox="1">
              <a:spLocks noChangeArrowheads="1"/>
            </p:cNvSpPr>
            <p:nvPr/>
          </p:nvSpPr>
          <p:spPr bwMode="auto">
            <a:xfrm>
              <a:off x="6969460" y="228600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8" name="Text Box 42"/>
            <p:cNvSpPr txBox="1">
              <a:spLocks noChangeArrowheads="1"/>
            </p:cNvSpPr>
            <p:nvPr/>
          </p:nvSpPr>
          <p:spPr bwMode="auto">
            <a:xfrm>
              <a:off x="6019645" y="1295459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5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39" name="Text Box 43"/>
            <p:cNvSpPr txBox="1">
              <a:spLocks noChangeArrowheads="1"/>
            </p:cNvSpPr>
            <p:nvPr/>
          </p:nvSpPr>
          <p:spPr bwMode="auto">
            <a:xfrm>
              <a:off x="7162785" y="533645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6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0" name="Text Box 45"/>
            <p:cNvSpPr txBox="1">
              <a:spLocks noChangeArrowheads="1"/>
            </p:cNvSpPr>
            <p:nvPr/>
          </p:nvSpPr>
          <p:spPr bwMode="auto">
            <a:xfrm>
              <a:off x="6705739" y="914286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1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1" name="Text Box 49"/>
            <p:cNvSpPr txBox="1">
              <a:spLocks noChangeArrowheads="1"/>
            </p:cNvSpPr>
            <p:nvPr/>
          </p:nvSpPr>
          <p:spPr bwMode="auto">
            <a:xfrm>
              <a:off x="6705739" y="609773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2" name="Text Box 50"/>
            <p:cNvSpPr txBox="1">
              <a:spLocks noChangeArrowheads="1"/>
            </p:cNvSpPr>
            <p:nvPr/>
          </p:nvSpPr>
          <p:spPr bwMode="auto">
            <a:xfrm>
              <a:off x="7315133" y="914286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3" name="Oval 51"/>
            <p:cNvSpPr>
              <a:spLocks noChangeArrowheads="1"/>
            </p:cNvSpPr>
            <p:nvPr/>
          </p:nvSpPr>
          <p:spPr bwMode="auto">
            <a:xfrm>
              <a:off x="6591215" y="381921"/>
              <a:ext cx="264771" cy="22785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A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4" name="Oval 52"/>
            <p:cNvSpPr>
              <a:spLocks noChangeArrowheads="1"/>
            </p:cNvSpPr>
            <p:nvPr/>
          </p:nvSpPr>
          <p:spPr bwMode="auto">
            <a:xfrm>
              <a:off x="7423353" y="313778"/>
              <a:ext cx="264771" cy="2981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B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5" name="Oval 53"/>
            <p:cNvSpPr>
              <a:spLocks noChangeArrowheads="1"/>
            </p:cNvSpPr>
            <p:nvPr/>
          </p:nvSpPr>
          <p:spPr bwMode="auto">
            <a:xfrm>
              <a:off x="7045108" y="781195"/>
              <a:ext cx="264771" cy="2906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G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6" name="Oval 54"/>
            <p:cNvSpPr>
              <a:spLocks noChangeArrowheads="1"/>
            </p:cNvSpPr>
            <p:nvPr/>
          </p:nvSpPr>
          <p:spPr bwMode="auto">
            <a:xfrm>
              <a:off x="5562600" y="995205"/>
              <a:ext cx="272126" cy="30664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F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7" name="Oval 55"/>
            <p:cNvSpPr>
              <a:spLocks noChangeArrowheads="1"/>
            </p:cNvSpPr>
            <p:nvPr/>
          </p:nvSpPr>
          <p:spPr bwMode="auto">
            <a:xfrm>
              <a:off x="6447797" y="1186857"/>
              <a:ext cx="294716" cy="26831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D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8" name="Oval 56"/>
            <p:cNvSpPr>
              <a:spLocks noChangeArrowheads="1"/>
            </p:cNvSpPr>
            <p:nvPr/>
          </p:nvSpPr>
          <p:spPr bwMode="auto">
            <a:xfrm>
              <a:off x="7499002" y="1186857"/>
              <a:ext cx="302596" cy="26831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E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49" name="Oval 57"/>
            <p:cNvSpPr>
              <a:spLocks noChangeArrowheads="1"/>
            </p:cNvSpPr>
            <p:nvPr/>
          </p:nvSpPr>
          <p:spPr bwMode="auto">
            <a:xfrm>
              <a:off x="8406789" y="1071866"/>
              <a:ext cx="264771" cy="26831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C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0" name="Line 60"/>
            <p:cNvSpPr>
              <a:spLocks noChangeShapeType="1"/>
            </p:cNvSpPr>
            <p:nvPr/>
          </p:nvSpPr>
          <p:spPr bwMode="auto">
            <a:xfrm flipV="1">
              <a:off x="6855986" y="458582"/>
              <a:ext cx="567367" cy="38330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51" name="Line 61"/>
            <p:cNvSpPr>
              <a:spLocks noChangeShapeType="1"/>
            </p:cNvSpPr>
            <p:nvPr/>
          </p:nvSpPr>
          <p:spPr bwMode="auto">
            <a:xfrm flipV="1">
              <a:off x="5834726" y="535242"/>
              <a:ext cx="756489" cy="613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52" name="Line 62"/>
            <p:cNvSpPr>
              <a:spLocks noChangeShapeType="1"/>
            </p:cNvSpPr>
            <p:nvPr/>
          </p:nvSpPr>
          <p:spPr bwMode="auto">
            <a:xfrm>
              <a:off x="6742513" y="611903"/>
              <a:ext cx="302596" cy="229982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53" name="Line 63"/>
            <p:cNvSpPr>
              <a:spLocks noChangeShapeType="1"/>
            </p:cNvSpPr>
            <p:nvPr/>
          </p:nvSpPr>
          <p:spPr bwMode="auto">
            <a:xfrm flipV="1">
              <a:off x="7272055" y="611903"/>
              <a:ext cx="226947" cy="229982"/>
            </a:xfrm>
            <a:prstGeom prst="line">
              <a:avLst/>
            </a:prstGeom>
            <a:noFill/>
            <a:ln w="9525">
              <a:solidFill>
                <a:srgbClr val="00206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54" name="Line 64"/>
            <p:cNvSpPr>
              <a:spLocks noChangeShapeType="1"/>
            </p:cNvSpPr>
            <p:nvPr/>
          </p:nvSpPr>
          <p:spPr bwMode="auto">
            <a:xfrm>
              <a:off x="7271005" y="1029277"/>
              <a:ext cx="303646" cy="195910"/>
            </a:xfrm>
            <a:prstGeom prst="line">
              <a:avLst/>
            </a:prstGeom>
            <a:noFill/>
            <a:ln w="9525">
              <a:solidFill>
                <a:srgbClr val="00206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55" name="Line 65"/>
            <p:cNvSpPr>
              <a:spLocks noChangeShapeType="1"/>
            </p:cNvSpPr>
            <p:nvPr/>
          </p:nvSpPr>
          <p:spPr bwMode="auto">
            <a:xfrm flipH="1">
              <a:off x="6742513" y="1029277"/>
              <a:ext cx="341471" cy="27257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56" name="Line 66"/>
            <p:cNvSpPr>
              <a:spLocks noChangeShapeType="1"/>
            </p:cNvSpPr>
            <p:nvPr/>
          </p:nvSpPr>
          <p:spPr bwMode="auto">
            <a:xfrm>
              <a:off x="5834726" y="1225187"/>
              <a:ext cx="613071" cy="9582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57" name="Line 67"/>
            <p:cNvSpPr>
              <a:spLocks noChangeShapeType="1"/>
            </p:cNvSpPr>
            <p:nvPr/>
          </p:nvSpPr>
          <p:spPr bwMode="auto">
            <a:xfrm>
              <a:off x="6742513" y="1378508"/>
              <a:ext cx="756489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58" name="Text Box 72"/>
            <p:cNvSpPr txBox="1">
              <a:spLocks noChangeArrowheads="1"/>
            </p:cNvSpPr>
            <p:nvPr/>
          </p:nvSpPr>
          <p:spPr bwMode="auto">
            <a:xfrm>
              <a:off x="5986024" y="611903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7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59" name="Text Box 73"/>
            <p:cNvSpPr txBox="1">
              <a:spLocks noChangeArrowheads="1"/>
            </p:cNvSpPr>
            <p:nvPr/>
          </p:nvSpPr>
          <p:spPr bwMode="auto">
            <a:xfrm>
              <a:off x="8028544" y="611903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4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0" name="Line 74"/>
            <p:cNvSpPr>
              <a:spLocks noChangeShapeType="1"/>
            </p:cNvSpPr>
            <p:nvPr/>
          </p:nvSpPr>
          <p:spPr bwMode="auto">
            <a:xfrm>
              <a:off x="7688124" y="496912"/>
              <a:ext cx="794314" cy="574954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61" name="Text Box 75"/>
            <p:cNvSpPr txBox="1">
              <a:spLocks noChangeArrowheads="1"/>
            </p:cNvSpPr>
            <p:nvPr/>
          </p:nvSpPr>
          <p:spPr bwMode="auto">
            <a:xfrm>
              <a:off x="7925052" y="990414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2" name="Line 77"/>
            <p:cNvSpPr>
              <a:spLocks noChangeShapeType="1"/>
            </p:cNvSpPr>
            <p:nvPr/>
          </p:nvSpPr>
          <p:spPr bwMode="auto">
            <a:xfrm flipV="1">
              <a:off x="7801598" y="1225187"/>
              <a:ext cx="605191" cy="9582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</p:grpSp>
      <p:grpSp>
        <p:nvGrpSpPr>
          <p:cNvPr id="7" name="Group 91"/>
          <p:cNvGrpSpPr/>
          <p:nvPr/>
        </p:nvGrpSpPr>
        <p:grpSpPr>
          <a:xfrm>
            <a:off x="5791200" y="2895600"/>
            <a:ext cx="3108960" cy="1372982"/>
            <a:chOff x="5791200" y="2895600"/>
            <a:chExt cx="3108960" cy="1372982"/>
          </a:xfrm>
        </p:grpSpPr>
        <p:sp>
          <p:nvSpPr>
            <p:cNvPr id="63" name="Text Box 76"/>
            <p:cNvSpPr txBox="1">
              <a:spLocks noChangeArrowheads="1"/>
            </p:cNvSpPr>
            <p:nvPr/>
          </p:nvSpPr>
          <p:spPr bwMode="auto">
            <a:xfrm>
              <a:off x="7239000" y="4038600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4" name="Text Box 40"/>
            <p:cNvSpPr txBox="1">
              <a:spLocks noChangeArrowheads="1"/>
            </p:cNvSpPr>
            <p:nvPr/>
          </p:nvSpPr>
          <p:spPr bwMode="auto">
            <a:xfrm>
              <a:off x="7198060" y="2895600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5" name="Text Box 42"/>
            <p:cNvSpPr txBox="1">
              <a:spLocks noChangeArrowheads="1"/>
            </p:cNvSpPr>
            <p:nvPr/>
          </p:nvSpPr>
          <p:spPr bwMode="auto">
            <a:xfrm>
              <a:off x="6248245" y="3962459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5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6" name="Text Box 43"/>
            <p:cNvSpPr txBox="1">
              <a:spLocks noChangeArrowheads="1"/>
            </p:cNvSpPr>
            <p:nvPr/>
          </p:nvSpPr>
          <p:spPr bwMode="auto">
            <a:xfrm>
              <a:off x="7391385" y="3200645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6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7" name="Text Box 45"/>
            <p:cNvSpPr txBox="1">
              <a:spLocks noChangeArrowheads="1"/>
            </p:cNvSpPr>
            <p:nvPr/>
          </p:nvSpPr>
          <p:spPr bwMode="auto">
            <a:xfrm>
              <a:off x="6934339" y="3581286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1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8" name="Text Box 49"/>
            <p:cNvSpPr txBox="1">
              <a:spLocks noChangeArrowheads="1"/>
            </p:cNvSpPr>
            <p:nvPr/>
          </p:nvSpPr>
          <p:spPr bwMode="auto">
            <a:xfrm>
              <a:off x="6934339" y="3276773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9" name="Text Box 50"/>
            <p:cNvSpPr txBox="1">
              <a:spLocks noChangeArrowheads="1"/>
            </p:cNvSpPr>
            <p:nvPr/>
          </p:nvSpPr>
          <p:spPr bwMode="auto">
            <a:xfrm>
              <a:off x="7543733" y="3581286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0" name="Oval 51"/>
            <p:cNvSpPr>
              <a:spLocks noChangeArrowheads="1"/>
            </p:cNvSpPr>
            <p:nvPr/>
          </p:nvSpPr>
          <p:spPr bwMode="auto">
            <a:xfrm>
              <a:off x="6819815" y="3048921"/>
              <a:ext cx="264771" cy="22785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A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1" name="Oval 52"/>
            <p:cNvSpPr>
              <a:spLocks noChangeArrowheads="1"/>
            </p:cNvSpPr>
            <p:nvPr/>
          </p:nvSpPr>
          <p:spPr bwMode="auto">
            <a:xfrm>
              <a:off x="7651953" y="2980778"/>
              <a:ext cx="264771" cy="2981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B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2" name="Oval 53"/>
            <p:cNvSpPr>
              <a:spLocks noChangeArrowheads="1"/>
            </p:cNvSpPr>
            <p:nvPr/>
          </p:nvSpPr>
          <p:spPr bwMode="auto">
            <a:xfrm>
              <a:off x="7273708" y="3448195"/>
              <a:ext cx="264771" cy="2906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G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3" name="Oval 54"/>
            <p:cNvSpPr>
              <a:spLocks noChangeArrowheads="1"/>
            </p:cNvSpPr>
            <p:nvPr/>
          </p:nvSpPr>
          <p:spPr bwMode="auto">
            <a:xfrm>
              <a:off x="5791200" y="3662205"/>
              <a:ext cx="272126" cy="30664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F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4" name="Oval 55"/>
            <p:cNvSpPr>
              <a:spLocks noChangeArrowheads="1"/>
            </p:cNvSpPr>
            <p:nvPr/>
          </p:nvSpPr>
          <p:spPr bwMode="auto">
            <a:xfrm>
              <a:off x="6676397" y="3853857"/>
              <a:ext cx="294716" cy="26831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D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5" name="Oval 56"/>
            <p:cNvSpPr>
              <a:spLocks noChangeArrowheads="1"/>
            </p:cNvSpPr>
            <p:nvPr/>
          </p:nvSpPr>
          <p:spPr bwMode="auto">
            <a:xfrm>
              <a:off x="7727602" y="3853857"/>
              <a:ext cx="302596" cy="26831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E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6" name="Oval 57"/>
            <p:cNvSpPr>
              <a:spLocks noChangeArrowheads="1"/>
            </p:cNvSpPr>
            <p:nvPr/>
          </p:nvSpPr>
          <p:spPr bwMode="auto">
            <a:xfrm>
              <a:off x="8635389" y="3738866"/>
              <a:ext cx="264771" cy="26831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C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7" name="Line 60"/>
            <p:cNvSpPr>
              <a:spLocks noChangeShapeType="1"/>
            </p:cNvSpPr>
            <p:nvPr/>
          </p:nvSpPr>
          <p:spPr bwMode="auto">
            <a:xfrm flipV="1">
              <a:off x="7084586" y="3125582"/>
              <a:ext cx="567367" cy="38330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78" name="Line 61"/>
            <p:cNvSpPr>
              <a:spLocks noChangeShapeType="1"/>
            </p:cNvSpPr>
            <p:nvPr/>
          </p:nvSpPr>
          <p:spPr bwMode="auto">
            <a:xfrm flipV="1">
              <a:off x="6063326" y="3202242"/>
              <a:ext cx="756489" cy="613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79" name="Line 62"/>
            <p:cNvSpPr>
              <a:spLocks noChangeShapeType="1"/>
            </p:cNvSpPr>
            <p:nvPr/>
          </p:nvSpPr>
          <p:spPr bwMode="auto">
            <a:xfrm>
              <a:off x="6971113" y="3278903"/>
              <a:ext cx="302596" cy="22998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80" name="Line 63"/>
            <p:cNvSpPr>
              <a:spLocks noChangeShapeType="1"/>
            </p:cNvSpPr>
            <p:nvPr/>
          </p:nvSpPr>
          <p:spPr bwMode="auto">
            <a:xfrm flipV="1">
              <a:off x="7500655" y="3278903"/>
              <a:ext cx="226947" cy="229982"/>
            </a:xfrm>
            <a:prstGeom prst="line">
              <a:avLst/>
            </a:prstGeom>
            <a:noFill/>
            <a:ln w="9525">
              <a:solidFill>
                <a:srgbClr val="00206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81" name="Line 64"/>
            <p:cNvSpPr>
              <a:spLocks noChangeShapeType="1"/>
            </p:cNvSpPr>
            <p:nvPr/>
          </p:nvSpPr>
          <p:spPr bwMode="auto">
            <a:xfrm>
              <a:off x="7499605" y="3696277"/>
              <a:ext cx="303646" cy="195910"/>
            </a:xfrm>
            <a:prstGeom prst="line">
              <a:avLst/>
            </a:prstGeom>
            <a:noFill/>
            <a:ln w="9525">
              <a:solidFill>
                <a:srgbClr val="00206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82" name="Line 65"/>
            <p:cNvSpPr>
              <a:spLocks noChangeShapeType="1"/>
            </p:cNvSpPr>
            <p:nvPr/>
          </p:nvSpPr>
          <p:spPr bwMode="auto">
            <a:xfrm flipH="1">
              <a:off x="6971113" y="3696277"/>
              <a:ext cx="341471" cy="27257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83" name="Line 66"/>
            <p:cNvSpPr>
              <a:spLocks noChangeShapeType="1"/>
            </p:cNvSpPr>
            <p:nvPr/>
          </p:nvSpPr>
          <p:spPr bwMode="auto">
            <a:xfrm>
              <a:off x="6063326" y="3892187"/>
              <a:ext cx="613071" cy="95826"/>
            </a:xfrm>
            <a:prstGeom prst="line">
              <a:avLst/>
            </a:prstGeom>
            <a:noFill/>
            <a:ln w="9525">
              <a:solidFill>
                <a:srgbClr val="0000FF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84" name="Line 67"/>
            <p:cNvSpPr>
              <a:spLocks noChangeShapeType="1"/>
            </p:cNvSpPr>
            <p:nvPr/>
          </p:nvSpPr>
          <p:spPr bwMode="auto">
            <a:xfrm>
              <a:off x="6971113" y="4045508"/>
              <a:ext cx="756489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85" name="Text Box 72"/>
            <p:cNvSpPr txBox="1">
              <a:spLocks noChangeArrowheads="1"/>
            </p:cNvSpPr>
            <p:nvPr/>
          </p:nvSpPr>
          <p:spPr bwMode="auto">
            <a:xfrm>
              <a:off x="6214624" y="3278903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7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6" name="Text Box 73"/>
            <p:cNvSpPr txBox="1">
              <a:spLocks noChangeArrowheads="1"/>
            </p:cNvSpPr>
            <p:nvPr/>
          </p:nvSpPr>
          <p:spPr bwMode="auto">
            <a:xfrm>
              <a:off x="8257144" y="3278903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4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7" name="Line 74"/>
            <p:cNvSpPr>
              <a:spLocks noChangeShapeType="1"/>
            </p:cNvSpPr>
            <p:nvPr/>
          </p:nvSpPr>
          <p:spPr bwMode="auto">
            <a:xfrm>
              <a:off x="7916724" y="3163912"/>
              <a:ext cx="794314" cy="5749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88" name="Text Box 75"/>
            <p:cNvSpPr txBox="1">
              <a:spLocks noChangeArrowheads="1"/>
            </p:cNvSpPr>
            <p:nvPr/>
          </p:nvSpPr>
          <p:spPr bwMode="auto">
            <a:xfrm>
              <a:off x="8153652" y="3657414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9" name="Line 77"/>
            <p:cNvSpPr>
              <a:spLocks noChangeShapeType="1"/>
            </p:cNvSpPr>
            <p:nvPr/>
          </p:nvSpPr>
          <p:spPr bwMode="auto">
            <a:xfrm flipV="1">
              <a:off x="8030198" y="3892187"/>
              <a:ext cx="605191" cy="9582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2634FD14-D0D6-371F-8081-CCC3AECDC4AD}"/>
              </a:ext>
            </a:extLst>
          </p:cNvPr>
          <p:cNvSpPr txBox="1"/>
          <p:nvPr/>
        </p:nvSpPr>
        <p:spPr>
          <a:xfrm>
            <a:off x="30755" y="448550"/>
            <a:ext cx="813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previous</a:t>
            </a:r>
          </a:p>
          <a:p>
            <a:r>
              <a:rPr lang="en-US" sz="1400" dirty="0">
                <a:solidFill>
                  <a:srgbClr val="0000FF"/>
                </a:solidFill>
              </a:rPr>
              <a:t>iteration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879C443-77BE-E968-065E-BD5417B257F3}"/>
              </a:ext>
            </a:extLst>
          </p:cNvPr>
          <p:cNvCxnSpPr>
            <a:cxnSpLocks/>
          </p:cNvCxnSpPr>
          <p:nvPr/>
        </p:nvCxnSpPr>
        <p:spPr>
          <a:xfrm>
            <a:off x="762000" y="724764"/>
            <a:ext cx="512469" cy="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3" name="Picture 12" descr="A picture containing text, shoji, crossword puzzle, clipart&#10;&#10;Description automatically generated">
            <a:extLst>
              <a:ext uri="{FF2B5EF4-FFF2-40B4-BE49-F238E27FC236}">
                <a16:creationId xmlns:a16="http://schemas.microsoft.com/office/drawing/2014/main" id="{ED67606C-2C8B-8388-0A97-971E3E5869A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61516" y="67184"/>
            <a:ext cx="4071777" cy="13432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893703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8229600" cy="4297363"/>
          </a:xfrm>
        </p:spPr>
        <p:txBody>
          <a:bodyPr/>
          <a:lstStyle/>
          <a:p>
            <a:pPr>
              <a:buNone/>
            </a:pPr>
            <a:r>
              <a:rPr lang="en-US" sz="2400" dirty="0"/>
              <a:t>6th iteration: Edge AB becomes part of the MST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sz="2400" dirty="0"/>
          </a:p>
          <a:p>
            <a:pPr>
              <a:buNone/>
            </a:pPr>
            <a:r>
              <a:rPr lang="en-US" sz="2400" dirty="0"/>
              <a:t>7th iteration: Edge DF becomes part of the MST</a:t>
            </a:r>
            <a:endParaRPr lang="en-SG" sz="2400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SG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381000" y="1905000"/>
          <a:ext cx="5257801" cy="1463040"/>
        </p:xfrm>
        <a:graphic>
          <a:graphicData uri="http://schemas.openxmlformats.org/drawingml/2006/table">
            <a:tbl>
              <a:tblPr/>
              <a:tblGrid>
                <a:gridCol w="6419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51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053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266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409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195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6123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64091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238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B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E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F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S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 dirty="0"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5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38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pi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E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Null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4495800"/>
          <a:ext cx="5334000" cy="1600200"/>
        </p:xfrm>
        <a:graphic>
          <a:graphicData uri="http://schemas.openxmlformats.org/drawingml/2006/table">
            <a:tbl>
              <a:tblPr/>
              <a:tblGrid>
                <a:gridCol w="6512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068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599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722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371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7154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670821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67371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000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endParaRPr lang="en-US" sz="2400" dirty="0">
                        <a:latin typeface="Calibri"/>
                        <a:ea typeface="Calibri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B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C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E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F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S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solidFill>
                            <a:srgbClr val="FF0000"/>
                          </a:solidFill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 dirty="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3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1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2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5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b="1">
                          <a:latin typeface="Calibri"/>
                          <a:ea typeface="Calibri"/>
                          <a:cs typeface="Times New Roman"/>
                        </a:rPr>
                        <a:t>0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00050"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pi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A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E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G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>
                          <a:latin typeface="Calibri"/>
                          <a:ea typeface="Calibri"/>
                          <a:cs typeface="Times New Roman"/>
                        </a:rPr>
                        <a:t>D</a:t>
                      </a:r>
                      <a:endParaRPr lang="en-SG" sz="140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spcAft>
                          <a:spcPts val="0"/>
                        </a:spcAft>
                      </a:pPr>
                      <a:r>
                        <a:rPr lang="en-US" sz="2400" dirty="0">
                          <a:latin typeface="Calibri"/>
                          <a:ea typeface="Calibri"/>
                          <a:cs typeface="Times New Roman"/>
                        </a:rPr>
                        <a:t>Null</a:t>
                      </a:r>
                      <a:endParaRPr lang="en-SG" sz="1400" dirty="0">
                        <a:latin typeface="Times New Roman"/>
                        <a:ea typeface="Times New Roman"/>
                        <a:cs typeface="Times New Roman"/>
                      </a:endParaRPr>
                    </a:p>
                  </a:txBody>
                  <a:tcPr marL="68580" marR="68580" marT="0" marB="0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36" name="Text Box 76"/>
          <p:cNvSpPr txBox="1">
            <a:spLocks noChangeArrowheads="1"/>
          </p:cNvSpPr>
          <p:nvPr/>
        </p:nvSpPr>
        <p:spPr bwMode="auto">
          <a:xfrm>
            <a:off x="7315200" y="1295400"/>
            <a:ext cx="226947" cy="22998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SG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SimSun" pitchFamily="2" charset="-122"/>
                <a:cs typeface="Arial" pitchFamily="34" charset="0"/>
              </a:rPr>
              <a:t>2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7" name="Text Box 40"/>
          <p:cNvSpPr txBox="1">
            <a:spLocks noChangeArrowheads="1"/>
          </p:cNvSpPr>
          <p:nvPr/>
        </p:nvSpPr>
        <p:spPr bwMode="auto">
          <a:xfrm>
            <a:off x="7274260" y="152400"/>
            <a:ext cx="226947" cy="22998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SG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SimSun" pitchFamily="2" charset="-122"/>
                <a:cs typeface="Arial" pitchFamily="34" charset="0"/>
              </a:rPr>
              <a:t>2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8" name="Text Box 42"/>
          <p:cNvSpPr txBox="1">
            <a:spLocks noChangeArrowheads="1"/>
          </p:cNvSpPr>
          <p:nvPr/>
        </p:nvSpPr>
        <p:spPr bwMode="auto">
          <a:xfrm>
            <a:off x="6324445" y="1219259"/>
            <a:ext cx="226947" cy="22998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SG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SimSun" pitchFamily="2" charset="-122"/>
                <a:cs typeface="Arial" pitchFamily="34" charset="0"/>
              </a:rPr>
              <a:t>5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39" name="Text Box 43"/>
          <p:cNvSpPr txBox="1">
            <a:spLocks noChangeArrowheads="1"/>
          </p:cNvSpPr>
          <p:nvPr/>
        </p:nvSpPr>
        <p:spPr bwMode="auto">
          <a:xfrm>
            <a:off x="7467585" y="457445"/>
            <a:ext cx="226947" cy="22998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SG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SimSun" pitchFamily="2" charset="-122"/>
                <a:cs typeface="Arial" pitchFamily="34" charset="0"/>
              </a:rPr>
              <a:t>6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0" name="Text Box 45"/>
          <p:cNvSpPr txBox="1">
            <a:spLocks noChangeArrowheads="1"/>
          </p:cNvSpPr>
          <p:nvPr/>
        </p:nvSpPr>
        <p:spPr bwMode="auto">
          <a:xfrm>
            <a:off x="7010539" y="838086"/>
            <a:ext cx="226947" cy="22998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SG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SimSun" pitchFamily="2" charset="-122"/>
                <a:cs typeface="Arial" pitchFamily="34" charset="0"/>
              </a:rPr>
              <a:t>1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1" name="Text Box 49"/>
          <p:cNvSpPr txBox="1">
            <a:spLocks noChangeArrowheads="1"/>
          </p:cNvSpPr>
          <p:nvPr/>
        </p:nvSpPr>
        <p:spPr bwMode="auto">
          <a:xfrm>
            <a:off x="7010539" y="533573"/>
            <a:ext cx="226947" cy="22998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SG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SimSun" pitchFamily="2" charset="-122"/>
                <a:cs typeface="Arial" pitchFamily="34" charset="0"/>
              </a:rPr>
              <a:t>3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2" name="Text Box 50"/>
          <p:cNvSpPr txBox="1">
            <a:spLocks noChangeArrowheads="1"/>
          </p:cNvSpPr>
          <p:nvPr/>
        </p:nvSpPr>
        <p:spPr bwMode="auto">
          <a:xfrm>
            <a:off x="7619933" y="838086"/>
            <a:ext cx="226947" cy="22998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SG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SimSun" pitchFamily="2" charset="-122"/>
                <a:cs typeface="Arial" pitchFamily="34" charset="0"/>
              </a:rPr>
              <a:t>3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3" name="Oval 51"/>
          <p:cNvSpPr>
            <a:spLocks noChangeArrowheads="1"/>
          </p:cNvSpPr>
          <p:nvPr/>
        </p:nvSpPr>
        <p:spPr bwMode="auto">
          <a:xfrm>
            <a:off x="6896015" y="305721"/>
            <a:ext cx="264771" cy="227852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  <a:ea typeface="SimSun" pitchFamily="2" charset="-122"/>
                <a:cs typeface="Arial" pitchFamily="34" charset="0"/>
              </a:rPr>
              <a:t>A</a:t>
            </a:r>
            <a:endParaRPr kumimoji="0" 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4" name="Oval 52"/>
          <p:cNvSpPr>
            <a:spLocks noChangeArrowheads="1"/>
          </p:cNvSpPr>
          <p:nvPr/>
        </p:nvSpPr>
        <p:spPr bwMode="auto">
          <a:xfrm>
            <a:off x="7728153" y="237578"/>
            <a:ext cx="264771" cy="298124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SG" altLang="zh-CN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  <a:ea typeface="SimSun" pitchFamily="2" charset="-122"/>
                <a:cs typeface="Arial" pitchFamily="34" charset="0"/>
              </a:rPr>
              <a:t>B</a:t>
            </a:r>
            <a:endParaRPr kumimoji="0" 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5" name="Oval 53"/>
          <p:cNvSpPr>
            <a:spLocks noChangeArrowheads="1"/>
          </p:cNvSpPr>
          <p:nvPr/>
        </p:nvSpPr>
        <p:spPr bwMode="auto">
          <a:xfrm>
            <a:off x="7349908" y="704995"/>
            <a:ext cx="264771" cy="290671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  <a:ea typeface="SimSun" pitchFamily="2" charset="-122"/>
                <a:cs typeface="Arial" pitchFamily="34" charset="0"/>
              </a:rPr>
              <a:t>G</a:t>
            </a:r>
            <a:endParaRPr kumimoji="0" 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6" name="Oval 54"/>
          <p:cNvSpPr>
            <a:spLocks noChangeArrowheads="1"/>
          </p:cNvSpPr>
          <p:nvPr/>
        </p:nvSpPr>
        <p:spPr bwMode="auto">
          <a:xfrm>
            <a:off x="5867400" y="919005"/>
            <a:ext cx="272126" cy="306642"/>
          </a:xfrm>
          <a:prstGeom prst="ellipse">
            <a:avLst/>
          </a:prstGeom>
          <a:solidFill>
            <a:srgbClr val="FFFFFF"/>
          </a:solidFill>
          <a:ln w="9525">
            <a:solidFill>
              <a:srgbClr val="0000FF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  <a:ea typeface="SimSun" pitchFamily="2" charset="-122"/>
                <a:cs typeface="Arial" pitchFamily="34" charset="0"/>
              </a:rPr>
              <a:t>F</a:t>
            </a:r>
            <a:endParaRPr kumimoji="0" 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7" name="Oval 55"/>
          <p:cNvSpPr>
            <a:spLocks noChangeArrowheads="1"/>
          </p:cNvSpPr>
          <p:nvPr/>
        </p:nvSpPr>
        <p:spPr bwMode="auto">
          <a:xfrm>
            <a:off x="6752597" y="1110657"/>
            <a:ext cx="294716" cy="2683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  <a:ea typeface="SimSun" pitchFamily="2" charset="-122"/>
                <a:cs typeface="Arial" pitchFamily="34" charset="0"/>
              </a:rPr>
              <a:t>D</a:t>
            </a:r>
            <a:endParaRPr kumimoji="0" 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8" name="Oval 56"/>
          <p:cNvSpPr>
            <a:spLocks noChangeArrowheads="1"/>
          </p:cNvSpPr>
          <p:nvPr/>
        </p:nvSpPr>
        <p:spPr bwMode="auto">
          <a:xfrm>
            <a:off x="7803802" y="1110657"/>
            <a:ext cx="302596" cy="2683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SG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  <a:ea typeface="SimSun" pitchFamily="2" charset="-122"/>
                <a:cs typeface="Arial" pitchFamily="34" charset="0"/>
              </a:rPr>
              <a:t>E</a:t>
            </a:r>
            <a:endParaRPr kumimoji="0" 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49" name="Oval 57"/>
          <p:cNvSpPr>
            <a:spLocks noChangeArrowheads="1"/>
          </p:cNvSpPr>
          <p:nvPr/>
        </p:nvSpPr>
        <p:spPr bwMode="auto">
          <a:xfrm>
            <a:off x="8711589" y="995666"/>
            <a:ext cx="264771" cy="268312"/>
          </a:xfrm>
          <a:prstGeom prst="ellipse">
            <a:avLst/>
          </a:prstGeom>
          <a:solidFill>
            <a:srgbClr val="FFFFFF"/>
          </a:solidFill>
          <a:ln w="9525">
            <a:solidFill>
              <a:srgbClr val="FF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sz="11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Narrow" pitchFamily="34" charset="0"/>
                <a:ea typeface="SimSun" pitchFamily="2" charset="-122"/>
                <a:cs typeface="Arial" pitchFamily="34" charset="0"/>
              </a:rPr>
              <a:t>C</a:t>
            </a:r>
            <a:endParaRPr kumimoji="0" lang="en-US" sz="11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0" name="Line 60"/>
          <p:cNvSpPr>
            <a:spLocks noChangeShapeType="1"/>
          </p:cNvSpPr>
          <p:nvPr/>
        </p:nvSpPr>
        <p:spPr bwMode="auto">
          <a:xfrm flipV="1">
            <a:off x="7160786" y="382382"/>
            <a:ext cx="567367" cy="3833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 sz="3600"/>
          </a:p>
        </p:txBody>
      </p:sp>
      <p:sp>
        <p:nvSpPr>
          <p:cNvPr id="51" name="Line 61"/>
          <p:cNvSpPr>
            <a:spLocks noChangeShapeType="1"/>
          </p:cNvSpPr>
          <p:nvPr/>
        </p:nvSpPr>
        <p:spPr bwMode="auto">
          <a:xfrm flipV="1">
            <a:off x="6139526" y="459042"/>
            <a:ext cx="756489" cy="613284"/>
          </a:xfrm>
          <a:prstGeom prst="line">
            <a:avLst/>
          </a:prstGeom>
          <a:noFill/>
          <a:ln w="9525">
            <a:solidFill>
              <a:srgbClr val="00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 sz="3600"/>
          </a:p>
        </p:txBody>
      </p:sp>
      <p:sp>
        <p:nvSpPr>
          <p:cNvPr id="52" name="Line 62"/>
          <p:cNvSpPr>
            <a:spLocks noChangeShapeType="1"/>
          </p:cNvSpPr>
          <p:nvPr/>
        </p:nvSpPr>
        <p:spPr bwMode="auto">
          <a:xfrm>
            <a:off x="7047313" y="535703"/>
            <a:ext cx="302596" cy="229982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 sz="3600"/>
          </a:p>
        </p:txBody>
      </p:sp>
      <p:sp>
        <p:nvSpPr>
          <p:cNvPr id="53" name="Line 63"/>
          <p:cNvSpPr>
            <a:spLocks noChangeShapeType="1"/>
          </p:cNvSpPr>
          <p:nvPr/>
        </p:nvSpPr>
        <p:spPr bwMode="auto">
          <a:xfrm flipV="1">
            <a:off x="7576855" y="535703"/>
            <a:ext cx="226947" cy="229982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 sz="3600"/>
          </a:p>
        </p:txBody>
      </p:sp>
      <p:sp>
        <p:nvSpPr>
          <p:cNvPr id="54" name="Line 64"/>
          <p:cNvSpPr>
            <a:spLocks noChangeShapeType="1"/>
          </p:cNvSpPr>
          <p:nvPr/>
        </p:nvSpPr>
        <p:spPr bwMode="auto">
          <a:xfrm>
            <a:off x="7575805" y="953077"/>
            <a:ext cx="303646" cy="195910"/>
          </a:xfrm>
          <a:prstGeom prst="line">
            <a:avLst/>
          </a:prstGeom>
          <a:noFill/>
          <a:ln w="9525">
            <a:solidFill>
              <a:srgbClr val="00206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 sz="3600"/>
          </a:p>
        </p:txBody>
      </p:sp>
      <p:sp>
        <p:nvSpPr>
          <p:cNvPr id="55" name="Line 65"/>
          <p:cNvSpPr>
            <a:spLocks noChangeShapeType="1"/>
          </p:cNvSpPr>
          <p:nvPr/>
        </p:nvSpPr>
        <p:spPr bwMode="auto">
          <a:xfrm flipH="1">
            <a:off x="7047313" y="953077"/>
            <a:ext cx="341471" cy="272571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 sz="3600"/>
          </a:p>
        </p:txBody>
      </p:sp>
      <p:sp>
        <p:nvSpPr>
          <p:cNvPr id="56" name="Line 66"/>
          <p:cNvSpPr>
            <a:spLocks noChangeShapeType="1"/>
          </p:cNvSpPr>
          <p:nvPr/>
        </p:nvSpPr>
        <p:spPr bwMode="auto">
          <a:xfrm>
            <a:off x="6139526" y="1148987"/>
            <a:ext cx="613071" cy="95826"/>
          </a:xfrm>
          <a:prstGeom prst="line">
            <a:avLst/>
          </a:prstGeom>
          <a:noFill/>
          <a:ln w="9525">
            <a:solidFill>
              <a:srgbClr val="0000FF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 sz="3600"/>
          </a:p>
        </p:txBody>
      </p:sp>
      <p:sp>
        <p:nvSpPr>
          <p:cNvPr id="57" name="Line 67"/>
          <p:cNvSpPr>
            <a:spLocks noChangeShapeType="1"/>
          </p:cNvSpPr>
          <p:nvPr/>
        </p:nvSpPr>
        <p:spPr bwMode="auto">
          <a:xfrm>
            <a:off x="7047313" y="1302308"/>
            <a:ext cx="756489" cy="0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 sz="3600"/>
          </a:p>
        </p:txBody>
      </p:sp>
      <p:sp>
        <p:nvSpPr>
          <p:cNvPr id="58" name="Text Box 72"/>
          <p:cNvSpPr txBox="1">
            <a:spLocks noChangeArrowheads="1"/>
          </p:cNvSpPr>
          <p:nvPr/>
        </p:nvSpPr>
        <p:spPr bwMode="auto">
          <a:xfrm>
            <a:off x="6290824" y="535703"/>
            <a:ext cx="226947" cy="22998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SG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SimSun" pitchFamily="2" charset="-122"/>
                <a:cs typeface="Arial" pitchFamily="34" charset="0"/>
              </a:rPr>
              <a:t>7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59" name="Text Box 73"/>
          <p:cNvSpPr txBox="1">
            <a:spLocks noChangeArrowheads="1"/>
          </p:cNvSpPr>
          <p:nvPr/>
        </p:nvSpPr>
        <p:spPr bwMode="auto">
          <a:xfrm>
            <a:off x="8333344" y="535703"/>
            <a:ext cx="226947" cy="22998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SG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SimSun" pitchFamily="2" charset="-122"/>
                <a:cs typeface="Arial" pitchFamily="34" charset="0"/>
              </a:rPr>
              <a:t>4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0" name="Line 74"/>
          <p:cNvSpPr>
            <a:spLocks noChangeShapeType="1"/>
          </p:cNvSpPr>
          <p:nvPr/>
        </p:nvSpPr>
        <p:spPr bwMode="auto">
          <a:xfrm>
            <a:off x="7992924" y="420712"/>
            <a:ext cx="794314" cy="574954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 sz="3600"/>
          </a:p>
        </p:txBody>
      </p:sp>
      <p:sp>
        <p:nvSpPr>
          <p:cNvPr id="61" name="Text Box 75"/>
          <p:cNvSpPr txBox="1">
            <a:spLocks noChangeArrowheads="1"/>
          </p:cNvSpPr>
          <p:nvPr/>
        </p:nvSpPr>
        <p:spPr bwMode="auto">
          <a:xfrm>
            <a:off x="8229852" y="914214"/>
            <a:ext cx="226947" cy="229982"/>
          </a:xfrm>
          <a:prstGeom prst="rect">
            <a:avLst/>
          </a:prstGeom>
          <a:solidFill>
            <a:srgbClr val="FFFFFF"/>
          </a:solidFill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ts val="1000"/>
              </a:spcAft>
              <a:buClrTx/>
              <a:buSzTx/>
              <a:buFontTx/>
              <a:buNone/>
              <a:tabLst/>
            </a:pPr>
            <a:r>
              <a:rPr kumimoji="0" lang="en-SG" altLang="zh-CN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Calibri" pitchFamily="34" charset="0"/>
                <a:ea typeface="SimSun" pitchFamily="2" charset="-122"/>
                <a:cs typeface="Arial" pitchFamily="34" charset="0"/>
              </a:rPr>
              <a:t>2</a:t>
            </a:r>
            <a:endParaRPr kumimoji="0" lang="en-US" sz="1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itchFamily="34" charset="0"/>
              <a:cs typeface="Arial" pitchFamily="34" charset="0"/>
            </a:endParaRPr>
          </a:p>
        </p:txBody>
      </p:sp>
      <p:sp>
        <p:nvSpPr>
          <p:cNvPr id="62" name="Line 77"/>
          <p:cNvSpPr>
            <a:spLocks noChangeShapeType="1"/>
          </p:cNvSpPr>
          <p:nvPr/>
        </p:nvSpPr>
        <p:spPr bwMode="auto">
          <a:xfrm flipV="1">
            <a:off x="8106398" y="1148987"/>
            <a:ext cx="605191" cy="95826"/>
          </a:xfrm>
          <a:prstGeom prst="line">
            <a:avLst/>
          </a:prstGeom>
          <a:noFill/>
          <a:ln w="9525">
            <a:solidFill>
              <a:srgbClr val="FF0000"/>
            </a:solidFill>
            <a:round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SG" sz="3600"/>
          </a:p>
        </p:txBody>
      </p:sp>
      <p:grpSp>
        <p:nvGrpSpPr>
          <p:cNvPr id="6" name="Group 90"/>
          <p:cNvGrpSpPr/>
          <p:nvPr/>
        </p:nvGrpSpPr>
        <p:grpSpPr>
          <a:xfrm>
            <a:off x="5867415" y="2590800"/>
            <a:ext cx="3108960" cy="1448937"/>
            <a:chOff x="5867415" y="2590800"/>
            <a:chExt cx="3108960" cy="1448937"/>
          </a:xfrm>
        </p:grpSpPr>
        <p:sp>
          <p:nvSpPr>
            <p:cNvPr id="63" name="Text Box 76"/>
            <p:cNvSpPr txBox="1">
              <a:spLocks noChangeArrowheads="1"/>
            </p:cNvSpPr>
            <p:nvPr/>
          </p:nvSpPr>
          <p:spPr bwMode="auto">
            <a:xfrm>
              <a:off x="7315215" y="3809755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4" name="Text Box 42"/>
            <p:cNvSpPr txBox="1">
              <a:spLocks noChangeArrowheads="1"/>
            </p:cNvSpPr>
            <p:nvPr/>
          </p:nvSpPr>
          <p:spPr bwMode="auto">
            <a:xfrm>
              <a:off x="6324460" y="3733614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5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5" name="Text Box 43"/>
            <p:cNvSpPr txBox="1">
              <a:spLocks noChangeArrowheads="1"/>
            </p:cNvSpPr>
            <p:nvPr/>
          </p:nvSpPr>
          <p:spPr bwMode="auto">
            <a:xfrm>
              <a:off x="7467600" y="2971800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6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6" name="Text Box 45"/>
            <p:cNvSpPr txBox="1">
              <a:spLocks noChangeArrowheads="1"/>
            </p:cNvSpPr>
            <p:nvPr/>
          </p:nvSpPr>
          <p:spPr bwMode="auto">
            <a:xfrm>
              <a:off x="7010554" y="3352441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1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7" name="Text Box 49"/>
            <p:cNvSpPr txBox="1">
              <a:spLocks noChangeArrowheads="1"/>
            </p:cNvSpPr>
            <p:nvPr/>
          </p:nvSpPr>
          <p:spPr bwMode="auto">
            <a:xfrm>
              <a:off x="7010554" y="3047928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8" name="Text Box 50"/>
            <p:cNvSpPr txBox="1">
              <a:spLocks noChangeArrowheads="1"/>
            </p:cNvSpPr>
            <p:nvPr/>
          </p:nvSpPr>
          <p:spPr bwMode="auto">
            <a:xfrm>
              <a:off x="7619948" y="3352441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3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69" name="Oval 51"/>
            <p:cNvSpPr>
              <a:spLocks noChangeArrowheads="1"/>
            </p:cNvSpPr>
            <p:nvPr/>
          </p:nvSpPr>
          <p:spPr bwMode="auto">
            <a:xfrm>
              <a:off x="6896030" y="2820076"/>
              <a:ext cx="264771" cy="22785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ctr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A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0" name="Oval 52"/>
            <p:cNvSpPr>
              <a:spLocks noChangeArrowheads="1"/>
            </p:cNvSpPr>
            <p:nvPr/>
          </p:nvSpPr>
          <p:spPr bwMode="auto">
            <a:xfrm>
              <a:off x="7728168" y="2751933"/>
              <a:ext cx="264771" cy="298124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B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1" name="Oval 53"/>
            <p:cNvSpPr>
              <a:spLocks noChangeArrowheads="1"/>
            </p:cNvSpPr>
            <p:nvPr/>
          </p:nvSpPr>
          <p:spPr bwMode="auto">
            <a:xfrm>
              <a:off x="7349923" y="3219350"/>
              <a:ext cx="264771" cy="290671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G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2" name="Oval 54"/>
            <p:cNvSpPr>
              <a:spLocks noChangeArrowheads="1"/>
            </p:cNvSpPr>
            <p:nvPr/>
          </p:nvSpPr>
          <p:spPr bwMode="auto">
            <a:xfrm>
              <a:off x="5867415" y="3433360"/>
              <a:ext cx="272126" cy="30664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F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3" name="Oval 55"/>
            <p:cNvSpPr>
              <a:spLocks noChangeArrowheads="1"/>
            </p:cNvSpPr>
            <p:nvPr/>
          </p:nvSpPr>
          <p:spPr bwMode="auto">
            <a:xfrm>
              <a:off x="6752612" y="3625012"/>
              <a:ext cx="294716" cy="26831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D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4" name="Oval 56"/>
            <p:cNvSpPr>
              <a:spLocks noChangeArrowheads="1"/>
            </p:cNvSpPr>
            <p:nvPr/>
          </p:nvSpPr>
          <p:spPr bwMode="auto">
            <a:xfrm>
              <a:off x="7803817" y="3625012"/>
              <a:ext cx="302596" cy="26831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SG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E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5" name="Oval 57"/>
            <p:cNvSpPr>
              <a:spLocks noChangeArrowheads="1"/>
            </p:cNvSpPr>
            <p:nvPr/>
          </p:nvSpPr>
          <p:spPr bwMode="auto">
            <a:xfrm>
              <a:off x="8711604" y="3510021"/>
              <a:ext cx="264771" cy="268312"/>
            </a:xfrm>
            <a:prstGeom prst="ellipse">
              <a:avLst/>
            </a:prstGeom>
            <a:solidFill>
              <a:srgbClr val="FFFFFF"/>
            </a:solidFill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r>
                <a:rPr kumimoji="0" lang="en-US" sz="11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Arial Narrow" pitchFamily="34" charset="0"/>
                  <a:ea typeface="SimSun" pitchFamily="2" charset="-122"/>
                  <a:cs typeface="Arial" pitchFamily="34" charset="0"/>
                </a:rPr>
                <a:t>C</a:t>
              </a:r>
              <a:endParaRPr kumimoji="0" lang="en-US" sz="11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76" name="Line 60"/>
            <p:cNvSpPr>
              <a:spLocks noChangeShapeType="1"/>
            </p:cNvSpPr>
            <p:nvPr/>
          </p:nvSpPr>
          <p:spPr bwMode="auto">
            <a:xfrm flipV="1">
              <a:off x="7160801" y="2896737"/>
              <a:ext cx="567367" cy="3833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77" name="Line 61"/>
            <p:cNvSpPr>
              <a:spLocks noChangeShapeType="1"/>
            </p:cNvSpPr>
            <p:nvPr/>
          </p:nvSpPr>
          <p:spPr bwMode="auto">
            <a:xfrm flipV="1">
              <a:off x="6139541" y="2973397"/>
              <a:ext cx="756489" cy="613284"/>
            </a:xfrm>
            <a:prstGeom prst="line">
              <a:avLst/>
            </a:prstGeom>
            <a:noFill/>
            <a:ln w="9525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78" name="Line 62"/>
            <p:cNvSpPr>
              <a:spLocks noChangeShapeType="1"/>
            </p:cNvSpPr>
            <p:nvPr/>
          </p:nvSpPr>
          <p:spPr bwMode="auto">
            <a:xfrm>
              <a:off x="7047328" y="3050058"/>
              <a:ext cx="302596" cy="229982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79" name="Line 63"/>
            <p:cNvSpPr>
              <a:spLocks noChangeShapeType="1"/>
            </p:cNvSpPr>
            <p:nvPr/>
          </p:nvSpPr>
          <p:spPr bwMode="auto">
            <a:xfrm flipV="1">
              <a:off x="7576870" y="3050058"/>
              <a:ext cx="226947" cy="229982"/>
            </a:xfrm>
            <a:prstGeom prst="line">
              <a:avLst/>
            </a:prstGeom>
            <a:noFill/>
            <a:ln w="9525">
              <a:solidFill>
                <a:srgbClr val="00206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80" name="Line 64"/>
            <p:cNvSpPr>
              <a:spLocks noChangeShapeType="1"/>
            </p:cNvSpPr>
            <p:nvPr/>
          </p:nvSpPr>
          <p:spPr bwMode="auto">
            <a:xfrm>
              <a:off x="7575820" y="3467432"/>
              <a:ext cx="303646" cy="195910"/>
            </a:xfrm>
            <a:prstGeom prst="line">
              <a:avLst/>
            </a:prstGeom>
            <a:noFill/>
            <a:ln w="9525">
              <a:solidFill>
                <a:srgbClr val="00206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81" name="Line 65"/>
            <p:cNvSpPr>
              <a:spLocks noChangeShapeType="1"/>
            </p:cNvSpPr>
            <p:nvPr/>
          </p:nvSpPr>
          <p:spPr bwMode="auto">
            <a:xfrm flipH="1">
              <a:off x="7047328" y="3467432"/>
              <a:ext cx="341471" cy="272571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82" name="Line 66"/>
            <p:cNvSpPr>
              <a:spLocks noChangeShapeType="1"/>
            </p:cNvSpPr>
            <p:nvPr/>
          </p:nvSpPr>
          <p:spPr bwMode="auto">
            <a:xfrm>
              <a:off x="6139541" y="3663342"/>
              <a:ext cx="613071" cy="9582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83" name="Line 67"/>
            <p:cNvSpPr>
              <a:spLocks noChangeShapeType="1"/>
            </p:cNvSpPr>
            <p:nvPr/>
          </p:nvSpPr>
          <p:spPr bwMode="auto">
            <a:xfrm>
              <a:off x="7047328" y="3816663"/>
              <a:ext cx="756489" cy="0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84" name="Text Box 72"/>
            <p:cNvSpPr txBox="1">
              <a:spLocks noChangeArrowheads="1"/>
            </p:cNvSpPr>
            <p:nvPr/>
          </p:nvSpPr>
          <p:spPr bwMode="auto">
            <a:xfrm>
              <a:off x="6290839" y="3050058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7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5" name="Text Box 73"/>
            <p:cNvSpPr txBox="1">
              <a:spLocks noChangeArrowheads="1"/>
            </p:cNvSpPr>
            <p:nvPr/>
          </p:nvSpPr>
          <p:spPr bwMode="auto">
            <a:xfrm>
              <a:off x="8333359" y="3050058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4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6" name="Line 74"/>
            <p:cNvSpPr>
              <a:spLocks noChangeShapeType="1"/>
            </p:cNvSpPr>
            <p:nvPr/>
          </p:nvSpPr>
          <p:spPr bwMode="auto">
            <a:xfrm>
              <a:off x="7992939" y="2935067"/>
              <a:ext cx="794314" cy="57495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87" name="Text Box 75"/>
            <p:cNvSpPr txBox="1">
              <a:spLocks noChangeArrowheads="1"/>
            </p:cNvSpPr>
            <p:nvPr/>
          </p:nvSpPr>
          <p:spPr bwMode="auto">
            <a:xfrm>
              <a:off x="8229867" y="3428569"/>
              <a:ext cx="226947" cy="229982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88" name="Line 77"/>
            <p:cNvSpPr>
              <a:spLocks noChangeShapeType="1"/>
            </p:cNvSpPr>
            <p:nvPr/>
          </p:nvSpPr>
          <p:spPr bwMode="auto">
            <a:xfrm flipV="1">
              <a:off x="8106413" y="3663342"/>
              <a:ext cx="605191" cy="95826"/>
            </a:xfrm>
            <a:prstGeom prst="line">
              <a:avLst/>
            </a:prstGeom>
            <a:noFill/>
            <a:ln w="9525">
              <a:solidFill>
                <a:srgbClr val="FF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SG" sz="3600"/>
            </a:p>
          </p:txBody>
        </p:sp>
        <p:sp>
          <p:nvSpPr>
            <p:cNvPr id="90" name="Text Box 40"/>
            <p:cNvSpPr txBox="1">
              <a:spLocks noChangeArrowheads="1"/>
            </p:cNvSpPr>
            <p:nvPr/>
          </p:nvSpPr>
          <p:spPr bwMode="auto">
            <a:xfrm>
              <a:off x="7239000" y="2590800"/>
              <a:ext cx="228600" cy="228600"/>
            </a:xfrm>
            <a:prstGeom prst="rect">
              <a:avLst/>
            </a:prstGeom>
            <a:solidFill>
              <a:srgbClr val="FFFFFF"/>
            </a:solidFill>
            <a:ln w="9525">
              <a:noFill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pPr marL="0" marR="0" lvl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ts val="1000"/>
                </a:spcAft>
                <a:buClrTx/>
                <a:buSzTx/>
                <a:buFontTx/>
                <a:buNone/>
                <a:tabLst/>
              </a:pPr>
              <a:r>
                <a:rPr kumimoji="0" lang="en-SG" altLang="zh-CN" sz="14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Calibri" pitchFamily="34" charset="0"/>
                  <a:ea typeface="SimSun" pitchFamily="2" charset="-122"/>
                  <a:cs typeface="Arial" pitchFamily="34" charset="0"/>
                </a:rPr>
                <a:t>2</a:t>
              </a:r>
              <a:endParaRPr kumimoji="0" lang="en-US" sz="1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itchFamily="34" charset="0"/>
                <a:cs typeface="Arial" pitchFamily="34" charset="0"/>
              </a:endParaRPr>
            </a:p>
          </p:txBody>
        </p:sp>
      </p:grpSp>
      <p:pic>
        <p:nvPicPr>
          <p:cNvPr id="7" name="Picture 6" descr="A picture containing text, shoji, crossword puzzle, clock&#10;&#10;Description automatically generated">
            <a:extLst>
              <a:ext uri="{FF2B5EF4-FFF2-40B4-BE49-F238E27FC236}">
                <a16:creationId xmlns:a16="http://schemas.microsoft.com/office/drawing/2014/main" id="{B36911EE-4309-03A2-1555-8DBBD480C70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52508" y="75617"/>
            <a:ext cx="3925070" cy="1258633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7D8024D-9740-0B9F-5FE1-D4AAF59DCA5F}"/>
              </a:ext>
            </a:extLst>
          </p:cNvPr>
          <p:cNvSpPr txBox="1"/>
          <p:nvPr/>
        </p:nvSpPr>
        <p:spPr>
          <a:xfrm>
            <a:off x="30755" y="448550"/>
            <a:ext cx="81304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>
                <a:solidFill>
                  <a:srgbClr val="0000FF"/>
                </a:solidFill>
              </a:rPr>
              <a:t>previous</a:t>
            </a:r>
          </a:p>
          <a:p>
            <a:r>
              <a:rPr lang="en-US" sz="1400" dirty="0">
                <a:solidFill>
                  <a:srgbClr val="0000FF"/>
                </a:solidFill>
              </a:rPr>
              <a:t>iteration</a:t>
            </a:r>
          </a:p>
        </p:txBody>
      </p:sp>
      <p:cxnSp>
        <p:nvCxnSpPr>
          <p:cNvPr id="9" name="Straight Arrow Connector 8">
            <a:extLst>
              <a:ext uri="{FF2B5EF4-FFF2-40B4-BE49-F238E27FC236}">
                <a16:creationId xmlns:a16="http://schemas.microsoft.com/office/drawing/2014/main" id="{AA05DC5D-7C09-B942-2810-4BF329F47846}"/>
              </a:ext>
            </a:extLst>
          </p:cNvPr>
          <p:cNvCxnSpPr>
            <a:cxnSpLocks/>
          </p:cNvCxnSpPr>
          <p:nvPr/>
        </p:nvCxnSpPr>
        <p:spPr>
          <a:xfrm>
            <a:off x="762000" y="724764"/>
            <a:ext cx="512469" cy="0"/>
          </a:xfrm>
          <a:prstGeom prst="straightConnector1">
            <a:avLst/>
          </a:prstGeom>
          <a:ln>
            <a:solidFill>
              <a:srgbClr val="0000FF"/>
            </a:solidFill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068101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sz="3600" b="1" dirty="0"/>
              <a:t>Question 5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43000"/>
            <a:ext cx="8077200" cy="4983163"/>
          </a:xfrm>
        </p:spPr>
        <p:txBody>
          <a:bodyPr/>
          <a:lstStyle/>
          <a:p>
            <a:pPr marL="0" lvl="0" indent="0">
              <a:buNone/>
            </a:pPr>
            <a:r>
              <a:rPr lang="en-US" sz="2800" dirty="0">
                <a:solidFill>
                  <a:srgbClr val="0000FF"/>
                </a:solidFill>
              </a:rPr>
              <a:t>In a weighted undirected graph, is the path between two vertices in a minimum spanning tree always the shortest path (i.e. a path with the minimum weight) between the two vertices in the graph?</a:t>
            </a:r>
          </a:p>
          <a:p>
            <a:pPr marL="0" lvl="0" indent="0">
              <a:buNone/>
            </a:pPr>
            <a:endParaRPr lang="en-US" sz="2800" dirty="0">
              <a:solidFill>
                <a:srgbClr val="0000FF"/>
              </a:solidFill>
            </a:endParaRPr>
          </a:p>
          <a:p>
            <a:pPr marL="0" lvl="0" indent="0">
              <a:buNone/>
            </a:pPr>
            <a:r>
              <a:rPr lang="en-US" sz="2800" dirty="0">
                <a:solidFill>
                  <a:srgbClr val="0000FF"/>
                </a:solidFill>
              </a:rPr>
              <a:t>If your answer is yes, give a proof; </a:t>
            </a:r>
          </a:p>
          <a:p>
            <a:pPr marL="0" lvl="0" indent="0">
              <a:buNone/>
            </a:pPr>
            <a:r>
              <a:rPr lang="en-US" sz="2800" dirty="0">
                <a:solidFill>
                  <a:srgbClr val="0000FF"/>
                </a:solidFill>
              </a:rPr>
              <a:t>otherwise, give a counterexample.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233168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04800"/>
            <a:ext cx="8229600" cy="63246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2400" b="1" dirty="0"/>
              <a:t>Answer</a:t>
            </a:r>
            <a:r>
              <a:rPr lang="en-US" sz="2400" dirty="0"/>
              <a:t>: No, it is not always the case.</a:t>
            </a:r>
          </a:p>
          <a:p>
            <a:pPr>
              <a:buNone/>
            </a:pPr>
            <a:r>
              <a:rPr lang="en-US" sz="2400" dirty="0"/>
              <a:t>A counterexample:</a:t>
            </a:r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pPr>
              <a:buNone/>
            </a:pPr>
            <a:endParaRPr lang="en-US" dirty="0"/>
          </a:p>
          <a:p>
            <a:r>
              <a:rPr lang="en-US" sz="2400" dirty="0"/>
              <a:t>The path from vertex </a:t>
            </a:r>
            <a:r>
              <a:rPr lang="en-US" sz="2400" i="1" dirty="0"/>
              <a:t>a</a:t>
            </a:r>
            <a:r>
              <a:rPr lang="en-US" sz="2400" dirty="0"/>
              <a:t> to vertex </a:t>
            </a:r>
            <a:r>
              <a:rPr lang="en-US" sz="2400" i="1" dirty="0"/>
              <a:t>b</a:t>
            </a:r>
            <a:r>
              <a:rPr lang="en-US" sz="2400" dirty="0"/>
              <a:t> in the MST is (</a:t>
            </a:r>
            <a:r>
              <a:rPr lang="en-US" sz="2400" i="1" dirty="0"/>
              <a:t>a, d, c, b</a:t>
            </a:r>
            <a:r>
              <a:rPr lang="en-US" sz="2400" dirty="0"/>
              <a:t>) with weight 1 + 3 + 2 = 6.</a:t>
            </a:r>
          </a:p>
          <a:p>
            <a:r>
              <a:rPr lang="en-US" sz="2400" dirty="0"/>
              <a:t>But the shortest path from </a:t>
            </a:r>
            <a:r>
              <a:rPr lang="en-US" sz="2400" i="1" dirty="0"/>
              <a:t>a</a:t>
            </a:r>
            <a:r>
              <a:rPr lang="en-US" sz="2400" dirty="0"/>
              <a:t> to </a:t>
            </a:r>
            <a:r>
              <a:rPr lang="en-US" sz="2400" i="1" dirty="0"/>
              <a:t>b</a:t>
            </a:r>
            <a:r>
              <a:rPr lang="en-US" sz="2400" dirty="0"/>
              <a:t> in the graph is (</a:t>
            </a:r>
            <a:r>
              <a:rPr lang="en-US" sz="2400" i="1" dirty="0"/>
              <a:t>a, b</a:t>
            </a:r>
            <a:r>
              <a:rPr lang="en-US" sz="2400" dirty="0"/>
              <a:t>) with weight 4, shorter than the path in the MST.</a:t>
            </a:r>
          </a:p>
          <a:p>
            <a:pPr>
              <a:buNone/>
            </a:pP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47800" y="1383972"/>
            <a:ext cx="2286000" cy="2115738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29200" y="1348372"/>
            <a:ext cx="2286000" cy="2151338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447800" y="3499710"/>
            <a:ext cx="21336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A weighted graph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2582" y="3511211"/>
            <a:ext cx="26822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400" dirty="0"/>
              <a:t>Minimum Spanning Tree (MST)</a:t>
            </a:r>
          </a:p>
        </p:txBody>
      </p:sp>
    </p:spTree>
    <p:extLst>
      <p:ext uri="{BB962C8B-B14F-4D97-AF65-F5344CB8AC3E}">
        <p14:creationId xmlns:p14="http://schemas.microsoft.com/office/powerpoint/2010/main" val="20266746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792162"/>
          </a:xfrm>
        </p:spPr>
        <p:txBody>
          <a:bodyPr>
            <a:normAutofit/>
          </a:bodyPr>
          <a:lstStyle/>
          <a:p>
            <a:r>
              <a:rPr lang="en-US" sz="3600" b="1" dirty="0"/>
              <a:t>Question 6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143000"/>
            <a:ext cx="8077200" cy="4983163"/>
          </a:xfrm>
        </p:spPr>
        <p:txBody>
          <a:bodyPr/>
          <a:lstStyle/>
          <a:p>
            <a:pPr marL="0" lvl="0" indent="0">
              <a:buNone/>
            </a:pPr>
            <a:r>
              <a:rPr lang="en-US" sz="2800" dirty="0">
                <a:solidFill>
                  <a:srgbClr val="0000FF"/>
                </a:solidFill>
              </a:rPr>
              <a:t>Draw a connected graph with five nodes, six edges of respective weights 5, 6, 7, 8, 9, 10, and a minimum spanning tree of weight 28. </a:t>
            </a:r>
          </a:p>
          <a:p>
            <a:pPr marL="0" lvl="0" indent="0">
              <a:buNone/>
            </a:pPr>
            <a:endParaRPr lang="en-US" sz="2800" dirty="0">
              <a:solidFill>
                <a:srgbClr val="0000FF"/>
              </a:solidFill>
            </a:endParaRPr>
          </a:p>
          <a:p>
            <a:pPr marL="0" lvl="0" indent="0">
              <a:buNone/>
            </a:pPr>
            <a:r>
              <a:rPr lang="en-US" sz="2800" dirty="0">
                <a:solidFill>
                  <a:srgbClr val="0000FF"/>
                </a:solidFill>
              </a:rPr>
              <a:t>Is it possible to have an MST of weight 29? </a:t>
            </a:r>
          </a:p>
          <a:p>
            <a:r>
              <a:rPr lang="en-US" sz="2800" dirty="0">
                <a:solidFill>
                  <a:srgbClr val="0000FF"/>
                </a:solidFill>
              </a:rPr>
              <a:t>If yes, draw the graph; </a:t>
            </a:r>
          </a:p>
          <a:p>
            <a:r>
              <a:rPr lang="en-US" sz="2800" dirty="0">
                <a:solidFill>
                  <a:srgbClr val="0000FF"/>
                </a:solidFill>
              </a:rPr>
              <a:t>otherwise, provide your justification.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667976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ontent Placeholder 4"/>
          <p:cNvSpPr>
            <a:spLocks noGrp="1"/>
          </p:cNvSpPr>
          <p:nvPr>
            <p:ph sz="quarter" idx="17"/>
          </p:nvPr>
        </p:nvSpPr>
        <p:spPr>
          <a:xfrm>
            <a:off x="696411" y="1973395"/>
            <a:ext cx="7763568" cy="1868319"/>
          </a:xfrm>
        </p:spPr>
        <p:txBody>
          <a:bodyPr/>
          <a:lstStyle/>
          <a:p>
            <a:pPr marL="0" indent="-369887" eaLnBrk="1" hangingPunct="1">
              <a:spcBef>
                <a:spcPts val="0"/>
              </a:spcBef>
              <a:buNone/>
              <a:defRPr/>
            </a:pPr>
            <a:r>
              <a:rPr lang="en-US" altLang="en-US" sz="2000" dirty="0">
                <a:solidFill>
                  <a:schemeClr val="tx1"/>
                </a:solidFill>
              </a:rPr>
              <a:t>Let </a:t>
            </a:r>
            <a:r>
              <a:rPr lang="en-US" altLang="en-US" sz="2000" i="1" dirty="0">
                <a:solidFill>
                  <a:schemeClr val="tx1"/>
                </a:solidFill>
              </a:rPr>
              <a:t>T</a:t>
            </a:r>
            <a:r>
              <a:rPr lang="en-US" altLang="en-US" sz="2000" dirty="0">
                <a:solidFill>
                  <a:schemeClr val="tx1"/>
                </a:solidFill>
              </a:rPr>
              <a:t> be a spanning tree of </a:t>
            </a:r>
            <a:r>
              <a:rPr lang="en-US" altLang="en-US" sz="2000" i="1" dirty="0">
                <a:solidFill>
                  <a:schemeClr val="tx1"/>
                </a:solidFill>
              </a:rPr>
              <a:t>G</a:t>
            </a:r>
            <a:r>
              <a:rPr lang="en-US" altLang="en-US" sz="2000" dirty="0">
                <a:solidFill>
                  <a:schemeClr val="tx1"/>
                </a:solidFill>
              </a:rPr>
              <a:t>, where </a:t>
            </a:r>
            <a:r>
              <a:rPr lang="en-US" altLang="en-US" sz="2000" i="1" dirty="0">
                <a:solidFill>
                  <a:schemeClr val="tx1"/>
                </a:solidFill>
              </a:rPr>
              <a:t>G</a:t>
            </a:r>
            <a:r>
              <a:rPr lang="en-US" altLang="en-US" sz="2000" dirty="0">
                <a:solidFill>
                  <a:schemeClr val="tx1"/>
                </a:solidFill>
              </a:rPr>
              <a:t> = (</a:t>
            </a:r>
            <a:r>
              <a:rPr lang="en-US" altLang="en-US" sz="2000" i="1" dirty="0">
                <a:solidFill>
                  <a:schemeClr val="tx1"/>
                </a:solidFill>
              </a:rPr>
              <a:t>V</a:t>
            </a:r>
            <a:r>
              <a:rPr lang="en-US" altLang="en-US" sz="2000" dirty="0">
                <a:solidFill>
                  <a:schemeClr val="tx1"/>
                </a:solidFill>
              </a:rPr>
              <a:t>, </a:t>
            </a:r>
            <a:r>
              <a:rPr lang="en-US" altLang="en-US" sz="2000" i="1" dirty="0">
                <a:solidFill>
                  <a:schemeClr val="tx1"/>
                </a:solidFill>
              </a:rPr>
              <a:t>E</a:t>
            </a:r>
            <a:r>
              <a:rPr lang="en-US" altLang="en-US" sz="2000" dirty="0">
                <a:solidFill>
                  <a:schemeClr val="tx1"/>
                </a:solidFill>
              </a:rPr>
              <a:t>, </a:t>
            </a:r>
            <a:r>
              <a:rPr lang="en-US" altLang="en-US" sz="2000" i="1" dirty="0">
                <a:solidFill>
                  <a:schemeClr val="tx1"/>
                </a:solidFill>
              </a:rPr>
              <a:t>W</a:t>
            </a:r>
            <a:r>
              <a:rPr lang="en-US" altLang="en-US" sz="2000" dirty="0">
                <a:solidFill>
                  <a:schemeClr val="tx1"/>
                </a:solidFill>
              </a:rPr>
              <a:t>) is a connected, weighted graph. Suppose that for every edge (</a:t>
            </a:r>
            <a:r>
              <a:rPr lang="en-US" altLang="en-US" sz="2000" i="1" dirty="0">
                <a:solidFill>
                  <a:schemeClr val="tx1"/>
                </a:solidFill>
              </a:rPr>
              <a:t>u</a:t>
            </a:r>
            <a:r>
              <a:rPr lang="en-US" altLang="en-US" sz="2000" dirty="0">
                <a:solidFill>
                  <a:schemeClr val="tx1"/>
                </a:solidFill>
              </a:rPr>
              <a:t>, </a:t>
            </a:r>
            <a:r>
              <a:rPr lang="en-US" altLang="en-US" sz="2000" i="1" dirty="0">
                <a:solidFill>
                  <a:schemeClr val="tx1"/>
                </a:solidFill>
              </a:rPr>
              <a:t>v</a:t>
            </a:r>
            <a:r>
              <a:rPr lang="en-US" altLang="en-US" sz="2000" dirty="0">
                <a:solidFill>
                  <a:schemeClr val="tx1"/>
                </a:solidFill>
              </a:rPr>
              <a:t>) of </a:t>
            </a:r>
            <a:r>
              <a:rPr lang="en-US" altLang="en-US" sz="2000" i="1" dirty="0">
                <a:solidFill>
                  <a:schemeClr val="tx1"/>
                </a:solidFill>
              </a:rPr>
              <a:t>G</a:t>
            </a:r>
            <a:r>
              <a:rPr lang="en-US" altLang="en-US" sz="2000" dirty="0">
                <a:solidFill>
                  <a:schemeClr val="tx1"/>
                </a:solidFill>
              </a:rPr>
              <a:t> that is not in </a:t>
            </a:r>
            <a:r>
              <a:rPr lang="en-US" altLang="en-US" sz="2000" i="1" dirty="0">
                <a:solidFill>
                  <a:schemeClr val="tx1"/>
                </a:solidFill>
              </a:rPr>
              <a:t>T</a:t>
            </a:r>
            <a:r>
              <a:rPr lang="en-US" altLang="en-US" sz="2000" dirty="0">
                <a:solidFill>
                  <a:schemeClr val="tx1"/>
                </a:solidFill>
              </a:rPr>
              <a:t>, if (</a:t>
            </a:r>
            <a:r>
              <a:rPr lang="en-US" altLang="en-US" sz="2000" i="1" dirty="0">
                <a:solidFill>
                  <a:schemeClr val="tx1"/>
                </a:solidFill>
              </a:rPr>
              <a:t>u</a:t>
            </a:r>
            <a:r>
              <a:rPr lang="en-US" altLang="en-US" sz="2000" dirty="0">
                <a:solidFill>
                  <a:schemeClr val="tx1"/>
                </a:solidFill>
              </a:rPr>
              <a:t>, </a:t>
            </a:r>
            <a:r>
              <a:rPr lang="en-US" altLang="en-US" sz="2000" i="1" dirty="0">
                <a:solidFill>
                  <a:schemeClr val="tx1"/>
                </a:solidFill>
              </a:rPr>
              <a:t>v</a:t>
            </a:r>
            <a:r>
              <a:rPr lang="en-US" altLang="en-US" sz="2000" dirty="0">
                <a:solidFill>
                  <a:schemeClr val="tx1"/>
                </a:solidFill>
              </a:rPr>
              <a:t>) is added to </a:t>
            </a:r>
            <a:r>
              <a:rPr lang="en-US" altLang="en-US" sz="2000" i="1" dirty="0">
                <a:solidFill>
                  <a:schemeClr val="tx1"/>
                </a:solidFill>
              </a:rPr>
              <a:t>T</a:t>
            </a:r>
            <a:r>
              <a:rPr lang="en-US" altLang="en-US" sz="2000" dirty="0">
                <a:solidFill>
                  <a:schemeClr val="tx1"/>
                </a:solidFill>
              </a:rPr>
              <a:t> it creates a cycle such that (</a:t>
            </a:r>
            <a:r>
              <a:rPr lang="en-US" altLang="en-US" sz="2000" i="1" dirty="0">
                <a:solidFill>
                  <a:schemeClr val="tx1"/>
                </a:solidFill>
              </a:rPr>
              <a:t>u</a:t>
            </a:r>
            <a:r>
              <a:rPr lang="en-US" altLang="en-US" sz="2000" dirty="0">
                <a:solidFill>
                  <a:schemeClr val="tx1"/>
                </a:solidFill>
              </a:rPr>
              <a:t>, </a:t>
            </a:r>
            <a:r>
              <a:rPr lang="en-US" altLang="en-US" sz="2000" i="1" dirty="0">
                <a:solidFill>
                  <a:schemeClr val="tx1"/>
                </a:solidFill>
              </a:rPr>
              <a:t>v</a:t>
            </a:r>
            <a:r>
              <a:rPr lang="en-US" altLang="en-US" sz="2000" dirty="0">
                <a:solidFill>
                  <a:schemeClr val="tx1"/>
                </a:solidFill>
              </a:rPr>
              <a:t>) is a maximum-weight edge on that cycle. Then </a:t>
            </a:r>
            <a:r>
              <a:rPr lang="en-US" altLang="en-US" sz="2000" i="1" dirty="0">
                <a:solidFill>
                  <a:schemeClr val="tx1"/>
                </a:solidFill>
              </a:rPr>
              <a:t>T</a:t>
            </a:r>
            <a:r>
              <a:rPr lang="en-US" altLang="en-US" sz="2000" dirty="0">
                <a:solidFill>
                  <a:schemeClr val="tx1"/>
                </a:solidFill>
              </a:rPr>
              <a:t> has the </a:t>
            </a:r>
            <a:r>
              <a:rPr lang="en-US" altLang="en-US" sz="2000" b="1" dirty="0">
                <a:solidFill>
                  <a:srgbClr val="800000"/>
                </a:solidFill>
              </a:rPr>
              <a:t>Minimum</a:t>
            </a:r>
            <a:r>
              <a:rPr lang="en-US" altLang="en-US" sz="2000" dirty="0">
                <a:solidFill>
                  <a:srgbClr val="C00000"/>
                </a:solidFill>
              </a:rPr>
              <a:t> </a:t>
            </a:r>
            <a:r>
              <a:rPr lang="en-US" altLang="en-US" sz="2000" b="1" dirty="0">
                <a:solidFill>
                  <a:srgbClr val="800000"/>
                </a:solidFill>
              </a:rPr>
              <a:t>Spanning Tree Property</a:t>
            </a:r>
            <a:r>
              <a:rPr lang="en-US" altLang="en-US" sz="2000" dirty="0">
                <a:solidFill>
                  <a:srgbClr val="C00000"/>
                </a:solidFill>
              </a:rPr>
              <a:t> </a:t>
            </a:r>
            <a:r>
              <a:rPr lang="en-US" altLang="en-US" sz="2000" dirty="0">
                <a:solidFill>
                  <a:schemeClr val="tx1"/>
                </a:solidFill>
              </a:rPr>
              <a:t>(or </a:t>
            </a:r>
            <a:r>
              <a:rPr lang="en-US" altLang="en-US" sz="2000" b="1" dirty="0">
                <a:solidFill>
                  <a:srgbClr val="800000"/>
                </a:solidFill>
              </a:rPr>
              <a:t>MST Property</a:t>
            </a:r>
            <a:r>
              <a:rPr lang="en-US" altLang="en-US" sz="2000" dirty="0">
                <a:solidFill>
                  <a:schemeClr val="tx1"/>
                </a:solidFill>
              </a:rPr>
              <a:t>, in short).</a:t>
            </a:r>
          </a:p>
          <a:p>
            <a:pPr marL="316617" indent="-316617" eaLnBrk="1" hangingPunct="1">
              <a:spcBef>
                <a:spcPts val="0"/>
              </a:spcBef>
              <a:buFont typeface="Monotype Sorts" pitchFamily="2" charset="2"/>
              <a:buNone/>
              <a:defRPr/>
            </a:pPr>
            <a:endParaRPr lang="en-US" altLang="en-US" sz="2400" dirty="0">
              <a:solidFill>
                <a:srgbClr val="002060"/>
              </a:solidFill>
            </a:endParaRPr>
          </a:p>
        </p:txBody>
      </p:sp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>
          <a:xfrm>
            <a:off x="338138" y="728663"/>
            <a:ext cx="7916862" cy="495300"/>
          </a:xfrm>
        </p:spPr>
        <p:txBody>
          <a:bodyPr>
            <a:normAutofit fontScale="92500" lnSpcReduction="20000"/>
          </a:bodyPr>
          <a:lstStyle/>
          <a:p>
            <a:pPr marL="315913" indent="-315913">
              <a:defRPr/>
            </a:pPr>
            <a:r>
              <a:rPr altLang="en-US" sz="3600" dirty="0"/>
              <a:t>MST Property</a:t>
            </a:r>
            <a:endParaRPr sz="3600" dirty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 bwMode="auto">
          <a:xfrm>
            <a:off x="412137" y="1498223"/>
            <a:ext cx="5523150" cy="443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315913" indent="-315913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 sz="2400">
                <a:solidFill>
                  <a:srgbClr val="002060"/>
                </a:solidFill>
                <a:latin typeface="+mn-lt"/>
                <a:ea typeface="+mn-ea"/>
                <a:cs typeface="+mn-cs"/>
              </a:defRPr>
            </a:lvl1pPr>
            <a:lvl2pPr marL="685800" indent="-263525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105410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476375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4pPr>
            <a:lvl5pPr marL="1898650" indent="-209550" algn="l" rtl="0" eaLnBrk="0" fontAlgn="base" hangingPunct="0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anose="05000000000000000000" pitchFamily="2" charset="2"/>
              <a:buChar char="§"/>
              <a:defRPr>
                <a:solidFill>
                  <a:schemeClr val="tx1"/>
                </a:solidFill>
                <a:latin typeface="+mn-lt"/>
              </a:defRPr>
            </a:lvl5pPr>
            <a:lvl6pPr marL="2321865" indent="-21107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847">
                <a:solidFill>
                  <a:schemeClr val="tx1"/>
                </a:solidFill>
                <a:latin typeface="+mn-lt"/>
              </a:defRPr>
            </a:lvl6pPr>
            <a:lvl7pPr marL="2744023" indent="-21107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847">
                <a:solidFill>
                  <a:schemeClr val="tx1"/>
                </a:solidFill>
                <a:latin typeface="+mn-lt"/>
              </a:defRPr>
            </a:lvl7pPr>
            <a:lvl8pPr marL="3166181" indent="-21107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847">
                <a:solidFill>
                  <a:schemeClr val="tx1"/>
                </a:solidFill>
                <a:latin typeface="+mn-lt"/>
              </a:defRPr>
            </a:lvl8pPr>
            <a:lvl9pPr marL="3588338" indent="-211079" algn="l" rtl="0" eaLnBrk="1" fontAlgn="base" hangingPunct="1">
              <a:spcBef>
                <a:spcPct val="20000"/>
              </a:spcBef>
              <a:spcAft>
                <a:spcPct val="0"/>
              </a:spcAft>
              <a:buClr>
                <a:schemeClr val="bg2"/>
              </a:buClr>
              <a:buFont typeface="Wingdings" pitchFamily="2" charset="2"/>
              <a:buChar char="§"/>
              <a:defRPr sz="1847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 eaLnBrk="1" hangingPunct="1">
              <a:spcBef>
                <a:spcPct val="0"/>
              </a:spcBef>
              <a:buSzPct val="75000"/>
              <a:buFont typeface="Wingdings" panose="05000000000000000000" pitchFamily="2" charset="2"/>
              <a:buNone/>
            </a:pPr>
            <a:r>
              <a:rPr lang="en-US" altLang="en-US" b="1" kern="0" dirty="0"/>
              <a:t>Minimum Spanning Tree Property</a:t>
            </a:r>
          </a:p>
        </p:txBody>
      </p:sp>
      <p:grpSp>
        <p:nvGrpSpPr>
          <p:cNvPr id="60" name="Group 59">
            <a:extLst>
              <a:ext uri="{FF2B5EF4-FFF2-40B4-BE49-F238E27FC236}">
                <a16:creationId xmlns:a16="http://schemas.microsoft.com/office/drawing/2014/main" id="{ECA3FC52-1790-BD3B-78B8-E43CEF49B68C}"/>
              </a:ext>
            </a:extLst>
          </p:cNvPr>
          <p:cNvGrpSpPr/>
          <p:nvPr/>
        </p:nvGrpSpPr>
        <p:grpSpPr>
          <a:xfrm>
            <a:off x="3546862" y="3880324"/>
            <a:ext cx="1782727" cy="1947960"/>
            <a:chOff x="3354792" y="4356589"/>
            <a:chExt cx="1782727" cy="1947960"/>
          </a:xfrm>
        </p:grpSpPr>
        <p:grpSp>
          <p:nvGrpSpPr>
            <p:cNvPr id="40" name="Group 39">
              <a:extLst>
                <a:ext uri="{FF2B5EF4-FFF2-40B4-BE49-F238E27FC236}">
                  <a16:creationId xmlns:a16="http://schemas.microsoft.com/office/drawing/2014/main" id="{452201A8-7E66-BEBF-62D3-F6EAC4F14136}"/>
                </a:ext>
              </a:extLst>
            </p:cNvPr>
            <p:cNvGrpSpPr/>
            <p:nvPr/>
          </p:nvGrpSpPr>
          <p:grpSpPr>
            <a:xfrm>
              <a:off x="3354792" y="4356589"/>
              <a:ext cx="1780220" cy="1488865"/>
              <a:chOff x="3029904" y="4553890"/>
              <a:chExt cx="1989271" cy="1821257"/>
            </a:xfrm>
          </p:grpSpPr>
          <p:sp>
            <p:nvSpPr>
              <p:cNvPr id="25" name="Text Box 63">
                <a:extLst>
                  <a:ext uri="{FF2B5EF4-FFF2-40B4-BE49-F238E27FC236}">
                    <a16:creationId xmlns:a16="http://schemas.microsoft.com/office/drawing/2014/main" id="{B0995E2A-5CC2-CD10-33FC-6587DD6035D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39744" y="4562090"/>
                <a:ext cx="370614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B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26" name="Line 65">
                <a:extLst>
                  <a:ext uri="{FF2B5EF4-FFF2-40B4-BE49-F238E27FC236}">
                    <a16:creationId xmlns:a16="http://schemas.microsoft.com/office/drawing/2014/main" id="{D513F617-9B06-4A1B-5F26-3710E625FFB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428376" y="4896115"/>
                <a:ext cx="1141486" cy="121370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27" name="Line 71">
                <a:extLst>
                  <a:ext uri="{FF2B5EF4-FFF2-40B4-BE49-F238E27FC236}">
                    <a16:creationId xmlns:a16="http://schemas.microsoft.com/office/drawing/2014/main" id="{83946D62-27CE-7005-0CE3-95594BFD9EA5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3305633" y="4922436"/>
                <a:ext cx="0" cy="10972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28" name="Oval 50">
                <a:extLst>
                  <a:ext uri="{FF2B5EF4-FFF2-40B4-BE49-F238E27FC236}">
                    <a16:creationId xmlns:a16="http://schemas.microsoft.com/office/drawing/2014/main" id="{2FE38A26-FD3A-A615-AC5E-6F9AADE95B2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57089" y="4602397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29" name="Oval 50">
                <a:extLst>
                  <a:ext uri="{FF2B5EF4-FFF2-40B4-BE49-F238E27FC236}">
                    <a16:creationId xmlns:a16="http://schemas.microsoft.com/office/drawing/2014/main" id="{D86C57F3-2E84-3B9E-38E8-F0865133AF17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47991" y="4602397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30" name="Text Box 63">
                <a:extLst>
                  <a:ext uri="{FF2B5EF4-FFF2-40B4-BE49-F238E27FC236}">
                    <a16:creationId xmlns:a16="http://schemas.microsoft.com/office/drawing/2014/main" id="{CC9C215D-C35A-2667-5188-FBF0DFA5ED8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8236" y="4553890"/>
                <a:ext cx="370615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	A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31" name="Oval 50">
                <a:extLst>
                  <a:ext uri="{FF2B5EF4-FFF2-40B4-BE49-F238E27FC236}">
                    <a16:creationId xmlns:a16="http://schemas.microsoft.com/office/drawing/2014/main" id="{665C5331-54A5-3959-98E9-9B7D281495E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3147991" y="601209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32" name="Text Box 63">
                <a:extLst>
                  <a:ext uri="{FF2B5EF4-FFF2-40B4-BE49-F238E27FC236}">
                    <a16:creationId xmlns:a16="http://schemas.microsoft.com/office/drawing/2014/main" id="{0A3F364F-73B6-DAE4-F899-F83940019F9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3128236" y="5963585"/>
                <a:ext cx="370615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	C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33" name="Text Box 63">
                <a:extLst>
                  <a:ext uri="{FF2B5EF4-FFF2-40B4-BE49-F238E27FC236}">
                    <a16:creationId xmlns:a16="http://schemas.microsoft.com/office/drawing/2014/main" id="{8C05F916-871B-F881-EA3F-81ED9D1E627C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4539744" y="5975037"/>
                <a:ext cx="370615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D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34" name="Oval 50">
                <a:extLst>
                  <a:ext uri="{FF2B5EF4-FFF2-40B4-BE49-F238E27FC236}">
                    <a16:creationId xmlns:a16="http://schemas.microsoft.com/office/drawing/2014/main" id="{4A3CC239-1C1E-C4D0-BE1B-804F15967E1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57089" y="6015344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35" name="Line 71">
                <a:extLst>
                  <a:ext uri="{FF2B5EF4-FFF2-40B4-BE49-F238E27FC236}">
                    <a16:creationId xmlns:a16="http://schemas.microsoft.com/office/drawing/2014/main" id="{1F367B9F-88FB-0B4E-7CE7-8767CF1A6CA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716231" y="4922436"/>
                <a:ext cx="0" cy="10972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9BF535DE-D2C1-BCFC-6192-3855A87E4D97}"/>
                  </a:ext>
                </a:extLst>
              </p:cNvPr>
              <p:cNvSpPr txBox="1"/>
              <p:nvPr/>
            </p:nvSpPr>
            <p:spPr>
              <a:xfrm>
                <a:off x="4692604" y="5237599"/>
                <a:ext cx="3265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+mn-lt"/>
                  </a:rPr>
                  <a:t>1</a:t>
                </a:r>
              </a:p>
            </p:txBody>
          </p:sp>
          <p:sp>
            <p:nvSpPr>
              <p:cNvPr id="37" name="TextBox 36">
                <a:extLst>
                  <a:ext uri="{FF2B5EF4-FFF2-40B4-BE49-F238E27FC236}">
                    <a16:creationId xmlns:a16="http://schemas.microsoft.com/office/drawing/2014/main" id="{3DB55341-BA74-50A5-A870-A33B37168D6F}"/>
                  </a:ext>
                </a:extLst>
              </p:cNvPr>
              <p:cNvSpPr txBox="1"/>
              <p:nvPr/>
            </p:nvSpPr>
            <p:spPr>
              <a:xfrm>
                <a:off x="3986002" y="5237599"/>
                <a:ext cx="3265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+mn-lt"/>
                  </a:rPr>
                  <a:t>2</a:t>
                </a:r>
              </a:p>
            </p:txBody>
          </p:sp>
          <p:sp>
            <p:nvSpPr>
              <p:cNvPr id="38" name="TextBox 37">
                <a:extLst>
                  <a:ext uri="{FF2B5EF4-FFF2-40B4-BE49-F238E27FC236}">
                    <a16:creationId xmlns:a16="http://schemas.microsoft.com/office/drawing/2014/main" id="{92B01D64-5665-38BB-DB96-C659DF9E470F}"/>
                  </a:ext>
                </a:extLst>
              </p:cNvPr>
              <p:cNvSpPr txBox="1"/>
              <p:nvPr/>
            </p:nvSpPr>
            <p:spPr>
              <a:xfrm>
                <a:off x="3029904" y="5237599"/>
                <a:ext cx="3265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+mn-lt"/>
                  </a:rPr>
                  <a:t>3</a:t>
                </a:r>
              </a:p>
            </p:txBody>
          </p:sp>
        </p:grpSp>
        <p:sp>
          <p:nvSpPr>
            <p:cNvPr id="58" name="TextBox 57">
              <a:extLst>
                <a:ext uri="{FF2B5EF4-FFF2-40B4-BE49-F238E27FC236}">
                  <a16:creationId xmlns:a16="http://schemas.microsoft.com/office/drawing/2014/main" id="{1EC31AC8-1FA7-9043-9CE3-3F8F88B68520}"/>
                </a:ext>
              </a:extLst>
            </p:cNvPr>
            <p:cNvSpPr txBox="1"/>
            <p:nvPr/>
          </p:nvSpPr>
          <p:spPr>
            <a:xfrm>
              <a:off x="3440131" y="5904439"/>
              <a:ext cx="169738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00B050"/>
                  </a:solidFill>
                </a:rPr>
                <a:t>✓</a:t>
              </a:r>
              <a:r>
                <a:rPr lang="zh-TW" altLang="en-US" sz="1600" b="0" dirty="0"/>
                <a:t> </a:t>
              </a:r>
              <a:r>
                <a:rPr lang="en-US" sz="1600" b="0" dirty="0"/>
                <a:t>MST Property</a:t>
              </a:r>
            </a:p>
          </p:txBody>
        </p:sp>
      </p:grpSp>
      <p:grpSp>
        <p:nvGrpSpPr>
          <p:cNvPr id="61" name="Group 60">
            <a:extLst>
              <a:ext uri="{FF2B5EF4-FFF2-40B4-BE49-F238E27FC236}">
                <a16:creationId xmlns:a16="http://schemas.microsoft.com/office/drawing/2014/main" id="{DA339418-FE18-13DE-831F-C11B2A7840A4}"/>
              </a:ext>
            </a:extLst>
          </p:cNvPr>
          <p:cNvGrpSpPr/>
          <p:nvPr/>
        </p:nvGrpSpPr>
        <p:grpSpPr>
          <a:xfrm>
            <a:off x="6216574" y="3751242"/>
            <a:ext cx="1786788" cy="2077042"/>
            <a:chOff x="6063395" y="4229322"/>
            <a:chExt cx="1786788" cy="2077042"/>
          </a:xfrm>
        </p:grpSpPr>
        <p:grpSp>
          <p:nvGrpSpPr>
            <p:cNvPr id="57" name="Group 56">
              <a:extLst>
                <a:ext uri="{FF2B5EF4-FFF2-40B4-BE49-F238E27FC236}">
                  <a16:creationId xmlns:a16="http://schemas.microsoft.com/office/drawing/2014/main" id="{F196F0C9-C5F1-F46C-7590-15795962466C}"/>
                </a:ext>
              </a:extLst>
            </p:cNvPr>
            <p:cNvGrpSpPr/>
            <p:nvPr/>
          </p:nvGrpSpPr>
          <p:grpSpPr>
            <a:xfrm>
              <a:off x="6063395" y="4229322"/>
              <a:ext cx="1701077" cy="1576763"/>
              <a:chOff x="5819523" y="4309675"/>
              <a:chExt cx="1880455" cy="1972805"/>
            </a:xfrm>
          </p:grpSpPr>
          <p:sp>
            <p:nvSpPr>
              <p:cNvPr id="43" name="Text Box 63">
                <a:extLst>
                  <a:ext uri="{FF2B5EF4-FFF2-40B4-BE49-F238E27FC236}">
                    <a16:creationId xmlns:a16="http://schemas.microsoft.com/office/drawing/2014/main" id="{9DCF10F8-06B6-5B55-83CA-C77ECDB4E13D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29363" y="4469423"/>
                <a:ext cx="370614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B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44" name="Line 65">
                <a:extLst>
                  <a:ext uri="{FF2B5EF4-FFF2-40B4-BE49-F238E27FC236}">
                    <a16:creationId xmlns:a16="http://schemas.microsoft.com/office/drawing/2014/main" id="{472AD4A8-FA8D-8EC3-0186-7ED7C8E5FCC8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6217995" y="4803448"/>
                <a:ext cx="1141486" cy="121370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5" name="Line 67">
                <a:extLst>
                  <a:ext uri="{FF2B5EF4-FFF2-40B4-BE49-F238E27FC236}">
                    <a16:creationId xmlns:a16="http://schemas.microsoft.com/office/drawing/2014/main" id="{173BB6C8-3C43-54FC-C519-82D57203F0A6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265884" y="4663921"/>
                <a:ext cx="10972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46" name="Line 71">
                <a:extLst>
                  <a:ext uri="{FF2B5EF4-FFF2-40B4-BE49-F238E27FC236}">
                    <a16:creationId xmlns:a16="http://schemas.microsoft.com/office/drawing/2014/main" id="{A8C227A5-1CA5-5AE2-28A5-A30B163CF1B1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095252" y="4829769"/>
                <a:ext cx="0" cy="10972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47" name="Oval 50">
                <a:extLst>
                  <a:ext uri="{FF2B5EF4-FFF2-40B4-BE49-F238E27FC236}">
                    <a16:creationId xmlns:a16="http://schemas.microsoft.com/office/drawing/2014/main" id="{7ABD18EB-BD65-9588-7FB3-1C34E3323772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46708" y="4509730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48" name="Oval 50">
                <a:extLst>
                  <a:ext uri="{FF2B5EF4-FFF2-40B4-BE49-F238E27FC236}">
                    <a16:creationId xmlns:a16="http://schemas.microsoft.com/office/drawing/2014/main" id="{E2A0A404-003A-05F4-B379-F68BA9F00CE6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37610" y="4509730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49" name="Text Box 63">
                <a:extLst>
                  <a:ext uri="{FF2B5EF4-FFF2-40B4-BE49-F238E27FC236}">
                    <a16:creationId xmlns:a16="http://schemas.microsoft.com/office/drawing/2014/main" id="{5F1C1AE7-5329-AFF3-A088-C2A332EEB5F3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17855" y="4461223"/>
                <a:ext cx="370615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	A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50" name="Oval 50">
                <a:extLst>
                  <a:ext uri="{FF2B5EF4-FFF2-40B4-BE49-F238E27FC236}">
                    <a16:creationId xmlns:a16="http://schemas.microsoft.com/office/drawing/2014/main" id="{84EEB3FE-C2A3-D987-E3DA-FB0F3399F13F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937610" y="5919425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51" name="Text Box 63">
                <a:extLst>
                  <a:ext uri="{FF2B5EF4-FFF2-40B4-BE49-F238E27FC236}">
                    <a16:creationId xmlns:a16="http://schemas.microsoft.com/office/drawing/2014/main" id="{7C2AD1E3-F070-4FFC-A2B0-6615E934B9A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917855" y="5870918"/>
                <a:ext cx="370615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	C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52" name="Text Box 63">
                <a:extLst>
                  <a:ext uri="{FF2B5EF4-FFF2-40B4-BE49-F238E27FC236}">
                    <a16:creationId xmlns:a16="http://schemas.microsoft.com/office/drawing/2014/main" id="{A0D181D1-B685-624F-140C-0D3169526339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7329363" y="5882370"/>
                <a:ext cx="370615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D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53" name="Oval 50">
                <a:extLst>
                  <a:ext uri="{FF2B5EF4-FFF2-40B4-BE49-F238E27FC236}">
                    <a16:creationId xmlns:a16="http://schemas.microsoft.com/office/drawing/2014/main" id="{0F695859-004F-9542-5C0C-580B22002E6A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7346708" y="5922677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12D62500-5705-0D98-5FAD-6D5577AA60BD}"/>
                  </a:ext>
                </a:extLst>
              </p:cNvPr>
              <p:cNvSpPr txBox="1"/>
              <p:nvPr/>
            </p:nvSpPr>
            <p:spPr>
              <a:xfrm>
                <a:off x="6775621" y="5144932"/>
                <a:ext cx="3265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+mn-lt"/>
                  </a:rPr>
                  <a:t>2</a:t>
                </a:r>
              </a:p>
            </p:txBody>
          </p:sp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FEE4B2F0-14CB-6CC8-75BA-6E0254D1E3C2}"/>
                  </a:ext>
                </a:extLst>
              </p:cNvPr>
              <p:cNvSpPr txBox="1"/>
              <p:nvPr/>
            </p:nvSpPr>
            <p:spPr>
              <a:xfrm>
                <a:off x="5819523" y="5144932"/>
                <a:ext cx="3265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+mn-lt"/>
                  </a:rPr>
                  <a:t>3</a:t>
                </a:r>
              </a:p>
            </p:txBody>
          </p:sp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73041DCA-294A-A0CC-4738-45C94247C12F}"/>
                  </a:ext>
                </a:extLst>
              </p:cNvPr>
              <p:cNvSpPr txBox="1"/>
              <p:nvPr/>
            </p:nvSpPr>
            <p:spPr>
              <a:xfrm>
                <a:off x="6581999" y="4309675"/>
                <a:ext cx="3265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+mn-lt"/>
                  </a:rPr>
                  <a:t>2</a:t>
                </a:r>
              </a:p>
            </p:txBody>
          </p:sp>
        </p:grpSp>
        <p:sp>
          <p:nvSpPr>
            <p:cNvPr id="59" name="TextBox 58">
              <a:extLst>
                <a:ext uri="{FF2B5EF4-FFF2-40B4-BE49-F238E27FC236}">
                  <a16:creationId xmlns:a16="http://schemas.microsoft.com/office/drawing/2014/main" id="{586BAE33-19A1-A1A0-FA10-E9710D05E71F}"/>
                </a:ext>
              </a:extLst>
            </p:cNvPr>
            <p:cNvSpPr txBox="1"/>
            <p:nvPr/>
          </p:nvSpPr>
          <p:spPr>
            <a:xfrm>
              <a:off x="6103102" y="5906254"/>
              <a:ext cx="1747081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dirty="0">
                  <a:solidFill>
                    <a:srgbClr val="FF0000"/>
                  </a:solidFill>
                </a:rPr>
                <a:t>✗</a:t>
              </a:r>
              <a:r>
                <a:rPr lang="zh-TW" altLang="en-US" sz="1600" b="0" dirty="0"/>
                <a:t> </a:t>
              </a:r>
              <a:r>
                <a:rPr lang="en-US" sz="1600" b="0" dirty="0"/>
                <a:t>MST Property</a:t>
              </a:r>
            </a:p>
          </p:txBody>
        </p:sp>
      </p:grpSp>
      <p:grpSp>
        <p:nvGrpSpPr>
          <p:cNvPr id="63" name="Group 62">
            <a:extLst>
              <a:ext uri="{FF2B5EF4-FFF2-40B4-BE49-F238E27FC236}">
                <a16:creationId xmlns:a16="http://schemas.microsoft.com/office/drawing/2014/main" id="{94313963-2E78-C6D6-6678-30029AED3958}"/>
              </a:ext>
            </a:extLst>
          </p:cNvPr>
          <p:cNvGrpSpPr/>
          <p:nvPr/>
        </p:nvGrpSpPr>
        <p:grpSpPr>
          <a:xfrm>
            <a:off x="596578" y="3761456"/>
            <a:ext cx="1720788" cy="2321895"/>
            <a:chOff x="596578" y="3761456"/>
            <a:chExt cx="1720788" cy="2321895"/>
          </a:xfrm>
        </p:grpSpPr>
        <p:grpSp>
          <p:nvGrpSpPr>
            <p:cNvPr id="3" name="Group 2">
              <a:extLst>
                <a:ext uri="{FF2B5EF4-FFF2-40B4-BE49-F238E27FC236}">
                  <a16:creationId xmlns:a16="http://schemas.microsoft.com/office/drawing/2014/main" id="{F427BF7E-5107-3891-BE34-F2A0644262F4}"/>
                </a:ext>
              </a:extLst>
            </p:cNvPr>
            <p:cNvGrpSpPr/>
            <p:nvPr/>
          </p:nvGrpSpPr>
          <p:grpSpPr>
            <a:xfrm>
              <a:off x="596578" y="3761456"/>
              <a:ext cx="1720788" cy="1789468"/>
              <a:chOff x="417494" y="2006772"/>
              <a:chExt cx="1989271" cy="2145082"/>
            </a:xfrm>
          </p:grpSpPr>
          <p:sp>
            <p:nvSpPr>
              <p:cNvPr id="6" name="Text Box 63">
                <a:extLst>
                  <a:ext uri="{FF2B5EF4-FFF2-40B4-BE49-F238E27FC236}">
                    <a16:creationId xmlns:a16="http://schemas.microsoft.com/office/drawing/2014/main" id="{18626093-7525-0621-3133-D3304C6A9A02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7334" y="2166520"/>
                <a:ext cx="370614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B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7" name="Line 65">
                <a:extLst>
                  <a:ext uri="{FF2B5EF4-FFF2-40B4-BE49-F238E27FC236}">
                    <a16:creationId xmlns:a16="http://schemas.microsoft.com/office/drawing/2014/main" id="{391BDF79-8674-1D40-05AC-9A18937C79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815966" y="2500545"/>
                <a:ext cx="1141486" cy="1213708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8" name="Line 67">
                <a:extLst>
                  <a:ext uri="{FF2B5EF4-FFF2-40B4-BE49-F238E27FC236}">
                    <a16:creationId xmlns:a16="http://schemas.microsoft.com/office/drawing/2014/main" id="{F831308D-0107-3FE8-5AAD-79A931DBCF6C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63855" y="2361018"/>
                <a:ext cx="10972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9" name="Line 71">
                <a:extLst>
                  <a:ext uri="{FF2B5EF4-FFF2-40B4-BE49-F238E27FC236}">
                    <a16:creationId xmlns:a16="http://schemas.microsoft.com/office/drawing/2014/main" id="{87AAA663-A95C-5864-50A7-FF18652032DD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693223" y="2526866"/>
                <a:ext cx="0" cy="10972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10" name="Oval 50">
                <a:extLst>
                  <a:ext uri="{FF2B5EF4-FFF2-40B4-BE49-F238E27FC236}">
                    <a16:creationId xmlns:a16="http://schemas.microsoft.com/office/drawing/2014/main" id="{62401A8B-60D0-950B-BBF8-FED5B069F3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4679" y="2206827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1" name="Oval 50">
                <a:extLst>
                  <a:ext uri="{FF2B5EF4-FFF2-40B4-BE49-F238E27FC236}">
                    <a16:creationId xmlns:a16="http://schemas.microsoft.com/office/drawing/2014/main" id="{37C1B931-430E-47F5-7BC0-8E79EAA5E8CD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581" y="2206827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2" name="Text Box 63">
                <a:extLst>
                  <a:ext uri="{FF2B5EF4-FFF2-40B4-BE49-F238E27FC236}">
                    <a16:creationId xmlns:a16="http://schemas.microsoft.com/office/drawing/2014/main" id="{D58D083A-ADEC-9FB1-511B-3581809CDC4B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5826" y="2158320"/>
                <a:ext cx="370615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	A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13" name="Oval 50">
                <a:extLst>
                  <a:ext uri="{FF2B5EF4-FFF2-40B4-BE49-F238E27FC236}">
                    <a16:creationId xmlns:a16="http://schemas.microsoft.com/office/drawing/2014/main" id="{5E1434BA-1932-9A44-AA01-0659F8AB2045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535581" y="3616522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4" name="Text Box 63">
                <a:extLst>
                  <a:ext uri="{FF2B5EF4-FFF2-40B4-BE49-F238E27FC236}">
                    <a16:creationId xmlns:a16="http://schemas.microsoft.com/office/drawing/2014/main" id="{D24C965B-D58E-6A46-17DB-777AAAAC8A7A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515826" y="3568015"/>
                <a:ext cx="370615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	C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15" name="Line 67">
                <a:extLst>
                  <a:ext uri="{FF2B5EF4-FFF2-40B4-BE49-F238E27FC236}">
                    <a16:creationId xmlns:a16="http://schemas.microsoft.com/office/drawing/2014/main" id="{0D3E9B68-0752-750B-9BFC-8B607AFF49D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863855" y="3773439"/>
                <a:ext cx="1097280" cy="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/>
              </a:p>
            </p:txBody>
          </p:sp>
          <p:sp>
            <p:nvSpPr>
              <p:cNvPr id="16" name="Text Box 63">
                <a:extLst>
                  <a:ext uri="{FF2B5EF4-FFF2-40B4-BE49-F238E27FC236}">
                    <a16:creationId xmlns:a16="http://schemas.microsoft.com/office/drawing/2014/main" id="{D79DC234-E2B5-CA49-C331-3E6D1AA4C52F}"/>
                  </a:ext>
                </a:extLst>
              </p:cNvPr>
              <p:cNvSpPr txBox="1">
                <a:spLocks noChangeArrowheads="1"/>
              </p:cNvSpPr>
              <p:nvPr/>
            </p:nvSpPr>
            <p:spPr bwMode="auto">
              <a:xfrm>
                <a:off x="1927334" y="3579467"/>
                <a:ext cx="370615" cy="400110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19050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none" anchor="ctr">
                <a:spAutoFit/>
              </a:bodyPr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r>
                  <a:rPr kumimoji="0" lang="en-US" altLang="en-US" sz="2000" dirty="0">
                    <a:latin typeface="+mn-lt"/>
                  </a:rPr>
                  <a:t>D</a:t>
                </a:r>
                <a:endParaRPr kumimoji="0" lang="en-US" altLang="en-US" sz="2400" dirty="0">
                  <a:latin typeface="+mn-lt"/>
                </a:endParaRPr>
              </a:p>
            </p:txBody>
          </p:sp>
          <p:sp>
            <p:nvSpPr>
              <p:cNvPr id="17" name="Oval 50">
                <a:extLst>
                  <a:ext uri="{FF2B5EF4-FFF2-40B4-BE49-F238E27FC236}">
                    <a16:creationId xmlns:a16="http://schemas.microsoft.com/office/drawing/2014/main" id="{F3D85B33-DE93-947A-61FE-C6BF52E635D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1944679" y="3619774"/>
                <a:ext cx="320040" cy="320040"/>
              </a:xfrm>
              <a:prstGeom prst="ellipse">
                <a:avLst/>
              </a:prstGeom>
              <a:noFill/>
              <a:ln w="28575">
                <a:solidFill>
                  <a:schemeClr val="tx1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 wrap="none" anchor="ctr"/>
              <a:lstStyle>
                <a:lvl1pPr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1pPr>
                <a:lvl2pPr marL="742950" indent="-28575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2pPr>
                <a:lvl3pPr marL="1143000" indent="-22860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3pPr>
                <a:lvl4pPr marL="1600200" indent="-22860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4pPr>
                <a:lvl5pPr marL="2057400" indent="-22860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anose="02020603050405020304" pitchFamily="18" charset="0"/>
                  </a:defRPr>
                </a:lvl9pPr>
              </a:lstStyle>
              <a:p>
                <a:pPr algn="ctr">
                  <a:spcBef>
                    <a:spcPct val="0"/>
                  </a:spcBef>
                  <a:buClrTx/>
                  <a:buFontTx/>
                  <a:buNone/>
                </a:pPr>
                <a:endParaRPr kumimoji="0" lang="en-US" altLang="en-US" sz="2000">
                  <a:latin typeface="Arial" panose="020B0604020202020204" pitchFamily="34" charset="0"/>
                </a:endParaRPr>
              </a:p>
            </p:txBody>
          </p:sp>
          <p:sp>
            <p:nvSpPr>
              <p:cNvPr id="18" name="Line 71">
                <a:extLst>
                  <a:ext uri="{FF2B5EF4-FFF2-40B4-BE49-F238E27FC236}">
                    <a16:creationId xmlns:a16="http://schemas.microsoft.com/office/drawing/2014/main" id="{5B2D28EC-B13B-04A5-F06D-66C9F3A7BDF3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2103821" y="2526866"/>
                <a:ext cx="0" cy="1097280"/>
              </a:xfrm>
              <a:prstGeom prst="line">
                <a:avLst/>
              </a:prstGeom>
              <a:noFill/>
              <a:ln w="28575">
                <a:solidFill>
                  <a:schemeClr val="tx1"/>
                </a:solidFill>
                <a:round/>
                <a:headEnd type="none" w="med" len="med"/>
                <a:tailEnd type="none" w="med" len="med"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 wrap="none" anchor="ctr"/>
              <a:lstStyle/>
              <a:p>
                <a:endParaRPr lang="en-US" sz="2000"/>
              </a:p>
            </p:txBody>
          </p:sp>
          <p:sp>
            <p:nvSpPr>
              <p:cNvPr id="19" name="TextBox 18">
                <a:extLst>
                  <a:ext uri="{FF2B5EF4-FFF2-40B4-BE49-F238E27FC236}">
                    <a16:creationId xmlns:a16="http://schemas.microsoft.com/office/drawing/2014/main" id="{86BE21B7-3271-AF40-F04B-77ECC9CC68A2}"/>
                  </a:ext>
                </a:extLst>
              </p:cNvPr>
              <p:cNvSpPr txBox="1"/>
              <p:nvPr/>
            </p:nvSpPr>
            <p:spPr>
              <a:xfrm>
                <a:off x="2080194" y="2842029"/>
                <a:ext cx="3265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+mn-lt"/>
                  </a:rPr>
                  <a:t>1</a:t>
                </a:r>
              </a:p>
            </p:txBody>
          </p:sp>
          <p:sp>
            <p:nvSpPr>
              <p:cNvPr id="20" name="TextBox 19">
                <a:extLst>
                  <a:ext uri="{FF2B5EF4-FFF2-40B4-BE49-F238E27FC236}">
                    <a16:creationId xmlns:a16="http://schemas.microsoft.com/office/drawing/2014/main" id="{5F727DB9-EB10-41FC-AE23-3BE65A9338C6}"/>
                  </a:ext>
                </a:extLst>
              </p:cNvPr>
              <p:cNvSpPr txBox="1"/>
              <p:nvPr/>
            </p:nvSpPr>
            <p:spPr>
              <a:xfrm>
                <a:off x="1373592" y="2842029"/>
                <a:ext cx="3265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+mn-lt"/>
                  </a:rPr>
                  <a:t>2</a:t>
                </a:r>
              </a:p>
            </p:txBody>
          </p:sp>
          <p:sp>
            <p:nvSpPr>
              <p:cNvPr id="21" name="TextBox 20">
                <a:extLst>
                  <a:ext uri="{FF2B5EF4-FFF2-40B4-BE49-F238E27FC236}">
                    <a16:creationId xmlns:a16="http://schemas.microsoft.com/office/drawing/2014/main" id="{0AB3F8B9-4FB7-6174-CFE5-C92DF2833C33}"/>
                  </a:ext>
                </a:extLst>
              </p:cNvPr>
              <p:cNvSpPr txBox="1"/>
              <p:nvPr/>
            </p:nvSpPr>
            <p:spPr>
              <a:xfrm>
                <a:off x="417494" y="2842029"/>
                <a:ext cx="3265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+mn-lt"/>
                  </a:rPr>
                  <a:t>3</a:t>
                </a:r>
              </a:p>
            </p:txBody>
          </p:sp>
          <p:sp>
            <p:nvSpPr>
              <p:cNvPr id="22" name="TextBox 21">
                <a:extLst>
                  <a:ext uri="{FF2B5EF4-FFF2-40B4-BE49-F238E27FC236}">
                    <a16:creationId xmlns:a16="http://schemas.microsoft.com/office/drawing/2014/main" id="{DBBF09DB-D856-72B5-6B57-E13014995738}"/>
                  </a:ext>
                </a:extLst>
              </p:cNvPr>
              <p:cNvSpPr txBox="1"/>
              <p:nvPr/>
            </p:nvSpPr>
            <p:spPr>
              <a:xfrm>
                <a:off x="1179970" y="3751744"/>
                <a:ext cx="3265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+mn-lt"/>
                  </a:rPr>
                  <a:t>4</a:t>
                </a:r>
              </a:p>
            </p:txBody>
          </p:sp>
          <p:sp>
            <p:nvSpPr>
              <p:cNvPr id="23" name="TextBox 22">
                <a:extLst>
                  <a:ext uri="{FF2B5EF4-FFF2-40B4-BE49-F238E27FC236}">
                    <a16:creationId xmlns:a16="http://schemas.microsoft.com/office/drawing/2014/main" id="{C41696EC-1637-5765-0620-68C99C59432D}"/>
                  </a:ext>
                </a:extLst>
              </p:cNvPr>
              <p:cNvSpPr txBox="1"/>
              <p:nvPr/>
            </p:nvSpPr>
            <p:spPr>
              <a:xfrm>
                <a:off x="1179970" y="2006772"/>
                <a:ext cx="326571" cy="40011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2000" dirty="0">
                    <a:latin typeface="+mn-lt"/>
                  </a:rPr>
                  <a:t>2</a:t>
                </a:r>
              </a:p>
            </p:txBody>
          </p:sp>
        </p:grpSp>
        <p:sp>
          <p:nvSpPr>
            <p:cNvPr id="62" name="TextBox 61">
              <a:extLst>
                <a:ext uri="{FF2B5EF4-FFF2-40B4-BE49-F238E27FC236}">
                  <a16:creationId xmlns:a16="http://schemas.microsoft.com/office/drawing/2014/main" id="{484F9910-319E-A366-BAE5-C01CD6DB5BCD}"/>
                </a:ext>
              </a:extLst>
            </p:cNvPr>
            <p:cNvSpPr txBox="1"/>
            <p:nvPr/>
          </p:nvSpPr>
          <p:spPr>
            <a:xfrm>
              <a:off x="1231917" y="5683241"/>
              <a:ext cx="383438" cy="400110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sz="2000" b="0" dirty="0"/>
                <a:t>G</a:t>
              </a:r>
            </a:p>
          </p:txBody>
        </p:sp>
      </p:grpSp>
    </p:spTree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/>
          <p:cNvSpPr>
            <a:spLocks noGrp="1"/>
          </p:cNvSpPr>
          <p:nvPr>
            <p:ph type="body" sz="quarter" idx="16"/>
          </p:nvPr>
        </p:nvSpPr>
        <p:spPr>
          <a:xfrm>
            <a:off x="338138" y="728663"/>
            <a:ext cx="7916862" cy="495300"/>
          </a:xfrm>
        </p:spPr>
        <p:txBody>
          <a:bodyPr>
            <a:normAutofit fontScale="92500" lnSpcReduction="20000"/>
          </a:bodyPr>
          <a:lstStyle/>
          <a:p>
            <a:pPr marL="315913" indent="-315913">
              <a:defRPr/>
            </a:pPr>
            <a:r>
              <a:rPr altLang="en-US" sz="3600" dirty="0"/>
              <a:t>Theorem 1</a:t>
            </a:r>
            <a:endParaRPr sz="3600" dirty="0"/>
          </a:p>
        </p:txBody>
      </p:sp>
      <p:sp>
        <p:nvSpPr>
          <p:cNvPr id="8" name="Rounded Rectangle 42">
            <a:extLst>
              <a:ext uri="{FF2B5EF4-FFF2-40B4-BE49-F238E27FC236}">
                <a16:creationId xmlns:a16="http://schemas.microsoft.com/office/drawing/2014/main" id="{05574298-48A0-F6A8-0657-0658C30E5818}"/>
              </a:ext>
            </a:extLst>
          </p:cNvPr>
          <p:cNvSpPr/>
          <p:nvPr/>
        </p:nvSpPr>
        <p:spPr>
          <a:xfrm>
            <a:off x="545689" y="1549055"/>
            <a:ext cx="8146027" cy="1341629"/>
          </a:xfrm>
          <a:prstGeom prst="roundRect">
            <a:avLst/>
          </a:prstGeom>
          <a:solidFill>
            <a:srgbClr val="BBE0E3">
              <a:hueOff val="0"/>
              <a:satOff val="0"/>
              <a:lumOff val="0"/>
              <a:alphaOff val="0"/>
            </a:srgbClr>
          </a:solidFill>
          <a:ln w="25400" cap="flat" cmpd="sng" algn="ctr">
            <a:solidFill>
              <a:srgbClr val="FFFFFF">
                <a:hueOff val="0"/>
                <a:satOff val="0"/>
                <a:lumOff val="0"/>
                <a:alphaOff val="0"/>
              </a:srgbClr>
            </a:solidFill>
            <a:prstDash val="solid"/>
          </a:ln>
          <a:effectLst/>
        </p:spPr>
        <p:txBody>
          <a:bodyPr/>
          <a:lstStyle/>
          <a:p>
            <a:pPr marL="0" marR="0" lvl="0" indent="0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/>
              <a:ea typeface="+mn-ea"/>
              <a:cs typeface="+mn-cs"/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69A695B0-1713-29B2-D6E9-FBD34BF1E274}"/>
              </a:ext>
            </a:extLst>
          </p:cNvPr>
          <p:cNvSpPr txBox="1"/>
          <p:nvPr/>
        </p:nvSpPr>
        <p:spPr>
          <a:xfrm>
            <a:off x="585018" y="1615992"/>
            <a:ext cx="8170607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400" b="1" dirty="0">
                <a:solidFill>
                  <a:srgbClr val="002060"/>
                </a:solidFill>
                <a:latin typeface="Arial"/>
                <a:cs typeface="Arial" panose="020B0604020202020204" pitchFamily="34" charset="0"/>
              </a:rPr>
              <a:t>Theorem 1</a:t>
            </a:r>
            <a:r>
              <a:rPr lang="en-US" altLang="en-US" sz="2400" dirty="0">
                <a:solidFill>
                  <a:srgbClr val="002060"/>
                </a:solidFill>
                <a:latin typeface="Arial"/>
                <a:cs typeface="Arial" panose="020B0604020202020204" pitchFamily="34" charset="0"/>
              </a:rPr>
              <a:t>: </a:t>
            </a:r>
            <a:r>
              <a:rPr lang="en-US" altLang="en-US" sz="2400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In a connected weighted graph G = (V, E, W), a tree </a:t>
            </a:r>
            <a:r>
              <a:rPr lang="en-US" altLang="en-US" sz="2400" i="1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T</a:t>
            </a:r>
            <a:r>
              <a:rPr lang="en-US" altLang="en-US" sz="2400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 is a minimum spanning tree if and only if </a:t>
            </a:r>
            <a:r>
              <a:rPr lang="en-US" altLang="en-US" sz="2400" i="1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T</a:t>
            </a:r>
            <a:r>
              <a:rPr lang="en-US" altLang="en-US" sz="2400" dirty="0">
                <a:solidFill>
                  <a:srgbClr val="000000"/>
                </a:solidFill>
                <a:latin typeface="Arial"/>
                <a:cs typeface="Arial" panose="020B0604020202020204" pitchFamily="34" charset="0"/>
              </a:rPr>
              <a:t> has the MST property.</a:t>
            </a:r>
          </a:p>
        </p:txBody>
      </p:sp>
    </p:spTree>
    <p:extLst>
      <p:ext uri="{BB962C8B-B14F-4D97-AF65-F5344CB8AC3E}">
        <p14:creationId xmlns:p14="http://schemas.microsoft.com/office/powerpoint/2010/main" val="3576017009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Edge weights: 5, 6, 7, 8, 9, 10</a:t>
            </a:r>
          </a:p>
          <a:p>
            <a:r>
              <a:rPr lang="en-SG" dirty="0"/>
              <a:t>MST of weight 28:  5, 6, 7, 10 or 5, 6, 8, 9</a:t>
            </a:r>
          </a:p>
        </p:txBody>
      </p:sp>
      <p:sp>
        <p:nvSpPr>
          <p:cNvPr id="4" name="Oval 3"/>
          <p:cNvSpPr/>
          <p:nvPr/>
        </p:nvSpPr>
        <p:spPr>
          <a:xfrm>
            <a:off x="990600" y="3589338"/>
            <a:ext cx="381000" cy="41116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sz="2400" dirty="0"/>
              <a:t>a</a:t>
            </a:r>
            <a:endParaRPr lang="en-SG" sz="1600" dirty="0"/>
          </a:p>
        </p:txBody>
      </p:sp>
      <p:sp>
        <p:nvSpPr>
          <p:cNvPr id="5" name="Oval 4"/>
          <p:cNvSpPr/>
          <p:nvPr/>
        </p:nvSpPr>
        <p:spPr>
          <a:xfrm>
            <a:off x="1143000" y="4617933"/>
            <a:ext cx="381000" cy="41116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sz="2400" dirty="0"/>
              <a:t>c</a:t>
            </a:r>
            <a:endParaRPr lang="en-SG" sz="1600" dirty="0"/>
          </a:p>
        </p:txBody>
      </p:sp>
      <p:sp>
        <p:nvSpPr>
          <p:cNvPr id="6" name="Oval 5"/>
          <p:cNvSpPr/>
          <p:nvPr/>
        </p:nvSpPr>
        <p:spPr>
          <a:xfrm>
            <a:off x="2264886" y="3580818"/>
            <a:ext cx="381000" cy="38683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sz="2400" dirty="0"/>
              <a:t>b</a:t>
            </a:r>
            <a:endParaRPr lang="en-SG" sz="1600" dirty="0"/>
          </a:p>
        </p:txBody>
      </p:sp>
      <p:cxnSp>
        <p:nvCxnSpPr>
          <p:cNvPr id="7" name="Straight Arrow Connector 6"/>
          <p:cNvCxnSpPr>
            <a:stCxn id="4" idx="6"/>
            <a:endCxn id="6" idx="2"/>
          </p:cNvCxnSpPr>
          <p:nvPr/>
        </p:nvCxnSpPr>
        <p:spPr>
          <a:xfrm flipV="1">
            <a:off x="1371600" y="3774235"/>
            <a:ext cx="893286" cy="20685"/>
          </a:xfrm>
          <a:prstGeom prst="straightConnector1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Arrow Connector 7"/>
          <p:cNvCxnSpPr>
            <a:endCxn id="5" idx="0"/>
          </p:cNvCxnSpPr>
          <p:nvPr/>
        </p:nvCxnSpPr>
        <p:spPr>
          <a:xfrm>
            <a:off x="1181100" y="4000501"/>
            <a:ext cx="152400" cy="617432"/>
          </a:xfrm>
          <a:prstGeom prst="straightConnector1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Arrow Connector 8"/>
          <p:cNvCxnSpPr>
            <a:stCxn id="14" idx="0"/>
            <a:endCxn id="6" idx="4"/>
          </p:cNvCxnSpPr>
          <p:nvPr/>
        </p:nvCxnSpPr>
        <p:spPr>
          <a:xfrm flipV="1">
            <a:off x="2455386" y="3967651"/>
            <a:ext cx="0" cy="606057"/>
          </a:xfrm>
          <a:prstGeom prst="straightConnector1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 flipH="1">
            <a:off x="1615120" y="3516868"/>
            <a:ext cx="385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11" name="TextBox 10"/>
          <p:cNvSpPr txBox="1"/>
          <p:nvPr/>
        </p:nvSpPr>
        <p:spPr>
          <a:xfrm flipH="1">
            <a:off x="990600" y="4076409"/>
            <a:ext cx="360932" cy="36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chemeClr val="accent1"/>
                </a:solidFill>
              </a:rPr>
              <a:t>7</a:t>
            </a:r>
          </a:p>
        </p:txBody>
      </p:sp>
      <p:sp>
        <p:nvSpPr>
          <p:cNvPr id="12" name="TextBox 11"/>
          <p:cNvSpPr txBox="1"/>
          <p:nvPr/>
        </p:nvSpPr>
        <p:spPr>
          <a:xfrm flipH="1">
            <a:off x="2407405" y="4040136"/>
            <a:ext cx="411995" cy="382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14" name="Oval 13"/>
          <p:cNvSpPr/>
          <p:nvPr/>
        </p:nvSpPr>
        <p:spPr>
          <a:xfrm>
            <a:off x="2264886" y="4573708"/>
            <a:ext cx="381000" cy="38683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sz="2400" dirty="0"/>
              <a:t>d</a:t>
            </a:r>
            <a:endParaRPr lang="en-SG" sz="1600" dirty="0"/>
          </a:p>
        </p:txBody>
      </p:sp>
      <p:sp>
        <p:nvSpPr>
          <p:cNvPr id="15" name="Oval 14"/>
          <p:cNvSpPr/>
          <p:nvPr/>
        </p:nvSpPr>
        <p:spPr>
          <a:xfrm>
            <a:off x="3200400" y="4075928"/>
            <a:ext cx="381000" cy="38683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sz="2400" dirty="0"/>
              <a:t>e</a:t>
            </a:r>
            <a:endParaRPr lang="en-SG" sz="1600" dirty="0"/>
          </a:p>
        </p:txBody>
      </p:sp>
      <p:cxnSp>
        <p:nvCxnSpPr>
          <p:cNvPr id="23" name="Straight Arrow Connector 22"/>
          <p:cNvCxnSpPr>
            <a:stCxn id="5" idx="7"/>
            <a:endCxn id="6" idx="3"/>
          </p:cNvCxnSpPr>
          <p:nvPr/>
        </p:nvCxnSpPr>
        <p:spPr>
          <a:xfrm flipV="1">
            <a:off x="1468204" y="3911001"/>
            <a:ext cx="852478" cy="767145"/>
          </a:xfrm>
          <a:prstGeom prst="straightConnector1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TextBox 26"/>
          <p:cNvSpPr txBox="1"/>
          <p:nvPr/>
        </p:nvSpPr>
        <p:spPr>
          <a:xfrm flipH="1">
            <a:off x="1600200" y="4355550"/>
            <a:ext cx="360932" cy="36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8</a:t>
            </a:r>
          </a:p>
        </p:txBody>
      </p:sp>
      <p:cxnSp>
        <p:nvCxnSpPr>
          <p:cNvPr id="32" name="Straight Arrow Connector 31"/>
          <p:cNvCxnSpPr/>
          <p:nvPr/>
        </p:nvCxnSpPr>
        <p:spPr>
          <a:xfrm flipH="1" flipV="1">
            <a:off x="1315804" y="3933775"/>
            <a:ext cx="1004878" cy="690070"/>
          </a:xfrm>
          <a:prstGeom prst="straightConnector1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 flipH="1">
            <a:off x="2024244" y="4217546"/>
            <a:ext cx="374020" cy="382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9</a:t>
            </a:r>
          </a:p>
        </p:txBody>
      </p:sp>
      <p:cxnSp>
        <p:nvCxnSpPr>
          <p:cNvPr id="37" name="Straight Arrow Connector 36"/>
          <p:cNvCxnSpPr>
            <a:stCxn id="14" idx="7"/>
            <a:endCxn id="15" idx="2"/>
          </p:cNvCxnSpPr>
          <p:nvPr/>
        </p:nvCxnSpPr>
        <p:spPr>
          <a:xfrm flipV="1">
            <a:off x="2590090" y="4269345"/>
            <a:ext cx="610310" cy="361013"/>
          </a:xfrm>
          <a:prstGeom prst="straightConnector1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TextBox 37"/>
          <p:cNvSpPr txBox="1"/>
          <p:nvPr/>
        </p:nvSpPr>
        <p:spPr>
          <a:xfrm flipH="1">
            <a:off x="2779264" y="4343400"/>
            <a:ext cx="520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0070C0"/>
                </a:solidFill>
              </a:rPr>
              <a:t>10</a:t>
            </a:r>
          </a:p>
        </p:txBody>
      </p:sp>
      <p:sp>
        <p:nvSpPr>
          <p:cNvPr id="41" name="Oval 40"/>
          <p:cNvSpPr/>
          <p:nvPr/>
        </p:nvSpPr>
        <p:spPr>
          <a:xfrm>
            <a:off x="4648200" y="3589442"/>
            <a:ext cx="381000" cy="41116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sz="2400" dirty="0"/>
              <a:t>a</a:t>
            </a:r>
            <a:endParaRPr lang="en-SG" sz="1600" dirty="0"/>
          </a:p>
        </p:txBody>
      </p:sp>
      <p:sp>
        <p:nvSpPr>
          <p:cNvPr id="42" name="Oval 41"/>
          <p:cNvSpPr/>
          <p:nvPr/>
        </p:nvSpPr>
        <p:spPr>
          <a:xfrm>
            <a:off x="4800600" y="4618037"/>
            <a:ext cx="381000" cy="41116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sz="2400" dirty="0"/>
              <a:t>c</a:t>
            </a:r>
            <a:endParaRPr lang="en-SG" sz="1600" dirty="0"/>
          </a:p>
        </p:txBody>
      </p:sp>
      <p:sp>
        <p:nvSpPr>
          <p:cNvPr id="43" name="Oval 42"/>
          <p:cNvSpPr/>
          <p:nvPr/>
        </p:nvSpPr>
        <p:spPr>
          <a:xfrm>
            <a:off x="5922486" y="3580922"/>
            <a:ext cx="381000" cy="38683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sz="2400" dirty="0"/>
              <a:t>b</a:t>
            </a:r>
            <a:endParaRPr lang="en-SG" sz="1600" dirty="0"/>
          </a:p>
        </p:txBody>
      </p:sp>
      <p:cxnSp>
        <p:nvCxnSpPr>
          <p:cNvPr id="44" name="Straight Arrow Connector 43"/>
          <p:cNvCxnSpPr>
            <a:stCxn id="41" idx="6"/>
            <a:endCxn id="43" idx="2"/>
          </p:cNvCxnSpPr>
          <p:nvPr/>
        </p:nvCxnSpPr>
        <p:spPr>
          <a:xfrm flipV="1">
            <a:off x="5029200" y="3774339"/>
            <a:ext cx="893286" cy="20685"/>
          </a:xfrm>
          <a:prstGeom prst="straightConnector1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endCxn id="42" idx="0"/>
          </p:cNvCxnSpPr>
          <p:nvPr/>
        </p:nvCxnSpPr>
        <p:spPr>
          <a:xfrm>
            <a:off x="4838700" y="4000605"/>
            <a:ext cx="152400" cy="617432"/>
          </a:xfrm>
          <a:prstGeom prst="straightConnector1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50" idx="0"/>
            <a:endCxn id="43" idx="4"/>
          </p:cNvCxnSpPr>
          <p:nvPr/>
        </p:nvCxnSpPr>
        <p:spPr>
          <a:xfrm flipV="1">
            <a:off x="6112986" y="3967755"/>
            <a:ext cx="0" cy="606057"/>
          </a:xfrm>
          <a:prstGeom prst="straightConnector1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 flipH="1">
            <a:off x="5272720" y="3516972"/>
            <a:ext cx="385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 flipH="1">
            <a:off x="4648200" y="4076513"/>
            <a:ext cx="360932" cy="36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chemeClr val="accent1"/>
                </a:solidFill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 flipH="1">
            <a:off x="6065005" y="4040240"/>
            <a:ext cx="411995" cy="382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50" name="Oval 49"/>
          <p:cNvSpPr/>
          <p:nvPr/>
        </p:nvSpPr>
        <p:spPr>
          <a:xfrm>
            <a:off x="5922486" y="4573812"/>
            <a:ext cx="381000" cy="38683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sz="2400" dirty="0"/>
              <a:t>d</a:t>
            </a:r>
            <a:endParaRPr lang="en-SG" sz="1600" dirty="0"/>
          </a:p>
        </p:txBody>
      </p:sp>
      <p:sp>
        <p:nvSpPr>
          <p:cNvPr id="51" name="Oval 50"/>
          <p:cNvSpPr/>
          <p:nvPr/>
        </p:nvSpPr>
        <p:spPr>
          <a:xfrm>
            <a:off x="6858000" y="4076032"/>
            <a:ext cx="381000" cy="38683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sz="2400" dirty="0"/>
              <a:t>e</a:t>
            </a:r>
            <a:endParaRPr lang="en-SG" sz="1600" dirty="0"/>
          </a:p>
        </p:txBody>
      </p:sp>
      <p:cxnSp>
        <p:nvCxnSpPr>
          <p:cNvPr id="52" name="Straight Arrow Connector 51"/>
          <p:cNvCxnSpPr>
            <a:stCxn id="51" idx="1"/>
            <a:endCxn id="43" idx="6"/>
          </p:cNvCxnSpPr>
          <p:nvPr/>
        </p:nvCxnSpPr>
        <p:spPr>
          <a:xfrm flipH="1" flipV="1">
            <a:off x="6303486" y="3774339"/>
            <a:ext cx="610310" cy="358343"/>
          </a:xfrm>
          <a:prstGeom prst="straightConnector1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 flipV="1">
            <a:off x="4973404" y="3933879"/>
            <a:ext cx="1004878" cy="690070"/>
          </a:xfrm>
          <a:prstGeom prst="straightConnector1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 flipH="1">
            <a:off x="5681844" y="4217650"/>
            <a:ext cx="374020" cy="382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7</a:t>
            </a:r>
          </a:p>
        </p:txBody>
      </p:sp>
      <p:cxnSp>
        <p:nvCxnSpPr>
          <p:cNvPr id="56" name="Straight Arrow Connector 55"/>
          <p:cNvCxnSpPr>
            <a:stCxn id="50" idx="7"/>
            <a:endCxn id="51" idx="2"/>
          </p:cNvCxnSpPr>
          <p:nvPr/>
        </p:nvCxnSpPr>
        <p:spPr>
          <a:xfrm flipV="1">
            <a:off x="6247690" y="4269449"/>
            <a:ext cx="610310" cy="361013"/>
          </a:xfrm>
          <a:prstGeom prst="straightConnector1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 flipH="1">
            <a:off x="6436864" y="4343504"/>
            <a:ext cx="520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0070C0"/>
                </a:solidFill>
              </a:rPr>
              <a:t>9</a:t>
            </a:r>
          </a:p>
        </p:txBody>
      </p:sp>
      <p:sp>
        <p:nvSpPr>
          <p:cNvPr id="62" name="TextBox 61"/>
          <p:cNvSpPr txBox="1"/>
          <p:nvPr/>
        </p:nvSpPr>
        <p:spPr>
          <a:xfrm flipH="1">
            <a:off x="6560179" y="3657600"/>
            <a:ext cx="544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319975935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>
                      <p:stCondLst>
                        <p:cond delay="indefinite"/>
                      </p:stCondLst>
                      <p:childTnLst>
                        <p:par>
                          <p:cTn id="70" fill="hold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  <p:bldP spid="27" grpId="0"/>
      <p:bldP spid="33" grpId="0"/>
      <p:bldP spid="38" grpId="0"/>
      <p:bldP spid="47" grpId="0"/>
      <p:bldP spid="48" grpId="0"/>
      <p:bldP spid="49" grpId="0"/>
      <p:bldP spid="55" grpId="0"/>
      <p:bldP spid="57" grpId="0"/>
      <p:bldP spid="62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dirty="0"/>
              <a:t>Edge weights: 5, 6, 7, 8, 9, 10</a:t>
            </a:r>
          </a:p>
          <a:p>
            <a:r>
              <a:rPr lang="en-SG" dirty="0"/>
              <a:t>MST of weight 29:  5, 6, 8, 10</a:t>
            </a:r>
          </a:p>
        </p:txBody>
      </p:sp>
      <p:sp>
        <p:nvSpPr>
          <p:cNvPr id="41" name="Oval 40"/>
          <p:cNvSpPr/>
          <p:nvPr/>
        </p:nvSpPr>
        <p:spPr>
          <a:xfrm>
            <a:off x="2667000" y="3589442"/>
            <a:ext cx="381000" cy="41116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sz="2400" dirty="0"/>
              <a:t>a</a:t>
            </a:r>
            <a:endParaRPr lang="en-SG" sz="1600" dirty="0"/>
          </a:p>
        </p:txBody>
      </p:sp>
      <p:sp>
        <p:nvSpPr>
          <p:cNvPr id="42" name="Oval 41"/>
          <p:cNvSpPr/>
          <p:nvPr/>
        </p:nvSpPr>
        <p:spPr>
          <a:xfrm>
            <a:off x="2819400" y="4618037"/>
            <a:ext cx="381000" cy="41116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sz="2400" dirty="0"/>
              <a:t>c</a:t>
            </a:r>
            <a:endParaRPr lang="en-SG" sz="1600" dirty="0"/>
          </a:p>
        </p:txBody>
      </p:sp>
      <p:sp>
        <p:nvSpPr>
          <p:cNvPr id="43" name="Oval 42"/>
          <p:cNvSpPr/>
          <p:nvPr/>
        </p:nvSpPr>
        <p:spPr>
          <a:xfrm>
            <a:off x="3941286" y="3580922"/>
            <a:ext cx="381000" cy="38683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sz="2400" dirty="0"/>
              <a:t>b</a:t>
            </a:r>
            <a:endParaRPr lang="en-SG" sz="1600" dirty="0"/>
          </a:p>
        </p:txBody>
      </p:sp>
      <p:cxnSp>
        <p:nvCxnSpPr>
          <p:cNvPr id="44" name="Straight Arrow Connector 43"/>
          <p:cNvCxnSpPr>
            <a:stCxn id="41" idx="6"/>
            <a:endCxn id="43" idx="2"/>
          </p:cNvCxnSpPr>
          <p:nvPr/>
        </p:nvCxnSpPr>
        <p:spPr>
          <a:xfrm flipV="1">
            <a:off x="3048000" y="3774339"/>
            <a:ext cx="893286" cy="20685"/>
          </a:xfrm>
          <a:prstGeom prst="straightConnector1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/>
          <p:cNvCxnSpPr>
            <a:endCxn id="42" idx="0"/>
          </p:cNvCxnSpPr>
          <p:nvPr/>
        </p:nvCxnSpPr>
        <p:spPr>
          <a:xfrm>
            <a:off x="2857500" y="4000605"/>
            <a:ext cx="152400" cy="617432"/>
          </a:xfrm>
          <a:prstGeom prst="straightConnector1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/>
          <p:cNvCxnSpPr>
            <a:stCxn id="50" idx="0"/>
            <a:endCxn id="43" idx="4"/>
          </p:cNvCxnSpPr>
          <p:nvPr/>
        </p:nvCxnSpPr>
        <p:spPr>
          <a:xfrm flipV="1">
            <a:off x="4131786" y="3967755"/>
            <a:ext cx="0" cy="606057"/>
          </a:xfrm>
          <a:prstGeom prst="straightConnector1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7" name="TextBox 46"/>
          <p:cNvSpPr txBox="1"/>
          <p:nvPr/>
        </p:nvSpPr>
        <p:spPr>
          <a:xfrm flipH="1">
            <a:off x="3291520" y="3516972"/>
            <a:ext cx="3851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0070C0"/>
                </a:solidFill>
              </a:rPr>
              <a:t>5</a:t>
            </a:r>
          </a:p>
        </p:txBody>
      </p:sp>
      <p:sp>
        <p:nvSpPr>
          <p:cNvPr id="48" name="TextBox 47"/>
          <p:cNvSpPr txBox="1"/>
          <p:nvPr/>
        </p:nvSpPr>
        <p:spPr>
          <a:xfrm flipH="1">
            <a:off x="2667000" y="4076513"/>
            <a:ext cx="360932" cy="3688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chemeClr val="accent1"/>
                </a:solidFill>
              </a:rPr>
              <a:t>8</a:t>
            </a:r>
          </a:p>
        </p:txBody>
      </p:sp>
      <p:sp>
        <p:nvSpPr>
          <p:cNvPr id="49" name="TextBox 48"/>
          <p:cNvSpPr txBox="1"/>
          <p:nvPr/>
        </p:nvSpPr>
        <p:spPr>
          <a:xfrm flipH="1">
            <a:off x="4083805" y="4040240"/>
            <a:ext cx="411995" cy="3827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0070C0"/>
                </a:solidFill>
              </a:rPr>
              <a:t>6</a:t>
            </a:r>
          </a:p>
        </p:txBody>
      </p:sp>
      <p:sp>
        <p:nvSpPr>
          <p:cNvPr id="50" name="Oval 49"/>
          <p:cNvSpPr/>
          <p:nvPr/>
        </p:nvSpPr>
        <p:spPr>
          <a:xfrm>
            <a:off x="3941286" y="4573812"/>
            <a:ext cx="381000" cy="38683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sz="2400" dirty="0"/>
              <a:t>d</a:t>
            </a:r>
            <a:endParaRPr lang="en-SG" sz="1600" dirty="0"/>
          </a:p>
        </p:txBody>
      </p:sp>
      <p:sp>
        <p:nvSpPr>
          <p:cNvPr id="51" name="Oval 50"/>
          <p:cNvSpPr/>
          <p:nvPr/>
        </p:nvSpPr>
        <p:spPr>
          <a:xfrm>
            <a:off x="4876800" y="4076032"/>
            <a:ext cx="381000" cy="386833"/>
          </a:xfrm>
          <a:prstGeom prst="ellipse">
            <a:avLst/>
          </a:prstGeom>
          <a:ln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SG" sz="2400" dirty="0"/>
              <a:t>e</a:t>
            </a:r>
            <a:endParaRPr lang="en-SG" sz="1600" dirty="0"/>
          </a:p>
        </p:txBody>
      </p:sp>
      <p:cxnSp>
        <p:nvCxnSpPr>
          <p:cNvPr id="52" name="Straight Arrow Connector 51"/>
          <p:cNvCxnSpPr>
            <a:stCxn id="42" idx="7"/>
            <a:endCxn id="43" idx="3"/>
          </p:cNvCxnSpPr>
          <p:nvPr/>
        </p:nvCxnSpPr>
        <p:spPr>
          <a:xfrm flipV="1">
            <a:off x="3144604" y="3911105"/>
            <a:ext cx="852478" cy="767145"/>
          </a:xfrm>
          <a:prstGeom prst="straightConnector1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Arrow Connector 53"/>
          <p:cNvCxnSpPr/>
          <p:nvPr/>
        </p:nvCxnSpPr>
        <p:spPr>
          <a:xfrm flipH="1" flipV="1">
            <a:off x="2992204" y="3933879"/>
            <a:ext cx="1004878" cy="690070"/>
          </a:xfrm>
          <a:prstGeom prst="straightConnector1">
            <a:avLst/>
          </a:prstGeom>
          <a:ln w="28575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 flipH="1">
            <a:off x="3700644" y="4217650"/>
            <a:ext cx="374020" cy="3822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7</a:t>
            </a:r>
          </a:p>
        </p:txBody>
      </p:sp>
      <p:cxnSp>
        <p:nvCxnSpPr>
          <p:cNvPr id="56" name="Straight Arrow Connector 55"/>
          <p:cNvCxnSpPr>
            <a:stCxn id="50" idx="7"/>
            <a:endCxn id="51" idx="2"/>
          </p:cNvCxnSpPr>
          <p:nvPr/>
        </p:nvCxnSpPr>
        <p:spPr>
          <a:xfrm flipV="1">
            <a:off x="4266490" y="4269449"/>
            <a:ext cx="610310" cy="361013"/>
          </a:xfrm>
          <a:prstGeom prst="straightConnector1">
            <a:avLst/>
          </a:prstGeom>
          <a:ln w="28575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7" name="TextBox 56"/>
          <p:cNvSpPr txBox="1"/>
          <p:nvPr/>
        </p:nvSpPr>
        <p:spPr>
          <a:xfrm flipH="1">
            <a:off x="4455664" y="4343504"/>
            <a:ext cx="52002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0070C0"/>
                </a:solidFill>
              </a:rPr>
              <a:t>10</a:t>
            </a:r>
          </a:p>
        </p:txBody>
      </p:sp>
      <p:sp>
        <p:nvSpPr>
          <p:cNvPr id="62" name="TextBox 61"/>
          <p:cNvSpPr txBox="1"/>
          <p:nvPr/>
        </p:nvSpPr>
        <p:spPr>
          <a:xfrm flipH="1">
            <a:off x="3156529" y="4503736"/>
            <a:ext cx="54411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SG" dirty="0">
                <a:solidFill>
                  <a:srgbClr val="FF0000"/>
                </a:solidFill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41494627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/>
      <p:bldP spid="48" grpId="0"/>
      <p:bldP spid="49" grpId="0"/>
      <p:bldP spid="55" grpId="0"/>
      <p:bldP spid="57" grpId="0"/>
      <p:bldP spid="62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What we have exercised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1485900"/>
            <a:ext cx="7772400" cy="4838700"/>
          </a:xfrm>
        </p:spPr>
        <p:txBody>
          <a:bodyPr>
            <a:normAutofit/>
          </a:bodyPr>
          <a:lstStyle/>
          <a:p>
            <a:pPr>
              <a:defRPr/>
            </a:pPr>
            <a:r>
              <a:rPr lang="en-US" dirty="0"/>
              <a:t>Minimum spanning tree algorithm</a:t>
            </a:r>
          </a:p>
          <a:p>
            <a:pPr lvl="1">
              <a:defRPr/>
            </a:pPr>
            <a:r>
              <a:rPr lang="en-US" dirty="0"/>
              <a:t>Prim’s algorithm</a:t>
            </a:r>
          </a:p>
          <a:p>
            <a:pPr lvl="2">
              <a:defRPr/>
            </a:pPr>
            <a:r>
              <a:rPr lang="en-US" dirty="0"/>
              <a:t>Running of the algorithm</a:t>
            </a:r>
          </a:p>
          <a:p>
            <a:pPr lvl="2">
              <a:defRPr/>
            </a:pPr>
            <a:r>
              <a:rPr lang="en-US" dirty="0"/>
              <a:t>Data structure contents in each iteration</a:t>
            </a:r>
          </a:p>
          <a:p>
            <a:pPr lvl="2">
              <a:defRPr/>
            </a:pPr>
            <a:r>
              <a:rPr lang="en-US" dirty="0"/>
              <a:t>Path in MST may not be a shortest path in G</a:t>
            </a:r>
          </a:p>
          <a:p>
            <a:pPr>
              <a:defRPr/>
            </a:pPr>
            <a:r>
              <a:rPr lang="en-US" dirty="0"/>
              <a:t>Minimum spanning tree – concept</a:t>
            </a:r>
          </a:p>
          <a:p>
            <a:pPr lvl="1">
              <a:defRPr/>
            </a:pPr>
            <a:r>
              <a:rPr lang="en-US" dirty="0"/>
              <a:t>Understand which edges may or may not be in an MST</a:t>
            </a:r>
          </a:p>
          <a:p>
            <a:pPr lvl="2">
              <a:defRPr/>
            </a:pPr>
            <a:endParaRPr lang="en-US" dirty="0"/>
          </a:p>
          <a:p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1582160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 Classic">
      <a:maj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Times New Roman"/>
        <a:ea typeface=""/>
        <a:cs typeface=""/>
        <a:font script="Jpan" typeface="ＭＳ Ｐ明朝"/>
        <a:font script="Hang" typeface="바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94647</TotalTime>
  <Words>1059</Words>
  <Application>Microsoft Office PowerPoint</Application>
  <PresentationFormat>On-screen Show (4:3)</PresentationFormat>
  <Paragraphs>544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Monotype Sorts</vt:lpstr>
      <vt:lpstr>Arial</vt:lpstr>
      <vt:lpstr>Arial Narrow</vt:lpstr>
      <vt:lpstr>Calibri</vt:lpstr>
      <vt:lpstr>Open Sans Extrabold</vt:lpstr>
      <vt:lpstr>Times New Roman</vt:lpstr>
      <vt:lpstr>Verdana</vt:lpstr>
      <vt:lpstr>Wingdings</vt:lpstr>
      <vt:lpstr>Office Theme</vt:lpstr>
      <vt:lpstr>CX2101 Algorithm Design and Analysis</vt:lpstr>
      <vt:lpstr>This Tutorial</vt:lpstr>
      <vt:lpstr>Question 4</vt:lpstr>
      <vt:lpstr>PowerPoint Presentation</vt:lpstr>
      <vt:lpstr>PowerPoint Presentation</vt:lpstr>
      <vt:lpstr>PowerPoint Presentation</vt:lpstr>
      <vt:lpstr>PowerPoint Presentation</vt:lpstr>
      <vt:lpstr>Question 5</vt:lpstr>
      <vt:lpstr>PowerPoint Presentation</vt:lpstr>
      <vt:lpstr>Question 6</vt:lpstr>
      <vt:lpstr>PowerPoint Presentation</vt:lpstr>
      <vt:lpstr>PowerPoint Presentation</vt:lpstr>
      <vt:lpstr>PowerPoint Presentation</vt:lpstr>
      <vt:lpstr>PowerPoint Presentation</vt:lpstr>
      <vt:lpstr>What we have exercised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CE2001/CZ2001/CSC202</dc:title>
  <dc:creator>Zheng Jie (Asst Prof)</dc:creator>
  <cp:lastModifiedBy>Lin Shang-Wei (Asst Prof)</cp:lastModifiedBy>
  <cp:revision>619</cp:revision>
  <dcterms:created xsi:type="dcterms:W3CDTF">2006-08-16T00:00:00Z</dcterms:created>
  <dcterms:modified xsi:type="dcterms:W3CDTF">2022-09-20T13:21:28Z</dcterms:modified>
</cp:coreProperties>
</file>