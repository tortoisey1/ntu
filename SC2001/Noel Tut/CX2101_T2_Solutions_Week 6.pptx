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2" r:id="rId3"/>
    <p:sldId id="271" r:id="rId4"/>
    <p:sldId id="305" r:id="rId5"/>
    <p:sldId id="306" r:id="rId6"/>
    <p:sldId id="307" r:id="rId7"/>
    <p:sldId id="308" r:id="rId8"/>
    <p:sldId id="310" r:id="rId9"/>
    <p:sldId id="311" r:id="rId10"/>
    <p:sldId id="312" r:id="rId11"/>
    <p:sldId id="313" r:id="rId12"/>
    <p:sldId id="314" r:id="rId13"/>
    <p:sldId id="309" r:id="rId14"/>
  </p:sldIdLst>
  <p:sldSz cx="9144000" cy="6858000" type="screen4x3"/>
  <p:notesSz cx="6669088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0099"/>
    <a:srgbClr val="0000FF"/>
    <a:srgbClr val="339966"/>
    <a:srgbClr val="33CC33"/>
    <a:srgbClr val="F79A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4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5C12-5EE9-48BB-8BB6-74016B2F1D7A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26465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1CBA-8D6D-4ACD-B804-17C8AAE43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6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E8058-CEF3-4524-BA36-5DD97575DD40}" type="datetimeFigureOut">
              <a:rPr lang="en-SG" smtClean="0"/>
              <a:t>15/2/2021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39825" y="1219200"/>
            <a:ext cx="4389438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694238"/>
            <a:ext cx="5335588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470FA-09B7-4FF6-BFC1-A8CAED90DE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556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DE73B-5C8E-4FE3-B852-D813E634E774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303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CX2101 Algorithm Design and Analysis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Tutorial </a:t>
            </a:r>
            <a:r>
              <a:rPr lang="en-US" dirty="0" smtClean="0">
                <a:solidFill>
                  <a:srgbClr val="0000FF"/>
                </a:solidFill>
              </a:rPr>
              <a:t>2 (Graphs)</a:t>
            </a:r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Week </a:t>
            </a:r>
            <a:r>
              <a:rPr lang="en-US" dirty="0" smtClean="0">
                <a:solidFill>
                  <a:srgbClr val="0000FF"/>
                </a:solidFill>
              </a:rPr>
              <a:t>6: Q1-Q3</a:t>
            </a:r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Single-source shortest path algorithm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769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Question </a:t>
            </a:r>
            <a:r>
              <a:rPr lang="en-US" b="1" dirty="0" smtClean="0"/>
              <a:t>1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 lvl="0">
              <a:buNone/>
              <a:tabLst>
                <a:tab pos="1828800" algn="l"/>
                <a:tab pos="3546475" algn="l"/>
                <a:tab pos="4225925" algn="l"/>
                <a:tab pos="4856163" algn="l"/>
                <a:tab pos="5486400" algn="l"/>
                <a:tab pos="6116638" algn="l"/>
              </a:tabLst>
            </a:pPr>
            <a:r>
              <a:rPr lang="en-US" sz="2400" dirty="0" smtClean="0">
                <a:solidFill>
                  <a:srgbClr val="0000FF"/>
                </a:solidFill>
              </a:rPr>
              <a:t>Apply the </a:t>
            </a:r>
            <a:r>
              <a:rPr lang="en-US" sz="2400" dirty="0" err="1" smtClean="0">
                <a:solidFill>
                  <a:srgbClr val="0000FF"/>
                </a:solidFill>
              </a:rPr>
              <a:t>Dijkstra’s</a:t>
            </a:r>
            <a:r>
              <a:rPr lang="en-US" sz="2400" dirty="0" smtClean="0">
                <a:solidFill>
                  <a:srgbClr val="0000FF"/>
                </a:solidFill>
              </a:rPr>
              <a:t> algorithm on the graph represented by the following adjacency matrix to find the shortest distances and the shortest paths from vertex 1 to the other vertices. Show the contents of arrays S, d and pi after each iteration of the while loop. </a:t>
            </a:r>
            <a:r>
              <a:rPr lang="en-SG" sz="2400" dirty="0" smtClean="0"/>
              <a:t/>
            </a:r>
            <a:br>
              <a:rPr lang="en-SG" sz="2400" dirty="0" smtClean="0"/>
            </a:br>
            <a:r>
              <a:rPr lang="en-US" sz="2400" dirty="0" smtClean="0"/>
              <a:t>	</a:t>
            </a:r>
            <a:r>
              <a:rPr lang="en-US" sz="2800" dirty="0" smtClean="0"/>
              <a:t>vertex	</a:t>
            </a:r>
            <a:r>
              <a:rPr lang="en-US" sz="2800" dirty="0" smtClean="0">
                <a:solidFill>
                  <a:srgbClr val="339966"/>
                </a:solidFill>
              </a:rPr>
              <a:t>1	2	3	4	5</a:t>
            </a:r>
            <a:endParaRPr lang="en-SG" sz="2400" dirty="0" smtClean="0">
              <a:solidFill>
                <a:srgbClr val="339966"/>
              </a:solidFill>
            </a:endParaRPr>
          </a:p>
          <a:p>
            <a:pPr>
              <a:buNone/>
            </a:pPr>
            <a:r>
              <a:rPr lang="en-US" dirty="0" smtClean="0"/>
              <a:t>			</a:t>
            </a:r>
            <a:endParaRPr lang="en-SG" dirty="0" smtClean="0"/>
          </a:p>
          <a:p>
            <a:pPr>
              <a:buNone/>
            </a:pPr>
            <a:r>
              <a:rPr lang="en-SG" dirty="0" smtClean="0"/>
              <a:t/>
            </a:r>
            <a:br>
              <a:rPr lang="en-SG" dirty="0" smtClean="0"/>
            </a:br>
            <a:endParaRPr lang="en-SG" dirty="0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2819400" y="3505200"/>
          <a:ext cx="4343400" cy="2939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4" name="Equation" r:id="rId3" imgW="1688760" imgH="1143000" progId="Equation.3">
                  <p:embed/>
                </p:oleObj>
              </mc:Choice>
              <mc:Fallback>
                <p:oleObj name="Equation" r:id="rId3" imgW="1688760" imgH="1143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05200"/>
                        <a:ext cx="4343400" cy="29391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4191000" y="2209800"/>
            <a:ext cx="4206240" cy="3343873"/>
            <a:chOff x="1371600" y="609600"/>
            <a:chExt cx="5181600" cy="4119265"/>
          </a:xfrm>
        </p:grpSpPr>
        <p:sp>
          <p:nvSpPr>
            <p:cNvPr id="5" name="Oval 4"/>
            <p:cNvSpPr/>
            <p:nvPr/>
          </p:nvSpPr>
          <p:spPr>
            <a:xfrm>
              <a:off x="1371600" y="22098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4000" y="22860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3886200" y="17526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038600" y="18288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895600" y="3429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71800" y="3505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343400" y="35814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95800" y="36576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943600" y="1524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96000" y="1600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5" name="Shape 17"/>
            <p:cNvCxnSpPr>
              <a:stCxn id="5" idx="0"/>
              <a:endCxn id="13" idx="0"/>
            </p:cNvCxnSpPr>
            <p:nvPr/>
          </p:nvCxnSpPr>
          <p:spPr>
            <a:xfrm rot="5400000" flipH="1" flipV="1">
              <a:off x="3619500" y="-419100"/>
              <a:ext cx="685800" cy="4572000"/>
            </a:xfrm>
            <a:prstGeom prst="curvedConnector3">
              <a:avLst>
                <a:gd name="adj1" fmla="val 18254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5"/>
              <a:endCxn id="9" idx="1"/>
            </p:cNvCxnSpPr>
            <p:nvPr/>
          </p:nvCxnSpPr>
          <p:spPr>
            <a:xfrm>
              <a:off x="1891926" y="2730126"/>
              <a:ext cx="1092948" cy="788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6"/>
              <a:endCxn id="11" idx="2"/>
            </p:cNvCxnSpPr>
            <p:nvPr/>
          </p:nvCxnSpPr>
          <p:spPr>
            <a:xfrm>
              <a:off x="3505200" y="3733800"/>
              <a:ext cx="83820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7"/>
              <a:endCxn id="13" idx="4"/>
            </p:cNvCxnSpPr>
            <p:nvPr/>
          </p:nvCxnSpPr>
          <p:spPr>
            <a:xfrm flipV="1">
              <a:off x="4863726" y="2133600"/>
              <a:ext cx="1384674" cy="1537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5" idx="7"/>
              <a:endCxn id="7" idx="2"/>
            </p:cNvCxnSpPr>
            <p:nvPr/>
          </p:nvCxnSpPr>
          <p:spPr>
            <a:xfrm flipV="1">
              <a:off x="1891926" y="2057400"/>
              <a:ext cx="1994274" cy="2416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7" idx="6"/>
              <a:endCxn id="13" idx="2"/>
            </p:cNvCxnSpPr>
            <p:nvPr/>
          </p:nvCxnSpPr>
          <p:spPr>
            <a:xfrm flipV="1">
              <a:off x="4495800" y="1828800"/>
              <a:ext cx="1447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1" idx="0"/>
            </p:cNvCxnSpPr>
            <p:nvPr/>
          </p:nvCxnSpPr>
          <p:spPr>
            <a:xfrm flipH="1" flipV="1">
              <a:off x="4343400" y="2286000"/>
              <a:ext cx="304800" cy="1295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17"/>
            <p:cNvCxnSpPr>
              <a:stCxn id="5" idx="4"/>
              <a:endCxn id="11" idx="4"/>
            </p:cNvCxnSpPr>
            <p:nvPr/>
          </p:nvCxnSpPr>
          <p:spPr>
            <a:xfrm rot="16200000" flipH="1">
              <a:off x="2476500" y="2019300"/>
              <a:ext cx="1371600" cy="2971800"/>
            </a:xfrm>
            <a:prstGeom prst="curvedConnector3">
              <a:avLst>
                <a:gd name="adj1" fmla="val 14127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17"/>
            <p:cNvCxnSpPr>
              <a:stCxn id="7" idx="3"/>
              <a:endCxn id="11" idx="1"/>
            </p:cNvCxnSpPr>
            <p:nvPr/>
          </p:nvCxnSpPr>
          <p:spPr>
            <a:xfrm rot="16200000" flipH="1">
              <a:off x="3505200" y="2743200"/>
              <a:ext cx="1397748" cy="457200"/>
            </a:xfrm>
            <a:prstGeom prst="curvedConnector3">
              <a:avLst>
                <a:gd name="adj1" fmla="val 5856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971800" y="609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62200" y="1752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76800" y="14478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52600" y="4267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133600" y="30480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581400" y="38100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57600" y="28194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95800" y="25908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86400" y="2895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914400" y="2209801"/>
          <a:ext cx="270318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2" name="Equation" r:id="rId3" imgW="1688760" imgH="1143000" progId="Equation.3">
                  <p:embed/>
                </p:oleObj>
              </mc:Choice>
              <mc:Fallback>
                <p:oleObj name="Equation" r:id="rId3" imgW="1688760" imgH="1143000" progId="Equation.3">
                  <p:embed/>
                  <p:pic>
                    <p:nvPicPr>
                      <p:cNvPr id="737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09801"/>
                        <a:ext cx="2703185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09600" y="17526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/>
              <a:t>vertex	</a:t>
            </a:r>
            <a:r>
              <a:rPr lang="en-US" dirty="0" smtClean="0">
                <a:solidFill>
                  <a:srgbClr val="339966"/>
                </a:solidFill>
              </a:rPr>
              <a:t>1      2      3      4      5</a:t>
            </a:r>
            <a:endParaRPr lang="en-SG" sz="1600" dirty="0" smtClean="0">
              <a:solidFill>
                <a:srgbClr val="339966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01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After initialization: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dirty="0" smtClean="0"/>
              <a:t>First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81000" y="1828800"/>
          <a:ext cx="5460021" cy="1706880"/>
        </p:xfrm>
        <a:graphic>
          <a:graphicData uri="http://schemas.openxmlformats.org/drawingml/2006/table">
            <a:tbl>
              <a:tblPr/>
              <a:tblGrid>
                <a:gridCol w="914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endParaRPr lang="en-SG" sz="2200" b="1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 smtClean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 smtClean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 smtClean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 smtClean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25881"/>
              </p:ext>
            </p:extLst>
          </p:nvPr>
        </p:nvGraphicFramePr>
        <p:xfrm>
          <a:off x="381000" y="4572000"/>
          <a:ext cx="5867399" cy="1828800"/>
        </p:xfrm>
        <a:graphic>
          <a:graphicData uri="http://schemas.openxmlformats.org/drawingml/2006/table">
            <a:tbl>
              <a:tblPr/>
              <a:tblGrid>
                <a:gridCol w="96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2800" b="1" kern="1200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6096000" y="228600"/>
            <a:ext cx="2834640" cy="2472154"/>
            <a:chOff x="1371600" y="470310"/>
            <a:chExt cx="5181600" cy="4518995"/>
          </a:xfrm>
        </p:grpSpPr>
        <p:sp>
          <p:nvSpPr>
            <p:cNvPr id="7" name="Oval 6"/>
            <p:cNvSpPr/>
            <p:nvPr/>
          </p:nvSpPr>
          <p:spPr>
            <a:xfrm>
              <a:off x="1371600" y="2209801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71600" y="2281086"/>
              <a:ext cx="380999" cy="562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886200" y="17526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18116" y="172392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895600" y="3429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03794" y="3395409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343400" y="35814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35987" y="3534700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943600" y="1524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68181" y="158463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7" name="Shape 17"/>
            <p:cNvCxnSpPr>
              <a:stCxn id="7" idx="0"/>
              <a:endCxn id="15" idx="0"/>
            </p:cNvCxnSpPr>
            <p:nvPr/>
          </p:nvCxnSpPr>
          <p:spPr>
            <a:xfrm rot="5400000" flipH="1" flipV="1">
              <a:off x="3619500" y="-419100"/>
              <a:ext cx="685800" cy="4572000"/>
            </a:xfrm>
            <a:prstGeom prst="curvedConnector3">
              <a:avLst>
                <a:gd name="adj1" fmla="val 18254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7" idx="5"/>
              <a:endCxn id="11" idx="1"/>
            </p:cNvCxnSpPr>
            <p:nvPr/>
          </p:nvCxnSpPr>
          <p:spPr>
            <a:xfrm>
              <a:off x="1891926" y="2730126"/>
              <a:ext cx="1092948" cy="788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6"/>
              <a:endCxn id="13" idx="2"/>
            </p:cNvCxnSpPr>
            <p:nvPr/>
          </p:nvCxnSpPr>
          <p:spPr>
            <a:xfrm>
              <a:off x="3505200" y="3733800"/>
              <a:ext cx="83820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3" idx="7"/>
              <a:endCxn id="15" idx="4"/>
            </p:cNvCxnSpPr>
            <p:nvPr/>
          </p:nvCxnSpPr>
          <p:spPr>
            <a:xfrm flipV="1">
              <a:off x="4863726" y="2133600"/>
              <a:ext cx="1384674" cy="1537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7" idx="7"/>
              <a:endCxn id="9" idx="2"/>
            </p:cNvCxnSpPr>
            <p:nvPr/>
          </p:nvCxnSpPr>
          <p:spPr>
            <a:xfrm flipV="1">
              <a:off x="1891926" y="2057400"/>
              <a:ext cx="1994274" cy="2416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9" idx="6"/>
              <a:endCxn id="15" idx="2"/>
            </p:cNvCxnSpPr>
            <p:nvPr/>
          </p:nvCxnSpPr>
          <p:spPr>
            <a:xfrm flipV="1">
              <a:off x="4495800" y="1828800"/>
              <a:ext cx="1447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3" idx="0"/>
            </p:cNvCxnSpPr>
            <p:nvPr/>
          </p:nvCxnSpPr>
          <p:spPr>
            <a:xfrm flipH="1" flipV="1">
              <a:off x="4343400" y="2286000"/>
              <a:ext cx="304800" cy="1295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17"/>
            <p:cNvCxnSpPr>
              <a:stCxn id="7" idx="4"/>
              <a:endCxn id="13" idx="4"/>
            </p:cNvCxnSpPr>
            <p:nvPr/>
          </p:nvCxnSpPr>
          <p:spPr>
            <a:xfrm rot="16200000" flipH="1">
              <a:off x="2476500" y="2019300"/>
              <a:ext cx="1371600" cy="2971800"/>
            </a:xfrm>
            <a:prstGeom prst="curvedConnector3">
              <a:avLst>
                <a:gd name="adj1" fmla="val 14127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17"/>
            <p:cNvCxnSpPr>
              <a:stCxn id="9" idx="3"/>
              <a:endCxn id="13" idx="1"/>
            </p:cNvCxnSpPr>
            <p:nvPr/>
          </p:nvCxnSpPr>
          <p:spPr>
            <a:xfrm rot="16200000" flipH="1">
              <a:off x="3505200" y="2743200"/>
              <a:ext cx="1397748" cy="457200"/>
            </a:xfrm>
            <a:prstGeom prst="curvedConnector3">
              <a:avLst>
                <a:gd name="adj1" fmla="val 5856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903794" y="47031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62199" y="17526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76801" y="14478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068052" y="4370442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33600" y="30480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560917" y="3809999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57599" y="28194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495800" y="25908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86401" y="28956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5" name="Group 34"/>
          <p:cNvGrpSpPr>
            <a:grpSpLocks noChangeAspect="1"/>
          </p:cNvGrpSpPr>
          <p:nvPr/>
        </p:nvGrpSpPr>
        <p:grpSpPr>
          <a:xfrm>
            <a:off x="6096000" y="2971800"/>
            <a:ext cx="2834640" cy="2472154"/>
            <a:chOff x="1371600" y="470310"/>
            <a:chExt cx="5181600" cy="4518995"/>
          </a:xfrm>
        </p:grpSpPr>
        <p:sp>
          <p:nvSpPr>
            <p:cNvPr id="36" name="Oval 35"/>
            <p:cNvSpPr/>
            <p:nvPr/>
          </p:nvSpPr>
          <p:spPr>
            <a:xfrm>
              <a:off x="1371600" y="2209801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71600" y="2281086"/>
              <a:ext cx="380999" cy="562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3886200" y="17526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18116" y="172392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2895600" y="3429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03794" y="3395409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4343400" y="35814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35987" y="3534700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5943600" y="1524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968181" y="158463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6" name="Shape 17"/>
            <p:cNvCxnSpPr>
              <a:stCxn id="36" idx="0"/>
              <a:endCxn id="44" idx="0"/>
            </p:cNvCxnSpPr>
            <p:nvPr/>
          </p:nvCxnSpPr>
          <p:spPr>
            <a:xfrm rot="5400000" flipH="1" flipV="1">
              <a:off x="3619500" y="-419100"/>
              <a:ext cx="685800" cy="4572000"/>
            </a:xfrm>
            <a:prstGeom prst="curvedConnector3">
              <a:avLst>
                <a:gd name="adj1" fmla="val 18254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36" idx="5"/>
              <a:endCxn id="40" idx="1"/>
            </p:cNvCxnSpPr>
            <p:nvPr/>
          </p:nvCxnSpPr>
          <p:spPr>
            <a:xfrm>
              <a:off x="1891926" y="2730126"/>
              <a:ext cx="1092948" cy="788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0" idx="6"/>
              <a:endCxn id="42" idx="2"/>
            </p:cNvCxnSpPr>
            <p:nvPr/>
          </p:nvCxnSpPr>
          <p:spPr>
            <a:xfrm>
              <a:off x="3505200" y="3733800"/>
              <a:ext cx="83820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42" idx="7"/>
              <a:endCxn id="44" idx="4"/>
            </p:cNvCxnSpPr>
            <p:nvPr/>
          </p:nvCxnSpPr>
          <p:spPr>
            <a:xfrm flipV="1">
              <a:off x="4863726" y="2133600"/>
              <a:ext cx="1384674" cy="1537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6" idx="7"/>
              <a:endCxn id="38" idx="2"/>
            </p:cNvCxnSpPr>
            <p:nvPr/>
          </p:nvCxnSpPr>
          <p:spPr>
            <a:xfrm flipV="1">
              <a:off x="1891926" y="2057400"/>
              <a:ext cx="1994274" cy="2416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38" idx="6"/>
              <a:endCxn id="44" idx="2"/>
            </p:cNvCxnSpPr>
            <p:nvPr/>
          </p:nvCxnSpPr>
          <p:spPr>
            <a:xfrm flipV="1">
              <a:off x="4495800" y="1828800"/>
              <a:ext cx="1447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42" idx="0"/>
            </p:cNvCxnSpPr>
            <p:nvPr/>
          </p:nvCxnSpPr>
          <p:spPr>
            <a:xfrm flipH="1" flipV="1">
              <a:off x="4343400" y="2286000"/>
              <a:ext cx="304800" cy="1295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hape 17"/>
            <p:cNvCxnSpPr>
              <a:stCxn id="36" idx="4"/>
              <a:endCxn id="42" idx="4"/>
            </p:cNvCxnSpPr>
            <p:nvPr/>
          </p:nvCxnSpPr>
          <p:spPr>
            <a:xfrm rot="16200000" flipH="1">
              <a:off x="2476500" y="2019300"/>
              <a:ext cx="1371600" cy="2971800"/>
            </a:xfrm>
            <a:prstGeom prst="curvedConnector3">
              <a:avLst>
                <a:gd name="adj1" fmla="val 14127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hape 17"/>
            <p:cNvCxnSpPr>
              <a:stCxn id="38" idx="3"/>
              <a:endCxn id="42" idx="1"/>
            </p:cNvCxnSpPr>
            <p:nvPr/>
          </p:nvCxnSpPr>
          <p:spPr>
            <a:xfrm rot="16200000" flipH="1">
              <a:off x="3505200" y="2743200"/>
              <a:ext cx="1397748" cy="457200"/>
            </a:xfrm>
            <a:prstGeom prst="curvedConnector3">
              <a:avLst>
                <a:gd name="adj1" fmla="val 5856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903794" y="47031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362199" y="17526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876801" y="14478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068052" y="4370442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133600" y="30480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560917" y="3809999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657599" y="28194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495800" y="25908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486401" y="28956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204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iteration: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457200" y="1905000"/>
          <a:ext cx="5486400" cy="1752600"/>
        </p:xfrm>
        <a:graphic>
          <a:graphicData uri="http://schemas.openxmlformats.org/drawingml/2006/table">
            <a:tbl>
              <a:tblPr/>
              <a:tblGrid>
                <a:gridCol w="90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8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0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533400" y="4572000"/>
          <a:ext cx="5029200" cy="1752600"/>
        </p:xfrm>
        <a:graphic>
          <a:graphicData uri="http://schemas.openxmlformats.org/drawingml/2006/table">
            <a:tbl>
              <a:tblPr/>
              <a:tblGrid>
                <a:gridCol w="826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096000" y="228600"/>
            <a:ext cx="2834640" cy="2472154"/>
            <a:chOff x="1371600" y="470310"/>
            <a:chExt cx="5181600" cy="4518995"/>
          </a:xfrm>
        </p:grpSpPr>
        <p:sp>
          <p:nvSpPr>
            <p:cNvPr id="9" name="Oval 8"/>
            <p:cNvSpPr/>
            <p:nvPr/>
          </p:nvSpPr>
          <p:spPr>
            <a:xfrm>
              <a:off x="1371600" y="2209801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71600" y="2281086"/>
              <a:ext cx="380999" cy="562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886200" y="17526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18116" y="172392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895600" y="3429000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03794" y="3395409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343400" y="35814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35987" y="3534700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5943600" y="1524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68181" y="158463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" name="Shape 17"/>
            <p:cNvCxnSpPr>
              <a:stCxn id="9" idx="0"/>
              <a:endCxn id="17" idx="0"/>
            </p:cNvCxnSpPr>
            <p:nvPr/>
          </p:nvCxnSpPr>
          <p:spPr>
            <a:xfrm rot="5400000" flipH="1" flipV="1">
              <a:off x="3619500" y="-419100"/>
              <a:ext cx="685800" cy="4572000"/>
            </a:xfrm>
            <a:prstGeom prst="curvedConnector3">
              <a:avLst>
                <a:gd name="adj1" fmla="val 18254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9" idx="5"/>
              <a:endCxn id="13" idx="1"/>
            </p:cNvCxnSpPr>
            <p:nvPr/>
          </p:nvCxnSpPr>
          <p:spPr>
            <a:xfrm>
              <a:off x="1891926" y="2730126"/>
              <a:ext cx="1092948" cy="788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3" idx="6"/>
              <a:endCxn id="15" idx="2"/>
            </p:cNvCxnSpPr>
            <p:nvPr/>
          </p:nvCxnSpPr>
          <p:spPr>
            <a:xfrm>
              <a:off x="3505200" y="3733800"/>
              <a:ext cx="83820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7"/>
              <a:endCxn id="17" idx="4"/>
            </p:cNvCxnSpPr>
            <p:nvPr/>
          </p:nvCxnSpPr>
          <p:spPr>
            <a:xfrm flipV="1">
              <a:off x="4863726" y="2133600"/>
              <a:ext cx="1384674" cy="1537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7"/>
              <a:endCxn id="11" idx="2"/>
            </p:cNvCxnSpPr>
            <p:nvPr/>
          </p:nvCxnSpPr>
          <p:spPr>
            <a:xfrm flipV="1">
              <a:off x="1891926" y="2057400"/>
              <a:ext cx="1994274" cy="2416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1" idx="6"/>
              <a:endCxn id="17" idx="2"/>
            </p:cNvCxnSpPr>
            <p:nvPr/>
          </p:nvCxnSpPr>
          <p:spPr>
            <a:xfrm flipV="1">
              <a:off x="4495800" y="1828800"/>
              <a:ext cx="1447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5" idx="0"/>
            </p:cNvCxnSpPr>
            <p:nvPr/>
          </p:nvCxnSpPr>
          <p:spPr>
            <a:xfrm flipH="1" flipV="1">
              <a:off x="4343400" y="2286000"/>
              <a:ext cx="304800" cy="1295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hape 17"/>
            <p:cNvCxnSpPr>
              <a:stCxn id="9" idx="4"/>
              <a:endCxn id="15" idx="4"/>
            </p:cNvCxnSpPr>
            <p:nvPr/>
          </p:nvCxnSpPr>
          <p:spPr>
            <a:xfrm rot="16200000" flipH="1">
              <a:off x="2476500" y="2019300"/>
              <a:ext cx="1371600" cy="2971800"/>
            </a:xfrm>
            <a:prstGeom prst="curvedConnector3">
              <a:avLst>
                <a:gd name="adj1" fmla="val 14127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17"/>
            <p:cNvCxnSpPr>
              <a:stCxn id="11" idx="3"/>
              <a:endCxn id="15" idx="1"/>
            </p:cNvCxnSpPr>
            <p:nvPr/>
          </p:nvCxnSpPr>
          <p:spPr>
            <a:xfrm rot="16200000" flipH="1">
              <a:off x="3505200" y="2743200"/>
              <a:ext cx="1397748" cy="457200"/>
            </a:xfrm>
            <a:prstGeom prst="curvedConnector3">
              <a:avLst>
                <a:gd name="adj1" fmla="val 5856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903794" y="47031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62199" y="17526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76801" y="14478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068052" y="4370442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133600" y="30480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560917" y="3809999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657599" y="28194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95800" y="25908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86401" y="28956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7" name="Group 36"/>
          <p:cNvGrpSpPr>
            <a:grpSpLocks noChangeAspect="1"/>
          </p:cNvGrpSpPr>
          <p:nvPr/>
        </p:nvGrpSpPr>
        <p:grpSpPr>
          <a:xfrm>
            <a:off x="6096000" y="3200400"/>
            <a:ext cx="2834640" cy="2472154"/>
            <a:chOff x="1371600" y="470310"/>
            <a:chExt cx="5181600" cy="4518995"/>
          </a:xfrm>
        </p:grpSpPr>
        <p:sp>
          <p:nvSpPr>
            <p:cNvPr id="38" name="Oval 37"/>
            <p:cNvSpPr/>
            <p:nvPr/>
          </p:nvSpPr>
          <p:spPr>
            <a:xfrm>
              <a:off x="1371600" y="2209801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71600" y="2281086"/>
              <a:ext cx="380999" cy="562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3886200" y="17526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018116" y="172392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2895600" y="3429000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903794" y="3395409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4343400" y="3581400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35987" y="3534700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943600" y="1524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68181" y="158463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8" name="Shape 17"/>
            <p:cNvCxnSpPr>
              <a:stCxn id="38" idx="0"/>
              <a:endCxn id="46" idx="0"/>
            </p:cNvCxnSpPr>
            <p:nvPr/>
          </p:nvCxnSpPr>
          <p:spPr>
            <a:xfrm rot="5400000" flipH="1" flipV="1">
              <a:off x="3619500" y="-419100"/>
              <a:ext cx="685800" cy="4572000"/>
            </a:xfrm>
            <a:prstGeom prst="curvedConnector3">
              <a:avLst>
                <a:gd name="adj1" fmla="val 18254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38" idx="5"/>
              <a:endCxn id="42" idx="1"/>
            </p:cNvCxnSpPr>
            <p:nvPr/>
          </p:nvCxnSpPr>
          <p:spPr>
            <a:xfrm>
              <a:off x="1891926" y="2730126"/>
              <a:ext cx="1092948" cy="788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2" idx="6"/>
              <a:endCxn id="44" idx="2"/>
            </p:cNvCxnSpPr>
            <p:nvPr/>
          </p:nvCxnSpPr>
          <p:spPr>
            <a:xfrm>
              <a:off x="3505200" y="3733800"/>
              <a:ext cx="83820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44" idx="7"/>
              <a:endCxn id="46" idx="4"/>
            </p:cNvCxnSpPr>
            <p:nvPr/>
          </p:nvCxnSpPr>
          <p:spPr>
            <a:xfrm flipV="1">
              <a:off x="4863726" y="2133600"/>
              <a:ext cx="1384674" cy="1537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8" idx="7"/>
              <a:endCxn id="40" idx="2"/>
            </p:cNvCxnSpPr>
            <p:nvPr/>
          </p:nvCxnSpPr>
          <p:spPr>
            <a:xfrm flipV="1">
              <a:off x="1891926" y="2057400"/>
              <a:ext cx="1994274" cy="2416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0" idx="6"/>
              <a:endCxn id="46" idx="2"/>
            </p:cNvCxnSpPr>
            <p:nvPr/>
          </p:nvCxnSpPr>
          <p:spPr>
            <a:xfrm flipV="1">
              <a:off x="4495800" y="1828800"/>
              <a:ext cx="1447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4" idx="0"/>
            </p:cNvCxnSpPr>
            <p:nvPr/>
          </p:nvCxnSpPr>
          <p:spPr>
            <a:xfrm flipH="1" flipV="1">
              <a:off x="4343400" y="2286000"/>
              <a:ext cx="304800" cy="1295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hape 17"/>
            <p:cNvCxnSpPr>
              <a:stCxn id="38" idx="4"/>
              <a:endCxn id="44" idx="4"/>
            </p:cNvCxnSpPr>
            <p:nvPr/>
          </p:nvCxnSpPr>
          <p:spPr>
            <a:xfrm rot="16200000" flipH="1">
              <a:off x="2476500" y="2019300"/>
              <a:ext cx="1371600" cy="2971800"/>
            </a:xfrm>
            <a:prstGeom prst="curvedConnector3">
              <a:avLst>
                <a:gd name="adj1" fmla="val 14127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hape 17"/>
            <p:cNvCxnSpPr>
              <a:stCxn id="40" idx="3"/>
              <a:endCxn id="44" idx="1"/>
            </p:cNvCxnSpPr>
            <p:nvPr/>
          </p:nvCxnSpPr>
          <p:spPr>
            <a:xfrm rot="16200000" flipH="1">
              <a:off x="3505200" y="2743200"/>
              <a:ext cx="1397748" cy="457200"/>
            </a:xfrm>
            <a:prstGeom prst="curvedConnector3">
              <a:avLst>
                <a:gd name="adj1" fmla="val 5856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2903794" y="47031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362199" y="17526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876801" y="14478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068052" y="4370442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133600" y="30480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560917" y="3809999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657599" y="28194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495800" y="25908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486401" y="28956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054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4th iteration: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dirty="0" smtClean="0"/>
              <a:t>5th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33400" y="1828800"/>
          <a:ext cx="5105400" cy="1752600"/>
        </p:xfrm>
        <a:graphic>
          <a:graphicData uri="http://schemas.openxmlformats.org/drawingml/2006/table">
            <a:tbl>
              <a:tblPr/>
              <a:tblGrid>
                <a:gridCol w="839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2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33400" y="4495800"/>
          <a:ext cx="4953000" cy="1905000"/>
        </p:xfrm>
        <a:graphic>
          <a:graphicData uri="http://schemas.openxmlformats.org/drawingml/2006/table">
            <a:tbl>
              <a:tblPr/>
              <a:tblGrid>
                <a:gridCol w="814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4600" y="4495800"/>
            <a:ext cx="244169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Shortest paths: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1 – 2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1 – 3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1 – 3 – 4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1 – 3 </a:t>
            </a:r>
            <a:r>
              <a:rPr lang="en-US" sz="2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– 4 – </a:t>
            </a:r>
            <a:r>
              <a:rPr lang="en-US" sz="24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9" name="Group 38"/>
          <p:cNvGrpSpPr>
            <a:grpSpLocks noChangeAspect="1"/>
          </p:cNvGrpSpPr>
          <p:nvPr/>
        </p:nvGrpSpPr>
        <p:grpSpPr>
          <a:xfrm>
            <a:off x="5943600" y="838200"/>
            <a:ext cx="2834640" cy="2472154"/>
            <a:chOff x="1371600" y="470310"/>
            <a:chExt cx="5181600" cy="4518995"/>
          </a:xfrm>
        </p:grpSpPr>
        <p:sp>
          <p:nvSpPr>
            <p:cNvPr id="40" name="Oval 39"/>
            <p:cNvSpPr/>
            <p:nvPr/>
          </p:nvSpPr>
          <p:spPr>
            <a:xfrm>
              <a:off x="1371600" y="2209801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71600" y="2281086"/>
              <a:ext cx="380999" cy="562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3886200" y="1752600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878826" y="172392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2895600" y="3429000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903794" y="3395409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4343400" y="3581400"/>
              <a:ext cx="609600" cy="609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435987" y="3534700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5943600" y="1524000"/>
              <a:ext cx="609600" cy="609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968181" y="1584634"/>
              <a:ext cx="3809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0" name="Shape 17"/>
            <p:cNvCxnSpPr>
              <a:stCxn id="40" idx="0"/>
              <a:endCxn id="48" idx="0"/>
            </p:cNvCxnSpPr>
            <p:nvPr/>
          </p:nvCxnSpPr>
          <p:spPr>
            <a:xfrm rot="5400000" flipH="1" flipV="1">
              <a:off x="3619500" y="-419100"/>
              <a:ext cx="685800" cy="4572000"/>
            </a:xfrm>
            <a:prstGeom prst="curvedConnector3">
              <a:avLst>
                <a:gd name="adj1" fmla="val 18254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40" idx="5"/>
              <a:endCxn id="44" idx="1"/>
            </p:cNvCxnSpPr>
            <p:nvPr/>
          </p:nvCxnSpPr>
          <p:spPr>
            <a:xfrm>
              <a:off x="1891926" y="2730126"/>
              <a:ext cx="1092948" cy="788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44" idx="6"/>
              <a:endCxn id="46" idx="2"/>
            </p:cNvCxnSpPr>
            <p:nvPr/>
          </p:nvCxnSpPr>
          <p:spPr>
            <a:xfrm>
              <a:off x="3505200" y="3733800"/>
              <a:ext cx="83820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6" idx="7"/>
              <a:endCxn id="48" idx="4"/>
            </p:cNvCxnSpPr>
            <p:nvPr/>
          </p:nvCxnSpPr>
          <p:spPr>
            <a:xfrm flipV="1">
              <a:off x="4863726" y="2133600"/>
              <a:ext cx="1384674" cy="1537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0" idx="7"/>
              <a:endCxn id="42" idx="2"/>
            </p:cNvCxnSpPr>
            <p:nvPr/>
          </p:nvCxnSpPr>
          <p:spPr>
            <a:xfrm flipV="1">
              <a:off x="1891926" y="2057400"/>
              <a:ext cx="1994274" cy="2416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42" idx="6"/>
              <a:endCxn id="48" idx="2"/>
            </p:cNvCxnSpPr>
            <p:nvPr/>
          </p:nvCxnSpPr>
          <p:spPr>
            <a:xfrm flipV="1">
              <a:off x="4495800" y="1828800"/>
              <a:ext cx="1447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6" idx="0"/>
            </p:cNvCxnSpPr>
            <p:nvPr/>
          </p:nvCxnSpPr>
          <p:spPr>
            <a:xfrm flipH="1" flipV="1">
              <a:off x="4343400" y="2286000"/>
              <a:ext cx="304800" cy="1295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17"/>
            <p:cNvCxnSpPr>
              <a:stCxn id="40" idx="4"/>
              <a:endCxn id="46" idx="4"/>
            </p:cNvCxnSpPr>
            <p:nvPr/>
          </p:nvCxnSpPr>
          <p:spPr>
            <a:xfrm rot="16200000" flipH="1">
              <a:off x="2476500" y="2019300"/>
              <a:ext cx="1371600" cy="2971800"/>
            </a:xfrm>
            <a:prstGeom prst="curvedConnector3">
              <a:avLst>
                <a:gd name="adj1" fmla="val 14127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hape 17"/>
            <p:cNvCxnSpPr>
              <a:stCxn id="42" idx="3"/>
              <a:endCxn id="46" idx="1"/>
            </p:cNvCxnSpPr>
            <p:nvPr/>
          </p:nvCxnSpPr>
          <p:spPr>
            <a:xfrm rot="16200000" flipH="1">
              <a:off x="3505200" y="2743200"/>
              <a:ext cx="1397748" cy="457200"/>
            </a:xfrm>
            <a:prstGeom prst="curvedConnector3">
              <a:avLst>
                <a:gd name="adj1" fmla="val 5856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2903794" y="47031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62199" y="17526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76801" y="14478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068052" y="4370442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133600" y="30480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560917" y="3809999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657599" y="28194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495800" y="2590801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486401" y="2895600"/>
              <a:ext cx="457199" cy="618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152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Question </a:t>
            </a:r>
            <a:r>
              <a:rPr lang="en-US" b="1" dirty="0" smtClean="0"/>
              <a:t>2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>
                <a:solidFill>
                  <a:srgbClr val="0000FF"/>
                </a:solidFill>
              </a:rPr>
              <a:t>Let </a:t>
            </a:r>
            <a:r>
              <a:rPr lang="en-US" i="1" dirty="0" smtClean="0">
                <a:solidFill>
                  <a:srgbClr val="0000FF"/>
                </a:solidFill>
              </a:rPr>
              <a:t>G = (V, E, W)</a:t>
            </a:r>
            <a:r>
              <a:rPr lang="en-US" dirty="0" smtClean="0">
                <a:solidFill>
                  <a:srgbClr val="0000FF"/>
                </a:solidFill>
              </a:rPr>
              <a:t> be a weighted graph, and let </a:t>
            </a:r>
            <a:r>
              <a:rPr lang="en-US" i="1" dirty="0" smtClean="0">
                <a:solidFill>
                  <a:srgbClr val="0000FF"/>
                </a:solidFill>
              </a:rPr>
              <a:t>s</a:t>
            </a:r>
            <a:r>
              <a:rPr lang="en-US" dirty="0" smtClean="0">
                <a:solidFill>
                  <a:srgbClr val="0000FF"/>
                </a:solidFill>
              </a:rPr>
              <a:t> and </a:t>
            </a:r>
            <a:r>
              <a:rPr lang="en-US" i="1" dirty="0" smtClean="0">
                <a:solidFill>
                  <a:srgbClr val="0000FF"/>
                </a:solidFill>
              </a:rPr>
              <a:t>z</a:t>
            </a:r>
            <a:r>
              <a:rPr lang="en-US" dirty="0" smtClean="0">
                <a:solidFill>
                  <a:srgbClr val="0000FF"/>
                </a:solidFill>
              </a:rPr>
              <a:t> be distinct vertices.  In the graph, there may be more than one shortest path from </a:t>
            </a:r>
            <a:r>
              <a:rPr lang="en-US" i="1" dirty="0" smtClean="0">
                <a:solidFill>
                  <a:srgbClr val="0000FF"/>
                </a:solidFill>
              </a:rPr>
              <a:t>s</a:t>
            </a:r>
            <a:r>
              <a:rPr lang="en-US" dirty="0" smtClean="0">
                <a:solidFill>
                  <a:srgbClr val="0000FF"/>
                </a:solidFill>
              </a:rPr>
              <a:t> to </a:t>
            </a:r>
            <a:r>
              <a:rPr lang="en-US" i="1" dirty="0" smtClean="0">
                <a:solidFill>
                  <a:srgbClr val="0000FF"/>
                </a:solidFill>
              </a:rPr>
              <a:t>z</a:t>
            </a:r>
            <a:r>
              <a:rPr lang="en-US" dirty="0" smtClean="0">
                <a:solidFill>
                  <a:srgbClr val="0000FF"/>
                </a:solidFill>
              </a:rPr>
              <a:t>.  Explain how to modify </a:t>
            </a:r>
            <a:r>
              <a:rPr lang="en-US" dirty="0" err="1" smtClean="0">
                <a:solidFill>
                  <a:srgbClr val="0000FF"/>
                </a:solidFill>
              </a:rPr>
              <a:t>Dijkstra’s</a:t>
            </a:r>
            <a:r>
              <a:rPr lang="en-US" dirty="0" smtClean="0">
                <a:solidFill>
                  <a:srgbClr val="0000FF"/>
                </a:solidFill>
              </a:rPr>
              <a:t> shortest-path algorithm to determine the number of distinct shortest paths from </a:t>
            </a:r>
            <a:r>
              <a:rPr lang="en-US" i="1" dirty="0" smtClean="0">
                <a:solidFill>
                  <a:srgbClr val="0000FF"/>
                </a:solidFill>
              </a:rPr>
              <a:t>s</a:t>
            </a:r>
            <a:r>
              <a:rPr lang="en-US" dirty="0" smtClean="0">
                <a:solidFill>
                  <a:srgbClr val="0000FF"/>
                </a:solidFill>
              </a:rPr>
              <a:t> to </a:t>
            </a:r>
            <a:r>
              <a:rPr lang="en-US" i="1" dirty="0" smtClean="0">
                <a:solidFill>
                  <a:srgbClr val="0000FF"/>
                </a:solidFill>
              </a:rPr>
              <a:t>z</a:t>
            </a:r>
            <a:r>
              <a:rPr lang="en-US" dirty="0" smtClean="0">
                <a:solidFill>
                  <a:srgbClr val="0000FF"/>
                </a:solidFill>
              </a:rPr>
              <a:t>.  Assume all edge weights are positive.</a:t>
            </a:r>
            <a:endParaRPr lang="en-S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71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Question </a:t>
            </a:r>
            <a:r>
              <a:rPr lang="en-US" sz="3600" b="1" dirty="0" smtClean="0"/>
              <a:t>2</a:t>
            </a:r>
            <a:endParaRPr lang="en-SG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shortest_paths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 Graph g, Node source )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SG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The array count[] records the number of</a:t>
            </a:r>
          </a:p>
          <a:p>
            <a:pPr>
              <a:buNone/>
            </a:pPr>
            <a:r>
              <a:rPr lang="en-SG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// shortest paths from</a:t>
            </a:r>
          </a:p>
          <a:p>
            <a:pPr>
              <a:buNone/>
            </a:pPr>
            <a:r>
              <a:rPr lang="en-SG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// source to each of the vertices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for each vertex v {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		d[v] = infinity;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		pi[v] = null pointer;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		S[v] = 0;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count[v] = 0;</a:t>
            </a:r>
            <a:endParaRPr lang="en-SG" sz="2000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}  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   d[source] = 0;</a:t>
            </a:r>
            <a:endParaRPr lang="en-SG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count[source] = 1;</a:t>
            </a:r>
            <a:endParaRPr lang="en-SG" sz="2000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SG" sz="2000" b="1" dirty="0" smtClean="0">
                <a:latin typeface="Courier New" pitchFamily="49" charset="0"/>
                <a:cs typeface="Courier New" pitchFamily="49" charset="0"/>
              </a:rPr>
              <a:t>	 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put all vertices in queue, Q, in d[v]’s order;</a:t>
            </a:r>
            <a:endParaRPr lang="en-SG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46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Autofit/>
          </a:bodyPr>
          <a:lstStyle/>
          <a:p>
            <a:pPr marL="0"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while not Empty(Q) {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u =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ExtractCheapest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 Q );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S[u] = 1; /* Add u to S */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for each vertex v adjacent to u 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  <a:tabLst>
                <a:tab pos="1150938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 if (S[v] != </a:t>
            </a:r>
            <a:r>
              <a:rPr lang="en-US" sz="1600" b="1" smtClean="0">
                <a:latin typeface="Courier New" pitchFamily="49" charset="0"/>
                <a:cs typeface="Courier New" pitchFamily="49" charset="0"/>
              </a:rPr>
              <a:t>1 &amp;&amp;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d[v] &gt; d[u] + w[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]) {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	    remove v from Q;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    d[v] = d[u] + w[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];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pi[v] = u;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SG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 </a:t>
            </a:r>
            <a:r>
              <a:rPr lang="en-SG" sz="1600" b="1" dirty="0" smtClean="0">
                <a:solidFill>
                  <a:srgbClr val="339966"/>
                </a:solidFill>
                <a:latin typeface="Courier New" pitchFamily="49" charset="0"/>
                <a:cs typeface="Courier New" pitchFamily="49" charset="0"/>
              </a:rPr>
              <a:t>// the shortest paths to u extends to v, the 		    // previously known shortest path(s) to v is replaced</a:t>
            </a:r>
          </a:p>
          <a:p>
            <a:pPr lvl="1">
              <a:buNone/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 count[v] = count[u];</a:t>
            </a:r>
            <a:endParaRPr lang="en-SG" sz="1600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    insert v into Q according to its d[v];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 }</a:t>
            </a:r>
            <a:r>
              <a:rPr lang="en-SG" sz="16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>
              <a:buNone/>
            </a:pPr>
            <a:r>
              <a:rPr lang="en-SG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else if (d[v] == d[u] + w[u, v]) {</a:t>
            </a:r>
          </a:p>
          <a:p>
            <a:pPr lvl="1">
              <a:buNone/>
            </a:pPr>
            <a:r>
              <a:rPr lang="en-SG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 </a:t>
            </a:r>
            <a:r>
              <a:rPr lang="en-SG" sz="1600" b="1" dirty="0" smtClean="0">
                <a:solidFill>
                  <a:srgbClr val="339966"/>
                </a:solidFill>
                <a:latin typeface="Courier New" pitchFamily="49" charset="0"/>
                <a:cs typeface="Courier New" pitchFamily="49" charset="0"/>
              </a:rPr>
              <a:t>// additional shortest path(s) through u to v is found</a:t>
            </a:r>
          </a:p>
          <a:p>
            <a:pPr lvl="1">
              <a:buNone/>
            </a:pPr>
            <a:r>
              <a:rPr lang="en-SG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 count[v] += count[u];</a:t>
            </a:r>
          </a:p>
          <a:p>
            <a:pPr lvl="1">
              <a:buNone/>
            </a:pPr>
            <a:r>
              <a:rPr lang="en-SG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lvl="1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SG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SG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35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Question </a:t>
            </a:r>
            <a:r>
              <a:rPr lang="en-US" b="1" dirty="0" smtClean="0"/>
              <a:t>3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>
                <a:solidFill>
                  <a:srgbClr val="0000FF"/>
                </a:solidFill>
              </a:rPr>
              <a:t>Dijkstra’s</a:t>
            </a:r>
            <a:r>
              <a:rPr lang="en-US" dirty="0" smtClean="0">
                <a:solidFill>
                  <a:srgbClr val="0000FF"/>
                </a:solidFill>
              </a:rPr>
              <a:t> algorithm requires that the input graph has all edges being non-negative. Give an example where </a:t>
            </a:r>
            <a:r>
              <a:rPr lang="en-US" dirty="0" err="1" smtClean="0">
                <a:solidFill>
                  <a:srgbClr val="0000FF"/>
                </a:solidFill>
              </a:rPr>
              <a:t>Dijkstra’s</a:t>
            </a:r>
            <a:r>
              <a:rPr lang="en-US" dirty="0" smtClean="0">
                <a:solidFill>
                  <a:srgbClr val="0000FF"/>
                </a:solidFill>
              </a:rPr>
              <a:t> algorithm does not work correctly with negative weights.</a:t>
            </a:r>
          </a:p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373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SG" b="1" dirty="0" smtClean="0"/>
              <a:t>Question 3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4325"/>
            <a:ext cx="8229600" cy="4906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Thoughts: Assumption of “non-negative weights” is </a:t>
            </a:r>
            <a:r>
              <a:rPr lang="en-US" sz="2800" dirty="0"/>
              <a:t>used in the proof of Theorem </a:t>
            </a:r>
            <a:r>
              <a:rPr lang="en-US" sz="2800" dirty="0" smtClean="0"/>
              <a:t>D1.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SG" sz="2800" dirty="0" smtClean="0"/>
              <a:t>Design of a counter-example: </a:t>
            </a:r>
          </a:p>
          <a:p>
            <a:pPr lvl="1"/>
            <a:r>
              <a:rPr lang="en-SG" sz="2400" dirty="0" smtClean="0"/>
              <a:t>Look at different edges across the border</a:t>
            </a:r>
          </a:p>
          <a:p>
            <a:pPr lvl="1"/>
            <a:r>
              <a:rPr lang="en-SG" sz="2400" dirty="0" smtClean="0"/>
              <a:t>Design a case that violates the proof</a:t>
            </a:r>
            <a:endParaRPr lang="en-US" sz="2400" dirty="0" smtClean="0"/>
          </a:p>
        </p:txBody>
      </p:sp>
      <p:sp>
        <p:nvSpPr>
          <p:cNvPr id="39" name="Oval 38"/>
          <p:cNvSpPr/>
          <p:nvPr/>
        </p:nvSpPr>
        <p:spPr>
          <a:xfrm>
            <a:off x="6674142" y="1796325"/>
            <a:ext cx="1905000" cy="1676400"/>
          </a:xfrm>
          <a:prstGeom prst="ellipse">
            <a:avLst/>
          </a:prstGeom>
          <a:solidFill>
            <a:srgbClr val="BBE0E3"/>
          </a:solidFill>
          <a:ln w="28575" cap="flat" cmpd="sng" algn="ctr">
            <a:solidFill>
              <a:srgbClr val="CC009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G" sz="2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23521" y="183113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2000" b="1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s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7065395" y="2032854"/>
            <a:ext cx="381000" cy="260135"/>
          </a:xfrm>
          <a:prstGeom prst="straightConnector1">
            <a:avLst/>
          </a:prstGeom>
          <a:noFill/>
          <a:ln w="28575" cap="flat" cmpd="sng" algn="ctr">
            <a:solidFill>
              <a:srgbClr val="CC0099"/>
            </a:solidFill>
            <a:prstDash val="solid"/>
            <a:tailEnd type="triangle"/>
          </a:ln>
          <a:effectLst/>
        </p:spPr>
      </p:cxnSp>
      <p:cxnSp>
        <p:nvCxnSpPr>
          <p:cNvPr id="42" name="Straight Arrow Connector 41"/>
          <p:cNvCxnSpPr/>
          <p:nvPr/>
        </p:nvCxnSpPr>
        <p:spPr>
          <a:xfrm>
            <a:off x="7742844" y="2063613"/>
            <a:ext cx="407090" cy="155721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tailEnd type="triangle"/>
          </a:ln>
          <a:effectLst/>
        </p:spPr>
      </p:cxnSp>
      <p:cxnSp>
        <p:nvCxnSpPr>
          <p:cNvPr id="43" name="Straight Arrow Connector 42"/>
          <p:cNvCxnSpPr/>
          <p:nvPr/>
        </p:nvCxnSpPr>
        <p:spPr>
          <a:xfrm>
            <a:off x="7036965" y="2190823"/>
            <a:ext cx="0" cy="304800"/>
          </a:xfrm>
          <a:prstGeom prst="straightConnector1">
            <a:avLst/>
          </a:prstGeom>
          <a:noFill/>
          <a:ln w="28575" cap="flat" cmpd="sng" algn="ctr">
            <a:solidFill>
              <a:srgbClr val="CC0099"/>
            </a:solidFill>
            <a:prstDash val="sysDot"/>
            <a:tailEnd type="triangle"/>
          </a:ln>
          <a:effectLst/>
        </p:spPr>
      </p:cxnSp>
      <p:cxnSp>
        <p:nvCxnSpPr>
          <p:cNvPr id="44" name="Straight Arrow Connector 43"/>
          <p:cNvCxnSpPr/>
          <p:nvPr/>
        </p:nvCxnSpPr>
        <p:spPr>
          <a:xfrm flipH="1">
            <a:off x="8127948" y="2313056"/>
            <a:ext cx="43972" cy="383687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ysDash"/>
            <a:tailEnd type="triangle"/>
          </a:ln>
          <a:effectLst/>
        </p:spPr>
      </p:cxnSp>
      <p:cxnSp>
        <p:nvCxnSpPr>
          <p:cNvPr id="45" name="Straight Arrow Connector 44"/>
          <p:cNvCxnSpPr/>
          <p:nvPr/>
        </p:nvCxnSpPr>
        <p:spPr>
          <a:xfrm>
            <a:off x="7056473" y="2538486"/>
            <a:ext cx="146016" cy="301435"/>
          </a:xfrm>
          <a:prstGeom prst="straightConnector1">
            <a:avLst/>
          </a:prstGeom>
          <a:noFill/>
          <a:ln w="28575" cap="flat" cmpd="sng" algn="ctr">
            <a:solidFill>
              <a:srgbClr val="CC0099"/>
            </a:solidFill>
            <a:prstDash val="solid"/>
            <a:tailEnd type="triangle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7142986" y="2909258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2000" b="1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7162800" y="3303126"/>
            <a:ext cx="84173" cy="467553"/>
          </a:xfrm>
          <a:prstGeom prst="straightConnector1">
            <a:avLst/>
          </a:prstGeom>
          <a:noFill/>
          <a:ln w="28575" cap="flat" cmpd="sng" algn="ctr">
            <a:solidFill>
              <a:srgbClr val="CC0099"/>
            </a:solidFill>
            <a:prstDash val="solid"/>
            <a:tailEnd type="triangle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6918300" y="3774422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2000" b="1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8658" y="3788259"/>
            <a:ext cx="609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2000" b="1" dirty="0" err="1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z</a:t>
            </a:r>
            <a:r>
              <a:rPr lang="en-SG" sz="2000" b="1" baseline="-25000" dirty="0" err="1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k</a:t>
            </a:r>
            <a:endParaRPr lang="en-SG" sz="2000" b="1" dirty="0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34394" y="2654436"/>
            <a:ext cx="609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2000" b="1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z</a:t>
            </a:r>
            <a:r>
              <a:rPr lang="en-SG" sz="2000" b="1" baseline="-2500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k-1</a:t>
            </a:r>
            <a:endParaRPr lang="en-SG" sz="2000" b="1" dirty="0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8026437" y="3080637"/>
            <a:ext cx="61649" cy="726328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tailEnd type="triangle"/>
          </a:ln>
          <a:effectLst/>
        </p:spPr>
      </p:cxnSp>
      <p:cxnSp>
        <p:nvCxnSpPr>
          <p:cNvPr id="52" name="Straight Arrow Connector 51"/>
          <p:cNvCxnSpPr>
            <a:stCxn id="49" idx="1"/>
            <a:endCxn id="48" idx="3"/>
          </p:cNvCxnSpPr>
          <p:nvPr/>
        </p:nvCxnSpPr>
        <p:spPr>
          <a:xfrm flipH="1" flipV="1">
            <a:off x="7299300" y="3974477"/>
            <a:ext cx="659358" cy="13837"/>
          </a:xfrm>
          <a:prstGeom prst="straightConnector1">
            <a:avLst/>
          </a:prstGeom>
          <a:noFill/>
          <a:ln w="28575" cap="flat" cmpd="sng" algn="ctr">
            <a:solidFill>
              <a:srgbClr val="009900"/>
            </a:solidFill>
            <a:prstDash val="sysDash"/>
            <a:tailEnd type="triangle"/>
          </a:ln>
          <a:effectLst/>
        </p:spPr>
      </p:cxnSp>
      <p:sp>
        <p:nvSpPr>
          <p:cNvPr id="53" name="Content Placeholder 4"/>
          <p:cNvSpPr txBox="1">
            <a:spLocks/>
          </p:cNvSpPr>
          <p:nvPr/>
        </p:nvSpPr>
        <p:spPr bwMode="auto">
          <a:xfrm>
            <a:off x="518967" y="2060086"/>
            <a:ext cx="6010319" cy="2479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321865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6pPr>
            <a:lvl7pPr marL="2744023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7pPr>
            <a:lvl8pPr marL="3166181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8pPr>
            <a:lvl9pPr marL="3588338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2000"/>
              </a:spcBef>
              <a:buClr>
                <a:srgbClr val="808080"/>
              </a:buClr>
              <a:buFont typeface="Wingdings" panose="05000000000000000000" pitchFamily="2" charset="2"/>
              <a:buNone/>
            </a:pPr>
            <a:r>
              <a:rPr lang="en-US" altLang="en-US" sz="2000" kern="0" dirty="0">
                <a:solidFill>
                  <a:srgbClr val="CC0099"/>
                </a:solidFill>
                <a:latin typeface="Arial"/>
                <a:cs typeface="Arial" panose="020B0604020202020204" pitchFamily="34" charset="0"/>
              </a:rPr>
              <a:t>W(P) = d[y] + W(y, z</a:t>
            </a:r>
            <a:r>
              <a:rPr lang="en-US" altLang="en-US" sz="2000" kern="0" dirty="0" smtClean="0">
                <a:solidFill>
                  <a:srgbClr val="CC0099"/>
                </a:solidFill>
                <a:latin typeface="Arial"/>
                <a:cs typeface="Arial" panose="020B0604020202020204" pitchFamily="34" charset="0"/>
              </a:rPr>
              <a:t>)</a:t>
            </a:r>
            <a:endParaRPr lang="en-US" altLang="en-US" sz="2000" kern="0" dirty="0">
              <a:solidFill>
                <a:srgbClr val="CC0099"/>
              </a:solidFill>
              <a:latin typeface="Arial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2000"/>
              </a:spcBef>
              <a:buClr>
                <a:srgbClr val="808080"/>
              </a:buClr>
              <a:buFont typeface="Wingdings" panose="05000000000000000000" pitchFamily="2" charset="2"/>
              <a:buNone/>
            </a:pPr>
            <a:r>
              <a:rPr lang="en-US" altLang="en-US" sz="2000" kern="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W(P’) </a:t>
            </a:r>
            <a:r>
              <a:rPr lang="en-US" altLang="en-US" sz="20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= </a:t>
            </a:r>
            <a:r>
              <a:rPr lang="en-US" altLang="en-US" sz="2000" kern="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d[</a:t>
            </a:r>
            <a:r>
              <a:rPr lang="en-US" altLang="en-US" sz="2000" kern="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z</a:t>
            </a:r>
            <a:r>
              <a:rPr lang="en-US" altLang="en-US" sz="2000" kern="0" baseline="-2500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baseline="-2500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–1</a:t>
            </a:r>
            <a:r>
              <a:rPr lang="en-US" altLang="en-US" sz="2000" kern="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] + </a:t>
            </a:r>
            <a:r>
              <a:rPr lang="en-US" altLang="en-US" sz="2000" kern="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W(</a:t>
            </a:r>
            <a:r>
              <a:rPr lang="en-US" altLang="en-US" sz="2000" kern="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z</a:t>
            </a:r>
            <a:r>
              <a:rPr lang="en-US" altLang="en-US" sz="2000" kern="0" baseline="-2500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baseline="-2500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–1</a:t>
            </a:r>
            <a:r>
              <a:rPr lang="en-US" altLang="en-US" sz="2000" kern="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, z</a:t>
            </a:r>
            <a:r>
              <a:rPr lang="en-US" altLang="en-US" sz="2000" kern="0" baseline="-2500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) </a:t>
            </a:r>
            <a:r>
              <a:rPr lang="en-US" altLang="en-US" sz="20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+ </a:t>
            </a:r>
            <a:r>
              <a:rPr lang="en-US" altLang="en-US" sz="2000" kern="0" dirty="0">
                <a:solidFill>
                  <a:srgbClr val="008000"/>
                </a:solidFill>
                <a:latin typeface="Arial"/>
                <a:cs typeface="Arial" panose="020B0604020202020204" pitchFamily="34" charset="0"/>
              </a:rPr>
              <a:t>distance from z</a:t>
            </a:r>
            <a:r>
              <a:rPr lang="en-US" altLang="en-US" sz="2000" kern="0" baseline="-25000" dirty="0">
                <a:solidFill>
                  <a:srgbClr val="00800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dirty="0">
                <a:solidFill>
                  <a:srgbClr val="008000"/>
                </a:solidFill>
                <a:latin typeface="Arial"/>
                <a:cs typeface="Arial" panose="020B0604020202020204" pitchFamily="34" charset="0"/>
              </a:rPr>
              <a:t> to z</a:t>
            </a:r>
          </a:p>
          <a:p>
            <a:pPr marL="0" indent="0" eaLnBrk="1" hangingPunct="1">
              <a:spcBef>
                <a:spcPts val="2000"/>
              </a:spcBef>
              <a:buClr>
                <a:srgbClr val="808080"/>
              </a:buClr>
              <a:buFont typeface="Wingdings" panose="05000000000000000000" pitchFamily="2" charset="2"/>
              <a:buNone/>
            </a:pPr>
            <a:r>
              <a:rPr lang="en-US" altLang="en-US" sz="2000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Note that: </a:t>
            </a:r>
            <a:r>
              <a:rPr lang="en-US" altLang="en-US" sz="2000" kern="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d[</a:t>
            </a:r>
            <a:r>
              <a:rPr lang="en-US" altLang="en-US" sz="2000" kern="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z</a:t>
            </a:r>
            <a:r>
              <a:rPr lang="en-US" altLang="en-US" sz="2000" kern="0" baseline="-2500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baseline="-2500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–1</a:t>
            </a:r>
            <a:r>
              <a:rPr lang="en-US" altLang="en-US" sz="2000" kern="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] + </a:t>
            </a:r>
            <a:r>
              <a:rPr lang="en-US" altLang="en-US" sz="2000" kern="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W(</a:t>
            </a:r>
            <a:r>
              <a:rPr lang="en-US" altLang="en-US" sz="2000" kern="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z</a:t>
            </a:r>
            <a:r>
              <a:rPr lang="en-US" altLang="en-US" sz="2000" kern="0" baseline="-25000" dirty="0" err="1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baseline="-25000" dirty="0" smtClean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–1</a:t>
            </a:r>
            <a:r>
              <a:rPr lang="en-US" altLang="en-US" sz="2000" kern="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, </a:t>
            </a:r>
            <a:r>
              <a:rPr lang="en-US" altLang="en-US" sz="2000" kern="0" dirty="0" err="1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z</a:t>
            </a:r>
            <a:r>
              <a:rPr lang="en-US" altLang="en-US" sz="2000" kern="0" baseline="-25000" dirty="0" err="1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dirty="0" smtClean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)</a:t>
            </a:r>
            <a:r>
              <a:rPr lang="en-US" altLang="en-US" sz="2000" kern="0" dirty="0" smtClean="0">
                <a:solidFill>
                  <a:srgbClr val="CC0099"/>
                </a:solidFill>
                <a:latin typeface="Arial"/>
                <a:cs typeface="Arial" panose="020B0604020202020204" pitchFamily="34" charset="0"/>
              </a:rPr>
              <a:t> </a:t>
            </a:r>
            <a:r>
              <a:rPr lang="en-US" altLang="en-US" sz="2000" kern="0" dirty="0">
                <a:solidFill>
                  <a:srgbClr val="CC0099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000" kern="0" dirty="0">
                <a:solidFill>
                  <a:srgbClr val="CC0099"/>
                </a:solidFill>
                <a:latin typeface="Arial"/>
                <a:cs typeface="Arial" panose="020B0604020202020204" pitchFamily="34" charset="0"/>
              </a:rPr>
              <a:t> </a:t>
            </a:r>
            <a:r>
              <a:rPr lang="en-US" altLang="en-US" sz="2000" kern="0" dirty="0" smtClean="0">
                <a:solidFill>
                  <a:srgbClr val="CC0099"/>
                </a:solidFill>
                <a:latin typeface="Arial"/>
                <a:cs typeface="Arial" panose="020B0604020202020204" pitchFamily="34" charset="0"/>
              </a:rPr>
              <a:t>d[y] + W(y, z)</a:t>
            </a:r>
            <a:endParaRPr lang="en-US" altLang="en-US" sz="2000" kern="0" dirty="0">
              <a:solidFill>
                <a:srgbClr val="CC0099"/>
              </a:solidFill>
              <a:latin typeface="Arial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2000"/>
              </a:spcBef>
              <a:buClr>
                <a:srgbClr val="808080"/>
              </a:buClr>
              <a:buFont typeface="Wingdings" panose="05000000000000000000" pitchFamily="2" charset="2"/>
              <a:buNone/>
            </a:pPr>
            <a:r>
              <a:rPr lang="en-US" altLang="en-US" sz="20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Since </a:t>
            </a:r>
            <a:r>
              <a:rPr lang="en-US" altLang="en-US" sz="2000" kern="0" dirty="0">
                <a:solidFill>
                  <a:srgbClr val="008000"/>
                </a:solidFill>
                <a:latin typeface="Arial"/>
                <a:cs typeface="Arial" panose="020B0604020202020204" pitchFamily="34" charset="0"/>
              </a:rPr>
              <a:t>distance from z</a:t>
            </a:r>
            <a:r>
              <a:rPr lang="en-US" altLang="en-US" sz="2000" kern="0" baseline="-25000" dirty="0">
                <a:solidFill>
                  <a:srgbClr val="008000"/>
                </a:solidFill>
                <a:latin typeface="Arial"/>
                <a:cs typeface="Arial" panose="020B0604020202020204" pitchFamily="34" charset="0"/>
              </a:rPr>
              <a:t>k</a:t>
            </a:r>
            <a:r>
              <a:rPr lang="en-US" altLang="en-US" sz="2000" kern="0" dirty="0">
                <a:solidFill>
                  <a:srgbClr val="008000"/>
                </a:solidFill>
                <a:latin typeface="Arial"/>
                <a:cs typeface="Arial" panose="020B0604020202020204" pitchFamily="34" charset="0"/>
              </a:rPr>
              <a:t> to z </a:t>
            </a:r>
            <a:r>
              <a:rPr lang="en-US" altLang="en-US" sz="20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is non-negative,  therefore, </a:t>
            </a:r>
            <a:r>
              <a:rPr lang="en-US" altLang="en-US" sz="2000" b="1" kern="0" dirty="0">
                <a:solidFill>
                  <a:srgbClr val="FF33CC"/>
                </a:solidFill>
                <a:latin typeface="Arial"/>
                <a:cs typeface="Arial" panose="020B0604020202020204" pitchFamily="34" charset="0"/>
              </a:rPr>
              <a:t>W(P) </a:t>
            </a:r>
            <a:r>
              <a:rPr lang="en-US" altLang="en-US" sz="2000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&lt;= </a:t>
            </a:r>
            <a:r>
              <a:rPr lang="en-US" altLang="en-US" sz="2000" b="1" kern="0" dirty="0">
                <a:solidFill>
                  <a:srgbClr val="0070C0"/>
                </a:solidFill>
                <a:latin typeface="Arial"/>
                <a:cs typeface="Arial" panose="020B0604020202020204" pitchFamily="34" charset="0"/>
              </a:rPr>
              <a:t>W(P’)</a:t>
            </a:r>
            <a:r>
              <a:rPr lang="en-US" altLang="en-US" sz="2000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.</a:t>
            </a:r>
          </a:p>
          <a:p>
            <a:pPr marL="0" indent="0" eaLnBrk="1" hangingPunct="1">
              <a:spcBef>
                <a:spcPts val="2000"/>
              </a:spcBef>
              <a:buClr>
                <a:srgbClr val="808080"/>
              </a:buClr>
              <a:buFont typeface="Monotype Sorts" pitchFamily="2" charset="2"/>
              <a:buNone/>
            </a:pPr>
            <a:endParaRPr lang="en-US" altLang="en-US" sz="2000" b="1" kern="0" dirty="0">
              <a:latin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18927" y="2052565"/>
            <a:ext cx="6006518" cy="2407400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6705600" y="4917213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 smtClean="0"/>
              <a:t>s</a:t>
            </a:r>
            <a:endParaRPr lang="en-SG" sz="1600" dirty="0"/>
          </a:p>
        </p:txBody>
      </p:sp>
      <p:sp>
        <p:nvSpPr>
          <p:cNvPr id="56" name="Oval 55"/>
          <p:cNvSpPr/>
          <p:nvPr/>
        </p:nvSpPr>
        <p:spPr>
          <a:xfrm>
            <a:off x="7543800" y="5412512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 smtClean="0"/>
              <a:t>v</a:t>
            </a:r>
            <a:endParaRPr lang="en-SG" sz="1600" dirty="0"/>
          </a:p>
        </p:txBody>
      </p:sp>
      <p:sp>
        <p:nvSpPr>
          <p:cNvPr id="57" name="Oval 56"/>
          <p:cNvSpPr/>
          <p:nvPr/>
        </p:nvSpPr>
        <p:spPr>
          <a:xfrm>
            <a:off x="8360886" y="4884363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 smtClean="0"/>
              <a:t>z</a:t>
            </a:r>
            <a:endParaRPr lang="en-SG" sz="1600" dirty="0"/>
          </a:p>
        </p:txBody>
      </p:sp>
      <p:cxnSp>
        <p:nvCxnSpPr>
          <p:cNvPr id="59" name="Straight Arrow Connector 58"/>
          <p:cNvCxnSpPr>
            <a:stCxn id="55" idx="6"/>
            <a:endCxn id="57" idx="2"/>
          </p:cNvCxnSpPr>
          <p:nvPr/>
        </p:nvCxnSpPr>
        <p:spPr>
          <a:xfrm flipV="1">
            <a:off x="7086600" y="5089945"/>
            <a:ext cx="1274286" cy="32850"/>
          </a:xfrm>
          <a:prstGeom prst="straightConnector1">
            <a:avLst/>
          </a:prstGeom>
          <a:ln w="28575">
            <a:solidFill>
              <a:srgbClr val="CC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5" idx="5"/>
            <a:endCxn id="56" idx="2"/>
          </p:cNvCxnSpPr>
          <p:nvPr/>
        </p:nvCxnSpPr>
        <p:spPr>
          <a:xfrm>
            <a:off x="7030804" y="5268163"/>
            <a:ext cx="512996" cy="3499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56" idx="6"/>
            <a:endCxn id="57" idx="3"/>
          </p:cNvCxnSpPr>
          <p:nvPr/>
        </p:nvCxnSpPr>
        <p:spPr>
          <a:xfrm flipV="1">
            <a:off x="7924800" y="5235313"/>
            <a:ext cx="491882" cy="382781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 flipH="1">
            <a:off x="7549034" y="4800600"/>
            <a:ext cx="38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smtClean="0">
                <a:solidFill>
                  <a:srgbClr val="CC0099"/>
                </a:solidFill>
              </a:rPr>
              <a:t>4</a:t>
            </a:r>
            <a:endParaRPr lang="en-SG" dirty="0">
              <a:solidFill>
                <a:srgbClr val="CC0099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 flipH="1">
            <a:off x="6955722" y="5393914"/>
            <a:ext cx="39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smtClean="0">
                <a:solidFill>
                  <a:schemeClr val="accent1"/>
                </a:solidFill>
              </a:rPr>
              <a:t>8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 flipH="1">
            <a:off x="8133914" y="5393914"/>
            <a:ext cx="39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smtClean="0">
                <a:solidFill>
                  <a:srgbClr val="008000"/>
                </a:solidFill>
              </a:rPr>
              <a:t>-6</a:t>
            </a:r>
            <a:endParaRPr lang="en-SG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18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67" grpId="0"/>
      <p:bldP spid="68" grpId="0"/>
      <p:bldP spid="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we have exercised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64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Single-source shortest </a:t>
            </a:r>
            <a:r>
              <a:rPr lang="en-US" dirty="0"/>
              <a:t>path </a:t>
            </a:r>
            <a:r>
              <a:rPr lang="en-US" dirty="0" smtClean="0"/>
              <a:t>algorithm: </a:t>
            </a:r>
            <a:r>
              <a:rPr lang="en-US" dirty="0" err="1" smtClean="0"/>
              <a:t>Dijkstra’s</a:t>
            </a:r>
            <a:r>
              <a:rPr lang="en-US" dirty="0" smtClean="0"/>
              <a:t> </a:t>
            </a:r>
            <a:r>
              <a:rPr lang="en-US" dirty="0" smtClean="0"/>
              <a:t>algorithm</a:t>
            </a:r>
          </a:p>
          <a:p>
            <a:pPr lvl="1">
              <a:defRPr/>
            </a:pPr>
            <a:r>
              <a:rPr lang="en-US" dirty="0" smtClean="0"/>
              <a:t>Running of the algorithm</a:t>
            </a:r>
          </a:p>
          <a:p>
            <a:pPr lvl="1">
              <a:defRPr/>
            </a:pPr>
            <a:r>
              <a:rPr lang="en-US" dirty="0" smtClean="0"/>
              <a:t>Data </a:t>
            </a:r>
            <a:r>
              <a:rPr lang="en-US" dirty="0"/>
              <a:t>structure contents in each </a:t>
            </a:r>
            <a:r>
              <a:rPr lang="en-US" dirty="0" smtClean="0"/>
              <a:t>iteration</a:t>
            </a:r>
          </a:p>
          <a:p>
            <a:pPr lvl="1">
              <a:defRPr/>
            </a:pPr>
            <a:r>
              <a:rPr lang="en-US" dirty="0"/>
              <a:t>Modify it to capture more information</a:t>
            </a:r>
          </a:p>
          <a:p>
            <a:pPr lvl="1">
              <a:defRPr/>
            </a:pPr>
            <a:r>
              <a:rPr lang="en-US" dirty="0" smtClean="0"/>
              <a:t>Design counter-example for its correctness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81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94586</TotalTime>
  <Words>640</Words>
  <Application>Microsoft Office PowerPoint</Application>
  <PresentationFormat>On-screen Show (4:3)</PresentationFormat>
  <Paragraphs>324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Monotype Sorts</vt:lpstr>
      <vt:lpstr>Arial</vt:lpstr>
      <vt:lpstr>Calibri</vt:lpstr>
      <vt:lpstr>Courier New</vt:lpstr>
      <vt:lpstr>Symbol</vt:lpstr>
      <vt:lpstr>Times New Roman</vt:lpstr>
      <vt:lpstr>Wingdings</vt:lpstr>
      <vt:lpstr>Office Theme</vt:lpstr>
      <vt:lpstr>Equation</vt:lpstr>
      <vt:lpstr>CX2101 Algorithm Design and Analysis</vt:lpstr>
      <vt:lpstr>This Tutorial</vt:lpstr>
      <vt:lpstr>Question 1</vt:lpstr>
      <vt:lpstr>PowerPoint Presentation</vt:lpstr>
      <vt:lpstr>PowerPoint Presentation</vt:lpstr>
      <vt:lpstr>PowerPoint Presentation</vt:lpstr>
      <vt:lpstr>PowerPoint Presentation</vt:lpstr>
      <vt:lpstr>Question 2</vt:lpstr>
      <vt:lpstr>Question 2</vt:lpstr>
      <vt:lpstr>PowerPoint Presentation</vt:lpstr>
      <vt:lpstr>Question 3</vt:lpstr>
      <vt:lpstr>Question 3</vt:lpstr>
      <vt:lpstr>What we have exercised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CE2001/CZ2001/CSC202</dc:title>
  <dc:creator>Zheng Jie (Asst Prof)</dc:creator>
  <cp:lastModifiedBy>Ke Kelly</cp:lastModifiedBy>
  <cp:revision>576</cp:revision>
  <dcterms:created xsi:type="dcterms:W3CDTF">2006-08-16T00:00:00Z</dcterms:created>
  <dcterms:modified xsi:type="dcterms:W3CDTF">2021-02-15T14:49:11Z</dcterms:modified>
</cp:coreProperties>
</file>