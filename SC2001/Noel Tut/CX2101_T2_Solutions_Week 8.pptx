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02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</p:sldIdLst>
  <p:sldSz cx="9144000" cy="6858000" type="screen4x3"/>
  <p:notesSz cx="6669088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CC0099"/>
    <a:srgbClr val="339966"/>
    <a:srgbClr val="33CC33"/>
    <a:srgbClr val="F79A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35EE28-F6AE-3541-814A-1F4E98518E18}" v="1" dt="2022-10-06T14:15:07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g-Wei Lin" userId="d614b8a91a354671" providerId="LiveId" clId="{F735EE28-F6AE-3541-814A-1F4E98518E18}"/>
    <pc:docChg chg="undo custSel modSld">
      <pc:chgData name="Shang-Wei Lin" userId="d614b8a91a354671" providerId="LiveId" clId="{F735EE28-F6AE-3541-814A-1F4E98518E18}" dt="2022-10-06T14:16:02.987" v="20" actId="478"/>
      <pc:docMkLst>
        <pc:docMk/>
      </pc:docMkLst>
      <pc:sldChg chg="addSp delSp modSp mod delAnim modAnim">
        <pc:chgData name="Shang-Wei Lin" userId="d614b8a91a354671" providerId="LiveId" clId="{F735EE28-F6AE-3541-814A-1F4E98518E18}" dt="2022-10-06T14:16:02.987" v="20" actId="478"/>
        <pc:sldMkLst>
          <pc:docMk/>
          <pc:sldMk cId="1012349542" sldId="312"/>
        </pc:sldMkLst>
        <pc:graphicFrameChg chg="add del mod modGraphic">
          <ac:chgData name="Shang-Wei Lin" userId="d614b8a91a354671" providerId="LiveId" clId="{F735EE28-F6AE-3541-814A-1F4E98518E18}" dt="2022-10-06T14:16:02.987" v="20" actId="478"/>
          <ac:graphicFrameMkLst>
            <pc:docMk/>
            <pc:sldMk cId="1012349542" sldId="312"/>
            <ac:graphicFrameMk id="2" creationId="{BFACC188-E8A2-EF95-37E9-AE5A8B41F7CE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5C12-5EE9-48BB-8BB6-74016B2F1D7A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250" y="926465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1CBA-8D6D-4ACD-B804-17C8AAE43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06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E8058-CEF3-4524-BA36-5DD97575DD40}" type="datetimeFigureOut">
              <a:rPr lang="en-SG" smtClean="0"/>
              <a:t>6/10/22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39825" y="1219200"/>
            <a:ext cx="4389438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694238"/>
            <a:ext cx="5335588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26465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470FA-09B7-4FF6-BFC1-A8CAED90DE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556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470FA-09B7-4FF6-BFC1-A8CAED90DE9C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1405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470FA-09B7-4FF6-BFC1-A8CAED90DE9C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0048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470FA-09B7-4FF6-BFC1-A8CAED90DE9C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5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CX2101 Algorithm Design and Analysis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Tutorial 2 (Graphs)</a:t>
            </a:r>
          </a:p>
          <a:p>
            <a:r>
              <a:rPr lang="en-US" dirty="0">
                <a:solidFill>
                  <a:srgbClr val="0000FF"/>
                </a:solidFill>
              </a:rPr>
              <a:t>Week 8: Q7-Q9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This Tutorial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Minimum spanning tree algorithm – </a:t>
            </a:r>
            <a:r>
              <a:rPr lang="en-US" dirty="0" err="1"/>
              <a:t>Kruskal’s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Union-find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30769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7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Execute by hand the </a:t>
            </a:r>
            <a:r>
              <a:rPr lang="en-US" sz="2800" dirty="0" err="1">
                <a:solidFill>
                  <a:srgbClr val="0000FF"/>
                </a:solidFill>
              </a:rPr>
              <a:t>Kruskal’s</a:t>
            </a:r>
            <a:r>
              <a:rPr lang="en-US" sz="2800" dirty="0">
                <a:solidFill>
                  <a:srgbClr val="0000FF"/>
                </a:solidFill>
              </a:rPr>
              <a:t> algorithm (with the weighted </a:t>
            </a:r>
            <a:r>
              <a:rPr lang="en-US" sz="2800" dirty="0" err="1">
                <a:solidFill>
                  <a:srgbClr val="0000FF"/>
                </a:solidFill>
              </a:rPr>
              <a:t>QuickUnion</a:t>
            </a:r>
            <a:r>
              <a:rPr lang="en-US" sz="2800" dirty="0">
                <a:solidFill>
                  <a:srgbClr val="0000FF"/>
                </a:solidFill>
              </a:rPr>
              <a:t> algorithm for Union-Find) for finding minimum spanning tree (MST) on the graph below.  Show the contents of arrays </a:t>
            </a:r>
            <a:r>
              <a:rPr lang="en-US" sz="2800" i="1" dirty="0">
                <a:solidFill>
                  <a:srgbClr val="0000FF"/>
                </a:solidFill>
              </a:rPr>
              <a:t>id</a:t>
            </a:r>
            <a:r>
              <a:rPr lang="en-US" sz="2800" dirty="0">
                <a:solidFill>
                  <a:srgbClr val="0000FF"/>
                </a:solidFill>
              </a:rPr>
              <a:t> and </a:t>
            </a:r>
            <a:r>
              <a:rPr lang="en-US" sz="2800" i="1" dirty="0" err="1">
                <a:solidFill>
                  <a:srgbClr val="0000FF"/>
                </a:solidFill>
              </a:rPr>
              <a:t>sz</a:t>
            </a:r>
            <a:r>
              <a:rPr lang="en-US" sz="2800" dirty="0">
                <a:solidFill>
                  <a:srgbClr val="0000FF"/>
                </a:solidFill>
              </a:rPr>
              <a:t> at each step when an edge is added to the MST.</a:t>
            </a:r>
            <a:endParaRPr lang="en-SG" sz="2800" dirty="0">
              <a:solidFill>
                <a:srgbClr val="0000FF"/>
              </a:solidFill>
            </a:endParaRPr>
          </a:p>
          <a:p>
            <a:pPr lvl="0"/>
            <a:endParaRPr lang="en-SG" sz="2800" dirty="0">
              <a:solidFill>
                <a:srgbClr val="0000FF"/>
              </a:solidFill>
            </a:endParaRP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752600" y="4038600"/>
            <a:ext cx="5257800" cy="2514600"/>
            <a:chOff x="2614" y="2421"/>
            <a:chExt cx="5918" cy="2722"/>
          </a:xfrm>
        </p:grpSpPr>
        <p:sp>
          <p:nvSpPr>
            <p:cNvPr id="5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Text Box 42"/>
            <p:cNvSpPr txBox="1">
              <a:spLocks noChangeArrowheads="1"/>
            </p:cNvSpPr>
            <p:nvPr/>
          </p:nvSpPr>
          <p:spPr bwMode="auto">
            <a:xfrm>
              <a:off x="3214" y="4483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Text Box 43"/>
            <p:cNvSpPr txBox="1">
              <a:spLocks noChangeArrowheads="1"/>
            </p:cNvSpPr>
            <p:nvPr/>
          </p:nvSpPr>
          <p:spPr bwMode="auto">
            <a:xfrm>
              <a:off x="5724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Text Box 45"/>
            <p:cNvSpPr txBox="1">
              <a:spLocks noChangeArrowheads="1"/>
            </p:cNvSpPr>
            <p:nvPr/>
          </p:nvSpPr>
          <p:spPr bwMode="auto">
            <a:xfrm>
              <a:off x="4860" y="386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5004" y="299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Text Box 50"/>
            <p:cNvSpPr txBox="1">
              <a:spLocks noChangeArrowheads="1"/>
            </p:cNvSpPr>
            <p:nvPr/>
          </p:nvSpPr>
          <p:spPr bwMode="auto">
            <a:xfrm>
              <a:off x="6156" y="371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3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Oval 53"/>
            <p:cNvSpPr>
              <a:spLocks noChangeArrowheads="1"/>
            </p:cNvSpPr>
            <p:nvPr/>
          </p:nvSpPr>
          <p:spPr bwMode="auto">
            <a:xfrm>
              <a:off x="5436" y="3459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0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1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2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3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4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5" name="Line 66"/>
            <p:cNvSpPr>
              <a:spLocks noChangeShapeType="1"/>
            </p:cNvSpPr>
            <p:nvPr/>
          </p:nvSpPr>
          <p:spPr bwMode="auto">
            <a:xfrm>
              <a:off x="3043" y="4318"/>
              <a:ext cx="1287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6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7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0" name="Text Box 75"/>
            <p:cNvSpPr txBox="1">
              <a:spLocks noChangeArrowheads="1"/>
            </p:cNvSpPr>
            <p:nvPr/>
          </p:nvSpPr>
          <p:spPr bwMode="auto">
            <a:xfrm>
              <a:off x="7020" y="400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</p:spTree>
    <p:extLst>
      <p:ext uri="{BB962C8B-B14F-4D97-AF65-F5344CB8AC3E}">
        <p14:creationId xmlns:p14="http://schemas.microsoft.com/office/powerpoint/2010/main" val="338871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After initialization: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dirty="0"/>
              <a:t>1st iteration:</a:t>
            </a:r>
          </a:p>
          <a:p>
            <a:pPr>
              <a:buNone/>
            </a:pP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05414"/>
              </p:ext>
            </p:extLst>
          </p:nvPr>
        </p:nvGraphicFramePr>
        <p:xfrm>
          <a:off x="533400" y="1828800"/>
          <a:ext cx="5534341" cy="134874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id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24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SG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Calibri"/>
                          <a:ea typeface="Times New Roman"/>
                          <a:cs typeface="Times New Roman"/>
                        </a:rPr>
                        <a:t>sz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Group 2"/>
          <p:cNvGrpSpPr>
            <a:grpSpLocks noChangeAspect="1"/>
          </p:cNvGrpSpPr>
          <p:nvPr/>
        </p:nvGrpSpPr>
        <p:grpSpPr bwMode="auto">
          <a:xfrm>
            <a:off x="5870527" y="343281"/>
            <a:ext cx="3108960" cy="1449097"/>
            <a:chOff x="2614" y="2421"/>
            <a:chExt cx="5918" cy="2722"/>
          </a:xfrm>
        </p:grpSpPr>
        <p:sp>
          <p:nvSpPr>
            <p:cNvPr id="9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Oval 53"/>
            <p:cNvSpPr>
              <a:spLocks noChangeArrowheads="1"/>
            </p:cNvSpPr>
            <p:nvPr/>
          </p:nvSpPr>
          <p:spPr bwMode="auto">
            <a:xfrm>
              <a:off x="5436" y="3459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4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5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6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7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8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9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0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1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4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642700"/>
              </p:ext>
            </p:extLst>
          </p:nvPr>
        </p:nvGraphicFramePr>
        <p:xfrm>
          <a:off x="457200" y="4823460"/>
          <a:ext cx="5534341" cy="134874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id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24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SG" sz="2400" kern="12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Calibri"/>
                          <a:ea typeface="Times New Roman"/>
                          <a:cs typeface="Times New Roman"/>
                        </a:rPr>
                        <a:t>sz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7" name="Group 2"/>
          <p:cNvGrpSpPr>
            <a:grpSpLocks noChangeAspect="1"/>
          </p:cNvGrpSpPr>
          <p:nvPr/>
        </p:nvGrpSpPr>
        <p:grpSpPr bwMode="auto">
          <a:xfrm>
            <a:off x="5715000" y="3352800"/>
            <a:ext cx="3108960" cy="1449097"/>
            <a:chOff x="2614" y="2421"/>
            <a:chExt cx="5918" cy="2722"/>
          </a:xfrm>
        </p:grpSpPr>
        <p:sp>
          <p:nvSpPr>
            <p:cNvPr id="68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0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1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2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4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5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Oval 53"/>
            <p:cNvSpPr>
              <a:spLocks noChangeArrowheads="1"/>
            </p:cNvSpPr>
            <p:nvPr/>
          </p:nvSpPr>
          <p:spPr bwMode="auto">
            <a:xfrm>
              <a:off x="5436" y="3459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0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1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3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4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5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6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7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8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9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90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93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5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</p:spTree>
    <p:extLst>
      <p:ext uri="{BB962C8B-B14F-4D97-AF65-F5344CB8AC3E}">
        <p14:creationId xmlns:p14="http://schemas.microsoft.com/office/powerpoint/2010/main" val="395686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6961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2nd iteration: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dirty="0"/>
              <a:t>3rd iteration:</a:t>
            </a:r>
          </a:p>
          <a:p>
            <a:pPr>
              <a:buNone/>
            </a:pP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377122"/>
              </p:ext>
            </p:extLst>
          </p:nvPr>
        </p:nvGraphicFramePr>
        <p:xfrm>
          <a:off x="533400" y="1828800"/>
          <a:ext cx="5534341" cy="134874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id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24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SG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Calibri"/>
                          <a:ea typeface="Times New Roman"/>
                          <a:cs typeface="Times New Roman"/>
                        </a:rPr>
                        <a:t>sz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034392"/>
              </p:ext>
            </p:extLst>
          </p:nvPr>
        </p:nvGraphicFramePr>
        <p:xfrm>
          <a:off x="457200" y="4823460"/>
          <a:ext cx="5534341" cy="134874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id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24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SG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Calibri"/>
                          <a:ea typeface="Times New Roman"/>
                          <a:cs typeface="Times New Roman"/>
                        </a:rPr>
                        <a:t>sz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3" name="Group 2"/>
          <p:cNvGrpSpPr>
            <a:grpSpLocks noChangeAspect="1"/>
          </p:cNvGrpSpPr>
          <p:nvPr/>
        </p:nvGrpSpPr>
        <p:grpSpPr bwMode="auto">
          <a:xfrm>
            <a:off x="5715000" y="304800"/>
            <a:ext cx="3108960" cy="1449097"/>
            <a:chOff x="2614" y="2421"/>
            <a:chExt cx="5918" cy="2722"/>
          </a:xfrm>
        </p:grpSpPr>
        <p:sp>
          <p:nvSpPr>
            <p:cNvPr id="64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6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0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1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" name="Oval 53"/>
            <p:cNvSpPr>
              <a:spLocks noChangeArrowheads="1"/>
            </p:cNvSpPr>
            <p:nvPr/>
          </p:nvSpPr>
          <p:spPr bwMode="auto">
            <a:xfrm>
              <a:off x="5436" y="3459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09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0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1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2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3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4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5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6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8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9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0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1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grpSp>
        <p:nvGrpSpPr>
          <p:cNvPr id="122" name="Group 2"/>
          <p:cNvGrpSpPr>
            <a:grpSpLocks noChangeAspect="1"/>
          </p:cNvGrpSpPr>
          <p:nvPr/>
        </p:nvGrpSpPr>
        <p:grpSpPr bwMode="auto">
          <a:xfrm>
            <a:off x="5791200" y="3503903"/>
            <a:ext cx="3108960" cy="1449097"/>
            <a:chOff x="2614" y="2421"/>
            <a:chExt cx="5918" cy="2722"/>
          </a:xfrm>
        </p:grpSpPr>
        <p:sp>
          <p:nvSpPr>
            <p:cNvPr id="123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5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6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7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2" name="Oval 53"/>
            <p:cNvSpPr>
              <a:spLocks noChangeArrowheads="1"/>
            </p:cNvSpPr>
            <p:nvPr/>
          </p:nvSpPr>
          <p:spPr bwMode="auto">
            <a:xfrm>
              <a:off x="5436" y="3459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4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5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6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7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38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39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0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1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2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3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4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5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6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7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8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9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0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</p:spTree>
    <p:extLst>
      <p:ext uri="{BB962C8B-B14F-4D97-AF65-F5344CB8AC3E}">
        <p14:creationId xmlns:p14="http://schemas.microsoft.com/office/powerpoint/2010/main" val="101234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6961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4th iteration: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dirty="0"/>
              <a:t>5th iteration:</a:t>
            </a:r>
          </a:p>
          <a:p>
            <a:pPr>
              <a:buNone/>
            </a:pP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851188"/>
              </p:ext>
            </p:extLst>
          </p:nvPr>
        </p:nvGraphicFramePr>
        <p:xfrm>
          <a:off x="533400" y="1828800"/>
          <a:ext cx="5534341" cy="134874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id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24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SG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Calibri"/>
                          <a:ea typeface="Times New Roman"/>
                          <a:cs typeface="Times New Roman"/>
                        </a:rPr>
                        <a:t>sz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396239"/>
              </p:ext>
            </p:extLst>
          </p:nvPr>
        </p:nvGraphicFramePr>
        <p:xfrm>
          <a:off x="457200" y="4823460"/>
          <a:ext cx="5534341" cy="134874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id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24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SG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Calibri"/>
                          <a:ea typeface="Times New Roman"/>
                          <a:cs typeface="Times New Roman"/>
                        </a:rPr>
                        <a:t>sz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2" name="Group 2"/>
          <p:cNvGrpSpPr>
            <a:grpSpLocks noChangeAspect="1"/>
          </p:cNvGrpSpPr>
          <p:nvPr/>
        </p:nvGrpSpPr>
        <p:grpSpPr bwMode="auto">
          <a:xfrm>
            <a:off x="5577840" y="379703"/>
            <a:ext cx="3108960" cy="1449097"/>
            <a:chOff x="2614" y="2421"/>
            <a:chExt cx="5918" cy="2722"/>
          </a:xfrm>
        </p:grpSpPr>
        <p:sp>
          <p:nvSpPr>
            <p:cNvPr id="123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5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6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7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2" name="Oval 53"/>
            <p:cNvSpPr>
              <a:spLocks noChangeArrowheads="1"/>
            </p:cNvSpPr>
            <p:nvPr/>
          </p:nvSpPr>
          <p:spPr bwMode="auto">
            <a:xfrm>
              <a:off x="5436" y="3459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4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5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6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7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38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39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0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1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2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3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4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5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6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7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48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9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0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grpSp>
        <p:nvGrpSpPr>
          <p:cNvPr id="67" name="Group 2"/>
          <p:cNvGrpSpPr>
            <a:grpSpLocks noChangeAspect="1"/>
          </p:cNvGrpSpPr>
          <p:nvPr/>
        </p:nvGrpSpPr>
        <p:grpSpPr bwMode="auto">
          <a:xfrm>
            <a:off x="5562600" y="3427703"/>
            <a:ext cx="3108960" cy="1449097"/>
            <a:chOff x="2614" y="2421"/>
            <a:chExt cx="5918" cy="2722"/>
          </a:xfrm>
        </p:grpSpPr>
        <p:sp>
          <p:nvSpPr>
            <p:cNvPr id="68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0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1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2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4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5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Oval 53"/>
            <p:cNvSpPr>
              <a:spLocks noChangeArrowheads="1"/>
            </p:cNvSpPr>
            <p:nvPr/>
          </p:nvSpPr>
          <p:spPr bwMode="auto">
            <a:xfrm>
              <a:off x="5436" y="3458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0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1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3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4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5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6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7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8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9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90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93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5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</p:spTree>
    <p:extLst>
      <p:ext uri="{BB962C8B-B14F-4D97-AF65-F5344CB8AC3E}">
        <p14:creationId xmlns:p14="http://schemas.microsoft.com/office/powerpoint/2010/main" val="258759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6961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6th iteration: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dirty="0"/>
              <a:t>7th iteration:</a:t>
            </a:r>
          </a:p>
          <a:p>
            <a:pPr>
              <a:buNone/>
            </a:pP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039911"/>
              </p:ext>
            </p:extLst>
          </p:nvPr>
        </p:nvGraphicFramePr>
        <p:xfrm>
          <a:off x="533400" y="1828800"/>
          <a:ext cx="5534341" cy="134874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id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24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SG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Calibri"/>
                          <a:ea typeface="Times New Roman"/>
                          <a:cs typeface="Times New Roman"/>
                        </a:rPr>
                        <a:t>sz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7" name="Group 2"/>
          <p:cNvGrpSpPr>
            <a:grpSpLocks noChangeAspect="1"/>
          </p:cNvGrpSpPr>
          <p:nvPr/>
        </p:nvGrpSpPr>
        <p:grpSpPr bwMode="auto">
          <a:xfrm>
            <a:off x="5562600" y="381000"/>
            <a:ext cx="3108960" cy="1449097"/>
            <a:chOff x="2614" y="2421"/>
            <a:chExt cx="5918" cy="2722"/>
          </a:xfrm>
        </p:grpSpPr>
        <p:sp>
          <p:nvSpPr>
            <p:cNvPr id="68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0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1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2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4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5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Oval 53"/>
            <p:cNvSpPr>
              <a:spLocks noChangeArrowheads="1"/>
            </p:cNvSpPr>
            <p:nvPr/>
          </p:nvSpPr>
          <p:spPr bwMode="auto">
            <a:xfrm>
              <a:off x="5436" y="3458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0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1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3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4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5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6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7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8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9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90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93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5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grpSp>
        <p:nvGrpSpPr>
          <p:cNvPr id="152" name="Group 2"/>
          <p:cNvGrpSpPr>
            <a:grpSpLocks noChangeAspect="1"/>
          </p:cNvGrpSpPr>
          <p:nvPr/>
        </p:nvGrpSpPr>
        <p:grpSpPr bwMode="auto">
          <a:xfrm>
            <a:off x="5638800" y="3276600"/>
            <a:ext cx="3108960" cy="1449097"/>
            <a:chOff x="2614" y="2421"/>
            <a:chExt cx="5918" cy="2722"/>
          </a:xfrm>
        </p:grpSpPr>
        <p:sp>
          <p:nvSpPr>
            <p:cNvPr id="153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4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5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6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7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8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9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0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1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2" name="Oval 53"/>
            <p:cNvSpPr>
              <a:spLocks noChangeArrowheads="1"/>
            </p:cNvSpPr>
            <p:nvPr/>
          </p:nvSpPr>
          <p:spPr bwMode="auto">
            <a:xfrm>
              <a:off x="5436" y="3458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4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5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6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5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6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7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8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9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0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graphicFrame>
        <p:nvGraphicFramePr>
          <p:cNvPr id="182" name="Table 1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364343"/>
              </p:ext>
            </p:extLst>
          </p:nvPr>
        </p:nvGraphicFramePr>
        <p:xfrm>
          <a:off x="533400" y="4747260"/>
          <a:ext cx="5534341" cy="134874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id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24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SG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Calibri"/>
                          <a:ea typeface="Times New Roman"/>
                          <a:cs typeface="Times New Roman"/>
                        </a:rPr>
                        <a:t>sz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14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6961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8th iteration: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1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966986"/>
              </p:ext>
            </p:extLst>
          </p:nvPr>
        </p:nvGraphicFramePr>
        <p:xfrm>
          <a:off x="533400" y="1828800"/>
          <a:ext cx="5534341" cy="134874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id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24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SG" sz="24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Calibri"/>
                          <a:ea typeface="Times New Roman"/>
                          <a:cs typeface="Times New Roman"/>
                        </a:rPr>
                        <a:t>sz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52" name="Group 2"/>
          <p:cNvGrpSpPr>
            <a:grpSpLocks noChangeAspect="1"/>
          </p:cNvGrpSpPr>
          <p:nvPr/>
        </p:nvGrpSpPr>
        <p:grpSpPr bwMode="auto">
          <a:xfrm>
            <a:off x="5660611" y="3543882"/>
            <a:ext cx="3108960" cy="1449097"/>
            <a:chOff x="2614" y="2421"/>
            <a:chExt cx="5918" cy="2722"/>
          </a:xfrm>
        </p:grpSpPr>
        <p:sp>
          <p:nvSpPr>
            <p:cNvPr id="153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4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5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6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7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8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9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0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1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2" name="Oval 53"/>
            <p:cNvSpPr>
              <a:spLocks noChangeArrowheads="1"/>
            </p:cNvSpPr>
            <p:nvPr/>
          </p:nvSpPr>
          <p:spPr bwMode="auto">
            <a:xfrm>
              <a:off x="5436" y="3458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4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5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6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5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6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7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78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9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0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grpSp>
        <p:nvGrpSpPr>
          <p:cNvPr id="63" name="Group 2"/>
          <p:cNvGrpSpPr>
            <a:grpSpLocks noChangeAspect="1"/>
          </p:cNvGrpSpPr>
          <p:nvPr/>
        </p:nvGrpSpPr>
        <p:grpSpPr bwMode="auto">
          <a:xfrm>
            <a:off x="5694758" y="411480"/>
            <a:ext cx="3108960" cy="1449097"/>
            <a:chOff x="2614" y="2421"/>
            <a:chExt cx="5918" cy="2722"/>
          </a:xfrm>
        </p:grpSpPr>
        <p:sp>
          <p:nvSpPr>
            <p:cNvPr id="64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6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0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1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" name="Oval 53"/>
            <p:cNvSpPr>
              <a:spLocks noChangeArrowheads="1"/>
            </p:cNvSpPr>
            <p:nvPr/>
          </p:nvSpPr>
          <p:spPr bwMode="auto">
            <a:xfrm>
              <a:off x="5436" y="3458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08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09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0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1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2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3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4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5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8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9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0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</p:spTree>
    <p:extLst>
      <p:ext uri="{BB962C8B-B14F-4D97-AF65-F5344CB8AC3E}">
        <p14:creationId xmlns:p14="http://schemas.microsoft.com/office/powerpoint/2010/main" val="41542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8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If the input graph to the </a:t>
            </a:r>
            <a:r>
              <a:rPr lang="en-US" dirty="0" err="1">
                <a:solidFill>
                  <a:srgbClr val="0000FF"/>
                </a:solidFill>
              </a:rPr>
              <a:t>Kruskal’s</a:t>
            </a:r>
            <a:r>
              <a:rPr lang="en-US" dirty="0">
                <a:solidFill>
                  <a:srgbClr val="0000FF"/>
                </a:solidFill>
              </a:rPr>
              <a:t> algorithm is given in an adjacency matrix, what is the time complexity of the algorithm?</a:t>
            </a:r>
          </a:p>
          <a:p>
            <a:pPr lvl="0"/>
            <a:endParaRPr lang="en-S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70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41" y="1396457"/>
            <a:ext cx="8072941" cy="49134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96867" y="2582208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O(|E|)</a:t>
            </a:r>
            <a:endParaRPr lang="en-SG" sz="1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453" y="3565812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O(|E| </a:t>
            </a:r>
            <a:r>
              <a:rPr lang="en-US" sz="14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log|E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|)</a:t>
            </a:r>
            <a:endParaRPr lang="en-SG" sz="1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5608" y="4006151"/>
            <a:ext cx="139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O(|E| log*|V|)</a:t>
            </a:r>
            <a:endParaRPr lang="en-SG" sz="1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62251" y="4400701"/>
            <a:ext cx="139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O(|V| log*|V|)</a:t>
            </a:r>
            <a:endParaRPr lang="en-SG" sz="1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96866" y="2941880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O(|V|)</a:t>
            </a:r>
            <a:endParaRPr lang="en-SG" sz="1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68070" y="4685721"/>
            <a:ext cx="139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O(|V|)</a:t>
            </a:r>
            <a:endParaRPr lang="en-SG" sz="1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76600" y="5257800"/>
            <a:ext cx="3630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Overall: O(|E| </a:t>
            </a:r>
            <a:r>
              <a:rPr lang="en-US" sz="20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log|E</a:t>
            </a:r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|)</a:t>
            </a:r>
            <a:endParaRPr lang="en-SG" sz="2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8921" y="2582208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O(|V|</a:t>
            </a:r>
            <a:r>
              <a:rPr lang="en-US" sz="14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SG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67078" y="5257800"/>
            <a:ext cx="2795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O(|E|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log|E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+ |V|</a:t>
            </a:r>
            <a:r>
              <a:rPr lang="en-US" sz="20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SG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6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 9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48307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Design an algorithm to check whether a given undirected graph </a:t>
            </a:r>
            <a:r>
              <a:rPr lang="en-US" i="1" dirty="0">
                <a:solidFill>
                  <a:srgbClr val="0000FF"/>
                </a:solidFill>
              </a:rPr>
              <a:t>G = (V, E)</a:t>
            </a:r>
            <a:r>
              <a:rPr lang="en-US" dirty="0">
                <a:solidFill>
                  <a:srgbClr val="0000FF"/>
                </a:solidFill>
              </a:rPr>
              <a:t> contains a cycle or not. Analyze the complexity of the algorithm in terms of </a:t>
            </a:r>
            <a:r>
              <a:rPr lang="en-US" i="1" dirty="0">
                <a:solidFill>
                  <a:srgbClr val="0000FF"/>
                </a:solidFill>
              </a:rPr>
              <a:t>|V|</a:t>
            </a:r>
            <a:r>
              <a:rPr lang="en-US" dirty="0">
                <a:solidFill>
                  <a:srgbClr val="0000FF"/>
                </a:solidFill>
              </a:rPr>
              <a:t> and </a:t>
            </a:r>
            <a:r>
              <a:rPr lang="en-US" i="1" dirty="0">
                <a:solidFill>
                  <a:srgbClr val="0000FF"/>
                </a:solidFill>
              </a:rPr>
              <a:t>|E|</a:t>
            </a:r>
            <a:r>
              <a:rPr lang="en-US" dirty="0">
                <a:solidFill>
                  <a:srgbClr val="0000FF"/>
                </a:solidFill>
              </a:rPr>
              <a:t>.</a:t>
            </a:r>
          </a:p>
          <a:p>
            <a:r>
              <a:rPr lang="en-US" dirty="0" err="1"/>
              <a:t>Ans</a:t>
            </a:r>
            <a:r>
              <a:rPr lang="en-US" dirty="0"/>
              <a:t>: One solution is to use the union-find. </a:t>
            </a:r>
          </a:p>
          <a:p>
            <a:pPr lvl="1"/>
            <a:r>
              <a:rPr lang="en-US" dirty="0"/>
              <a:t>Process every edge (u, v) one by one</a:t>
            </a:r>
          </a:p>
          <a:p>
            <a:pPr lvl="1"/>
            <a:r>
              <a:rPr lang="en-US" dirty="0"/>
              <a:t>If u and v are from different components, then union(u, v)</a:t>
            </a:r>
          </a:p>
          <a:p>
            <a:pPr lvl="1"/>
            <a:r>
              <a:rPr lang="en-US" dirty="0"/>
              <a:t>Otherwise, return TRUE </a:t>
            </a:r>
          </a:p>
          <a:p>
            <a:pPr lvl="1"/>
            <a:r>
              <a:rPr lang="en-US" dirty="0"/>
              <a:t>After all edges are processed, return FALSE</a:t>
            </a:r>
          </a:p>
          <a:p>
            <a:r>
              <a:rPr lang="en-US" dirty="0"/>
              <a:t>Complexity: O(|V| + |</a:t>
            </a:r>
            <a:r>
              <a:rPr lang="en-US" dirty="0" err="1"/>
              <a:t>E|log</a:t>
            </a:r>
            <a:r>
              <a:rPr lang="en-US" dirty="0"/>
              <a:t>*|V|)</a:t>
            </a:r>
          </a:p>
        </p:txBody>
      </p:sp>
    </p:spTree>
    <p:extLst>
      <p:ext uri="{BB962C8B-B14F-4D97-AF65-F5344CB8AC3E}">
        <p14:creationId xmlns:p14="http://schemas.microsoft.com/office/powerpoint/2010/main" val="204857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we have exercised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48387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Minimum spanning tree algorithm</a:t>
            </a:r>
          </a:p>
          <a:p>
            <a:pPr lvl="1">
              <a:defRPr/>
            </a:pPr>
            <a:r>
              <a:rPr lang="en-US" dirty="0" err="1"/>
              <a:t>Kruskal’s</a:t>
            </a:r>
            <a:r>
              <a:rPr lang="en-US" dirty="0"/>
              <a:t> algorithm</a:t>
            </a:r>
          </a:p>
          <a:p>
            <a:pPr lvl="2">
              <a:defRPr/>
            </a:pPr>
            <a:r>
              <a:rPr lang="en-US" dirty="0"/>
              <a:t>Running of the algorithm</a:t>
            </a:r>
          </a:p>
          <a:p>
            <a:pPr lvl="2">
              <a:defRPr/>
            </a:pPr>
            <a:r>
              <a:rPr lang="en-US" dirty="0"/>
              <a:t>Data structure contents in each iteration</a:t>
            </a:r>
          </a:p>
          <a:p>
            <a:pPr lvl="2">
              <a:defRPr/>
            </a:pPr>
            <a:r>
              <a:rPr lang="en-US" dirty="0"/>
              <a:t>Its complexity depends on the implementation</a:t>
            </a:r>
          </a:p>
          <a:p>
            <a:pPr>
              <a:defRPr/>
            </a:pPr>
            <a:r>
              <a:rPr lang="en-US" dirty="0"/>
              <a:t>Union-find data structure</a:t>
            </a:r>
          </a:p>
          <a:p>
            <a:pPr lvl="1">
              <a:defRPr/>
            </a:pPr>
            <a:r>
              <a:rPr lang="en-US" dirty="0"/>
              <a:t>Can be used to design an algorithm for checking if a graph contains a cycle</a:t>
            </a:r>
          </a:p>
          <a:p>
            <a:pPr lvl="2">
              <a:defRPr/>
            </a:pPr>
            <a:endParaRPr 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809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94641</TotalTime>
  <Words>750</Words>
  <Application>Microsoft Macintosh PowerPoint</Application>
  <PresentationFormat>On-screen Show (4:3)</PresentationFormat>
  <Paragraphs>472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Narrow</vt:lpstr>
      <vt:lpstr>Calibri</vt:lpstr>
      <vt:lpstr>Times New Roman</vt:lpstr>
      <vt:lpstr>Office Theme</vt:lpstr>
      <vt:lpstr>CX2101 Algorithm Design and Analysis</vt:lpstr>
      <vt:lpstr>This Tutorial</vt:lpstr>
      <vt:lpstr>Question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8</vt:lpstr>
      <vt:lpstr>PowerPoint Presentation</vt:lpstr>
      <vt:lpstr>Question 9</vt:lpstr>
      <vt:lpstr>What we have exercised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CE2001/CZ2001/CSC202</dc:title>
  <dc:creator>Zheng Jie (Asst Prof)</dc:creator>
  <cp:lastModifiedBy>Shang-Wei Lin</cp:lastModifiedBy>
  <cp:revision>663</cp:revision>
  <dcterms:created xsi:type="dcterms:W3CDTF">2006-08-16T00:00:00Z</dcterms:created>
  <dcterms:modified xsi:type="dcterms:W3CDTF">2022-10-06T14:16:09Z</dcterms:modified>
</cp:coreProperties>
</file>