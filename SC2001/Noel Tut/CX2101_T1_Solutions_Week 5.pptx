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297" r:id="rId3"/>
    <p:sldId id="281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288" r:id="rId14"/>
    <p:sldId id="292" r:id="rId15"/>
    <p:sldId id="294" r:id="rId16"/>
    <p:sldId id="295" r:id="rId17"/>
    <p:sldId id="296" r:id="rId18"/>
    <p:sldId id="307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FFFF"/>
    <a:srgbClr val="66FFFF"/>
    <a:srgbClr val="00FFFF"/>
    <a:srgbClr val="00CCFF"/>
    <a:srgbClr val="F79A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96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CX2101 Algorithm Design and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Tutorial </a:t>
            </a:r>
            <a:r>
              <a:rPr lang="en-US" dirty="0" smtClean="0">
                <a:solidFill>
                  <a:srgbClr val="0000FF"/>
                </a:solidFill>
              </a:rPr>
              <a:t>1 </a:t>
            </a:r>
            <a:r>
              <a:rPr lang="en-US" dirty="0">
                <a:solidFill>
                  <a:srgbClr val="0000FF"/>
                </a:solidFill>
              </a:rPr>
              <a:t>(Sorting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Week </a:t>
            </a:r>
            <a:r>
              <a:rPr lang="en-US" dirty="0" smtClean="0">
                <a:solidFill>
                  <a:srgbClr val="0000FF"/>
                </a:solidFill>
              </a:rPr>
              <a:t>5: Q7-Q9</a:t>
            </a:r>
            <a:endParaRPr lang="en-US" dirty="0">
              <a:solidFill>
                <a:srgbClr val="0000FF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53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This Tutorial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Heapsort</a:t>
            </a:r>
            <a:endParaRPr lang="en-US" dirty="0" smtClean="0"/>
          </a:p>
          <a:p>
            <a:pPr marL="0" indent="0">
              <a:buFont typeface="Wingdings" pitchFamily="2" charset="2"/>
              <a:buNone/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Algorithm Design </a:t>
            </a:r>
          </a:p>
        </p:txBody>
      </p:sp>
    </p:spTree>
    <p:extLst>
      <p:ext uri="{BB962C8B-B14F-4D97-AF65-F5344CB8AC3E}">
        <p14:creationId xmlns:p14="http://schemas.microsoft.com/office/powerpoint/2010/main" val="407180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28956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>
                <a:solidFill>
                  <a:srgbClr val="0000FF"/>
                </a:solidFill>
              </a:rPr>
              <a:t>Given an array with content (of type date): 1 Jul, 30 Jan, 22 Mar, 22 Dec, 30 May, 21 Feb, 3 Nov, 7 Jun, 22 Feb, 21 Nov, 30 Dec; all of the same year. </a:t>
            </a:r>
          </a:p>
          <a:p>
            <a:r>
              <a:rPr lang="en-US" sz="2800" dirty="0" smtClean="0">
                <a:solidFill>
                  <a:srgbClr val="0000FF"/>
                </a:solidFill>
              </a:rPr>
              <a:t>Suppose an earlier date is considered bigger than a later date; for example, “30 Jan” is bigger than “30 Dec”. </a:t>
            </a:r>
          </a:p>
          <a:p>
            <a:r>
              <a:rPr lang="en-US" sz="2800" dirty="0" smtClean="0">
                <a:solidFill>
                  <a:srgbClr val="0000FF"/>
                </a:solidFill>
              </a:rPr>
              <a:t>In order to sort these dates by </a:t>
            </a:r>
            <a:r>
              <a:rPr lang="en-US" sz="2800" dirty="0" err="1" smtClean="0">
                <a:solidFill>
                  <a:srgbClr val="0000FF"/>
                </a:solidFill>
              </a:rPr>
              <a:t>Heapsort</a:t>
            </a:r>
            <a:r>
              <a:rPr lang="en-US" sz="2800" dirty="0" smtClean="0">
                <a:solidFill>
                  <a:srgbClr val="0000FF"/>
                </a:solidFill>
              </a:rPr>
              <a:t>, let us construct a </a:t>
            </a:r>
            <a:r>
              <a:rPr lang="en-US" sz="2800" dirty="0" err="1" smtClean="0">
                <a:solidFill>
                  <a:srgbClr val="0000FF"/>
                </a:solidFill>
              </a:rPr>
              <a:t>maximising</a:t>
            </a:r>
            <a:r>
              <a:rPr lang="en-US" sz="2800" dirty="0" smtClean="0">
                <a:solidFill>
                  <a:srgbClr val="0000FF"/>
                </a:solidFill>
              </a:rPr>
              <a:t> heap.  Show the content of the array after the heap construction phase.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4495800"/>
          <a:ext cx="7848601" cy="914400"/>
        </p:xfrm>
        <a:graphic>
          <a:graphicData uri="http://schemas.openxmlformats.org/drawingml/2006/table">
            <a:tbl>
              <a:tblPr/>
              <a:tblGrid>
                <a:gridCol w="71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10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11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1 Jul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Jan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Mar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Dec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May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21 Feb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 Nov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7 Jun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Feb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21 Nov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Dec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752600"/>
            <a:ext cx="7315200" cy="2697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4800600"/>
          <a:ext cx="7848601" cy="914400"/>
        </p:xfrm>
        <a:graphic>
          <a:graphicData uri="http://schemas.openxmlformats.org/drawingml/2006/table">
            <a:tbl>
              <a:tblPr/>
              <a:tblGrid>
                <a:gridCol w="71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10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11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1 Jul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Jan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Mar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Dec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May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21 Feb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 Nov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7 Jun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Feb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21 Nov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Dec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15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1827" y="2043682"/>
            <a:ext cx="7315200" cy="2697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914400" y="5105400"/>
          <a:ext cx="7848601" cy="914400"/>
        </p:xfrm>
        <a:graphic>
          <a:graphicData uri="http://schemas.openxmlformats.org/drawingml/2006/table">
            <a:tbl>
              <a:tblPr/>
              <a:tblGrid>
                <a:gridCol w="71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10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11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1 Jul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Jan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Mar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</a:t>
                      </a:r>
                      <a:r>
                        <a:rPr lang="en-US" sz="1400" dirty="0" smtClean="0">
                          <a:latin typeface="Times New Roman"/>
                          <a:ea typeface="SimSun"/>
                          <a:cs typeface="Times New Roman"/>
                        </a:rPr>
                        <a:t>Feb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May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21 Feb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 Nov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7 Jun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22 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Dec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21 Nov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Dec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Isosceles Triangle 8"/>
          <p:cNvSpPr/>
          <p:nvPr/>
        </p:nvSpPr>
        <p:spPr>
          <a:xfrm>
            <a:off x="1219200" y="2133600"/>
            <a:ext cx="3962400" cy="2743200"/>
          </a:xfrm>
          <a:prstGeom prst="triangle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" name="Isosceles Triangle 1"/>
          <p:cNvSpPr/>
          <p:nvPr/>
        </p:nvSpPr>
        <p:spPr>
          <a:xfrm>
            <a:off x="1143000" y="2819400"/>
            <a:ext cx="2209800" cy="1769796"/>
          </a:xfrm>
          <a:prstGeom prst="triangle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799" y="1926675"/>
            <a:ext cx="7440227" cy="302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Isosceles Triangle 9"/>
          <p:cNvSpPr/>
          <p:nvPr/>
        </p:nvSpPr>
        <p:spPr>
          <a:xfrm>
            <a:off x="1219200" y="3820837"/>
            <a:ext cx="1143000" cy="903563"/>
          </a:xfrm>
          <a:prstGeom prst="triangle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1" name="Isosceles Triangle 10"/>
          <p:cNvSpPr/>
          <p:nvPr/>
        </p:nvSpPr>
        <p:spPr>
          <a:xfrm>
            <a:off x="2133600" y="3820837"/>
            <a:ext cx="1143000" cy="903563"/>
          </a:xfrm>
          <a:prstGeom prst="triangle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40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2" grpId="0" animBg="1"/>
      <p:bldP spid="2" grpId="1" animBg="1"/>
      <p:bldP spid="2" grpId="2" animBg="1"/>
      <p:bldP spid="10" grpId="0" animBg="1"/>
      <p:bldP spid="10" grpId="1" animBg="1"/>
      <p:bldP spid="11" grpId="0" animBg="1"/>
      <p:bldP spid="1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057400"/>
            <a:ext cx="7315200" cy="2919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5257800"/>
          <a:ext cx="7848601" cy="914400"/>
        </p:xfrm>
        <a:graphic>
          <a:graphicData uri="http://schemas.openxmlformats.org/drawingml/2006/table">
            <a:tbl>
              <a:tblPr/>
              <a:tblGrid>
                <a:gridCol w="71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10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11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1 Jul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Jan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Mar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</a:t>
                      </a:r>
                      <a:r>
                        <a:rPr lang="en-US" sz="1400" dirty="0" smtClean="0">
                          <a:latin typeface="Times New Roman"/>
                          <a:ea typeface="SimSun"/>
                          <a:cs typeface="Times New Roman"/>
                        </a:rPr>
                        <a:t>Feb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May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21 Feb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 Nov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7 Jun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</a:t>
                      </a:r>
                      <a:r>
                        <a:rPr lang="en-US" sz="1400" dirty="0" smtClean="0">
                          <a:latin typeface="Times New Roman"/>
                          <a:ea typeface="SimSun"/>
                          <a:cs typeface="Times New Roman"/>
                        </a:rPr>
                        <a:t>Dec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21 Nov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Dec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260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905000"/>
            <a:ext cx="7315200" cy="2849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5181600"/>
          <a:ext cx="7848601" cy="914400"/>
        </p:xfrm>
        <a:graphic>
          <a:graphicData uri="http://schemas.openxmlformats.org/drawingml/2006/table">
            <a:tbl>
              <a:tblPr/>
              <a:tblGrid>
                <a:gridCol w="71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10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11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1 Jul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Jan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Mar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</a:t>
                      </a:r>
                      <a:r>
                        <a:rPr lang="en-US" sz="1400" dirty="0" smtClean="0">
                          <a:latin typeface="Times New Roman"/>
                          <a:ea typeface="SimSun"/>
                          <a:cs typeface="Times New Roman"/>
                        </a:rPr>
                        <a:t>Feb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May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21 Feb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 Nov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7 Jun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</a:t>
                      </a:r>
                      <a:r>
                        <a:rPr lang="en-US" sz="1400" dirty="0" smtClean="0">
                          <a:latin typeface="Times New Roman"/>
                          <a:ea typeface="SimSun"/>
                          <a:cs typeface="Times New Roman"/>
                        </a:rPr>
                        <a:t>Dec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21 Nov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Dec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155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828800"/>
            <a:ext cx="7315200" cy="2705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914400" y="5181600"/>
          <a:ext cx="7848601" cy="914400"/>
        </p:xfrm>
        <a:graphic>
          <a:graphicData uri="http://schemas.openxmlformats.org/drawingml/2006/table">
            <a:tbl>
              <a:tblPr/>
              <a:tblGrid>
                <a:gridCol w="71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388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10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SimSun"/>
                          <a:cs typeface="Times New Roman"/>
                        </a:rPr>
                        <a:t>11</a:t>
                      </a:r>
                      <a:endParaRPr lang="en-US" sz="20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1 Jul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Jan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Times New Roman"/>
                          <a:ea typeface="SimSun"/>
                          <a:cs typeface="Times New Roman"/>
                        </a:rPr>
                        <a:t>21</a:t>
                      </a:r>
                      <a:r>
                        <a:rPr lang="en-US" sz="1400" baseline="0" dirty="0" smtClean="0">
                          <a:latin typeface="Times New Roman"/>
                          <a:ea typeface="SimSun"/>
                          <a:cs typeface="Times New Roman"/>
                        </a:rPr>
                        <a:t> Feb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</a:t>
                      </a:r>
                      <a:r>
                        <a:rPr lang="en-US" sz="1400" dirty="0" smtClean="0">
                          <a:latin typeface="Times New Roman"/>
                          <a:ea typeface="SimSun"/>
                          <a:cs typeface="Times New Roman"/>
                        </a:rPr>
                        <a:t>Feb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May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Times New Roman"/>
                          <a:ea typeface="SimSun"/>
                          <a:cs typeface="Times New Roman"/>
                        </a:rPr>
                        <a:t>22 Mar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 Nov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7 Jun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22 </a:t>
                      </a:r>
                      <a:r>
                        <a:rPr lang="en-US" sz="1400" dirty="0" smtClean="0">
                          <a:latin typeface="Times New Roman"/>
                          <a:ea typeface="SimSun"/>
                          <a:cs typeface="Times New Roman"/>
                        </a:rPr>
                        <a:t>Dec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21 Nov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SimSun"/>
                          <a:cs typeface="Times New Roman"/>
                        </a:rPr>
                        <a:t>30 Dec</a:t>
                      </a:r>
                      <a:endParaRPr lang="en-US" sz="14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11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447800"/>
            <a:ext cx="7315200" cy="304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0" y="4648200"/>
            <a:ext cx="8229600" cy="914400"/>
          </a:xfrm>
        </p:spPr>
        <p:txBody>
          <a:bodyPr>
            <a:normAutofit/>
          </a:bodyPr>
          <a:lstStyle/>
          <a:p>
            <a:r>
              <a:rPr lang="en-US" sz="2000" b="1" dirty="0" err="1" smtClean="0"/>
              <a:t>Ans</a:t>
            </a:r>
            <a:r>
              <a:rPr lang="en-US" sz="2000" dirty="0" smtClean="0"/>
              <a:t>: </a:t>
            </a:r>
            <a:r>
              <a:rPr lang="en-US" sz="2000" dirty="0" err="1" smtClean="0"/>
              <a:t>Heapifying</a:t>
            </a:r>
            <a:r>
              <a:rPr lang="en-US" sz="2000" dirty="0" smtClean="0"/>
              <a:t> recursively performs </a:t>
            </a:r>
            <a:r>
              <a:rPr lang="en-US" sz="2000" b="1" dirty="0" smtClean="0"/>
              <a:t>14</a:t>
            </a:r>
            <a:r>
              <a:rPr lang="en-US" sz="2000" dirty="0" smtClean="0"/>
              <a:t> date comparisons and </a:t>
            </a:r>
            <a:r>
              <a:rPr lang="en-US" sz="2000" b="1" dirty="0" smtClean="0"/>
              <a:t>5</a:t>
            </a:r>
            <a:r>
              <a:rPr lang="en-US" sz="2000" dirty="0" smtClean="0"/>
              <a:t> swaps in the heap construction phase, and the content in the resulting array becomes: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5562600"/>
          <a:ext cx="7391401" cy="762000"/>
        </p:xfrm>
        <a:graphic>
          <a:graphicData uri="http://schemas.openxmlformats.org/drawingml/2006/table">
            <a:tbl>
              <a:tblPr/>
              <a:tblGrid>
                <a:gridCol w="67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1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2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22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22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22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22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229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  <a:endParaRPr lang="en-US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SimSun"/>
                          <a:cs typeface="Times New Roman"/>
                        </a:rPr>
                        <a:t>2</a:t>
                      </a:r>
                      <a:endParaRPr lang="en-US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  <a:endParaRPr lang="en-US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  <a:endParaRPr lang="en-US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  <a:endParaRPr lang="en-US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  <a:endParaRPr lang="en-US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  <a:endParaRPr lang="en-US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  <a:endParaRPr lang="en-US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  <a:endParaRPr lang="en-US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SimSun"/>
                          <a:cs typeface="Times New Roman"/>
                        </a:rPr>
                        <a:t>10</a:t>
                      </a:r>
                      <a:endParaRPr lang="en-US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SimSun"/>
                          <a:cs typeface="Times New Roman"/>
                        </a:rPr>
                        <a:t>11</a:t>
                      </a:r>
                      <a:endParaRPr lang="en-US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SimSun"/>
                          <a:cs typeface="Times New Roman"/>
                        </a:rPr>
                        <a:t>30 Jan</a:t>
                      </a:r>
                      <a:endParaRPr lang="en-US" sz="12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SimSun"/>
                          <a:cs typeface="Times New Roman"/>
                        </a:rPr>
                        <a:t>22 Feb</a:t>
                      </a:r>
                      <a:endParaRPr lang="en-US" sz="12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SimSun"/>
                          <a:cs typeface="Times New Roman"/>
                        </a:rPr>
                        <a:t>21 Feb</a:t>
                      </a:r>
                      <a:endParaRPr lang="en-US" sz="12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SimSun"/>
                          <a:cs typeface="Times New Roman"/>
                        </a:rPr>
                        <a:t>7 Jun</a:t>
                      </a:r>
                      <a:endParaRPr lang="en-US" sz="12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SimSun"/>
                          <a:cs typeface="Times New Roman"/>
                        </a:rPr>
                        <a:t>30 May</a:t>
                      </a:r>
                      <a:endParaRPr lang="en-US" sz="12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SimSun"/>
                          <a:cs typeface="Times New Roman"/>
                        </a:rPr>
                        <a:t>22 Mar</a:t>
                      </a:r>
                      <a:endParaRPr lang="en-US" sz="12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SimSun"/>
                          <a:cs typeface="Times New Roman"/>
                        </a:rPr>
                        <a:t>3 Nov</a:t>
                      </a:r>
                      <a:endParaRPr lang="en-US" sz="12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SimSun"/>
                          <a:cs typeface="Times New Roman"/>
                        </a:rPr>
                        <a:t>1 Jul</a:t>
                      </a:r>
                      <a:endParaRPr lang="en-US" sz="12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SimSun"/>
                          <a:cs typeface="Times New Roman"/>
                        </a:rPr>
                        <a:t>22 Dec</a:t>
                      </a:r>
                      <a:endParaRPr lang="en-US" sz="12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SimSun"/>
                          <a:cs typeface="Times New Roman"/>
                        </a:rPr>
                        <a:t>21 Nov</a:t>
                      </a:r>
                      <a:endParaRPr lang="en-US" sz="12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SimSun"/>
                          <a:cs typeface="Times New Roman"/>
                        </a:rPr>
                        <a:t>30 Dec</a:t>
                      </a:r>
                      <a:endParaRPr lang="en-US" sz="12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96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Question 8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lvl="0"/>
            <a:r>
              <a:rPr lang="en-US" sz="2000" dirty="0" smtClean="0">
                <a:solidFill>
                  <a:srgbClr val="0000FF"/>
                </a:solidFill>
              </a:rPr>
              <a:t>An array of distinct keys in decreasing order is to be sorted (into increasing order) by </a:t>
            </a:r>
            <a:r>
              <a:rPr lang="en-US" sz="2000" dirty="0" err="1" smtClean="0">
                <a:solidFill>
                  <a:srgbClr val="0000FF"/>
                </a:solidFill>
              </a:rPr>
              <a:t>HeapSort</a:t>
            </a:r>
            <a:r>
              <a:rPr lang="en-US" sz="2000" dirty="0" smtClean="0">
                <a:solidFill>
                  <a:srgbClr val="0000FF"/>
                </a:solidFill>
              </a:rPr>
              <a:t>.</a:t>
            </a:r>
          </a:p>
          <a:p>
            <a:pPr lvl="0"/>
            <a:r>
              <a:rPr lang="en-US" sz="2000" dirty="0" smtClean="0">
                <a:solidFill>
                  <a:srgbClr val="0000FF"/>
                </a:solidFill>
              </a:rPr>
              <a:t>(a) How many comparisons of keys are done in the heap construction phase (Algorithm </a:t>
            </a:r>
            <a:r>
              <a:rPr lang="en-US" sz="2000" dirty="0" err="1" smtClean="0">
                <a:solidFill>
                  <a:srgbClr val="0000FF"/>
                </a:solidFill>
              </a:rPr>
              <a:t>constructHeap</a:t>
            </a:r>
            <a:r>
              <a:rPr lang="en-US" sz="2000" dirty="0" smtClean="0">
                <a:solidFill>
                  <a:srgbClr val="0000FF"/>
                </a:solidFill>
              </a:rPr>
              <a:t>() </a:t>
            </a:r>
            <a:r>
              <a:rPr lang="en-US" sz="2000" smtClean="0">
                <a:solidFill>
                  <a:srgbClr val="0000FF"/>
                </a:solidFill>
              </a:rPr>
              <a:t>of lecture </a:t>
            </a:r>
            <a:r>
              <a:rPr lang="en-US" sz="2000" dirty="0" smtClean="0">
                <a:solidFill>
                  <a:srgbClr val="0000FF"/>
                </a:solidFill>
              </a:rPr>
              <a:t>notes) if there are 10 elements?</a:t>
            </a:r>
          </a:p>
          <a:p>
            <a:r>
              <a:rPr lang="en-US" sz="2000" b="1" dirty="0" err="1" smtClean="0"/>
              <a:t>Ans</a:t>
            </a:r>
            <a:r>
              <a:rPr lang="en-US" sz="2000" dirty="0" smtClean="0"/>
              <a:t>: 2 + 1 + 2 + 2 + 2 = 9.</a:t>
            </a:r>
            <a:endParaRPr lang="en-US" sz="2000" dirty="0"/>
          </a:p>
        </p:txBody>
      </p:sp>
      <p:grpSp>
        <p:nvGrpSpPr>
          <p:cNvPr id="79" name="Group 78"/>
          <p:cNvGrpSpPr/>
          <p:nvPr/>
        </p:nvGrpSpPr>
        <p:grpSpPr>
          <a:xfrm>
            <a:off x="4420380" y="2895600"/>
            <a:ext cx="4266420" cy="933450"/>
            <a:chOff x="4420380" y="2895600"/>
            <a:chExt cx="4266420" cy="933450"/>
          </a:xfrm>
        </p:grpSpPr>
        <p:grpSp>
          <p:nvGrpSpPr>
            <p:cNvPr id="41" name="Group 62"/>
            <p:cNvGrpSpPr>
              <a:grpSpLocks/>
            </p:cNvGrpSpPr>
            <p:nvPr/>
          </p:nvGrpSpPr>
          <p:grpSpPr bwMode="auto">
            <a:xfrm>
              <a:off x="4420380" y="2895600"/>
              <a:ext cx="4191777" cy="933450"/>
              <a:chOff x="3727" y="2448"/>
              <a:chExt cx="2396" cy="588"/>
            </a:xfrm>
          </p:grpSpPr>
          <p:sp>
            <p:nvSpPr>
              <p:cNvPr id="42" name="AutoShape 40"/>
              <p:cNvSpPr>
                <a:spLocks noChangeArrowheads="1"/>
              </p:cNvSpPr>
              <p:nvPr/>
            </p:nvSpPr>
            <p:spPr bwMode="gray">
              <a:xfrm>
                <a:off x="3744" y="2448"/>
                <a:ext cx="288" cy="336"/>
              </a:xfrm>
              <a:prstGeom prst="cube">
                <a:avLst>
                  <a:gd name="adj" fmla="val 2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43" name="AutoShape 41"/>
              <p:cNvSpPr>
                <a:spLocks noChangeArrowheads="1"/>
              </p:cNvSpPr>
              <p:nvPr/>
            </p:nvSpPr>
            <p:spPr bwMode="gray">
              <a:xfrm>
                <a:off x="3984" y="2448"/>
                <a:ext cx="288" cy="336"/>
              </a:xfrm>
              <a:prstGeom prst="cube">
                <a:avLst>
                  <a:gd name="adj" fmla="val 2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44" name="AutoShape 42"/>
              <p:cNvSpPr>
                <a:spLocks noChangeArrowheads="1"/>
              </p:cNvSpPr>
              <p:nvPr/>
            </p:nvSpPr>
            <p:spPr bwMode="gray">
              <a:xfrm>
                <a:off x="4224" y="2448"/>
                <a:ext cx="288" cy="336"/>
              </a:xfrm>
              <a:prstGeom prst="cube">
                <a:avLst>
                  <a:gd name="adj" fmla="val 2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45" name="AutoShape 43"/>
              <p:cNvSpPr>
                <a:spLocks noChangeArrowheads="1"/>
              </p:cNvSpPr>
              <p:nvPr/>
            </p:nvSpPr>
            <p:spPr bwMode="gray">
              <a:xfrm>
                <a:off x="4451" y="2448"/>
                <a:ext cx="288" cy="336"/>
              </a:xfrm>
              <a:prstGeom prst="cube">
                <a:avLst>
                  <a:gd name="adj" fmla="val 2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46" name="AutoShape 44"/>
              <p:cNvSpPr>
                <a:spLocks noChangeArrowheads="1"/>
              </p:cNvSpPr>
              <p:nvPr/>
            </p:nvSpPr>
            <p:spPr bwMode="gray">
              <a:xfrm>
                <a:off x="4691" y="2448"/>
                <a:ext cx="288" cy="336"/>
              </a:xfrm>
              <a:prstGeom prst="cube">
                <a:avLst>
                  <a:gd name="adj" fmla="val 2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47" name="AutoShape 45"/>
              <p:cNvSpPr>
                <a:spLocks noChangeArrowheads="1"/>
              </p:cNvSpPr>
              <p:nvPr/>
            </p:nvSpPr>
            <p:spPr bwMode="gray">
              <a:xfrm>
                <a:off x="4931" y="2448"/>
                <a:ext cx="288" cy="336"/>
              </a:xfrm>
              <a:prstGeom prst="cube">
                <a:avLst>
                  <a:gd name="adj" fmla="val 2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48" name="AutoShape 46"/>
              <p:cNvSpPr>
                <a:spLocks noChangeArrowheads="1"/>
              </p:cNvSpPr>
              <p:nvPr/>
            </p:nvSpPr>
            <p:spPr bwMode="gray">
              <a:xfrm>
                <a:off x="5171" y="2448"/>
                <a:ext cx="288" cy="336"/>
              </a:xfrm>
              <a:prstGeom prst="cube">
                <a:avLst>
                  <a:gd name="adj" fmla="val 2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49" name="AutoShape 47"/>
              <p:cNvSpPr>
                <a:spLocks noChangeArrowheads="1"/>
              </p:cNvSpPr>
              <p:nvPr/>
            </p:nvSpPr>
            <p:spPr bwMode="gray">
              <a:xfrm>
                <a:off x="5411" y="2448"/>
                <a:ext cx="288" cy="336"/>
              </a:xfrm>
              <a:prstGeom prst="cube">
                <a:avLst>
                  <a:gd name="adj" fmla="val 2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50" name="Text Box 48"/>
              <p:cNvSpPr txBox="1">
                <a:spLocks noChangeArrowheads="1"/>
              </p:cNvSpPr>
              <p:nvPr/>
            </p:nvSpPr>
            <p:spPr bwMode="gray">
              <a:xfrm>
                <a:off x="3727" y="2544"/>
                <a:ext cx="279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10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51" name="Text Box 49"/>
              <p:cNvSpPr txBox="1">
                <a:spLocks noChangeArrowheads="1"/>
              </p:cNvSpPr>
              <p:nvPr/>
            </p:nvSpPr>
            <p:spPr bwMode="gray">
              <a:xfrm>
                <a:off x="3971" y="254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9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52" name="Text Box 50"/>
              <p:cNvSpPr txBox="1">
                <a:spLocks noChangeArrowheads="1"/>
              </p:cNvSpPr>
              <p:nvPr/>
            </p:nvSpPr>
            <p:spPr bwMode="gray">
              <a:xfrm>
                <a:off x="4241" y="2522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8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53" name="Text Box 51"/>
              <p:cNvSpPr txBox="1">
                <a:spLocks noChangeArrowheads="1"/>
              </p:cNvSpPr>
              <p:nvPr/>
            </p:nvSpPr>
            <p:spPr bwMode="gray">
              <a:xfrm>
                <a:off x="4451" y="254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7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54" name="Text Box 52"/>
              <p:cNvSpPr txBox="1">
                <a:spLocks noChangeArrowheads="1"/>
              </p:cNvSpPr>
              <p:nvPr/>
            </p:nvSpPr>
            <p:spPr bwMode="gray">
              <a:xfrm>
                <a:off x="4691" y="254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6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55" name="Text Box 53"/>
              <p:cNvSpPr txBox="1">
                <a:spLocks noChangeArrowheads="1"/>
              </p:cNvSpPr>
              <p:nvPr/>
            </p:nvSpPr>
            <p:spPr bwMode="gray">
              <a:xfrm>
                <a:off x="4931" y="254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5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56" name="Text Box 54"/>
              <p:cNvSpPr txBox="1">
                <a:spLocks noChangeArrowheads="1"/>
              </p:cNvSpPr>
              <p:nvPr/>
            </p:nvSpPr>
            <p:spPr bwMode="gray">
              <a:xfrm>
                <a:off x="5171" y="254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4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57" name="Text Box 55"/>
              <p:cNvSpPr txBox="1">
                <a:spLocks noChangeArrowheads="1"/>
              </p:cNvSpPr>
              <p:nvPr/>
            </p:nvSpPr>
            <p:spPr bwMode="gray">
              <a:xfrm>
                <a:off x="5459" y="254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3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58" name="AutoShape 56"/>
              <p:cNvSpPr>
                <a:spLocks noChangeArrowheads="1"/>
              </p:cNvSpPr>
              <p:nvPr/>
            </p:nvSpPr>
            <p:spPr bwMode="gray">
              <a:xfrm>
                <a:off x="5651" y="2448"/>
                <a:ext cx="288" cy="336"/>
              </a:xfrm>
              <a:prstGeom prst="cube">
                <a:avLst>
                  <a:gd name="adj" fmla="val 2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59" name="Text Box 57"/>
              <p:cNvSpPr txBox="1">
                <a:spLocks noChangeArrowheads="1"/>
              </p:cNvSpPr>
              <p:nvPr/>
            </p:nvSpPr>
            <p:spPr bwMode="gray">
              <a:xfrm>
                <a:off x="5651" y="254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2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60" name="Text Box 58"/>
              <p:cNvSpPr txBox="1">
                <a:spLocks noChangeArrowheads="1"/>
              </p:cNvSpPr>
              <p:nvPr/>
            </p:nvSpPr>
            <p:spPr bwMode="gray">
              <a:xfrm>
                <a:off x="3727" y="2784"/>
                <a:ext cx="2396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2075" tIns="46038" rIns="92075" bIns="46038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1  </a:t>
                </a: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  2      3     4    5     6    7     8    9    10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p:grpSp>
        <p:sp>
          <p:nvSpPr>
            <p:cNvPr id="62" name="AutoShape 56"/>
            <p:cNvSpPr>
              <a:spLocks noChangeArrowheads="1"/>
            </p:cNvSpPr>
            <p:nvPr/>
          </p:nvSpPr>
          <p:spPr bwMode="gray">
            <a:xfrm>
              <a:off x="8229600" y="2895600"/>
              <a:ext cx="457200" cy="533400"/>
            </a:xfrm>
            <a:prstGeom prst="cube">
              <a:avLst>
                <a:gd name="adj" fmla="val 25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sp>
          <p:nvSpPr>
            <p:cNvPr id="63" name="Text Box 57"/>
            <p:cNvSpPr txBox="1">
              <a:spLocks noChangeArrowheads="1"/>
            </p:cNvSpPr>
            <p:nvPr/>
          </p:nvSpPr>
          <p:spPr bwMode="gray">
            <a:xfrm>
              <a:off x="8305800" y="30480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533400" y="3200400"/>
            <a:ext cx="4186237" cy="2819400"/>
            <a:chOff x="533400" y="3200400"/>
            <a:chExt cx="4186237" cy="2819400"/>
          </a:xfrm>
        </p:grpSpPr>
        <p:grpSp>
          <p:nvGrpSpPr>
            <p:cNvPr id="4" name="Group 64"/>
            <p:cNvGrpSpPr>
              <a:grpSpLocks/>
            </p:cNvGrpSpPr>
            <p:nvPr/>
          </p:nvGrpSpPr>
          <p:grpSpPr bwMode="auto">
            <a:xfrm>
              <a:off x="533400" y="3200400"/>
              <a:ext cx="4186237" cy="2819400"/>
              <a:chOff x="672" y="2016"/>
              <a:chExt cx="2637" cy="1776"/>
            </a:xfrm>
          </p:grpSpPr>
          <p:sp>
            <p:nvSpPr>
              <p:cNvPr id="5" name="Oval 4"/>
              <p:cNvSpPr>
                <a:spLocks noChangeArrowheads="1"/>
              </p:cNvSpPr>
              <p:nvPr/>
            </p:nvSpPr>
            <p:spPr bwMode="gray">
              <a:xfrm>
                <a:off x="1968" y="2112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6" name="Text Box 5"/>
              <p:cNvSpPr txBox="1">
                <a:spLocks noChangeArrowheads="1"/>
              </p:cNvSpPr>
              <p:nvPr/>
            </p:nvSpPr>
            <p:spPr bwMode="gray">
              <a:xfrm>
                <a:off x="1993" y="2112"/>
                <a:ext cx="279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10</a:t>
                </a:r>
                <a:endParaRPr kumimoji="0" 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7" name="Oval 6"/>
              <p:cNvSpPr>
                <a:spLocks noChangeArrowheads="1"/>
              </p:cNvSpPr>
              <p:nvPr/>
            </p:nvSpPr>
            <p:spPr bwMode="gray">
              <a:xfrm>
                <a:off x="1536" y="2496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8" name="Text Box 7"/>
              <p:cNvSpPr txBox="1">
                <a:spLocks noChangeArrowheads="1"/>
              </p:cNvSpPr>
              <p:nvPr/>
            </p:nvSpPr>
            <p:spPr bwMode="gray">
              <a:xfrm>
                <a:off x="1561" y="2496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9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9" name="Oval 8"/>
              <p:cNvSpPr>
                <a:spLocks noChangeArrowheads="1"/>
              </p:cNvSpPr>
              <p:nvPr/>
            </p:nvSpPr>
            <p:spPr bwMode="gray">
              <a:xfrm>
                <a:off x="2567" y="2496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0" name="Text Box 9"/>
              <p:cNvSpPr txBox="1">
                <a:spLocks noChangeArrowheads="1"/>
              </p:cNvSpPr>
              <p:nvPr/>
            </p:nvSpPr>
            <p:spPr bwMode="gray">
              <a:xfrm>
                <a:off x="2592" y="2496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8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1" name="Oval 10"/>
              <p:cNvSpPr>
                <a:spLocks noChangeArrowheads="1"/>
              </p:cNvSpPr>
              <p:nvPr/>
            </p:nvSpPr>
            <p:spPr bwMode="gray">
              <a:xfrm>
                <a:off x="1152" y="3024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2" name="Text Box 11"/>
              <p:cNvSpPr txBox="1">
                <a:spLocks noChangeArrowheads="1"/>
              </p:cNvSpPr>
              <p:nvPr/>
            </p:nvSpPr>
            <p:spPr bwMode="gray">
              <a:xfrm>
                <a:off x="1200" y="302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7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3" name="Oval 12"/>
              <p:cNvSpPr>
                <a:spLocks noChangeArrowheads="1"/>
              </p:cNvSpPr>
              <p:nvPr/>
            </p:nvSpPr>
            <p:spPr bwMode="gray">
              <a:xfrm>
                <a:off x="1920" y="3024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4" name="Text Box 13"/>
              <p:cNvSpPr txBox="1">
                <a:spLocks noChangeArrowheads="1"/>
              </p:cNvSpPr>
              <p:nvPr/>
            </p:nvSpPr>
            <p:spPr bwMode="gray">
              <a:xfrm>
                <a:off x="1945" y="302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6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5" name="Oval 14"/>
              <p:cNvSpPr>
                <a:spLocks noChangeArrowheads="1"/>
              </p:cNvSpPr>
              <p:nvPr/>
            </p:nvSpPr>
            <p:spPr bwMode="gray">
              <a:xfrm>
                <a:off x="2327" y="3024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6" name="Text Box 15"/>
              <p:cNvSpPr txBox="1">
                <a:spLocks noChangeArrowheads="1"/>
              </p:cNvSpPr>
              <p:nvPr/>
            </p:nvSpPr>
            <p:spPr bwMode="gray">
              <a:xfrm>
                <a:off x="2352" y="302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5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7" name="Oval 16"/>
              <p:cNvSpPr>
                <a:spLocks noChangeArrowheads="1"/>
              </p:cNvSpPr>
              <p:nvPr/>
            </p:nvSpPr>
            <p:spPr bwMode="gray">
              <a:xfrm>
                <a:off x="2880" y="3024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8" name="Text Box 17"/>
              <p:cNvSpPr txBox="1">
                <a:spLocks noChangeArrowheads="1"/>
              </p:cNvSpPr>
              <p:nvPr/>
            </p:nvSpPr>
            <p:spPr bwMode="gray">
              <a:xfrm>
                <a:off x="2928" y="302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4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9" name="Oval 18"/>
              <p:cNvSpPr>
                <a:spLocks noChangeArrowheads="1"/>
              </p:cNvSpPr>
              <p:nvPr/>
            </p:nvSpPr>
            <p:spPr bwMode="gray">
              <a:xfrm>
                <a:off x="768" y="3504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0" name="Text Box 19"/>
              <p:cNvSpPr txBox="1">
                <a:spLocks noChangeArrowheads="1"/>
              </p:cNvSpPr>
              <p:nvPr/>
            </p:nvSpPr>
            <p:spPr bwMode="gray">
              <a:xfrm>
                <a:off x="816" y="350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3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1" name="Oval 20"/>
              <p:cNvSpPr>
                <a:spLocks noChangeArrowheads="1"/>
              </p:cNvSpPr>
              <p:nvPr/>
            </p:nvSpPr>
            <p:spPr bwMode="gray">
              <a:xfrm>
                <a:off x="1344" y="3504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2" name="Text Box 21"/>
              <p:cNvSpPr txBox="1">
                <a:spLocks noChangeArrowheads="1"/>
              </p:cNvSpPr>
              <p:nvPr/>
            </p:nvSpPr>
            <p:spPr bwMode="gray">
              <a:xfrm>
                <a:off x="1392" y="350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2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3" name="Line 22"/>
              <p:cNvSpPr>
                <a:spLocks noChangeShapeType="1"/>
              </p:cNvSpPr>
              <p:nvPr/>
            </p:nvSpPr>
            <p:spPr bwMode="gray">
              <a:xfrm flipH="1">
                <a:off x="1776" y="2352"/>
                <a:ext cx="24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4" name="Line 23"/>
              <p:cNvSpPr>
                <a:spLocks noChangeShapeType="1"/>
              </p:cNvSpPr>
              <p:nvPr/>
            </p:nvSpPr>
            <p:spPr bwMode="gray">
              <a:xfrm flipH="1">
                <a:off x="1344" y="2736"/>
                <a:ext cx="24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5" name="Line 24"/>
              <p:cNvSpPr>
                <a:spLocks noChangeShapeType="1"/>
              </p:cNvSpPr>
              <p:nvPr/>
            </p:nvSpPr>
            <p:spPr bwMode="gray">
              <a:xfrm flipH="1">
                <a:off x="2496" y="2784"/>
                <a:ext cx="144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6" name="Line 25"/>
              <p:cNvSpPr>
                <a:spLocks noChangeShapeType="1"/>
              </p:cNvSpPr>
              <p:nvPr/>
            </p:nvSpPr>
            <p:spPr bwMode="gray">
              <a:xfrm flipH="1">
                <a:off x="960" y="3264"/>
                <a:ext cx="24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7" name="Line 26"/>
              <p:cNvSpPr>
                <a:spLocks noChangeShapeType="1"/>
              </p:cNvSpPr>
              <p:nvPr/>
            </p:nvSpPr>
            <p:spPr bwMode="gray">
              <a:xfrm>
                <a:off x="1776" y="2736"/>
                <a:ext cx="24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8" name="Line 27"/>
              <p:cNvSpPr>
                <a:spLocks noChangeShapeType="1"/>
              </p:cNvSpPr>
              <p:nvPr/>
            </p:nvSpPr>
            <p:spPr bwMode="gray">
              <a:xfrm>
                <a:off x="2256" y="2304"/>
                <a:ext cx="336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9" name="Line 28"/>
              <p:cNvSpPr>
                <a:spLocks noChangeShapeType="1"/>
              </p:cNvSpPr>
              <p:nvPr/>
            </p:nvSpPr>
            <p:spPr bwMode="gray">
              <a:xfrm>
                <a:off x="2784" y="2784"/>
                <a:ext cx="24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30" name="Line 29"/>
              <p:cNvSpPr>
                <a:spLocks noChangeShapeType="1"/>
              </p:cNvSpPr>
              <p:nvPr/>
            </p:nvSpPr>
            <p:spPr bwMode="gray">
              <a:xfrm>
                <a:off x="1344" y="3312"/>
                <a:ext cx="96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31" name="Text Box 30"/>
              <p:cNvSpPr txBox="1">
                <a:spLocks noChangeArrowheads="1"/>
              </p:cNvSpPr>
              <p:nvPr/>
            </p:nvSpPr>
            <p:spPr bwMode="gray">
              <a:xfrm>
                <a:off x="2304" y="2016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2" name="Text Box 31"/>
              <p:cNvSpPr txBox="1">
                <a:spLocks noChangeArrowheads="1"/>
              </p:cNvSpPr>
              <p:nvPr/>
            </p:nvSpPr>
            <p:spPr bwMode="gray">
              <a:xfrm>
                <a:off x="1440" y="2304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3" name="Text Box 32"/>
              <p:cNvSpPr txBox="1">
                <a:spLocks noChangeArrowheads="1"/>
              </p:cNvSpPr>
              <p:nvPr/>
            </p:nvSpPr>
            <p:spPr bwMode="gray">
              <a:xfrm>
                <a:off x="2784" y="2352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4" name="Text Box 33"/>
              <p:cNvSpPr txBox="1">
                <a:spLocks noChangeArrowheads="1"/>
              </p:cNvSpPr>
              <p:nvPr/>
            </p:nvSpPr>
            <p:spPr bwMode="gray">
              <a:xfrm>
                <a:off x="1152" y="2832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5" name="Text Box 34"/>
              <p:cNvSpPr txBox="1">
                <a:spLocks noChangeArrowheads="1"/>
              </p:cNvSpPr>
              <p:nvPr/>
            </p:nvSpPr>
            <p:spPr bwMode="gray">
              <a:xfrm>
                <a:off x="2089" y="2832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6" name="Text Box 35"/>
              <p:cNvSpPr txBox="1">
                <a:spLocks noChangeArrowheads="1"/>
              </p:cNvSpPr>
              <p:nvPr/>
            </p:nvSpPr>
            <p:spPr bwMode="gray">
              <a:xfrm>
                <a:off x="2304" y="2832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37" name="Text Box 36"/>
              <p:cNvSpPr txBox="1">
                <a:spLocks noChangeArrowheads="1"/>
              </p:cNvSpPr>
              <p:nvPr/>
            </p:nvSpPr>
            <p:spPr bwMode="gray">
              <a:xfrm>
                <a:off x="3120" y="2880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38" name="Text Box 37"/>
              <p:cNvSpPr txBox="1">
                <a:spLocks noChangeArrowheads="1"/>
              </p:cNvSpPr>
              <p:nvPr/>
            </p:nvSpPr>
            <p:spPr bwMode="gray">
              <a:xfrm>
                <a:off x="672" y="3264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40" name="Text Box 63"/>
              <p:cNvSpPr txBox="1">
                <a:spLocks noChangeArrowheads="1"/>
              </p:cNvSpPr>
              <p:nvPr/>
            </p:nvSpPr>
            <p:spPr bwMode="gray">
              <a:xfrm>
                <a:off x="1440" y="3312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9</a:t>
                </a:r>
              </a:p>
            </p:txBody>
          </p:sp>
        </p:grpSp>
        <p:sp>
          <p:nvSpPr>
            <p:cNvPr id="64" name="Oval 63"/>
            <p:cNvSpPr>
              <a:spLocks noChangeArrowheads="1"/>
            </p:cNvSpPr>
            <p:nvPr/>
          </p:nvSpPr>
          <p:spPr bwMode="gray">
            <a:xfrm>
              <a:off x="2209800" y="5562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sp>
          <p:nvSpPr>
            <p:cNvPr id="65" name="Text Box 15"/>
            <p:cNvSpPr txBox="1">
              <a:spLocks noChangeArrowheads="1"/>
            </p:cNvSpPr>
            <p:nvPr/>
          </p:nvSpPr>
          <p:spPr bwMode="gray">
            <a:xfrm>
              <a:off x="2209800" y="55626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sp>
          <p:nvSpPr>
            <p:cNvPr id="66" name="Line 24"/>
            <p:cNvSpPr>
              <a:spLocks noChangeShapeType="1"/>
            </p:cNvSpPr>
            <p:nvPr/>
          </p:nvSpPr>
          <p:spPr bwMode="gray">
            <a:xfrm flipH="1">
              <a:off x="2514600" y="5257800"/>
              <a:ext cx="1524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sp>
          <p:nvSpPr>
            <p:cNvPr id="67" name="Text Box 63"/>
            <p:cNvSpPr txBox="1">
              <a:spLocks noChangeArrowheads="1"/>
            </p:cNvSpPr>
            <p:nvPr/>
          </p:nvSpPr>
          <p:spPr bwMode="gray">
            <a:xfrm>
              <a:off x="2590800" y="5410200"/>
              <a:ext cx="416781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10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aphicFrame>
        <p:nvGraphicFramePr>
          <p:cNvPr id="68" name="Table 67"/>
          <p:cNvGraphicFramePr>
            <a:graphicFrameLocks noGrp="1"/>
          </p:cNvGraphicFramePr>
          <p:nvPr>
            <p:extLst/>
          </p:nvPr>
        </p:nvGraphicFramePr>
        <p:xfrm>
          <a:off x="5105400" y="3886200"/>
          <a:ext cx="32766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0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ID of nodes</a:t>
                      </a:r>
                      <a:r>
                        <a:rPr lang="en-US" sz="1600" baseline="0" dirty="0" smtClean="0"/>
                        <a:t> to be compared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No. comparisons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4, 8, 9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5, 10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2, 4, 5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3, 6, 7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1, 2, 3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9" name="Flowchart: Extract 68"/>
          <p:cNvSpPr/>
          <p:nvPr/>
        </p:nvSpPr>
        <p:spPr>
          <a:xfrm>
            <a:off x="457200" y="4495800"/>
            <a:ext cx="1905000" cy="1524000"/>
          </a:xfrm>
          <a:prstGeom prst="flowChartExtract">
            <a:avLst/>
          </a:prstGeom>
          <a:noFill/>
          <a:ln w="158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cxnSp>
        <p:nvCxnSpPr>
          <p:cNvPr id="73" name="Curved Connector 72"/>
          <p:cNvCxnSpPr/>
          <p:nvPr/>
        </p:nvCxnSpPr>
        <p:spPr>
          <a:xfrm flipV="1">
            <a:off x="2209800" y="4800600"/>
            <a:ext cx="2895600" cy="1295400"/>
          </a:xfrm>
          <a:prstGeom prst="curvedConnector3">
            <a:avLst>
              <a:gd name="adj1" fmla="val 77185"/>
            </a:avLst>
          </a:prstGeom>
          <a:ln w="15875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315200" y="4579938"/>
            <a:ext cx="304800" cy="373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</a:t>
            </a: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315200" y="4953000"/>
            <a:ext cx="304800" cy="373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</a:t>
            </a: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318895" y="5301449"/>
            <a:ext cx="304800" cy="373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</a:t>
            </a: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315200" y="5650237"/>
            <a:ext cx="304800" cy="373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</a:t>
            </a: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315200" y="6023299"/>
            <a:ext cx="304800" cy="373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</a:t>
            </a: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80" name="Flowchart: Extract 79"/>
          <p:cNvSpPr/>
          <p:nvPr/>
        </p:nvSpPr>
        <p:spPr>
          <a:xfrm>
            <a:off x="2066925" y="4596599"/>
            <a:ext cx="1438275" cy="1423201"/>
          </a:xfrm>
          <a:prstGeom prst="flowChartExtract">
            <a:avLst/>
          </a:prstGeom>
          <a:noFill/>
          <a:ln w="158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81" name="Flowchart: Extract 80"/>
          <p:cNvSpPr/>
          <p:nvPr/>
        </p:nvSpPr>
        <p:spPr>
          <a:xfrm>
            <a:off x="533401" y="3657600"/>
            <a:ext cx="2987706" cy="2362200"/>
          </a:xfrm>
          <a:prstGeom prst="flowChartExtract">
            <a:avLst/>
          </a:prstGeom>
          <a:noFill/>
          <a:ln w="158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82" name="Flowchart: Extract 81"/>
          <p:cNvSpPr/>
          <p:nvPr/>
        </p:nvSpPr>
        <p:spPr>
          <a:xfrm>
            <a:off x="2947386" y="3810000"/>
            <a:ext cx="1772251" cy="1491449"/>
          </a:xfrm>
          <a:prstGeom prst="flowChartExtract">
            <a:avLst/>
          </a:prstGeom>
          <a:noFill/>
          <a:ln w="158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83" name="Flowchart: Extract 82"/>
          <p:cNvSpPr/>
          <p:nvPr/>
        </p:nvSpPr>
        <p:spPr>
          <a:xfrm>
            <a:off x="418019" y="2895600"/>
            <a:ext cx="4602435" cy="3166886"/>
          </a:xfrm>
          <a:prstGeom prst="flowChartExtract">
            <a:avLst/>
          </a:prstGeom>
          <a:noFill/>
          <a:ln w="158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80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69" grpId="1" animBg="1"/>
      <p:bldP spid="39" grpId="0"/>
      <p:bldP spid="72" grpId="0"/>
      <p:bldP spid="74" grpId="0"/>
      <p:bldP spid="75" grpId="0"/>
      <p:bldP spid="76" grpId="0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Question 8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sz="2400" dirty="0" smtClean="0">
                <a:solidFill>
                  <a:srgbClr val="0000FF"/>
                </a:solidFill>
              </a:rPr>
              <a:t>(b) How many are done if there are </a:t>
            </a:r>
            <a:r>
              <a:rPr lang="en-US" sz="2400" i="1" dirty="0" smtClean="0">
                <a:solidFill>
                  <a:srgbClr val="0000FF"/>
                </a:solidFill>
              </a:rPr>
              <a:t>n</a:t>
            </a:r>
            <a:r>
              <a:rPr lang="en-US" sz="2400" dirty="0" smtClean="0">
                <a:solidFill>
                  <a:srgbClr val="0000FF"/>
                </a:solidFill>
              </a:rPr>
              <a:t> elements?  Show how you derive your answer.</a:t>
            </a:r>
          </a:p>
          <a:p>
            <a:pPr lvl="0"/>
            <a:r>
              <a:rPr lang="en-US" sz="2400" b="1" dirty="0" err="1" smtClean="0"/>
              <a:t>Ans</a:t>
            </a:r>
            <a:r>
              <a:rPr lang="en-US" sz="2400" dirty="0" smtClean="0"/>
              <a:t>: Node of index </a:t>
            </a:r>
            <a:r>
              <a:rPr lang="en-US" sz="2400" i="1" dirty="0" err="1" smtClean="0"/>
              <a:t>i</a:t>
            </a:r>
            <a:r>
              <a:rPr lang="en-US" sz="2400" dirty="0" smtClean="0"/>
              <a:t> is an </a:t>
            </a:r>
            <a:r>
              <a:rPr lang="en-US" sz="2400" i="1" dirty="0" smtClean="0"/>
              <a:t>internal</a:t>
            </a:r>
            <a:r>
              <a:rPr lang="en-US" sz="2400" dirty="0" smtClean="0"/>
              <a:t> node (that is, not a </a:t>
            </a:r>
            <a:r>
              <a:rPr lang="en-US" sz="2400" i="1" dirty="0" smtClean="0"/>
              <a:t>leaf</a:t>
            </a:r>
            <a:r>
              <a:rPr lang="en-US" sz="2400" dirty="0" smtClean="0"/>
              <a:t>) if and only if 1 </a:t>
            </a:r>
            <a:r>
              <a:rPr lang="en-US" sz="2400" dirty="0" smtClean="0">
                <a:sym typeface="Symbol"/>
              </a:rPr>
              <a:t> 2</a:t>
            </a:r>
            <a:r>
              <a:rPr lang="en-US" sz="2400" i="1" dirty="0" smtClean="0">
                <a:sym typeface="Symbol"/>
              </a:rPr>
              <a:t>i</a:t>
            </a:r>
            <a:r>
              <a:rPr lang="en-US" sz="2400" dirty="0" smtClean="0">
                <a:sym typeface="Symbol"/>
              </a:rPr>
              <a:t>  </a:t>
            </a:r>
            <a:r>
              <a:rPr lang="en-US" sz="2400" i="1" dirty="0" smtClean="0">
                <a:sym typeface="Symbol"/>
              </a:rPr>
              <a:t>n</a:t>
            </a:r>
            <a:r>
              <a:rPr lang="en-US" sz="2400" dirty="0" smtClean="0">
                <a:sym typeface="Symbol"/>
              </a:rPr>
              <a:t>, so ½  </a:t>
            </a:r>
            <a:r>
              <a:rPr lang="en-US" sz="2400" i="1" dirty="0" err="1" smtClean="0">
                <a:sym typeface="Symbol"/>
              </a:rPr>
              <a:t>i</a:t>
            </a:r>
            <a:r>
              <a:rPr lang="en-US" sz="2400" dirty="0" smtClean="0">
                <a:sym typeface="Symbol"/>
              </a:rPr>
              <a:t>  </a:t>
            </a:r>
            <a:r>
              <a:rPr lang="en-US" sz="2400" i="1" dirty="0" smtClean="0">
                <a:sym typeface="Symbol"/>
              </a:rPr>
              <a:t>n</a:t>
            </a:r>
            <a:r>
              <a:rPr lang="en-US" sz="2400" dirty="0" smtClean="0">
                <a:sym typeface="Symbol"/>
              </a:rPr>
              <a:t>/2. Thus, </a:t>
            </a:r>
          </a:p>
          <a:p>
            <a:pPr lvl="1"/>
            <a:r>
              <a:rPr lang="en-US" sz="2000" dirty="0" smtClean="0">
                <a:sym typeface="Symbol"/>
              </a:rPr>
              <a:t>If </a:t>
            </a:r>
            <a:r>
              <a:rPr lang="en-US" sz="2000" i="1" dirty="0" smtClean="0">
                <a:sym typeface="Symbol"/>
              </a:rPr>
              <a:t>n</a:t>
            </a:r>
            <a:r>
              <a:rPr lang="en-US" sz="2000" dirty="0" smtClean="0">
                <a:sym typeface="Symbol"/>
              </a:rPr>
              <a:t> is even, there are </a:t>
            </a:r>
            <a:r>
              <a:rPr lang="en-US" sz="2000" i="1" dirty="0" smtClean="0">
                <a:sym typeface="Symbol"/>
              </a:rPr>
              <a:t>n</a:t>
            </a:r>
            <a:r>
              <a:rPr lang="en-US" sz="2000" dirty="0" smtClean="0">
                <a:sym typeface="Symbol"/>
              </a:rPr>
              <a:t>/2 internal nodes</a:t>
            </a:r>
          </a:p>
          <a:p>
            <a:pPr lvl="1"/>
            <a:r>
              <a:rPr lang="en-US" sz="2000" dirty="0" smtClean="0">
                <a:sym typeface="Symbol"/>
              </a:rPr>
              <a:t>If </a:t>
            </a:r>
            <a:r>
              <a:rPr lang="en-US" sz="2000" i="1" dirty="0" smtClean="0">
                <a:sym typeface="Symbol"/>
              </a:rPr>
              <a:t>n</a:t>
            </a:r>
            <a:r>
              <a:rPr lang="en-US" sz="2000" dirty="0" smtClean="0">
                <a:sym typeface="Symbol"/>
              </a:rPr>
              <a:t> is odd, there are (</a:t>
            </a:r>
            <a:r>
              <a:rPr lang="en-US" sz="2000" i="1" dirty="0" smtClean="0">
                <a:sym typeface="Symbol"/>
              </a:rPr>
              <a:t>n</a:t>
            </a:r>
            <a:r>
              <a:rPr lang="en-US" sz="2000" dirty="0" smtClean="0"/>
              <a:t> – </a:t>
            </a:r>
            <a:r>
              <a:rPr lang="en-US" sz="2000" dirty="0" smtClean="0">
                <a:sym typeface="Symbol"/>
              </a:rPr>
              <a:t>1)/2 internal nodes</a:t>
            </a:r>
            <a:endParaRPr lang="en-US" sz="2000" dirty="0" smtClean="0"/>
          </a:p>
          <a:p>
            <a:pPr lvl="0"/>
            <a:r>
              <a:rPr lang="en-US" sz="2400" dirty="0" smtClean="0"/>
              <a:t>Since the keys are in decreasing order, </a:t>
            </a:r>
            <a:r>
              <a:rPr lang="en-US" sz="2400" dirty="0" err="1" smtClean="0"/>
              <a:t>FixHeap</a:t>
            </a:r>
            <a:r>
              <a:rPr lang="en-US" sz="2400" dirty="0" smtClean="0"/>
              <a:t> does only one or two key comparisons each time it is called; no key move</a:t>
            </a:r>
          </a:p>
          <a:p>
            <a:pPr lvl="0"/>
            <a:r>
              <a:rPr lang="en-US" sz="2400" dirty="0" smtClean="0"/>
              <a:t>If </a:t>
            </a:r>
            <a:r>
              <a:rPr lang="en-US" sz="2400" i="1" dirty="0" smtClean="0"/>
              <a:t>n</a:t>
            </a:r>
            <a:r>
              <a:rPr lang="en-US" sz="2400" dirty="0" smtClean="0"/>
              <a:t> is </a:t>
            </a:r>
            <a:r>
              <a:rPr lang="en-US" sz="2400" b="1" dirty="0" smtClean="0"/>
              <a:t>even</a:t>
            </a:r>
            <a:r>
              <a:rPr lang="en-US" sz="2400" dirty="0" smtClean="0"/>
              <a:t>, the last internal node has only one child, so</a:t>
            </a:r>
          </a:p>
          <a:p>
            <a:pPr lvl="1"/>
            <a:r>
              <a:rPr lang="en-US" sz="2000" dirty="0" err="1" smtClean="0"/>
              <a:t>FixHeap</a:t>
            </a:r>
            <a:r>
              <a:rPr lang="en-US" sz="2000" dirty="0" smtClean="0"/>
              <a:t> does only one key comparison at that node</a:t>
            </a:r>
          </a:p>
          <a:p>
            <a:pPr lvl="1"/>
            <a:r>
              <a:rPr lang="en-US" sz="2000" dirty="0" smtClean="0"/>
              <a:t>For each other internal node, two key comparisons are done</a:t>
            </a:r>
          </a:p>
          <a:p>
            <a:pPr lvl="1"/>
            <a:r>
              <a:rPr lang="en-US" sz="2000" dirty="0" smtClean="0"/>
              <a:t>Total number of key comparisons is 2(</a:t>
            </a:r>
            <a:r>
              <a:rPr lang="en-US" sz="2000" i="1" dirty="0" smtClean="0"/>
              <a:t>n</a:t>
            </a:r>
            <a:r>
              <a:rPr lang="en-US" sz="2000" dirty="0" smtClean="0"/>
              <a:t>/2 – 1) + 1 = </a:t>
            </a:r>
            <a:r>
              <a:rPr lang="en-US" sz="2000" i="1" dirty="0" smtClean="0"/>
              <a:t>n</a:t>
            </a:r>
            <a:r>
              <a:rPr lang="en-US" sz="2000" dirty="0" smtClean="0"/>
              <a:t> – 1 </a:t>
            </a:r>
          </a:p>
          <a:p>
            <a:pPr lvl="0"/>
            <a:r>
              <a:rPr lang="en-US" sz="2400" dirty="0" smtClean="0"/>
              <a:t>If </a:t>
            </a:r>
            <a:r>
              <a:rPr lang="en-US" sz="2400" i="1" dirty="0" smtClean="0"/>
              <a:t>n</a:t>
            </a:r>
            <a:r>
              <a:rPr lang="en-US" sz="2400" dirty="0" smtClean="0"/>
              <a:t> is </a:t>
            </a:r>
            <a:r>
              <a:rPr lang="en-US" sz="2400" b="1" dirty="0" smtClean="0"/>
              <a:t>odd</a:t>
            </a:r>
            <a:r>
              <a:rPr lang="en-US" sz="2400" dirty="0" smtClean="0"/>
              <a:t>, each of the (</a:t>
            </a:r>
            <a:r>
              <a:rPr lang="en-US" sz="2400" i="1" dirty="0" smtClean="0"/>
              <a:t>n</a:t>
            </a:r>
            <a:r>
              <a:rPr lang="en-US" sz="2400" dirty="0" smtClean="0"/>
              <a:t> – 1)/2 internal nodes has two children, so</a:t>
            </a:r>
          </a:p>
          <a:p>
            <a:pPr lvl="1"/>
            <a:r>
              <a:rPr lang="en-US" sz="2000" dirty="0" smtClean="0"/>
              <a:t>Two key comparisons are done by </a:t>
            </a:r>
            <a:r>
              <a:rPr lang="en-US" sz="2000" dirty="0" err="1" smtClean="0"/>
              <a:t>FixHeap</a:t>
            </a:r>
            <a:r>
              <a:rPr lang="en-US" sz="2000" dirty="0" smtClean="0"/>
              <a:t> for each internal node</a:t>
            </a:r>
          </a:p>
          <a:p>
            <a:pPr lvl="1"/>
            <a:r>
              <a:rPr lang="en-US" sz="2000" dirty="0" smtClean="0"/>
              <a:t>Total number of key comparisons is 2 </a:t>
            </a:r>
            <a:r>
              <a:rPr lang="en-US" sz="2000" dirty="0" smtClean="0">
                <a:sym typeface="Symbol"/>
              </a:rPr>
              <a:t> </a:t>
            </a:r>
            <a:r>
              <a:rPr lang="en-US" sz="2000" dirty="0" smtClean="0"/>
              <a:t>(</a:t>
            </a:r>
            <a:r>
              <a:rPr lang="en-US" sz="2000" i="1" dirty="0" smtClean="0"/>
              <a:t>n</a:t>
            </a:r>
            <a:r>
              <a:rPr lang="en-US" sz="2000" dirty="0" smtClean="0"/>
              <a:t> – 1)/2 = </a:t>
            </a:r>
            <a:r>
              <a:rPr lang="en-US" sz="2000" i="1" dirty="0" smtClean="0"/>
              <a:t>n</a:t>
            </a:r>
            <a:r>
              <a:rPr lang="en-US" sz="2000" dirty="0" smtClean="0"/>
              <a:t> – 1 </a:t>
            </a:r>
            <a:endParaRPr lang="en-US" sz="2400" dirty="0" smtClean="0"/>
          </a:p>
          <a:p>
            <a:pPr lvl="0"/>
            <a:r>
              <a:rPr lang="en-US" sz="2400" dirty="0" smtClean="0"/>
              <a:t>In both cases, the total is </a:t>
            </a:r>
            <a:r>
              <a:rPr lang="en-US" sz="2400" i="1" dirty="0" smtClean="0"/>
              <a:t>n</a:t>
            </a:r>
            <a:r>
              <a:rPr lang="en-US" sz="2400" dirty="0" smtClean="0"/>
              <a:t> – 1 key comparisons</a:t>
            </a:r>
          </a:p>
          <a:p>
            <a:pPr lvl="0"/>
            <a:endParaRPr lang="en-US" sz="2400" dirty="0" smtClean="0"/>
          </a:p>
          <a:p>
            <a:pPr lvl="0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4228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Question 8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lvl="0"/>
            <a:r>
              <a:rPr lang="en-US" sz="2400" dirty="0" smtClean="0">
                <a:solidFill>
                  <a:srgbClr val="0000FF"/>
                </a:solidFill>
              </a:rPr>
              <a:t>(c) Is an array in decreasing order a best case, worst case, or intermediate case for this algorithm? Justify your answer.</a:t>
            </a:r>
          </a:p>
          <a:p>
            <a:r>
              <a:rPr lang="en-US" sz="2400" b="1" dirty="0" err="1" smtClean="0"/>
              <a:t>Ans</a:t>
            </a:r>
            <a:r>
              <a:rPr lang="en-US" sz="2400" dirty="0" smtClean="0"/>
              <a:t>: It is the best case. </a:t>
            </a:r>
          </a:p>
          <a:p>
            <a:r>
              <a:rPr lang="en-US" sz="2400" dirty="0" smtClean="0"/>
              <a:t>Because there is no key move, so in the </a:t>
            </a:r>
            <a:r>
              <a:rPr lang="en-US" sz="2400" dirty="0" err="1" smtClean="0"/>
              <a:t>heapifying</a:t>
            </a:r>
            <a:r>
              <a:rPr lang="en-US" sz="2400" dirty="0" smtClean="0"/>
              <a:t>() algorithm, the </a:t>
            </a:r>
            <a:r>
              <a:rPr lang="en-US" sz="2400" dirty="0" err="1" smtClean="0"/>
              <a:t>fixHeap</a:t>
            </a:r>
            <a:r>
              <a:rPr lang="en-US" sz="2400" dirty="0" smtClean="0"/>
              <a:t>() function only compares the root and its two children, and no need to call </a:t>
            </a:r>
            <a:r>
              <a:rPr lang="en-US" sz="2400" dirty="0" err="1" smtClean="0"/>
              <a:t>fixHeap</a:t>
            </a:r>
            <a:r>
              <a:rPr lang="en-US" sz="2400" dirty="0" smtClean="0"/>
              <a:t>() recursively as in intermediate or worst case.</a:t>
            </a:r>
            <a:endParaRPr lang="en-US" sz="2400" dirty="0"/>
          </a:p>
        </p:txBody>
      </p:sp>
      <p:grpSp>
        <p:nvGrpSpPr>
          <p:cNvPr id="4" name="Group 3"/>
          <p:cNvGrpSpPr/>
          <p:nvPr/>
        </p:nvGrpSpPr>
        <p:grpSpPr>
          <a:xfrm>
            <a:off x="4191000" y="3733800"/>
            <a:ext cx="4186237" cy="2819400"/>
            <a:chOff x="533400" y="3200400"/>
            <a:chExt cx="4186237" cy="2819400"/>
          </a:xfrm>
        </p:grpSpPr>
        <p:grpSp>
          <p:nvGrpSpPr>
            <p:cNvPr id="5" name="Group 64"/>
            <p:cNvGrpSpPr>
              <a:grpSpLocks/>
            </p:cNvGrpSpPr>
            <p:nvPr/>
          </p:nvGrpSpPr>
          <p:grpSpPr bwMode="auto">
            <a:xfrm>
              <a:off x="533400" y="3200400"/>
              <a:ext cx="4186237" cy="2819400"/>
              <a:chOff x="672" y="2016"/>
              <a:chExt cx="2637" cy="1776"/>
            </a:xfrm>
          </p:grpSpPr>
          <p:sp>
            <p:nvSpPr>
              <p:cNvPr id="10" name="Oval 9"/>
              <p:cNvSpPr>
                <a:spLocks noChangeArrowheads="1"/>
              </p:cNvSpPr>
              <p:nvPr/>
            </p:nvSpPr>
            <p:spPr bwMode="gray">
              <a:xfrm>
                <a:off x="1968" y="2112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1" name="Text Box 5"/>
              <p:cNvSpPr txBox="1">
                <a:spLocks noChangeArrowheads="1"/>
              </p:cNvSpPr>
              <p:nvPr/>
            </p:nvSpPr>
            <p:spPr bwMode="gray">
              <a:xfrm>
                <a:off x="1993" y="2112"/>
                <a:ext cx="279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10</a:t>
                </a:r>
                <a:endParaRPr kumimoji="0" 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2" name="Oval 11"/>
              <p:cNvSpPr>
                <a:spLocks noChangeArrowheads="1"/>
              </p:cNvSpPr>
              <p:nvPr/>
            </p:nvSpPr>
            <p:spPr bwMode="gray">
              <a:xfrm>
                <a:off x="1536" y="2496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3" name="Text Box 7"/>
              <p:cNvSpPr txBox="1">
                <a:spLocks noChangeArrowheads="1"/>
              </p:cNvSpPr>
              <p:nvPr/>
            </p:nvSpPr>
            <p:spPr bwMode="gray">
              <a:xfrm>
                <a:off x="1561" y="2496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9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4" name="Oval 13"/>
              <p:cNvSpPr>
                <a:spLocks noChangeArrowheads="1"/>
              </p:cNvSpPr>
              <p:nvPr/>
            </p:nvSpPr>
            <p:spPr bwMode="gray">
              <a:xfrm>
                <a:off x="2567" y="2496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gray">
              <a:xfrm>
                <a:off x="2592" y="2496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8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6" name="Oval 15"/>
              <p:cNvSpPr>
                <a:spLocks noChangeArrowheads="1"/>
              </p:cNvSpPr>
              <p:nvPr/>
            </p:nvSpPr>
            <p:spPr bwMode="gray">
              <a:xfrm>
                <a:off x="1152" y="3024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7" name="Text Box 11"/>
              <p:cNvSpPr txBox="1">
                <a:spLocks noChangeArrowheads="1"/>
              </p:cNvSpPr>
              <p:nvPr/>
            </p:nvSpPr>
            <p:spPr bwMode="gray">
              <a:xfrm>
                <a:off x="1200" y="302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7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8" name="Oval 17"/>
              <p:cNvSpPr>
                <a:spLocks noChangeArrowheads="1"/>
              </p:cNvSpPr>
              <p:nvPr/>
            </p:nvSpPr>
            <p:spPr bwMode="gray">
              <a:xfrm>
                <a:off x="1920" y="3024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19" name="Text Box 13"/>
              <p:cNvSpPr txBox="1">
                <a:spLocks noChangeArrowheads="1"/>
              </p:cNvSpPr>
              <p:nvPr/>
            </p:nvSpPr>
            <p:spPr bwMode="gray">
              <a:xfrm>
                <a:off x="1945" y="302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6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0" name="Oval 19"/>
              <p:cNvSpPr>
                <a:spLocks noChangeArrowheads="1"/>
              </p:cNvSpPr>
              <p:nvPr/>
            </p:nvSpPr>
            <p:spPr bwMode="gray">
              <a:xfrm>
                <a:off x="2327" y="3024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1" name="Text Box 15"/>
              <p:cNvSpPr txBox="1">
                <a:spLocks noChangeArrowheads="1"/>
              </p:cNvSpPr>
              <p:nvPr/>
            </p:nvSpPr>
            <p:spPr bwMode="gray">
              <a:xfrm>
                <a:off x="2352" y="302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5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2" name="Oval 21"/>
              <p:cNvSpPr>
                <a:spLocks noChangeArrowheads="1"/>
              </p:cNvSpPr>
              <p:nvPr/>
            </p:nvSpPr>
            <p:spPr bwMode="gray">
              <a:xfrm>
                <a:off x="2880" y="3024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3" name="Text Box 17"/>
              <p:cNvSpPr txBox="1">
                <a:spLocks noChangeArrowheads="1"/>
              </p:cNvSpPr>
              <p:nvPr/>
            </p:nvSpPr>
            <p:spPr bwMode="gray">
              <a:xfrm>
                <a:off x="2928" y="302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4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4" name="Oval 23"/>
              <p:cNvSpPr>
                <a:spLocks noChangeArrowheads="1"/>
              </p:cNvSpPr>
              <p:nvPr/>
            </p:nvSpPr>
            <p:spPr bwMode="gray">
              <a:xfrm>
                <a:off x="768" y="3504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5" name="Text Box 19"/>
              <p:cNvSpPr txBox="1">
                <a:spLocks noChangeArrowheads="1"/>
              </p:cNvSpPr>
              <p:nvPr/>
            </p:nvSpPr>
            <p:spPr bwMode="gray">
              <a:xfrm>
                <a:off x="816" y="350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3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6" name="Oval 25"/>
              <p:cNvSpPr>
                <a:spLocks noChangeArrowheads="1"/>
              </p:cNvSpPr>
              <p:nvPr/>
            </p:nvSpPr>
            <p:spPr bwMode="gray">
              <a:xfrm>
                <a:off x="1344" y="3504"/>
                <a:ext cx="288" cy="288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7" name="Text Box 21"/>
              <p:cNvSpPr txBox="1">
                <a:spLocks noChangeArrowheads="1"/>
              </p:cNvSpPr>
              <p:nvPr/>
            </p:nvSpPr>
            <p:spPr bwMode="gray">
              <a:xfrm>
                <a:off x="1392" y="3504"/>
                <a:ext cx="19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2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8" name="Line 22"/>
              <p:cNvSpPr>
                <a:spLocks noChangeShapeType="1"/>
              </p:cNvSpPr>
              <p:nvPr/>
            </p:nvSpPr>
            <p:spPr bwMode="gray">
              <a:xfrm flipH="1">
                <a:off x="1776" y="2352"/>
                <a:ext cx="24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29" name="Line 23"/>
              <p:cNvSpPr>
                <a:spLocks noChangeShapeType="1"/>
              </p:cNvSpPr>
              <p:nvPr/>
            </p:nvSpPr>
            <p:spPr bwMode="gray">
              <a:xfrm flipH="1">
                <a:off x="1344" y="2736"/>
                <a:ext cx="24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30" name="Line 24"/>
              <p:cNvSpPr>
                <a:spLocks noChangeShapeType="1"/>
              </p:cNvSpPr>
              <p:nvPr/>
            </p:nvSpPr>
            <p:spPr bwMode="gray">
              <a:xfrm flipH="1">
                <a:off x="2496" y="2784"/>
                <a:ext cx="144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31" name="Line 25"/>
              <p:cNvSpPr>
                <a:spLocks noChangeShapeType="1"/>
              </p:cNvSpPr>
              <p:nvPr/>
            </p:nvSpPr>
            <p:spPr bwMode="gray">
              <a:xfrm flipH="1">
                <a:off x="960" y="3264"/>
                <a:ext cx="24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32" name="Line 26"/>
              <p:cNvSpPr>
                <a:spLocks noChangeShapeType="1"/>
              </p:cNvSpPr>
              <p:nvPr/>
            </p:nvSpPr>
            <p:spPr bwMode="gray">
              <a:xfrm>
                <a:off x="1776" y="2736"/>
                <a:ext cx="24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33" name="Line 27"/>
              <p:cNvSpPr>
                <a:spLocks noChangeShapeType="1"/>
              </p:cNvSpPr>
              <p:nvPr/>
            </p:nvSpPr>
            <p:spPr bwMode="gray">
              <a:xfrm>
                <a:off x="2256" y="2304"/>
                <a:ext cx="336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34" name="Line 28"/>
              <p:cNvSpPr>
                <a:spLocks noChangeShapeType="1"/>
              </p:cNvSpPr>
              <p:nvPr/>
            </p:nvSpPr>
            <p:spPr bwMode="gray">
              <a:xfrm>
                <a:off x="2784" y="2784"/>
                <a:ext cx="24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35" name="Line 29"/>
              <p:cNvSpPr>
                <a:spLocks noChangeShapeType="1"/>
              </p:cNvSpPr>
              <p:nvPr/>
            </p:nvSpPr>
            <p:spPr bwMode="gray">
              <a:xfrm>
                <a:off x="1344" y="3312"/>
                <a:ext cx="96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  <p:sp>
            <p:nvSpPr>
              <p:cNvPr id="36" name="Text Box 30"/>
              <p:cNvSpPr txBox="1">
                <a:spLocks noChangeArrowheads="1"/>
              </p:cNvSpPr>
              <p:nvPr/>
            </p:nvSpPr>
            <p:spPr bwMode="gray">
              <a:xfrm>
                <a:off x="2304" y="2016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7" name="Text Box 31"/>
              <p:cNvSpPr txBox="1">
                <a:spLocks noChangeArrowheads="1"/>
              </p:cNvSpPr>
              <p:nvPr/>
            </p:nvSpPr>
            <p:spPr bwMode="gray">
              <a:xfrm>
                <a:off x="1440" y="2304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8" name="Text Box 32"/>
              <p:cNvSpPr txBox="1">
                <a:spLocks noChangeArrowheads="1"/>
              </p:cNvSpPr>
              <p:nvPr/>
            </p:nvSpPr>
            <p:spPr bwMode="gray">
              <a:xfrm>
                <a:off x="2784" y="2352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9" name="Text Box 33"/>
              <p:cNvSpPr txBox="1">
                <a:spLocks noChangeArrowheads="1"/>
              </p:cNvSpPr>
              <p:nvPr/>
            </p:nvSpPr>
            <p:spPr bwMode="gray">
              <a:xfrm>
                <a:off x="1152" y="2832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0" name="Text Box 34"/>
              <p:cNvSpPr txBox="1">
                <a:spLocks noChangeArrowheads="1"/>
              </p:cNvSpPr>
              <p:nvPr/>
            </p:nvSpPr>
            <p:spPr bwMode="gray">
              <a:xfrm>
                <a:off x="2089" y="2832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1" name="Text Box 35"/>
              <p:cNvSpPr txBox="1">
                <a:spLocks noChangeArrowheads="1"/>
              </p:cNvSpPr>
              <p:nvPr/>
            </p:nvSpPr>
            <p:spPr bwMode="gray">
              <a:xfrm>
                <a:off x="2304" y="2832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42" name="Text Box 36"/>
              <p:cNvSpPr txBox="1">
                <a:spLocks noChangeArrowheads="1"/>
              </p:cNvSpPr>
              <p:nvPr/>
            </p:nvSpPr>
            <p:spPr bwMode="gray">
              <a:xfrm>
                <a:off x="3120" y="2880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43" name="Text Box 37"/>
              <p:cNvSpPr txBox="1">
                <a:spLocks noChangeArrowheads="1"/>
              </p:cNvSpPr>
              <p:nvPr/>
            </p:nvSpPr>
            <p:spPr bwMode="gray">
              <a:xfrm>
                <a:off x="672" y="3264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44" name="Text Box 63"/>
              <p:cNvSpPr txBox="1">
                <a:spLocks noChangeArrowheads="1"/>
              </p:cNvSpPr>
              <p:nvPr/>
            </p:nvSpPr>
            <p:spPr bwMode="gray">
              <a:xfrm>
                <a:off x="1440" y="3312"/>
                <a:ext cx="18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9</a:t>
                </a:r>
              </a:p>
            </p:txBody>
          </p:sp>
        </p:grpSp>
        <p:sp>
          <p:nvSpPr>
            <p:cNvPr id="6" name="Oval 5"/>
            <p:cNvSpPr>
              <a:spLocks noChangeArrowheads="1"/>
            </p:cNvSpPr>
            <p:nvPr/>
          </p:nvSpPr>
          <p:spPr bwMode="gray">
            <a:xfrm>
              <a:off x="2209800" y="5562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sp>
          <p:nvSpPr>
            <p:cNvPr id="7" name="Text Box 15"/>
            <p:cNvSpPr txBox="1">
              <a:spLocks noChangeArrowheads="1"/>
            </p:cNvSpPr>
            <p:nvPr/>
          </p:nvSpPr>
          <p:spPr bwMode="gray">
            <a:xfrm>
              <a:off x="2209800" y="55626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sp>
          <p:nvSpPr>
            <p:cNvPr id="8" name="Line 24"/>
            <p:cNvSpPr>
              <a:spLocks noChangeShapeType="1"/>
            </p:cNvSpPr>
            <p:nvPr/>
          </p:nvSpPr>
          <p:spPr bwMode="gray">
            <a:xfrm flipH="1">
              <a:off x="2514600" y="5257800"/>
              <a:ext cx="1524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sp>
          <p:nvSpPr>
            <p:cNvPr id="9" name="Text Box 63"/>
            <p:cNvSpPr txBox="1">
              <a:spLocks noChangeArrowheads="1"/>
            </p:cNvSpPr>
            <p:nvPr/>
          </p:nvSpPr>
          <p:spPr bwMode="gray">
            <a:xfrm>
              <a:off x="2590800" y="5410200"/>
              <a:ext cx="416781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10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381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Question 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2600" dirty="0" smtClean="0">
                <a:solidFill>
                  <a:srgbClr val="0000FF"/>
                </a:solidFill>
              </a:rPr>
              <a:t>Given </a:t>
            </a:r>
            <a:r>
              <a:rPr lang="en-US" sz="2600" i="1" dirty="0" smtClean="0">
                <a:solidFill>
                  <a:srgbClr val="0000FF"/>
                </a:solidFill>
              </a:rPr>
              <a:t>k</a:t>
            </a:r>
            <a:r>
              <a:rPr lang="en-US" sz="2600" dirty="0" smtClean="0">
                <a:solidFill>
                  <a:srgbClr val="0000FF"/>
                </a:solidFill>
              </a:rPr>
              <a:t> lists with a total of </a:t>
            </a:r>
            <a:r>
              <a:rPr lang="en-US" sz="2600" i="1" dirty="0" smtClean="0">
                <a:solidFill>
                  <a:srgbClr val="0000FF"/>
                </a:solidFill>
              </a:rPr>
              <a:t>n</a:t>
            </a:r>
            <a:r>
              <a:rPr lang="en-US" sz="2600" dirty="0" smtClean="0">
                <a:solidFill>
                  <a:srgbClr val="0000FF"/>
                </a:solidFill>
              </a:rPr>
              <a:t> numbers, where </a:t>
            </a:r>
            <a:r>
              <a:rPr lang="en-US" sz="2600" i="1" dirty="0" smtClean="0">
                <a:solidFill>
                  <a:srgbClr val="0000FF"/>
                </a:solidFill>
              </a:rPr>
              <a:t>k</a:t>
            </a:r>
            <a:r>
              <a:rPr lang="en-US" sz="2600" dirty="0" smtClean="0">
                <a:solidFill>
                  <a:srgbClr val="0000FF"/>
                </a:solidFill>
              </a:rPr>
              <a:t> </a:t>
            </a:r>
            <a:r>
              <a:rPr lang="en-US" sz="2600" dirty="0" smtClean="0">
                <a:solidFill>
                  <a:srgbClr val="0000FF"/>
                </a:solidFill>
                <a:sym typeface="Symbol"/>
              </a:rPr>
              <a:t></a:t>
            </a:r>
            <a:r>
              <a:rPr lang="en-US" sz="2600" dirty="0" smtClean="0">
                <a:solidFill>
                  <a:srgbClr val="0000FF"/>
                </a:solidFill>
              </a:rPr>
              <a:t> 2 and each list has been sorted in decreasing order, design an algorithm to merge the </a:t>
            </a:r>
            <a:r>
              <a:rPr lang="en-US" sz="2600" i="1" dirty="0" smtClean="0">
                <a:solidFill>
                  <a:srgbClr val="0000FF"/>
                </a:solidFill>
              </a:rPr>
              <a:t>k</a:t>
            </a:r>
            <a:r>
              <a:rPr lang="en-US" sz="2600" dirty="0" smtClean="0">
                <a:solidFill>
                  <a:srgbClr val="0000FF"/>
                </a:solidFill>
              </a:rPr>
              <a:t> lists into one list sorted in decreasing order, in running time </a:t>
            </a:r>
            <a:r>
              <a:rPr lang="en-US" sz="2600" i="1" dirty="0" smtClean="0">
                <a:solidFill>
                  <a:srgbClr val="0000FF"/>
                </a:solidFill>
              </a:rPr>
              <a:t>O</a:t>
            </a:r>
            <a:r>
              <a:rPr lang="en-US" sz="2600" dirty="0" smtClean="0">
                <a:solidFill>
                  <a:srgbClr val="0000FF"/>
                </a:solidFill>
              </a:rPr>
              <a:t>(</a:t>
            </a:r>
            <a:r>
              <a:rPr lang="en-US" sz="2600" i="1" dirty="0" smtClean="0">
                <a:solidFill>
                  <a:srgbClr val="0000FF"/>
                </a:solidFill>
              </a:rPr>
              <a:t>n</a:t>
            </a:r>
            <a:r>
              <a:rPr lang="en-US" sz="2600" dirty="0" smtClean="0">
                <a:solidFill>
                  <a:srgbClr val="0000FF"/>
                </a:solidFill>
              </a:rPr>
              <a:t>log</a:t>
            </a:r>
            <a:r>
              <a:rPr lang="en-US" sz="2600" baseline="-25000" dirty="0" smtClean="0">
                <a:solidFill>
                  <a:srgbClr val="0000FF"/>
                </a:solidFill>
              </a:rPr>
              <a:t>2</a:t>
            </a:r>
            <a:r>
              <a:rPr lang="en-US" sz="2600" i="1" dirty="0" smtClean="0">
                <a:solidFill>
                  <a:srgbClr val="0000FF"/>
                </a:solidFill>
              </a:rPr>
              <a:t>k</a:t>
            </a:r>
            <a:r>
              <a:rPr lang="en-US" sz="2600" dirty="0" smtClean="0">
                <a:solidFill>
                  <a:srgbClr val="0000FF"/>
                </a:solidFill>
              </a:rPr>
              <a:t>).</a:t>
            </a:r>
          </a:p>
          <a:p>
            <a:r>
              <a:rPr lang="en-US" sz="2400" b="1" dirty="0" err="1" smtClean="0"/>
              <a:t>Ans</a:t>
            </a:r>
            <a:r>
              <a:rPr lang="en-US" sz="2400" dirty="0" smtClean="0"/>
              <a:t>: One algorithm is to use a maximizing heap: </a:t>
            </a:r>
          </a:p>
          <a:p>
            <a:pPr lvl="1"/>
            <a:r>
              <a:rPr lang="en-US" sz="2400" dirty="0" smtClean="0"/>
              <a:t>First, insert the </a:t>
            </a:r>
            <a:r>
              <a:rPr lang="en-US" sz="2400" b="1" i="1" dirty="0" smtClean="0"/>
              <a:t>k</a:t>
            </a:r>
            <a:r>
              <a:rPr lang="en-US" sz="2400" dirty="0" smtClean="0"/>
              <a:t> elements from the heads of the </a:t>
            </a:r>
            <a:r>
              <a:rPr lang="en-US" sz="2400" b="1" i="1" dirty="0" smtClean="0"/>
              <a:t>k</a:t>
            </a:r>
            <a:r>
              <a:rPr lang="en-US" sz="2400" dirty="0" smtClean="0"/>
              <a:t> sorted lists into a maximizing heap. This will take running time </a:t>
            </a:r>
            <a:r>
              <a:rPr lang="en-US" sz="2400" i="1" dirty="0" smtClean="0">
                <a:solidFill>
                  <a:srgbClr val="FF0000"/>
                </a:solidFill>
              </a:rPr>
              <a:t>O</a:t>
            </a:r>
            <a:r>
              <a:rPr lang="en-US" sz="2400" dirty="0" smtClean="0">
                <a:solidFill>
                  <a:srgbClr val="FF0000"/>
                </a:solidFill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</a:rPr>
              <a:t>k</a:t>
            </a:r>
            <a:r>
              <a:rPr lang="en-US" sz="2400" dirty="0" smtClean="0">
                <a:solidFill>
                  <a:srgbClr val="FF0000"/>
                </a:solidFill>
              </a:rPr>
              <a:t>)</a:t>
            </a:r>
            <a:r>
              <a:rPr lang="en-US" sz="2400" dirty="0" smtClean="0"/>
              <a:t>. </a:t>
            </a:r>
          </a:p>
          <a:p>
            <a:pPr lvl="1"/>
            <a:r>
              <a:rPr lang="en-US" sz="2400" dirty="0" smtClean="0"/>
              <a:t>Then, use </a:t>
            </a:r>
            <a:r>
              <a:rPr lang="en-US" sz="2400" dirty="0" err="1" smtClean="0"/>
              <a:t>getMax</a:t>
            </a:r>
            <a:r>
              <a:rPr lang="en-US" sz="2400" dirty="0" smtClean="0"/>
              <a:t>() to obtain the maximum element from the heap and append it at the end the merged list (initially empty). Suppose this merged element was originally from the </a:t>
            </a:r>
            <a:r>
              <a:rPr lang="en-US" sz="2400" i="1" dirty="0" err="1" smtClean="0"/>
              <a:t>j</a:t>
            </a:r>
            <a:r>
              <a:rPr lang="en-US" sz="2400" dirty="0" err="1" smtClean="0"/>
              <a:t>th</a:t>
            </a:r>
            <a:r>
              <a:rPr lang="en-US" sz="2400" dirty="0" smtClean="0"/>
              <a:t> list. Then, insert the element from the </a:t>
            </a:r>
            <a:r>
              <a:rPr lang="en-US" sz="2400" i="1" dirty="0" smtClean="0"/>
              <a:t>next</a:t>
            </a:r>
            <a:r>
              <a:rPr lang="en-US" sz="2400" dirty="0" smtClean="0"/>
              <a:t> position of the </a:t>
            </a:r>
            <a:r>
              <a:rPr lang="en-US" sz="2400" i="1" dirty="0" err="1" smtClean="0"/>
              <a:t>j</a:t>
            </a:r>
            <a:r>
              <a:rPr lang="en-US" sz="2400" dirty="0" err="1" smtClean="0"/>
              <a:t>th</a:t>
            </a:r>
            <a:r>
              <a:rPr lang="en-US" sz="2400" dirty="0" smtClean="0"/>
              <a:t> </a:t>
            </a:r>
            <a:r>
              <a:rPr lang="en-US" sz="2400" smtClean="0"/>
              <a:t>list into </a:t>
            </a:r>
            <a:r>
              <a:rPr lang="en-US" sz="2400" dirty="0" smtClean="0"/>
              <a:t>the heap using </a:t>
            </a:r>
            <a:r>
              <a:rPr lang="en-US" sz="2400" dirty="0" err="1" smtClean="0"/>
              <a:t>fixHeap</a:t>
            </a:r>
            <a:r>
              <a:rPr lang="en-US" sz="2400" dirty="0" smtClean="0"/>
              <a:t>. </a:t>
            </a:r>
          </a:p>
          <a:p>
            <a:pPr lvl="1"/>
            <a:r>
              <a:rPr lang="en-US" sz="2400" dirty="0" smtClean="0"/>
              <a:t>Continue in this fashion until all the </a:t>
            </a:r>
            <a:r>
              <a:rPr lang="en-US" sz="2400" i="1" dirty="0" smtClean="0">
                <a:solidFill>
                  <a:srgbClr val="FF0000"/>
                </a:solidFill>
              </a:rPr>
              <a:t>k</a:t>
            </a:r>
            <a:r>
              <a:rPr lang="en-US" sz="2400" dirty="0" smtClean="0"/>
              <a:t> lists have been exhausted. </a:t>
            </a:r>
          </a:p>
          <a:p>
            <a:pPr lvl="1">
              <a:buNone/>
            </a:pPr>
            <a:r>
              <a:rPr lang="en-US" sz="2400" b="1" dirty="0" smtClean="0"/>
              <a:t>Analysis</a:t>
            </a:r>
            <a:r>
              <a:rPr lang="en-US" sz="2400" dirty="0" smtClean="0"/>
              <a:t>: For one element, an insertion using </a:t>
            </a:r>
            <a:r>
              <a:rPr lang="en-US" sz="2400" dirty="0" err="1" smtClean="0"/>
              <a:t>fixHeap</a:t>
            </a:r>
            <a:r>
              <a:rPr lang="en-US" sz="2400" dirty="0" smtClean="0"/>
              <a:t> takes time </a:t>
            </a:r>
            <a:r>
              <a:rPr lang="en-US" sz="2400" i="1" dirty="0" smtClean="0">
                <a:solidFill>
                  <a:srgbClr val="FF0000"/>
                </a:solidFill>
              </a:rPr>
              <a:t>O</a:t>
            </a:r>
            <a:r>
              <a:rPr lang="en-US" sz="2400" dirty="0" smtClean="0">
                <a:solidFill>
                  <a:srgbClr val="FF0000"/>
                </a:solidFill>
              </a:rPr>
              <a:t>(log</a:t>
            </a:r>
            <a:r>
              <a:rPr lang="en-US" sz="2400" baseline="-25000" dirty="0" smtClean="0">
                <a:solidFill>
                  <a:srgbClr val="FF0000"/>
                </a:solidFill>
              </a:rPr>
              <a:t>2</a:t>
            </a:r>
            <a:r>
              <a:rPr lang="en-US" sz="2400" i="1" dirty="0" smtClean="0">
                <a:solidFill>
                  <a:srgbClr val="FF0000"/>
                </a:solidFill>
              </a:rPr>
              <a:t>k</a:t>
            </a:r>
            <a:r>
              <a:rPr lang="en-US" sz="2400" dirty="0" smtClean="0">
                <a:solidFill>
                  <a:srgbClr val="FF0000"/>
                </a:solidFill>
              </a:rPr>
              <a:t>)</a:t>
            </a:r>
            <a:r>
              <a:rPr lang="en-US" sz="2400" dirty="0" smtClean="0"/>
              <a:t>, hence for the </a:t>
            </a:r>
            <a:r>
              <a:rPr lang="en-US" sz="2400" i="1" dirty="0" smtClean="0">
                <a:solidFill>
                  <a:srgbClr val="FF0000"/>
                </a:solidFill>
              </a:rPr>
              <a:t>n</a:t>
            </a:r>
            <a:r>
              <a:rPr lang="en-US" sz="2400" dirty="0" smtClean="0"/>
              <a:t> elements the running time is </a:t>
            </a:r>
            <a:r>
              <a:rPr lang="en-US" sz="2400" i="1" dirty="0" smtClean="0">
                <a:solidFill>
                  <a:srgbClr val="FF0000"/>
                </a:solidFill>
              </a:rPr>
              <a:t>O</a:t>
            </a:r>
            <a:r>
              <a:rPr lang="en-US" sz="2400" dirty="0" smtClean="0">
                <a:solidFill>
                  <a:srgbClr val="FF0000"/>
                </a:solidFill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</a:rPr>
              <a:t>n</a:t>
            </a:r>
            <a:r>
              <a:rPr lang="en-US" sz="2400" dirty="0" smtClean="0">
                <a:solidFill>
                  <a:srgbClr val="FF0000"/>
                </a:solidFill>
              </a:rPr>
              <a:t>log</a:t>
            </a:r>
            <a:r>
              <a:rPr lang="en-US" sz="2400" baseline="-25000" dirty="0" smtClean="0">
                <a:solidFill>
                  <a:srgbClr val="FF0000"/>
                </a:solidFill>
              </a:rPr>
              <a:t>2</a:t>
            </a:r>
            <a:r>
              <a:rPr lang="en-US" sz="2400" i="1" dirty="0" smtClean="0">
                <a:solidFill>
                  <a:srgbClr val="FF0000"/>
                </a:solidFill>
              </a:rPr>
              <a:t>k</a:t>
            </a:r>
            <a:r>
              <a:rPr lang="en-US" sz="2400" dirty="0" smtClean="0">
                <a:solidFill>
                  <a:srgbClr val="FF0000"/>
                </a:solidFill>
              </a:rPr>
              <a:t>)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r>
              <a:rPr lang="en-US" dirty="0" smtClean="0"/>
              <a:t>Example:</a:t>
            </a:r>
          </a:p>
          <a:p>
            <a:pPr lvl="1"/>
            <a:r>
              <a:rPr lang="en-US" sz="2400" dirty="0" smtClean="0"/>
              <a:t>Input: 3 sorted arrays</a:t>
            </a:r>
          </a:p>
          <a:p>
            <a:pPr lvl="1"/>
            <a:r>
              <a:rPr lang="en-US" sz="2400" dirty="0" smtClean="0"/>
              <a:t>Output: A merged list </a:t>
            </a:r>
            <a:r>
              <a:rPr lang="en-US" sz="2400" i="1" dirty="0" smtClean="0"/>
              <a:t>M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43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24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905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86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19200" y="2590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524000" y="2590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05000" y="25908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86000" y="2590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143000" y="3429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524000" y="3429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905000" y="3429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219200" y="3429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524000" y="3429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905000" y="34290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048000" y="3429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1143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524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905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286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667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219200" y="4343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524000" y="4343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1905000" y="43434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2286000" y="4343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743200" y="4343400"/>
            <a:ext cx="228600" cy="36933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1143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524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905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286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667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048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1905000" y="53340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2743200" y="5334000"/>
            <a:ext cx="228600" cy="36933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30480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3429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810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191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4572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953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5334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4191000" y="53340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5029200" y="5334000"/>
            <a:ext cx="228600" cy="36933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53340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457200" y="2590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A</a:t>
            </a:r>
            <a:r>
              <a:rPr lang="en-US" baseline="-25000" dirty="0" smtClean="0"/>
              <a:t>1</a:t>
            </a:r>
            <a:endParaRPr lang="en-US" baseline="-25000" dirty="0"/>
          </a:p>
        </p:txBody>
      </p:sp>
      <p:sp>
        <p:nvSpPr>
          <p:cNvPr id="66" name="TextBox 65"/>
          <p:cNvSpPr txBox="1"/>
          <p:nvPr/>
        </p:nvSpPr>
        <p:spPr>
          <a:xfrm>
            <a:off x="457200" y="3429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A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sp>
        <p:nvSpPr>
          <p:cNvPr id="67" name="TextBox 66"/>
          <p:cNvSpPr txBox="1"/>
          <p:nvPr/>
        </p:nvSpPr>
        <p:spPr>
          <a:xfrm>
            <a:off x="457200" y="4343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A</a:t>
            </a:r>
            <a:r>
              <a:rPr lang="en-US" baseline="-25000" dirty="0" smtClean="0"/>
              <a:t>3</a:t>
            </a:r>
            <a:endParaRPr lang="en-US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457200" y="5334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M</a:t>
            </a:r>
            <a:endParaRPr lang="en-US" i="1" dirty="0"/>
          </a:p>
        </p:txBody>
      </p:sp>
      <p:grpSp>
        <p:nvGrpSpPr>
          <p:cNvPr id="111" name="Group 110"/>
          <p:cNvGrpSpPr/>
          <p:nvPr/>
        </p:nvGrpSpPr>
        <p:grpSpPr>
          <a:xfrm>
            <a:off x="5065712" y="3048000"/>
            <a:ext cx="2093914" cy="1066800"/>
            <a:chOff x="5065712" y="3048000"/>
            <a:chExt cx="2093914" cy="1066800"/>
          </a:xfrm>
        </p:grpSpPr>
        <p:sp>
          <p:nvSpPr>
            <p:cNvPr id="75" name="Oval 74"/>
            <p:cNvSpPr>
              <a:spLocks noChangeArrowheads="1"/>
            </p:cNvSpPr>
            <p:nvPr/>
          </p:nvSpPr>
          <p:spPr bwMode="gray">
            <a:xfrm>
              <a:off x="5751513" y="30480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6" name="Text Box 5"/>
            <p:cNvSpPr txBox="1">
              <a:spLocks noChangeArrowheads="1"/>
            </p:cNvSpPr>
            <p:nvPr/>
          </p:nvSpPr>
          <p:spPr bwMode="gray">
            <a:xfrm>
              <a:off x="5791200" y="30480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9</a:t>
              </a:r>
              <a:endParaRPr lang="en-US" sz="2000" dirty="0" smtClean="0"/>
            </a:p>
          </p:txBody>
        </p:sp>
        <p:sp>
          <p:nvSpPr>
            <p:cNvPr id="77" name="Oval 76"/>
            <p:cNvSpPr>
              <a:spLocks noChangeArrowheads="1"/>
            </p:cNvSpPr>
            <p:nvPr/>
          </p:nvSpPr>
          <p:spPr bwMode="gray">
            <a:xfrm>
              <a:off x="5065712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8" name="Text Box 7"/>
            <p:cNvSpPr txBox="1">
              <a:spLocks noChangeArrowheads="1"/>
            </p:cNvSpPr>
            <p:nvPr/>
          </p:nvSpPr>
          <p:spPr bwMode="gray">
            <a:xfrm>
              <a:off x="5105400" y="36576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4</a:t>
              </a:r>
              <a:endParaRPr lang="en-US" dirty="0"/>
            </a:p>
          </p:txBody>
        </p:sp>
        <p:sp>
          <p:nvSpPr>
            <p:cNvPr id="79" name="Oval 78"/>
            <p:cNvSpPr>
              <a:spLocks noChangeArrowheads="1"/>
            </p:cNvSpPr>
            <p:nvPr/>
          </p:nvSpPr>
          <p:spPr bwMode="gray">
            <a:xfrm>
              <a:off x="6702426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80" name="Text Box 9"/>
            <p:cNvSpPr txBox="1">
              <a:spLocks noChangeArrowheads="1"/>
            </p:cNvSpPr>
            <p:nvPr/>
          </p:nvSpPr>
          <p:spPr bwMode="gray">
            <a:xfrm>
              <a:off x="6742113" y="3657600"/>
              <a:ext cx="314325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8</a:t>
              </a:r>
              <a:endParaRPr lang="en-US" dirty="0"/>
            </a:p>
          </p:txBody>
        </p:sp>
        <p:sp>
          <p:nvSpPr>
            <p:cNvPr id="93" name="Line 22"/>
            <p:cNvSpPr>
              <a:spLocks noChangeShapeType="1"/>
            </p:cNvSpPr>
            <p:nvPr/>
          </p:nvSpPr>
          <p:spPr bwMode="gray">
            <a:xfrm flipH="1">
              <a:off x="5446713" y="3429000"/>
              <a:ext cx="3810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98" name="Line 27"/>
            <p:cNvSpPr>
              <a:spLocks noChangeShapeType="1"/>
            </p:cNvSpPr>
            <p:nvPr/>
          </p:nvSpPr>
          <p:spPr bwMode="gray">
            <a:xfrm>
              <a:off x="6208713" y="3352800"/>
              <a:ext cx="5334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</p:grpSp>
      <p:sp>
        <p:nvSpPr>
          <p:cNvPr id="110" name="Right Arrow 109"/>
          <p:cNvSpPr/>
          <p:nvPr/>
        </p:nvSpPr>
        <p:spPr>
          <a:xfrm>
            <a:off x="3810000" y="34290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/>
          <p:cNvSpPr/>
          <p:nvPr/>
        </p:nvSpPr>
        <p:spPr>
          <a:xfrm>
            <a:off x="1219200" y="2362200"/>
            <a:ext cx="152400" cy="2286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Down Arrow 112"/>
          <p:cNvSpPr/>
          <p:nvPr/>
        </p:nvSpPr>
        <p:spPr>
          <a:xfrm>
            <a:off x="1219200" y="3200400"/>
            <a:ext cx="152400" cy="2286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/>
          <p:cNvSpPr/>
          <p:nvPr/>
        </p:nvSpPr>
        <p:spPr>
          <a:xfrm>
            <a:off x="1219200" y="4114800"/>
            <a:ext cx="152400" cy="2286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r>
              <a:rPr lang="en-US" sz="2000" dirty="0" smtClean="0"/>
              <a:t>Use </a:t>
            </a:r>
            <a:r>
              <a:rPr lang="en-US" sz="2000" dirty="0" err="1" smtClean="0"/>
              <a:t>getMax</a:t>
            </a:r>
            <a:r>
              <a:rPr lang="en-US" sz="2000" dirty="0" smtClean="0"/>
              <a:t>() to obtain the maximum element from the heap and append it at the end the merged list. Suppose this merged element was originally from the </a:t>
            </a:r>
            <a:r>
              <a:rPr lang="en-US" sz="2000" i="1" dirty="0" err="1" smtClean="0"/>
              <a:t>j</a:t>
            </a:r>
            <a:r>
              <a:rPr lang="en-US" sz="2000" dirty="0" err="1" smtClean="0"/>
              <a:t>th</a:t>
            </a:r>
            <a:r>
              <a:rPr lang="en-US" sz="2000" dirty="0" smtClean="0"/>
              <a:t> list. Then, insert the element at the </a:t>
            </a:r>
            <a:r>
              <a:rPr lang="en-US" sz="2000" i="1" dirty="0" smtClean="0"/>
              <a:t>next</a:t>
            </a:r>
            <a:r>
              <a:rPr lang="en-US" sz="2000" dirty="0" smtClean="0"/>
              <a:t> position of the </a:t>
            </a:r>
            <a:r>
              <a:rPr lang="en-US" sz="2000" i="1" dirty="0" err="1" smtClean="0"/>
              <a:t>j</a:t>
            </a:r>
            <a:r>
              <a:rPr lang="en-US" sz="2000" dirty="0" err="1" smtClean="0"/>
              <a:t>th</a:t>
            </a:r>
            <a:r>
              <a:rPr lang="en-US" sz="2000" dirty="0" smtClean="0"/>
              <a:t> list into the heap.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43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24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905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86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19200" y="2590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524000" y="2590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05000" y="25908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86000" y="2590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143000" y="3429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524000" y="3429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905000" y="3429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219200" y="3429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524000" y="3429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905000" y="34290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048000" y="3429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1143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524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905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286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667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219200" y="4343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524000" y="4343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1905000" y="43434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2286000" y="4343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743200" y="4343400"/>
            <a:ext cx="228600" cy="36933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1143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524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905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286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667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048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1905000" y="53340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2743200" y="5334000"/>
            <a:ext cx="228600" cy="36933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30480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3429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810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191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4572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953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5334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4191000" y="53340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5029200" y="5334000"/>
            <a:ext cx="228600" cy="36933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53340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457200" y="2590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A</a:t>
            </a:r>
            <a:r>
              <a:rPr lang="en-US" baseline="-25000" dirty="0" smtClean="0"/>
              <a:t>1</a:t>
            </a:r>
            <a:endParaRPr lang="en-US" baseline="-25000" dirty="0"/>
          </a:p>
        </p:txBody>
      </p:sp>
      <p:sp>
        <p:nvSpPr>
          <p:cNvPr id="66" name="TextBox 65"/>
          <p:cNvSpPr txBox="1"/>
          <p:nvPr/>
        </p:nvSpPr>
        <p:spPr>
          <a:xfrm>
            <a:off x="457200" y="3429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A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sp>
        <p:nvSpPr>
          <p:cNvPr id="67" name="TextBox 66"/>
          <p:cNvSpPr txBox="1"/>
          <p:nvPr/>
        </p:nvSpPr>
        <p:spPr>
          <a:xfrm>
            <a:off x="457200" y="4343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A</a:t>
            </a:r>
            <a:r>
              <a:rPr lang="en-US" baseline="-25000" dirty="0" smtClean="0"/>
              <a:t>3</a:t>
            </a:r>
            <a:endParaRPr lang="en-US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457200" y="5334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M</a:t>
            </a:r>
            <a:endParaRPr lang="en-US" i="1" dirty="0"/>
          </a:p>
        </p:txBody>
      </p:sp>
      <p:grpSp>
        <p:nvGrpSpPr>
          <p:cNvPr id="2" name="Group 110"/>
          <p:cNvGrpSpPr/>
          <p:nvPr/>
        </p:nvGrpSpPr>
        <p:grpSpPr>
          <a:xfrm>
            <a:off x="4343400" y="2590800"/>
            <a:ext cx="2093914" cy="1066800"/>
            <a:chOff x="5065712" y="3048000"/>
            <a:chExt cx="2093914" cy="1066800"/>
          </a:xfrm>
        </p:grpSpPr>
        <p:sp>
          <p:nvSpPr>
            <p:cNvPr id="75" name="Oval 74"/>
            <p:cNvSpPr>
              <a:spLocks noChangeArrowheads="1"/>
            </p:cNvSpPr>
            <p:nvPr/>
          </p:nvSpPr>
          <p:spPr bwMode="gray">
            <a:xfrm>
              <a:off x="5751513" y="30480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6" name="Text Box 5"/>
            <p:cNvSpPr txBox="1">
              <a:spLocks noChangeArrowheads="1"/>
            </p:cNvSpPr>
            <p:nvPr/>
          </p:nvSpPr>
          <p:spPr bwMode="gray">
            <a:xfrm>
              <a:off x="5791200" y="30480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endParaRPr lang="en-US" sz="2000" dirty="0" smtClean="0"/>
            </a:p>
          </p:txBody>
        </p:sp>
        <p:sp>
          <p:nvSpPr>
            <p:cNvPr id="77" name="Oval 76"/>
            <p:cNvSpPr>
              <a:spLocks noChangeArrowheads="1"/>
            </p:cNvSpPr>
            <p:nvPr/>
          </p:nvSpPr>
          <p:spPr bwMode="gray">
            <a:xfrm>
              <a:off x="5065712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8" name="Text Box 7"/>
            <p:cNvSpPr txBox="1">
              <a:spLocks noChangeArrowheads="1"/>
            </p:cNvSpPr>
            <p:nvPr/>
          </p:nvSpPr>
          <p:spPr bwMode="gray">
            <a:xfrm>
              <a:off x="5105400" y="36576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4</a:t>
              </a:r>
              <a:endParaRPr lang="en-US" dirty="0"/>
            </a:p>
          </p:txBody>
        </p:sp>
        <p:sp>
          <p:nvSpPr>
            <p:cNvPr id="79" name="Oval 78"/>
            <p:cNvSpPr>
              <a:spLocks noChangeArrowheads="1"/>
            </p:cNvSpPr>
            <p:nvPr/>
          </p:nvSpPr>
          <p:spPr bwMode="gray">
            <a:xfrm>
              <a:off x="6702426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80" name="Text Box 9"/>
            <p:cNvSpPr txBox="1">
              <a:spLocks noChangeArrowheads="1"/>
            </p:cNvSpPr>
            <p:nvPr/>
          </p:nvSpPr>
          <p:spPr bwMode="gray">
            <a:xfrm>
              <a:off x="6742113" y="3657600"/>
              <a:ext cx="314325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8</a:t>
              </a:r>
              <a:endParaRPr lang="en-US" dirty="0"/>
            </a:p>
          </p:txBody>
        </p:sp>
        <p:sp>
          <p:nvSpPr>
            <p:cNvPr id="93" name="Line 22"/>
            <p:cNvSpPr>
              <a:spLocks noChangeShapeType="1"/>
            </p:cNvSpPr>
            <p:nvPr/>
          </p:nvSpPr>
          <p:spPr bwMode="gray">
            <a:xfrm flipH="1">
              <a:off x="5446713" y="3429000"/>
              <a:ext cx="3810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98" name="Line 27"/>
            <p:cNvSpPr>
              <a:spLocks noChangeShapeType="1"/>
            </p:cNvSpPr>
            <p:nvPr/>
          </p:nvSpPr>
          <p:spPr bwMode="gray">
            <a:xfrm>
              <a:off x="6208713" y="3352800"/>
              <a:ext cx="5334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</p:grpSp>
      <p:sp>
        <p:nvSpPr>
          <p:cNvPr id="110" name="Right Arrow 109"/>
          <p:cNvSpPr/>
          <p:nvPr/>
        </p:nvSpPr>
        <p:spPr>
          <a:xfrm>
            <a:off x="3352800" y="31242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/>
          <p:cNvSpPr/>
          <p:nvPr/>
        </p:nvSpPr>
        <p:spPr>
          <a:xfrm>
            <a:off x="1600200" y="2362200"/>
            <a:ext cx="152400" cy="2286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Down Arrow 112"/>
          <p:cNvSpPr/>
          <p:nvPr/>
        </p:nvSpPr>
        <p:spPr>
          <a:xfrm>
            <a:off x="1219200" y="3200400"/>
            <a:ext cx="152400" cy="2286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/>
          <p:cNvSpPr/>
          <p:nvPr/>
        </p:nvSpPr>
        <p:spPr>
          <a:xfrm>
            <a:off x="1219200" y="4114800"/>
            <a:ext cx="152400" cy="2286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12192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5410200" y="2209800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Insert 7</a:t>
            </a:r>
            <a:endParaRPr lang="en-US" dirty="0"/>
          </a:p>
        </p:txBody>
      </p:sp>
      <p:grpSp>
        <p:nvGrpSpPr>
          <p:cNvPr id="71" name="Group 110"/>
          <p:cNvGrpSpPr/>
          <p:nvPr/>
        </p:nvGrpSpPr>
        <p:grpSpPr>
          <a:xfrm>
            <a:off x="6400800" y="4267200"/>
            <a:ext cx="2093914" cy="1066800"/>
            <a:chOff x="5065712" y="3048000"/>
            <a:chExt cx="2093914" cy="1066800"/>
          </a:xfrm>
        </p:grpSpPr>
        <p:sp>
          <p:nvSpPr>
            <p:cNvPr id="72" name="Oval 71"/>
            <p:cNvSpPr>
              <a:spLocks noChangeArrowheads="1"/>
            </p:cNvSpPr>
            <p:nvPr/>
          </p:nvSpPr>
          <p:spPr bwMode="gray">
            <a:xfrm>
              <a:off x="5751513" y="30480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3" name="Text Box 5"/>
            <p:cNvSpPr txBox="1">
              <a:spLocks noChangeArrowheads="1"/>
            </p:cNvSpPr>
            <p:nvPr/>
          </p:nvSpPr>
          <p:spPr bwMode="gray">
            <a:xfrm>
              <a:off x="5791200" y="30480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endParaRPr lang="en-US" sz="2000" dirty="0" smtClean="0"/>
            </a:p>
          </p:txBody>
        </p:sp>
        <p:sp>
          <p:nvSpPr>
            <p:cNvPr id="74" name="Oval 73"/>
            <p:cNvSpPr>
              <a:spLocks noChangeArrowheads="1"/>
            </p:cNvSpPr>
            <p:nvPr/>
          </p:nvSpPr>
          <p:spPr bwMode="gray">
            <a:xfrm>
              <a:off x="5065712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81" name="Text Box 7"/>
            <p:cNvSpPr txBox="1">
              <a:spLocks noChangeArrowheads="1"/>
            </p:cNvSpPr>
            <p:nvPr/>
          </p:nvSpPr>
          <p:spPr bwMode="gray">
            <a:xfrm>
              <a:off x="5105400" y="36576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4</a:t>
              </a:r>
              <a:endParaRPr lang="en-US" dirty="0"/>
            </a:p>
          </p:txBody>
        </p:sp>
        <p:sp>
          <p:nvSpPr>
            <p:cNvPr id="82" name="Oval 81"/>
            <p:cNvSpPr>
              <a:spLocks noChangeArrowheads="1"/>
            </p:cNvSpPr>
            <p:nvPr/>
          </p:nvSpPr>
          <p:spPr bwMode="gray">
            <a:xfrm>
              <a:off x="6702426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83" name="Text Box 9"/>
            <p:cNvSpPr txBox="1">
              <a:spLocks noChangeArrowheads="1"/>
            </p:cNvSpPr>
            <p:nvPr/>
          </p:nvSpPr>
          <p:spPr bwMode="gray">
            <a:xfrm>
              <a:off x="6742113" y="3657600"/>
              <a:ext cx="314325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7</a:t>
              </a:r>
              <a:endParaRPr lang="en-US" dirty="0"/>
            </a:p>
          </p:txBody>
        </p:sp>
        <p:sp>
          <p:nvSpPr>
            <p:cNvPr id="84" name="Line 22"/>
            <p:cNvSpPr>
              <a:spLocks noChangeShapeType="1"/>
            </p:cNvSpPr>
            <p:nvPr/>
          </p:nvSpPr>
          <p:spPr bwMode="gray">
            <a:xfrm flipH="1">
              <a:off x="5446713" y="3429000"/>
              <a:ext cx="3810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85" name="Line 27"/>
            <p:cNvSpPr>
              <a:spLocks noChangeShapeType="1"/>
            </p:cNvSpPr>
            <p:nvPr/>
          </p:nvSpPr>
          <p:spPr bwMode="gray">
            <a:xfrm>
              <a:off x="6208713" y="3352800"/>
              <a:ext cx="5334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</p:grpSp>
      <p:sp>
        <p:nvSpPr>
          <p:cNvPr id="87" name="Text Box 9"/>
          <p:cNvSpPr txBox="1">
            <a:spLocks noChangeArrowheads="1"/>
          </p:cNvSpPr>
          <p:nvPr/>
        </p:nvSpPr>
        <p:spPr bwMode="gray">
          <a:xfrm>
            <a:off x="7162800" y="4267200"/>
            <a:ext cx="314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sz="2000" dirty="0" smtClean="0">
                <a:solidFill>
                  <a:srgbClr val="000099"/>
                </a:solidFill>
              </a:rPr>
              <a:t>8</a:t>
            </a:r>
            <a:endParaRPr lang="en-US" dirty="0"/>
          </a:p>
        </p:txBody>
      </p:sp>
      <p:sp>
        <p:nvSpPr>
          <p:cNvPr id="88" name="Right Arrow 87"/>
          <p:cNvSpPr/>
          <p:nvPr/>
        </p:nvSpPr>
        <p:spPr>
          <a:xfrm rot="2060566">
            <a:off x="5908452" y="406793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r>
              <a:rPr lang="en-US" sz="2000" dirty="0" smtClean="0"/>
              <a:t>Use </a:t>
            </a:r>
            <a:r>
              <a:rPr lang="en-US" sz="2000" dirty="0" err="1" smtClean="0"/>
              <a:t>getMax</a:t>
            </a:r>
            <a:r>
              <a:rPr lang="en-US" sz="2000" dirty="0" smtClean="0"/>
              <a:t>() to obtain the maximum element from the heap and append it at the end the merged list. Suppose this merged element was originally from the </a:t>
            </a:r>
            <a:r>
              <a:rPr lang="en-US" sz="2000" i="1" dirty="0" err="1" smtClean="0"/>
              <a:t>j</a:t>
            </a:r>
            <a:r>
              <a:rPr lang="en-US" sz="2000" dirty="0" err="1" smtClean="0"/>
              <a:t>th</a:t>
            </a:r>
            <a:r>
              <a:rPr lang="en-US" sz="2000" dirty="0" smtClean="0"/>
              <a:t> list. Then, insert the element at the </a:t>
            </a:r>
            <a:r>
              <a:rPr lang="en-US" sz="2000" i="1" dirty="0" smtClean="0"/>
              <a:t>next</a:t>
            </a:r>
            <a:r>
              <a:rPr lang="en-US" sz="2000" dirty="0" smtClean="0"/>
              <a:t> position of the </a:t>
            </a:r>
            <a:r>
              <a:rPr lang="en-US" sz="2000" i="1" dirty="0" err="1" smtClean="0"/>
              <a:t>j</a:t>
            </a:r>
            <a:r>
              <a:rPr lang="en-US" sz="2000" dirty="0" err="1" smtClean="0"/>
              <a:t>th</a:t>
            </a:r>
            <a:r>
              <a:rPr lang="en-US" sz="2000" dirty="0" smtClean="0"/>
              <a:t> list into the heap.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43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24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905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86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19200" y="2590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524000" y="2590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05000" y="25908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86000" y="2590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143000" y="3429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524000" y="3429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905000" y="3429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219200" y="3429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524000" y="3429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905000" y="34290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048000" y="3429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1143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524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905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286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667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219200" y="4343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524000" y="4343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1905000" y="43434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2286000" y="4343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743200" y="4343400"/>
            <a:ext cx="228600" cy="36933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1143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524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905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286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667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048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1905000" y="53340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2743200" y="5334000"/>
            <a:ext cx="228600" cy="36933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30480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3429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810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191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4572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953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5334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4191000" y="53340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5029200" y="5334000"/>
            <a:ext cx="228600" cy="36933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53340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457200" y="2590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A</a:t>
            </a:r>
            <a:r>
              <a:rPr lang="en-US" baseline="-25000" dirty="0" smtClean="0"/>
              <a:t>1</a:t>
            </a:r>
            <a:endParaRPr lang="en-US" baseline="-25000" dirty="0"/>
          </a:p>
        </p:txBody>
      </p:sp>
      <p:sp>
        <p:nvSpPr>
          <p:cNvPr id="66" name="TextBox 65"/>
          <p:cNvSpPr txBox="1"/>
          <p:nvPr/>
        </p:nvSpPr>
        <p:spPr>
          <a:xfrm>
            <a:off x="457200" y="3429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A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sp>
        <p:nvSpPr>
          <p:cNvPr id="67" name="TextBox 66"/>
          <p:cNvSpPr txBox="1"/>
          <p:nvPr/>
        </p:nvSpPr>
        <p:spPr>
          <a:xfrm>
            <a:off x="457200" y="4343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A</a:t>
            </a:r>
            <a:r>
              <a:rPr lang="en-US" baseline="-25000" dirty="0" smtClean="0"/>
              <a:t>3</a:t>
            </a:r>
            <a:endParaRPr lang="en-US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457200" y="5334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M</a:t>
            </a:r>
            <a:endParaRPr lang="en-US" i="1" dirty="0"/>
          </a:p>
        </p:txBody>
      </p:sp>
      <p:grpSp>
        <p:nvGrpSpPr>
          <p:cNvPr id="2" name="Group 110"/>
          <p:cNvGrpSpPr/>
          <p:nvPr/>
        </p:nvGrpSpPr>
        <p:grpSpPr>
          <a:xfrm>
            <a:off x="4038600" y="2743200"/>
            <a:ext cx="2093914" cy="1066800"/>
            <a:chOff x="5065712" y="3048000"/>
            <a:chExt cx="2093914" cy="1066800"/>
          </a:xfrm>
        </p:grpSpPr>
        <p:sp>
          <p:nvSpPr>
            <p:cNvPr id="75" name="Oval 74"/>
            <p:cNvSpPr>
              <a:spLocks noChangeArrowheads="1"/>
            </p:cNvSpPr>
            <p:nvPr/>
          </p:nvSpPr>
          <p:spPr bwMode="gray">
            <a:xfrm>
              <a:off x="5751513" y="30480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6" name="Text Box 5"/>
            <p:cNvSpPr txBox="1">
              <a:spLocks noChangeArrowheads="1"/>
            </p:cNvSpPr>
            <p:nvPr/>
          </p:nvSpPr>
          <p:spPr bwMode="gray">
            <a:xfrm>
              <a:off x="5791200" y="30480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endParaRPr lang="en-US" sz="2000" dirty="0" smtClean="0"/>
            </a:p>
          </p:txBody>
        </p:sp>
        <p:sp>
          <p:nvSpPr>
            <p:cNvPr id="77" name="Oval 76"/>
            <p:cNvSpPr>
              <a:spLocks noChangeArrowheads="1"/>
            </p:cNvSpPr>
            <p:nvPr/>
          </p:nvSpPr>
          <p:spPr bwMode="gray">
            <a:xfrm>
              <a:off x="5065712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8" name="Text Box 7"/>
            <p:cNvSpPr txBox="1">
              <a:spLocks noChangeArrowheads="1"/>
            </p:cNvSpPr>
            <p:nvPr/>
          </p:nvSpPr>
          <p:spPr bwMode="gray">
            <a:xfrm>
              <a:off x="5105400" y="36576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4</a:t>
              </a:r>
              <a:endParaRPr lang="en-US" dirty="0"/>
            </a:p>
          </p:txBody>
        </p:sp>
        <p:sp>
          <p:nvSpPr>
            <p:cNvPr id="79" name="Oval 78"/>
            <p:cNvSpPr>
              <a:spLocks noChangeArrowheads="1"/>
            </p:cNvSpPr>
            <p:nvPr/>
          </p:nvSpPr>
          <p:spPr bwMode="gray">
            <a:xfrm>
              <a:off x="6702426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80" name="Text Box 9"/>
            <p:cNvSpPr txBox="1">
              <a:spLocks noChangeArrowheads="1"/>
            </p:cNvSpPr>
            <p:nvPr/>
          </p:nvSpPr>
          <p:spPr bwMode="gray">
            <a:xfrm>
              <a:off x="6742113" y="3657600"/>
              <a:ext cx="314325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7</a:t>
              </a:r>
              <a:endParaRPr lang="en-US" dirty="0"/>
            </a:p>
          </p:txBody>
        </p:sp>
        <p:sp>
          <p:nvSpPr>
            <p:cNvPr id="93" name="Line 22"/>
            <p:cNvSpPr>
              <a:spLocks noChangeShapeType="1"/>
            </p:cNvSpPr>
            <p:nvPr/>
          </p:nvSpPr>
          <p:spPr bwMode="gray">
            <a:xfrm flipH="1">
              <a:off x="5446713" y="3429000"/>
              <a:ext cx="3810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98" name="Line 27"/>
            <p:cNvSpPr>
              <a:spLocks noChangeShapeType="1"/>
            </p:cNvSpPr>
            <p:nvPr/>
          </p:nvSpPr>
          <p:spPr bwMode="gray">
            <a:xfrm>
              <a:off x="6208713" y="3352800"/>
              <a:ext cx="5334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</p:grpSp>
      <p:sp>
        <p:nvSpPr>
          <p:cNvPr id="110" name="Right Arrow 109"/>
          <p:cNvSpPr/>
          <p:nvPr/>
        </p:nvSpPr>
        <p:spPr>
          <a:xfrm>
            <a:off x="3048000" y="32004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/>
          <p:cNvSpPr/>
          <p:nvPr/>
        </p:nvSpPr>
        <p:spPr>
          <a:xfrm>
            <a:off x="1600200" y="2362200"/>
            <a:ext cx="152400" cy="2286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Down Arrow 112"/>
          <p:cNvSpPr/>
          <p:nvPr/>
        </p:nvSpPr>
        <p:spPr>
          <a:xfrm>
            <a:off x="1219200" y="3200400"/>
            <a:ext cx="152400" cy="2286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/>
          <p:cNvSpPr/>
          <p:nvPr/>
        </p:nvSpPr>
        <p:spPr>
          <a:xfrm>
            <a:off x="1600200" y="4114800"/>
            <a:ext cx="152400" cy="2286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12192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5105400" y="2362200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Insert 6</a:t>
            </a:r>
            <a:endParaRPr lang="en-US" dirty="0"/>
          </a:p>
        </p:txBody>
      </p:sp>
      <p:grpSp>
        <p:nvGrpSpPr>
          <p:cNvPr id="4" name="Group 110"/>
          <p:cNvGrpSpPr/>
          <p:nvPr/>
        </p:nvGrpSpPr>
        <p:grpSpPr>
          <a:xfrm>
            <a:off x="6400800" y="4267200"/>
            <a:ext cx="2093914" cy="1066800"/>
            <a:chOff x="5065712" y="3048000"/>
            <a:chExt cx="2093914" cy="1066800"/>
          </a:xfrm>
        </p:grpSpPr>
        <p:sp>
          <p:nvSpPr>
            <p:cNvPr id="72" name="Oval 71"/>
            <p:cNvSpPr>
              <a:spLocks noChangeArrowheads="1"/>
            </p:cNvSpPr>
            <p:nvPr/>
          </p:nvSpPr>
          <p:spPr bwMode="gray">
            <a:xfrm>
              <a:off x="5751513" y="30480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3" name="Text Box 5"/>
            <p:cNvSpPr txBox="1">
              <a:spLocks noChangeArrowheads="1"/>
            </p:cNvSpPr>
            <p:nvPr/>
          </p:nvSpPr>
          <p:spPr bwMode="gray">
            <a:xfrm>
              <a:off x="5791200" y="30480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endParaRPr lang="en-US" sz="2000" dirty="0" smtClean="0"/>
            </a:p>
          </p:txBody>
        </p:sp>
        <p:sp>
          <p:nvSpPr>
            <p:cNvPr id="74" name="Oval 73"/>
            <p:cNvSpPr>
              <a:spLocks noChangeArrowheads="1"/>
            </p:cNvSpPr>
            <p:nvPr/>
          </p:nvSpPr>
          <p:spPr bwMode="gray">
            <a:xfrm>
              <a:off x="5065712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81" name="Text Box 7"/>
            <p:cNvSpPr txBox="1">
              <a:spLocks noChangeArrowheads="1"/>
            </p:cNvSpPr>
            <p:nvPr/>
          </p:nvSpPr>
          <p:spPr bwMode="gray">
            <a:xfrm>
              <a:off x="5105400" y="36576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4</a:t>
              </a:r>
              <a:endParaRPr lang="en-US" dirty="0"/>
            </a:p>
          </p:txBody>
        </p:sp>
        <p:sp>
          <p:nvSpPr>
            <p:cNvPr id="82" name="Oval 81"/>
            <p:cNvSpPr>
              <a:spLocks noChangeArrowheads="1"/>
            </p:cNvSpPr>
            <p:nvPr/>
          </p:nvSpPr>
          <p:spPr bwMode="gray">
            <a:xfrm>
              <a:off x="6702426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83" name="Text Box 9"/>
            <p:cNvSpPr txBox="1">
              <a:spLocks noChangeArrowheads="1"/>
            </p:cNvSpPr>
            <p:nvPr/>
          </p:nvSpPr>
          <p:spPr bwMode="gray">
            <a:xfrm>
              <a:off x="6742113" y="3657600"/>
              <a:ext cx="314325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6</a:t>
              </a:r>
              <a:endParaRPr lang="en-US" dirty="0"/>
            </a:p>
          </p:txBody>
        </p:sp>
        <p:sp>
          <p:nvSpPr>
            <p:cNvPr id="84" name="Line 22"/>
            <p:cNvSpPr>
              <a:spLocks noChangeShapeType="1"/>
            </p:cNvSpPr>
            <p:nvPr/>
          </p:nvSpPr>
          <p:spPr bwMode="gray">
            <a:xfrm flipH="1">
              <a:off x="5446713" y="3429000"/>
              <a:ext cx="3810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85" name="Line 27"/>
            <p:cNvSpPr>
              <a:spLocks noChangeShapeType="1"/>
            </p:cNvSpPr>
            <p:nvPr/>
          </p:nvSpPr>
          <p:spPr bwMode="gray">
            <a:xfrm>
              <a:off x="6208713" y="3352800"/>
              <a:ext cx="5334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</p:grpSp>
      <p:sp>
        <p:nvSpPr>
          <p:cNvPr id="87" name="Text Box 9"/>
          <p:cNvSpPr txBox="1">
            <a:spLocks noChangeArrowheads="1"/>
          </p:cNvSpPr>
          <p:nvPr/>
        </p:nvSpPr>
        <p:spPr bwMode="gray">
          <a:xfrm>
            <a:off x="7162800" y="4267200"/>
            <a:ext cx="314325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sz="2000" dirty="0" smtClean="0">
                <a:solidFill>
                  <a:srgbClr val="000099"/>
                </a:solidFill>
              </a:rPr>
              <a:t>7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16002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88" name="Right Arrow 87"/>
          <p:cNvSpPr/>
          <p:nvPr/>
        </p:nvSpPr>
        <p:spPr>
          <a:xfrm rot="2060566">
            <a:off x="5908452" y="406793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r>
              <a:rPr lang="en-US" sz="2000" dirty="0" smtClean="0"/>
              <a:t>Use </a:t>
            </a:r>
            <a:r>
              <a:rPr lang="en-US" sz="2000" dirty="0" err="1" smtClean="0"/>
              <a:t>getMax</a:t>
            </a:r>
            <a:r>
              <a:rPr lang="en-US" sz="2000" dirty="0" smtClean="0"/>
              <a:t>() to obtain the maximum element from the heap and append it at the end the merged list. Suppose this merged element was originally from the </a:t>
            </a:r>
            <a:r>
              <a:rPr lang="en-US" sz="2000" i="1" dirty="0" err="1" smtClean="0"/>
              <a:t>j</a:t>
            </a:r>
            <a:r>
              <a:rPr lang="en-US" sz="2000" dirty="0" err="1" smtClean="0"/>
              <a:t>th</a:t>
            </a:r>
            <a:r>
              <a:rPr lang="en-US" sz="2000" dirty="0" smtClean="0"/>
              <a:t> list. Then, insert the element at the </a:t>
            </a:r>
            <a:r>
              <a:rPr lang="en-US" sz="2000" i="1" dirty="0" smtClean="0"/>
              <a:t>next</a:t>
            </a:r>
            <a:r>
              <a:rPr lang="en-US" sz="2000" dirty="0" smtClean="0"/>
              <a:t> position of the </a:t>
            </a:r>
            <a:r>
              <a:rPr lang="en-US" sz="2000" i="1" dirty="0" err="1" smtClean="0"/>
              <a:t>j</a:t>
            </a:r>
            <a:r>
              <a:rPr lang="en-US" sz="2000" dirty="0" err="1" smtClean="0"/>
              <a:t>th</a:t>
            </a:r>
            <a:r>
              <a:rPr lang="en-US" sz="2000" dirty="0" smtClean="0"/>
              <a:t> list into the heap.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43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24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905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86000" y="25908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19200" y="2590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524000" y="2590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05000" y="25908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86000" y="2590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143000" y="3429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524000" y="3429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905000" y="3429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219200" y="3429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524000" y="3429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905000" y="34290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048000" y="3429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1143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524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905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286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667000" y="43434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219200" y="4343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524000" y="4343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1905000" y="43434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2286000" y="4343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743200" y="4343400"/>
            <a:ext cx="228600" cy="36933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1143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524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905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286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667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048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1905000" y="53340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2743200" y="5334000"/>
            <a:ext cx="228600" cy="36933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30480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3429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810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191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4572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953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5334000" y="5334000"/>
            <a:ext cx="381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4191000" y="5334000"/>
            <a:ext cx="304800" cy="369332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5029200" y="5334000"/>
            <a:ext cx="228600" cy="36933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53340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457200" y="2590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A</a:t>
            </a:r>
            <a:r>
              <a:rPr lang="en-US" baseline="-25000" dirty="0" smtClean="0"/>
              <a:t>1</a:t>
            </a:r>
            <a:endParaRPr lang="en-US" baseline="-25000" dirty="0"/>
          </a:p>
        </p:txBody>
      </p:sp>
      <p:sp>
        <p:nvSpPr>
          <p:cNvPr id="66" name="TextBox 65"/>
          <p:cNvSpPr txBox="1"/>
          <p:nvPr/>
        </p:nvSpPr>
        <p:spPr>
          <a:xfrm>
            <a:off x="457200" y="3429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A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sp>
        <p:nvSpPr>
          <p:cNvPr id="67" name="TextBox 66"/>
          <p:cNvSpPr txBox="1"/>
          <p:nvPr/>
        </p:nvSpPr>
        <p:spPr>
          <a:xfrm>
            <a:off x="457200" y="4343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A</a:t>
            </a:r>
            <a:r>
              <a:rPr lang="en-US" baseline="-25000" dirty="0" smtClean="0"/>
              <a:t>3</a:t>
            </a:r>
            <a:endParaRPr lang="en-US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457200" y="5334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M</a:t>
            </a:r>
            <a:endParaRPr lang="en-US" i="1" dirty="0"/>
          </a:p>
        </p:txBody>
      </p:sp>
      <p:grpSp>
        <p:nvGrpSpPr>
          <p:cNvPr id="2" name="Group 110"/>
          <p:cNvGrpSpPr/>
          <p:nvPr/>
        </p:nvGrpSpPr>
        <p:grpSpPr>
          <a:xfrm>
            <a:off x="4038600" y="2743200"/>
            <a:ext cx="2093914" cy="1066800"/>
            <a:chOff x="5065712" y="3048000"/>
            <a:chExt cx="2093914" cy="1066800"/>
          </a:xfrm>
        </p:grpSpPr>
        <p:sp>
          <p:nvSpPr>
            <p:cNvPr id="75" name="Oval 74"/>
            <p:cNvSpPr>
              <a:spLocks noChangeArrowheads="1"/>
            </p:cNvSpPr>
            <p:nvPr/>
          </p:nvSpPr>
          <p:spPr bwMode="gray">
            <a:xfrm>
              <a:off x="5751513" y="30480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6" name="Text Box 5"/>
            <p:cNvSpPr txBox="1">
              <a:spLocks noChangeArrowheads="1"/>
            </p:cNvSpPr>
            <p:nvPr/>
          </p:nvSpPr>
          <p:spPr bwMode="gray">
            <a:xfrm>
              <a:off x="5791200" y="30480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endParaRPr lang="en-US" sz="2000" dirty="0" smtClean="0"/>
            </a:p>
          </p:txBody>
        </p:sp>
        <p:sp>
          <p:nvSpPr>
            <p:cNvPr id="77" name="Oval 76"/>
            <p:cNvSpPr>
              <a:spLocks noChangeArrowheads="1"/>
            </p:cNvSpPr>
            <p:nvPr/>
          </p:nvSpPr>
          <p:spPr bwMode="gray">
            <a:xfrm>
              <a:off x="5065712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8" name="Text Box 7"/>
            <p:cNvSpPr txBox="1">
              <a:spLocks noChangeArrowheads="1"/>
            </p:cNvSpPr>
            <p:nvPr/>
          </p:nvSpPr>
          <p:spPr bwMode="gray">
            <a:xfrm>
              <a:off x="5105400" y="36576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4</a:t>
              </a:r>
              <a:endParaRPr lang="en-US" dirty="0"/>
            </a:p>
          </p:txBody>
        </p:sp>
        <p:sp>
          <p:nvSpPr>
            <p:cNvPr id="79" name="Oval 78"/>
            <p:cNvSpPr>
              <a:spLocks noChangeArrowheads="1"/>
            </p:cNvSpPr>
            <p:nvPr/>
          </p:nvSpPr>
          <p:spPr bwMode="gray">
            <a:xfrm>
              <a:off x="6702426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80" name="Text Box 9"/>
            <p:cNvSpPr txBox="1">
              <a:spLocks noChangeArrowheads="1"/>
            </p:cNvSpPr>
            <p:nvPr/>
          </p:nvSpPr>
          <p:spPr bwMode="gray">
            <a:xfrm>
              <a:off x="6742113" y="3657600"/>
              <a:ext cx="314325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6</a:t>
              </a:r>
              <a:endParaRPr lang="en-US" dirty="0"/>
            </a:p>
          </p:txBody>
        </p:sp>
        <p:sp>
          <p:nvSpPr>
            <p:cNvPr id="93" name="Line 22"/>
            <p:cNvSpPr>
              <a:spLocks noChangeShapeType="1"/>
            </p:cNvSpPr>
            <p:nvPr/>
          </p:nvSpPr>
          <p:spPr bwMode="gray">
            <a:xfrm flipH="1">
              <a:off x="5446713" y="3429000"/>
              <a:ext cx="3810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98" name="Line 27"/>
            <p:cNvSpPr>
              <a:spLocks noChangeShapeType="1"/>
            </p:cNvSpPr>
            <p:nvPr/>
          </p:nvSpPr>
          <p:spPr bwMode="gray">
            <a:xfrm>
              <a:off x="6208713" y="3352800"/>
              <a:ext cx="5334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</p:grpSp>
      <p:sp>
        <p:nvSpPr>
          <p:cNvPr id="110" name="Right Arrow 109"/>
          <p:cNvSpPr/>
          <p:nvPr/>
        </p:nvSpPr>
        <p:spPr>
          <a:xfrm>
            <a:off x="3048000" y="32004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/>
          <p:cNvSpPr/>
          <p:nvPr/>
        </p:nvSpPr>
        <p:spPr>
          <a:xfrm>
            <a:off x="1981200" y="2362200"/>
            <a:ext cx="152400" cy="2286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Down Arrow 112"/>
          <p:cNvSpPr/>
          <p:nvPr/>
        </p:nvSpPr>
        <p:spPr>
          <a:xfrm>
            <a:off x="1219200" y="3200400"/>
            <a:ext cx="152400" cy="2286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/>
          <p:cNvSpPr/>
          <p:nvPr/>
        </p:nvSpPr>
        <p:spPr>
          <a:xfrm>
            <a:off x="1600200" y="4114800"/>
            <a:ext cx="152400" cy="2286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12192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5105400" y="2362200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Insert 5</a:t>
            </a:r>
            <a:endParaRPr lang="en-US" dirty="0"/>
          </a:p>
        </p:txBody>
      </p:sp>
      <p:grpSp>
        <p:nvGrpSpPr>
          <p:cNvPr id="4" name="Group 110"/>
          <p:cNvGrpSpPr/>
          <p:nvPr/>
        </p:nvGrpSpPr>
        <p:grpSpPr>
          <a:xfrm>
            <a:off x="6400800" y="4267200"/>
            <a:ext cx="2093914" cy="1066800"/>
            <a:chOff x="5065712" y="3048000"/>
            <a:chExt cx="2093914" cy="1066800"/>
          </a:xfrm>
        </p:grpSpPr>
        <p:sp>
          <p:nvSpPr>
            <p:cNvPr id="72" name="Oval 71"/>
            <p:cNvSpPr>
              <a:spLocks noChangeArrowheads="1"/>
            </p:cNvSpPr>
            <p:nvPr/>
          </p:nvSpPr>
          <p:spPr bwMode="gray">
            <a:xfrm>
              <a:off x="5751513" y="30480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3" name="Text Box 5"/>
            <p:cNvSpPr txBox="1">
              <a:spLocks noChangeArrowheads="1"/>
            </p:cNvSpPr>
            <p:nvPr/>
          </p:nvSpPr>
          <p:spPr bwMode="gray">
            <a:xfrm>
              <a:off x="5791200" y="30480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endParaRPr lang="en-US" sz="2000" dirty="0" smtClean="0"/>
            </a:p>
          </p:txBody>
        </p:sp>
        <p:sp>
          <p:nvSpPr>
            <p:cNvPr id="74" name="Oval 73"/>
            <p:cNvSpPr>
              <a:spLocks noChangeArrowheads="1"/>
            </p:cNvSpPr>
            <p:nvPr/>
          </p:nvSpPr>
          <p:spPr bwMode="gray">
            <a:xfrm>
              <a:off x="5065712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81" name="Text Box 7"/>
            <p:cNvSpPr txBox="1">
              <a:spLocks noChangeArrowheads="1"/>
            </p:cNvSpPr>
            <p:nvPr/>
          </p:nvSpPr>
          <p:spPr bwMode="gray">
            <a:xfrm>
              <a:off x="5105400" y="3657600"/>
              <a:ext cx="31418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4</a:t>
              </a:r>
              <a:endParaRPr lang="en-US" dirty="0"/>
            </a:p>
          </p:txBody>
        </p:sp>
        <p:sp>
          <p:nvSpPr>
            <p:cNvPr id="82" name="Oval 81"/>
            <p:cNvSpPr>
              <a:spLocks noChangeArrowheads="1"/>
            </p:cNvSpPr>
            <p:nvPr/>
          </p:nvSpPr>
          <p:spPr bwMode="gray">
            <a:xfrm>
              <a:off x="6702426" y="3657600"/>
              <a:ext cx="457200" cy="4572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83" name="Text Box 9"/>
            <p:cNvSpPr txBox="1">
              <a:spLocks noChangeArrowheads="1"/>
            </p:cNvSpPr>
            <p:nvPr/>
          </p:nvSpPr>
          <p:spPr bwMode="gray">
            <a:xfrm>
              <a:off x="6742113" y="3657600"/>
              <a:ext cx="314325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sz="2000" dirty="0" smtClean="0">
                  <a:solidFill>
                    <a:srgbClr val="000099"/>
                  </a:solidFill>
                </a:rPr>
                <a:t>5</a:t>
              </a:r>
              <a:endParaRPr lang="en-US" dirty="0"/>
            </a:p>
          </p:txBody>
        </p:sp>
        <p:sp>
          <p:nvSpPr>
            <p:cNvPr id="84" name="Line 22"/>
            <p:cNvSpPr>
              <a:spLocks noChangeShapeType="1"/>
            </p:cNvSpPr>
            <p:nvPr/>
          </p:nvSpPr>
          <p:spPr bwMode="gray">
            <a:xfrm flipH="1">
              <a:off x="5446713" y="3429000"/>
              <a:ext cx="3810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85" name="Line 27"/>
            <p:cNvSpPr>
              <a:spLocks noChangeShapeType="1"/>
            </p:cNvSpPr>
            <p:nvPr/>
          </p:nvSpPr>
          <p:spPr bwMode="gray">
            <a:xfrm>
              <a:off x="6208713" y="3352800"/>
              <a:ext cx="5334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</p:grpSp>
      <p:sp>
        <p:nvSpPr>
          <p:cNvPr id="87" name="Text Box 9"/>
          <p:cNvSpPr txBox="1">
            <a:spLocks noChangeArrowheads="1"/>
          </p:cNvSpPr>
          <p:nvPr/>
        </p:nvSpPr>
        <p:spPr bwMode="gray">
          <a:xfrm>
            <a:off x="7162800" y="4267200"/>
            <a:ext cx="314325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sz="2000" dirty="0" smtClean="0">
                <a:solidFill>
                  <a:srgbClr val="000099"/>
                </a:solidFill>
              </a:rPr>
              <a:t>6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16002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88" name="Right Arrow 87"/>
          <p:cNvSpPr/>
          <p:nvPr/>
        </p:nvSpPr>
        <p:spPr>
          <a:xfrm rot="2060566">
            <a:off x="5908452" y="406793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1981200" y="5334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1981200" y="6172200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Continue in this fashion until all the input lists are exhausted…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we have exercised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411480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 err="1" smtClean="0"/>
              <a:t>Heapsort</a:t>
            </a:r>
            <a:endParaRPr lang="en-US" altLang="en-US" dirty="0" smtClean="0"/>
          </a:p>
          <a:p>
            <a:pPr lvl="1"/>
            <a:r>
              <a:rPr lang="en-US" altLang="en-US" dirty="0" err="1" smtClean="0"/>
              <a:t>constructHeap</a:t>
            </a:r>
            <a:r>
              <a:rPr lang="en-US" altLang="en-US" dirty="0" smtClean="0"/>
              <a:t>()</a:t>
            </a:r>
          </a:p>
          <a:p>
            <a:pPr lvl="2"/>
            <a:r>
              <a:rPr lang="en-US" altLang="en-US" dirty="0" err="1" smtClean="0"/>
              <a:t>Heapifying</a:t>
            </a:r>
            <a:r>
              <a:rPr lang="en-US" altLang="en-US" dirty="0" smtClean="0"/>
              <a:t>()</a:t>
            </a:r>
          </a:p>
          <a:p>
            <a:pPr lvl="3"/>
            <a:r>
              <a:rPr lang="en-US" altLang="en-US" dirty="0" err="1" smtClean="0"/>
              <a:t>fixHeap</a:t>
            </a:r>
            <a:r>
              <a:rPr lang="en-US" altLang="en-US" dirty="0" smtClean="0"/>
              <a:t>()</a:t>
            </a:r>
          </a:p>
          <a:p>
            <a:pPr lvl="1"/>
            <a:r>
              <a:rPr lang="en-US" altLang="en-US" dirty="0" err="1" smtClean="0"/>
              <a:t>deleteMax</a:t>
            </a:r>
            <a:r>
              <a:rPr lang="en-US" altLang="en-US" dirty="0" smtClean="0"/>
              <a:t>()</a:t>
            </a:r>
          </a:p>
          <a:p>
            <a:pPr lvl="2"/>
            <a:r>
              <a:rPr lang="en-US" altLang="en-US" dirty="0" err="1" smtClean="0"/>
              <a:t>fixHeap</a:t>
            </a:r>
            <a:r>
              <a:rPr lang="en-US" altLang="en-US" dirty="0" smtClean="0"/>
              <a:t>()</a:t>
            </a:r>
          </a:p>
          <a:p>
            <a:pPr lvl="1"/>
            <a:r>
              <a:rPr lang="en-US" altLang="en-US" dirty="0" smtClean="0"/>
              <a:t>Complexity analysis </a:t>
            </a:r>
          </a:p>
          <a:p>
            <a:pPr lvl="2"/>
            <a:r>
              <a:rPr lang="en-US" altLang="en-US" dirty="0" smtClean="0"/>
              <a:t>Counting the number of comparisons and swaps</a:t>
            </a:r>
          </a:p>
          <a:p>
            <a:pPr lvl="2"/>
            <a:r>
              <a:rPr lang="en-US" altLang="en-US" dirty="0" smtClean="0"/>
              <a:t>Asymptotic complexity of </a:t>
            </a:r>
            <a:r>
              <a:rPr lang="en-US" altLang="en-US" dirty="0" err="1" smtClean="0"/>
              <a:t>Heapsort</a:t>
            </a:r>
            <a:r>
              <a:rPr lang="en-US" altLang="en-US" dirty="0" smtClean="0"/>
              <a:t>: </a:t>
            </a:r>
            <a:r>
              <a:rPr lang="en-US" altLang="en-US" dirty="0" smtClean="0">
                <a:solidFill>
                  <a:srgbClr val="0000FF"/>
                </a:solidFill>
              </a:rPr>
              <a:t>O(</a:t>
            </a:r>
            <a:r>
              <a:rPr lang="en-US" altLang="en-US" dirty="0" err="1" smtClean="0">
                <a:solidFill>
                  <a:srgbClr val="0000FF"/>
                </a:solidFill>
              </a:rPr>
              <a:t>nlgn</a:t>
            </a:r>
            <a:r>
              <a:rPr lang="en-US" altLang="en-US" dirty="0" smtClean="0">
                <a:solidFill>
                  <a:srgbClr val="0000FF"/>
                </a:solidFill>
              </a:rPr>
              <a:t>)</a:t>
            </a:r>
          </a:p>
          <a:p>
            <a:r>
              <a:rPr lang="en-US" dirty="0" smtClean="0"/>
              <a:t>Algorithm Design</a:t>
            </a:r>
          </a:p>
          <a:p>
            <a:pPr lvl="1"/>
            <a:r>
              <a:rPr lang="en-US" dirty="0" smtClean="0"/>
              <a:t>Use sorting algorithms</a:t>
            </a:r>
          </a:p>
          <a:p>
            <a:pPr lvl="1"/>
            <a:r>
              <a:rPr lang="en-US" dirty="0" smtClean="0"/>
              <a:t>Familiar with each algorithm and its time complexity</a:t>
            </a:r>
          </a:p>
          <a:p>
            <a:endParaRPr lang="en-US" alt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657600" y="1825079"/>
            <a:ext cx="11430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O(n)</a:t>
            </a:r>
            <a:endParaRPr kumimoji="0" lang="en-SG" sz="19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0" y="2129879"/>
            <a:ext cx="11430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O(n)</a:t>
            </a:r>
            <a:endParaRPr kumimoji="0" lang="en-SG" sz="19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0" y="2434679"/>
            <a:ext cx="11430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O(</a:t>
            </a:r>
            <a:r>
              <a:rPr kumimoji="0" lang="en-US" sz="1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lgn</a:t>
            </a:r>
            <a:r>
              <a:rPr kumimoji="0" 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</a:t>
            </a:r>
            <a:endParaRPr kumimoji="0" lang="en-SG" sz="19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0" y="2739479"/>
            <a:ext cx="11430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O(</a:t>
            </a:r>
            <a:r>
              <a:rPr kumimoji="0" lang="en-US" sz="1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lgn</a:t>
            </a:r>
            <a:r>
              <a:rPr kumimoji="0" 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</a:t>
            </a:r>
            <a:endParaRPr kumimoji="0" lang="en-SG" sz="19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45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</TotalTime>
  <Words>1340</Words>
  <Application>Microsoft Office PowerPoint</Application>
  <PresentationFormat>On-screen Show (4:3)</PresentationFormat>
  <Paragraphs>374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SimSun</vt:lpstr>
      <vt:lpstr>Arial</vt:lpstr>
      <vt:lpstr>Calibri</vt:lpstr>
      <vt:lpstr>Symbol</vt:lpstr>
      <vt:lpstr>Times New Roman</vt:lpstr>
      <vt:lpstr>Wingdings</vt:lpstr>
      <vt:lpstr>Office Theme</vt:lpstr>
      <vt:lpstr>CX2101 Algorithm Design and Analysis</vt:lpstr>
      <vt:lpstr>This Tutorial</vt:lpstr>
      <vt:lpstr>Question 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8</vt:lpstr>
      <vt:lpstr>Question 8</vt:lpstr>
      <vt:lpstr>Question 8</vt:lpstr>
      <vt:lpstr>Question 9</vt:lpstr>
      <vt:lpstr>PowerPoint Presentation</vt:lpstr>
      <vt:lpstr>PowerPoint Presentation</vt:lpstr>
      <vt:lpstr>PowerPoint Presentation</vt:lpstr>
      <vt:lpstr>PowerPoint Presentation</vt:lpstr>
      <vt:lpstr>What we have exercised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CE2001/CZ2001/CSC202</dc:title>
  <dc:creator>Zheng Jie (Asst Prof)</dc:creator>
  <cp:lastModifiedBy>Ke Kelly</cp:lastModifiedBy>
  <cp:revision>380</cp:revision>
  <dcterms:created xsi:type="dcterms:W3CDTF">2006-08-16T00:00:00Z</dcterms:created>
  <dcterms:modified xsi:type="dcterms:W3CDTF">2021-02-08T16:12:19Z</dcterms:modified>
</cp:coreProperties>
</file>