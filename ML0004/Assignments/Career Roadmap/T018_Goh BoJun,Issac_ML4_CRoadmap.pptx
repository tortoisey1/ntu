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6" r:id="rId2"/>
    <p:sldId id="267" r:id="rId3"/>
    <p:sldId id="268" r:id="rId4"/>
    <p:sldId id="269" r:id="rId5"/>
    <p:sldId id="27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CCCC"/>
    <a:srgbClr val="FFFFCC"/>
    <a:srgbClr val="FFFF00"/>
    <a:srgbClr val="66FFCC"/>
    <a:srgbClr val="66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>
      <p:cViewPr varScale="1">
        <p:scale>
          <a:sx n="84" d="100"/>
          <a:sy n="84" d="100"/>
        </p:scale>
        <p:origin x="662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13F80-45AE-479A-97F6-7E76CAD35EB8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BEFCB-3307-4BA1-9905-D19D9D25A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489C-C62B-8C25-39BF-7CA7A0E1C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D7C50-24D4-8641-319B-3DF855463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7E1-0688-3B42-E0D8-682819EF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63CDF-4CAD-0091-A4E7-C0B888B2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57F60-83D5-C3E3-5575-E3B2C6117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2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F497-D7E5-B30F-9725-8C099493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65534-1601-64B3-9BC8-C1B1AFAFB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A63CE-42C2-0C96-0CAB-1B9CB21F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5EC1A-A456-76B3-4E79-F1EFBB8C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89DA7-70FB-F1CC-8BBE-5877D7D8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2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FC2B-4229-BCA9-120A-CC1BA8DB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FD1A1-6373-5E52-F640-E712F1B1C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6E154-AE87-5EA1-D845-A2C01982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772C2-276A-16E6-E5D3-1B76154D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609D0-D02F-3827-4039-600329AD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4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AD02-88E5-3A02-324C-5CDF62FD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10BF-36EC-3ADE-A629-FFE2CECA4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52B4-1DEB-6B5F-97FB-DF261B60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240D7-5E47-6980-5964-5D87F165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0132A-1E06-AA85-5F65-517EFC1B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E70CE-1F55-33E4-06B9-64D9CB40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0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5554-DC30-6EB8-0366-83B5B177F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DCB09-7D66-045F-016C-55491BD1C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FDB00-DCD0-B2E2-6CC3-8DAC3F269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30B63-F99E-B9A5-EBFA-2A3F73A08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518C7-8493-BB9D-2229-9F42CCE71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8360A3-FC42-2B78-FD3F-12213532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456C7-D4D1-DB96-5745-79F3D013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681FC-7869-AC05-4575-56713CAB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7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0FB4-23A8-A6C1-D237-880D0D56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3B075-2A29-45BC-32D6-43774030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BCEBC-9917-96D9-D917-B630BC11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5E261-72AE-9465-FA8D-52B72E94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1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D46F53-8470-DFB5-3179-453DB2B2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14047-D3B8-BB91-B37D-EA6C09FE0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641F0-68F7-95A1-C1A6-B0A87C605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9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295E-67A3-2FA1-B249-A64F9333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05D77-9D59-A922-DFA8-8005FF68E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134AB-D7BB-B2AE-8D2A-E8826BD70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2BF9E-704D-0C02-FA5C-713678C93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6D006-8726-5CBE-95B8-349DD288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A716E-EA7C-C73D-4609-E3134724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3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8E00-E742-8A66-39D7-91C615B5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6FBF1-7AB4-1598-1DA1-859B10394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E06DD-5E5F-00D1-869B-629F8E22B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3D2BD-B13E-C6C6-691A-2AA661D7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A2496-E39B-6AF4-009B-3742ADF7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CBF5F-7ACF-83F5-71C0-FBFA0B93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2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D37F-2563-8D0E-C037-5203046E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B7096-AAD0-2913-1F89-1B4BC7217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84ADD-3FE3-F616-C131-99760F579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1746F-9402-F584-3E55-07853762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DEA64-9054-84EB-32BA-612C4D90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1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2FABE-A682-568C-DFB3-D7C9DC930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7CB5B-C965-3018-7941-24611289A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24CD-6EED-8014-F981-97B6991B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76F1-CFE1-A02E-3ECF-4A6838C1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2E744-92F7-EBED-224F-E038A2D0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B9BE40-15A6-D299-6F52-7BB61E32F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42B7F-F538-9067-D5E3-2A452759C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91547-6AE8-AA7D-2A84-177BC3928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BDF78-4909-446F-AC38-E884A73C1DD4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4081-9FD2-EF36-D5B0-608EA9E1F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AE79F-61E7-594B-C906-CBC19E134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5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834FA06C-6679-58D5-9C4B-5A6972C80A10}"/>
              </a:ext>
            </a:extLst>
          </p:cNvPr>
          <p:cNvSpPr/>
          <p:nvPr/>
        </p:nvSpPr>
        <p:spPr>
          <a:xfrm rot="6045813">
            <a:off x="2029524" y="-4702147"/>
            <a:ext cx="6267694" cy="12163038"/>
          </a:xfrm>
          <a:prstGeom prst="arc">
            <a:avLst>
              <a:gd name="adj1" fmla="val 16342036"/>
              <a:gd name="adj2" fmla="val 3922038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983BDF-40E3-B772-FB65-BE54A3438F8C}"/>
              </a:ext>
            </a:extLst>
          </p:cNvPr>
          <p:cNvGrpSpPr/>
          <p:nvPr/>
        </p:nvGrpSpPr>
        <p:grpSpPr>
          <a:xfrm>
            <a:off x="4139317" y="1289487"/>
            <a:ext cx="4680685" cy="2355393"/>
            <a:chOff x="168253" y="1199148"/>
            <a:chExt cx="3378147" cy="269639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3806898-5C1D-06A8-DAB4-1A1A375069F6}"/>
                </a:ext>
              </a:extLst>
            </p:cNvPr>
            <p:cNvSpPr/>
            <p:nvPr/>
          </p:nvSpPr>
          <p:spPr>
            <a:xfrm>
              <a:off x="168253" y="1199148"/>
              <a:ext cx="3378147" cy="2696392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9BCD64-0B06-D9DB-B667-6700BE69AC46}"/>
                </a:ext>
              </a:extLst>
            </p:cNvPr>
            <p:cNvSpPr/>
            <p:nvPr/>
          </p:nvSpPr>
          <p:spPr>
            <a:xfrm>
              <a:off x="334458" y="1331053"/>
              <a:ext cx="3072295" cy="2417064"/>
            </a:xfrm>
            <a:custGeom>
              <a:avLst/>
              <a:gdLst>
                <a:gd name="connsiteX0" fmla="*/ 0 w 2878223"/>
                <a:gd name="connsiteY0" fmla="*/ 0 h 2860677"/>
                <a:gd name="connsiteX1" fmla="*/ 2878223 w 2878223"/>
                <a:gd name="connsiteY1" fmla="*/ 0 h 2860677"/>
                <a:gd name="connsiteX2" fmla="*/ 2878223 w 2878223"/>
                <a:gd name="connsiteY2" fmla="*/ 2860677 h 2860677"/>
                <a:gd name="connsiteX3" fmla="*/ 0 w 2878223"/>
                <a:gd name="connsiteY3" fmla="*/ 2860677 h 2860677"/>
                <a:gd name="connsiteX4" fmla="*/ 0 w 2878223"/>
                <a:gd name="connsiteY4" fmla="*/ 0 h 286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223" h="2860677">
                  <a:moveTo>
                    <a:pt x="0" y="0"/>
                  </a:moveTo>
                  <a:lnTo>
                    <a:pt x="2878223" y="0"/>
                  </a:lnTo>
                  <a:lnTo>
                    <a:pt x="2878223" y="2860677"/>
                  </a:lnTo>
                  <a:lnTo>
                    <a:pt x="0" y="286067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t" anchorCtr="0">
              <a:noAutofit/>
            </a:bodyPr>
            <a:lstStyle/>
            <a:p>
              <a:pPr algn="ctr"/>
              <a:r>
                <a:rPr lang="en-SG" sz="1600" b="1" dirty="0">
                  <a:solidFill>
                    <a:schemeClr val="tx1"/>
                  </a:solidFill>
                </a:rPr>
                <a:t>Year 1 (Current Year 2 of Study at NTU</a:t>
              </a:r>
              <a:r>
                <a:rPr lang="en-SG" sz="1600" b="1" u="sng" dirty="0">
                  <a:solidFill>
                    <a:schemeClr val="tx1"/>
                  </a:solidFill>
                </a:rPr>
                <a:t>)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600" b="1" u="sng" kern="1200" dirty="0">
                <a:solidFill>
                  <a:schemeClr val="tx1"/>
                </a:solidFill>
              </a:endParaRP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sz="1600" b="1" u="sng" kern="1200" dirty="0">
                  <a:solidFill>
                    <a:schemeClr val="tx1"/>
                  </a:solidFill>
                </a:rPr>
                <a:t>Goal / Target for the year </a:t>
              </a:r>
            </a:p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tx1"/>
                  </a:solidFill>
                </a:rPr>
                <a:t>Develop technical skills through projects and internships, while expanding my network.</a:t>
              </a:r>
            </a:p>
          </p:txBody>
        </p:sp>
      </p:grp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3E6AE2DA-CFAD-80A9-DC7E-FC7F4B8F0023}"/>
              </a:ext>
            </a:extLst>
          </p:cNvPr>
          <p:cNvSpPr/>
          <p:nvPr/>
        </p:nvSpPr>
        <p:spPr>
          <a:xfrm>
            <a:off x="-44013" y="138513"/>
            <a:ext cx="6123367" cy="771346"/>
          </a:xfrm>
          <a:prstGeom prst="snip2Diag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600" b="1" u="sng" dirty="0">
                <a:ln w="9525">
                  <a:noFill/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5-Year Career Roadmap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75CE0-2FB1-2C3A-AA9E-1368E9143CB4}"/>
              </a:ext>
            </a:extLst>
          </p:cNvPr>
          <p:cNvGrpSpPr/>
          <p:nvPr/>
        </p:nvGrpSpPr>
        <p:grpSpPr>
          <a:xfrm>
            <a:off x="76314" y="2334943"/>
            <a:ext cx="1899451" cy="4571721"/>
            <a:chOff x="2484812" y="-369188"/>
            <a:chExt cx="2186428" cy="426782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9DC4EA-CE3A-0235-A8D2-2CECA3FCA2A6}"/>
                </a:ext>
              </a:extLst>
            </p:cNvPr>
            <p:cNvSpPr/>
            <p:nvPr/>
          </p:nvSpPr>
          <p:spPr>
            <a:xfrm>
              <a:off x="2588445" y="-369188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Aug 2024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(Y2 S1)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9107F5-E8E8-8F13-BA7D-00BF2C474B12}"/>
                </a:ext>
              </a:extLst>
            </p:cNvPr>
            <p:cNvSpPr txBox="1"/>
            <p:nvPr/>
          </p:nvSpPr>
          <p:spPr>
            <a:xfrm>
              <a:off x="2484812" y="709410"/>
              <a:ext cx="2186428" cy="31892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Build up Front-end Software Skills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Complete online ODIN project to build up relevant Front-End skills: HTML, CSS, react.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30min a day to read up on relevant industry blogs and forums to follow industry trends.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9C7D6E-63D8-D768-B051-ED4C198AB992}"/>
              </a:ext>
            </a:extLst>
          </p:cNvPr>
          <p:cNvSpPr/>
          <p:nvPr/>
        </p:nvSpPr>
        <p:spPr>
          <a:xfrm>
            <a:off x="6079354" y="138513"/>
            <a:ext cx="5943600" cy="11509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SG" sz="1600" b="1" u="sng" dirty="0">
                <a:solidFill>
                  <a:schemeClr val="tx1"/>
                </a:solidFill>
              </a:rPr>
              <a:t>Career Goal(s)</a:t>
            </a:r>
          </a:p>
          <a:p>
            <a:pPr algn="just"/>
            <a:r>
              <a:rPr lang="en-US" sz="1400" u="sng" dirty="0">
                <a:solidFill>
                  <a:schemeClr val="tx1"/>
                </a:solidFill>
              </a:rPr>
              <a:t>Become a skilled full-stack software engineer, working at a FAANG company</a:t>
            </a:r>
            <a:endParaRPr lang="en-SG" sz="1400" b="0" u="sng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AEBF6A-8C4C-A95E-8D75-C8694894AF2A}"/>
              </a:ext>
            </a:extLst>
          </p:cNvPr>
          <p:cNvGrpSpPr/>
          <p:nvPr/>
        </p:nvGrpSpPr>
        <p:grpSpPr>
          <a:xfrm>
            <a:off x="7002981" y="3844172"/>
            <a:ext cx="2327227" cy="3275197"/>
            <a:chOff x="3135987" y="336577"/>
            <a:chExt cx="2678834" cy="305748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880D16B-9B50-08F6-B2D2-F5D2A161528F}"/>
                </a:ext>
              </a:extLst>
            </p:cNvPr>
            <p:cNvSpPr/>
            <p:nvPr/>
          </p:nvSpPr>
          <p:spPr>
            <a:xfrm>
              <a:off x="3527130" y="336577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Summer Break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(May – July 2025)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C1303F-3D9B-F5B8-66B5-E36E7DE71E3A}"/>
                </a:ext>
              </a:extLst>
            </p:cNvPr>
            <p:cNvSpPr txBox="1"/>
            <p:nvPr/>
          </p:nvSpPr>
          <p:spPr>
            <a:xfrm>
              <a:off x="3135987" y="1239178"/>
              <a:ext cx="2678834" cy="21548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Intern at a SME/Start-up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Check and apply on internship portals once every 2 days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Meet career coaches at NTU CAO to gain insight on </a:t>
              </a:r>
              <a:r>
                <a:rPr lang="en-SG" sz="1200" dirty="0"/>
                <a:t>my resume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Go for networking events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545428-75D1-B8D4-E69F-53D78D6DD408}"/>
              </a:ext>
            </a:extLst>
          </p:cNvPr>
          <p:cNvGrpSpPr/>
          <p:nvPr/>
        </p:nvGrpSpPr>
        <p:grpSpPr>
          <a:xfrm>
            <a:off x="4447081" y="3713295"/>
            <a:ext cx="2419243" cy="3622218"/>
            <a:chOff x="2938050" y="-89830"/>
            <a:chExt cx="2784752" cy="338143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BD8C954-F4F1-5092-D1DB-44B93581F304}"/>
                </a:ext>
              </a:extLst>
            </p:cNvPr>
            <p:cNvSpPr/>
            <p:nvPr/>
          </p:nvSpPr>
          <p:spPr>
            <a:xfrm>
              <a:off x="3462732" y="-89830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Jan 2025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(Y2 S2)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4F5539-50F3-4C7D-E60B-FB1121AFBA9D}"/>
                </a:ext>
              </a:extLst>
            </p:cNvPr>
            <p:cNvSpPr txBox="1"/>
            <p:nvPr/>
          </p:nvSpPr>
          <p:spPr>
            <a:xfrm>
              <a:off x="2938050" y="791942"/>
              <a:ext cx="2784752" cy="24996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Create a personal portfolio website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3 hours on Sundays to code the website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2 hours on weekdays to </a:t>
              </a:r>
              <a:r>
                <a:rPr lang="en-US" sz="1200" dirty="0"/>
                <a:t>gather inspiration from existing portfolio websites to define my style</a:t>
              </a:r>
              <a:r>
                <a:rPr lang="en-SG" sz="1200" dirty="0"/>
                <a:t>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29BF6C36-846C-FB13-D70C-902D4A032030}"/>
              </a:ext>
            </a:extLst>
          </p:cNvPr>
          <p:cNvSpPr/>
          <p:nvPr/>
        </p:nvSpPr>
        <p:spPr>
          <a:xfrm>
            <a:off x="10363200" y="1794444"/>
            <a:ext cx="1828800" cy="1038995"/>
          </a:xfrm>
          <a:prstGeom prst="ellipse">
            <a:avLst/>
          </a:prstGeom>
          <a:solidFill>
            <a:srgbClr val="FFCC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Year 1 Completed!</a:t>
            </a:r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098B7F-0917-5BC0-1547-542D570C6CD5}"/>
              </a:ext>
            </a:extLst>
          </p:cNvPr>
          <p:cNvGrpSpPr/>
          <p:nvPr/>
        </p:nvGrpSpPr>
        <p:grpSpPr>
          <a:xfrm>
            <a:off x="9706085" y="3212878"/>
            <a:ext cx="2438381" cy="3857997"/>
            <a:chOff x="3398772" y="135941"/>
            <a:chExt cx="2806781" cy="360154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9D4F1D8-801B-6119-76F4-8CD190A3DE29}"/>
                </a:ext>
              </a:extLst>
            </p:cNvPr>
            <p:cNvSpPr/>
            <p:nvPr/>
          </p:nvSpPr>
          <p:spPr>
            <a:xfrm>
              <a:off x="3425718" y="135941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July 2025</a:t>
              </a:r>
            </a:p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30B4D6F-22D3-3410-2016-4B6AD46DF80F}"/>
                </a:ext>
              </a:extLst>
            </p:cNvPr>
            <p:cNvSpPr txBox="1"/>
            <p:nvPr/>
          </p:nvSpPr>
          <p:spPr>
            <a:xfrm>
              <a:off x="3398772" y="1065429"/>
              <a:ext cx="2806781" cy="26720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Complete URECA and maintain First-Class honours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Consult with my URECA professor every fortnight for feedback on progress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Set aside 1 hr of revision every day to study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Go bouldering on Saturdays to keep mind fresh and reduce stress.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Consult with peers on Sunday about knowledge gaps.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35DF44-6EE1-AC81-EDB2-029FC47815E0}"/>
              </a:ext>
            </a:extLst>
          </p:cNvPr>
          <p:cNvGrpSpPr/>
          <p:nvPr/>
        </p:nvGrpSpPr>
        <p:grpSpPr>
          <a:xfrm>
            <a:off x="2111166" y="3216212"/>
            <a:ext cx="2180621" cy="4048929"/>
            <a:chOff x="3232243" y="-109809"/>
            <a:chExt cx="2510078" cy="3779784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5EAD726-99A5-DC47-ECF1-215E7ED8FFBC}"/>
                </a:ext>
              </a:extLst>
            </p:cNvPr>
            <p:cNvSpPr/>
            <p:nvPr/>
          </p:nvSpPr>
          <p:spPr>
            <a:xfrm>
              <a:off x="3376504" y="-109809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Winter Break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(December 2024)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53DEDD-1043-DA69-81ED-EB92D3D1FF56}"/>
                </a:ext>
              </a:extLst>
            </p:cNvPr>
            <p:cNvSpPr txBox="1"/>
            <p:nvPr/>
          </p:nvSpPr>
          <p:spPr>
            <a:xfrm>
              <a:off x="3232243" y="997921"/>
              <a:ext cx="2510078" cy="26720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Learn a new Front-End framework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1hr every 2 days learning Angular through online tutorials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Explore GitHub repositories to study existing Angular projects for practical insights.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330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834FA06C-6679-58D5-9C4B-5A6972C80A10}"/>
              </a:ext>
            </a:extLst>
          </p:cNvPr>
          <p:cNvSpPr/>
          <p:nvPr/>
        </p:nvSpPr>
        <p:spPr>
          <a:xfrm rot="6045813">
            <a:off x="2029524" y="-4702147"/>
            <a:ext cx="6267694" cy="12163038"/>
          </a:xfrm>
          <a:prstGeom prst="arc">
            <a:avLst>
              <a:gd name="adj1" fmla="val 16342036"/>
              <a:gd name="adj2" fmla="val 3922038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983BDF-40E3-B772-FB65-BE54A3438F8C}"/>
              </a:ext>
            </a:extLst>
          </p:cNvPr>
          <p:cNvGrpSpPr/>
          <p:nvPr/>
        </p:nvGrpSpPr>
        <p:grpSpPr>
          <a:xfrm>
            <a:off x="4146211" y="1528081"/>
            <a:ext cx="4680685" cy="2355393"/>
            <a:chOff x="168253" y="1199148"/>
            <a:chExt cx="3378147" cy="269639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3806898-5C1D-06A8-DAB4-1A1A375069F6}"/>
                </a:ext>
              </a:extLst>
            </p:cNvPr>
            <p:cNvSpPr/>
            <p:nvPr/>
          </p:nvSpPr>
          <p:spPr>
            <a:xfrm>
              <a:off x="168253" y="1199148"/>
              <a:ext cx="3378147" cy="2696392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9BCD64-0B06-D9DB-B667-6700BE69AC46}"/>
                </a:ext>
              </a:extLst>
            </p:cNvPr>
            <p:cNvSpPr/>
            <p:nvPr/>
          </p:nvSpPr>
          <p:spPr>
            <a:xfrm>
              <a:off x="334458" y="1331053"/>
              <a:ext cx="3072295" cy="2417064"/>
            </a:xfrm>
            <a:custGeom>
              <a:avLst/>
              <a:gdLst>
                <a:gd name="connsiteX0" fmla="*/ 0 w 2878223"/>
                <a:gd name="connsiteY0" fmla="*/ 0 h 2860677"/>
                <a:gd name="connsiteX1" fmla="*/ 2878223 w 2878223"/>
                <a:gd name="connsiteY1" fmla="*/ 0 h 2860677"/>
                <a:gd name="connsiteX2" fmla="*/ 2878223 w 2878223"/>
                <a:gd name="connsiteY2" fmla="*/ 2860677 h 2860677"/>
                <a:gd name="connsiteX3" fmla="*/ 0 w 2878223"/>
                <a:gd name="connsiteY3" fmla="*/ 2860677 h 2860677"/>
                <a:gd name="connsiteX4" fmla="*/ 0 w 2878223"/>
                <a:gd name="connsiteY4" fmla="*/ 0 h 286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223" h="2860677">
                  <a:moveTo>
                    <a:pt x="0" y="0"/>
                  </a:moveTo>
                  <a:lnTo>
                    <a:pt x="2878223" y="0"/>
                  </a:lnTo>
                  <a:lnTo>
                    <a:pt x="2878223" y="2860677"/>
                  </a:lnTo>
                  <a:lnTo>
                    <a:pt x="0" y="286067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t" anchorCtr="0">
              <a:noAutofit/>
            </a:bodyPr>
            <a:lstStyle/>
            <a:p>
              <a:pPr algn="ctr"/>
              <a:r>
                <a:rPr lang="en-SG" sz="1600" b="1" dirty="0">
                  <a:solidFill>
                    <a:schemeClr val="tx1"/>
                  </a:solidFill>
                </a:rPr>
                <a:t>Year 2 (Current Year 3 of Study at NTU</a:t>
              </a:r>
              <a:r>
                <a:rPr lang="en-SG" sz="1600" b="1" u="sng" dirty="0">
                  <a:solidFill>
                    <a:schemeClr val="tx1"/>
                  </a:solidFill>
                </a:rPr>
                <a:t>)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600" b="1" u="sng" kern="1200" dirty="0">
                <a:solidFill>
                  <a:schemeClr val="tx1"/>
                </a:solidFill>
              </a:endParaRP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sz="1600" b="1" u="sng" kern="1200" dirty="0">
                  <a:solidFill>
                    <a:schemeClr val="tx1"/>
                  </a:solidFill>
                </a:rPr>
                <a:t>Goal / Target for the year </a:t>
              </a:r>
            </a:p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tx1"/>
                  </a:solidFill>
                </a:rPr>
                <a:t>Continue developing technical skills through projects and internships and participate in exchange to embrace new cultures.</a:t>
              </a:r>
            </a:p>
          </p:txBody>
        </p:sp>
      </p:grp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3E6AE2DA-CFAD-80A9-DC7E-FC7F4B8F0023}"/>
              </a:ext>
            </a:extLst>
          </p:cNvPr>
          <p:cNvSpPr/>
          <p:nvPr/>
        </p:nvSpPr>
        <p:spPr>
          <a:xfrm>
            <a:off x="-44013" y="138513"/>
            <a:ext cx="6123367" cy="771346"/>
          </a:xfrm>
          <a:prstGeom prst="snip2Diag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600" b="1" u="sng" dirty="0">
                <a:ln w="9525">
                  <a:noFill/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5-Year Career Roadmap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75CE0-2FB1-2C3A-AA9E-1368E9143CB4}"/>
              </a:ext>
            </a:extLst>
          </p:cNvPr>
          <p:cNvGrpSpPr/>
          <p:nvPr/>
        </p:nvGrpSpPr>
        <p:grpSpPr>
          <a:xfrm>
            <a:off x="76314" y="2334943"/>
            <a:ext cx="1899451" cy="4202391"/>
            <a:chOff x="2484812" y="-369188"/>
            <a:chExt cx="2186428" cy="392304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9DC4EA-CE3A-0235-A8D2-2CECA3FCA2A6}"/>
                </a:ext>
              </a:extLst>
            </p:cNvPr>
            <p:cNvSpPr/>
            <p:nvPr/>
          </p:nvSpPr>
          <p:spPr>
            <a:xfrm>
              <a:off x="2588445" y="-369188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Aug 2025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(Y3 S1)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9107F5-E8E8-8F13-BA7D-00BF2C474B12}"/>
                </a:ext>
              </a:extLst>
            </p:cNvPr>
            <p:cNvSpPr txBox="1"/>
            <p:nvPr/>
          </p:nvSpPr>
          <p:spPr>
            <a:xfrm>
              <a:off x="2484812" y="709410"/>
              <a:ext cx="2186428" cy="2844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Participate on Semester Exchange (Tsinghua)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Attend exchange talks by </a:t>
              </a:r>
              <a:r>
                <a:rPr lang="en-SG" sz="1200" dirty="0" err="1"/>
                <a:t>ogem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Revise on Chinese to better converse overseas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Connect with past exchange students for insights and tips through </a:t>
              </a:r>
              <a:r>
                <a:rPr lang="en-US" sz="1200" dirty="0" err="1"/>
                <a:t>linkedins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9C7D6E-63D8-D768-B051-ED4C198AB992}"/>
              </a:ext>
            </a:extLst>
          </p:cNvPr>
          <p:cNvSpPr/>
          <p:nvPr/>
        </p:nvSpPr>
        <p:spPr>
          <a:xfrm>
            <a:off x="6079354" y="138513"/>
            <a:ext cx="5943600" cy="11509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SG" sz="1600" b="1" u="sng" dirty="0">
                <a:solidFill>
                  <a:schemeClr val="tx1"/>
                </a:solidFill>
              </a:rPr>
              <a:t>Career Goal(s)</a:t>
            </a:r>
          </a:p>
          <a:p>
            <a:pPr algn="just"/>
            <a:r>
              <a:rPr lang="en-US" sz="1400" u="sng" dirty="0">
                <a:solidFill>
                  <a:schemeClr val="tx1"/>
                </a:solidFill>
              </a:rPr>
              <a:t>Become a skilled full-stack software engineer, working at a FAANG company</a:t>
            </a:r>
            <a:endParaRPr lang="en-SG" sz="1400" b="0" u="sng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80D16B-9B50-08F6-B2D2-F5D2A161528F}"/>
              </a:ext>
            </a:extLst>
          </p:cNvPr>
          <p:cNvSpPr/>
          <p:nvPr/>
        </p:nvSpPr>
        <p:spPr>
          <a:xfrm>
            <a:off x="7335756" y="3839521"/>
            <a:ext cx="1586082" cy="969195"/>
          </a:xfrm>
          <a:prstGeom prst="ellipse">
            <a:avLst/>
          </a:prstGeom>
          <a:solidFill>
            <a:srgbClr val="FFCC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SG" sz="1400" b="1" dirty="0">
                <a:solidFill>
                  <a:schemeClr val="tx1"/>
                </a:solidFill>
              </a:rPr>
              <a:t>Summer Break</a:t>
            </a:r>
          </a:p>
          <a:p>
            <a:pPr algn="ctr"/>
            <a:r>
              <a:rPr lang="en-SG" sz="1400" b="1" dirty="0">
                <a:solidFill>
                  <a:schemeClr val="tx1"/>
                </a:solidFill>
              </a:rPr>
              <a:t>(May – July 2026)</a:t>
            </a: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545428-75D1-B8D4-E69F-53D78D6DD408}"/>
              </a:ext>
            </a:extLst>
          </p:cNvPr>
          <p:cNvGrpSpPr/>
          <p:nvPr/>
        </p:nvGrpSpPr>
        <p:grpSpPr>
          <a:xfrm>
            <a:off x="4444656" y="4024186"/>
            <a:ext cx="2419243" cy="2883554"/>
            <a:chOff x="2938050" y="-89830"/>
            <a:chExt cx="2784752" cy="269187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BD8C954-F4F1-5092-D1DB-44B93581F304}"/>
                </a:ext>
              </a:extLst>
            </p:cNvPr>
            <p:cNvSpPr/>
            <p:nvPr/>
          </p:nvSpPr>
          <p:spPr>
            <a:xfrm>
              <a:off x="3462732" y="-89830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Jan 2026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(Y3 S2)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4F5539-50F3-4C7D-E60B-FB1121AFBA9D}"/>
                </a:ext>
              </a:extLst>
            </p:cNvPr>
            <p:cNvSpPr txBox="1"/>
            <p:nvPr/>
          </p:nvSpPr>
          <p:spPr>
            <a:xfrm>
              <a:off x="2938050" y="791942"/>
              <a:ext cx="2784752" cy="18100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Build a backend project - 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1hr a week on Node.js to learn a tech stack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1hr a week to learn on APIs to implement in project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29BF6C36-846C-FB13-D70C-902D4A032030}"/>
              </a:ext>
            </a:extLst>
          </p:cNvPr>
          <p:cNvSpPr/>
          <p:nvPr/>
        </p:nvSpPr>
        <p:spPr>
          <a:xfrm>
            <a:off x="10363200" y="1794444"/>
            <a:ext cx="1828800" cy="1038995"/>
          </a:xfrm>
          <a:prstGeom prst="ellipse">
            <a:avLst/>
          </a:prstGeom>
          <a:solidFill>
            <a:srgbClr val="FFCC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Year 2 Completed!</a:t>
            </a:r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098B7F-0917-5BC0-1547-542D570C6CD5}"/>
              </a:ext>
            </a:extLst>
          </p:cNvPr>
          <p:cNvGrpSpPr/>
          <p:nvPr/>
        </p:nvGrpSpPr>
        <p:grpSpPr>
          <a:xfrm>
            <a:off x="9662983" y="3116054"/>
            <a:ext cx="2438381" cy="3792512"/>
            <a:chOff x="3383676" y="135941"/>
            <a:chExt cx="2806781" cy="354041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9D4F1D8-801B-6119-76F4-8CD190A3DE29}"/>
                </a:ext>
              </a:extLst>
            </p:cNvPr>
            <p:cNvSpPr/>
            <p:nvPr/>
          </p:nvSpPr>
          <p:spPr>
            <a:xfrm>
              <a:off x="3425718" y="135941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July 2026</a:t>
              </a:r>
            </a:p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30B4D6F-22D3-3410-2016-4B6AD46DF80F}"/>
                </a:ext>
              </a:extLst>
            </p:cNvPr>
            <p:cNvSpPr txBox="1"/>
            <p:nvPr/>
          </p:nvSpPr>
          <p:spPr>
            <a:xfrm>
              <a:off x="3383676" y="1004298"/>
              <a:ext cx="2806781" cy="26720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Complete a Full-stack project while maintaining First-Class Honours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Dedicate one hour each day for focused study and revision.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Go bouldering on Saturdays to refresh mind and reduce stress.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Email professors on Mondays to clear doubts.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Dedicate one hour to code up the project every 2 days.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35DF44-6EE1-AC81-EDB2-029FC47815E0}"/>
              </a:ext>
            </a:extLst>
          </p:cNvPr>
          <p:cNvGrpSpPr/>
          <p:nvPr/>
        </p:nvGrpSpPr>
        <p:grpSpPr>
          <a:xfrm>
            <a:off x="2099304" y="3404738"/>
            <a:ext cx="2180621" cy="3679598"/>
            <a:chOff x="3232243" y="-109809"/>
            <a:chExt cx="2510078" cy="343500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5EAD726-99A5-DC47-ECF1-215E7ED8FFBC}"/>
                </a:ext>
              </a:extLst>
            </p:cNvPr>
            <p:cNvSpPr/>
            <p:nvPr/>
          </p:nvSpPr>
          <p:spPr>
            <a:xfrm>
              <a:off x="3376504" y="-109809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Winter Break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(December 2025)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53DEDD-1043-DA69-81ED-EB92D3D1FF56}"/>
                </a:ext>
              </a:extLst>
            </p:cNvPr>
            <p:cNvSpPr txBox="1"/>
            <p:nvPr/>
          </p:nvSpPr>
          <p:spPr>
            <a:xfrm>
              <a:off x="3232243" y="997921"/>
              <a:ext cx="2510078" cy="2327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Learn database skills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Enroll in online courses covering SQL, NoSQL, and database design principles.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Spend 2hrs a week to practice writing SQL queries and working with different database systems.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342EA36-9D2F-9C90-D284-626CC6160330}"/>
              </a:ext>
            </a:extLst>
          </p:cNvPr>
          <p:cNvSpPr txBox="1"/>
          <p:nvPr/>
        </p:nvSpPr>
        <p:spPr>
          <a:xfrm>
            <a:off x="7002981" y="4811044"/>
            <a:ext cx="2327227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Intern at a SME/Start-up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Steps taken to achieve goal/target:-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Check and apply on internship portals once every 2 days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1200" dirty="0"/>
              <a:t>Meet career coaches at NTU CAO to gain insight on </a:t>
            </a:r>
            <a:r>
              <a:rPr lang="en-SG" sz="1200" dirty="0"/>
              <a:t>my resume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Spend 30min </a:t>
            </a:r>
            <a:r>
              <a:rPr lang="en-SG" sz="1200" dirty="0" err="1"/>
              <a:t>leetcoding</a:t>
            </a:r>
            <a:r>
              <a:rPr lang="en-SG" sz="1200" dirty="0"/>
              <a:t> daily to pass interviews.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78480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834FA06C-6679-58D5-9C4B-5A6972C80A10}"/>
              </a:ext>
            </a:extLst>
          </p:cNvPr>
          <p:cNvSpPr/>
          <p:nvPr/>
        </p:nvSpPr>
        <p:spPr>
          <a:xfrm rot="6045813">
            <a:off x="2029524" y="-4702147"/>
            <a:ext cx="6267694" cy="12163038"/>
          </a:xfrm>
          <a:prstGeom prst="arc">
            <a:avLst>
              <a:gd name="adj1" fmla="val 16342036"/>
              <a:gd name="adj2" fmla="val 3922038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983BDF-40E3-B772-FB65-BE54A3438F8C}"/>
              </a:ext>
            </a:extLst>
          </p:cNvPr>
          <p:cNvGrpSpPr/>
          <p:nvPr/>
        </p:nvGrpSpPr>
        <p:grpSpPr>
          <a:xfrm>
            <a:off x="4146211" y="1528081"/>
            <a:ext cx="4680685" cy="2355393"/>
            <a:chOff x="168253" y="1199148"/>
            <a:chExt cx="3378147" cy="269639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3806898-5C1D-06A8-DAB4-1A1A375069F6}"/>
                </a:ext>
              </a:extLst>
            </p:cNvPr>
            <p:cNvSpPr/>
            <p:nvPr/>
          </p:nvSpPr>
          <p:spPr>
            <a:xfrm>
              <a:off x="168253" y="1199148"/>
              <a:ext cx="3378147" cy="2696392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9BCD64-0B06-D9DB-B667-6700BE69AC46}"/>
                </a:ext>
              </a:extLst>
            </p:cNvPr>
            <p:cNvSpPr/>
            <p:nvPr/>
          </p:nvSpPr>
          <p:spPr>
            <a:xfrm>
              <a:off x="334458" y="1331053"/>
              <a:ext cx="3072295" cy="2417064"/>
            </a:xfrm>
            <a:custGeom>
              <a:avLst/>
              <a:gdLst>
                <a:gd name="connsiteX0" fmla="*/ 0 w 2878223"/>
                <a:gd name="connsiteY0" fmla="*/ 0 h 2860677"/>
                <a:gd name="connsiteX1" fmla="*/ 2878223 w 2878223"/>
                <a:gd name="connsiteY1" fmla="*/ 0 h 2860677"/>
                <a:gd name="connsiteX2" fmla="*/ 2878223 w 2878223"/>
                <a:gd name="connsiteY2" fmla="*/ 2860677 h 2860677"/>
                <a:gd name="connsiteX3" fmla="*/ 0 w 2878223"/>
                <a:gd name="connsiteY3" fmla="*/ 2860677 h 2860677"/>
                <a:gd name="connsiteX4" fmla="*/ 0 w 2878223"/>
                <a:gd name="connsiteY4" fmla="*/ 0 h 286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223" h="2860677">
                  <a:moveTo>
                    <a:pt x="0" y="0"/>
                  </a:moveTo>
                  <a:lnTo>
                    <a:pt x="2878223" y="0"/>
                  </a:lnTo>
                  <a:lnTo>
                    <a:pt x="2878223" y="2860677"/>
                  </a:lnTo>
                  <a:lnTo>
                    <a:pt x="0" y="286067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t" anchorCtr="0">
              <a:noAutofit/>
            </a:bodyPr>
            <a:lstStyle/>
            <a:p>
              <a:pPr algn="ctr"/>
              <a:r>
                <a:rPr lang="en-SG" sz="1600" b="1" dirty="0">
                  <a:solidFill>
                    <a:schemeClr val="tx1"/>
                  </a:solidFill>
                </a:rPr>
                <a:t>Year 3 (Current Year 4 of Study at NTU</a:t>
              </a:r>
              <a:r>
                <a:rPr lang="en-SG" sz="1600" b="1" u="sng" dirty="0">
                  <a:solidFill>
                    <a:schemeClr val="tx1"/>
                  </a:solidFill>
                </a:rPr>
                <a:t>)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600" b="1" u="sng" kern="1200" dirty="0">
                <a:solidFill>
                  <a:schemeClr val="tx1"/>
                </a:solidFill>
              </a:endParaRP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sz="1600" b="1" u="sng" kern="1200" dirty="0">
                  <a:solidFill>
                    <a:schemeClr val="tx1"/>
                  </a:solidFill>
                </a:rPr>
                <a:t>Goal / Target for the year </a:t>
              </a:r>
            </a:p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tx1"/>
                  </a:solidFill>
                </a:rPr>
                <a:t>Maintain first class honors and intern at a FAANG company. Learn a musical instrument (Piano)</a:t>
              </a:r>
            </a:p>
          </p:txBody>
        </p:sp>
      </p:grp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3E6AE2DA-CFAD-80A9-DC7E-FC7F4B8F0023}"/>
              </a:ext>
            </a:extLst>
          </p:cNvPr>
          <p:cNvSpPr/>
          <p:nvPr/>
        </p:nvSpPr>
        <p:spPr>
          <a:xfrm>
            <a:off x="-44013" y="138513"/>
            <a:ext cx="6123367" cy="771346"/>
          </a:xfrm>
          <a:prstGeom prst="snip2Diag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600" b="1" u="sng" dirty="0">
                <a:ln w="9525">
                  <a:noFill/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5-Year Career Roadmap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75CE0-2FB1-2C3A-AA9E-1368E9143CB4}"/>
              </a:ext>
            </a:extLst>
          </p:cNvPr>
          <p:cNvGrpSpPr/>
          <p:nvPr/>
        </p:nvGrpSpPr>
        <p:grpSpPr>
          <a:xfrm>
            <a:off x="76314" y="2334943"/>
            <a:ext cx="1899451" cy="4756388"/>
            <a:chOff x="2484812" y="-369188"/>
            <a:chExt cx="2186428" cy="444021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9DC4EA-CE3A-0235-A8D2-2CECA3FCA2A6}"/>
                </a:ext>
              </a:extLst>
            </p:cNvPr>
            <p:cNvSpPr/>
            <p:nvPr/>
          </p:nvSpPr>
          <p:spPr>
            <a:xfrm>
              <a:off x="2588445" y="-369188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Aug 2026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(Y4 S1)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9107F5-E8E8-8F13-BA7D-00BF2C474B12}"/>
                </a:ext>
              </a:extLst>
            </p:cNvPr>
            <p:cNvSpPr txBox="1"/>
            <p:nvPr/>
          </p:nvSpPr>
          <p:spPr>
            <a:xfrm>
              <a:off x="2484812" y="709410"/>
              <a:ext cx="2186428" cy="33616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Build a Full-stack project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1 hr every 2 days coding up the project in the library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30 mins every 2 days to read up on industry trends for project ideas.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Check in with friends on project feasibility and idea generation every week.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9C7D6E-63D8-D768-B051-ED4C198AB992}"/>
              </a:ext>
            </a:extLst>
          </p:cNvPr>
          <p:cNvSpPr/>
          <p:nvPr/>
        </p:nvSpPr>
        <p:spPr>
          <a:xfrm>
            <a:off x="6079354" y="138513"/>
            <a:ext cx="5943600" cy="11509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SG" sz="1600" b="1" u="sng" dirty="0">
                <a:solidFill>
                  <a:schemeClr val="tx1"/>
                </a:solidFill>
              </a:rPr>
              <a:t>Career Goal(s)</a:t>
            </a:r>
          </a:p>
          <a:p>
            <a:pPr algn="just"/>
            <a:r>
              <a:rPr lang="en-US" sz="1400" u="sng" dirty="0">
                <a:solidFill>
                  <a:schemeClr val="tx1"/>
                </a:solidFill>
              </a:rPr>
              <a:t>Become a skilled full-stack software engineer, working at a FAANG company</a:t>
            </a:r>
            <a:endParaRPr lang="en-SG" sz="1400" b="0" u="sng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AEBF6A-8C4C-A95E-8D75-C8694894AF2A}"/>
              </a:ext>
            </a:extLst>
          </p:cNvPr>
          <p:cNvGrpSpPr/>
          <p:nvPr/>
        </p:nvGrpSpPr>
        <p:grpSpPr>
          <a:xfrm>
            <a:off x="7020012" y="3824102"/>
            <a:ext cx="2327227" cy="3644528"/>
            <a:chOff x="3135987" y="336577"/>
            <a:chExt cx="2678834" cy="3402265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880D16B-9B50-08F6-B2D2-F5D2A161528F}"/>
                </a:ext>
              </a:extLst>
            </p:cNvPr>
            <p:cNvSpPr/>
            <p:nvPr/>
          </p:nvSpPr>
          <p:spPr>
            <a:xfrm>
              <a:off x="3527130" y="336577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Summer Break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(May – July 2027)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C1303F-3D9B-F5B8-66B5-E36E7DE71E3A}"/>
                </a:ext>
              </a:extLst>
            </p:cNvPr>
            <p:cNvSpPr txBox="1"/>
            <p:nvPr/>
          </p:nvSpPr>
          <p:spPr>
            <a:xfrm>
              <a:off x="3135987" y="1239178"/>
              <a:ext cx="2678834" cy="2499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Intern at a FAANG company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1hr </a:t>
              </a:r>
              <a:r>
                <a:rPr lang="en-SG" sz="1200" dirty="0" err="1"/>
                <a:t>leetcoding</a:t>
              </a:r>
              <a:r>
                <a:rPr lang="en-SG" sz="1200" dirty="0"/>
                <a:t> every </a:t>
              </a:r>
              <a:r>
                <a:rPr lang="en-SG" sz="1200" dirty="0" err="1"/>
                <a:t>saturday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Attend FAANG networking events in school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Update and tailor resume by reaching out to CAO office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545428-75D1-B8D4-E69F-53D78D6DD408}"/>
              </a:ext>
            </a:extLst>
          </p:cNvPr>
          <p:cNvGrpSpPr/>
          <p:nvPr/>
        </p:nvGrpSpPr>
        <p:grpSpPr>
          <a:xfrm>
            <a:off x="4447009" y="3852185"/>
            <a:ext cx="2733384" cy="2883553"/>
            <a:chOff x="2938050" y="-89830"/>
            <a:chExt cx="3146355" cy="269187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BD8C954-F4F1-5092-D1DB-44B93581F304}"/>
                </a:ext>
              </a:extLst>
            </p:cNvPr>
            <p:cNvSpPr/>
            <p:nvPr/>
          </p:nvSpPr>
          <p:spPr>
            <a:xfrm>
              <a:off x="3462732" y="-89830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Jan 2027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(Y4 S2)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4F5539-50F3-4C7D-E60B-FB1121AFBA9D}"/>
                </a:ext>
              </a:extLst>
            </p:cNvPr>
            <p:cNvSpPr txBox="1"/>
            <p:nvPr/>
          </p:nvSpPr>
          <p:spPr>
            <a:xfrm>
              <a:off x="2938050" y="791942"/>
              <a:ext cx="3146355" cy="181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Part-time intern while doing FYP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Start applying for intern during September 2026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Schedule weekly meetings with my FYP supervisor to stay on track with project milestones.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Network with peers and attend career fairs to gain insights</a:t>
              </a:r>
              <a:endParaRPr lang="en-SG" sz="120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29BF6C36-846C-FB13-D70C-902D4A032030}"/>
              </a:ext>
            </a:extLst>
          </p:cNvPr>
          <p:cNvSpPr/>
          <p:nvPr/>
        </p:nvSpPr>
        <p:spPr>
          <a:xfrm>
            <a:off x="10363200" y="1794444"/>
            <a:ext cx="1828800" cy="1038995"/>
          </a:xfrm>
          <a:prstGeom prst="ellipse">
            <a:avLst/>
          </a:prstGeom>
          <a:solidFill>
            <a:srgbClr val="FFCC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Year 3 Completed!</a:t>
            </a:r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098B7F-0917-5BC0-1547-542D570C6CD5}"/>
              </a:ext>
            </a:extLst>
          </p:cNvPr>
          <p:cNvGrpSpPr/>
          <p:nvPr/>
        </p:nvGrpSpPr>
        <p:grpSpPr>
          <a:xfrm>
            <a:off x="9706085" y="3212878"/>
            <a:ext cx="2438381" cy="3488665"/>
            <a:chOff x="3398772" y="135941"/>
            <a:chExt cx="2806781" cy="3256759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9D4F1D8-801B-6119-76F4-8CD190A3DE29}"/>
                </a:ext>
              </a:extLst>
            </p:cNvPr>
            <p:cNvSpPr/>
            <p:nvPr/>
          </p:nvSpPr>
          <p:spPr>
            <a:xfrm>
              <a:off x="3425718" y="135941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July 2027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30B4D6F-22D3-3410-2016-4B6AD46DF80F}"/>
                </a:ext>
              </a:extLst>
            </p:cNvPr>
            <p:cNvSpPr txBox="1"/>
            <p:nvPr/>
          </p:nvSpPr>
          <p:spPr>
            <a:xfrm>
              <a:off x="3398772" y="1065429"/>
              <a:ext cx="2806781" cy="2327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Maintain First-Class honours and learn Piano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Dedicate one hour each day for focused study and revision.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Go bouldering on Saturdays to refresh mind and reduce stress.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Dedicate 2 hours every Sunday to learn and practice on the piano using </a:t>
              </a:r>
              <a:r>
                <a:rPr lang="en-SG" sz="1200" dirty="0" err="1"/>
                <a:t>youtube</a:t>
              </a:r>
              <a:r>
                <a:rPr lang="en-SG" sz="1200" dirty="0"/>
                <a:t> to learn.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35DF44-6EE1-AC81-EDB2-029FC47815E0}"/>
              </a:ext>
            </a:extLst>
          </p:cNvPr>
          <p:cNvGrpSpPr/>
          <p:nvPr/>
        </p:nvGrpSpPr>
        <p:grpSpPr>
          <a:xfrm>
            <a:off x="2099304" y="3404738"/>
            <a:ext cx="2419243" cy="3494932"/>
            <a:chOff x="3232243" y="-109809"/>
            <a:chExt cx="2784752" cy="326261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5EAD726-99A5-DC47-ECF1-215E7ED8FFBC}"/>
                </a:ext>
              </a:extLst>
            </p:cNvPr>
            <p:cNvSpPr/>
            <p:nvPr/>
          </p:nvSpPr>
          <p:spPr>
            <a:xfrm>
              <a:off x="3376504" y="-109809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Winter Break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(December 2026)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53DEDD-1043-DA69-81ED-EB92D3D1FF56}"/>
                </a:ext>
              </a:extLst>
            </p:cNvPr>
            <p:cNvSpPr txBox="1"/>
            <p:nvPr/>
          </p:nvSpPr>
          <p:spPr>
            <a:xfrm>
              <a:off x="3232243" y="997921"/>
              <a:ext cx="2784752" cy="21548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Learn to read musical scores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Spend 30 minutes every 3 days practicing note identification using online resources or apps.</a:t>
              </a:r>
              <a:r>
                <a:rPr lang="en-SG" sz="1200" dirty="0"/>
                <a:t> 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Work through a beginner’s music theory book for at least 15 minutes daily to understand musical concepts.</a:t>
              </a:r>
              <a:endParaRPr lang="en-SG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47113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834FA06C-6679-58D5-9C4B-5A6972C80A10}"/>
              </a:ext>
            </a:extLst>
          </p:cNvPr>
          <p:cNvSpPr/>
          <p:nvPr/>
        </p:nvSpPr>
        <p:spPr>
          <a:xfrm rot="6045813">
            <a:off x="2029524" y="-4702147"/>
            <a:ext cx="6267694" cy="12163038"/>
          </a:xfrm>
          <a:prstGeom prst="arc">
            <a:avLst>
              <a:gd name="adj1" fmla="val 16342036"/>
              <a:gd name="adj2" fmla="val 3922038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983BDF-40E3-B772-FB65-BE54A3438F8C}"/>
              </a:ext>
            </a:extLst>
          </p:cNvPr>
          <p:cNvGrpSpPr/>
          <p:nvPr/>
        </p:nvGrpSpPr>
        <p:grpSpPr>
          <a:xfrm>
            <a:off x="4146211" y="1528081"/>
            <a:ext cx="4680685" cy="2355393"/>
            <a:chOff x="168253" y="1199148"/>
            <a:chExt cx="3378147" cy="269639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3806898-5C1D-06A8-DAB4-1A1A375069F6}"/>
                </a:ext>
              </a:extLst>
            </p:cNvPr>
            <p:cNvSpPr/>
            <p:nvPr/>
          </p:nvSpPr>
          <p:spPr>
            <a:xfrm>
              <a:off x="168253" y="1199148"/>
              <a:ext cx="3378147" cy="2696392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9BCD64-0B06-D9DB-B667-6700BE69AC46}"/>
                </a:ext>
              </a:extLst>
            </p:cNvPr>
            <p:cNvSpPr/>
            <p:nvPr/>
          </p:nvSpPr>
          <p:spPr>
            <a:xfrm>
              <a:off x="334458" y="1331053"/>
              <a:ext cx="3072295" cy="2417064"/>
            </a:xfrm>
            <a:custGeom>
              <a:avLst/>
              <a:gdLst>
                <a:gd name="connsiteX0" fmla="*/ 0 w 2878223"/>
                <a:gd name="connsiteY0" fmla="*/ 0 h 2860677"/>
                <a:gd name="connsiteX1" fmla="*/ 2878223 w 2878223"/>
                <a:gd name="connsiteY1" fmla="*/ 0 h 2860677"/>
                <a:gd name="connsiteX2" fmla="*/ 2878223 w 2878223"/>
                <a:gd name="connsiteY2" fmla="*/ 2860677 h 2860677"/>
                <a:gd name="connsiteX3" fmla="*/ 0 w 2878223"/>
                <a:gd name="connsiteY3" fmla="*/ 2860677 h 2860677"/>
                <a:gd name="connsiteX4" fmla="*/ 0 w 2878223"/>
                <a:gd name="connsiteY4" fmla="*/ 0 h 286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223" h="2860677">
                  <a:moveTo>
                    <a:pt x="0" y="0"/>
                  </a:moveTo>
                  <a:lnTo>
                    <a:pt x="2878223" y="0"/>
                  </a:lnTo>
                  <a:lnTo>
                    <a:pt x="2878223" y="2860677"/>
                  </a:lnTo>
                  <a:lnTo>
                    <a:pt x="0" y="286067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t" anchorCtr="0">
              <a:noAutofit/>
            </a:bodyPr>
            <a:lstStyle/>
            <a:p>
              <a:pPr algn="ctr"/>
              <a:r>
                <a:rPr lang="en-SG" sz="1600" b="1" dirty="0">
                  <a:solidFill>
                    <a:schemeClr val="tx1"/>
                  </a:solidFill>
                </a:rPr>
                <a:t>Year 4 (Current Year 5 of Study at NTU</a:t>
              </a:r>
              <a:r>
                <a:rPr lang="en-SG" sz="1600" b="1" u="sng" dirty="0">
                  <a:solidFill>
                    <a:schemeClr val="tx1"/>
                  </a:solidFill>
                </a:rPr>
                <a:t>)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600" b="1" u="sng" kern="1200" dirty="0">
                <a:solidFill>
                  <a:schemeClr val="tx1"/>
                </a:solidFill>
              </a:endParaRP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sz="1600" b="1" u="sng" kern="1200" dirty="0">
                  <a:solidFill>
                    <a:schemeClr val="tx1"/>
                  </a:solidFill>
                </a:rPr>
                <a:t>Goal / Target for the year </a:t>
              </a:r>
            </a:p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tx1"/>
                  </a:solidFill>
                </a:rPr>
                <a:t>Intern at a FAANG company for the opportunity of a return offer, continue to upgrade soft skills</a:t>
              </a:r>
              <a:r>
                <a:rPr lang="en-US" sz="1400" dirty="0">
                  <a:solidFill>
                    <a:schemeClr val="tx1"/>
                  </a:solidFill>
                </a:rPr>
                <a:t> by learning a new language.</a:t>
              </a:r>
              <a:endParaRPr lang="en-US" sz="14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3E6AE2DA-CFAD-80A9-DC7E-FC7F4B8F0023}"/>
              </a:ext>
            </a:extLst>
          </p:cNvPr>
          <p:cNvSpPr/>
          <p:nvPr/>
        </p:nvSpPr>
        <p:spPr>
          <a:xfrm>
            <a:off x="-44013" y="138513"/>
            <a:ext cx="6123367" cy="771346"/>
          </a:xfrm>
          <a:prstGeom prst="snip2Diag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600" b="1" u="sng" dirty="0">
                <a:ln w="9525">
                  <a:noFill/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5-Year Career Roadmap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75CE0-2FB1-2C3A-AA9E-1368E9143CB4}"/>
              </a:ext>
            </a:extLst>
          </p:cNvPr>
          <p:cNvGrpSpPr/>
          <p:nvPr/>
        </p:nvGrpSpPr>
        <p:grpSpPr>
          <a:xfrm>
            <a:off x="76314" y="2334943"/>
            <a:ext cx="1899451" cy="4387055"/>
            <a:chOff x="2484812" y="-369188"/>
            <a:chExt cx="2186428" cy="409543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9DC4EA-CE3A-0235-A8D2-2CECA3FCA2A6}"/>
                </a:ext>
              </a:extLst>
            </p:cNvPr>
            <p:cNvSpPr/>
            <p:nvPr/>
          </p:nvSpPr>
          <p:spPr>
            <a:xfrm>
              <a:off x="2588445" y="-369188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Aug 2027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(Y5 S1)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9107F5-E8E8-8F13-BA7D-00BF2C474B12}"/>
                </a:ext>
              </a:extLst>
            </p:cNvPr>
            <p:cNvSpPr txBox="1"/>
            <p:nvPr/>
          </p:nvSpPr>
          <p:spPr>
            <a:xfrm>
              <a:off x="2484812" y="709410"/>
              <a:ext cx="2186428" cy="30168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Finish all NTU modules to graduate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Pre-plan modules to clear in Y2 to ensure no clashes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Dedicate one hour each day for focused study and revision.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Form study-groups with friends to remain accountable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9C7D6E-63D8-D768-B051-ED4C198AB992}"/>
              </a:ext>
            </a:extLst>
          </p:cNvPr>
          <p:cNvSpPr/>
          <p:nvPr/>
        </p:nvSpPr>
        <p:spPr>
          <a:xfrm>
            <a:off x="6079354" y="138513"/>
            <a:ext cx="5943600" cy="11509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SG" sz="1600" b="1" u="sng" dirty="0">
                <a:solidFill>
                  <a:schemeClr val="tx1"/>
                </a:solidFill>
              </a:rPr>
              <a:t>Career Goal(s)</a:t>
            </a:r>
          </a:p>
          <a:p>
            <a:pPr algn="just"/>
            <a:r>
              <a:rPr lang="en-US" sz="1400" u="sng" dirty="0">
                <a:solidFill>
                  <a:schemeClr val="tx1"/>
                </a:solidFill>
              </a:rPr>
              <a:t>Become a skilled full-stack software engineer, working at a FAANG company</a:t>
            </a:r>
            <a:endParaRPr lang="en-SG" sz="1400" b="0" u="sng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AEBF6A-8C4C-A95E-8D75-C8694894AF2A}"/>
              </a:ext>
            </a:extLst>
          </p:cNvPr>
          <p:cNvGrpSpPr/>
          <p:nvPr/>
        </p:nvGrpSpPr>
        <p:grpSpPr>
          <a:xfrm>
            <a:off x="7028630" y="4001873"/>
            <a:ext cx="2947474" cy="2905865"/>
            <a:chOff x="3135987" y="336577"/>
            <a:chExt cx="3392791" cy="271270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880D16B-9B50-08F6-B2D2-F5D2A161528F}"/>
                </a:ext>
              </a:extLst>
            </p:cNvPr>
            <p:cNvSpPr/>
            <p:nvPr/>
          </p:nvSpPr>
          <p:spPr>
            <a:xfrm>
              <a:off x="3527130" y="336577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Graduation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C1303F-3D9B-F5B8-66B5-E36E7DE71E3A}"/>
                </a:ext>
              </a:extLst>
            </p:cNvPr>
            <p:cNvSpPr txBox="1"/>
            <p:nvPr/>
          </p:nvSpPr>
          <p:spPr>
            <a:xfrm>
              <a:off x="3135987" y="1239178"/>
              <a:ext cx="3392791" cy="181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Work at FAANG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Seek feedback from my manager during intern to identify areas for improvement and show commitment to growth.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Build strong relationships with team members and cross-functional colleagues to create a supportive network.</a:t>
              </a:r>
              <a:endParaRPr lang="en-SG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545428-75D1-B8D4-E69F-53D78D6DD408}"/>
              </a:ext>
            </a:extLst>
          </p:cNvPr>
          <p:cNvGrpSpPr/>
          <p:nvPr/>
        </p:nvGrpSpPr>
        <p:grpSpPr>
          <a:xfrm>
            <a:off x="4444656" y="4024186"/>
            <a:ext cx="2687664" cy="3092854"/>
            <a:chOff x="2938050" y="-89830"/>
            <a:chExt cx="3093727" cy="288725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BD8C954-F4F1-5092-D1DB-44B93581F304}"/>
                </a:ext>
              </a:extLst>
            </p:cNvPr>
            <p:cNvSpPr/>
            <p:nvPr/>
          </p:nvSpPr>
          <p:spPr>
            <a:xfrm>
              <a:off x="3462732" y="-89830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Jan 2028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(Y5 S2)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4F5539-50F3-4C7D-E60B-FB1121AFBA9D}"/>
                </a:ext>
              </a:extLst>
            </p:cNvPr>
            <p:cNvSpPr txBox="1"/>
            <p:nvPr/>
          </p:nvSpPr>
          <p:spPr>
            <a:xfrm>
              <a:off x="2938050" y="814939"/>
              <a:ext cx="3093727" cy="19824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Full-time 6 month Intern at FAANG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Dedicate 1 hour every week to practicing coding problems on </a:t>
              </a:r>
              <a:r>
                <a:rPr lang="en-US" sz="1200" dirty="0" err="1"/>
                <a:t>LeetCode</a:t>
              </a:r>
              <a:r>
                <a:rPr lang="en-US" sz="1200" dirty="0"/>
                <a:t> to prepare for technical interviews.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Tailor my resume and cover letter for each FAANG application </a:t>
              </a:r>
              <a:r>
                <a:rPr lang="en-SG" sz="1200" dirty="0"/>
                <a:t>by visiting CAO office.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29BF6C36-846C-FB13-D70C-902D4A032030}"/>
              </a:ext>
            </a:extLst>
          </p:cNvPr>
          <p:cNvSpPr/>
          <p:nvPr/>
        </p:nvSpPr>
        <p:spPr>
          <a:xfrm>
            <a:off x="10363200" y="1794444"/>
            <a:ext cx="1828800" cy="1038995"/>
          </a:xfrm>
          <a:prstGeom prst="ellipse">
            <a:avLst/>
          </a:prstGeom>
          <a:solidFill>
            <a:srgbClr val="FFCC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Year 4 Completed!</a:t>
            </a:r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098B7F-0917-5BC0-1547-542D570C6CD5}"/>
              </a:ext>
            </a:extLst>
          </p:cNvPr>
          <p:cNvGrpSpPr/>
          <p:nvPr/>
        </p:nvGrpSpPr>
        <p:grpSpPr>
          <a:xfrm>
            <a:off x="9706085" y="3212878"/>
            <a:ext cx="2438381" cy="3303998"/>
            <a:chOff x="3398772" y="135941"/>
            <a:chExt cx="2806781" cy="308437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9D4F1D8-801B-6119-76F4-8CD190A3DE29}"/>
                </a:ext>
              </a:extLst>
            </p:cNvPr>
            <p:cNvSpPr/>
            <p:nvPr/>
          </p:nvSpPr>
          <p:spPr>
            <a:xfrm>
              <a:off x="3425718" y="135941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July 2028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30B4D6F-22D3-3410-2016-4B6AD46DF80F}"/>
                </a:ext>
              </a:extLst>
            </p:cNvPr>
            <p:cNvSpPr txBox="1"/>
            <p:nvPr/>
          </p:nvSpPr>
          <p:spPr>
            <a:xfrm>
              <a:off x="3398772" y="1065429"/>
              <a:ext cx="2806781" cy="21548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Learn Japanese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Spend 30 minutes each day practicing vocabulary and grammar using language learning apps (e.g., Duolingo, Anki).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Spend 2hr every Sunday to watch Japanese shows or movies with subtitles to improve listening comprehension.</a:t>
              </a:r>
              <a:endParaRPr lang="en-SG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35DF44-6EE1-AC81-EDB2-029FC47815E0}"/>
              </a:ext>
            </a:extLst>
          </p:cNvPr>
          <p:cNvGrpSpPr/>
          <p:nvPr/>
        </p:nvGrpSpPr>
        <p:grpSpPr>
          <a:xfrm>
            <a:off x="2099304" y="3404738"/>
            <a:ext cx="2450226" cy="3494933"/>
            <a:chOff x="3232243" y="-109809"/>
            <a:chExt cx="2820416" cy="326261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5EAD726-99A5-DC47-ECF1-215E7ED8FFBC}"/>
                </a:ext>
              </a:extLst>
            </p:cNvPr>
            <p:cNvSpPr/>
            <p:nvPr/>
          </p:nvSpPr>
          <p:spPr>
            <a:xfrm>
              <a:off x="3376504" y="-109809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Winter Break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(December 2027)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53DEDD-1043-DA69-81ED-EB92D3D1FF56}"/>
                </a:ext>
              </a:extLst>
            </p:cNvPr>
            <p:cNvSpPr txBox="1"/>
            <p:nvPr/>
          </p:nvSpPr>
          <p:spPr>
            <a:xfrm>
              <a:off x="3232243" y="997921"/>
              <a:ext cx="2820416" cy="21548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Update Personal Portfolio Website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Spend 1 hour every 2 days reviewing and revising the content to reflect recent projects and experiences.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Incorporate new design elements and features based on the latest web design trends by reading articles every 2 days</a:t>
              </a:r>
              <a:endParaRPr lang="en-SG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75725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834FA06C-6679-58D5-9C4B-5A6972C80A10}"/>
              </a:ext>
            </a:extLst>
          </p:cNvPr>
          <p:cNvSpPr/>
          <p:nvPr/>
        </p:nvSpPr>
        <p:spPr>
          <a:xfrm rot="6045813">
            <a:off x="2029524" y="-4702147"/>
            <a:ext cx="6267694" cy="12163038"/>
          </a:xfrm>
          <a:prstGeom prst="arc">
            <a:avLst>
              <a:gd name="adj1" fmla="val 16342036"/>
              <a:gd name="adj2" fmla="val 3922038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983BDF-40E3-B772-FB65-BE54A3438F8C}"/>
              </a:ext>
            </a:extLst>
          </p:cNvPr>
          <p:cNvGrpSpPr/>
          <p:nvPr/>
        </p:nvGrpSpPr>
        <p:grpSpPr>
          <a:xfrm>
            <a:off x="4146211" y="1528081"/>
            <a:ext cx="4680685" cy="2355393"/>
            <a:chOff x="168253" y="1199148"/>
            <a:chExt cx="3378147" cy="269639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3806898-5C1D-06A8-DAB4-1A1A375069F6}"/>
                </a:ext>
              </a:extLst>
            </p:cNvPr>
            <p:cNvSpPr/>
            <p:nvPr/>
          </p:nvSpPr>
          <p:spPr>
            <a:xfrm>
              <a:off x="168253" y="1199148"/>
              <a:ext cx="3378147" cy="2696392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9BCD64-0B06-D9DB-B667-6700BE69AC46}"/>
                </a:ext>
              </a:extLst>
            </p:cNvPr>
            <p:cNvSpPr/>
            <p:nvPr/>
          </p:nvSpPr>
          <p:spPr>
            <a:xfrm>
              <a:off x="334458" y="1331053"/>
              <a:ext cx="3072295" cy="2417064"/>
            </a:xfrm>
            <a:custGeom>
              <a:avLst/>
              <a:gdLst>
                <a:gd name="connsiteX0" fmla="*/ 0 w 2878223"/>
                <a:gd name="connsiteY0" fmla="*/ 0 h 2860677"/>
                <a:gd name="connsiteX1" fmla="*/ 2878223 w 2878223"/>
                <a:gd name="connsiteY1" fmla="*/ 0 h 2860677"/>
                <a:gd name="connsiteX2" fmla="*/ 2878223 w 2878223"/>
                <a:gd name="connsiteY2" fmla="*/ 2860677 h 2860677"/>
                <a:gd name="connsiteX3" fmla="*/ 0 w 2878223"/>
                <a:gd name="connsiteY3" fmla="*/ 2860677 h 2860677"/>
                <a:gd name="connsiteX4" fmla="*/ 0 w 2878223"/>
                <a:gd name="connsiteY4" fmla="*/ 0 h 286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223" h="2860677">
                  <a:moveTo>
                    <a:pt x="0" y="0"/>
                  </a:moveTo>
                  <a:lnTo>
                    <a:pt x="2878223" y="0"/>
                  </a:lnTo>
                  <a:lnTo>
                    <a:pt x="2878223" y="2860677"/>
                  </a:lnTo>
                  <a:lnTo>
                    <a:pt x="0" y="286067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t" anchorCtr="0">
              <a:noAutofit/>
            </a:bodyPr>
            <a:lstStyle/>
            <a:p>
              <a:pPr algn="ctr"/>
              <a:r>
                <a:rPr lang="en-SG" sz="1600" b="1" dirty="0">
                  <a:solidFill>
                    <a:schemeClr val="tx1"/>
                  </a:solidFill>
                </a:rPr>
                <a:t>Year 5 (1 year after graduation from NTU</a:t>
              </a:r>
              <a:r>
                <a:rPr lang="en-SG" sz="1600" b="1" u="sng" dirty="0">
                  <a:solidFill>
                    <a:schemeClr val="tx1"/>
                  </a:solidFill>
                </a:rPr>
                <a:t>)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600" b="1" u="sng" kern="1200" dirty="0">
                <a:solidFill>
                  <a:schemeClr val="tx1"/>
                </a:solidFill>
              </a:endParaRP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sz="1600" b="1" u="sng" kern="1200" dirty="0">
                  <a:solidFill>
                    <a:schemeClr val="tx1"/>
                  </a:solidFill>
                </a:rPr>
                <a:t>Goal / Target for the year </a:t>
              </a:r>
            </a:p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tx1"/>
                  </a:solidFill>
                </a:rPr>
                <a:t>Work at a FAANG company as a software engineer and work towards a promotion as well as BTO</a:t>
              </a:r>
            </a:p>
          </p:txBody>
        </p:sp>
      </p:grp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3E6AE2DA-CFAD-80A9-DC7E-FC7F4B8F0023}"/>
              </a:ext>
            </a:extLst>
          </p:cNvPr>
          <p:cNvSpPr/>
          <p:nvPr/>
        </p:nvSpPr>
        <p:spPr>
          <a:xfrm>
            <a:off x="-44013" y="138513"/>
            <a:ext cx="6123367" cy="771346"/>
          </a:xfrm>
          <a:prstGeom prst="snip2Diag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600" b="1" u="sng" dirty="0">
                <a:ln w="9525">
                  <a:noFill/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5-Year Career Roadmap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75CE0-2FB1-2C3A-AA9E-1368E9143CB4}"/>
              </a:ext>
            </a:extLst>
          </p:cNvPr>
          <p:cNvGrpSpPr/>
          <p:nvPr/>
        </p:nvGrpSpPr>
        <p:grpSpPr>
          <a:xfrm>
            <a:off x="44009" y="2435543"/>
            <a:ext cx="2180621" cy="4583386"/>
            <a:chOff x="2447626" y="-275275"/>
            <a:chExt cx="2510079" cy="42787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9DC4EA-CE3A-0235-A8D2-2CECA3FCA2A6}"/>
                </a:ext>
              </a:extLst>
            </p:cNvPr>
            <p:cNvSpPr/>
            <p:nvPr/>
          </p:nvSpPr>
          <p:spPr>
            <a:xfrm>
              <a:off x="2447626" y="-275275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Aug 2028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9107F5-E8E8-8F13-BA7D-00BF2C474B12}"/>
                </a:ext>
              </a:extLst>
            </p:cNvPr>
            <p:cNvSpPr txBox="1"/>
            <p:nvPr/>
          </p:nvSpPr>
          <p:spPr>
            <a:xfrm>
              <a:off x="2447626" y="814212"/>
              <a:ext cx="2510079" cy="31892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Take on larger projects at work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Identify opportunities within ongoing projects where I can contribute more significantly and propose solutions or improvements.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Discuss career aspirations with my manager to express interest in handling larger projects and seek guidance on necessary skills.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9C7D6E-63D8-D768-B051-ED4C198AB992}"/>
              </a:ext>
            </a:extLst>
          </p:cNvPr>
          <p:cNvSpPr/>
          <p:nvPr/>
        </p:nvSpPr>
        <p:spPr>
          <a:xfrm>
            <a:off x="6079354" y="138513"/>
            <a:ext cx="5943600" cy="11509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SG" sz="1600" b="1" u="sng" dirty="0">
                <a:solidFill>
                  <a:schemeClr val="tx1"/>
                </a:solidFill>
              </a:rPr>
              <a:t>Career Goal(s)</a:t>
            </a:r>
          </a:p>
          <a:p>
            <a:pPr algn="just"/>
            <a:r>
              <a:rPr lang="en-US" sz="1400" u="sng" dirty="0">
                <a:solidFill>
                  <a:schemeClr val="tx1"/>
                </a:solidFill>
              </a:rPr>
              <a:t>Become a skilled full-stack software engineer, working at a FAANG company</a:t>
            </a:r>
            <a:endParaRPr lang="en-SG" sz="1400" b="0" u="sng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AEBF6A-8C4C-A95E-8D75-C8694894AF2A}"/>
              </a:ext>
            </a:extLst>
          </p:cNvPr>
          <p:cNvGrpSpPr/>
          <p:nvPr/>
        </p:nvGrpSpPr>
        <p:grpSpPr>
          <a:xfrm>
            <a:off x="7028630" y="4001873"/>
            <a:ext cx="2837746" cy="2905865"/>
            <a:chOff x="3135987" y="336577"/>
            <a:chExt cx="3266484" cy="271270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880D16B-9B50-08F6-B2D2-F5D2A161528F}"/>
                </a:ext>
              </a:extLst>
            </p:cNvPr>
            <p:cNvSpPr/>
            <p:nvPr/>
          </p:nvSpPr>
          <p:spPr>
            <a:xfrm>
              <a:off x="3527130" y="336577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May-July 2029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C1303F-3D9B-F5B8-66B5-E36E7DE71E3A}"/>
                </a:ext>
              </a:extLst>
            </p:cNvPr>
            <p:cNvSpPr txBox="1"/>
            <p:nvPr/>
          </p:nvSpPr>
          <p:spPr>
            <a:xfrm>
              <a:off x="3135987" y="1239178"/>
              <a:ext cx="3266484" cy="181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Work towards a promotion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Take on larger projects by showing initiative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Attend relevant training or workshops to enhance my skills and knowledge related to project management and technical expertise.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545428-75D1-B8D4-E69F-53D78D6DD408}"/>
              </a:ext>
            </a:extLst>
          </p:cNvPr>
          <p:cNvGrpSpPr/>
          <p:nvPr/>
        </p:nvGrpSpPr>
        <p:grpSpPr>
          <a:xfrm>
            <a:off x="4444656" y="4024186"/>
            <a:ext cx="2419243" cy="2883553"/>
            <a:chOff x="2938050" y="-89830"/>
            <a:chExt cx="2784752" cy="269187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BD8C954-F4F1-5092-D1DB-44B93581F304}"/>
                </a:ext>
              </a:extLst>
            </p:cNvPr>
            <p:cNvSpPr/>
            <p:nvPr/>
          </p:nvSpPr>
          <p:spPr>
            <a:xfrm>
              <a:off x="3462732" y="-89830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Jan 2029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4F5539-50F3-4C7D-E60B-FB1121AFBA9D}"/>
                </a:ext>
              </a:extLst>
            </p:cNvPr>
            <p:cNvSpPr txBox="1"/>
            <p:nvPr/>
          </p:nvSpPr>
          <p:spPr>
            <a:xfrm>
              <a:off x="2938050" y="791942"/>
              <a:ext cx="2784752" cy="181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Enhance technical skills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Spend 3 hrs every weekend to learn a new backend framework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Complete at least two small projects using the new skills to apply what I’ve learned</a:t>
              </a:r>
              <a:endParaRPr lang="en-SG" sz="120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29BF6C36-846C-FB13-D70C-902D4A032030}"/>
              </a:ext>
            </a:extLst>
          </p:cNvPr>
          <p:cNvSpPr/>
          <p:nvPr/>
        </p:nvSpPr>
        <p:spPr>
          <a:xfrm>
            <a:off x="10363200" y="1794444"/>
            <a:ext cx="1828800" cy="1038995"/>
          </a:xfrm>
          <a:prstGeom prst="ellipse">
            <a:avLst/>
          </a:prstGeom>
          <a:solidFill>
            <a:srgbClr val="FFCC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Year 5 Completed!</a:t>
            </a:r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098B7F-0917-5BC0-1547-542D570C6CD5}"/>
              </a:ext>
            </a:extLst>
          </p:cNvPr>
          <p:cNvGrpSpPr/>
          <p:nvPr/>
        </p:nvGrpSpPr>
        <p:grpSpPr>
          <a:xfrm>
            <a:off x="9706085" y="3212878"/>
            <a:ext cx="2438381" cy="3673330"/>
            <a:chOff x="3398772" y="135941"/>
            <a:chExt cx="2806781" cy="34291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9D4F1D8-801B-6119-76F4-8CD190A3DE29}"/>
                </a:ext>
              </a:extLst>
            </p:cNvPr>
            <p:cNvSpPr/>
            <p:nvPr/>
          </p:nvSpPr>
          <p:spPr>
            <a:xfrm>
              <a:off x="3425718" y="135941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July 2028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30B4D6F-22D3-3410-2016-4B6AD46DF80F}"/>
                </a:ext>
              </a:extLst>
            </p:cNvPr>
            <p:cNvSpPr txBox="1"/>
            <p:nvPr/>
          </p:nvSpPr>
          <p:spPr>
            <a:xfrm>
              <a:off x="3398772" y="1065429"/>
              <a:ext cx="2806781" cy="24996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Apply to BTO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Research and select preferred BTO projects based on location, pricing, and available amenities.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Set reminders for application dates and regularly check the HDB website for updates on BTO launches and application procedures.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35DF44-6EE1-AC81-EDB2-029FC47815E0}"/>
              </a:ext>
            </a:extLst>
          </p:cNvPr>
          <p:cNvGrpSpPr/>
          <p:nvPr/>
        </p:nvGrpSpPr>
        <p:grpSpPr>
          <a:xfrm>
            <a:off x="2099304" y="3404738"/>
            <a:ext cx="2180621" cy="3390055"/>
            <a:chOff x="3232243" y="-109809"/>
            <a:chExt cx="2510078" cy="316470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5EAD726-99A5-DC47-ECF1-215E7ED8FFBC}"/>
                </a:ext>
              </a:extLst>
            </p:cNvPr>
            <p:cNvSpPr/>
            <p:nvPr/>
          </p:nvSpPr>
          <p:spPr>
            <a:xfrm>
              <a:off x="3376504" y="-109809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December 2028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53DEDD-1043-DA69-81ED-EB92D3D1FF56}"/>
                </a:ext>
              </a:extLst>
            </p:cNvPr>
            <p:cNvSpPr txBox="1"/>
            <p:nvPr/>
          </p:nvSpPr>
          <p:spPr>
            <a:xfrm>
              <a:off x="3232243" y="900016"/>
              <a:ext cx="2510078" cy="21548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Travel overseas (Japan)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Create a travel savings plan by setting aside 200 each month.</a:t>
              </a: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Spend 2 hours every week planning for the trip to ensure a smooth experience.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US" sz="1200" dirty="0"/>
                <a:t>Practice Japanese every weekend</a:t>
              </a:r>
              <a:endParaRPr lang="en-SG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7981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1510</Words>
  <Application>Microsoft Office PowerPoint</Application>
  <PresentationFormat>Widescreen</PresentationFormat>
  <Paragraphs>195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Chng Siew Hui Pamela</dc:creator>
  <cp:lastModifiedBy>issac goh</cp:lastModifiedBy>
  <cp:revision>72</cp:revision>
  <dcterms:created xsi:type="dcterms:W3CDTF">2024-06-26T05:17:11Z</dcterms:created>
  <dcterms:modified xsi:type="dcterms:W3CDTF">2024-09-30T09:04:00Z</dcterms:modified>
</cp:coreProperties>
</file>