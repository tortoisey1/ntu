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65" r:id="rId3"/>
    <p:sldId id="262" r:id="rId4"/>
    <p:sldId id="259" r:id="rId5"/>
    <p:sldId id="266" r:id="rId6"/>
    <p:sldId id="260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66"/>
    <a:srgbClr val="FFCCCC"/>
    <a:srgbClr val="FFFFCC"/>
    <a:srgbClr val="FFFF00"/>
    <a:srgbClr val="66FFCC"/>
    <a:srgbClr val="66CCFF"/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90" autoAdjust="0"/>
    <p:restoredTop sz="94660"/>
  </p:normalViewPr>
  <p:slideViewPr>
    <p:cSldViewPr snapToGrid="0">
      <p:cViewPr>
        <p:scale>
          <a:sx n="70" d="100"/>
          <a:sy n="70" d="100"/>
        </p:scale>
        <p:origin x="1099" y="1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EADBC1-BD6F-44E5-ADF0-E969B5B184A4}" type="doc">
      <dgm:prSet loTypeId="urn:microsoft.com/office/officeart/2009/layout/CircleArrowProcess" loCatId="cycle" qsTypeId="urn:microsoft.com/office/officeart/2005/8/quickstyle/simple5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5D978841-F934-4F3F-9811-F17F7E532911}">
      <dgm:prSet phldrT="[Text]" custT="1"/>
      <dgm:spPr/>
      <dgm:t>
        <a:bodyPr/>
        <a:lstStyle/>
        <a:p>
          <a:r>
            <a:rPr lang="en-SG" sz="1800" b="1" dirty="0"/>
            <a:t>Date / Duration</a:t>
          </a:r>
          <a:endParaRPr lang="en-US" sz="1800" dirty="0"/>
        </a:p>
      </dgm:t>
    </dgm:pt>
    <dgm:pt modelId="{00941185-E173-4F53-AF41-A76532DFEBFE}" type="parTrans" cxnId="{899FB3E0-25BE-46AB-9946-F6FDA6149FE4}">
      <dgm:prSet/>
      <dgm:spPr/>
      <dgm:t>
        <a:bodyPr/>
        <a:lstStyle/>
        <a:p>
          <a:endParaRPr lang="en-US"/>
        </a:p>
      </dgm:t>
    </dgm:pt>
    <dgm:pt modelId="{978B5710-503B-47E1-A5B0-3752EADD6FC2}" type="sibTrans" cxnId="{899FB3E0-25BE-46AB-9946-F6FDA6149FE4}">
      <dgm:prSet/>
      <dgm:spPr/>
      <dgm:t>
        <a:bodyPr/>
        <a:lstStyle/>
        <a:p>
          <a:endParaRPr lang="en-US"/>
        </a:p>
      </dgm:t>
    </dgm:pt>
    <dgm:pt modelId="{73EA5ED0-FA46-40EC-922D-D5D66F3146F4}">
      <dgm:prSet phldrT="[Text]" custT="1"/>
      <dgm:spPr/>
      <dgm:t>
        <a:bodyPr/>
        <a:lstStyle/>
        <a:p>
          <a:r>
            <a:rPr lang="en-SG" sz="1800" b="1" dirty="0"/>
            <a:t>Date / Duration</a:t>
          </a:r>
          <a:endParaRPr lang="en-US" sz="1800" dirty="0"/>
        </a:p>
      </dgm:t>
    </dgm:pt>
    <dgm:pt modelId="{C8F9EEF2-DB9B-4AD9-984C-712AB5DE7ECA}" type="parTrans" cxnId="{76667E0F-BD7F-405F-BAD3-16CD5DFF9A48}">
      <dgm:prSet/>
      <dgm:spPr/>
      <dgm:t>
        <a:bodyPr/>
        <a:lstStyle/>
        <a:p>
          <a:endParaRPr lang="en-US"/>
        </a:p>
      </dgm:t>
    </dgm:pt>
    <dgm:pt modelId="{5827604C-A296-4C07-9942-D73A5D59CDBE}" type="sibTrans" cxnId="{76667E0F-BD7F-405F-BAD3-16CD5DFF9A48}">
      <dgm:prSet/>
      <dgm:spPr/>
      <dgm:t>
        <a:bodyPr/>
        <a:lstStyle/>
        <a:p>
          <a:endParaRPr lang="en-US"/>
        </a:p>
      </dgm:t>
    </dgm:pt>
    <dgm:pt modelId="{AEC8EE01-CB4D-4B34-832B-684D978D7745}">
      <dgm:prSet phldrT="[Text]" custT="1"/>
      <dgm:spPr/>
      <dgm:t>
        <a:bodyPr/>
        <a:lstStyle/>
        <a:p>
          <a:r>
            <a:rPr lang="en-SG" sz="1800" b="1" dirty="0"/>
            <a:t>Date / Duration</a:t>
          </a:r>
          <a:endParaRPr lang="en-US" sz="1800" dirty="0"/>
        </a:p>
      </dgm:t>
    </dgm:pt>
    <dgm:pt modelId="{5F2EB02F-2EB7-4941-BCB4-F58E1BAD33D1}" type="parTrans" cxnId="{8A0E3032-E6AA-486D-9771-088974481D72}">
      <dgm:prSet/>
      <dgm:spPr/>
      <dgm:t>
        <a:bodyPr/>
        <a:lstStyle/>
        <a:p>
          <a:endParaRPr lang="en-US"/>
        </a:p>
      </dgm:t>
    </dgm:pt>
    <dgm:pt modelId="{2031AE89-0D7E-4C54-AF38-C0BA3D7BF433}" type="sibTrans" cxnId="{8A0E3032-E6AA-486D-9771-088974481D72}">
      <dgm:prSet/>
      <dgm:spPr/>
      <dgm:t>
        <a:bodyPr/>
        <a:lstStyle/>
        <a:p>
          <a:endParaRPr lang="en-US"/>
        </a:p>
      </dgm:t>
    </dgm:pt>
    <dgm:pt modelId="{70440ABA-6387-4314-87F6-A78B570A7382}">
      <dgm:prSet phldrT="[Text]" custT="1"/>
      <dgm:spPr/>
      <dgm:t>
        <a:bodyPr/>
        <a:lstStyle/>
        <a:p>
          <a:r>
            <a:rPr lang="en-SG" sz="1800" b="1" dirty="0"/>
            <a:t>Date / Duration</a:t>
          </a:r>
          <a:endParaRPr lang="en-US" sz="1800" dirty="0"/>
        </a:p>
      </dgm:t>
    </dgm:pt>
    <dgm:pt modelId="{1BF7D92B-FF4F-4D4F-9916-97E9F0E155EC}" type="parTrans" cxnId="{9EADA617-85CC-4397-8351-11ACF890972C}">
      <dgm:prSet/>
      <dgm:spPr/>
      <dgm:t>
        <a:bodyPr/>
        <a:lstStyle/>
        <a:p>
          <a:endParaRPr lang="en-US"/>
        </a:p>
      </dgm:t>
    </dgm:pt>
    <dgm:pt modelId="{EA493A25-0704-4066-AB48-8E242CA7EFA5}" type="sibTrans" cxnId="{9EADA617-85CC-4397-8351-11ACF890972C}">
      <dgm:prSet/>
      <dgm:spPr/>
      <dgm:t>
        <a:bodyPr/>
        <a:lstStyle/>
        <a:p>
          <a:endParaRPr lang="en-US"/>
        </a:p>
      </dgm:t>
    </dgm:pt>
    <dgm:pt modelId="{C1B0751B-1295-4CF0-A154-27B7610F3697}" type="pres">
      <dgm:prSet presAssocID="{76EADBC1-BD6F-44E5-ADF0-E969B5B184A4}" presName="Name0" presStyleCnt="0">
        <dgm:presLayoutVars>
          <dgm:chMax val="7"/>
          <dgm:chPref val="7"/>
          <dgm:dir/>
          <dgm:animLvl val="lvl"/>
        </dgm:presLayoutVars>
      </dgm:prSet>
      <dgm:spPr/>
    </dgm:pt>
    <dgm:pt modelId="{2F79C40B-623A-4045-A360-3FCEF337CF4F}" type="pres">
      <dgm:prSet presAssocID="{5D978841-F934-4F3F-9811-F17F7E532911}" presName="Accent1" presStyleCnt="0"/>
      <dgm:spPr/>
    </dgm:pt>
    <dgm:pt modelId="{BCD5A2BC-B050-4B28-9591-8037030D8706}" type="pres">
      <dgm:prSet presAssocID="{5D978841-F934-4F3F-9811-F17F7E532911}" presName="Accent" presStyleLbl="node1" presStyleIdx="0" presStyleCnt="4"/>
      <dgm:spPr/>
    </dgm:pt>
    <dgm:pt modelId="{D2686260-3910-4314-8D54-0E85279C4E6B}" type="pres">
      <dgm:prSet presAssocID="{5D978841-F934-4F3F-9811-F17F7E532911}" presName="Parent1" presStyleLbl="revTx" presStyleIdx="0" presStyleCnt="4">
        <dgm:presLayoutVars>
          <dgm:chMax val="1"/>
          <dgm:chPref val="1"/>
          <dgm:bulletEnabled val="1"/>
        </dgm:presLayoutVars>
      </dgm:prSet>
      <dgm:spPr/>
    </dgm:pt>
    <dgm:pt modelId="{1F63CB7D-3E77-496A-BF9B-4E4FA3B36FE5}" type="pres">
      <dgm:prSet presAssocID="{73EA5ED0-FA46-40EC-922D-D5D66F3146F4}" presName="Accent2" presStyleCnt="0"/>
      <dgm:spPr/>
    </dgm:pt>
    <dgm:pt modelId="{2A87047C-91B9-4135-A7FE-5F4FEE3A3B39}" type="pres">
      <dgm:prSet presAssocID="{73EA5ED0-FA46-40EC-922D-D5D66F3146F4}" presName="Accent" presStyleLbl="node1" presStyleIdx="1" presStyleCnt="4"/>
      <dgm:spPr/>
    </dgm:pt>
    <dgm:pt modelId="{4B0BF273-1008-41FE-B5D3-FF9967C9A7C1}" type="pres">
      <dgm:prSet presAssocID="{73EA5ED0-FA46-40EC-922D-D5D66F3146F4}" presName="Parent2" presStyleLbl="revTx" presStyleIdx="1" presStyleCnt="4">
        <dgm:presLayoutVars>
          <dgm:chMax val="1"/>
          <dgm:chPref val="1"/>
          <dgm:bulletEnabled val="1"/>
        </dgm:presLayoutVars>
      </dgm:prSet>
      <dgm:spPr/>
    </dgm:pt>
    <dgm:pt modelId="{6A2A971F-AB3C-43BC-8A02-646E35BE05B9}" type="pres">
      <dgm:prSet presAssocID="{70440ABA-6387-4314-87F6-A78B570A7382}" presName="Accent3" presStyleCnt="0"/>
      <dgm:spPr/>
    </dgm:pt>
    <dgm:pt modelId="{A7C7FAC9-1220-4F6A-8BE2-48F37D88DF53}" type="pres">
      <dgm:prSet presAssocID="{70440ABA-6387-4314-87F6-A78B570A7382}" presName="Accent" presStyleLbl="node1" presStyleIdx="2" presStyleCnt="4"/>
      <dgm:spPr/>
    </dgm:pt>
    <dgm:pt modelId="{F58D4EA9-BD13-4E39-B1D3-41EBBA912939}" type="pres">
      <dgm:prSet presAssocID="{70440ABA-6387-4314-87F6-A78B570A7382}" presName="Parent3" presStyleLbl="revTx" presStyleIdx="2" presStyleCnt="4">
        <dgm:presLayoutVars>
          <dgm:chMax val="1"/>
          <dgm:chPref val="1"/>
          <dgm:bulletEnabled val="1"/>
        </dgm:presLayoutVars>
      </dgm:prSet>
      <dgm:spPr/>
    </dgm:pt>
    <dgm:pt modelId="{8FBEB014-C37D-4A90-AF9E-75B60927F242}" type="pres">
      <dgm:prSet presAssocID="{AEC8EE01-CB4D-4B34-832B-684D978D7745}" presName="Accent4" presStyleCnt="0"/>
      <dgm:spPr/>
    </dgm:pt>
    <dgm:pt modelId="{9DDE3E4E-01BC-43E1-BA45-D0430E93616A}" type="pres">
      <dgm:prSet presAssocID="{AEC8EE01-CB4D-4B34-832B-684D978D7745}" presName="Accent" presStyleLbl="node1" presStyleIdx="3" presStyleCnt="4"/>
      <dgm:spPr/>
    </dgm:pt>
    <dgm:pt modelId="{768972A1-2882-42D3-87B9-7D4B5E1C850A}" type="pres">
      <dgm:prSet presAssocID="{AEC8EE01-CB4D-4B34-832B-684D978D7745}" presName="Parent4" presStyleLbl="revTx" presStyleIdx="3" presStyleCnt="4">
        <dgm:presLayoutVars>
          <dgm:chMax val="1"/>
          <dgm:chPref val="1"/>
          <dgm:bulletEnabled val="1"/>
        </dgm:presLayoutVars>
      </dgm:prSet>
      <dgm:spPr/>
    </dgm:pt>
  </dgm:ptLst>
  <dgm:cxnLst>
    <dgm:cxn modelId="{76667E0F-BD7F-405F-BAD3-16CD5DFF9A48}" srcId="{76EADBC1-BD6F-44E5-ADF0-E969B5B184A4}" destId="{73EA5ED0-FA46-40EC-922D-D5D66F3146F4}" srcOrd="1" destOrd="0" parTransId="{C8F9EEF2-DB9B-4AD9-984C-712AB5DE7ECA}" sibTransId="{5827604C-A296-4C07-9942-D73A5D59CDBE}"/>
    <dgm:cxn modelId="{9EADA617-85CC-4397-8351-11ACF890972C}" srcId="{76EADBC1-BD6F-44E5-ADF0-E969B5B184A4}" destId="{70440ABA-6387-4314-87F6-A78B570A7382}" srcOrd="2" destOrd="0" parTransId="{1BF7D92B-FF4F-4D4F-9916-97E9F0E155EC}" sibTransId="{EA493A25-0704-4066-AB48-8E242CA7EFA5}"/>
    <dgm:cxn modelId="{9EC5F717-4811-4FCF-8B3B-EBE2E8790BE3}" type="presOf" srcId="{5D978841-F934-4F3F-9811-F17F7E532911}" destId="{D2686260-3910-4314-8D54-0E85279C4E6B}" srcOrd="0" destOrd="0" presId="urn:microsoft.com/office/officeart/2009/layout/CircleArrowProcess"/>
    <dgm:cxn modelId="{8A0E3032-E6AA-486D-9771-088974481D72}" srcId="{76EADBC1-BD6F-44E5-ADF0-E969B5B184A4}" destId="{AEC8EE01-CB4D-4B34-832B-684D978D7745}" srcOrd="3" destOrd="0" parTransId="{5F2EB02F-2EB7-4941-BCB4-F58E1BAD33D1}" sibTransId="{2031AE89-0D7E-4C54-AF38-C0BA3D7BF433}"/>
    <dgm:cxn modelId="{2EA0A34E-63DA-433D-8459-8C0714F6F61D}" type="presOf" srcId="{73EA5ED0-FA46-40EC-922D-D5D66F3146F4}" destId="{4B0BF273-1008-41FE-B5D3-FF9967C9A7C1}" srcOrd="0" destOrd="0" presId="urn:microsoft.com/office/officeart/2009/layout/CircleArrowProcess"/>
    <dgm:cxn modelId="{BBB8338E-CA0E-4E5C-B4DD-3D5EF8E3A071}" type="presOf" srcId="{70440ABA-6387-4314-87F6-A78B570A7382}" destId="{F58D4EA9-BD13-4E39-B1D3-41EBBA912939}" srcOrd="0" destOrd="0" presId="urn:microsoft.com/office/officeart/2009/layout/CircleArrowProcess"/>
    <dgm:cxn modelId="{290F24D2-78BE-4FE0-B99D-95B2E9C6A1E4}" type="presOf" srcId="{AEC8EE01-CB4D-4B34-832B-684D978D7745}" destId="{768972A1-2882-42D3-87B9-7D4B5E1C850A}" srcOrd="0" destOrd="0" presId="urn:microsoft.com/office/officeart/2009/layout/CircleArrowProcess"/>
    <dgm:cxn modelId="{899FB3E0-25BE-46AB-9946-F6FDA6149FE4}" srcId="{76EADBC1-BD6F-44E5-ADF0-E969B5B184A4}" destId="{5D978841-F934-4F3F-9811-F17F7E532911}" srcOrd="0" destOrd="0" parTransId="{00941185-E173-4F53-AF41-A76532DFEBFE}" sibTransId="{978B5710-503B-47E1-A5B0-3752EADD6FC2}"/>
    <dgm:cxn modelId="{F36835FF-9B4D-4416-A8BB-71190DBB752D}" type="presOf" srcId="{76EADBC1-BD6F-44E5-ADF0-E969B5B184A4}" destId="{C1B0751B-1295-4CF0-A154-27B7610F3697}" srcOrd="0" destOrd="0" presId="urn:microsoft.com/office/officeart/2009/layout/CircleArrowProcess"/>
    <dgm:cxn modelId="{EFCEBA4A-E89C-4BEA-A465-6FEF625C297E}" type="presParOf" srcId="{C1B0751B-1295-4CF0-A154-27B7610F3697}" destId="{2F79C40B-623A-4045-A360-3FCEF337CF4F}" srcOrd="0" destOrd="0" presId="urn:microsoft.com/office/officeart/2009/layout/CircleArrowProcess"/>
    <dgm:cxn modelId="{3A1B42CB-89C6-4214-BA46-BD65631765D8}" type="presParOf" srcId="{2F79C40B-623A-4045-A360-3FCEF337CF4F}" destId="{BCD5A2BC-B050-4B28-9591-8037030D8706}" srcOrd="0" destOrd="0" presId="urn:microsoft.com/office/officeart/2009/layout/CircleArrowProcess"/>
    <dgm:cxn modelId="{2F23FB96-BFC6-4DA1-BD01-C719DB52E5E4}" type="presParOf" srcId="{C1B0751B-1295-4CF0-A154-27B7610F3697}" destId="{D2686260-3910-4314-8D54-0E85279C4E6B}" srcOrd="1" destOrd="0" presId="urn:microsoft.com/office/officeart/2009/layout/CircleArrowProcess"/>
    <dgm:cxn modelId="{B49F2BF4-CEC5-42CB-B04D-AB034F1BBBE4}" type="presParOf" srcId="{C1B0751B-1295-4CF0-A154-27B7610F3697}" destId="{1F63CB7D-3E77-496A-BF9B-4E4FA3B36FE5}" srcOrd="2" destOrd="0" presId="urn:microsoft.com/office/officeart/2009/layout/CircleArrowProcess"/>
    <dgm:cxn modelId="{95793FEC-2F47-4E42-A928-15FB62D4391C}" type="presParOf" srcId="{1F63CB7D-3E77-496A-BF9B-4E4FA3B36FE5}" destId="{2A87047C-91B9-4135-A7FE-5F4FEE3A3B39}" srcOrd="0" destOrd="0" presId="urn:microsoft.com/office/officeart/2009/layout/CircleArrowProcess"/>
    <dgm:cxn modelId="{9FAC78F6-67A2-4DD0-8986-313475FA7AB7}" type="presParOf" srcId="{C1B0751B-1295-4CF0-A154-27B7610F3697}" destId="{4B0BF273-1008-41FE-B5D3-FF9967C9A7C1}" srcOrd="3" destOrd="0" presId="urn:microsoft.com/office/officeart/2009/layout/CircleArrowProcess"/>
    <dgm:cxn modelId="{0A53420C-1362-49C0-B95A-30DAC05614CA}" type="presParOf" srcId="{C1B0751B-1295-4CF0-A154-27B7610F3697}" destId="{6A2A971F-AB3C-43BC-8A02-646E35BE05B9}" srcOrd="4" destOrd="0" presId="urn:microsoft.com/office/officeart/2009/layout/CircleArrowProcess"/>
    <dgm:cxn modelId="{B52336F3-9D06-4135-ADD7-E9FB6765F25F}" type="presParOf" srcId="{6A2A971F-AB3C-43BC-8A02-646E35BE05B9}" destId="{A7C7FAC9-1220-4F6A-8BE2-48F37D88DF53}" srcOrd="0" destOrd="0" presId="urn:microsoft.com/office/officeart/2009/layout/CircleArrowProcess"/>
    <dgm:cxn modelId="{43C46F1A-F6F9-4D77-9A0F-1450F4E84353}" type="presParOf" srcId="{C1B0751B-1295-4CF0-A154-27B7610F3697}" destId="{F58D4EA9-BD13-4E39-B1D3-41EBBA912939}" srcOrd="5" destOrd="0" presId="urn:microsoft.com/office/officeart/2009/layout/CircleArrowProcess"/>
    <dgm:cxn modelId="{EE2B641C-C9F1-4BAD-AE7C-56D743AE14E4}" type="presParOf" srcId="{C1B0751B-1295-4CF0-A154-27B7610F3697}" destId="{8FBEB014-C37D-4A90-AF9E-75B60927F242}" srcOrd="6" destOrd="0" presId="urn:microsoft.com/office/officeart/2009/layout/CircleArrowProcess"/>
    <dgm:cxn modelId="{4EE4324C-46AD-4429-83AE-A4A84919CA18}" type="presParOf" srcId="{8FBEB014-C37D-4A90-AF9E-75B60927F242}" destId="{9DDE3E4E-01BC-43E1-BA45-D0430E93616A}" srcOrd="0" destOrd="0" presId="urn:microsoft.com/office/officeart/2009/layout/CircleArrowProcess"/>
    <dgm:cxn modelId="{C8CF36CC-CE54-476F-81EC-4AE24191769D}" type="presParOf" srcId="{C1B0751B-1295-4CF0-A154-27B7610F3697}" destId="{768972A1-2882-42D3-87B9-7D4B5E1C850A}" srcOrd="7" destOrd="0" presId="urn:microsoft.com/office/officeart/2009/layout/CircleArrowProcess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D5A2BC-B050-4B28-9591-8037030D8706}">
      <dsp:nvSpPr>
        <dsp:cNvPr id="0" name=""/>
        <dsp:cNvSpPr/>
      </dsp:nvSpPr>
      <dsp:spPr>
        <a:xfrm>
          <a:off x="1443268" y="132832"/>
          <a:ext cx="2502135" cy="2502389"/>
        </a:xfrm>
        <a:prstGeom prst="circularArrow">
          <a:avLst>
            <a:gd name="adj1" fmla="val 10980"/>
            <a:gd name="adj2" fmla="val 1142322"/>
            <a:gd name="adj3" fmla="val 4500000"/>
            <a:gd name="adj4" fmla="val 10800000"/>
            <a:gd name="adj5" fmla="val 12500"/>
          </a:avLst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D2686260-3910-4314-8D54-0E85279C4E6B}">
      <dsp:nvSpPr>
        <dsp:cNvPr id="0" name=""/>
        <dsp:cNvSpPr/>
      </dsp:nvSpPr>
      <dsp:spPr>
        <a:xfrm>
          <a:off x="1995700" y="1038629"/>
          <a:ext cx="1396333" cy="6980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800" b="1" kern="1200" dirty="0"/>
            <a:t>Date / Duration</a:t>
          </a:r>
          <a:endParaRPr lang="en-US" sz="1800" kern="1200" dirty="0"/>
        </a:p>
      </dsp:txBody>
      <dsp:txXfrm>
        <a:off x="1995700" y="1038629"/>
        <a:ext cx="1396333" cy="698094"/>
      </dsp:txXfrm>
    </dsp:sp>
    <dsp:sp modelId="{2A87047C-91B9-4135-A7FE-5F4FEE3A3B39}">
      <dsp:nvSpPr>
        <dsp:cNvPr id="0" name=""/>
        <dsp:cNvSpPr/>
      </dsp:nvSpPr>
      <dsp:spPr>
        <a:xfrm>
          <a:off x="748152" y="1570827"/>
          <a:ext cx="2502135" cy="2502389"/>
        </a:xfrm>
        <a:prstGeom prst="leftCircularArrow">
          <a:avLst>
            <a:gd name="adj1" fmla="val 10980"/>
            <a:gd name="adj2" fmla="val 1142322"/>
            <a:gd name="adj3" fmla="val 6300000"/>
            <a:gd name="adj4" fmla="val 18900000"/>
            <a:gd name="adj5" fmla="val 12500"/>
          </a:avLst>
        </a:prstGeom>
        <a:gradFill rotWithShape="0">
          <a:gsLst>
            <a:gs pos="0">
              <a:schemeClr val="accent2">
                <a:hueOff val="2147871"/>
                <a:satOff val="-6164"/>
                <a:lumOff val="-987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2147871"/>
                <a:satOff val="-6164"/>
                <a:lumOff val="-987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2147871"/>
                <a:satOff val="-6164"/>
                <a:lumOff val="-987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B0BF273-1008-41FE-B5D3-FF9967C9A7C1}">
      <dsp:nvSpPr>
        <dsp:cNvPr id="0" name=""/>
        <dsp:cNvSpPr/>
      </dsp:nvSpPr>
      <dsp:spPr>
        <a:xfrm>
          <a:off x="1297768" y="2479278"/>
          <a:ext cx="1396333" cy="6980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800" b="1" kern="1200" dirty="0"/>
            <a:t>Date / Duration</a:t>
          </a:r>
          <a:endParaRPr lang="en-US" sz="1800" kern="1200" dirty="0"/>
        </a:p>
      </dsp:txBody>
      <dsp:txXfrm>
        <a:off x="1297768" y="2479278"/>
        <a:ext cx="1396333" cy="698094"/>
      </dsp:txXfrm>
    </dsp:sp>
    <dsp:sp modelId="{A7C7FAC9-1220-4F6A-8BE2-48F37D88DF53}">
      <dsp:nvSpPr>
        <dsp:cNvPr id="0" name=""/>
        <dsp:cNvSpPr/>
      </dsp:nvSpPr>
      <dsp:spPr>
        <a:xfrm>
          <a:off x="1443268" y="3014130"/>
          <a:ext cx="2502135" cy="2502389"/>
        </a:xfrm>
        <a:prstGeom prst="circularArrow">
          <a:avLst>
            <a:gd name="adj1" fmla="val 10980"/>
            <a:gd name="adj2" fmla="val 1142322"/>
            <a:gd name="adj3" fmla="val 4500000"/>
            <a:gd name="adj4" fmla="val 13500000"/>
            <a:gd name="adj5" fmla="val 12500"/>
          </a:avLst>
        </a:prstGeom>
        <a:gradFill rotWithShape="0">
          <a:gsLst>
            <a:gs pos="0">
              <a:schemeClr val="accent2">
                <a:hueOff val="4295743"/>
                <a:satOff val="-12329"/>
                <a:lumOff val="-1973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4295743"/>
                <a:satOff val="-12329"/>
                <a:lumOff val="-1973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4295743"/>
                <a:satOff val="-12329"/>
                <a:lumOff val="-1973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F58D4EA9-BD13-4E39-B1D3-41EBBA912939}">
      <dsp:nvSpPr>
        <dsp:cNvPr id="0" name=""/>
        <dsp:cNvSpPr/>
      </dsp:nvSpPr>
      <dsp:spPr>
        <a:xfrm>
          <a:off x="1995700" y="3919928"/>
          <a:ext cx="1396333" cy="6980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800" b="1" kern="1200" dirty="0"/>
            <a:t>Date / Duration</a:t>
          </a:r>
          <a:endParaRPr lang="en-US" sz="1800" kern="1200" dirty="0"/>
        </a:p>
      </dsp:txBody>
      <dsp:txXfrm>
        <a:off x="1995700" y="3919928"/>
        <a:ext cx="1396333" cy="698094"/>
      </dsp:txXfrm>
    </dsp:sp>
    <dsp:sp modelId="{9DDE3E4E-01BC-43E1-BA45-D0430E93616A}">
      <dsp:nvSpPr>
        <dsp:cNvPr id="0" name=""/>
        <dsp:cNvSpPr/>
      </dsp:nvSpPr>
      <dsp:spPr>
        <a:xfrm>
          <a:off x="926508" y="4618022"/>
          <a:ext cx="2149649" cy="2150688"/>
        </a:xfrm>
        <a:prstGeom prst="blockArc">
          <a:avLst>
            <a:gd name="adj1" fmla="val 0"/>
            <a:gd name="adj2" fmla="val 18900000"/>
            <a:gd name="adj3" fmla="val 12740"/>
          </a:avLst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68972A1-2882-42D3-87B9-7D4B5E1C850A}">
      <dsp:nvSpPr>
        <dsp:cNvPr id="0" name=""/>
        <dsp:cNvSpPr/>
      </dsp:nvSpPr>
      <dsp:spPr>
        <a:xfrm>
          <a:off x="1297768" y="5360577"/>
          <a:ext cx="1396333" cy="6980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SG" sz="1800" b="1" kern="1200" dirty="0"/>
            <a:t>Date / Duration</a:t>
          </a:r>
          <a:endParaRPr lang="en-US" sz="1800" kern="1200" dirty="0"/>
        </a:p>
      </dsp:txBody>
      <dsp:txXfrm>
        <a:off x="1297768" y="5360577"/>
        <a:ext cx="1396333" cy="69809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9/layout/CircleArrowProcess">
  <dgm:title val=""/>
  <dgm:desc val=""/>
  <dgm:catLst>
    <dgm:cat type="process" pri="16500"/>
    <dgm:cat type="cycle" pri="16000"/>
  </dgm:catLst>
  <dgm:samp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</dgm:ptLst>
      <dgm:cxnLst>
        <dgm:cxn modelId="40" srcId="0" destId="10" srcOrd="0" destOrd="0"/>
        <dgm:cxn modelId="50" srcId="0" destId="20" srcOrd="1" destOrd="0"/>
        <dgm:cxn modelId="60" srcId="0" destId="30" srcOrd="2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30" srcId="0" destId="10" srcOrd="0" destOrd="0"/>
        <dgm:cxn modelId="4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50" srcId="0" destId="10" srcOrd="0" destOrd="0"/>
        <dgm:cxn modelId="60" srcId="0" destId="20" srcOrd="1" destOrd="0"/>
        <dgm:cxn modelId="70" srcId="0" destId="30" srcOrd="2" destOrd="0"/>
        <dgm:cxn modelId="80" srcId="0" destId="40" srcOrd="3" destOrd="0"/>
      </dgm:cxnLst>
      <dgm:bg/>
      <dgm:whole/>
    </dgm:dataModel>
  </dgm:clrData>
  <dgm:layoutNode name="Name0">
    <dgm:varLst>
      <dgm:chMax val="7"/>
      <dgm:chPref val="7"/>
      <dgm:dir/>
      <dgm:animLvl val="lvl"/>
    </dgm:varLst>
    <dgm:shape xmlns:r="http://schemas.openxmlformats.org/officeDocument/2006/relationships" r:blip="">
      <dgm:adjLst/>
    </dgm:shape>
    <dgm:choose name="Name1">
      <dgm:if name="Name2" func="var" arg="dir" op="equ" val="norm">
        <dgm:choose name="Name3">
          <dgm:if name="Name4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5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0.1144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Parent1" refType="w" fact="0.2368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0822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6678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5164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  <dgm:constr type="l" for="ch" forName="Accent2" refType="w" fact="0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</dgm:constrLst>
          </dgm:if>
          <dgm:if name="Name6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.1479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Parent1" refType="w" fact="0.2656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Accent3" refType="w" fact="0.185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2" refType="w" fact="0.1183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266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2" refType="w" fact="0.532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1" refType="w" fact="0.680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3" refType="w" fact="0.680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7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.1481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Parent1" refType="w" fact="0.2658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1171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2658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1171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6804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5348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6804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5348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  <dgm:constr type="l" for="ch" forName="Accent4" refType="w" fact="0.038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</dgm:constrLst>
          </dgm:if>
          <dgm:if name="Name8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.1481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186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2658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1171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2658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1171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2658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6804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5348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6804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5348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6804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9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.1481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Parent1" refType="w" fact="0.2658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1171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2658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1171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Child1" refType="w" fact="0.6804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5348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6804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5348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Accent5" refType="w" fact="0.1481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038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5" refType="w" fact="0.2658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1171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5" refType="w" fact="0.6804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5348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0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.1481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.1481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Parent1" refType="w" fact="0.2658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1171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2658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1171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Child1" refType="w" fact="0.6804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5348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6804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5348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Accent5" refType="w" fact="0.1481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186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5" refType="w" fact="0.2658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1171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2658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5" refType="w" fact="0.6804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5348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6804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if>
      <dgm:else name="Name11">
        <dgm:choose name="Name12">
          <dgm:if name="Name13" axis="ch" ptType="node" func="cnt" op="equ" val="1">
            <dgm:alg type="composite">
              <dgm:param type="ar" val="1.5999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l" for="ch" forName="Child1" refType="w" fact="0.625"/>
              <dgm:constr type="t" for="ch" forName="Child1" refType="h" fact="0.2981"/>
              <dgm:constr type="w" for="ch" forName="Child1" refType="w" fact="0.375"/>
              <dgm:constr type="h" for="ch" forName="Child1" refType="h" fact="0.4001"/>
              <dgm:constr type="l" for="ch" forName="Accent1" refType="w" fact="0"/>
              <dgm:constr type="t" for="ch" forName="Accent1" refType="h" fact="0"/>
              <dgm:constr type="w" for="ch" forName="Accent1" refType="w" fact="0.6249"/>
              <dgm:constr type="h" for="ch" forName="Accent1" refType="h"/>
              <dgm:constr type="l" for="ch" forName="Parent1" refType="w" fact="0.138"/>
              <dgm:constr type="t" for="ch" forName="Parent1" refType="h" fact="0.362"/>
              <dgm:constr type="w" for="ch" forName="Parent1" refType="w" fact="0.3487"/>
              <dgm:constr type="h" for="ch" forName="Parent1" refType="h" fact="0.2789"/>
            </dgm:constrLst>
          </dgm:if>
          <dgm:if name="Name14" axis="ch" ptType="node" func="cnt" op="equ" val="2">
            <dgm:alg type="composite">
              <dgm:param type="ar" val="1.2026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Parent2" refType="primFontSz" refFor="des" refForName="Parent1" op="equ"/>
              <dgm:constr type="primFontSz" for="des" forName="Child2" refType="primFontSz" refFor="des" refForName="Child1" op="equ"/>
              <dgm:constr type="l" for="ch" forName="Accent1" refType="w" fact="-0.0407"/>
              <dgm:constr type="t" for="ch" forName="Accent1" refType="h" fact="0"/>
              <dgm:constr type="w" for="ch" forName="Accent1" refType="w" fact="0.5542"/>
              <dgm:constr type="h" for="ch" forName="Accent1" refType="h" fact="0.6665"/>
              <dgm:constr type="l" for="ch" forName="Accent2" refType="w" fact="0.1533"/>
              <dgm:constr type="t" for="ch" forName="Accent2" refType="h" fact="0.4272"/>
              <dgm:constr type="w" for="ch" forName="Accent2" refType="w" fact="0.4761"/>
              <dgm:constr type="h" for="ch" forName="Accent2" refType="h" fact="0.5728"/>
              <dgm:constr type="l" for="ch" forName="Parent1" refType="w" fact="0.0822"/>
              <dgm:constr type="t" for="ch" forName="Parent1" refType="h" fact="0.2413"/>
              <dgm:constr type="w" for="ch" forName="Parent1" refType="w" fact="0.3092"/>
              <dgm:constr type="h" for="ch" forName="Parent1" refType="h" fact="0.1859"/>
              <dgm:constr type="l" for="ch" forName="Parent2" refType="w" fact="0.2368"/>
              <dgm:constr type="t" for="ch" forName="Parent2" refType="h" fact="0.625"/>
              <dgm:constr type="w" for="ch" forName="Parent2" refType="w" fact="0.3092"/>
              <dgm:constr type="h" for="ch" forName="Parent2" refType="h" fact="0.1859"/>
              <dgm:constr type="l" for="ch" forName="Child1" refType="w" fact="0.5164"/>
              <dgm:constr type="t" for="ch" forName="Child1" refType="h" fact="0.1978"/>
              <dgm:constr type="w" for="ch" forName="Child1" refType="w" fact="0.3322"/>
              <dgm:constr type="h" for="ch" forName="Child1" refType="h" fact="0.265"/>
              <dgm:constr type="l" for="ch" forName="Child2" refType="w" fact="0.6678"/>
              <dgm:constr type="t" for="ch" forName="Child2" refType="h" fact="0.5855"/>
              <dgm:constr type="w" for="ch" forName="Child2" refType="w" fact="0.3322"/>
              <dgm:constr type="h" for="ch" forName="Child2" refType="h" fact="0.265"/>
            </dgm:constrLst>
          </dgm:if>
          <dgm:if name="Name15" axis="ch" ptType="node" func="cnt" op="equ" val="3">
            <dgm:alg type="composite">
              <dgm:param type="ar" val="0.9039"/>
            </dgm:alg>
            <dgm:shape xmlns:r="http://schemas.openxmlformats.org/officeDocument/2006/relationships" r:blip="">
              <dgm:adjLst/>
            </dgm:shape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25"/>
              <dgm:constr type="h" for="ch" forName="Accent1" refType="h" fact="0.4814"/>
              <dgm:constr type="l" for="ch" forName="Accent2" refType="w" fact="0.1479"/>
              <dgm:constr type="t" for="ch" forName="Accent2" refType="h" fact="0.2766"/>
              <dgm:constr type="w" for="ch" forName="Accent2" refType="w" fact="0.5325"/>
              <dgm:constr type="h" for="ch" forName="Accent2" refType="h" fact="0.4814"/>
              <dgm:constr type="l" for="ch" forName="Accent3" refType="w" fact="0.0378"/>
              <dgm:constr type="t" for="ch" forName="Accent3" refType="h" fact="0.5863"/>
              <dgm:constr type="w" for="ch" forName="Accent3" refType="w" fact="0.4575"/>
              <dgm:constr type="h" for="ch" forName="Accent3" refType="h" fact="0.4137"/>
              <dgm:constr type="l" for="ch" forName="Parent1" refType="w" fact="0.1183"/>
              <dgm:constr type="t" for="ch" forName="Parent1" refType="h" fact="0.1738"/>
              <dgm:constr type="w" for="ch" forName="Parent1" refType="w" fact="0.2959"/>
              <dgm:constr type="h" for="ch" forName="Parent1" refType="h" fact="0.1337"/>
              <dgm:constr type="l" for="ch" forName="Parent2" refType="w" fact="0.2656"/>
              <dgm:constr type="t" for="ch" forName="Parent2" refType="h" fact="0.452"/>
              <dgm:constr type="w" for="ch" forName="Parent2" refType="w" fact="0.2959"/>
              <dgm:constr type="h" for="ch" forName="Parent2" refType="h" fact="0.1337"/>
              <dgm:constr type="l" for="ch" forName="Parent3" refType="w" fact="0.1183"/>
              <dgm:constr type="t" for="ch" forName="Parent3" refType="h" fact="0.7306"/>
              <dgm:constr type="w" for="ch" forName="Parent3" refType="w" fact="0.2959"/>
              <dgm:constr type="h" for="ch" forName="Parent3" refType="h" fact="0.1337"/>
              <dgm:constr type="l" for="ch" forName="Child1" refType="w" fact="0.5325"/>
              <dgm:constr type="t" for="ch" forName="Child1" refType="h" fact="0.1435"/>
              <dgm:constr type="w" for="ch" forName="Child1" refType="w" fact="0.3195"/>
              <dgm:constr type="h" for="ch" forName="Child1" refType="h" fact="0.1926"/>
              <dgm:constr type="l" for="ch" forName="Child2" refType="w" fact="0.6805"/>
              <dgm:constr type="t" for="ch" forName="Child2" refType="h" fact="0.4217"/>
              <dgm:constr type="w" for="ch" forName="Child2" refType="w" fact="0.3195"/>
              <dgm:constr type="h" for="ch" forName="Child2" refType="h" fact="0.1926"/>
              <dgm:constr type="l" for="ch" forName="Child3" refType="w" fact="0.5325"/>
              <dgm:constr type="t" for="ch" forName="Child3" refType="h" fact="0.6998"/>
              <dgm:constr type="w" for="ch" forName="Child3" refType="w" fact="0.3195"/>
              <dgm:constr type="h" for="ch" forName="Child3" refType="h" fact="0.1926"/>
            </dgm:constrLst>
          </dgm:if>
          <dgm:if name="Name16" axis="ch" ptType="node" func="cnt" op="equ" val="4">
            <dgm:alg type="composite">
              <dgm:param type="ar" val="0.7073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771"/>
              <dgm:constr type="l" for="ch" forName="Accent2" refType="w" fact="0.1481"/>
              <dgm:constr type="t" for="ch" forName="Accent2" refType="h" fact="0.2167"/>
              <dgm:constr type="w" for="ch" forName="Accent2" refType="w" fact="0.5331"/>
              <dgm:constr type="h" for="ch" forName="Accent2" refType="h" fact="0.3771"/>
              <dgm:constr type="l" for="ch" forName="Accent3" refType="w" fact="0"/>
              <dgm:constr type="t" for="ch" forName="Accent3" refType="h" fact="0.4342"/>
              <dgm:constr type="w" for="ch" forName="Accent3" refType="w" fact="0.5331"/>
              <dgm:constr type="h" for="ch" forName="Accent3" refType="h" fact="0.3771"/>
              <dgm:constr type="l" for="ch" forName="Accent4" refType="w" fact="0.186"/>
              <dgm:constr type="t" for="ch" forName="Accent4" refType="h" fact="0.6759"/>
              <dgm:constr type="w" for="ch" forName="Accent4" refType="w" fact="0.458"/>
              <dgm:constr type="h" for="ch" forName="Accent4" refType="h" fact="0.3241"/>
              <dgm:constr type="l" for="ch" forName="Parent1" refType="w" fact="0.1171"/>
              <dgm:constr type="t" for="ch" forName="Parent1" refType="h" fact="0.1365"/>
              <dgm:constr type="w" for="ch" forName="Parent1" refType="w" fact="0.2975"/>
              <dgm:constr type="h" for="ch" forName="Parent1" refType="h" fact="0.1052"/>
              <dgm:constr type="l" for="ch" forName="Parent2" refType="w" fact="0.2658"/>
              <dgm:constr type="t" for="ch" forName="Parent2" refType="h" fact="0.3536"/>
              <dgm:constr type="w" for="ch" forName="Parent2" refType="w" fact="0.2975"/>
              <dgm:constr type="h" for="ch" forName="Parent2" refType="h" fact="0.1052"/>
              <dgm:constr type="l" for="ch" forName="Parent3" refType="w" fact="0.1171"/>
              <dgm:constr type="t" for="ch" forName="Parent3" refType="h" fact="0.5707"/>
              <dgm:constr type="w" for="ch" forName="Parent3" refType="w" fact="0.2975"/>
              <dgm:constr type="h" for="ch" forName="Parent3" refType="h" fact="0.1052"/>
              <dgm:constr type="l" for="ch" forName="Parent4" refType="w" fact="0.2658"/>
              <dgm:constr type="t" for="ch" forName="Parent4" refType="h" fact="0.7878"/>
              <dgm:constr type="w" for="ch" forName="Parent4" refType="w" fact="0.2975"/>
              <dgm:constr type="h" for="ch" forName="Parent4" refType="h" fact="0.1052"/>
              <dgm:constr type="l" for="ch" forName="Child1" refType="w" fact="0.5348"/>
              <dgm:constr type="t" for="ch" forName="Child1" refType="h" fact="0.1119"/>
              <dgm:constr type="w" for="ch" forName="Child1" refType="w" fact="0.3196"/>
              <dgm:constr type="h" for="ch" forName="Child1" refType="h" fact="0.15"/>
              <dgm:constr type="l" for="ch" forName="Child2" refType="w" fact="0.6804"/>
              <dgm:constr type="t" for="ch" forName="Child2" refType="h" fact="0.3312"/>
              <dgm:constr type="w" for="ch" forName="Child2" refType="w" fact="0.3196"/>
              <dgm:constr type="h" for="ch" forName="Child2" refType="h" fact="0.15"/>
              <dgm:constr type="l" for="ch" forName="Child3" refType="w" fact="0.5348"/>
              <dgm:constr type="t" for="ch" forName="Child3" refType="h" fact="0.5461"/>
              <dgm:constr type="w" for="ch" forName="Child3" refType="w" fact="0.3196"/>
              <dgm:constr type="h" for="ch" forName="Child3" refType="h" fact="0.15"/>
              <dgm:constr type="l" for="ch" forName="Child4" refType="w" fact="0.6804"/>
              <dgm:constr type="t" for="ch" forName="Child4" refType="h" fact="0.7632"/>
              <dgm:constr type="w" for="ch" forName="Child4" refType="w" fact="0.3196"/>
              <dgm:constr type="h" for="ch" forName="Child4" refType="h" fact="0.15"/>
            </dgm:constrLst>
          </dgm:if>
          <dgm:if name="Name17" axis="ch" ptType="node" func="cnt" op="equ" val="5">
            <dgm:alg type="composite">
              <dgm:param type="ar" val="0.581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3098"/>
              <dgm:constr type="l" for="ch" forName="Accent2" refType="w" fact="0.1481"/>
              <dgm:constr type="t" for="ch" forName="Accent2" refType="h" fact="0.178"/>
              <dgm:constr type="w" for="ch" forName="Accent2" refType="w" fact="0.5331"/>
              <dgm:constr type="h" for="ch" forName="Accent2" refType="h" fact="0.3098"/>
              <dgm:constr type="l" for="ch" forName="Accent3" refType="w" fact="0"/>
              <dgm:constr type="t" for="ch" forName="Accent3" refType="h" fact="0.3568"/>
              <dgm:constr type="w" for="ch" forName="Accent3" refType="w" fact="0.5331"/>
              <dgm:constr type="h" for="ch" forName="Accent3" refType="h" fact="0.3098"/>
              <dgm:constr type="l" for="ch" forName="Accent4" refType="w" fact="0.1481"/>
              <dgm:constr type="t" for="ch" forName="Accent4" refType="h" fact="0.5351"/>
              <dgm:constr type="w" for="ch" forName="Accent4" refType="w" fact="0.5331"/>
              <dgm:constr type="h" for="ch" forName="Accent4" refType="h" fact="0.3098"/>
              <dgm:constr type="l" for="ch" forName="Accent5" refType="w" fact="0.0378"/>
              <dgm:constr type="t" for="ch" forName="Accent5" refType="h" fact="0.7337"/>
              <dgm:constr type="w" for="ch" forName="Accent5" refType="w" fact="0.458"/>
              <dgm:constr type="h" for="ch" forName="Accent5" refType="h" fact="0.2663"/>
              <dgm:constr type="l" for="ch" forName="Parent1" refType="w" fact="0.1171"/>
              <dgm:constr type="t" for="ch" forName="Parent1" refType="h" fact="0.1122"/>
              <dgm:constr type="w" for="ch" forName="Parent1" refType="w" fact="0.2975"/>
              <dgm:constr type="h" for="ch" forName="Parent1" refType="h" fact="0.0864"/>
              <dgm:constr type="l" for="ch" forName="Parent2" refType="w" fact="0.2658"/>
              <dgm:constr type="t" for="ch" forName="Parent2" refType="h" fact="0.2906"/>
              <dgm:constr type="w" for="ch" forName="Parent2" refType="w" fact="0.2975"/>
              <dgm:constr type="h" for="ch" forName="Parent2" refType="h" fact="0.0864"/>
              <dgm:constr type="l" for="ch" forName="Parent3" refType="w" fact="0.1171"/>
              <dgm:constr type="t" for="ch" forName="Parent3" refType="h" fact="0.4689"/>
              <dgm:constr type="w" for="ch" forName="Parent3" refType="w" fact="0.2975"/>
              <dgm:constr type="h" for="ch" forName="Parent3" refType="h" fact="0.0864"/>
              <dgm:constr type="l" for="ch" forName="Parent4" refType="w" fact="0.2658"/>
              <dgm:constr type="t" for="ch" forName="Parent4" refType="h" fact="0.6473"/>
              <dgm:constr type="w" for="ch" forName="Parent4" refType="w" fact="0.2975"/>
              <dgm:constr type="h" for="ch" forName="Parent4" refType="h" fact="0.0864"/>
              <dgm:constr type="l" for="ch" forName="Parent5" refType="w" fact="0.1171"/>
              <dgm:constr type="t" for="ch" forName="Parent5" refType="h" fact="0.8257"/>
              <dgm:constr type="w" for="ch" forName="Parent5" refType="w" fact="0.2975"/>
              <dgm:constr type="h" for="ch" forName="Parent5" refType="h" fact="0.0864"/>
              <dgm:constr type="l" for="ch" forName="Child1" refType="w" fact="0.5348"/>
              <dgm:constr type="t" for="ch" forName="Child1" refType="h" fact="0.0919"/>
              <dgm:constr type="w" for="ch" forName="Child1" refType="w" fact="0.3196"/>
              <dgm:constr type="h" for="ch" forName="Child1" refType="h" fact="0.1232"/>
              <dgm:constr type="l" for="ch" forName="Child2" refType="w" fact="0.6804"/>
              <dgm:constr type="t" for="ch" forName="Child2" refType="h" fact="0.2722"/>
              <dgm:constr type="w" for="ch" forName="Child2" refType="w" fact="0.3196"/>
              <dgm:constr type="h" for="ch" forName="Child2" refType="h" fact="0.1232"/>
              <dgm:constr type="l" for="ch" forName="Child3" refType="w" fact="0.5348"/>
              <dgm:constr type="t" for="ch" forName="Child3" refType="h" fact="0.4487"/>
              <dgm:constr type="w" for="ch" forName="Child3" refType="w" fact="0.3196"/>
              <dgm:constr type="h" for="ch" forName="Child3" refType="h" fact="0.1232"/>
              <dgm:constr type="l" for="ch" forName="Child4" refType="w" fact="0.6804"/>
              <dgm:constr type="t" for="ch" forName="Child4" refType="h" fact="0.6271"/>
              <dgm:constr type="w" for="ch" forName="Child4" refType="w" fact="0.3196"/>
              <dgm:constr type="h" for="ch" forName="Child4" refType="h" fact="0.1232"/>
              <dgm:constr type="l" for="ch" forName="Child5" refType="w" fact="0.5348"/>
              <dgm:constr type="t" for="ch" forName="Child5" refType="h" fact="0.8073"/>
              <dgm:constr type="w" for="ch" forName="Child5" refType="w" fact="0.3196"/>
              <dgm:constr type="h" for="ch" forName="Child5" refType="h" fact="0.1232"/>
            </dgm:constrLst>
          </dgm:if>
          <dgm:if name="Name18" axis="ch" ptType="node" func="cnt" op="equ" val="6">
            <dgm:alg type="composite">
              <dgm:param type="ar" val="0.4931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629"/>
              <dgm:constr type="l" for="ch" forName="Accent2" refType="w" fact="0.1481"/>
              <dgm:constr type="t" for="ch" forName="Accent2" refType="h" fact="0.1511"/>
              <dgm:constr type="w" for="ch" forName="Accent2" refType="w" fact="0.5331"/>
              <dgm:constr type="h" for="ch" forName="Accent2" refType="h" fact="0.2629"/>
              <dgm:constr type="l" for="ch" forName="Accent3" refType="w" fact="0"/>
              <dgm:constr type="t" for="ch" forName="Accent3" refType="h" fact="0.3027"/>
              <dgm:constr type="w" for="ch" forName="Accent3" refType="w" fact="0.5331"/>
              <dgm:constr type="h" for="ch" forName="Accent3" refType="h" fact="0.2629"/>
              <dgm:constr type="l" for="ch" forName="Accent4" refType="w" fact="0.1481"/>
              <dgm:constr type="t" for="ch" forName="Accent4" refType="h" fact="0.4541"/>
              <dgm:constr type="w" for="ch" forName="Accent4" refType="w" fact="0.5331"/>
              <dgm:constr type="h" for="ch" forName="Accent4" refType="h" fact="0.2629"/>
              <dgm:constr type="l" for="ch" forName="Accent5" refType="w" fact="0"/>
              <dgm:constr type="t" for="ch" forName="Accent5" refType="h" fact="0.6053"/>
              <dgm:constr type="w" for="ch" forName="Accent5" refType="w" fact="0.5331"/>
              <dgm:constr type="h" for="ch" forName="Accent5" refType="h" fact="0.2629"/>
              <dgm:constr type="l" for="ch" forName="Accent6" refType="w" fact="0.186"/>
              <dgm:constr type="t" for="ch" forName="Accent6" refType="h" fact="0.774"/>
              <dgm:constr type="w" for="ch" forName="Accent6" refType="w" fact="0.458"/>
              <dgm:constr type="h" for="ch" forName="Accent6" refType="h" fact="0.226"/>
              <dgm:constr type="l" for="ch" forName="Parent1" refType="w" fact="0.1171"/>
              <dgm:constr type="t" for="ch" forName="Parent1" refType="h" fact="0.0952"/>
              <dgm:constr type="w" for="ch" forName="Parent1" refType="w" fact="0.2975"/>
              <dgm:constr type="h" for="ch" forName="Parent1" refType="h" fact="0.0733"/>
              <dgm:constr type="l" for="ch" forName="Parent2" refType="w" fact="0.2658"/>
              <dgm:constr type="t" for="ch" forName="Parent2" refType="h" fact="0.2466"/>
              <dgm:constr type="w" for="ch" forName="Parent2" refType="w" fact="0.2975"/>
              <dgm:constr type="h" for="ch" forName="Parent2" refType="h" fact="0.0733"/>
              <dgm:constr type="l" for="ch" forName="Parent3" refType="w" fact="0.1171"/>
              <dgm:constr type="t" for="ch" forName="Parent3" refType="h" fact="0.3979"/>
              <dgm:constr type="w" for="ch" forName="Parent3" refType="w" fact="0.2975"/>
              <dgm:constr type="h" for="ch" forName="Parent3" refType="h" fact="0.0733"/>
              <dgm:constr type="l" for="ch" forName="Parent4" refType="w" fact="0.2658"/>
              <dgm:constr type="t" for="ch" forName="Parent4" refType="h" fact="0.5493"/>
              <dgm:constr type="w" for="ch" forName="Parent4" refType="w" fact="0.2975"/>
              <dgm:constr type="h" for="ch" forName="Parent4" refType="h" fact="0.0733"/>
              <dgm:constr type="l" for="ch" forName="Parent5" refType="w" fact="0.1171"/>
              <dgm:constr type="t" for="ch" forName="Parent5" refType="h" fact="0.7005"/>
              <dgm:constr type="w" for="ch" forName="Parent5" refType="w" fact="0.2975"/>
              <dgm:constr type="h" for="ch" forName="Parent5" refType="h" fact="0.0733"/>
              <dgm:constr type="l" for="ch" forName="Parent6" refType="w" fact="0.2658"/>
              <dgm:constr type="t" for="ch" forName="Parent6" refType="h" fact="0.8519"/>
              <dgm:constr type="w" for="ch" forName="Parent6" refType="w" fact="0.2975"/>
              <dgm:constr type="h" for="ch" forName="Parent6" refType="h" fact="0.0733"/>
              <dgm:constr type="l" for="ch" forName="Child1" refType="w" fact="0.5348"/>
              <dgm:constr type="t" for="ch" forName="Child1" refType="h" fact="0.078"/>
              <dgm:constr type="w" for="ch" forName="Child1" refType="w" fact="0.3196"/>
              <dgm:constr type="h" for="ch" forName="Child1" refType="h" fact="0.1046"/>
              <dgm:constr type="l" for="ch" forName="Child2" refType="w" fact="0.6804"/>
              <dgm:constr type="t" for="ch" forName="Child2" refType="h" fact="0.231"/>
              <dgm:constr type="w" for="ch" forName="Child2" refType="w" fact="0.3196"/>
              <dgm:constr type="h" for="ch" forName="Child2" refType="h" fact="0.1046"/>
              <dgm:constr type="l" for="ch" forName="Child3" refType="w" fact="0.5348"/>
              <dgm:constr type="t" for="ch" forName="Child3" refType="h" fact="0.3808"/>
              <dgm:constr type="w" for="ch" forName="Child3" refType="w" fact="0.3196"/>
              <dgm:constr type="h" for="ch" forName="Child3" refType="h" fact="0.1046"/>
              <dgm:constr type="l" for="ch" forName="Child4" refType="w" fact="0.6804"/>
              <dgm:constr type="t" for="ch" forName="Child4" refType="h" fact="0.5322"/>
              <dgm:constr type="w" for="ch" forName="Child4" refType="w" fact="0.3196"/>
              <dgm:constr type="h" for="ch" forName="Child4" refType="h" fact="0.1046"/>
              <dgm:constr type="l" for="ch" forName="Child5" refType="w" fact="0.5348"/>
              <dgm:constr type="t" for="ch" forName="Child5" refType="h" fact="0.6833"/>
              <dgm:constr type="w" for="ch" forName="Child5" refType="w" fact="0.3196"/>
              <dgm:constr type="h" for="ch" forName="Child5" refType="h" fact="0.1046"/>
              <dgm:constr type="l" for="ch" forName="Child6" refType="w" fact="0.6804"/>
              <dgm:constr type="t" for="ch" forName="Child6" refType="h" fact="0.8347"/>
              <dgm:constr type="w" for="ch" forName="Child6" refType="w" fact="0.3196"/>
              <dgm:constr type="h" for="ch" forName="Child6" refType="h" fact="0.1046"/>
            </dgm:constrLst>
          </dgm:if>
          <dgm:else name="Name19">
            <dgm:alg type="composite">
              <dgm:param type="ar" val="0.4284"/>
            </dgm:alg>
            <dgm:constrLst>
              <dgm:constr type="primFontSz" for="des" forName="Child1" val="65"/>
              <dgm:constr type="primFontSz" for="des" forName="Parent1" val="65"/>
              <dgm:constr type="primFontSz" for="des" forName="Child1" refType="primFontSz" refFor="des" refForName="Parent1" op="lte"/>
              <dgm:constr type="primFontSz" for="des" forName="Child2" refType="primFontSz" refFor="des" refForName="Parent1" op="lte"/>
              <dgm:constr type="primFontSz" for="des" forName="Child3" refType="primFontSz" refFor="des" refForName="Parent1" op="lte"/>
              <dgm:constr type="primFontSz" for="des" forName="Child4" refType="primFontSz" refFor="des" refForName="Parent1" op="lte"/>
              <dgm:constr type="primFontSz" for="des" forName="Child5" refType="primFontSz" refFor="des" refForName="Parent1" op="lte"/>
              <dgm:constr type="primFontSz" for="des" forName="Child6" refType="primFontSz" refFor="des" refForName="Parent1" op="lte"/>
              <dgm:constr type="primFontSz" for="des" forName="Child7" refType="primFontSz" refFor="des" refForName="Parent1" op="lte"/>
              <dgm:constr type="primFontSz" for="des" forName="Child1" refType="primFontSz" refFor="des" refForName="Parent2" op="lte"/>
              <dgm:constr type="primFontSz" for="des" forName="Child2" refType="primFontSz" refFor="des" refForName="Parent2" op="lte"/>
              <dgm:constr type="primFontSz" for="des" forName="Child3" refType="primFontSz" refFor="des" refForName="Parent2" op="lte"/>
              <dgm:constr type="primFontSz" for="des" forName="Child4" refType="primFontSz" refFor="des" refForName="Parent2" op="lte"/>
              <dgm:constr type="primFontSz" for="des" forName="Child5" refType="primFontSz" refFor="des" refForName="Parent2" op="lte"/>
              <dgm:constr type="primFontSz" for="des" forName="Child6" refType="primFontSz" refFor="des" refForName="Parent2" op="lte"/>
              <dgm:constr type="primFontSz" for="des" forName="Child7" refType="primFontSz" refFor="des" refForName="Parent2" op="lte"/>
              <dgm:constr type="primFontSz" for="des" forName="Child1" refType="primFontSz" refFor="des" refForName="Parent3" op="lte"/>
              <dgm:constr type="primFontSz" for="des" forName="Child2" refType="primFontSz" refFor="des" refForName="Parent3" op="lte"/>
              <dgm:constr type="primFontSz" for="des" forName="Child3" refType="primFontSz" refFor="des" refForName="Parent3" op="lte"/>
              <dgm:constr type="primFontSz" for="des" forName="Child4" refType="primFontSz" refFor="des" refForName="Parent3" op="lte"/>
              <dgm:constr type="primFontSz" for="des" forName="Child5" refType="primFontSz" refFor="des" refForName="Parent3" op="lte"/>
              <dgm:constr type="primFontSz" for="des" forName="Child6" refType="primFontSz" refFor="des" refForName="Parent3" op="lte"/>
              <dgm:constr type="primFontSz" for="des" forName="Child7" refType="primFontSz" refFor="des" refForName="Parent3" op="lte"/>
              <dgm:constr type="primFontSz" for="des" forName="Child1" refType="primFontSz" refFor="des" refForName="Parent4" op="lte"/>
              <dgm:constr type="primFontSz" for="des" forName="Child2" refType="primFontSz" refFor="des" refForName="Parent4" op="lte"/>
              <dgm:constr type="primFontSz" for="des" forName="Child3" refType="primFontSz" refFor="des" refForName="Parent4" op="lte"/>
              <dgm:constr type="primFontSz" for="des" forName="Child4" refType="primFontSz" refFor="des" refForName="Parent4" op="lte"/>
              <dgm:constr type="primFontSz" for="des" forName="Child5" refType="primFontSz" refFor="des" refForName="Parent4" op="lte"/>
              <dgm:constr type="primFontSz" for="des" forName="Child6" refType="primFontSz" refFor="des" refForName="Parent4" op="lte"/>
              <dgm:constr type="primFontSz" for="des" forName="Child7" refType="primFontSz" refFor="des" refForName="Parent4" op="lte"/>
              <dgm:constr type="primFontSz" for="des" forName="Child1" refType="primFontSz" refFor="des" refForName="Parent5" op="lte"/>
              <dgm:constr type="primFontSz" for="des" forName="Child2" refType="primFontSz" refFor="des" refForName="Parent5" op="lte"/>
              <dgm:constr type="primFontSz" for="des" forName="Child3" refType="primFontSz" refFor="des" refForName="Parent5" op="lte"/>
              <dgm:constr type="primFontSz" for="des" forName="Child4" refType="primFontSz" refFor="des" refForName="Parent5" op="lte"/>
              <dgm:constr type="primFontSz" for="des" forName="Child5" refType="primFontSz" refFor="des" refForName="Parent5" op="lte"/>
              <dgm:constr type="primFontSz" for="des" forName="Child6" refType="primFontSz" refFor="des" refForName="Parent5" op="lte"/>
              <dgm:constr type="primFontSz" for="des" forName="Child7" refType="primFontSz" refFor="des" refForName="Parent5" op="lte"/>
              <dgm:constr type="primFontSz" for="des" forName="Child1" refType="primFontSz" refFor="des" refForName="Parent6" op="lte"/>
              <dgm:constr type="primFontSz" for="des" forName="Child2" refType="primFontSz" refFor="des" refForName="Parent6" op="lte"/>
              <dgm:constr type="primFontSz" for="des" forName="Child3" refType="primFontSz" refFor="des" refForName="Parent6" op="lte"/>
              <dgm:constr type="primFontSz" for="des" forName="Child4" refType="primFontSz" refFor="des" refForName="Parent6" op="lte"/>
              <dgm:constr type="primFontSz" for="des" forName="Child5" refType="primFontSz" refFor="des" refForName="Parent6" op="lte"/>
              <dgm:constr type="primFontSz" for="des" forName="Child6" refType="primFontSz" refFor="des" refForName="Parent6" op="lte"/>
              <dgm:constr type="primFontSz" for="des" forName="Child7" refType="primFontSz" refFor="des" refForName="Parent6" op="lte"/>
              <dgm:constr type="primFontSz" for="des" forName="Child1" refType="primFontSz" refFor="des" refForName="Parent7" op="lte"/>
              <dgm:constr type="primFontSz" for="des" forName="Child2" refType="primFontSz" refFor="des" refForName="Parent7" op="lte"/>
              <dgm:constr type="primFontSz" for="des" forName="Child3" refType="primFontSz" refFor="des" refForName="Parent7" op="lte"/>
              <dgm:constr type="primFontSz" for="des" forName="Child4" refType="primFontSz" refFor="des" refForName="Parent7" op="lte"/>
              <dgm:constr type="primFontSz" for="des" forName="Child5" refType="primFontSz" refFor="des" refForName="Parent7" op="lte"/>
              <dgm:constr type="primFontSz" for="des" forName="Child6" refType="primFontSz" refFor="des" refForName="Parent7" op="lte"/>
              <dgm:constr type="primFontSz" for="des" forName="Child7" refType="primFontSz" refFor="des" refForName="Parent7" op="lte"/>
              <dgm:constr type="primFontSz" for="des" forName="Parent2" refType="primFontSz" refFor="des" refForName="Parent1" op="equ"/>
              <dgm:constr type="primFontSz" for="des" forName="Parent3" refType="primFontSz" refFor="des" refForName="Parent1" op="equ"/>
              <dgm:constr type="primFontSz" for="des" forName="Parent4" refType="primFontSz" refFor="des" refForName="Parent1" op="equ"/>
              <dgm:constr type="primFontSz" for="des" forName="Parent5" refType="primFontSz" refFor="des" refForName="Parent1" op="equ"/>
              <dgm:constr type="primFontSz" for="des" forName="Parent6" refType="primFontSz" refFor="des" refForName="Parent1" op="equ"/>
              <dgm:constr type="primFontSz" for="des" forName="Parent7" refType="primFontSz" refFor="des" refForName="Parent1" op="equ"/>
              <dgm:constr type="primFontSz" for="des" forName="Child2" refType="primFontSz" refFor="des" refForName="Child1" op="equ"/>
              <dgm:constr type="primFontSz" for="des" forName="Child3" refType="primFontSz" refFor="des" refForName="Child1" op="equ"/>
              <dgm:constr type="primFontSz" for="des" forName="Child4" refType="primFontSz" refFor="des" refForName="Child1" op="equ"/>
              <dgm:constr type="primFontSz" for="des" forName="Child5" refType="primFontSz" refFor="des" refForName="Child1" op="equ"/>
              <dgm:constr type="primFontSz" for="des" forName="Child6" refType="primFontSz" refFor="des" refForName="Child1" op="equ"/>
              <dgm:constr type="primFontSz" for="des" forName="Child7" refType="primFontSz" refFor="des" refForName="Child1" op="equ"/>
              <dgm:constr type="l" for="ch" forName="Accent1" refType="w" fact="0"/>
              <dgm:constr type="t" for="ch" forName="Accent1" refType="h" fact="0"/>
              <dgm:constr type="w" for="ch" forName="Accent1" refType="w" fact="0.5331"/>
              <dgm:constr type="h" for="ch" forName="Accent1" refType="h" fact="0.2284"/>
              <dgm:constr type="l" for="ch" forName="Accent2" refType="w" fact="0.1481"/>
              <dgm:constr type="t" for="ch" forName="Accent2" refType="h" fact="0.1312"/>
              <dgm:constr type="w" for="ch" forName="Accent2" refType="w" fact="0.5331"/>
              <dgm:constr type="h" for="ch" forName="Accent2" refType="h" fact="0.2284"/>
              <dgm:constr type="l" for="ch" forName="Accent3" refType="w" fact="0"/>
              <dgm:constr type="t" for="ch" forName="Accent3" refType="h" fact="0.263"/>
              <dgm:constr type="w" for="ch" forName="Accent3" refType="w" fact="0.5331"/>
              <dgm:constr type="h" for="ch" forName="Accent3" refType="h" fact="0.2284"/>
              <dgm:constr type="l" for="ch" forName="Accent4" refType="w" fact="0.1481"/>
              <dgm:constr type="t" for="ch" forName="Accent4" refType="h" fact="0.3945"/>
              <dgm:constr type="w" for="ch" forName="Accent4" refType="w" fact="0.5331"/>
              <dgm:constr type="h" for="ch" forName="Accent4" refType="h" fact="0.2284"/>
              <dgm:constr type="l" for="ch" forName="Accent5" refType="w" fact="0"/>
              <dgm:constr type="t" for="ch" forName="Accent5" refType="h" fact="0.5258"/>
              <dgm:constr type="w" for="ch" forName="Accent5" refType="w" fact="0.5331"/>
              <dgm:constr type="h" for="ch" forName="Accent5" refType="h" fact="0.2284"/>
              <dgm:constr type="l" for="ch" forName="Accent6" refType="w" fact="0.1481"/>
              <dgm:constr type="t" for="ch" forName="Accent6" refType="h" fact="0.6573"/>
              <dgm:constr type="w" for="ch" forName="Accent6" refType="w" fact="0.5331"/>
              <dgm:constr type="h" for="ch" forName="Accent6" refType="h" fact="0.2284"/>
              <dgm:constr type="l" for="ch" forName="Accent7" refType="w" fact="0.0378"/>
              <dgm:constr type="t" for="ch" forName="Accent7" refType="h" fact="0.8037"/>
              <dgm:constr type="w" for="ch" forName="Accent7" refType="w" fact="0.458"/>
              <dgm:constr type="h" for="ch" forName="Accent7" refType="h" fact="0.1963"/>
              <dgm:constr type="l" for="ch" forName="Parent1" refType="w" fact="0.1171"/>
              <dgm:constr type="t" for="ch" forName="Parent1" refType="h" fact="0.0827"/>
              <dgm:constr type="w" for="ch" forName="Parent1" refType="w" fact="0.2975"/>
              <dgm:constr type="h" for="ch" forName="Parent1" refType="h" fact="0.0637"/>
              <dgm:constr type="l" for="ch" forName="Parent2" refType="w" fact="0.2658"/>
              <dgm:constr type="t" for="ch" forName="Parent2" refType="h" fact="0.2142"/>
              <dgm:constr type="w" for="ch" forName="Parent2" refType="w" fact="0.2975"/>
              <dgm:constr type="h" for="ch" forName="Parent2" refType="h" fact="0.0637"/>
              <dgm:constr type="l" for="ch" forName="Parent3" refType="w" fact="0.1171"/>
              <dgm:constr type="t" for="ch" forName="Parent3" refType="h" fact="0.3457"/>
              <dgm:constr type="w" for="ch" forName="Parent3" refType="w" fact="0.2975"/>
              <dgm:constr type="h" for="ch" forName="Parent3" refType="h" fact="0.0637"/>
              <dgm:constr type="l" for="ch" forName="Parent4" refType="w" fact="0.2658"/>
              <dgm:constr type="t" for="ch" forName="Parent4" refType="h" fact="0.4772"/>
              <dgm:constr type="w" for="ch" forName="Parent4" refType="w" fact="0.2975"/>
              <dgm:constr type="h" for="ch" forName="Parent4" refType="h" fact="0.0637"/>
              <dgm:constr type="l" for="ch" forName="Parent5" refType="w" fact="0.1171"/>
              <dgm:constr type="t" for="ch" forName="Parent5" refType="h" fact="0.6085"/>
              <dgm:constr type="w" for="ch" forName="Parent5" refType="w" fact="0.2975"/>
              <dgm:constr type="h" for="ch" forName="Parent5" refType="h" fact="0.0637"/>
              <dgm:constr type="l" for="ch" forName="Parent6" refType="w" fact="0.2658"/>
              <dgm:constr type="t" for="ch" forName="Parent6" refType="h" fact="0.74"/>
              <dgm:constr type="w" for="ch" forName="Parent6" refType="w" fact="0.2975"/>
              <dgm:constr type="h" for="ch" forName="Parent6" refType="h" fact="0.0637"/>
              <dgm:constr type="l" for="ch" forName="Parent7" refType="w" fact="0.1171"/>
              <dgm:constr type="t" for="ch" forName="Parent7" refType="h" fact="0.8715"/>
              <dgm:constr type="w" for="ch" forName="Parent7" refType="w" fact="0.2975"/>
              <dgm:constr type="h" for="ch" forName="Parent7" refType="h" fact="0.0637"/>
              <dgm:constr type="l" for="ch" forName="Child1" refType="w" fact="0.5348"/>
              <dgm:constr type="t" for="ch" forName="Child1" refType="h" fact="0.0678"/>
              <dgm:constr type="w" for="ch" forName="Child1" refType="w" fact="0.3196"/>
              <dgm:constr type="h" for="ch" forName="Child1" refType="h" fact="0.0908"/>
              <dgm:constr type="l" for="ch" forName="Child2" refType="w" fact="0.6804"/>
              <dgm:constr type="t" for="ch" forName="Child2" refType="h" fact="0.2006"/>
              <dgm:constr type="w" for="ch" forName="Child2" refType="w" fact="0.3196"/>
              <dgm:constr type="h" for="ch" forName="Child2" refType="h" fact="0.0908"/>
              <dgm:constr type="l" for="ch" forName="Child3" refType="w" fact="0.5348"/>
              <dgm:constr type="t" for="ch" forName="Child3" refType="h" fact="0.3308"/>
              <dgm:constr type="w" for="ch" forName="Child3" refType="w" fact="0.3196"/>
              <dgm:constr type="h" for="ch" forName="Child3" refType="h" fact="0.0908"/>
              <dgm:constr type="l" for="ch" forName="Child4" refType="w" fact="0.6804"/>
              <dgm:constr type="t" for="ch" forName="Child4" refType="h" fact="0.4623"/>
              <dgm:constr type="w" for="ch" forName="Child4" refType="w" fact="0.3196"/>
              <dgm:constr type="h" for="ch" forName="Child4" refType="h" fact="0.0908"/>
              <dgm:constr type="l" for="ch" forName="Child5" refType="w" fact="0.5348"/>
              <dgm:constr type="t" for="ch" forName="Child5" refType="h" fact="0.5936"/>
              <dgm:constr type="w" for="ch" forName="Child5" refType="w" fact="0.3196"/>
              <dgm:constr type="h" for="ch" forName="Child5" refType="h" fact="0.0908"/>
              <dgm:constr type="l" for="ch" forName="Child6" refType="w" fact="0.6804"/>
              <dgm:constr type="t" for="ch" forName="Child6" refType="h" fact="0.7251"/>
              <dgm:constr type="w" for="ch" forName="Child6" refType="w" fact="0.3196"/>
              <dgm:constr type="h" for="ch" forName="Child6" refType="h" fact="0.0908"/>
              <dgm:constr type="l" for="ch" forName="Child7" refType="w" fact="0.5348"/>
              <dgm:constr type="t" for="ch" forName="Child7" refType="h" fact="0.8579"/>
              <dgm:constr type="w" for="ch" forName="Child7" refType="w" fact="0.3196"/>
              <dgm:constr type="h" for="ch" forName="Child7" refType="h" fact="0.0908"/>
            </dgm:constrLst>
          </dgm:else>
        </dgm:choose>
      </dgm:else>
    </dgm:choose>
    <dgm:forEach name="wrapper" axis="self" ptType="parTrans">
      <dgm:forEach name="accentRepeat" axis="self">
        <dgm:layoutNode name="Accent" styleLbl="node1">
          <dgm:alg type="sp"/>
          <dgm:choose name="Name20">
            <dgm:if name="Name21" func="var" arg="dir" op="equ" val="norm">
              <dgm:choose name="Name22">
                <dgm:if name="Name23" axis="precedSib" ptType="node" func="cnt" op="equ" val="0">
                  <dgm:choose name="Name24">
                    <dgm:if name="Name25" axis="followSib" ptType="node" func="cnt" op="equ" val="0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150"/>
                          <dgm:adj idx="4" val="180"/>
                          <dgm:adj idx="5" val="0.125"/>
                        </dgm:adjLst>
                      </dgm:shape>
                    </dgm:if>
                    <dgm:else name="Name26">
                      <dgm:shape xmlns:r="http://schemas.openxmlformats.org/officeDocument/2006/relationships" type="circularArrow" r:blip="">
                        <dgm:adjLst>
                          <dgm:adj idx="1" val="0.1098"/>
                          <dgm:adj idx="2" val="19.0387"/>
                          <dgm:adj idx="3" val="75"/>
                          <dgm:adj idx="4" val="180"/>
                          <dgm:adj idx="5" val="0.125"/>
                        </dgm:adjLst>
                      </dgm:shape>
                    </dgm:else>
                  </dgm:choose>
                </dgm:if>
                <dgm:else name="Name27">
                  <dgm:choose name="Name28">
                    <dgm:if name="Name29" axis="followSib" ptType="node" func="cnt" op="equ" val="0">
                      <dgm:choose name="Name30">
                        <dgm:if name="Name31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2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3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4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35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3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37"/>
                      </dgm:choose>
                    </dgm:if>
                    <dgm:else name="Name38">
                      <dgm:choose name="Name39">
                        <dgm:if name="Name40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41" axis="precedSib" ptType="node" func="cnt" op="equ" val="1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2" axis="precedSib" ptType="node" func="cnt" op="equ" val="2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3" axis="precedSib" ptType="node" func="cnt" op="equ" val="3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4" axis="precedSib" ptType="node" func="cnt" op="equ" val="4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45" axis="precedSib" ptType="node" func="cnt" op="equ" val="5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46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else name="Name47"/>
                      </dgm:choose>
                    </dgm:else>
                  </dgm:choose>
                </dgm:else>
              </dgm:choose>
            </dgm:if>
            <dgm:else name="Name48">
              <dgm:choose name="Name49">
                <dgm:if name="Name50" axis="precedSib" ptType="node" func="cnt" op="equ" val="0">
                  <dgm:choose name="Name51">
                    <dgm:if name="Name52" axis="followSib" ptType="node" func="cnt" op="equ" val="0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30"/>
                          <dgm:adj idx="4" val="0"/>
                          <dgm:adj idx="5" val="0.125"/>
                        </dgm:adjLst>
                      </dgm:shape>
                    </dgm:if>
                    <dgm:else name="Name53">
                      <dgm:shape xmlns:r="http://schemas.openxmlformats.org/officeDocument/2006/relationships" type="leftCircularArrow" r:blip="">
                        <dgm:adjLst>
                          <dgm:adj idx="1" val="0.1098"/>
                          <dgm:adj idx="2" val="19.0387"/>
                          <dgm:adj idx="3" val="105"/>
                          <dgm:adj idx="4" val="0"/>
                          <dgm:adj idx="5" val="0.125"/>
                        </dgm:adjLst>
                      </dgm:shape>
                    </dgm:else>
                  </dgm:choose>
                </dgm:if>
                <dgm:else name="Name54">
                  <dgm:choose name="Name55">
                    <dgm:if name="Name56" axis="followSib" ptType="node" func="cnt" op="equ" val="0">
                      <dgm:choose name="Name57">
                        <dgm:if name="Name58" axis="precedSib" ptType="node" func="cnt" op="equ" val="1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59" axis="precedSib" ptType="node" func="cnt" op="equ" val="2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0" axis="precedSib" ptType="node" func="cnt" op="equ" val="3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1" axis="precedSib" ptType="node" func="cnt" op="equ" val="4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if name="Name62" axis="precedSib" ptType="node" func="cnt" op="equ" val="5">
                          <dgm:shape xmlns:r="http://schemas.openxmlformats.org/officeDocument/2006/relationships" type="blockArc" r:blip="">
                            <dgm:adjLst>
                              <dgm:adj idx="1" val="-135"/>
                              <dgm:adj idx="2" val="180"/>
                              <dgm:adj idx="3" val="0.1274"/>
                            </dgm:adjLst>
                          </dgm:shape>
                        </dgm:if>
                        <dgm:if name="Name6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64"/>
                      </dgm:choose>
                    </dgm:if>
                    <dgm:else name="Name65">
                      <dgm:choose name="Name66">
                        <dgm:if name="Name67" axis="precedSib" ptType="node" func="cnt" op="equ" val="0">
                          <dgm:shape xmlns:r="http://schemas.openxmlformats.org/officeDocument/2006/relationships" type="blockArc" r:blip="">
                            <dgm:adjLst>
                              <dgm:adj idx="1" val="-133.1632"/>
                              <dgm:adj idx="2" val="65"/>
                              <dgm:adj idx="3" val="0.13"/>
                            </dgm:adjLst>
                          </dgm:shape>
                        </dgm:if>
                        <dgm:if name="Name68" axis="precedSib" ptType="node" func="cnt" op="equ" val="1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69" axis="precedSib" ptType="node" func="cnt" op="equ" val="2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0" axis="precedSib" ptType="node" func="cnt" op="equ" val="3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1" axis="precedSib" ptType="node" func="cnt" op="equ" val="4">
                          <dgm:shape xmlns:r="http://schemas.openxmlformats.org/officeDocument/2006/relationships" type="leftCircularArrow" r:blip="">
                            <dgm:adjLst>
                              <dgm:adj idx="1" val="0.1098"/>
                              <dgm:adj idx="2" val="19.0387"/>
                              <dgm:adj idx="3" val="105"/>
                              <dgm:adj idx="4" val="-45"/>
                              <dgm:adj idx="5" val="0.125"/>
                            </dgm:adjLst>
                          </dgm:shape>
                        </dgm:if>
                        <dgm:if name="Name72" axis="precedSib" ptType="node" func="cnt" op="equ" val="5">
                          <dgm:shape xmlns:r="http://schemas.openxmlformats.org/officeDocument/2006/relationships" type="circularArrow" r:blip="">
                            <dgm:adjLst>
                              <dgm:adj idx="1" val="0.1098"/>
                              <dgm:adj idx="2" val="19.0387"/>
                              <dgm:adj idx="3" val="75"/>
                              <dgm:adj idx="4" val="-135"/>
                              <dgm:adj idx="5" val="0.125"/>
                            </dgm:adjLst>
                          </dgm:shape>
                        </dgm:if>
                        <dgm:if name="Name73" axis="precedSib" ptType="node" func="cnt" op="equ" val="6">
                          <dgm:shape xmlns:r="http://schemas.openxmlformats.org/officeDocument/2006/relationships" type="blockArc" r:blip="">
                            <dgm:adjLst>
                              <dgm:adj idx="1" val="0"/>
                              <dgm:adj idx="2" val="-45"/>
                              <dgm:adj idx="3" val="0.1274"/>
                            </dgm:adjLst>
                          </dgm:shape>
                        </dgm:if>
                        <dgm:else name="Name74"/>
                      </dgm:choose>
                    </dgm:else>
                  </dgm:choose>
                </dgm:else>
              </dgm:choose>
            </dgm:else>
          </dgm:choose>
          <dgm:presOf/>
        </dgm:layoutNode>
      </dgm:forEach>
    </dgm:forEach>
    <dgm:forEach name="Name75" axis="ch" ptType="node" cnt="1">
      <dgm:layoutNode name="Accent1">
        <dgm:alg type="sp"/>
        <dgm:shape xmlns:r="http://schemas.openxmlformats.org/officeDocument/2006/relationships" r:blip="">
          <dgm:adjLst/>
        </dgm:shape>
        <dgm:presOf/>
        <dgm:constrLst/>
        <dgm:forEach name="Name76" ref="accentRepeat"/>
      </dgm:layoutNode>
      <dgm:choose name="Name77">
        <dgm:if name="Name78" axis="ch" ptType="node" func="cnt" op="gte" val="1">
          <dgm:layoutNode name="Child1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79"/>
      </dgm:choose>
      <dgm:layoutNode name="Parent1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0" axis="ch" ptType="node" st="2" cnt="1">
      <dgm:layoutNode name="Accent2">
        <dgm:alg type="sp"/>
        <dgm:shape xmlns:r="http://schemas.openxmlformats.org/officeDocument/2006/relationships" r:blip="">
          <dgm:adjLst/>
        </dgm:shape>
        <dgm:presOf/>
        <dgm:constrLst/>
        <dgm:forEach name="Name81" ref="accentRepeat"/>
      </dgm:layoutNode>
      <dgm:choose name="Name82">
        <dgm:if name="Name83" axis="ch" ptType="node" func="cnt" op="gte" val="1">
          <dgm:layoutNode name="Child2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4"/>
      </dgm:choose>
      <dgm:layoutNode name="Parent2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85" axis="ch" ptType="node" st="3" cnt="1">
      <dgm:layoutNode name="Accent3">
        <dgm:alg type="sp"/>
        <dgm:shape xmlns:r="http://schemas.openxmlformats.org/officeDocument/2006/relationships" r:blip="">
          <dgm:adjLst/>
        </dgm:shape>
        <dgm:presOf/>
        <dgm:constrLst/>
        <dgm:forEach name="Name86" ref="accentRepeat"/>
      </dgm:layoutNode>
      <dgm:choose name="Name87">
        <dgm:if name="Name88" axis="ch" ptType="node" func="cnt" op="gte" val="1">
          <dgm:layoutNode name="Child3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89"/>
      </dgm:choose>
      <dgm:layoutNode name="Parent3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0" axis="ch" ptType="node" st="4" cnt="1">
      <dgm:layoutNode name="Accent4">
        <dgm:alg type="sp"/>
        <dgm:shape xmlns:r="http://schemas.openxmlformats.org/officeDocument/2006/relationships" r:blip="">
          <dgm:adjLst/>
        </dgm:shape>
        <dgm:presOf/>
        <dgm:constrLst/>
        <dgm:forEach name="Name91" ref="accentRepeat"/>
      </dgm:layoutNode>
      <dgm:choose name="Name92">
        <dgm:if name="Name93" axis="ch" ptType="node" func="cnt" op="gte" val="1">
          <dgm:layoutNode name="Child4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4"/>
      </dgm:choose>
      <dgm:layoutNode name="Parent4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95" axis="ch" ptType="node" st="5" cnt="1">
      <dgm:layoutNode name="Accent5">
        <dgm:alg type="sp"/>
        <dgm:shape xmlns:r="http://schemas.openxmlformats.org/officeDocument/2006/relationships" r:blip="">
          <dgm:adjLst/>
        </dgm:shape>
        <dgm:presOf/>
        <dgm:constrLst/>
        <dgm:forEach name="Name96" ref="accentRepeat"/>
      </dgm:layoutNode>
      <dgm:choose name="Name97">
        <dgm:if name="Name98" axis="ch" ptType="node" func="cnt" op="gte" val="1">
          <dgm:layoutNode name="Child5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99"/>
      </dgm:choose>
      <dgm:layoutNode name="Parent5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0" axis="ch" ptType="node" st="6" cnt="1">
      <dgm:layoutNode name="Accent6">
        <dgm:alg type="sp"/>
        <dgm:shape xmlns:r="http://schemas.openxmlformats.org/officeDocument/2006/relationships" r:blip="">
          <dgm:adjLst/>
        </dgm:shape>
        <dgm:presOf/>
        <dgm:constrLst/>
        <dgm:forEach name="Name101" ref="accentRepeat"/>
      </dgm:layoutNode>
      <dgm:choose name="Name102">
        <dgm:if name="Name103" axis="ch" ptType="node" func="cnt" op="gte" val="1">
          <dgm:layoutNode name="Child6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4"/>
      </dgm:choose>
      <dgm:layoutNode name="Parent6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  <dgm:forEach name="Name105" axis="ch" ptType="node" st="7" cnt="1">
      <dgm:layoutNode name="Accent7">
        <dgm:alg type="sp"/>
        <dgm:shape xmlns:r="http://schemas.openxmlformats.org/officeDocument/2006/relationships" r:blip="">
          <dgm:adjLst/>
        </dgm:shape>
        <dgm:presOf/>
        <dgm:constrLst/>
        <dgm:forEach name="Name106" ref="accentRepeat"/>
      </dgm:layoutNode>
      <dgm:choose name="Name107">
        <dgm:if name="Name108" axis="ch" ptType="node" func="cnt" op="gte" val="1">
          <dgm:layoutNode name="Child7" styleLbl="revTx">
            <dgm:varLst>
              <dgm:chMax val="0"/>
              <dgm:chPref val="0"/>
              <dgm:bulletEnabled val="1"/>
            </dgm:varLst>
            <dgm:alg type="tx">
              <dgm:param type="stBulletLvl" val="1"/>
              <dgm:param type="parTxLTRAlign" val="l"/>
              <dgm:param type="txAnchorVertCh" val="mid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lMarg" refType="primFontSz" fact="0.05"/>
              <dgm:constr type="rMarg" refType="primFontSz" fact="0.05"/>
              <dgm:constr type="tMarg" refType="primFontSz" fact="0.05"/>
              <dgm:constr type="bMarg" refType="primFontSz" fact="0.05"/>
            </dgm:constrLst>
            <dgm:ruleLst>
              <dgm:rule type="primFontSz" val="5" fact="NaN" max="NaN"/>
            </dgm:ruleLst>
          </dgm:layoutNode>
        </dgm:if>
        <dgm:else name="Name109"/>
      </dgm:choose>
      <dgm:layoutNode name="Parent7" styleLbl="revTx">
        <dgm:varLst>
          <dgm:chMax val="1"/>
          <dgm:chPref val="1"/>
          <dgm:bulletEnabled val="1"/>
        </dgm:varLst>
        <dgm:alg type="tx">
          <dgm:param type="shpTxLTRAlignCh" val="ctr"/>
          <dgm:param type="txAnchorVertCh" val="mid"/>
        </dgm:alg>
        <dgm:shape xmlns:r="http://schemas.openxmlformats.org/officeDocument/2006/relationships" type="rect" r:blip="">
          <dgm:adjLst/>
        </dgm:shape>
        <dgm:presOf axis="self" ptType="node"/>
        <dgm:constrLst>
          <dgm:constr type="lMarg" refType="primFontSz" fact="0.05"/>
          <dgm:constr type="rMarg" refType="primFontSz" fact="0.05"/>
          <dgm:constr type="tMarg" refType="primFontSz" fact="0.05"/>
          <dgm:constr type="bMarg" refType="primFontSz" fact="0.05"/>
        </dgm:constrLst>
        <dgm:ruleLst>
          <dgm:rule type="primFontSz" val="5" fact="NaN" max="NaN"/>
        </dgm:ruleLst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213F80-45AE-479A-97F6-7E76CAD35EB8}" type="datetimeFigureOut">
              <a:rPr lang="en-US" smtClean="0"/>
              <a:t>7/17/2024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4CBEFCB-3307-4BA1-9905-D19D9D25AB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137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1489C-C62B-8C25-39BF-7CA7A0E1C3B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1BD7C50-24D4-8641-319B-3DF85546304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78F7E1-0688-3B42-E0D8-682819EF65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BDF78-4909-446F-AC38-E884A73C1DD4}" type="datetimeFigureOut">
              <a:rPr lang="en-US" smtClean="0"/>
              <a:t>7/17/2024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63CDF-4CAD-0091-A4E7-C0B888B21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E57F60-83D5-C3E3-5575-E3B2C61171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261A6-0E0B-405B-9A8C-B766C607F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220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DF497-D7E5-B30F-9725-8C09949303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565534-1601-64B3-9BC8-C1B1AFAFBA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C9A63CE-42C2-0C96-0CAB-1B9CB21F02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BDF78-4909-446F-AC38-E884A73C1DD4}" type="datetimeFigureOut">
              <a:rPr lang="en-US" smtClean="0"/>
              <a:t>7/17/2024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B5EC1A-A456-76B3-4E79-F1EFBB8CB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189DA7-70FB-F1CC-8BBE-5877D7D8DB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261A6-0E0B-405B-9A8C-B766C607F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74234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77FC2B-4229-BCA9-120A-CC1BA8DBE7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FFD1A1-6373-5E52-F640-E712F1B1C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46E154-AE87-5EA1-D845-A2C019824D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BDF78-4909-446F-AC38-E884A73C1DD4}" type="datetimeFigureOut">
              <a:rPr lang="en-US" smtClean="0"/>
              <a:t>7/17/2024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E772C2-276A-16E6-E5D3-1B76154D3F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5609D0-D02F-3827-4039-600329AD88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261A6-0E0B-405B-9A8C-B766C607F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9347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4AD02-88E5-3A02-324C-5CDF62FDFF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7510BF-36EC-3ADE-A629-FFE2CECA444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6752B4-1DEB-6B5F-97FB-DF261B60D4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76240D7-5E47-6980-5964-5D87F165F6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BDF78-4909-446F-AC38-E884A73C1DD4}" type="datetimeFigureOut">
              <a:rPr lang="en-US" smtClean="0"/>
              <a:t>7/17/2024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40132A-1E06-AA85-5F65-517EFC1BD9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5E70CE-1F55-33E4-06B9-64D9CB409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261A6-0E0B-405B-9A8C-B766C607F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8057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95554-DC30-6EB8-0366-83B5B177F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0DCB09-7D66-045F-016C-55491BD1CD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E0FDB00-DCD0-B2E2-6CC3-8DAC3F269C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5C30B63-F99E-B9A5-EBFA-2A3F73A084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13518C7-8493-BB9D-2229-9F42CCE71DF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C8360A3-FC42-2B78-FD3F-12213532E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BDF78-4909-446F-AC38-E884A73C1DD4}" type="datetimeFigureOut">
              <a:rPr lang="en-US" smtClean="0"/>
              <a:t>7/17/2024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EF456C7-D4D1-DB96-5745-79F3D013FF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DF681FC-7869-AC05-4575-56713CAB8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261A6-0E0B-405B-9A8C-B766C607F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2722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620FB4-23A8-A6C1-D237-880D0D5680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503B075-2A29-45BC-32D6-437740302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BDF78-4909-446F-AC38-E884A73C1DD4}" type="datetimeFigureOut">
              <a:rPr lang="en-US" smtClean="0"/>
              <a:t>7/17/2024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BBCEBC-9917-96D9-D917-B630BC116C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A5E261-72AE-9465-FA8D-52B72E9499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261A6-0E0B-405B-9A8C-B766C607F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67143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D46F53-8470-DFB5-3179-453DB2B253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BDF78-4909-446F-AC38-E884A73C1DD4}" type="datetimeFigureOut">
              <a:rPr lang="en-US" smtClean="0"/>
              <a:t>7/17/2024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7214047-D3B8-BB91-B37D-EA6C09FE06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8641F0-68F7-95A1-C1A6-B0A87C6056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261A6-0E0B-405B-9A8C-B766C607F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4913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5295E-67A3-2FA1-B249-A64F93333E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05D77-9D59-A922-DFA8-8005FF68E6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E134AB-D7BB-B2AE-8D2A-E8826BD70D4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02BF9E-704D-0C02-FA5C-713678C934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BDF78-4909-446F-AC38-E884A73C1DD4}" type="datetimeFigureOut">
              <a:rPr lang="en-US" smtClean="0"/>
              <a:t>7/17/2024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5A6D006-8726-5CBE-95B8-349DD2888E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8A716E-EA7C-C73D-4609-E31347243F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261A6-0E0B-405B-9A8C-B766C607F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3358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F38E00-E742-8A66-39D7-91C615B5A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3E6FBF1-7AB4-1598-1DA1-859B103941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6E06DD-5E5F-00D1-869B-629F8E22B9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83D2BD-B13E-C6C6-691A-2AA661D748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BDF78-4909-446F-AC38-E884A73C1DD4}" type="datetimeFigureOut">
              <a:rPr lang="en-US" smtClean="0"/>
              <a:t>7/17/2024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9A2496-E39B-6AF4-009B-3742ADF795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3CBF5F-7ACF-83F5-71C0-FBFA0B9339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261A6-0E0B-405B-9A8C-B766C607F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99248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0D37F-2563-8D0E-C037-5203046ED1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47B7096-AAD0-2913-1F89-1B4BC72176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A84ADD-3FE3-F616-C131-99760F579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BDF78-4909-446F-AC38-E884A73C1DD4}" type="datetimeFigureOut">
              <a:rPr lang="en-US" smtClean="0"/>
              <a:t>7/17/2024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E1746F-9402-F584-3E55-078537622F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6DEA64-9054-84EB-32BA-612C4D902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261A6-0E0B-405B-9A8C-B766C607F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211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842FABE-A682-568C-DFB3-D7C9DC9308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67CB5B-C965-3018-7941-24611289A1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E924CD-6EED-8014-F981-97B6991BE5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BDF78-4909-446F-AC38-E884A73C1DD4}" type="datetimeFigureOut">
              <a:rPr lang="en-US" smtClean="0"/>
              <a:t>7/17/2024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B776F1-CFE1-A02E-3ECF-4A6838C16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52E744-92F7-EBED-224F-E038A2D0AB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7261A6-0E0B-405B-9A8C-B766C607F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039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B9BE40-15A6-D299-6F52-7BB61E32F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8342B7F-F538-9067-D5E3-2A452759C0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F91547-6AE8-AA7D-2A84-177BC3928C7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1BDF78-4909-446F-AC38-E884A73C1DD4}" type="datetimeFigureOut">
              <a:rPr lang="en-US" smtClean="0"/>
              <a:t>7/17/2024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2B4081-9FD2-EF36-D5B0-608EA9E1F4D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BAE79F-61E7-594B-C906-CBC19E134EB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07261A6-0E0B-405B-9A8C-B766C607FDA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5523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" name="Group 79">
            <a:extLst>
              <a:ext uri="{FF2B5EF4-FFF2-40B4-BE49-F238E27FC236}">
                <a16:creationId xmlns:a16="http://schemas.microsoft.com/office/drawing/2014/main" id="{747C0CE2-EF9E-9FFB-9725-DAFAD02AB323}"/>
              </a:ext>
            </a:extLst>
          </p:cNvPr>
          <p:cNvGrpSpPr/>
          <p:nvPr/>
        </p:nvGrpSpPr>
        <p:grpSpPr>
          <a:xfrm>
            <a:off x="191724" y="3584787"/>
            <a:ext cx="11930068" cy="788784"/>
            <a:chOff x="191724" y="3107267"/>
            <a:chExt cx="11930068" cy="788784"/>
          </a:xfrm>
        </p:grpSpPr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4F69D8FD-D368-173B-EAA2-98E3B4AC86E7}"/>
                </a:ext>
              </a:extLst>
            </p:cNvPr>
            <p:cNvGrpSpPr/>
            <p:nvPr/>
          </p:nvGrpSpPr>
          <p:grpSpPr>
            <a:xfrm>
              <a:off x="191724" y="3353363"/>
              <a:ext cx="10342880" cy="419849"/>
              <a:chOff x="579120" y="4143124"/>
              <a:chExt cx="11163300" cy="419849"/>
            </a:xfrm>
          </p:grpSpPr>
          <p:cxnSp>
            <p:nvCxnSpPr>
              <p:cNvPr id="67" name="Straight Arrow Connector 66">
                <a:extLst>
                  <a:ext uri="{FF2B5EF4-FFF2-40B4-BE49-F238E27FC236}">
                    <a16:creationId xmlns:a16="http://schemas.microsoft.com/office/drawing/2014/main" id="{D29AEB97-E5B9-E740-B8E9-A12782DF51CE}"/>
                  </a:ext>
                </a:extLst>
              </p:cNvPr>
              <p:cNvCxnSpPr/>
              <p:nvPr/>
            </p:nvCxnSpPr>
            <p:spPr>
              <a:xfrm>
                <a:off x="579120" y="4351020"/>
                <a:ext cx="11163300" cy="0"/>
              </a:xfrm>
              <a:prstGeom prst="straightConnector1">
                <a:avLst/>
              </a:prstGeom>
              <a:ln w="28575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F0BFCCFD-A60E-F62E-987E-80EB50643F5A}"/>
                  </a:ext>
                </a:extLst>
              </p:cNvPr>
              <p:cNvSpPr/>
              <p:nvPr/>
            </p:nvSpPr>
            <p:spPr>
              <a:xfrm>
                <a:off x="766635" y="4145098"/>
                <a:ext cx="641022" cy="392445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SG" dirty="0"/>
                  <a:t>Aug</a:t>
                </a:r>
                <a:endParaRPr lang="en-US" dirty="0"/>
              </a:p>
            </p:txBody>
          </p:sp>
          <p:sp>
            <p:nvSpPr>
              <p:cNvPr id="26" name="Rectangle 25">
                <a:extLst>
                  <a:ext uri="{FF2B5EF4-FFF2-40B4-BE49-F238E27FC236}">
                    <a16:creationId xmlns:a16="http://schemas.microsoft.com/office/drawing/2014/main" id="{886CEC50-96E7-3E30-82AE-9B499AB88652}"/>
                  </a:ext>
                </a:extLst>
              </p:cNvPr>
              <p:cNvSpPr/>
              <p:nvPr/>
            </p:nvSpPr>
            <p:spPr>
              <a:xfrm>
                <a:off x="1684547" y="4154797"/>
                <a:ext cx="641022" cy="392445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SG" dirty="0"/>
                  <a:t>Sep</a:t>
                </a:r>
                <a:endParaRPr lang="en-US" dirty="0"/>
              </a:p>
            </p:txBody>
          </p:sp>
          <p:sp>
            <p:nvSpPr>
              <p:cNvPr id="27" name="Rectangle 26">
                <a:extLst>
                  <a:ext uri="{FF2B5EF4-FFF2-40B4-BE49-F238E27FC236}">
                    <a16:creationId xmlns:a16="http://schemas.microsoft.com/office/drawing/2014/main" id="{E2EBD0F4-4768-F00A-C688-642CA1EF06D4}"/>
                  </a:ext>
                </a:extLst>
              </p:cNvPr>
              <p:cNvSpPr/>
              <p:nvPr/>
            </p:nvSpPr>
            <p:spPr>
              <a:xfrm>
                <a:off x="2618694" y="4152030"/>
                <a:ext cx="641022" cy="392445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SG" dirty="0"/>
                  <a:t>Oct</a:t>
                </a:r>
                <a:endParaRPr lang="en-US" dirty="0"/>
              </a:p>
            </p:txBody>
          </p:sp>
          <p:sp>
            <p:nvSpPr>
              <p:cNvPr id="28" name="Rectangle 27">
                <a:extLst>
                  <a:ext uri="{FF2B5EF4-FFF2-40B4-BE49-F238E27FC236}">
                    <a16:creationId xmlns:a16="http://schemas.microsoft.com/office/drawing/2014/main" id="{8D619002-CB9F-0D42-6F53-852853A9A7E4}"/>
                  </a:ext>
                </a:extLst>
              </p:cNvPr>
              <p:cNvSpPr/>
              <p:nvPr/>
            </p:nvSpPr>
            <p:spPr>
              <a:xfrm>
                <a:off x="3502973" y="4149642"/>
                <a:ext cx="641022" cy="392445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SG" dirty="0"/>
                  <a:t>Nov</a:t>
                </a:r>
                <a:endParaRPr lang="en-US" dirty="0"/>
              </a:p>
            </p:txBody>
          </p:sp>
          <p:sp>
            <p:nvSpPr>
              <p:cNvPr id="43" name="Rectangle 42">
                <a:extLst>
                  <a:ext uri="{FF2B5EF4-FFF2-40B4-BE49-F238E27FC236}">
                    <a16:creationId xmlns:a16="http://schemas.microsoft.com/office/drawing/2014/main" id="{416B7A9E-F452-390B-DBD1-14AF4A091C89}"/>
                  </a:ext>
                </a:extLst>
              </p:cNvPr>
              <p:cNvSpPr/>
              <p:nvPr/>
            </p:nvSpPr>
            <p:spPr>
              <a:xfrm>
                <a:off x="4427333" y="4170528"/>
                <a:ext cx="641022" cy="392445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SG" dirty="0"/>
                  <a:t>Dec</a:t>
                </a:r>
                <a:endParaRPr lang="en-US" dirty="0"/>
              </a:p>
            </p:txBody>
          </p:sp>
          <p:sp>
            <p:nvSpPr>
              <p:cNvPr id="46" name="Rectangle 45">
                <a:extLst>
                  <a:ext uri="{FF2B5EF4-FFF2-40B4-BE49-F238E27FC236}">
                    <a16:creationId xmlns:a16="http://schemas.microsoft.com/office/drawing/2014/main" id="{09FD24DB-87CD-7CA9-CF5E-DE57579F5647}"/>
                  </a:ext>
                </a:extLst>
              </p:cNvPr>
              <p:cNvSpPr/>
              <p:nvPr/>
            </p:nvSpPr>
            <p:spPr>
              <a:xfrm>
                <a:off x="5345245" y="4166511"/>
                <a:ext cx="641022" cy="392445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SG" dirty="0"/>
                  <a:t>Jan</a:t>
                </a:r>
                <a:endParaRPr lang="en-US" dirty="0"/>
              </a:p>
            </p:txBody>
          </p:sp>
          <p:sp>
            <p:nvSpPr>
              <p:cNvPr id="49" name="Rectangle 48">
                <a:extLst>
                  <a:ext uri="{FF2B5EF4-FFF2-40B4-BE49-F238E27FC236}">
                    <a16:creationId xmlns:a16="http://schemas.microsoft.com/office/drawing/2014/main" id="{CCE35FE9-32D2-C90E-C61B-1BB26A8A7D54}"/>
                  </a:ext>
                </a:extLst>
              </p:cNvPr>
              <p:cNvSpPr/>
              <p:nvPr/>
            </p:nvSpPr>
            <p:spPr>
              <a:xfrm>
                <a:off x="6260468" y="4162494"/>
                <a:ext cx="641022" cy="392445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SG" dirty="0"/>
                  <a:t>Feb</a:t>
                </a:r>
                <a:endParaRPr lang="en-US" dirty="0"/>
              </a:p>
            </p:txBody>
          </p:sp>
          <p:sp>
            <p:nvSpPr>
              <p:cNvPr id="52" name="Rectangle 51">
                <a:extLst>
                  <a:ext uri="{FF2B5EF4-FFF2-40B4-BE49-F238E27FC236}">
                    <a16:creationId xmlns:a16="http://schemas.microsoft.com/office/drawing/2014/main" id="{64703189-43EC-08AB-6A17-0236646B1C20}"/>
                  </a:ext>
                </a:extLst>
              </p:cNvPr>
              <p:cNvSpPr/>
              <p:nvPr/>
            </p:nvSpPr>
            <p:spPr>
              <a:xfrm>
                <a:off x="7178491" y="4147980"/>
                <a:ext cx="641022" cy="392445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SG" dirty="0"/>
                  <a:t>Mar</a:t>
                </a:r>
                <a:endParaRPr lang="en-US" dirty="0"/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DF667091-F3C4-C463-F2CE-9844381AB641}"/>
                  </a:ext>
                </a:extLst>
              </p:cNvPr>
              <p:cNvSpPr/>
              <p:nvPr/>
            </p:nvSpPr>
            <p:spPr>
              <a:xfrm>
                <a:off x="8093602" y="4147980"/>
                <a:ext cx="641022" cy="392445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SG" dirty="0"/>
                  <a:t>Apr</a:t>
                </a:r>
                <a:endParaRPr lang="en-US" dirty="0"/>
              </a:p>
            </p:txBody>
          </p:sp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B54B104B-9E90-4BE0-06C2-4C13D93C91C3}"/>
                  </a:ext>
                </a:extLst>
              </p:cNvPr>
              <p:cNvSpPr/>
              <p:nvPr/>
            </p:nvSpPr>
            <p:spPr>
              <a:xfrm>
                <a:off x="9017964" y="4143124"/>
                <a:ext cx="641022" cy="392445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SG" dirty="0"/>
                  <a:t>May</a:t>
                </a:r>
                <a:endParaRPr lang="en-US" dirty="0"/>
              </a:p>
            </p:txBody>
          </p:sp>
          <p:sp>
            <p:nvSpPr>
              <p:cNvPr id="61" name="Rectangle 60">
                <a:extLst>
                  <a:ext uri="{FF2B5EF4-FFF2-40B4-BE49-F238E27FC236}">
                    <a16:creationId xmlns:a16="http://schemas.microsoft.com/office/drawing/2014/main" id="{97A0ECD3-89D0-C211-D136-9D90AE65367A}"/>
                  </a:ext>
                </a:extLst>
              </p:cNvPr>
              <p:cNvSpPr/>
              <p:nvPr/>
            </p:nvSpPr>
            <p:spPr>
              <a:xfrm>
                <a:off x="9902241" y="4143124"/>
                <a:ext cx="641022" cy="392445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SG" dirty="0"/>
                  <a:t>Jun</a:t>
                </a:r>
                <a:endParaRPr lang="en-US" dirty="0"/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C793989B-5C3E-8112-F86E-2F8C52A3ECC7}"/>
                  </a:ext>
                </a:extLst>
              </p:cNvPr>
              <p:cNvSpPr/>
              <p:nvPr/>
            </p:nvSpPr>
            <p:spPr>
              <a:xfrm>
                <a:off x="10845527" y="4143124"/>
                <a:ext cx="641022" cy="392445"/>
              </a:xfrm>
              <a:prstGeom prst="rect">
                <a:avLst/>
              </a:prstGeom>
              <a:ln w="28575"/>
            </p:spPr>
            <p:style>
              <a:lnRef idx="2">
                <a:schemeClr val="dk1"/>
              </a:lnRef>
              <a:fillRef idx="1">
                <a:schemeClr val="lt1"/>
              </a:fillRef>
              <a:effectRef idx="0">
                <a:schemeClr val="dk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SG" dirty="0"/>
                  <a:t>Jul</a:t>
                </a:r>
                <a:endParaRPr lang="en-US" dirty="0"/>
              </a:p>
            </p:txBody>
          </p:sp>
        </p:grpSp>
        <p:sp>
          <p:nvSpPr>
            <p:cNvPr id="69" name="Rectangle: Rounded Corners 68">
              <a:extLst>
                <a:ext uri="{FF2B5EF4-FFF2-40B4-BE49-F238E27FC236}">
                  <a16:creationId xmlns:a16="http://schemas.microsoft.com/office/drawing/2014/main" id="{2CBE09B0-FCDA-B1E5-AF3B-944EA67C3184}"/>
                </a:ext>
              </a:extLst>
            </p:cNvPr>
            <p:cNvSpPr/>
            <p:nvPr/>
          </p:nvSpPr>
          <p:spPr>
            <a:xfrm>
              <a:off x="10595114" y="3107267"/>
              <a:ext cx="1526678" cy="788784"/>
            </a:xfrm>
            <a:prstGeom prst="round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SG" sz="1400" b="1" dirty="0"/>
                <a:t>Year X Completed!   </a:t>
              </a:r>
              <a:endParaRPr lang="en-US" sz="1400" b="1" dirty="0"/>
            </a:p>
          </p:txBody>
        </p:sp>
      </p:grpSp>
      <p:sp>
        <p:nvSpPr>
          <p:cNvPr id="70" name="Arrow: Right 69">
            <a:extLst>
              <a:ext uri="{FF2B5EF4-FFF2-40B4-BE49-F238E27FC236}">
                <a16:creationId xmlns:a16="http://schemas.microsoft.com/office/drawing/2014/main" id="{8D46CCF7-3432-2D80-FBED-7EE121918451}"/>
              </a:ext>
            </a:extLst>
          </p:cNvPr>
          <p:cNvSpPr/>
          <p:nvPr/>
        </p:nvSpPr>
        <p:spPr>
          <a:xfrm>
            <a:off x="8416927" y="4536210"/>
            <a:ext cx="2672603" cy="392445"/>
          </a:xfrm>
          <a:prstGeom prst="rightArrow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b="1" dirty="0">
                <a:solidFill>
                  <a:schemeClr val="tx1"/>
                </a:solidFill>
              </a:rPr>
              <a:t>Date / Duration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75" name="Arrow: Right 74">
            <a:extLst>
              <a:ext uri="{FF2B5EF4-FFF2-40B4-BE49-F238E27FC236}">
                <a16:creationId xmlns:a16="http://schemas.microsoft.com/office/drawing/2014/main" id="{0096FBB7-AF3A-97AD-C86A-9607E2212513}"/>
              </a:ext>
            </a:extLst>
          </p:cNvPr>
          <p:cNvSpPr/>
          <p:nvPr/>
        </p:nvSpPr>
        <p:spPr>
          <a:xfrm>
            <a:off x="685385" y="3289143"/>
            <a:ext cx="2520203" cy="553753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b="1" dirty="0">
                <a:solidFill>
                  <a:schemeClr val="tx1"/>
                </a:solidFill>
              </a:rPr>
              <a:t>Date / Duration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77" name="Arrow: Right 76">
            <a:extLst>
              <a:ext uri="{FF2B5EF4-FFF2-40B4-BE49-F238E27FC236}">
                <a16:creationId xmlns:a16="http://schemas.microsoft.com/office/drawing/2014/main" id="{1C6D024A-3B1E-47F9-78EB-FFE925E1C417}"/>
              </a:ext>
            </a:extLst>
          </p:cNvPr>
          <p:cNvSpPr/>
          <p:nvPr/>
        </p:nvSpPr>
        <p:spPr>
          <a:xfrm>
            <a:off x="8048741" y="3230437"/>
            <a:ext cx="1151827" cy="668270"/>
          </a:xfrm>
          <a:prstGeom prst="rightArrow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b="1" dirty="0">
                <a:solidFill>
                  <a:schemeClr val="tx1"/>
                </a:solidFill>
              </a:rPr>
              <a:t>Date / Duration)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78" name="Arrow: Right 77">
            <a:extLst>
              <a:ext uri="{FF2B5EF4-FFF2-40B4-BE49-F238E27FC236}">
                <a16:creationId xmlns:a16="http://schemas.microsoft.com/office/drawing/2014/main" id="{44CC39C8-0316-5D67-05DF-7784C9E195CD}"/>
              </a:ext>
            </a:extLst>
          </p:cNvPr>
          <p:cNvSpPr/>
          <p:nvPr/>
        </p:nvSpPr>
        <p:spPr>
          <a:xfrm>
            <a:off x="4006761" y="4319975"/>
            <a:ext cx="1187977" cy="603424"/>
          </a:xfrm>
          <a:prstGeom prst="right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b="1" dirty="0">
                <a:solidFill>
                  <a:schemeClr val="tx1"/>
                </a:solidFill>
              </a:rPr>
              <a:t>Date / Duration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83" name="Content Placeholder 2">
            <a:extLst>
              <a:ext uri="{FF2B5EF4-FFF2-40B4-BE49-F238E27FC236}">
                <a16:creationId xmlns:a16="http://schemas.microsoft.com/office/drawing/2014/main" id="{C061DA4D-3865-306B-5637-87BB354F66E1}"/>
              </a:ext>
            </a:extLst>
          </p:cNvPr>
          <p:cNvSpPr txBox="1">
            <a:spLocks/>
          </p:cNvSpPr>
          <p:nvPr/>
        </p:nvSpPr>
        <p:spPr>
          <a:xfrm>
            <a:off x="4074660" y="5021788"/>
            <a:ext cx="2515077" cy="16076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SG" sz="1100" b="1" u="sng" dirty="0"/>
              <a:t>Winter Break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SG" sz="1100" dirty="0"/>
              <a:t>Goal/Target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SG" sz="1100" dirty="0"/>
              <a:t>Steps taken to achieve goal/target:-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AutoNum type="arabicParenR"/>
            </a:pPr>
            <a:r>
              <a:rPr lang="en-SG" sz="1100" dirty="0"/>
              <a:t>XXX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AutoNum type="arabicParenR"/>
            </a:pPr>
            <a:r>
              <a:rPr lang="en-SG" sz="1100" dirty="0"/>
              <a:t>XXX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AutoNum type="arabicParenR"/>
            </a:pPr>
            <a:r>
              <a:rPr lang="en-SG" sz="1100" dirty="0"/>
              <a:t>XXX</a:t>
            </a:r>
          </a:p>
        </p:txBody>
      </p:sp>
      <p:sp>
        <p:nvSpPr>
          <p:cNvPr id="84" name="Arrow: Right 83">
            <a:extLst>
              <a:ext uri="{FF2B5EF4-FFF2-40B4-BE49-F238E27FC236}">
                <a16:creationId xmlns:a16="http://schemas.microsoft.com/office/drawing/2014/main" id="{424FB311-E666-CD14-3281-5C8622321BAC}"/>
              </a:ext>
            </a:extLst>
          </p:cNvPr>
          <p:cNvSpPr/>
          <p:nvPr/>
        </p:nvSpPr>
        <p:spPr>
          <a:xfrm>
            <a:off x="4789345" y="3279104"/>
            <a:ext cx="2520203" cy="553753"/>
          </a:xfrm>
          <a:prstGeom prst="rightArrow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SG" sz="1200" b="1" dirty="0">
                <a:solidFill>
                  <a:schemeClr val="tx1"/>
                </a:solidFill>
              </a:rPr>
              <a:t>Date / Duration</a:t>
            </a:r>
            <a:endParaRPr lang="en-US" sz="1200" b="1" dirty="0">
              <a:solidFill>
                <a:schemeClr val="tx1"/>
              </a:solidFill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2D83F8F8-F18F-C612-2910-171F813967FB}"/>
              </a:ext>
            </a:extLst>
          </p:cNvPr>
          <p:cNvSpPr txBox="1"/>
          <p:nvPr/>
        </p:nvSpPr>
        <p:spPr>
          <a:xfrm>
            <a:off x="4789345" y="1852938"/>
            <a:ext cx="2817955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SG" sz="1200" dirty="0"/>
              <a:t>Goal/Target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SG" sz="1200" dirty="0"/>
              <a:t>Steps taken to achieve goal/target:-</a:t>
            </a:r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en-SG" sz="1200" dirty="0"/>
              <a:t>XXX</a:t>
            </a:r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en-SG" sz="1200" dirty="0"/>
              <a:t>XXX</a:t>
            </a:r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en-SG" sz="1200" dirty="0"/>
              <a:t>XXX</a:t>
            </a:r>
          </a:p>
          <a:p>
            <a:pPr marL="514350" indent="-514350">
              <a:buFont typeface="Arial" panose="020B0604020202020204" pitchFamily="34" charset="0"/>
              <a:buAutoNum type="arabicParenR"/>
            </a:pPr>
            <a:endParaRPr lang="en-SG" sz="1200" dirty="0"/>
          </a:p>
          <a:p>
            <a:pPr marL="514350" indent="-514350">
              <a:buFont typeface="Arial" panose="020B0604020202020204" pitchFamily="34" charset="0"/>
              <a:buAutoNum type="arabicParenR"/>
            </a:pPr>
            <a:endParaRPr lang="en-SG" sz="1200" dirty="0"/>
          </a:p>
        </p:txBody>
      </p:sp>
      <p:sp>
        <p:nvSpPr>
          <p:cNvPr id="94" name="TextBox 93">
            <a:extLst>
              <a:ext uri="{FF2B5EF4-FFF2-40B4-BE49-F238E27FC236}">
                <a16:creationId xmlns:a16="http://schemas.microsoft.com/office/drawing/2014/main" id="{755C56C1-63C7-3B94-D481-8C7894CCB456}"/>
              </a:ext>
            </a:extLst>
          </p:cNvPr>
          <p:cNvSpPr txBox="1"/>
          <p:nvPr/>
        </p:nvSpPr>
        <p:spPr>
          <a:xfrm>
            <a:off x="647401" y="1904148"/>
            <a:ext cx="2817955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SG" sz="1200" dirty="0"/>
              <a:t>Goal/Target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SG" sz="1200" dirty="0"/>
              <a:t>Steps taken to achieve goal/target:-</a:t>
            </a:r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en-SG" sz="1200" dirty="0"/>
              <a:t>XXX</a:t>
            </a:r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en-SG" sz="1200" dirty="0"/>
              <a:t>XXX</a:t>
            </a:r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en-SG" sz="1200" dirty="0"/>
              <a:t>XXX</a:t>
            </a:r>
          </a:p>
          <a:p>
            <a:pPr marL="514350" indent="-514350">
              <a:buFont typeface="Arial" panose="020B0604020202020204" pitchFamily="34" charset="0"/>
              <a:buAutoNum type="arabicParenR"/>
            </a:pPr>
            <a:endParaRPr lang="en-SG" sz="1200" dirty="0"/>
          </a:p>
          <a:p>
            <a:pPr marL="514350" indent="-514350">
              <a:buFont typeface="Arial" panose="020B0604020202020204" pitchFamily="34" charset="0"/>
              <a:buAutoNum type="arabicParenR"/>
            </a:pPr>
            <a:endParaRPr lang="en-SG" sz="1200" dirty="0"/>
          </a:p>
        </p:txBody>
      </p:sp>
      <p:sp>
        <p:nvSpPr>
          <p:cNvPr id="95" name="Content Placeholder 2">
            <a:extLst>
              <a:ext uri="{FF2B5EF4-FFF2-40B4-BE49-F238E27FC236}">
                <a16:creationId xmlns:a16="http://schemas.microsoft.com/office/drawing/2014/main" id="{9AC72407-1BDB-80F1-94A6-E28F63A73043}"/>
              </a:ext>
            </a:extLst>
          </p:cNvPr>
          <p:cNvSpPr txBox="1">
            <a:spLocks/>
          </p:cNvSpPr>
          <p:nvPr/>
        </p:nvSpPr>
        <p:spPr>
          <a:xfrm>
            <a:off x="8391526" y="5001288"/>
            <a:ext cx="3470274" cy="160763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SG" sz="1100" b="1" u="sng" dirty="0"/>
              <a:t>Summer Break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SG" sz="1100" dirty="0"/>
              <a:t>Goal/Target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</a:pPr>
            <a:r>
              <a:rPr lang="en-SG" sz="1100" dirty="0"/>
              <a:t>Steps taken to achieve goal/target:-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AutoNum type="arabicParenR"/>
            </a:pPr>
            <a:r>
              <a:rPr lang="en-SG" sz="1100" dirty="0"/>
              <a:t>XXX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AutoNum type="arabicParenR"/>
            </a:pPr>
            <a:r>
              <a:rPr lang="en-SG" sz="1100" dirty="0"/>
              <a:t>XXX</a:t>
            </a:r>
          </a:p>
          <a:p>
            <a:pPr marL="514350" indent="-51435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AutoNum type="arabicParenR"/>
            </a:pPr>
            <a:r>
              <a:rPr lang="en-SG" sz="1100" dirty="0"/>
              <a:t>XXX</a:t>
            </a:r>
          </a:p>
        </p:txBody>
      </p:sp>
      <p:sp>
        <p:nvSpPr>
          <p:cNvPr id="97" name="TextBox 96">
            <a:extLst>
              <a:ext uri="{FF2B5EF4-FFF2-40B4-BE49-F238E27FC236}">
                <a16:creationId xmlns:a16="http://schemas.microsoft.com/office/drawing/2014/main" id="{BC439492-DDF4-0520-E442-4D2ED39ACD1B}"/>
              </a:ext>
            </a:extLst>
          </p:cNvPr>
          <p:cNvSpPr txBox="1"/>
          <p:nvPr/>
        </p:nvSpPr>
        <p:spPr>
          <a:xfrm>
            <a:off x="8207331" y="1842262"/>
            <a:ext cx="2327273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SG" sz="1050" dirty="0"/>
              <a:t>Milestone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SG" sz="1050" dirty="0"/>
              <a:t>Steps taken to achieve milestone:-</a:t>
            </a:r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en-SG" sz="1050" dirty="0"/>
              <a:t>XXX</a:t>
            </a:r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en-SG" sz="1050" dirty="0"/>
              <a:t>XXX</a:t>
            </a:r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en-SG" sz="1050" dirty="0"/>
              <a:t>XXX</a:t>
            </a:r>
          </a:p>
          <a:p>
            <a:pPr marL="514350" indent="-514350">
              <a:buFont typeface="Arial" panose="020B0604020202020204" pitchFamily="34" charset="0"/>
              <a:buAutoNum type="arabicParenR"/>
            </a:pPr>
            <a:endParaRPr lang="en-SG" sz="1050" dirty="0"/>
          </a:p>
          <a:p>
            <a:pPr marL="514350" indent="-514350">
              <a:buFont typeface="Arial" panose="020B0604020202020204" pitchFamily="34" charset="0"/>
              <a:buAutoNum type="arabicParenR"/>
            </a:pPr>
            <a:endParaRPr lang="en-SG" sz="1050" dirty="0"/>
          </a:p>
          <a:p>
            <a:endParaRPr lang="en-SG" sz="1050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3034A7B-5696-D840-4598-0988C04D60FB}"/>
              </a:ext>
            </a:extLst>
          </p:cNvPr>
          <p:cNvGrpSpPr/>
          <p:nvPr/>
        </p:nvGrpSpPr>
        <p:grpSpPr>
          <a:xfrm>
            <a:off x="6049446" y="122071"/>
            <a:ext cx="6042366" cy="1462390"/>
            <a:chOff x="6049446" y="122071"/>
            <a:chExt cx="6042366" cy="1462390"/>
          </a:xfrm>
          <a:solidFill>
            <a:schemeClr val="bg1">
              <a:lumMod val="95000"/>
            </a:schemeClr>
          </a:solidFill>
        </p:grpSpPr>
        <p:sp>
          <p:nvSpPr>
            <p:cNvPr id="9" name="Rectangle: Diagonal Corners Snipped 8">
              <a:extLst>
                <a:ext uri="{FF2B5EF4-FFF2-40B4-BE49-F238E27FC236}">
                  <a16:creationId xmlns:a16="http://schemas.microsoft.com/office/drawing/2014/main" id="{3029BE7B-7732-F51F-2E4A-8890F64D2DA4}"/>
                </a:ext>
              </a:extLst>
            </p:cNvPr>
            <p:cNvSpPr/>
            <p:nvPr/>
          </p:nvSpPr>
          <p:spPr>
            <a:xfrm>
              <a:off x="6049446" y="137183"/>
              <a:ext cx="2157082" cy="1447278"/>
            </a:xfrm>
            <a:prstGeom prst="round2DiagRect">
              <a:avLst/>
            </a:prstGeom>
            <a:grpFill/>
            <a:ln>
              <a:noFill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ln w="9525">
                    <a:noFill/>
                    <a:prstDash val="solid"/>
                  </a:ln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Year 1 </a:t>
              </a:r>
            </a:p>
            <a:p>
              <a:pPr algn="ctr"/>
              <a:r>
                <a:rPr lang="en-US" b="1" dirty="0">
                  <a:ln w="9525">
                    <a:noFill/>
                    <a:prstDash val="solid"/>
                  </a:ln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(Current Year X of Study at NTU)</a:t>
              </a:r>
              <a:endParaRPr lang="en-SG" sz="1200" b="1" dirty="0">
                <a:solidFill>
                  <a:schemeClr val="tx1"/>
                </a:solidFill>
              </a:endParaRPr>
            </a:p>
          </p:txBody>
        </p:sp>
        <p:sp>
          <p:nvSpPr>
            <p:cNvPr id="3" name="Rectangle: Diagonal Corners Snipped 8">
              <a:extLst>
                <a:ext uri="{FF2B5EF4-FFF2-40B4-BE49-F238E27FC236}">
                  <a16:creationId xmlns:a16="http://schemas.microsoft.com/office/drawing/2014/main" id="{F801ACF8-4923-F845-80DA-45FBA09F1300}"/>
                </a:ext>
              </a:extLst>
            </p:cNvPr>
            <p:cNvSpPr/>
            <p:nvPr/>
          </p:nvSpPr>
          <p:spPr>
            <a:xfrm>
              <a:off x="8207331" y="122071"/>
              <a:ext cx="3884481" cy="1438996"/>
            </a:xfrm>
            <a:prstGeom prst="round2DiagRect">
              <a:avLst/>
            </a:prstGeom>
            <a:grpFill/>
            <a:ln>
              <a:noFill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SG" sz="1400" b="1" u="sng" dirty="0">
                  <a:solidFill>
                    <a:schemeClr val="tx1"/>
                  </a:solidFill>
                </a:rPr>
                <a:t>Objective for the year</a:t>
              </a:r>
            </a:p>
            <a:p>
              <a:r>
                <a:rPr lang="en-US" sz="1400" dirty="0">
                  <a:solidFill>
                    <a:schemeClr val="tx1"/>
                  </a:solidFill>
                </a:rPr>
                <a:t>[</a:t>
              </a:r>
              <a:r>
                <a:rPr lang="en-US" sz="1400" kern="1200" dirty="0">
                  <a:solidFill>
                    <a:schemeClr val="tx1"/>
                  </a:solidFill>
                </a:rPr>
                <a:t>Provide a short write up to elaborate on the objective for the year].</a:t>
              </a:r>
            </a:p>
            <a:p>
              <a:endParaRPr 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65397127-4764-A5FC-3881-AB62F7F5FAB8}"/>
              </a:ext>
            </a:extLst>
          </p:cNvPr>
          <p:cNvGrpSpPr/>
          <p:nvPr/>
        </p:nvGrpSpPr>
        <p:grpSpPr>
          <a:xfrm>
            <a:off x="66289" y="137183"/>
            <a:ext cx="5765550" cy="1462642"/>
            <a:chOff x="66289" y="137183"/>
            <a:chExt cx="5765550" cy="1462642"/>
          </a:xfrm>
        </p:grpSpPr>
        <p:sp>
          <p:nvSpPr>
            <p:cNvPr id="2" name="Rectangle: Diagonal Corners Snipped 8">
              <a:extLst>
                <a:ext uri="{FF2B5EF4-FFF2-40B4-BE49-F238E27FC236}">
                  <a16:creationId xmlns:a16="http://schemas.microsoft.com/office/drawing/2014/main" id="{508992F9-F684-4622-7612-8FFD7E9EF29C}"/>
                </a:ext>
              </a:extLst>
            </p:cNvPr>
            <p:cNvSpPr/>
            <p:nvPr/>
          </p:nvSpPr>
          <p:spPr>
            <a:xfrm>
              <a:off x="2219582" y="137183"/>
              <a:ext cx="3612257" cy="1462642"/>
            </a:xfrm>
            <a:prstGeom prst="round2Diag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r>
                <a:rPr lang="en-SG" sz="1400" b="1" u="sng" dirty="0">
                  <a:solidFill>
                    <a:schemeClr val="tx1"/>
                  </a:solidFill>
                </a:rPr>
                <a:t>Career Goal(s)</a:t>
              </a:r>
            </a:p>
            <a:p>
              <a:r>
                <a:rPr lang="en-US" sz="1400" kern="1200" dirty="0">
                  <a:solidFill>
                    <a:schemeClr val="tx1"/>
                  </a:solidFill>
                </a:rPr>
                <a:t>[Provide a short write up to elaborate on your career goal(s)].</a:t>
              </a:r>
              <a:endParaRPr lang="en-SG" sz="1400" b="1" u="sng" dirty="0">
                <a:solidFill>
                  <a:schemeClr val="tx1"/>
                </a:solidFill>
              </a:endParaRPr>
            </a:p>
            <a:p>
              <a:r>
                <a:rPr lang="en-SG" sz="1400" b="1" u="sng" dirty="0">
                  <a:solidFill>
                    <a:schemeClr val="tx1"/>
                  </a:solidFill>
                </a:rPr>
                <a:t> </a:t>
              </a:r>
              <a:endParaRPr lang="en-US" sz="1400" b="1" u="sng" dirty="0">
                <a:solidFill>
                  <a:schemeClr val="tx1"/>
                </a:solidFill>
              </a:endParaRPr>
            </a:p>
          </p:txBody>
        </p:sp>
        <p:sp>
          <p:nvSpPr>
            <p:cNvPr id="4" name="Rectangle: Diagonal Corners Snipped 8">
              <a:extLst>
                <a:ext uri="{FF2B5EF4-FFF2-40B4-BE49-F238E27FC236}">
                  <a16:creationId xmlns:a16="http://schemas.microsoft.com/office/drawing/2014/main" id="{019E1F37-9CA5-0353-FE10-40047DE09FA2}"/>
                </a:ext>
              </a:extLst>
            </p:cNvPr>
            <p:cNvSpPr/>
            <p:nvPr/>
          </p:nvSpPr>
          <p:spPr>
            <a:xfrm>
              <a:off x="66289" y="137183"/>
              <a:ext cx="2152490" cy="1447278"/>
            </a:xfrm>
            <a:prstGeom prst="round2DiagRect">
              <a:avLst/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ln w="9525">
                    <a:noFill/>
                    <a:prstDash val="solid"/>
                  </a:ln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My 5-Year Career Roadmap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503077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A293E4B3-0B14-DBAB-96A4-5149E90B1DDE}"/>
              </a:ext>
            </a:extLst>
          </p:cNvPr>
          <p:cNvSpPr/>
          <p:nvPr/>
        </p:nvSpPr>
        <p:spPr>
          <a:xfrm>
            <a:off x="1615440" y="3708659"/>
            <a:ext cx="8922931" cy="1094506"/>
          </a:xfrm>
          <a:custGeom>
            <a:avLst/>
            <a:gdLst>
              <a:gd name="connsiteX0" fmla="*/ 0 w 8780691"/>
              <a:gd name="connsiteY0" fmla="*/ 70861 h 924345"/>
              <a:gd name="connsiteX1" fmla="*/ 1148080 w 8780691"/>
              <a:gd name="connsiteY1" fmla="*/ 924301 h 924345"/>
              <a:gd name="connsiteX2" fmla="*/ 2103120 w 8780691"/>
              <a:gd name="connsiteY2" fmla="*/ 40381 h 924345"/>
              <a:gd name="connsiteX3" fmla="*/ 4206240 w 8780691"/>
              <a:gd name="connsiteY3" fmla="*/ 903981 h 924345"/>
              <a:gd name="connsiteX4" fmla="*/ 5730240 w 8780691"/>
              <a:gd name="connsiteY4" fmla="*/ 294381 h 924345"/>
              <a:gd name="connsiteX5" fmla="*/ 7132320 w 8780691"/>
              <a:gd name="connsiteY5" fmla="*/ 771901 h 924345"/>
              <a:gd name="connsiteX6" fmla="*/ 8636000 w 8780691"/>
              <a:gd name="connsiteY6" fmla="*/ 70861 h 924345"/>
              <a:gd name="connsiteX7" fmla="*/ 8636000 w 8780691"/>
              <a:gd name="connsiteY7" fmla="*/ 60701 h 9243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780691" h="924345">
                <a:moveTo>
                  <a:pt x="0" y="70861"/>
                </a:moveTo>
                <a:cubicBezTo>
                  <a:pt x="398780" y="500121"/>
                  <a:pt x="797560" y="929381"/>
                  <a:pt x="1148080" y="924301"/>
                </a:cubicBezTo>
                <a:cubicBezTo>
                  <a:pt x="1498600" y="919221"/>
                  <a:pt x="1593427" y="43768"/>
                  <a:pt x="2103120" y="40381"/>
                </a:cubicBezTo>
                <a:cubicBezTo>
                  <a:pt x="2612813" y="36994"/>
                  <a:pt x="3601720" y="861648"/>
                  <a:pt x="4206240" y="903981"/>
                </a:cubicBezTo>
                <a:cubicBezTo>
                  <a:pt x="4810760" y="946314"/>
                  <a:pt x="5242560" y="316394"/>
                  <a:pt x="5730240" y="294381"/>
                </a:cubicBezTo>
                <a:cubicBezTo>
                  <a:pt x="6217920" y="272368"/>
                  <a:pt x="6648027" y="809154"/>
                  <a:pt x="7132320" y="771901"/>
                </a:cubicBezTo>
                <a:cubicBezTo>
                  <a:pt x="7616613" y="734648"/>
                  <a:pt x="8636000" y="70861"/>
                  <a:pt x="8636000" y="70861"/>
                </a:cubicBezTo>
                <a:cubicBezTo>
                  <a:pt x="8886613" y="-47672"/>
                  <a:pt x="8761306" y="6514"/>
                  <a:pt x="8636000" y="60701"/>
                </a:cubicBezTo>
              </a:path>
            </a:pathLst>
          </a:custGeom>
          <a:noFill/>
          <a:ln>
            <a:prstDash val="lg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3D9A3BF-D970-1817-CD01-1A6B0CF2AABC}"/>
              </a:ext>
            </a:extLst>
          </p:cNvPr>
          <p:cNvSpPr txBox="1"/>
          <p:nvPr/>
        </p:nvSpPr>
        <p:spPr>
          <a:xfrm>
            <a:off x="10353736" y="3343774"/>
            <a:ext cx="1764085" cy="783193"/>
          </a:xfrm>
          <a:prstGeom prst="roundRect">
            <a:avLst/>
          </a:prstGeom>
          <a:solidFill>
            <a:schemeClr val="accent6">
              <a:lumMod val="75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 anchor="ctr">
            <a:spAutoFit/>
          </a:bodyPr>
          <a:lstStyle/>
          <a:p>
            <a:pPr algn="ctr"/>
            <a:r>
              <a:rPr lang="en-SG" sz="2000" b="1" dirty="0">
                <a:solidFill>
                  <a:schemeClr val="bg1"/>
                </a:solidFill>
              </a:rPr>
              <a:t>Year 1 Completed!</a:t>
            </a:r>
            <a:endParaRPr lang="en-US" sz="2000" b="1" dirty="0">
              <a:solidFill>
                <a:schemeClr val="bg1"/>
              </a:solidFill>
            </a:endParaRP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C27CFA82-4EC9-621F-F593-3803309C5EE2}"/>
              </a:ext>
            </a:extLst>
          </p:cNvPr>
          <p:cNvGrpSpPr/>
          <p:nvPr/>
        </p:nvGrpSpPr>
        <p:grpSpPr>
          <a:xfrm>
            <a:off x="4676374" y="4611015"/>
            <a:ext cx="2915197" cy="2021924"/>
            <a:chOff x="3684395" y="4709177"/>
            <a:chExt cx="2915197" cy="1862000"/>
          </a:xfrm>
        </p:grpSpPr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FD7BDA3E-59D8-31F6-0341-3294F90F3047}"/>
                </a:ext>
              </a:extLst>
            </p:cNvPr>
            <p:cNvCxnSpPr/>
            <p:nvPr/>
          </p:nvCxnSpPr>
          <p:spPr>
            <a:xfrm>
              <a:off x="5184189" y="4762057"/>
              <a:ext cx="0" cy="84256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656F5258-1642-795C-F304-9076401B0E6A}"/>
                </a:ext>
              </a:extLst>
            </p:cNvPr>
            <p:cNvSpPr txBox="1"/>
            <p:nvPr/>
          </p:nvSpPr>
          <p:spPr>
            <a:xfrm>
              <a:off x="3684395" y="5442269"/>
              <a:ext cx="2915197" cy="1128908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marL="0" indent="0">
                <a:buFont typeface="Arial" panose="020B0604020202020204" pitchFamily="34" charset="0"/>
                <a:buNone/>
              </a:pPr>
              <a:r>
                <a:rPr lang="en-SG" sz="1100" dirty="0"/>
                <a:t>Milestone: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SG" sz="1100" dirty="0"/>
                <a:t>Steps taken:-</a:t>
              </a:r>
            </a:p>
            <a:p>
              <a:pPr marL="233363" indent="-233363">
                <a:buFont typeface="Arial" panose="020B0604020202020204" pitchFamily="34" charset="0"/>
                <a:buAutoNum type="arabicParenR"/>
              </a:pPr>
              <a:r>
                <a:rPr lang="en-SG" sz="1100" dirty="0"/>
                <a:t>XXX</a:t>
              </a:r>
            </a:p>
            <a:p>
              <a:pPr marL="233363" indent="-233363">
                <a:buFont typeface="Arial" panose="020B0604020202020204" pitchFamily="34" charset="0"/>
                <a:buAutoNum type="arabicParenR"/>
              </a:pPr>
              <a:r>
                <a:rPr lang="en-SG" sz="1100" dirty="0"/>
                <a:t>XXX</a:t>
              </a:r>
            </a:p>
            <a:p>
              <a:pPr marL="233363" indent="-233363">
                <a:buFont typeface="Arial" panose="020B0604020202020204" pitchFamily="34" charset="0"/>
                <a:buAutoNum type="arabicParenR"/>
              </a:pPr>
              <a:r>
                <a:rPr lang="en-SG" sz="1100" dirty="0"/>
                <a:t>XXX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endParaRPr lang="en-SG" sz="1100" dirty="0"/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6695CD4E-1FE3-5FEC-8382-6F807CCA46A0}"/>
                </a:ext>
              </a:extLst>
            </p:cNvPr>
            <p:cNvSpPr txBox="1"/>
            <p:nvPr/>
          </p:nvSpPr>
          <p:spPr>
            <a:xfrm>
              <a:off x="4629262" y="4709177"/>
              <a:ext cx="1159560" cy="476726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SG" sz="1100" dirty="0"/>
                <a:t>Date</a:t>
              </a:r>
            </a:p>
            <a:p>
              <a:pPr algn="ctr"/>
              <a:r>
                <a:rPr lang="en-SG" sz="1100" dirty="0"/>
                <a:t>(Duration)</a:t>
              </a:r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4EAF5F2-B846-6F69-2EEC-080E09927480}"/>
              </a:ext>
            </a:extLst>
          </p:cNvPr>
          <p:cNvGrpSpPr/>
          <p:nvPr/>
        </p:nvGrpSpPr>
        <p:grpSpPr>
          <a:xfrm>
            <a:off x="193586" y="1936254"/>
            <a:ext cx="2898055" cy="2286678"/>
            <a:chOff x="-326417" y="1470340"/>
            <a:chExt cx="2898055" cy="2286678"/>
          </a:xfrm>
        </p:grpSpPr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2FCC244B-11FE-E107-003F-B8578B6F5228}"/>
                </a:ext>
              </a:extLst>
            </p:cNvPr>
            <p:cNvCxnSpPr/>
            <p:nvPr/>
          </p:nvCxnSpPr>
          <p:spPr>
            <a:xfrm>
              <a:off x="717771" y="2759344"/>
              <a:ext cx="0" cy="84256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B735253-32CC-E074-1C1B-26C9D7E63BEB}"/>
                </a:ext>
              </a:extLst>
            </p:cNvPr>
            <p:cNvSpPr txBox="1"/>
            <p:nvPr/>
          </p:nvSpPr>
          <p:spPr>
            <a:xfrm>
              <a:off x="197224" y="3280292"/>
              <a:ext cx="1041095" cy="476726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SG" sz="1100" dirty="0"/>
                <a:t>Aug 2024</a:t>
              </a:r>
            </a:p>
            <a:p>
              <a:pPr algn="ctr"/>
              <a:r>
                <a:rPr lang="en-SG" sz="1100" dirty="0"/>
                <a:t>(Duration)</a:t>
              </a:r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86033CBE-8E18-189B-733C-69782CFA3EFE}"/>
                </a:ext>
              </a:extLst>
            </p:cNvPr>
            <p:cNvSpPr txBox="1"/>
            <p:nvPr/>
          </p:nvSpPr>
          <p:spPr>
            <a:xfrm>
              <a:off x="-326417" y="1470340"/>
              <a:ext cx="2898055" cy="1413153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marL="0" indent="0">
                <a:buFont typeface="Arial" panose="020B0604020202020204" pitchFamily="34" charset="0"/>
                <a:buNone/>
              </a:pPr>
              <a:r>
                <a:rPr lang="en-SG" sz="1100" dirty="0"/>
                <a:t>Goal/Target :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SG" sz="1100" dirty="0"/>
                <a:t>Steps taken:-</a:t>
              </a:r>
            </a:p>
            <a:p>
              <a:pPr marL="233363" indent="-233363">
                <a:buFont typeface="Arial" panose="020B0604020202020204" pitchFamily="34" charset="0"/>
                <a:buAutoNum type="arabicParenR"/>
              </a:pPr>
              <a:r>
                <a:rPr lang="en-SG" sz="1100" dirty="0"/>
                <a:t>XXX</a:t>
              </a:r>
            </a:p>
            <a:p>
              <a:pPr marL="233363" indent="-233363">
                <a:buFont typeface="Arial" panose="020B0604020202020204" pitchFamily="34" charset="0"/>
                <a:buAutoNum type="arabicParenR"/>
              </a:pPr>
              <a:r>
                <a:rPr lang="en-SG" sz="1100" dirty="0"/>
                <a:t>XXX</a:t>
              </a:r>
            </a:p>
            <a:p>
              <a:pPr marL="233363" indent="-233363">
                <a:buFont typeface="Arial" panose="020B0604020202020204" pitchFamily="34" charset="0"/>
                <a:buAutoNum type="arabicParenR"/>
              </a:pPr>
              <a:r>
                <a:rPr lang="en-SG" sz="1100" dirty="0"/>
                <a:t>XXX</a:t>
              </a:r>
            </a:p>
            <a:p>
              <a:endParaRPr lang="en-SG" sz="1100" dirty="0"/>
            </a:p>
            <a:p>
              <a:endParaRPr lang="en-US" sz="1100" dirty="0"/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130CE818-EF27-73B2-6BDC-134461CA702A}"/>
              </a:ext>
            </a:extLst>
          </p:cNvPr>
          <p:cNvGrpSpPr/>
          <p:nvPr/>
        </p:nvGrpSpPr>
        <p:grpSpPr>
          <a:xfrm>
            <a:off x="3355258" y="1954431"/>
            <a:ext cx="2915197" cy="2193994"/>
            <a:chOff x="3116588" y="1473204"/>
            <a:chExt cx="2915197" cy="2193994"/>
          </a:xfrm>
        </p:grpSpPr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1C7B3C48-2A56-4D19-E5D1-9881A7D175A4}"/>
                </a:ext>
              </a:extLst>
            </p:cNvPr>
            <p:cNvCxnSpPr/>
            <p:nvPr/>
          </p:nvCxnSpPr>
          <p:spPr>
            <a:xfrm>
              <a:off x="4032257" y="2631949"/>
              <a:ext cx="0" cy="84256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DB8996F2-FD94-F51E-D47E-1E012DBD5F6A}"/>
                </a:ext>
              </a:extLst>
            </p:cNvPr>
            <p:cNvSpPr txBox="1"/>
            <p:nvPr/>
          </p:nvSpPr>
          <p:spPr>
            <a:xfrm>
              <a:off x="3423123" y="3190472"/>
              <a:ext cx="1258822" cy="476726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SG" sz="1100" dirty="0"/>
                <a:t>Date </a:t>
              </a:r>
            </a:p>
            <a:p>
              <a:pPr algn="ctr"/>
              <a:r>
                <a:rPr lang="en-SG" sz="1100" dirty="0"/>
                <a:t>(Duration)</a:t>
              </a:r>
            </a:p>
          </p:txBody>
        </p:sp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14003B6C-DD19-9EF3-3CD0-46730FFB16C4}"/>
                </a:ext>
              </a:extLst>
            </p:cNvPr>
            <p:cNvSpPr txBox="1"/>
            <p:nvPr/>
          </p:nvSpPr>
          <p:spPr>
            <a:xfrm>
              <a:off x="3116588" y="1473204"/>
              <a:ext cx="2915197" cy="1413153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marL="0" indent="0">
                <a:buFont typeface="Arial" panose="020B0604020202020204" pitchFamily="34" charset="0"/>
                <a:buNone/>
              </a:pPr>
              <a:r>
                <a:rPr lang="en-SG" sz="1100" dirty="0"/>
                <a:t>Goal/Target :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SG" sz="1100" dirty="0"/>
                <a:t>Steps taken:-</a:t>
              </a:r>
            </a:p>
            <a:p>
              <a:pPr marL="233363" indent="-233363">
                <a:buFont typeface="Arial" panose="020B0604020202020204" pitchFamily="34" charset="0"/>
                <a:buAutoNum type="arabicParenR"/>
              </a:pPr>
              <a:r>
                <a:rPr lang="en-SG" sz="1100" dirty="0"/>
                <a:t>XXX</a:t>
              </a:r>
            </a:p>
            <a:p>
              <a:pPr marL="233363" indent="-233363">
                <a:buFont typeface="Arial" panose="020B0604020202020204" pitchFamily="34" charset="0"/>
                <a:buAutoNum type="arabicParenR"/>
              </a:pPr>
              <a:r>
                <a:rPr lang="en-SG" sz="1100" dirty="0"/>
                <a:t>XXX</a:t>
              </a:r>
            </a:p>
            <a:p>
              <a:pPr marL="233363" indent="-233363">
                <a:buFont typeface="Arial" panose="020B0604020202020204" pitchFamily="34" charset="0"/>
                <a:buAutoNum type="arabicParenR"/>
              </a:pPr>
              <a:r>
                <a:rPr lang="en-SG" sz="1100" dirty="0"/>
                <a:t>XXX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endParaRPr lang="en-SG" sz="1100" dirty="0"/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endParaRPr lang="en-SG" sz="1100" dirty="0"/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C082775-484A-BE35-FA35-7487F777698E}"/>
              </a:ext>
            </a:extLst>
          </p:cNvPr>
          <p:cNvGrpSpPr/>
          <p:nvPr/>
        </p:nvGrpSpPr>
        <p:grpSpPr>
          <a:xfrm>
            <a:off x="8811881" y="4264577"/>
            <a:ext cx="3228109" cy="2391828"/>
            <a:chOff x="5192030" y="3363068"/>
            <a:chExt cx="3228109" cy="2391828"/>
          </a:xfrm>
        </p:grpSpPr>
        <p:cxnSp>
          <p:nvCxnSpPr>
            <p:cNvPr id="50" name="Straight Connector 49">
              <a:extLst>
                <a:ext uri="{FF2B5EF4-FFF2-40B4-BE49-F238E27FC236}">
                  <a16:creationId xmlns:a16="http://schemas.microsoft.com/office/drawing/2014/main" id="{F30095A6-979F-7079-0BBD-62E12711E6D8}"/>
                </a:ext>
              </a:extLst>
            </p:cNvPr>
            <p:cNvCxnSpPr/>
            <p:nvPr/>
          </p:nvCxnSpPr>
          <p:spPr>
            <a:xfrm>
              <a:off x="5868758" y="3841997"/>
              <a:ext cx="0" cy="84256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A968785D-2C04-5C30-0EAD-34480686ACC6}"/>
                </a:ext>
              </a:extLst>
            </p:cNvPr>
            <p:cNvSpPr txBox="1"/>
            <p:nvPr/>
          </p:nvSpPr>
          <p:spPr>
            <a:xfrm>
              <a:off x="5192030" y="4529028"/>
              <a:ext cx="3228109" cy="1225868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marL="0" indent="0">
                <a:buFont typeface="Arial" panose="020B0604020202020204" pitchFamily="34" charset="0"/>
                <a:buNone/>
              </a:pPr>
              <a:r>
                <a:rPr lang="en-SG" sz="1100" dirty="0"/>
                <a:t>Goal/Target :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SG" sz="1100" dirty="0"/>
                <a:t>Steps taken:-</a:t>
              </a:r>
            </a:p>
            <a:p>
              <a:pPr marL="233363" indent="-233363">
                <a:buFont typeface="Arial" panose="020B0604020202020204" pitchFamily="34" charset="0"/>
                <a:buAutoNum type="arabicParenR"/>
              </a:pPr>
              <a:r>
                <a:rPr lang="en-SG" sz="1100" dirty="0"/>
                <a:t>XXX</a:t>
              </a:r>
            </a:p>
            <a:p>
              <a:pPr marL="233363" indent="-233363">
                <a:buFont typeface="Arial" panose="020B0604020202020204" pitchFamily="34" charset="0"/>
                <a:buAutoNum type="arabicParenR"/>
              </a:pPr>
              <a:r>
                <a:rPr lang="en-SG" sz="1100" dirty="0"/>
                <a:t>XXX</a:t>
              </a:r>
            </a:p>
            <a:p>
              <a:pPr marL="233363" indent="-233363">
                <a:buFont typeface="Arial" panose="020B0604020202020204" pitchFamily="34" charset="0"/>
                <a:buAutoNum type="arabicParenR"/>
              </a:pPr>
              <a:r>
                <a:rPr lang="en-SG" sz="1100" dirty="0"/>
                <a:t>XXX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endParaRPr lang="en-SG" sz="1100" dirty="0"/>
            </a:p>
          </p:txBody>
        </p:sp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8C5BC078-787F-5B60-F67B-67A352B47369}"/>
                </a:ext>
              </a:extLst>
            </p:cNvPr>
            <p:cNvSpPr txBox="1"/>
            <p:nvPr/>
          </p:nvSpPr>
          <p:spPr>
            <a:xfrm>
              <a:off x="5249643" y="3363068"/>
              <a:ext cx="1332873" cy="476726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SG" sz="1100" b="1" dirty="0"/>
                <a:t>Summer Break</a:t>
              </a:r>
            </a:p>
            <a:p>
              <a:pPr algn="ctr"/>
              <a:r>
                <a:rPr lang="en-SG" sz="1100" dirty="0"/>
                <a:t>Date (Duration)</a:t>
              </a:r>
            </a:p>
          </p:txBody>
        </p:sp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B82154C6-E57C-B346-699D-59E9BF26AF92}"/>
              </a:ext>
            </a:extLst>
          </p:cNvPr>
          <p:cNvGrpSpPr/>
          <p:nvPr/>
        </p:nvGrpSpPr>
        <p:grpSpPr>
          <a:xfrm>
            <a:off x="6845004" y="2121188"/>
            <a:ext cx="2866837" cy="2142288"/>
            <a:chOff x="3244516" y="1524910"/>
            <a:chExt cx="2866837" cy="2142288"/>
          </a:xfrm>
        </p:grpSpPr>
        <p:cxnSp>
          <p:nvCxnSpPr>
            <p:cNvPr id="58" name="Straight Connector 57">
              <a:extLst>
                <a:ext uri="{FF2B5EF4-FFF2-40B4-BE49-F238E27FC236}">
                  <a16:creationId xmlns:a16="http://schemas.microsoft.com/office/drawing/2014/main" id="{9E18CA33-5097-5A26-E3EC-BF60B3D1DA33}"/>
                </a:ext>
              </a:extLst>
            </p:cNvPr>
            <p:cNvCxnSpPr/>
            <p:nvPr/>
          </p:nvCxnSpPr>
          <p:spPr>
            <a:xfrm>
              <a:off x="3914443" y="2441545"/>
              <a:ext cx="0" cy="84256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8126302C-926D-4190-98FF-3D3AD409AA9D}"/>
                </a:ext>
              </a:extLst>
            </p:cNvPr>
            <p:cNvSpPr txBox="1"/>
            <p:nvPr/>
          </p:nvSpPr>
          <p:spPr>
            <a:xfrm>
              <a:off x="3301414" y="3190472"/>
              <a:ext cx="1299376" cy="476726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SG" sz="1100" dirty="0"/>
                <a:t>Date </a:t>
              </a:r>
            </a:p>
            <a:p>
              <a:pPr algn="ctr"/>
              <a:r>
                <a:rPr lang="en-SG" sz="1100" dirty="0"/>
                <a:t>(Duration)</a:t>
              </a:r>
            </a:p>
          </p:txBody>
        </p:sp>
        <p:sp>
          <p:nvSpPr>
            <p:cNvPr id="60" name="TextBox 59">
              <a:extLst>
                <a:ext uri="{FF2B5EF4-FFF2-40B4-BE49-F238E27FC236}">
                  <a16:creationId xmlns:a16="http://schemas.microsoft.com/office/drawing/2014/main" id="{67B49530-811A-33D3-72F8-AC874888FCA4}"/>
                </a:ext>
              </a:extLst>
            </p:cNvPr>
            <p:cNvSpPr txBox="1"/>
            <p:nvPr/>
          </p:nvSpPr>
          <p:spPr>
            <a:xfrm>
              <a:off x="3244516" y="1524910"/>
              <a:ext cx="2866837" cy="1413153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marL="0" indent="0">
                <a:buFont typeface="Arial" panose="020B0604020202020204" pitchFamily="34" charset="0"/>
                <a:buNone/>
              </a:pPr>
              <a:r>
                <a:rPr lang="en-SG" sz="1100" dirty="0"/>
                <a:t>Goal/Target :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SG" sz="1100" dirty="0"/>
                <a:t>Steps taken:-</a:t>
              </a:r>
            </a:p>
            <a:p>
              <a:pPr marL="233363" indent="-233363">
                <a:buFont typeface="Arial" panose="020B0604020202020204" pitchFamily="34" charset="0"/>
                <a:buAutoNum type="arabicParenR"/>
              </a:pPr>
              <a:r>
                <a:rPr lang="en-SG" sz="1100" dirty="0"/>
                <a:t>XXX</a:t>
              </a:r>
            </a:p>
            <a:p>
              <a:pPr marL="233363" indent="-233363">
                <a:buFont typeface="Arial" panose="020B0604020202020204" pitchFamily="34" charset="0"/>
                <a:buAutoNum type="arabicParenR"/>
              </a:pPr>
              <a:r>
                <a:rPr lang="en-SG" sz="1100" dirty="0"/>
                <a:t>XXX</a:t>
              </a:r>
            </a:p>
            <a:p>
              <a:pPr marL="233363" indent="-233363">
                <a:buFont typeface="Arial" panose="020B0604020202020204" pitchFamily="34" charset="0"/>
                <a:buAutoNum type="arabicParenR"/>
              </a:pPr>
              <a:r>
                <a:rPr lang="en-SG" sz="1100" dirty="0"/>
                <a:t>XXX</a:t>
              </a:r>
            </a:p>
            <a:p>
              <a:pPr marL="233363" indent="-233363">
                <a:buFont typeface="Arial" panose="020B0604020202020204" pitchFamily="34" charset="0"/>
                <a:buAutoNum type="arabicParenR"/>
              </a:pPr>
              <a:endParaRPr lang="en-SG" sz="1100" dirty="0"/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endParaRPr lang="en-SG" sz="1100" dirty="0"/>
            </a:p>
          </p:txBody>
        </p:sp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E30D5EED-96DB-B29D-A676-7CF64019A18E}"/>
              </a:ext>
            </a:extLst>
          </p:cNvPr>
          <p:cNvGrpSpPr/>
          <p:nvPr/>
        </p:nvGrpSpPr>
        <p:grpSpPr>
          <a:xfrm>
            <a:off x="193586" y="4633842"/>
            <a:ext cx="3392861" cy="2024257"/>
            <a:chOff x="2281851" y="4935364"/>
            <a:chExt cx="3392861" cy="1864148"/>
          </a:xfrm>
        </p:grpSpPr>
        <p:cxnSp>
          <p:nvCxnSpPr>
            <p:cNvPr id="68" name="Straight Connector 67">
              <a:extLst>
                <a:ext uri="{FF2B5EF4-FFF2-40B4-BE49-F238E27FC236}">
                  <a16:creationId xmlns:a16="http://schemas.microsoft.com/office/drawing/2014/main" id="{BD41AB24-08C0-1B7A-90A5-67A2A3CDA307}"/>
                </a:ext>
              </a:extLst>
            </p:cNvPr>
            <p:cNvCxnSpPr/>
            <p:nvPr/>
          </p:nvCxnSpPr>
          <p:spPr>
            <a:xfrm>
              <a:off x="4979387" y="5130647"/>
              <a:ext cx="0" cy="842569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27D94366-8855-A793-D6C9-B65F3DAA9D6A}"/>
                </a:ext>
              </a:extLst>
            </p:cNvPr>
            <p:cNvSpPr txBox="1"/>
            <p:nvPr/>
          </p:nvSpPr>
          <p:spPr>
            <a:xfrm>
              <a:off x="2281851" y="5670604"/>
              <a:ext cx="3392861" cy="1128908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>
              <a:spAutoFit/>
            </a:bodyPr>
            <a:lstStyle/>
            <a:p>
              <a:pPr marL="0" indent="0">
                <a:buFont typeface="Arial" panose="020B0604020202020204" pitchFamily="34" charset="0"/>
                <a:buNone/>
              </a:pPr>
              <a:r>
                <a:rPr lang="en-SG" sz="1100" dirty="0"/>
                <a:t>Milestone: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SG" sz="1100" dirty="0"/>
                <a:t>Steps taken:-</a:t>
              </a:r>
            </a:p>
            <a:p>
              <a:pPr marL="233363" indent="-233363">
                <a:buFont typeface="Arial" panose="020B0604020202020204" pitchFamily="34" charset="0"/>
                <a:buAutoNum type="arabicParenR"/>
              </a:pPr>
              <a:r>
                <a:rPr lang="en-SG" sz="1100" dirty="0"/>
                <a:t>XXX</a:t>
              </a:r>
            </a:p>
            <a:p>
              <a:pPr marL="233363" indent="-233363">
                <a:buFont typeface="Arial" panose="020B0604020202020204" pitchFamily="34" charset="0"/>
                <a:buAutoNum type="arabicParenR"/>
              </a:pPr>
              <a:r>
                <a:rPr lang="en-SG" sz="1100" dirty="0"/>
                <a:t>XXX</a:t>
              </a:r>
            </a:p>
            <a:p>
              <a:pPr marL="233363" indent="-233363">
                <a:buFont typeface="Arial" panose="020B0604020202020204" pitchFamily="34" charset="0"/>
                <a:buAutoNum type="arabicParenR"/>
              </a:pPr>
              <a:r>
                <a:rPr lang="en-SG" sz="1100" dirty="0"/>
                <a:t>XXX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endParaRPr lang="en-SG" sz="1100" dirty="0"/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2EBD0E3D-9848-5C9F-6C8E-3494FAD46423}"/>
                </a:ext>
              </a:extLst>
            </p:cNvPr>
            <p:cNvSpPr txBox="1"/>
            <p:nvPr/>
          </p:nvSpPr>
          <p:spPr>
            <a:xfrm>
              <a:off x="4399607" y="4935364"/>
              <a:ext cx="1159560" cy="476726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wrap="square" rtlCol="0" anchor="ctr">
              <a:spAutoFit/>
            </a:bodyPr>
            <a:lstStyle/>
            <a:p>
              <a:pPr algn="ctr"/>
              <a:r>
                <a:rPr lang="en-SG" sz="1100" dirty="0"/>
                <a:t>Date</a:t>
              </a:r>
            </a:p>
            <a:p>
              <a:pPr algn="ctr"/>
              <a:r>
                <a:rPr lang="en-SG" sz="1100" dirty="0"/>
                <a:t>(Duration)</a:t>
              </a:r>
            </a:p>
          </p:txBody>
        </p:sp>
      </p:grp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9B58A50-7345-CC18-F156-56DE38591BA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94124083"/>
              </p:ext>
            </p:extLst>
          </p:nvPr>
        </p:nvGraphicFramePr>
        <p:xfrm>
          <a:off x="0" y="-9397"/>
          <a:ext cx="12192004" cy="1341744"/>
        </p:xfrm>
        <a:graphic>
          <a:graphicData uri="http://schemas.openxmlformats.org/drawingml/2006/table">
            <a:tbl>
              <a:tblPr firstRow="1" bandRow="1">
                <a:tableStyleId>{638B1855-1B75-4FBE-930C-398BA8C253C6}</a:tableStyleId>
              </a:tblPr>
              <a:tblGrid>
                <a:gridCol w="1574800">
                  <a:extLst>
                    <a:ext uri="{9D8B030D-6E8A-4147-A177-3AD203B41FA5}">
                      <a16:colId xmlns:a16="http://schemas.microsoft.com/office/drawing/2014/main" val="2443217523"/>
                    </a:ext>
                  </a:extLst>
                </a:gridCol>
                <a:gridCol w="4521202">
                  <a:extLst>
                    <a:ext uri="{9D8B030D-6E8A-4147-A177-3AD203B41FA5}">
                      <a16:colId xmlns:a16="http://schemas.microsoft.com/office/drawing/2014/main" val="4001114806"/>
                    </a:ext>
                  </a:extLst>
                </a:gridCol>
                <a:gridCol w="1879598">
                  <a:extLst>
                    <a:ext uri="{9D8B030D-6E8A-4147-A177-3AD203B41FA5}">
                      <a16:colId xmlns:a16="http://schemas.microsoft.com/office/drawing/2014/main" val="2194916636"/>
                    </a:ext>
                  </a:extLst>
                </a:gridCol>
                <a:gridCol w="4216404">
                  <a:extLst>
                    <a:ext uri="{9D8B030D-6E8A-4147-A177-3AD203B41FA5}">
                      <a16:colId xmlns:a16="http://schemas.microsoft.com/office/drawing/2014/main" val="809818352"/>
                    </a:ext>
                  </a:extLst>
                </a:gridCol>
              </a:tblGrid>
              <a:tr h="134174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ln w="9525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My 5-Year Career Roadmap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SG" sz="1600" b="1" u="sng" dirty="0">
                          <a:solidFill>
                            <a:schemeClr val="bg1"/>
                          </a:solidFill>
                        </a:rPr>
                        <a:t>Career Goal(s)</a:t>
                      </a:r>
                    </a:p>
                    <a:p>
                      <a:r>
                        <a:rPr lang="en-US" sz="1400" b="0" kern="1200" dirty="0">
                          <a:solidFill>
                            <a:schemeClr val="bg1"/>
                          </a:solidFill>
                        </a:rPr>
                        <a:t>[Provide a short write up to elaborate on your career goal(s)].</a:t>
                      </a:r>
                      <a:endParaRPr lang="en-SG" sz="1400" b="0" u="sng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u="none" dirty="0">
                          <a:ln w="9525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Year 1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1" dirty="0">
                          <a:ln w="9525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(Current Year X of Study at NTU)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SG" sz="1600" b="1" u="sng" dirty="0">
                          <a:solidFill>
                            <a:schemeClr val="bg1"/>
                          </a:solidFill>
                        </a:rPr>
                        <a:t>Objective for the year</a:t>
                      </a:r>
                    </a:p>
                    <a:p>
                      <a:r>
                        <a:rPr lang="en-US" sz="1400" b="0" kern="1200" dirty="0">
                          <a:solidFill>
                            <a:schemeClr val="bg1"/>
                          </a:solidFill>
                        </a:rPr>
                        <a:t>[Provide a short write up to elaborate on the objective for the year]</a:t>
                      </a:r>
                    </a:p>
                    <a:p>
                      <a:endParaRPr lang="en-US" dirty="0">
                        <a:solidFill>
                          <a:schemeClr val="bg1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1933044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96617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>
            <a:extLst>
              <a:ext uri="{FF2B5EF4-FFF2-40B4-BE49-F238E27FC236}">
                <a16:creationId xmlns:a16="http://schemas.microsoft.com/office/drawing/2014/main" id="{2EAA3F09-02E1-E809-E90D-C4F971C7AA45}"/>
              </a:ext>
            </a:extLst>
          </p:cNvPr>
          <p:cNvGrpSpPr/>
          <p:nvPr/>
        </p:nvGrpSpPr>
        <p:grpSpPr>
          <a:xfrm>
            <a:off x="153933" y="4910979"/>
            <a:ext cx="5779479" cy="1429228"/>
            <a:chOff x="4992389" y="5374518"/>
            <a:chExt cx="6894810" cy="1429228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DB8C0751-DF0C-BC33-F126-2CBEED244D7F}"/>
                </a:ext>
              </a:extLst>
            </p:cNvPr>
            <p:cNvGrpSpPr/>
            <p:nvPr/>
          </p:nvGrpSpPr>
          <p:grpSpPr>
            <a:xfrm>
              <a:off x="5841999" y="5374518"/>
              <a:ext cx="6045200" cy="1386543"/>
              <a:chOff x="5882640" y="439201"/>
              <a:chExt cx="6045200" cy="1386543"/>
            </a:xfrm>
          </p:grpSpPr>
          <p:sp>
            <p:nvSpPr>
              <p:cNvPr id="28" name="Arrow: Pentagon 27">
                <a:extLst>
                  <a:ext uri="{FF2B5EF4-FFF2-40B4-BE49-F238E27FC236}">
                    <a16:creationId xmlns:a16="http://schemas.microsoft.com/office/drawing/2014/main" id="{445AA322-62EC-71E4-1C72-340A4B13374A}"/>
                  </a:ext>
                </a:extLst>
              </p:cNvPr>
              <p:cNvSpPr/>
              <p:nvPr/>
            </p:nvSpPr>
            <p:spPr>
              <a:xfrm rot="10800000">
                <a:off x="5882640" y="458020"/>
                <a:ext cx="6045200" cy="1367724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2409BE2-55BF-7492-46F6-6FE84421763C}"/>
                  </a:ext>
                </a:extLst>
              </p:cNvPr>
              <p:cNvSpPr txBox="1"/>
              <p:nvPr/>
            </p:nvSpPr>
            <p:spPr>
              <a:xfrm>
                <a:off x="6573294" y="439201"/>
                <a:ext cx="5354546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SG" u="sng" dirty="0"/>
                  <a:t>Milestone 1</a:t>
                </a:r>
                <a:endParaRPr lang="en-US" u="sng" dirty="0"/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SG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Date/Duration</a:t>
                </a:r>
                <a:endParaRPr lang="en-US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SG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Steps taken to achieve milestone 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endParaRPr lang="en-US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41" name="Oval 40" descr="Trophy with solid fill">
              <a:extLst>
                <a:ext uri="{FF2B5EF4-FFF2-40B4-BE49-F238E27FC236}">
                  <a16:creationId xmlns:a16="http://schemas.microsoft.com/office/drawing/2014/main" id="{BEC92CA4-8556-40FB-E603-A13C69842D6E}"/>
                </a:ext>
              </a:extLst>
            </p:cNvPr>
            <p:cNvSpPr/>
            <p:nvPr/>
          </p:nvSpPr>
          <p:spPr>
            <a:xfrm>
              <a:off x="4992389" y="5469828"/>
              <a:ext cx="1333918" cy="1333918"/>
            </a:xfrm>
            <a:prstGeom prst="ellipse">
              <a:avLst/>
            </a:pr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dk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0E803409-26E8-7AB5-B2BA-8DAA2684C322}"/>
              </a:ext>
            </a:extLst>
          </p:cNvPr>
          <p:cNvGrpSpPr/>
          <p:nvPr/>
        </p:nvGrpSpPr>
        <p:grpSpPr>
          <a:xfrm>
            <a:off x="4088294" y="1593151"/>
            <a:ext cx="3690236" cy="2492373"/>
            <a:chOff x="5347999" y="181114"/>
            <a:chExt cx="5537754" cy="2041744"/>
          </a:xfrm>
        </p:grpSpPr>
        <p:sp>
          <p:nvSpPr>
            <p:cNvPr id="61" name="Arrow: Pentagon 60">
              <a:extLst>
                <a:ext uri="{FF2B5EF4-FFF2-40B4-BE49-F238E27FC236}">
                  <a16:creationId xmlns:a16="http://schemas.microsoft.com/office/drawing/2014/main" id="{79FD0910-CC68-EA7A-F2FD-77D03E2A3FDA}"/>
                </a:ext>
              </a:extLst>
            </p:cNvPr>
            <p:cNvSpPr/>
            <p:nvPr/>
          </p:nvSpPr>
          <p:spPr>
            <a:xfrm rot="10800000">
              <a:off x="5988350" y="181114"/>
              <a:ext cx="4897401" cy="2041744"/>
            </a:xfrm>
            <a:prstGeom prst="homePlate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2" name="Oval 61">
              <a:extLst>
                <a:ext uri="{FF2B5EF4-FFF2-40B4-BE49-F238E27FC236}">
                  <a16:creationId xmlns:a16="http://schemas.microsoft.com/office/drawing/2014/main" id="{8E581E70-B30E-4CEA-0545-395A39E01604}"/>
                </a:ext>
              </a:extLst>
            </p:cNvPr>
            <p:cNvSpPr/>
            <p:nvPr/>
          </p:nvSpPr>
          <p:spPr>
            <a:xfrm>
              <a:off x="5347999" y="826190"/>
              <a:ext cx="1333918" cy="731861"/>
            </a:xfrm>
            <a:prstGeom prst="ellipse">
              <a:avLst/>
            </a:prstGeom>
            <a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dk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63" name="TextBox 62">
              <a:extLst>
                <a:ext uri="{FF2B5EF4-FFF2-40B4-BE49-F238E27FC236}">
                  <a16:creationId xmlns:a16="http://schemas.microsoft.com/office/drawing/2014/main" id="{FBF54011-A58F-5D39-17A1-46219651CB44}"/>
                </a:ext>
              </a:extLst>
            </p:cNvPr>
            <p:cNvSpPr txBox="1"/>
            <p:nvPr/>
          </p:nvSpPr>
          <p:spPr>
            <a:xfrm>
              <a:off x="7464006" y="340581"/>
              <a:ext cx="3421747" cy="9076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lvl="0"/>
              <a:r>
                <a:rPr lang="en-SG" u="sng" dirty="0"/>
                <a:t>Goal / Target 2</a:t>
              </a:r>
              <a:endParaRPr lang="en-US" u="sng" dirty="0"/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SG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Date/Duration</a:t>
              </a:r>
              <a:endPara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  <a:p>
              <a:pPr marL="285750" lvl="0" indent="-285750">
                <a:buFont typeface="Arial" panose="020B0604020202020204" pitchFamily="34" charset="0"/>
                <a:buChar char="•"/>
              </a:pPr>
              <a:r>
                <a:rPr lang="en-SG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Steps taken</a:t>
              </a:r>
            </a:p>
            <a:p>
              <a:pPr marL="171450" lvl="0" indent="-171450">
                <a:buFontTx/>
                <a:buChar char="-"/>
              </a:pPr>
              <a:r>
                <a:rPr lang="en-SG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Step 1</a:t>
              </a:r>
            </a:p>
            <a:p>
              <a:pPr marL="171450" lvl="0" indent="-171450">
                <a:buFontTx/>
                <a:buChar char="-"/>
              </a:pPr>
              <a:r>
                <a:rPr lang="en-SG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Step 2 </a:t>
              </a:r>
              <a:endParaRPr lang="en-US" sz="1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64" name="Group 63">
            <a:extLst>
              <a:ext uri="{FF2B5EF4-FFF2-40B4-BE49-F238E27FC236}">
                <a16:creationId xmlns:a16="http://schemas.microsoft.com/office/drawing/2014/main" id="{C2A5221E-5FD9-4E33-AC5F-B8C47A7343E1}"/>
              </a:ext>
            </a:extLst>
          </p:cNvPr>
          <p:cNvGrpSpPr/>
          <p:nvPr/>
        </p:nvGrpSpPr>
        <p:grpSpPr>
          <a:xfrm>
            <a:off x="6256112" y="4929798"/>
            <a:ext cx="5779479" cy="1429228"/>
            <a:chOff x="4992389" y="5374518"/>
            <a:chExt cx="6894810" cy="1429228"/>
          </a:xfrm>
        </p:grpSpPr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67779461-F170-3D90-D5D1-038FB7A139A1}"/>
                </a:ext>
              </a:extLst>
            </p:cNvPr>
            <p:cNvGrpSpPr/>
            <p:nvPr/>
          </p:nvGrpSpPr>
          <p:grpSpPr>
            <a:xfrm>
              <a:off x="5841999" y="5374518"/>
              <a:ext cx="6045200" cy="1386543"/>
              <a:chOff x="5882640" y="439201"/>
              <a:chExt cx="6045200" cy="1386543"/>
            </a:xfrm>
          </p:grpSpPr>
          <p:sp>
            <p:nvSpPr>
              <p:cNvPr id="67" name="Arrow: Pentagon 66">
                <a:extLst>
                  <a:ext uri="{FF2B5EF4-FFF2-40B4-BE49-F238E27FC236}">
                    <a16:creationId xmlns:a16="http://schemas.microsoft.com/office/drawing/2014/main" id="{CF11264D-C626-98CA-DF4E-8DA6EF38F168}"/>
                  </a:ext>
                </a:extLst>
              </p:cNvPr>
              <p:cNvSpPr/>
              <p:nvPr/>
            </p:nvSpPr>
            <p:spPr>
              <a:xfrm rot="10800000">
                <a:off x="5882640" y="458020"/>
                <a:ext cx="6045200" cy="1367724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8" name="TextBox 67">
                <a:extLst>
                  <a:ext uri="{FF2B5EF4-FFF2-40B4-BE49-F238E27FC236}">
                    <a16:creationId xmlns:a16="http://schemas.microsoft.com/office/drawing/2014/main" id="{220A2E39-C9FA-FE08-8202-CDA7CE7AB197}"/>
                  </a:ext>
                </a:extLst>
              </p:cNvPr>
              <p:cNvSpPr txBox="1"/>
              <p:nvPr/>
            </p:nvSpPr>
            <p:spPr>
              <a:xfrm>
                <a:off x="6573294" y="439201"/>
                <a:ext cx="5354546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SG" u="sng" dirty="0"/>
                  <a:t>Milestone 2</a:t>
                </a:r>
                <a:endParaRPr lang="en-US" u="sng" dirty="0"/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SG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Date/Duration</a:t>
                </a:r>
                <a:endParaRPr lang="en-US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SG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Steps taken to achieve milestone </a:t>
                </a: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endParaRPr lang="en-US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66" name="Oval 65" descr="Trophy with solid fill">
              <a:extLst>
                <a:ext uri="{FF2B5EF4-FFF2-40B4-BE49-F238E27FC236}">
                  <a16:creationId xmlns:a16="http://schemas.microsoft.com/office/drawing/2014/main" id="{9817DF2D-AE86-A2C2-30DA-B690D1D918EA}"/>
                </a:ext>
              </a:extLst>
            </p:cNvPr>
            <p:cNvSpPr/>
            <p:nvPr/>
          </p:nvSpPr>
          <p:spPr>
            <a:xfrm>
              <a:off x="4992389" y="5469828"/>
              <a:ext cx="1333918" cy="1333918"/>
            </a:xfrm>
            <a:prstGeom prst="ellipse">
              <a:avLst/>
            </a:prstGeom>
            <a:blipFill>
              <a:blip r:embed="rId2"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rcRect/>
              <a:stretch>
                <a:fillRect/>
              </a:stretch>
            </a:blipFill>
            <a:ln>
              <a:noFill/>
            </a:ln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dk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CB5759C-C31F-E59F-4BFC-925999E5021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77387380"/>
              </p:ext>
            </p:extLst>
          </p:nvPr>
        </p:nvGraphicFramePr>
        <p:xfrm>
          <a:off x="245992" y="-11450"/>
          <a:ext cx="5687420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7420">
                  <a:extLst>
                    <a:ext uri="{9D8B030D-6E8A-4147-A177-3AD203B41FA5}">
                      <a16:colId xmlns:a16="http://schemas.microsoft.com/office/drawing/2014/main" val="12351832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dirty="0">
                          <a:ln w="9525">
                            <a:noFill/>
                            <a:prstDash val="solid"/>
                          </a:ln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My 5-Year Career Roadmap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474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sz="1600" b="1" u="sng" dirty="0">
                          <a:solidFill>
                            <a:schemeClr val="tx1"/>
                          </a:solidFill>
                        </a:rPr>
                        <a:t>Career Goal(s)</a:t>
                      </a:r>
                    </a:p>
                    <a:p>
                      <a:r>
                        <a:rPr lang="en-US" sz="1400" b="0" kern="1200" dirty="0">
                          <a:solidFill>
                            <a:schemeClr val="tx1"/>
                          </a:solidFill>
                        </a:rPr>
                        <a:t>[Provide a short write up to elaborate on your career goal(s)].</a:t>
                      </a:r>
                      <a:endParaRPr lang="en-SG" sz="1400" b="0" u="sng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579148"/>
                  </a:ext>
                </a:extLst>
              </a:tr>
            </a:tbl>
          </a:graphicData>
        </a:graphic>
      </p:graphicFrame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5D2DCED7-03CE-25AC-3EF1-DF3E5D6A3FA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38786515"/>
              </p:ext>
            </p:extLst>
          </p:nvPr>
        </p:nvGraphicFramePr>
        <p:xfrm>
          <a:off x="6348170" y="-11450"/>
          <a:ext cx="5687421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87421">
                  <a:extLst>
                    <a:ext uri="{9D8B030D-6E8A-4147-A177-3AD203B41FA5}">
                      <a16:colId xmlns:a16="http://schemas.microsoft.com/office/drawing/2014/main" val="123518328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400" b="1" u="none" dirty="0">
                          <a:ln w="9525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Year 1 </a:t>
                      </a:r>
                      <a:r>
                        <a:rPr lang="en-US" sz="1800" b="1" dirty="0">
                          <a:ln w="9525">
                            <a:noFill/>
                            <a:prstDash val="solid"/>
                          </a:ln>
                          <a:solidFill>
                            <a:schemeClr val="bg1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(Current Year X of Study at NTU)</a:t>
                      </a:r>
                      <a:endParaRPr lang="en-US" sz="1800" b="1" dirty="0">
                        <a:ln w="9525">
                          <a:noFill/>
                          <a:prstDash val="solid"/>
                        </a:ln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24745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SG" sz="1600" b="1" u="sng" dirty="0">
                          <a:solidFill>
                            <a:schemeClr val="tx1"/>
                          </a:solidFill>
                        </a:rPr>
                        <a:t>Objective for the year</a:t>
                      </a:r>
                    </a:p>
                    <a:p>
                      <a:r>
                        <a:rPr lang="en-US" sz="1400" b="0" kern="1200" dirty="0">
                          <a:solidFill>
                            <a:schemeClr val="tx1"/>
                          </a:solidFill>
                        </a:rPr>
                        <a:t>[Provide a short write up to elaborate on the objective for the year]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2579148"/>
                  </a:ext>
                </a:extLst>
              </a:tr>
            </a:tbl>
          </a:graphicData>
        </a:graphic>
      </p:graphicFrame>
      <p:grpSp>
        <p:nvGrpSpPr>
          <p:cNvPr id="6" name="Group 5">
            <a:extLst>
              <a:ext uri="{FF2B5EF4-FFF2-40B4-BE49-F238E27FC236}">
                <a16:creationId xmlns:a16="http://schemas.microsoft.com/office/drawing/2014/main" id="{7ABD7291-F280-9965-E746-846167E942C4}"/>
              </a:ext>
            </a:extLst>
          </p:cNvPr>
          <p:cNvGrpSpPr/>
          <p:nvPr/>
        </p:nvGrpSpPr>
        <p:grpSpPr>
          <a:xfrm>
            <a:off x="207567" y="1609320"/>
            <a:ext cx="3690235" cy="2492373"/>
            <a:chOff x="207567" y="1609320"/>
            <a:chExt cx="3690235" cy="249237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56197EE-0103-A490-DE81-8D3103E747E0}"/>
                </a:ext>
              </a:extLst>
            </p:cNvPr>
            <p:cNvGrpSpPr/>
            <p:nvPr/>
          </p:nvGrpSpPr>
          <p:grpSpPr>
            <a:xfrm>
              <a:off x="634282" y="1609320"/>
              <a:ext cx="3263520" cy="2492373"/>
              <a:chOff x="5988350" y="181114"/>
              <a:chExt cx="4897403" cy="2041744"/>
            </a:xfrm>
          </p:grpSpPr>
          <p:sp>
            <p:nvSpPr>
              <p:cNvPr id="2" name="Arrow: Pentagon 1">
                <a:extLst>
                  <a:ext uri="{FF2B5EF4-FFF2-40B4-BE49-F238E27FC236}">
                    <a16:creationId xmlns:a16="http://schemas.microsoft.com/office/drawing/2014/main" id="{C1A0E71F-54E1-8F35-8948-167C34C20B21}"/>
                  </a:ext>
                </a:extLst>
              </p:cNvPr>
              <p:cNvSpPr/>
              <p:nvPr/>
            </p:nvSpPr>
            <p:spPr>
              <a:xfrm rot="10800000">
                <a:off x="5988350" y="181114"/>
                <a:ext cx="4897401" cy="2041744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D60FBBE-AA50-071C-ED0B-7678E14865A2}"/>
                  </a:ext>
                </a:extLst>
              </p:cNvPr>
              <p:cNvSpPr txBox="1"/>
              <p:nvPr/>
            </p:nvSpPr>
            <p:spPr>
              <a:xfrm>
                <a:off x="7464007" y="340581"/>
                <a:ext cx="3421746" cy="10589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SG" u="sng" dirty="0"/>
                  <a:t>Goal / Target 1</a:t>
                </a:r>
                <a:endParaRPr lang="en-US" u="sng" dirty="0"/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SG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Date/Duration</a:t>
                </a:r>
                <a:endParaRPr lang="en-US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SG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Steps taken</a:t>
                </a:r>
              </a:p>
              <a:p>
                <a:pPr marL="171450" lvl="0" indent="-171450">
                  <a:buFontTx/>
                  <a:buChar char="-"/>
                </a:pPr>
                <a:r>
                  <a:rPr lang="en-SG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Step 1</a:t>
                </a:r>
              </a:p>
              <a:p>
                <a:pPr marL="171450" lvl="0" indent="-171450">
                  <a:buFontTx/>
                  <a:buChar char="-"/>
                </a:pPr>
                <a:r>
                  <a:rPr lang="en-SG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Step 2 </a:t>
                </a:r>
                <a:endParaRPr lang="en-US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lvl="0"/>
                <a:r>
                  <a:rPr lang="en-SG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</a:t>
                </a:r>
                <a:endParaRPr lang="en-US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D46877CE-5139-ED01-6583-87804119E966}"/>
                </a:ext>
              </a:extLst>
            </p:cNvPr>
            <p:cNvSpPr/>
            <p:nvPr/>
          </p:nvSpPr>
          <p:spPr>
            <a:xfrm>
              <a:off x="207567" y="2385500"/>
              <a:ext cx="888893" cy="893388"/>
            </a:xfrm>
            <a:prstGeom prst="ellipse">
              <a:avLst/>
            </a:prstGeom>
            <a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dk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377CA214-655E-9C8E-76E6-B1C5094951E3}"/>
              </a:ext>
            </a:extLst>
          </p:cNvPr>
          <p:cNvGrpSpPr/>
          <p:nvPr/>
        </p:nvGrpSpPr>
        <p:grpSpPr>
          <a:xfrm>
            <a:off x="8069498" y="1560787"/>
            <a:ext cx="3687649" cy="2492373"/>
            <a:chOff x="7957738" y="1609321"/>
            <a:chExt cx="3687649" cy="2492373"/>
          </a:xfrm>
        </p:grpSpPr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76F520E0-6288-AEFD-1AAC-88C73C2CA2A3}"/>
                </a:ext>
              </a:extLst>
            </p:cNvPr>
            <p:cNvGrpSpPr/>
            <p:nvPr/>
          </p:nvGrpSpPr>
          <p:grpSpPr>
            <a:xfrm>
              <a:off x="8381866" y="1609321"/>
              <a:ext cx="3263521" cy="2492373"/>
              <a:chOff x="5988349" y="181114"/>
              <a:chExt cx="4897404" cy="2041744"/>
            </a:xfrm>
          </p:grpSpPr>
          <p:sp>
            <p:nvSpPr>
              <p:cNvPr id="57" name="Arrow: Pentagon 56">
                <a:extLst>
                  <a:ext uri="{FF2B5EF4-FFF2-40B4-BE49-F238E27FC236}">
                    <a16:creationId xmlns:a16="http://schemas.microsoft.com/office/drawing/2014/main" id="{8B99F564-D48B-8D69-7E77-AA7C39A36C57}"/>
                  </a:ext>
                </a:extLst>
              </p:cNvPr>
              <p:cNvSpPr/>
              <p:nvPr/>
            </p:nvSpPr>
            <p:spPr>
              <a:xfrm rot="10800000">
                <a:off x="5988349" y="181114"/>
                <a:ext cx="4897401" cy="2041744"/>
              </a:xfrm>
              <a:prstGeom prst="homePlate">
                <a:avLst/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C4D08CCC-6D9E-1F27-54B3-1C15FF65C5EA}"/>
                  </a:ext>
                </a:extLst>
              </p:cNvPr>
              <p:cNvSpPr txBox="1"/>
              <p:nvPr/>
            </p:nvSpPr>
            <p:spPr>
              <a:xfrm>
                <a:off x="7464006" y="340581"/>
                <a:ext cx="3421747" cy="907667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/>
                <a:r>
                  <a:rPr lang="en-SG" u="sng" dirty="0"/>
                  <a:t>Goal / Target 3</a:t>
                </a:r>
                <a:endParaRPr lang="en-US" u="sng" dirty="0"/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SG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Date/Duration</a:t>
                </a:r>
                <a:endParaRPr lang="en-US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  <a:p>
                <a:pPr marL="285750" lvl="0" indent="-285750">
                  <a:buFont typeface="Arial" panose="020B0604020202020204" pitchFamily="34" charset="0"/>
                  <a:buChar char="•"/>
                </a:pPr>
                <a:r>
                  <a:rPr lang="en-SG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Steps taken</a:t>
                </a:r>
              </a:p>
              <a:p>
                <a:pPr marL="171450" lvl="0" indent="-171450">
                  <a:buFontTx/>
                  <a:buChar char="-"/>
                </a:pPr>
                <a:r>
                  <a:rPr lang="en-SG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Step 1</a:t>
                </a:r>
              </a:p>
              <a:p>
                <a:pPr marL="171450" lvl="0" indent="-171450">
                  <a:buFontTx/>
                  <a:buChar char="-"/>
                </a:pPr>
                <a:r>
                  <a:rPr lang="en-SG" sz="1200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Step 2 </a:t>
                </a:r>
                <a:endParaRPr lang="en-US" sz="12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endParaRPr>
              </a:p>
            </p:txBody>
          </p:sp>
        </p:grp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B619662F-EE44-37C8-CAD0-D43D8FF8B887}"/>
                </a:ext>
              </a:extLst>
            </p:cNvPr>
            <p:cNvSpPr/>
            <p:nvPr/>
          </p:nvSpPr>
          <p:spPr>
            <a:xfrm>
              <a:off x="7957738" y="2385500"/>
              <a:ext cx="888893" cy="893388"/>
            </a:xfrm>
            <a:prstGeom prst="ellipse">
              <a:avLst/>
            </a:prstGeom>
            <a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rcRect/>
              <a:stretch>
                <a:fillRect/>
              </a:stretch>
            </a:blipFill>
          </p:spPr>
          <p:style>
            <a:lnRef idx="2">
              <a:schemeClr val="dk2">
                <a:shade val="80000"/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dk2"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334353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: Diagonal Corners Snipped 8">
            <a:extLst>
              <a:ext uri="{FF2B5EF4-FFF2-40B4-BE49-F238E27FC236}">
                <a16:creationId xmlns:a16="http://schemas.microsoft.com/office/drawing/2014/main" id="{ADCF6607-1AEF-D3AE-58AD-93A05EA815B6}"/>
              </a:ext>
            </a:extLst>
          </p:cNvPr>
          <p:cNvSpPr/>
          <p:nvPr/>
        </p:nvSpPr>
        <p:spPr>
          <a:xfrm>
            <a:off x="-50232" y="3598229"/>
            <a:ext cx="4070645" cy="702755"/>
          </a:xfrm>
          <a:prstGeom prst="round2DiagRect">
            <a:avLst/>
          </a:prstGeom>
          <a:noFill/>
          <a:ln>
            <a:noFill/>
          </a:ln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SG" sz="2000" b="1" u="sng" dirty="0">
              <a:solidFill>
                <a:schemeClr val="tx1"/>
              </a:solidFill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5CB16C5-7763-13D6-EDAA-BA8F1F0A941E}"/>
              </a:ext>
            </a:extLst>
          </p:cNvPr>
          <p:cNvGrpSpPr/>
          <p:nvPr/>
        </p:nvGrpSpPr>
        <p:grpSpPr>
          <a:xfrm>
            <a:off x="22651" y="-714096"/>
            <a:ext cx="11849099" cy="7316007"/>
            <a:chOff x="-1145961" y="-671247"/>
            <a:chExt cx="13051969" cy="7316007"/>
          </a:xfrm>
        </p:grpSpPr>
        <p:sp>
          <p:nvSpPr>
            <p:cNvPr id="18" name="Arc 17">
              <a:extLst>
                <a:ext uri="{FF2B5EF4-FFF2-40B4-BE49-F238E27FC236}">
                  <a16:creationId xmlns:a16="http://schemas.microsoft.com/office/drawing/2014/main" id="{834FA06C-6679-58D5-9C4B-5A6972C80A10}"/>
                </a:ext>
              </a:extLst>
            </p:cNvPr>
            <p:cNvSpPr/>
            <p:nvPr/>
          </p:nvSpPr>
          <p:spPr>
            <a:xfrm rot="2566326">
              <a:off x="-1145961" y="-671247"/>
              <a:ext cx="7582051" cy="7294880"/>
            </a:xfrm>
            <a:prstGeom prst="arc">
              <a:avLst>
                <a:gd name="adj1" fmla="val 15890480"/>
                <a:gd name="adj2" fmla="val 3331749"/>
              </a:avLst>
            </a:prstGeom>
            <a:ln w="28575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" name="Group 3">
              <a:extLst>
                <a:ext uri="{FF2B5EF4-FFF2-40B4-BE49-F238E27FC236}">
                  <a16:creationId xmlns:a16="http://schemas.microsoft.com/office/drawing/2014/main" id="{82875CE0-2FB1-2C3A-AA9E-1368E9143CB4}"/>
                </a:ext>
              </a:extLst>
            </p:cNvPr>
            <p:cNvGrpSpPr/>
            <p:nvPr/>
          </p:nvGrpSpPr>
          <p:grpSpPr>
            <a:xfrm>
              <a:off x="5092476" y="206231"/>
              <a:ext cx="6602411" cy="1384994"/>
              <a:chOff x="3289349" y="900856"/>
              <a:chExt cx="7599933" cy="1292928"/>
            </a:xfrm>
          </p:grpSpPr>
          <p:sp>
            <p:nvSpPr>
              <p:cNvPr id="10" name="Oval 9">
                <a:extLst>
                  <a:ext uri="{FF2B5EF4-FFF2-40B4-BE49-F238E27FC236}">
                    <a16:creationId xmlns:a16="http://schemas.microsoft.com/office/drawing/2014/main" id="{179DC4EA-CE3A-0235-A8D2-2CECA3FCA2A6}"/>
                  </a:ext>
                </a:extLst>
              </p:cNvPr>
              <p:cNvSpPr/>
              <p:nvPr/>
            </p:nvSpPr>
            <p:spPr>
              <a:xfrm>
                <a:off x="3289349" y="907399"/>
                <a:ext cx="1850691" cy="964847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anchor="ctr"/>
              <a:lstStyle/>
              <a:p>
                <a:pPr algn="ctr"/>
                <a:r>
                  <a:rPr lang="en-SG" sz="1400" b="1" dirty="0">
                    <a:solidFill>
                      <a:schemeClr val="tx1"/>
                    </a:solidFill>
                  </a:rPr>
                  <a:t>Date</a:t>
                </a:r>
              </a:p>
              <a:p>
                <a:pPr algn="ctr"/>
                <a:r>
                  <a:rPr lang="en-SG" sz="1400" b="1" dirty="0">
                    <a:solidFill>
                      <a:schemeClr val="tx1"/>
                    </a:solidFill>
                  </a:rPr>
                  <a:t>(Duration)</a:t>
                </a:r>
                <a:endParaRPr lang="en-US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319107F5-E8E8-8F13-BA7D-00BF2C474B12}"/>
                  </a:ext>
                </a:extLst>
              </p:cNvPr>
              <p:cNvSpPr txBox="1"/>
              <p:nvPr/>
            </p:nvSpPr>
            <p:spPr>
              <a:xfrm>
                <a:off x="5443314" y="900856"/>
                <a:ext cx="5445968" cy="1292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SG" sz="1200" dirty="0"/>
                  <a:t>Goal/Target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SG" sz="1200" dirty="0"/>
                  <a:t>Steps taken to achieve goal/target:-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SG" sz="1200" dirty="0"/>
                  <a:t>XXX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SG" sz="1200" dirty="0"/>
                  <a:t>XXX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SG" sz="1200" dirty="0"/>
                  <a:t>XXX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endParaRPr lang="en-SG" sz="1200" dirty="0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endParaRPr lang="en-SG" sz="1200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CA4FC8C-FAE4-3788-00FE-7A3A782879F9}"/>
                </a:ext>
              </a:extLst>
            </p:cNvPr>
            <p:cNvGrpSpPr/>
            <p:nvPr/>
          </p:nvGrpSpPr>
          <p:grpSpPr>
            <a:xfrm>
              <a:off x="5571003" y="1907968"/>
              <a:ext cx="6335005" cy="1384994"/>
              <a:chOff x="3571708" y="2399905"/>
              <a:chExt cx="7292125" cy="1292928"/>
            </a:xfrm>
          </p:grpSpPr>
          <p:sp>
            <p:nvSpPr>
              <p:cNvPr id="12" name="Oval 11">
                <a:extLst>
                  <a:ext uri="{FF2B5EF4-FFF2-40B4-BE49-F238E27FC236}">
                    <a16:creationId xmlns:a16="http://schemas.microsoft.com/office/drawing/2014/main" id="{C84A0C13-3CA1-B888-F098-5F89BC45827E}"/>
                  </a:ext>
                </a:extLst>
              </p:cNvPr>
              <p:cNvSpPr/>
              <p:nvPr/>
            </p:nvSpPr>
            <p:spPr>
              <a:xfrm>
                <a:off x="3571708" y="2399905"/>
                <a:ext cx="1850690" cy="964847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anchor="ctr"/>
              <a:lstStyle/>
              <a:p>
                <a:pPr algn="ctr"/>
                <a:r>
                  <a:rPr lang="en-SG" sz="1400" b="1" dirty="0">
                    <a:solidFill>
                      <a:schemeClr val="tx1"/>
                    </a:solidFill>
                  </a:rPr>
                  <a:t>Date</a:t>
                </a:r>
              </a:p>
              <a:p>
                <a:pPr algn="ctr"/>
                <a:r>
                  <a:rPr lang="en-SG" sz="1400" b="1" dirty="0">
                    <a:solidFill>
                      <a:schemeClr val="tx1"/>
                    </a:solidFill>
                  </a:rPr>
                  <a:t>(Duration)</a:t>
                </a:r>
                <a:endParaRPr lang="en-US" sz="1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7DF5CFF-CBEA-6CE1-C8E7-61AD18DECE96}"/>
                  </a:ext>
                </a:extLst>
              </p:cNvPr>
              <p:cNvSpPr txBox="1"/>
              <p:nvPr/>
            </p:nvSpPr>
            <p:spPr>
              <a:xfrm>
                <a:off x="5417864" y="2399905"/>
                <a:ext cx="5445969" cy="129292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SG" sz="1200" dirty="0"/>
                  <a:t>Milestone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SG" sz="1200" dirty="0"/>
                  <a:t>Steps taken to achieve milestone:-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SG" sz="1200" dirty="0"/>
                  <a:t>XXX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SG" sz="1200" dirty="0"/>
                  <a:t>XXX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SG" sz="1200" dirty="0"/>
                  <a:t>XXX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endParaRPr lang="en-SG" sz="1200" dirty="0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endParaRPr lang="en-SG" sz="1200" dirty="0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FF4E7C7-3261-2845-6D46-713C4B1D6055}"/>
                </a:ext>
              </a:extLst>
            </p:cNvPr>
            <p:cNvGrpSpPr/>
            <p:nvPr/>
          </p:nvGrpSpPr>
          <p:grpSpPr>
            <a:xfrm>
              <a:off x="5548746" y="3679706"/>
              <a:ext cx="6357261" cy="1413228"/>
              <a:chOff x="3995105" y="3769823"/>
              <a:chExt cx="7317743" cy="1319285"/>
            </a:xfrm>
          </p:grpSpPr>
          <p:sp>
            <p:nvSpPr>
              <p:cNvPr id="14" name="Oval 13">
                <a:extLst>
                  <a:ext uri="{FF2B5EF4-FFF2-40B4-BE49-F238E27FC236}">
                    <a16:creationId xmlns:a16="http://schemas.microsoft.com/office/drawing/2014/main" id="{38DFAF0E-7D3D-CE5F-B692-32930221ED8C}"/>
                  </a:ext>
                </a:extLst>
              </p:cNvPr>
              <p:cNvSpPr/>
              <p:nvPr/>
            </p:nvSpPr>
            <p:spPr>
              <a:xfrm>
                <a:off x="3995105" y="3769823"/>
                <a:ext cx="1850690" cy="964848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anchor="ctr"/>
              <a:lstStyle/>
              <a:p>
                <a:pPr algn="ctr"/>
                <a:r>
                  <a:rPr lang="en-SG" sz="1400" b="1" dirty="0">
                    <a:solidFill>
                      <a:schemeClr val="tx1"/>
                    </a:solidFill>
                  </a:rPr>
                  <a:t>Date</a:t>
                </a:r>
              </a:p>
              <a:p>
                <a:pPr algn="ctr"/>
                <a:r>
                  <a:rPr lang="en-SG" sz="1400" b="1" dirty="0">
                    <a:solidFill>
                      <a:schemeClr val="tx1"/>
                    </a:solidFill>
                  </a:rPr>
                  <a:t>(Duration)</a:t>
                </a:r>
                <a:endParaRPr lang="en-US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97610B2D-EC01-713C-32F0-D161B1C0E54B}"/>
                  </a:ext>
                </a:extLst>
              </p:cNvPr>
              <p:cNvSpPr txBox="1"/>
              <p:nvPr/>
            </p:nvSpPr>
            <p:spPr>
              <a:xfrm>
                <a:off x="5866882" y="3796179"/>
                <a:ext cx="5445966" cy="129292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SG" sz="1200" dirty="0"/>
                  <a:t>Goal/Target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SG" sz="1200" dirty="0"/>
                  <a:t>Steps taken to achieve goal/target:-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SG" sz="1200" dirty="0"/>
                  <a:t>XXX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SG" sz="1200" dirty="0"/>
                  <a:t>XXX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SG" sz="1200" dirty="0"/>
                  <a:t>XXX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endParaRPr lang="en-SG" sz="1200" dirty="0"/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endParaRPr lang="en-SG" sz="1200" dirty="0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C799260E-AFB1-7C67-7B34-88B11935C12F}"/>
                </a:ext>
              </a:extLst>
            </p:cNvPr>
            <p:cNvGrpSpPr/>
            <p:nvPr/>
          </p:nvGrpSpPr>
          <p:grpSpPr>
            <a:xfrm>
              <a:off x="4226861" y="5406358"/>
              <a:ext cx="6372000" cy="1238402"/>
              <a:chOff x="4675615" y="5205353"/>
              <a:chExt cx="7334709" cy="1156080"/>
            </a:xfrm>
          </p:grpSpPr>
          <p:sp>
            <p:nvSpPr>
              <p:cNvPr id="16" name="Oval 15">
                <a:extLst>
                  <a:ext uri="{FF2B5EF4-FFF2-40B4-BE49-F238E27FC236}">
                    <a16:creationId xmlns:a16="http://schemas.microsoft.com/office/drawing/2014/main" id="{E329134A-EEB0-EFD2-7256-B46858D92FC7}"/>
                  </a:ext>
                </a:extLst>
              </p:cNvPr>
              <p:cNvSpPr/>
              <p:nvPr/>
            </p:nvSpPr>
            <p:spPr>
              <a:xfrm>
                <a:off x="4675615" y="5205353"/>
                <a:ext cx="1850693" cy="964847"/>
              </a:xfrm>
              <a:prstGeom prst="ellipse">
                <a:avLst/>
              </a:prstGeom>
              <a:solidFill>
                <a:srgbClr val="FFC000"/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tint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>
                  <a:hueOff val="0"/>
                  <a:satOff val="0"/>
                  <a:lumOff val="0"/>
                  <a:alphaOff val="0"/>
                </a:schemeClr>
              </a:fontRef>
            </p:style>
            <p:txBody>
              <a:bodyPr anchor="ctr"/>
              <a:lstStyle/>
              <a:p>
                <a:pPr algn="ctr"/>
                <a:r>
                  <a:rPr lang="en-SG" sz="1400" b="1" dirty="0">
                    <a:solidFill>
                      <a:schemeClr val="tx1"/>
                    </a:solidFill>
                  </a:rPr>
                  <a:t>Date</a:t>
                </a:r>
              </a:p>
              <a:p>
                <a:pPr algn="ctr"/>
                <a:r>
                  <a:rPr lang="en-SG" sz="1400" b="1" dirty="0">
                    <a:solidFill>
                      <a:schemeClr val="tx1"/>
                    </a:solidFill>
                  </a:rPr>
                  <a:t>(Duration)</a:t>
                </a:r>
                <a:endParaRPr lang="en-US" sz="14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18099BC6-9BDC-5602-4C18-A5F9BB9E136E}"/>
                  </a:ext>
                </a:extLst>
              </p:cNvPr>
              <p:cNvSpPr txBox="1"/>
              <p:nvPr/>
            </p:nvSpPr>
            <p:spPr>
              <a:xfrm>
                <a:off x="6539757" y="5240895"/>
                <a:ext cx="5470567" cy="1120538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/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SG" sz="1200" dirty="0"/>
                  <a:t>Milestone</a:t>
                </a:r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n-SG" sz="1200" dirty="0"/>
                  <a:t>Steps taken to achieve milestone :-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SG" sz="1200" dirty="0"/>
                  <a:t>XXX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SG" sz="1200" dirty="0"/>
                  <a:t>XXX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r>
                  <a:rPr lang="en-SG" sz="1200" dirty="0"/>
                  <a:t>XXX</a:t>
                </a:r>
              </a:p>
              <a:p>
                <a:pPr marL="514350" indent="-514350">
                  <a:buFont typeface="Arial" panose="020B0604020202020204" pitchFamily="34" charset="0"/>
                  <a:buAutoNum type="arabicParenR"/>
                </a:pPr>
                <a:endParaRPr lang="en-SG" sz="1200" dirty="0"/>
              </a:p>
            </p:txBody>
          </p:sp>
        </p:grpSp>
      </p:grpSp>
      <p:sp>
        <p:nvSpPr>
          <p:cNvPr id="23" name="Rectangle 22">
            <a:extLst>
              <a:ext uri="{FF2B5EF4-FFF2-40B4-BE49-F238E27FC236}">
                <a16:creationId xmlns:a16="http://schemas.microsoft.com/office/drawing/2014/main" id="{A0B03D86-2426-D1EF-1C54-3F87373888D8}"/>
              </a:ext>
            </a:extLst>
          </p:cNvPr>
          <p:cNvSpPr/>
          <p:nvPr/>
        </p:nvSpPr>
        <p:spPr>
          <a:xfrm>
            <a:off x="320250" y="1777536"/>
            <a:ext cx="5160058" cy="1384994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endParaRPr lang="en-SG" sz="2000" b="1" u="sng" dirty="0">
              <a:solidFill>
                <a:schemeClr val="tx1"/>
              </a:solidFill>
            </a:endParaRPr>
          </a:p>
          <a:p>
            <a:pPr algn="ctr"/>
            <a:r>
              <a:rPr lang="en-SG" sz="2000" b="1" u="sng" dirty="0">
                <a:solidFill>
                  <a:schemeClr val="tx1"/>
                </a:solidFill>
              </a:rPr>
              <a:t>Career Goal(s)</a:t>
            </a:r>
          </a:p>
          <a:p>
            <a:pPr algn="just"/>
            <a:r>
              <a:rPr lang="en-US" sz="1600" b="0" kern="1200" dirty="0">
                <a:solidFill>
                  <a:schemeClr val="tx1"/>
                </a:solidFill>
              </a:rPr>
              <a:t>[Provide a short write up to elaborate on your career goal(s)]. </a:t>
            </a:r>
            <a:endParaRPr lang="en-SG" sz="1600" b="0" u="sng" dirty="0">
              <a:solidFill>
                <a:schemeClr val="tx1"/>
              </a:solidFill>
            </a:endParaRPr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3B406E4-4375-D97E-1518-1311FC0ACDDD}"/>
              </a:ext>
            </a:extLst>
          </p:cNvPr>
          <p:cNvSpPr/>
          <p:nvPr/>
        </p:nvSpPr>
        <p:spPr>
          <a:xfrm>
            <a:off x="141569" y="4733820"/>
            <a:ext cx="4548393" cy="2124180"/>
          </a:xfrm>
          <a:prstGeom prst="ellipse">
            <a:avLst/>
          </a:prstGeom>
          <a:solidFill>
            <a:srgbClr val="FFC000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en-SG" sz="1600" b="1" dirty="0">
                <a:solidFill>
                  <a:schemeClr val="tx1"/>
                </a:solidFill>
              </a:rPr>
              <a:t>Year 1 </a:t>
            </a:r>
          </a:p>
          <a:p>
            <a:pPr algn="ctr"/>
            <a:r>
              <a:rPr lang="en-SG" sz="1600" b="1" dirty="0">
                <a:solidFill>
                  <a:schemeClr val="tx1"/>
                </a:solidFill>
              </a:rPr>
              <a:t>(Current Year X of Study at NTU)</a:t>
            </a:r>
          </a:p>
          <a:p>
            <a:pPr algn="ctr"/>
            <a:endParaRPr lang="en-SG" sz="1600" b="1" dirty="0">
              <a:solidFill>
                <a:schemeClr val="tx1"/>
              </a:solidFill>
            </a:endParaRPr>
          </a:p>
          <a:p>
            <a:pPr marL="0" lvl="0" indent="0" algn="ctr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SG" sz="1600" b="1" u="sng" kern="1200" dirty="0">
                <a:solidFill>
                  <a:schemeClr val="tx1"/>
                </a:solidFill>
              </a:rPr>
              <a:t>Goal / Target for the year </a:t>
            </a:r>
          </a:p>
          <a:p>
            <a:pPr marL="0" lvl="0" indent="0" algn="l" defTabSz="11557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400" kern="1200" dirty="0">
                <a:solidFill>
                  <a:schemeClr val="tx1"/>
                </a:solidFill>
              </a:rPr>
              <a:t>(Provide a short write up to elaborate on the objective for the year).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C54CCBD-A5F8-7874-6EF5-A478BB85EDF1}"/>
              </a:ext>
            </a:extLst>
          </p:cNvPr>
          <p:cNvSpPr txBox="1"/>
          <p:nvPr/>
        </p:nvSpPr>
        <p:spPr>
          <a:xfrm>
            <a:off x="97445" y="1316543"/>
            <a:ext cx="612321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ln w="9525">
                  <a:noFill/>
                  <a:prstDash val="solid"/>
                </a:ln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My 5-Year Career Roadmap</a:t>
            </a:r>
          </a:p>
        </p:txBody>
      </p:sp>
    </p:spTree>
    <p:extLst>
      <p:ext uri="{BB962C8B-B14F-4D97-AF65-F5344CB8AC3E}">
        <p14:creationId xmlns:p14="http://schemas.microsoft.com/office/powerpoint/2010/main" val="32705605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Arc 17">
            <a:extLst>
              <a:ext uri="{FF2B5EF4-FFF2-40B4-BE49-F238E27FC236}">
                <a16:creationId xmlns:a16="http://schemas.microsoft.com/office/drawing/2014/main" id="{834FA06C-6679-58D5-9C4B-5A6972C80A10}"/>
              </a:ext>
            </a:extLst>
          </p:cNvPr>
          <p:cNvSpPr/>
          <p:nvPr/>
        </p:nvSpPr>
        <p:spPr>
          <a:xfrm rot="6045813">
            <a:off x="2029524" y="-4702147"/>
            <a:ext cx="6267694" cy="12163038"/>
          </a:xfrm>
          <a:prstGeom prst="arc">
            <a:avLst>
              <a:gd name="adj1" fmla="val 16342036"/>
              <a:gd name="adj2" fmla="val 3922038"/>
            </a:avLst>
          </a:prstGeom>
          <a:ln w="2857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84983BDF-40E3-B772-FB65-BE54A3438F8C}"/>
              </a:ext>
            </a:extLst>
          </p:cNvPr>
          <p:cNvGrpSpPr/>
          <p:nvPr/>
        </p:nvGrpSpPr>
        <p:grpSpPr>
          <a:xfrm>
            <a:off x="4146211" y="1528081"/>
            <a:ext cx="4680685" cy="2355393"/>
            <a:chOff x="168253" y="1199148"/>
            <a:chExt cx="3378147" cy="2696392"/>
          </a:xfrm>
          <a:solidFill>
            <a:schemeClr val="accent5">
              <a:lumMod val="20000"/>
              <a:lumOff val="80000"/>
            </a:schemeClr>
          </a:solidFill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23806898-5C1D-06A8-DAB4-1A1A375069F6}"/>
                </a:ext>
              </a:extLst>
            </p:cNvPr>
            <p:cNvSpPr/>
            <p:nvPr/>
          </p:nvSpPr>
          <p:spPr>
            <a:xfrm>
              <a:off x="168253" y="1199148"/>
              <a:ext cx="3378147" cy="2696392"/>
            </a:xfrm>
            <a:prstGeom prst="roundRect">
              <a:avLst/>
            </a:prstGeom>
            <a:grpFill/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US" sz="1400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D9BCD64-0B06-D9DB-B667-6700BE69AC46}"/>
                </a:ext>
              </a:extLst>
            </p:cNvPr>
            <p:cNvSpPr/>
            <p:nvPr/>
          </p:nvSpPr>
          <p:spPr>
            <a:xfrm>
              <a:off x="334458" y="1331053"/>
              <a:ext cx="3072295" cy="2417064"/>
            </a:xfrm>
            <a:custGeom>
              <a:avLst/>
              <a:gdLst>
                <a:gd name="connsiteX0" fmla="*/ 0 w 2878223"/>
                <a:gd name="connsiteY0" fmla="*/ 0 h 2860677"/>
                <a:gd name="connsiteX1" fmla="*/ 2878223 w 2878223"/>
                <a:gd name="connsiteY1" fmla="*/ 0 h 2860677"/>
                <a:gd name="connsiteX2" fmla="*/ 2878223 w 2878223"/>
                <a:gd name="connsiteY2" fmla="*/ 2860677 h 2860677"/>
                <a:gd name="connsiteX3" fmla="*/ 0 w 2878223"/>
                <a:gd name="connsiteY3" fmla="*/ 2860677 h 2860677"/>
                <a:gd name="connsiteX4" fmla="*/ 0 w 2878223"/>
                <a:gd name="connsiteY4" fmla="*/ 0 h 2860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878223" h="2860677">
                  <a:moveTo>
                    <a:pt x="0" y="0"/>
                  </a:moveTo>
                  <a:lnTo>
                    <a:pt x="2878223" y="0"/>
                  </a:lnTo>
                  <a:lnTo>
                    <a:pt x="2878223" y="2860677"/>
                  </a:lnTo>
                  <a:lnTo>
                    <a:pt x="0" y="2860677"/>
                  </a:lnTo>
                  <a:lnTo>
                    <a:pt x="0" y="0"/>
                  </a:lnTo>
                  <a:close/>
                </a:path>
              </a:pathLst>
            </a:custGeom>
            <a:grpFill/>
            <a:ln>
              <a:noFill/>
            </a:ln>
            <a:sp3d/>
          </p:spPr>
          <p:style>
            <a:lnRef idx="2">
              <a:scrgbClr r="0" g="0" b="0"/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 spcFirstLastPara="0" vert="horz" wrap="square" lIns="66040" tIns="66040" rIns="66040" bIns="66040" numCol="1" spcCol="1270" anchor="t" anchorCtr="0">
              <a:noAutofit/>
            </a:bodyPr>
            <a:lstStyle/>
            <a:p>
              <a:pPr algn="ctr"/>
              <a:r>
                <a:rPr lang="en-SG" sz="1600" b="1" dirty="0">
                  <a:solidFill>
                    <a:schemeClr val="tx1"/>
                  </a:solidFill>
                </a:rPr>
                <a:t>Year 1 (Current Year X of Study at NTU</a:t>
              </a:r>
              <a:r>
                <a:rPr lang="en-SG" sz="1600" b="1" u="sng" dirty="0">
                  <a:solidFill>
                    <a:schemeClr val="tx1"/>
                  </a:solidFill>
                </a:rPr>
                <a:t>)</a:t>
              </a:r>
            </a:p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SG" sz="1600" b="1" u="sng" kern="1200" dirty="0">
                <a:solidFill>
                  <a:schemeClr val="tx1"/>
                </a:solidFill>
              </a:endParaRPr>
            </a:p>
            <a:p>
              <a:pPr marL="0" lvl="0" indent="0" algn="ctr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SG" sz="1600" b="1" u="sng" kern="1200" dirty="0">
                  <a:solidFill>
                    <a:schemeClr val="tx1"/>
                  </a:solidFill>
                </a:rPr>
                <a:t>Goal / Target for the year </a:t>
              </a:r>
            </a:p>
            <a:p>
              <a:pPr marL="0" lvl="0" indent="0" algn="l" defTabSz="11557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US" sz="1400" kern="1200" dirty="0">
                  <a:solidFill>
                    <a:schemeClr val="tx1"/>
                  </a:solidFill>
                </a:rPr>
                <a:t>(Provide a short write up to elaborate on the objective for the year).</a:t>
              </a:r>
            </a:p>
          </p:txBody>
        </p:sp>
      </p:grpSp>
      <p:sp>
        <p:nvSpPr>
          <p:cNvPr id="6" name="Rectangle: Diagonal Corners Snipped 5">
            <a:extLst>
              <a:ext uri="{FF2B5EF4-FFF2-40B4-BE49-F238E27FC236}">
                <a16:creationId xmlns:a16="http://schemas.microsoft.com/office/drawing/2014/main" id="{3E6AE2DA-CFAD-80A9-DC7E-FC7F4B8F0023}"/>
              </a:ext>
            </a:extLst>
          </p:cNvPr>
          <p:cNvSpPr/>
          <p:nvPr/>
        </p:nvSpPr>
        <p:spPr>
          <a:xfrm>
            <a:off x="-44013" y="138513"/>
            <a:ext cx="6123367" cy="771346"/>
          </a:xfrm>
          <a:prstGeom prst="snip2DiagRect">
            <a:avLst/>
          </a:prstGeom>
          <a:noFill/>
          <a:ln>
            <a:noFill/>
          </a:ln>
        </p:spPr>
        <p:txBody>
          <a:bodyPr wrap="square" lIns="91440" tIns="45720" rIns="91440" bIns="45720" anchor="ctr">
            <a:spAutoFit/>
          </a:bodyPr>
          <a:lstStyle/>
          <a:p>
            <a:pPr algn="ctr"/>
            <a:r>
              <a:rPr lang="en-US" sz="3600" b="1" u="sng" dirty="0">
                <a:ln w="9525">
                  <a:noFill/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My 5-Year Career Roadmap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2875CE0-2FB1-2C3A-AA9E-1368E9143CB4}"/>
              </a:ext>
            </a:extLst>
          </p:cNvPr>
          <p:cNvGrpSpPr/>
          <p:nvPr/>
        </p:nvGrpSpPr>
        <p:grpSpPr>
          <a:xfrm>
            <a:off x="76314" y="2334943"/>
            <a:ext cx="1899451" cy="2725063"/>
            <a:chOff x="2484812" y="-369188"/>
            <a:chExt cx="2186428" cy="2543917"/>
          </a:xfrm>
        </p:grpSpPr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79DC4EA-CE3A-0235-A8D2-2CECA3FCA2A6}"/>
                </a:ext>
              </a:extLst>
            </p:cNvPr>
            <p:cNvSpPr/>
            <p:nvPr/>
          </p:nvSpPr>
          <p:spPr>
            <a:xfrm>
              <a:off x="2588445" y="-369188"/>
              <a:ext cx="1825713" cy="904769"/>
            </a:xfrm>
            <a:prstGeom prst="ellipse">
              <a:avLst/>
            </a:prstGeom>
            <a:solidFill>
              <a:srgbClr val="FFCCCC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anchor="ctr"/>
            <a:lstStyle/>
            <a:p>
              <a:pPr algn="ctr"/>
              <a:r>
                <a:rPr lang="en-SG" sz="1400" b="1" dirty="0">
                  <a:solidFill>
                    <a:schemeClr val="tx1"/>
                  </a:solidFill>
                </a:rPr>
                <a:t>Date</a:t>
              </a:r>
            </a:p>
            <a:p>
              <a:pPr algn="ctr"/>
              <a:r>
                <a:rPr lang="en-SG" sz="1400" b="1" dirty="0">
                  <a:solidFill>
                    <a:schemeClr val="tx1"/>
                  </a:solidFill>
                </a:rPr>
                <a:t>(Duration)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319107F5-E8E8-8F13-BA7D-00BF2C474B12}"/>
                </a:ext>
              </a:extLst>
            </p:cNvPr>
            <p:cNvSpPr txBox="1"/>
            <p:nvPr/>
          </p:nvSpPr>
          <p:spPr>
            <a:xfrm>
              <a:off x="2484812" y="709410"/>
              <a:ext cx="2186428" cy="146531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Goal/Target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Steps taken to achieve goal/target:-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SG" sz="1200" dirty="0"/>
                <a:t>XXX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SG" sz="1200" dirty="0"/>
                <a:t>XXX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SG" sz="1200" dirty="0"/>
                <a:t>XXX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endParaRPr lang="en-SG" sz="1200" dirty="0"/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endParaRPr lang="en-SG" sz="1200" dirty="0"/>
            </a:p>
          </p:txBody>
        </p:sp>
      </p:grp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E19C7D6E-63D8-D768-B051-ED4C198AB992}"/>
              </a:ext>
            </a:extLst>
          </p:cNvPr>
          <p:cNvSpPr/>
          <p:nvPr/>
        </p:nvSpPr>
        <p:spPr>
          <a:xfrm>
            <a:off x="6079354" y="138513"/>
            <a:ext cx="5943600" cy="1150974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algn="ctr"/>
            <a:r>
              <a:rPr lang="en-SG" sz="1600" b="1" u="sng" dirty="0">
                <a:solidFill>
                  <a:schemeClr val="tx1"/>
                </a:solidFill>
              </a:rPr>
              <a:t>Career Goal(s)</a:t>
            </a:r>
          </a:p>
          <a:p>
            <a:pPr algn="just"/>
            <a:r>
              <a:rPr lang="en-US" sz="1400" b="0" kern="1200" dirty="0">
                <a:solidFill>
                  <a:schemeClr val="tx1"/>
                </a:solidFill>
              </a:rPr>
              <a:t>[Provide a short write up to elaborate on your career goal(s)]. </a:t>
            </a:r>
            <a:endParaRPr lang="en-SG" sz="1400" b="0" u="sng" dirty="0">
              <a:solidFill>
                <a:schemeClr val="tx1"/>
              </a:solidFill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FAEBF6A-8C4C-A95E-8D75-C8694894AF2A}"/>
              </a:ext>
            </a:extLst>
          </p:cNvPr>
          <p:cNvGrpSpPr/>
          <p:nvPr/>
        </p:nvGrpSpPr>
        <p:grpSpPr>
          <a:xfrm>
            <a:off x="7028630" y="4001873"/>
            <a:ext cx="2327227" cy="2536533"/>
            <a:chOff x="3135987" y="336577"/>
            <a:chExt cx="2678834" cy="2367920"/>
          </a:xfrm>
        </p:grpSpPr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B880D16B-9B50-08F6-B2D2-F5D2A161528F}"/>
                </a:ext>
              </a:extLst>
            </p:cNvPr>
            <p:cNvSpPr/>
            <p:nvPr/>
          </p:nvSpPr>
          <p:spPr>
            <a:xfrm>
              <a:off x="3527130" y="336577"/>
              <a:ext cx="1825714" cy="904769"/>
            </a:xfrm>
            <a:prstGeom prst="ellipse">
              <a:avLst/>
            </a:prstGeom>
            <a:solidFill>
              <a:srgbClr val="FFCCCC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anchor="ctr"/>
            <a:lstStyle/>
            <a:p>
              <a:pPr algn="ctr"/>
              <a:r>
                <a:rPr lang="en-SG" sz="1400" b="1" dirty="0">
                  <a:solidFill>
                    <a:schemeClr val="tx1"/>
                  </a:solidFill>
                </a:rPr>
                <a:t>Date</a:t>
              </a:r>
            </a:p>
            <a:p>
              <a:pPr algn="ctr"/>
              <a:r>
                <a:rPr lang="en-SG" sz="1400" b="1" dirty="0">
                  <a:solidFill>
                    <a:schemeClr val="tx1"/>
                  </a:solidFill>
                </a:rPr>
                <a:t>(Duration)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FBC1303F-3D9B-F5B8-66B5-E36E7DE71E3A}"/>
                </a:ext>
              </a:extLst>
            </p:cNvPr>
            <p:cNvSpPr txBox="1"/>
            <p:nvPr/>
          </p:nvSpPr>
          <p:spPr>
            <a:xfrm>
              <a:off x="3135987" y="1239178"/>
              <a:ext cx="2678834" cy="146531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Goal/Target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Steps taken to achieve goal/target:-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SG" sz="1200" dirty="0"/>
                <a:t>XXX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SG" sz="1200" dirty="0"/>
                <a:t>XXX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SG" sz="1200" dirty="0"/>
                <a:t>XXX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endParaRPr lang="en-SG" sz="1200" dirty="0"/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endParaRPr lang="en-SG" sz="1200" dirty="0"/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81545428-75D1-B8D4-E69F-53D78D6DD408}"/>
              </a:ext>
            </a:extLst>
          </p:cNvPr>
          <p:cNvGrpSpPr/>
          <p:nvPr/>
        </p:nvGrpSpPr>
        <p:grpSpPr>
          <a:xfrm>
            <a:off x="4444656" y="4024186"/>
            <a:ext cx="2419243" cy="2514221"/>
            <a:chOff x="2938050" y="-89830"/>
            <a:chExt cx="2784752" cy="2347090"/>
          </a:xfrm>
        </p:grpSpPr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3BD8C954-F4F1-5092-D1DB-44B93581F304}"/>
                </a:ext>
              </a:extLst>
            </p:cNvPr>
            <p:cNvSpPr/>
            <p:nvPr/>
          </p:nvSpPr>
          <p:spPr>
            <a:xfrm>
              <a:off x="3462732" y="-89830"/>
              <a:ext cx="1825714" cy="904769"/>
            </a:xfrm>
            <a:prstGeom prst="ellipse">
              <a:avLst/>
            </a:prstGeom>
            <a:solidFill>
              <a:srgbClr val="FFCCCC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anchor="ctr"/>
            <a:lstStyle/>
            <a:p>
              <a:pPr algn="ctr"/>
              <a:r>
                <a:rPr lang="en-SG" sz="1400" b="1" dirty="0">
                  <a:solidFill>
                    <a:schemeClr val="tx1"/>
                  </a:solidFill>
                </a:rPr>
                <a:t>Date</a:t>
              </a:r>
            </a:p>
            <a:p>
              <a:pPr algn="ctr"/>
              <a:r>
                <a:rPr lang="en-SG" sz="1400" b="1" dirty="0">
                  <a:solidFill>
                    <a:schemeClr val="tx1"/>
                  </a:solidFill>
                </a:rPr>
                <a:t>(Duration)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834F5539-50F3-4C7D-E60B-FB1121AFBA9D}"/>
                </a:ext>
              </a:extLst>
            </p:cNvPr>
            <p:cNvSpPr txBox="1"/>
            <p:nvPr/>
          </p:nvSpPr>
          <p:spPr>
            <a:xfrm>
              <a:off x="2938050" y="791942"/>
              <a:ext cx="2784752" cy="14653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Milestone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Steps taken to achieve milestone:-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SG" sz="1200" dirty="0"/>
                <a:t>XXX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SG" sz="1200" dirty="0"/>
                <a:t>XXX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SG" sz="1200" dirty="0"/>
                <a:t>XXX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endParaRPr lang="en-SG" sz="1200" dirty="0"/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endParaRPr lang="en-SG" sz="1200" dirty="0"/>
            </a:p>
          </p:txBody>
        </p:sp>
      </p:grpSp>
      <p:sp>
        <p:nvSpPr>
          <p:cNvPr id="30" name="Oval 29">
            <a:extLst>
              <a:ext uri="{FF2B5EF4-FFF2-40B4-BE49-F238E27FC236}">
                <a16:creationId xmlns:a16="http://schemas.microsoft.com/office/drawing/2014/main" id="{29BF6C36-846C-FB13-D70C-902D4A032030}"/>
              </a:ext>
            </a:extLst>
          </p:cNvPr>
          <p:cNvSpPr/>
          <p:nvPr/>
        </p:nvSpPr>
        <p:spPr>
          <a:xfrm>
            <a:off x="10363200" y="1794444"/>
            <a:ext cx="1828800" cy="1038995"/>
          </a:xfrm>
          <a:prstGeom prst="ellipse">
            <a:avLst/>
          </a:prstGeom>
          <a:solidFill>
            <a:srgbClr val="FFCCCC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tint val="50000"/>
              <a:hueOff val="0"/>
              <a:satOff val="0"/>
              <a:lumOff val="0"/>
              <a:alphaOff val="0"/>
            </a:schemeClr>
          </a:fillRef>
          <a:effectRef idx="0">
            <a:schemeClr val="accent1">
              <a:tint val="50000"/>
              <a:hueOff val="0"/>
              <a:satOff val="0"/>
              <a:lumOff val="0"/>
              <a:alphaOff val="0"/>
            </a:schemeClr>
          </a:effectRef>
          <a:fontRef idx="minor">
            <a:schemeClr val="lt1">
              <a:hueOff val="0"/>
              <a:satOff val="0"/>
              <a:lumOff val="0"/>
              <a:alphaOff val="0"/>
            </a:schemeClr>
          </a:fontRef>
        </p:style>
        <p:txBody>
          <a:bodyPr anchor="ctr"/>
          <a:lstStyle/>
          <a:p>
            <a:pPr algn="ctr"/>
            <a:r>
              <a:rPr lang="en-SG" sz="1600" b="1" dirty="0">
                <a:solidFill>
                  <a:schemeClr val="tx1"/>
                </a:solidFill>
              </a:rPr>
              <a:t>Year 1 Completed!</a:t>
            </a:r>
            <a:endParaRPr lang="en-US" sz="1600" b="1" dirty="0">
              <a:solidFill>
                <a:schemeClr val="tx1"/>
              </a:solidFill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25098B7F-0917-5BC0-1547-542D570C6CD5}"/>
              </a:ext>
            </a:extLst>
          </p:cNvPr>
          <p:cNvGrpSpPr/>
          <p:nvPr/>
        </p:nvGrpSpPr>
        <p:grpSpPr>
          <a:xfrm>
            <a:off x="9706085" y="3212878"/>
            <a:ext cx="2438381" cy="2565334"/>
            <a:chOff x="3398772" y="135941"/>
            <a:chExt cx="2806781" cy="2394806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A9D4F1D8-801B-6119-76F4-8CD190A3DE29}"/>
                </a:ext>
              </a:extLst>
            </p:cNvPr>
            <p:cNvSpPr/>
            <p:nvPr/>
          </p:nvSpPr>
          <p:spPr>
            <a:xfrm>
              <a:off x="3425718" y="135941"/>
              <a:ext cx="1825713" cy="904769"/>
            </a:xfrm>
            <a:prstGeom prst="ellipse">
              <a:avLst/>
            </a:prstGeom>
            <a:solidFill>
              <a:srgbClr val="FFCCCC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anchor="ctr"/>
            <a:lstStyle/>
            <a:p>
              <a:pPr algn="ctr"/>
              <a:r>
                <a:rPr lang="en-SG" sz="1400" b="1" dirty="0">
                  <a:solidFill>
                    <a:schemeClr val="tx1"/>
                  </a:solidFill>
                </a:rPr>
                <a:t>Date</a:t>
              </a:r>
            </a:p>
            <a:p>
              <a:pPr algn="ctr"/>
              <a:r>
                <a:rPr lang="en-SG" sz="1400" b="1" dirty="0">
                  <a:solidFill>
                    <a:schemeClr val="tx1"/>
                  </a:solidFill>
                </a:rPr>
                <a:t>(Duration)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30B4D6F-22D3-3410-2016-4B6AD46DF80F}"/>
                </a:ext>
              </a:extLst>
            </p:cNvPr>
            <p:cNvSpPr txBox="1"/>
            <p:nvPr/>
          </p:nvSpPr>
          <p:spPr>
            <a:xfrm>
              <a:off x="3398772" y="1065429"/>
              <a:ext cx="2806781" cy="1465318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Milestone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Steps taken to achieve milestone:-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SG" sz="1200" dirty="0"/>
                <a:t>XXX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SG" sz="1200" dirty="0"/>
                <a:t>XXX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SG" sz="1200" dirty="0"/>
                <a:t>XXX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endParaRPr lang="en-SG" sz="1200" dirty="0"/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endParaRPr lang="en-SG" sz="1200" dirty="0"/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9D35DF44-6EE1-AC81-EDB2-029FC47815E0}"/>
              </a:ext>
            </a:extLst>
          </p:cNvPr>
          <p:cNvGrpSpPr/>
          <p:nvPr/>
        </p:nvGrpSpPr>
        <p:grpSpPr>
          <a:xfrm>
            <a:off x="2099304" y="3404738"/>
            <a:ext cx="2180621" cy="2756269"/>
            <a:chOff x="3232243" y="-109809"/>
            <a:chExt cx="2510078" cy="2573049"/>
          </a:xfrm>
        </p:grpSpPr>
        <p:sp>
          <p:nvSpPr>
            <p:cNvPr id="38" name="Oval 37">
              <a:extLst>
                <a:ext uri="{FF2B5EF4-FFF2-40B4-BE49-F238E27FC236}">
                  <a16:creationId xmlns:a16="http://schemas.microsoft.com/office/drawing/2014/main" id="{65EAD726-99A5-DC47-ECF1-215E7ED8FFBC}"/>
                </a:ext>
              </a:extLst>
            </p:cNvPr>
            <p:cNvSpPr/>
            <p:nvPr/>
          </p:nvSpPr>
          <p:spPr>
            <a:xfrm>
              <a:off x="3376504" y="-109809"/>
              <a:ext cx="1825714" cy="904769"/>
            </a:xfrm>
            <a:prstGeom prst="ellipse">
              <a:avLst/>
            </a:prstGeom>
            <a:solidFill>
              <a:srgbClr val="FFCCCC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tint val="5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tint val="50000"/>
                <a:hueOff val="0"/>
                <a:satOff val="0"/>
                <a:lumOff val="0"/>
                <a:alphaOff val="0"/>
              </a:schemeClr>
            </a:effectRef>
            <a:fontRef idx="minor">
              <a:schemeClr val="lt1">
                <a:hueOff val="0"/>
                <a:satOff val="0"/>
                <a:lumOff val="0"/>
                <a:alphaOff val="0"/>
              </a:schemeClr>
            </a:fontRef>
          </p:style>
          <p:txBody>
            <a:bodyPr anchor="ctr"/>
            <a:lstStyle/>
            <a:p>
              <a:pPr algn="ctr"/>
              <a:r>
                <a:rPr lang="en-SG" sz="1400" b="1" dirty="0">
                  <a:solidFill>
                    <a:schemeClr val="tx1"/>
                  </a:solidFill>
                </a:rPr>
                <a:t>Date</a:t>
              </a:r>
            </a:p>
            <a:p>
              <a:pPr algn="ctr"/>
              <a:r>
                <a:rPr lang="en-SG" sz="1400" b="1" dirty="0">
                  <a:solidFill>
                    <a:schemeClr val="tx1"/>
                  </a:solidFill>
                </a:rPr>
                <a:t>(Duration)</a:t>
              </a:r>
              <a:endParaRPr lang="en-US" sz="1400" b="1" dirty="0">
                <a:solidFill>
                  <a:schemeClr val="tx1"/>
                </a:solidFill>
              </a:endParaRPr>
            </a:p>
          </p:txBody>
        </p:sp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2253DEDD-1043-DA69-81ED-EB92D3D1FF56}"/>
                </a:ext>
              </a:extLst>
            </p:cNvPr>
            <p:cNvSpPr txBox="1"/>
            <p:nvPr/>
          </p:nvSpPr>
          <p:spPr>
            <a:xfrm>
              <a:off x="3232243" y="997921"/>
              <a:ext cx="2510078" cy="1465319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/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Goal/Target</a:t>
              </a:r>
            </a:p>
            <a:p>
              <a:pPr marL="0" indent="0">
                <a:buFont typeface="Arial" panose="020B0604020202020204" pitchFamily="34" charset="0"/>
                <a:buNone/>
              </a:pPr>
              <a:r>
                <a:rPr lang="en-SG" sz="1200" dirty="0"/>
                <a:t>Steps taken to achieve goal/target:-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SG" sz="1200" dirty="0"/>
                <a:t>XXX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SG" sz="1200" dirty="0"/>
                <a:t>XXX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r>
                <a:rPr lang="en-SG" sz="1200" dirty="0"/>
                <a:t>XXX</a:t>
              </a:r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endParaRPr lang="en-SG" sz="1200" dirty="0"/>
            </a:p>
            <a:p>
              <a:pPr marL="514350" indent="-514350">
                <a:buFont typeface="Arial" panose="020B0604020202020204" pitchFamily="34" charset="0"/>
                <a:buAutoNum type="arabicParenR"/>
              </a:pPr>
              <a:endParaRPr lang="en-SG" sz="1200" dirty="0"/>
            </a:p>
          </p:txBody>
        </p:sp>
      </p:grpSp>
    </p:spTree>
    <p:extLst>
      <p:ext uri="{BB962C8B-B14F-4D97-AF65-F5344CB8AC3E}">
        <p14:creationId xmlns:p14="http://schemas.microsoft.com/office/powerpoint/2010/main" val="11233030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" name="Diagram 31">
            <a:extLst>
              <a:ext uri="{FF2B5EF4-FFF2-40B4-BE49-F238E27FC236}">
                <a16:creationId xmlns:a16="http://schemas.microsoft.com/office/drawing/2014/main" id="{1CF0C60E-6FE9-2008-1702-F2F39C23284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7228698"/>
              </p:ext>
            </p:extLst>
          </p:nvPr>
        </p:nvGraphicFramePr>
        <p:xfrm>
          <a:off x="4154711" y="-25066"/>
          <a:ext cx="4693557" cy="690154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1BC9407-BF41-0085-B382-12ED1183CA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8547" y="3698419"/>
            <a:ext cx="4388306" cy="2853482"/>
          </a:xfrm>
          <a:prstGeom prst="snip1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SG" b="1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Year 1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SG" sz="2000" b="1" dirty="0">
                <a:solidFill>
                  <a:schemeClr val="tx1"/>
                </a:solidFill>
              </a:rPr>
              <a:t>(Current Year X of Study at NTU)</a:t>
            </a:r>
          </a:p>
          <a:p>
            <a:pPr marL="0" indent="0">
              <a:buNone/>
            </a:pPr>
            <a:endParaRPr lang="en-SG" sz="1600" b="1" u="sng" dirty="0"/>
          </a:p>
          <a:p>
            <a:pPr marL="0" indent="0">
              <a:spcBef>
                <a:spcPts val="0"/>
              </a:spcBef>
              <a:buNone/>
            </a:pPr>
            <a:r>
              <a:rPr lang="en-SG" sz="1600" b="1" u="sng" dirty="0"/>
              <a:t>Objective for the year</a:t>
            </a:r>
          </a:p>
          <a:p>
            <a:pPr>
              <a:spcBef>
                <a:spcPts val="0"/>
              </a:spcBef>
            </a:pPr>
            <a:r>
              <a:rPr lang="en-US" sz="1400" dirty="0"/>
              <a:t>(Provide a short write up to elaborate on the objective for the year).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A0B9281-0FA3-0B13-C0CB-8C791526E534}"/>
              </a:ext>
            </a:extLst>
          </p:cNvPr>
          <p:cNvSpPr txBox="1"/>
          <p:nvPr/>
        </p:nvSpPr>
        <p:spPr>
          <a:xfrm>
            <a:off x="8221897" y="532734"/>
            <a:ext cx="3905251" cy="1384995"/>
          </a:xfrm>
          <a:prstGeom prst="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SG" sz="1200" dirty="0"/>
              <a:t>Goal/Target :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SG" sz="1200" dirty="0"/>
              <a:t>Steps taken to achieve goal/target:-</a:t>
            </a:r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en-SG" sz="1200" dirty="0"/>
              <a:t>XXX</a:t>
            </a:r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en-SG" sz="1200" dirty="0"/>
              <a:t>XXX</a:t>
            </a:r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en-SG" sz="1200" dirty="0"/>
              <a:t>XXX</a:t>
            </a:r>
          </a:p>
          <a:p>
            <a:pPr marL="514350" indent="-514350">
              <a:buFont typeface="Arial" panose="020B0604020202020204" pitchFamily="34" charset="0"/>
              <a:buAutoNum type="arabicParenR"/>
            </a:pPr>
            <a:endParaRPr lang="en-SG" sz="1200" dirty="0"/>
          </a:p>
          <a:p>
            <a:endParaRPr lang="en-SG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D33E9EF-36C4-176C-8A1F-86E7F5F0881A}"/>
              </a:ext>
            </a:extLst>
          </p:cNvPr>
          <p:cNvSpPr txBox="1"/>
          <p:nvPr/>
        </p:nvSpPr>
        <p:spPr>
          <a:xfrm>
            <a:off x="8223248" y="2044005"/>
            <a:ext cx="3905251" cy="1384995"/>
          </a:xfrm>
          <a:prstGeom prst="rect">
            <a:avLst/>
          </a:prstGeom>
          <a:noFill/>
          <a:ln>
            <a:solidFill>
              <a:srgbClr val="FFFF66"/>
            </a:solidFill>
          </a:ln>
        </p:spPr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SG" sz="1200" dirty="0"/>
              <a:t>Milestone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SG" sz="1200" dirty="0"/>
              <a:t>Steps taken to achieve milestone:-</a:t>
            </a:r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en-SG" sz="1200" dirty="0"/>
              <a:t>XXX</a:t>
            </a:r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en-SG" sz="1200" dirty="0"/>
              <a:t>XXX</a:t>
            </a:r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en-SG" sz="1200" dirty="0"/>
              <a:t>XXX</a:t>
            </a:r>
          </a:p>
          <a:p>
            <a:endParaRPr lang="en-SG" sz="1200" dirty="0"/>
          </a:p>
          <a:p>
            <a:endParaRPr lang="en-SG" sz="1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661E46-CDCB-571C-C6E9-DAF592FA24C2}"/>
              </a:ext>
            </a:extLst>
          </p:cNvPr>
          <p:cNvSpPr txBox="1"/>
          <p:nvPr/>
        </p:nvSpPr>
        <p:spPr>
          <a:xfrm>
            <a:off x="8223248" y="3571409"/>
            <a:ext cx="3905251" cy="1384995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SG" sz="1200" dirty="0"/>
              <a:t>Goal/Target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SG" sz="1200" dirty="0"/>
              <a:t>Steps taken to achieve goal/target:-</a:t>
            </a:r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en-SG" sz="1200" dirty="0"/>
              <a:t>XXX</a:t>
            </a:r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en-SG" sz="1200" dirty="0"/>
              <a:t>XXX</a:t>
            </a:r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en-SG" sz="1200" dirty="0"/>
              <a:t>XXX</a:t>
            </a:r>
          </a:p>
          <a:p>
            <a:endParaRPr lang="en-SG" sz="1200" dirty="0"/>
          </a:p>
          <a:p>
            <a:endParaRPr lang="en-SG" sz="12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187EA55-F78F-FD6D-DB98-7B1EA733F38A}"/>
              </a:ext>
            </a:extLst>
          </p:cNvPr>
          <p:cNvSpPr txBox="1"/>
          <p:nvPr/>
        </p:nvSpPr>
        <p:spPr>
          <a:xfrm>
            <a:off x="8191955" y="5166906"/>
            <a:ext cx="3905251" cy="1384995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indent="0">
              <a:buFont typeface="Arial" panose="020B0604020202020204" pitchFamily="34" charset="0"/>
              <a:buNone/>
            </a:pPr>
            <a:r>
              <a:rPr lang="en-SG" sz="1200" dirty="0"/>
              <a:t>Milestone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SG" sz="1200" dirty="0"/>
              <a:t>Steps taken to achieve milestone:-</a:t>
            </a:r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en-SG" sz="1200" dirty="0"/>
              <a:t>XXX</a:t>
            </a:r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en-SG" sz="1200" dirty="0"/>
              <a:t>XXX</a:t>
            </a:r>
          </a:p>
          <a:p>
            <a:pPr marL="514350" indent="-514350">
              <a:buFont typeface="Arial" panose="020B0604020202020204" pitchFamily="34" charset="0"/>
              <a:buAutoNum type="arabicParenR"/>
            </a:pPr>
            <a:r>
              <a:rPr lang="en-SG" sz="1200" dirty="0"/>
              <a:t>XXX</a:t>
            </a:r>
          </a:p>
          <a:p>
            <a:endParaRPr lang="en-SG" sz="1200" dirty="0"/>
          </a:p>
          <a:p>
            <a:endParaRPr lang="en-SG" sz="1200" dirty="0"/>
          </a:p>
        </p:txBody>
      </p:sp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759DFAB9-ADC7-681E-02FF-557F40A1210B}"/>
              </a:ext>
            </a:extLst>
          </p:cNvPr>
          <p:cNvSpPr txBox="1">
            <a:spLocks/>
          </p:cNvSpPr>
          <p:nvPr/>
        </p:nvSpPr>
        <p:spPr>
          <a:xfrm>
            <a:off x="358547" y="306099"/>
            <a:ext cx="4388306" cy="2853482"/>
          </a:xfrm>
          <a:prstGeom prst="snip1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00000"/>
              </a:lnSpc>
              <a:spcBef>
                <a:spcPts val="0"/>
              </a:spcBef>
              <a:buNone/>
            </a:pPr>
            <a:r>
              <a:rPr lang="en-US" b="1" dirty="0">
                <a:ln w="9525">
                  <a:noFill/>
                  <a:prstDash val="solid"/>
                </a:ln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My 5-Year Career Roadmap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endParaRPr lang="en-SG" sz="1600" b="1" u="sng" dirty="0">
              <a:solidFill>
                <a:schemeClr val="tx1"/>
              </a:solidFill>
            </a:endParaRP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SG" sz="1600" b="1" u="sng" dirty="0">
                <a:solidFill>
                  <a:schemeClr val="tx1"/>
                </a:solidFill>
              </a:rPr>
              <a:t>Career Goal(s)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0" kern="1200" dirty="0">
                <a:solidFill>
                  <a:schemeClr val="tx1"/>
                </a:solidFill>
              </a:rPr>
              <a:t>[Provide a short write up to elaborate on your career goal(s)].</a:t>
            </a:r>
            <a:endParaRPr lang="en-SG" sz="1400" b="0" u="sng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06004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7301BF8D-6AA6-F808-841D-C07B6834FDFA}"/>
              </a:ext>
            </a:extLst>
          </p:cNvPr>
          <p:cNvGrpSpPr/>
          <p:nvPr/>
        </p:nvGrpSpPr>
        <p:grpSpPr>
          <a:xfrm>
            <a:off x="4364377" y="60889"/>
            <a:ext cx="3463245" cy="3172197"/>
            <a:chOff x="5252085" y="-78856"/>
            <a:chExt cx="2708915" cy="1982388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7E7FFA90-182C-4ABF-F371-B823D620735B}"/>
                </a:ext>
              </a:extLst>
            </p:cNvPr>
            <p:cNvSpPr/>
            <p:nvPr/>
          </p:nvSpPr>
          <p:spPr>
            <a:xfrm>
              <a:off x="5252085" y="679015"/>
              <a:ext cx="2708915" cy="122451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SG" sz="12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Steps taken to achieve goal/target</a:t>
              </a:r>
              <a:endParaRPr lang="en-US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" name="Rectangle: Rounded Corners 1">
              <a:extLst>
                <a:ext uri="{FF2B5EF4-FFF2-40B4-BE49-F238E27FC236}">
                  <a16:creationId xmlns:a16="http://schemas.microsoft.com/office/drawing/2014/main" id="{D8E6E454-E491-E73D-B3B2-080B978D278A}"/>
                </a:ext>
              </a:extLst>
            </p:cNvPr>
            <p:cNvSpPr/>
            <p:nvPr/>
          </p:nvSpPr>
          <p:spPr>
            <a:xfrm>
              <a:off x="5452744" y="-78856"/>
              <a:ext cx="2325377" cy="697885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SG" sz="14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Goal/Target:</a:t>
              </a:r>
            </a:p>
            <a:p>
              <a:r>
                <a:rPr lang="en-SG" sz="14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Date/Duration:</a:t>
              </a:r>
              <a:endParaRPr lang="en-US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5E84676-8561-8F22-88D3-AA4192FFDC22}"/>
              </a:ext>
            </a:extLst>
          </p:cNvPr>
          <p:cNvGrpSpPr/>
          <p:nvPr/>
        </p:nvGrpSpPr>
        <p:grpSpPr>
          <a:xfrm>
            <a:off x="8417908" y="60889"/>
            <a:ext cx="3463245" cy="3172199"/>
            <a:chOff x="5284466" y="-435937"/>
            <a:chExt cx="3199765" cy="2727382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A80D45D-528D-145D-5296-3BC78D0D9D41}"/>
                </a:ext>
              </a:extLst>
            </p:cNvPr>
            <p:cNvSpPr/>
            <p:nvPr/>
          </p:nvSpPr>
          <p:spPr>
            <a:xfrm>
              <a:off x="5284466" y="606748"/>
              <a:ext cx="3199765" cy="168469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SG" sz="12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Steps taken to achieve milestone</a:t>
              </a:r>
              <a:endParaRPr lang="en-US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836BAC79-1B3F-4447-7985-DDB26904ABF1}"/>
                </a:ext>
              </a:extLst>
            </p:cNvPr>
            <p:cNvSpPr/>
            <p:nvPr/>
          </p:nvSpPr>
          <p:spPr>
            <a:xfrm>
              <a:off x="5467346" y="-435937"/>
              <a:ext cx="2936877" cy="96608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SG" sz="14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Milestone:</a:t>
              </a:r>
            </a:p>
            <a:p>
              <a:r>
                <a:rPr lang="en-SG" sz="14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Date/Duration:</a:t>
              </a:r>
              <a:endParaRPr lang="en-US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29BD57B-0446-95CE-2515-BF0738E2A12B}"/>
              </a:ext>
            </a:extLst>
          </p:cNvPr>
          <p:cNvGrpSpPr/>
          <p:nvPr/>
        </p:nvGrpSpPr>
        <p:grpSpPr>
          <a:xfrm>
            <a:off x="4337179" y="3363087"/>
            <a:ext cx="3463245" cy="3359921"/>
            <a:chOff x="5252086" y="-196169"/>
            <a:chExt cx="2708915" cy="2099702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46D8FEE-16E1-6ECD-9C27-3A1AE7BA9DFB}"/>
                </a:ext>
              </a:extLst>
            </p:cNvPr>
            <p:cNvSpPr/>
            <p:nvPr/>
          </p:nvSpPr>
          <p:spPr>
            <a:xfrm>
              <a:off x="5252086" y="582296"/>
              <a:ext cx="2708915" cy="1321237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SG" sz="12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Steps taken to achieve goal/target</a:t>
              </a:r>
              <a:endParaRPr lang="en-US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35E147EA-37E9-15EC-4959-1400C160470E}"/>
                </a:ext>
              </a:extLst>
            </p:cNvPr>
            <p:cNvSpPr/>
            <p:nvPr/>
          </p:nvSpPr>
          <p:spPr>
            <a:xfrm>
              <a:off x="5452745" y="-196169"/>
              <a:ext cx="2325377" cy="697885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SG" sz="14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Goal/Target:</a:t>
              </a:r>
            </a:p>
            <a:p>
              <a:r>
                <a:rPr lang="en-SG" sz="14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Date/Duration:</a:t>
              </a:r>
              <a:endParaRPr lang="en-US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FC6B523-4146-DC59-37C2-403E0866434A}"/>
              </a:ext>
            </a:extLst>
          </p:cNvPr>
          <p:cNvGrpSpPr/>
          <p:nvPr/>
        </p:nvGrpSpPr>
        <p:grpSpPr>
          <a:xfrm>
            <a:off x="8473579" y="3359636"/>
            <a:ext cx="3463245" cy="3363372"/>
            <a:chOff x="5284466" y="-600303"/>
            <a:chExt cx="3199765" cy="2891748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B16F2332-F974-E208-D928-3011D24011A6}"/>
                </a:ext>
              </a:extLst>
            </p:cNvPr>
            <p:cNvSpPr/>
            <p:nvPr/>
          </p:nvSpPr>
          <p:spPr>
            <a:xfrm>
              <a:off x="5284466" y="472085"/>
              <a:ext cx="3199765" cy="181936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SG" sz="1200" dirty="0">
                  <a:solidFill>
                    <a:schemeClr val="tx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Steps taken to achieve milestone</a:t>
              </a:r>
              <a:endParaRPr lang="en-US" sz="12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B15B3539-7B85-DE4F-D8F6-FE04EFD1A785}"/>
                </a:ext>
              </a:extLst>
            </p:cNvPr>
            <p:cNvSpPr/>
            <p:nvPr/>
          </p:nvSpPr>
          <p:spPr>
            <a:xfrm>
              <a:off x="5415910" y="-600303"/>
              <a:ext cx="2936877" cy="966088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SG" sz="14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Milestone:</a:t>
              </a:r>
            </a:p>
            <a:p>
              <a:r>
                <a:rPr lang="en-SG" sz="1400" dirty="0">
                  <a:solidFill>
                    <a:schemeClr val="bg1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Date/Duration:</a:t>
              </a:r>
              <a:endParaRPr lang="en-US" sz="1400" dirty="0">
                <a:solidFill>
                  <a:schemeClr val="bg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DB85DD56-CB03-5F27-EC11-169F7D8128B0}"/>
              </a:ext>
            </a:extLst>
          </p:cNvPr>
          <p:cNvGrpSpPr/>
          <p:nvPr/>
        </p:nvGrpSpPr>
        <p:grpSpPr>
          <a:xfrm>
            <a:off x="310845" y="3363088"/>
            <a:ext cx="3463245" cy="3405694"/>
            <a:chOff x="310845" y="3363088"/>
            <a:chExt cx="3463245" cy="3405694"/>
          </a:xfrm>
        </p:grpSpPr>
        <p:sp>
          <p:nvSpPr>
            <p:cNvPr id="5" name="Content Placeholder 2">
              <a:extLst>
                <a:ext uri="{FF2B5EF4-FFF2-40B4-BE49-F238E27FC236}">
                  <a16:creationId xmlns:a16="http://schemas.microsoft.com/office/drawing/2014/main" id="{BCA4C016-1B67-50A1-9B79-FD1A2D0033EF}"/>
                </a:ext>
              </a:extLst>
            </p:cNvPr>
            <p:cNvSpPr txBox="1">
              <a:spLocks/>
            </p:cNvSpPr>
            <p:nvPr/>
          </p:nvSpPr>
          <p:spPr>
            <a:xfrm>
              <a:off x="310845" y="4609835"/>
              <a:ext cx="3463245" cy="2158947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Font typeface="Arial" panose="020B0604020202020204" pitchFamily="34" charset="0"/>
                <a:buNone/>
              </a:pPr>
              <a:r>
                <a:rPr lang="en-SG" sz="1600" b="1" u="sng" dirty="0">
                  <a:solidFill>
                    <a:schemeClr val="tx1"/>
                  </a:solidFill>
                </a:rPr>
                <a:t>Objective for the year</a:t>
              </a:r>
            </a:p>
            <a:p>
              <a:r>
                <a:rPr lang="en-US" sz="1400" b="0" kern="1200" dirty="0">
                  <a:solidFill>
                    <a:schemeClr val="tx1"/>
                  </a:solidFill>
                </a:rPr>
                <a:t>[Provide a short write up to elaborate on the objective for the year]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6026B83B-66ED-2DD2-5409-46B0553415BA}"/>
                </a:ext>
              </a:extLst>
            </p:cNvPr>
            <p:cNvSpPr/>
            <p:nvPr/>
          </p:nvSpPr>
          <p:spPr>
            <a:xfrm>
              <a:off x="563176" y="3363088"/>
              <a:ext cx="2958581" cy="1116747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SG" sz="2200" b="1" u="sng" dirty="0">
                  <a:solidFill>
                    <a:schemeClr val="bg1"/>
                  </a:solidFill>
                </a:rPr>
                <a:t>Year 1 </a:t>
              </a:r>
            </a:p>
            <a:p>
              <a:pPr algn="ctr"/>
              <a:r>
                <a:rPr lang="en-SG" b="1" u="sng" dirty="0">
                  <a:solidFill>
                    <a:schemeClr val="bg1"/>
                  </a:solidFill>
                </a:rPr>
                <a:t>(Current Year X of Study at NTU)</a:t>
              </a:r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DBC15A6-6A2D-57E0-33E0-DA0D38D101C0}"/>
              </a:ext>
            </a:extLst>
          </p:cNvPr>
          <p:cNvGrpSpPr/>
          <p:nvPr/>
        </p:nvGrpSpPr>
        <p:grpSpPr>
          <a:xfrm>
            <a:off x="310847" y="89218"/>
            <a:ext cx="3463245" cy="3143870"/>
            <a:chOff x="356259" y="320031"/>
            <a:chExt cx="3463245" cy="3143870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01D95957-4ED4-3D2C-1FA8-A3A2B8190975}"/>
                </a:ext>
              </a:extLst>
            </p:cNvPr>
            <p:cNvSpPr/>
            <p:nvPr/>
          </p:nvSpPr>
          <p:spPr>
            <a:xfrm>
              <a:off x="608588" y="320031"/>
              <a:ext cx="2958581" cy="1088420"/>
            </a:xfrm>
            <a:prstGeom prst="roundRect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200" b="1" u="sng" dirty="0">
                  <a:ln w="9525">
                    <a:noFill/>
                    <a:prstDash val="solid"/>
                  </a:ln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rPr>
                <a:t>My 5-Year Career Roadmap</a:t>
              </a:r>
            </a:p>
          </p:txBody>
        </p:sp>
        <p:sp>
          <p:nvSpPr>
            <p:cNvPr id="16" name="Content Placeholder 2">
              <a:extLst>
                <a:ext uri="{FF2B5EF4-FFF2-40B4-BE49-F238E27FC236}">
                  <a16:creationId xmlns:a16="http://schemas.microsoft.com/office/drawing/2014/main" id="{3A5A51D2-45DD-28B6-0040-E2CA8B9D922E}"/>
                </a:ext>
              </a:extLst>
            </p:cNvPr>
            <p:cNvSpPr txBox="1">
              <a:spLocks/>
            </p:cNvSpPr>
            <p:nvPr/>
          </p:nvSpPr>
          <p:spPr>
            <a:xfrm>
              <a:off x="356259" y="1504440"/>
              <a:ext cx="3463245" cy="1959461"/>
            </a:xfrm>
            <a:prstGeom prst="rect">
              <a:avLst/>
            </a:prstGeom>
            <a:ln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vert="horz" lIns="91440" tIns="45720" rIns="91440" bIns="45720" rtlCol="0">
              <a:normAutofit/>
            </a:bodyPr>
            <a:lstStyle>
              <a:lvl1pPr marL="228600" indent="-228600" algn="l" defTabSz="914400" rtl="0" eaLnBrk="1" latinLnBrk="0" hangingPunct="1">
                <a:lnSpc>
                  <a:spcPct val="90000"/>
                </a:lnSpc>
                <a:spcBef>
                  <a:spcPts val="1000"/>
                </a:spcBef>
                <a:buFont typeface="Arial" panose="020B0604020202020204" pitchFamily="34" charset="0"/>
                <a:buChar char="•"/>
                <a:defRPr sz="2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685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4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143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20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600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20574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5146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9718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4290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886200" indent="-228600" algn="l" defTabSz="914400" rtl="0" eaLnBrk="1" latinLnBrk="0" hangingPunct="1">
                <a:lnSpc>
                  <a:spcPct val="90000"/>
                </a:lnSpc>
                <a:spcBef>
                  <a:spcPts val="500"/>
                </a:spcBef>
                <a:buFont typeface="Arial" panose="020B0604020202020204" pitchFamily="34" charset="0"/>
                <a:buChar char="•"/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indent="0">
                <a:buNone/>
              </a:pPr>
              <a:r>
                <a:rPr lang="en-SG" sz="1600" b="1" u="sng" dirty="0">
                  <a:solidFill>
                    <a:schemeClr val="tx1"/>
                  </a:solidFill>
                </a:rPr>
                <a:t>Career Goal(s)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US" sz="1400" b="0" kern="1200" dirty="0">
                  <a:solidFill>
                    <a:schemeClr val="tx1"/>
                  </a:solidFill>
                </a:rPr>
                <a:t>[Provide a short write up to elaborate on your career goal(s)].</a:t>
              </a:r>
              <a:endParaRPr lang="en-SG" sz="1400" b="0" u="sng" dirty="0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799842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913</TotalTime>
  <Words>895</Words>
  <Application>Microsoft Office PowerPoint</Application>
  <PresentationFormat>Widescreen</PresentationFormat>
  <Paragraphs>264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Chng Siew Hui Pamela</dc:creator>
  <cp:lastModifiedBy>Chng Siew Hui Pamela</cp:lastModifiedBy>
  <cp:revision>11</cp:revision>
  <dcterms:created xsi:type="dcterms:W3CDTF">2024-06-26T05:17:11Z</dcterms:created>
  <dcterms:modified xsi:type="dcterms:W3CDTF">2024-07-17T07:55:55Z</dcterms:modified>
</cp:coreProperties>
</file>