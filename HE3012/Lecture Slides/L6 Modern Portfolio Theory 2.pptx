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6.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7"/>
  </p:notesMasterIdLst>
  <p:sldIdLst>
    <p:sldId id="256" r:id="rId3"/>
    <p:sldId id="395" r:id="rId4"/>
    <p:sldId id="454" r:id="rId5"/>
    <p:sldId id="455" r:id="rId6"/>
    <p:sldId id="479" r:id="rId7"/>
    <p:sldId id="457" r:id="rId8"/>
    <p:sldId id="458" r:id="rId9"/>
    <p:sldId id="459" r:id="rId10"/>
    <p:sldId id="460" r:id="rId11"/>
    <p:sldId id="461" r:id="rId12"/>
    <p:sldId id="462" r:id="rId13"/>
    <p:sldId id="463" r:id="rId14"/>
    <p:sldId id="464" r:id="rId15"/>
    <p:sldId id="466" r:id="rId16"/>
    <p:sldId id="467" r:id="rId17"/>
    <p:sldId id="480" r:id="rId18"/>
    <p:sldId id="470" r:id="rId19"/>
    <p:sldId id="481" r:id="rId20"/>
    <p:sldId id="482" r:id="rId21"/>
    <p:sldId id="483" r:id="rId22"/>
    <p:sldId id="484" r:id="rId23"/>
    <p:sldId id="485" r:id="rId24"/>
    <p:sldId id="486" r:id="rId25"/>
    <p:sldId id="47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CC7E4"/>
    <a:srgbClr val="FF7E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4D2ED0-F41F-4056-87A9-E7DE2305FE00}" v="2" dt="2025-04-15T06:10:18.1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7"/>
    <p:restoredTop sz="92731"/>
  </p:normalViewPr>
  <p:slideViewPr>
    <p:cSldViewPr snapToGrid="0" snapToObjects="1">
      <p:cViewPr>
        <p:scale>
          <a:sx n="66" d="100"/>
          <a:sy n="66" d="100"/>
        </p:scale>
        <p:origin x="1301" y="6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H BO JUN, ISSAC (WU BOJUN)#" userId="ce8c5c95-f0eb-4abf-bc55-35adb6fccc0a" providerId="ADAL" clId="{DB617A24-9B6E-4873-A4B8-63CBEC32041F}"/>
    <pc:docChg chg="modSld">
      <pc:chgData name="#GOH BO JUN, ISSAC (WU BOJUN)#" userId="ce8c5c95-f0eb-4abf-bc55-35adb6fccc0a" providerId="ADAL" clId="{DB617A24-9B6E-4873-A4B8-63CBEC32041F}" dt="2025-03-09T03:02:10.720" v="10" actId="9405"/>
      <pc:docMkLst>
        <pc:docMk/>
      </pc:docMkLst>
      <pc:sldChg chg="addSp mod">
        <pc:chgData name="#GOH BO JUN, ISSAC (WU BOJUN)#" userId="ce8c5c95-f0eb-4abf-bc55-35adb6fccc0a" providerId="ADAL" clId="{DB617A24-9B6E-4873-A4B8-63CBEC32041F}" dt="2025-03-09T03:01:35.709" v="3" actId="9405"/>
        <pc:sldMkLst>
          <pc:docMk/>
          <pc:sldMk cId="260472429" sldId="457"/>
        </pc:sldMkLst>
        <pc:inkChg chg="add">
          <ac:chgData name="#GOH BO JUN, ISSAC (WU BOJUN)#" userId="ce8c5c95-f0eb-4abf-bc55-35adb6fccc0a" providerId="ADAL" clId="{DB617A24-9B6E-4873-A4B8-63CBEC32041F}" dt="2025-03-09T03:01:31.781" v="0" actId="9405"/>
          <ac:inkMkLst>
            <pc:docMk/>
            <pc:sldMk cId="260472429" sldId="457"/>
            <ac:inkMk id="2" creationId="{44D0A50C-DB5A-4943-6697-2A8963D1E27A}"/>
          </ac:inkMkLst>
        </pc:inkChg>
        <pc:inkChg chg="add">
          <ac:chgData name="#GOH BO JUN, ISSAC (WU BOJUN)#" userId="ce8c5c95-f0eb-4abf-bc55-35adb6fccc0a" providerId="ADAL" clId="{DB617A24-9B6E-4873-A4B8-63CBEC32041F}" dt="2025-03-09T03:01:32.846" v="1" actId="9405"/>
          <ac:inkMkLst>
            <pc:docMk/>
            <pc:sldMk cId="260472429" sldId="457"/>
            <ac:inkMk id="3" creationId="{21FBB98B-2FE3-C5DF-F771-4E0A16F00DA6}"/>
          </ac:inkMkLst>
        </pc:inkChg>
        <pc:inkChg chg="add">
          <ac:chgData name="#GOH BO JUN, ISSAC (WU BOJUN)#" userId="ce8c5c95-f0eb-4abf-bc55-35adb6fccc0a" providerId="ADAL" clId="{DB617A24-9B6E-4873-A4B8-63CBEC32041F}" dt="2025-03-09T03:01:34.665" v="2" actId="9405"/>
          <ac:inkMkLst>
            <pc:docMk/>
            <pc:sldMk cId="260472429" sldId="457"/>
            <ac:inkMk id="4" creationId="{04B6C38C-9A28-259C-D9E4-DD473770B67B}"/>
          </ac:inkMkLst>
        </pc:inkChg>
        <pc:inkChg chg="add">
          <ac:chgData name="#GOH BO JUN, ISSAC (WU BOJUN)#" userId="ce8c5c95-f0eb-4abf-bc55-35adb6fccc0a" providerId="ADAL" clId="{DB617A24-9B6E-4873-A4B8-63CBEC32041F}" dt="2025-03-09T03:01:35.709" v="3" actId="9405"/>
          <ac:inkMkLst>
            <pc:docMk/>
            <pc:sldMk cId="260472429" sldId="457"/>
            <ac:inkMk id="11" creationId="{A7EAB483-99ED-3DA8-5930-758638ED2BA7}"/>
          </ac:inkMkLst>
        </pc:inkChg>
      </pc:sldChg>
      <pc:sldChg chg="addSp modSp mod">
        <pc:chgData name="#GOH BO JUN, ISSAC (WU BOJUN)#" userId="ce8c5c95-f0eb-4abf-bc55-35adb6fccc0a" providerId="ADAL" clId="{DB617A24-9B6E-4873-A4B8-63CBEC32041F}" dt="2025-03-09T03:02:10.720" v="10" actId="9405"/>
        <pc:sldMkLst>
          <pc:docMk/>
          <pc:sldMk cId="2419447606" sldId="458"/>
        </pc:sldMkLst>
        <pc:grpChg chg="mod">
          <ac:chgData name="#GOH BO JUN, ISSAC (WU BOJUN)#" userId="ce8c5c95-f0eb-4abf-bc55-35adb6fccc0a" providerId="ADAL" clId="{DB617A24-9B6E-4873-A4B8-63CBEC32041F}" dt="2025-03-09T03:02:03.180" v="6"/>
          <ac:grpSpMkLst>
            <pc:docMk/>
            <pc:sldMk cId="2419447606" sldId="458"/>
            <ac:grpSpMk id="9" creationId="{89572273-159B-5A05-2444-C5FEF73B13E8}"/>
          </ac:grpSpMkLst>
        </pc:grpChg>
        <pc:inkChg chg="add mod">
          <ac:chgData name="#GOH BO JUN, ISSAC (WU BOJUN)#" userId="ce8c5c95-f0eb-4abf-bc55-35adb6fccc0a" providerId="ADAL" clId="{DB617A24-9B6E-4873-A4B8-63CBEC32041F}" dt="2025-03-09T03:02:03.180" v="6"/>
          <ac:inkMkLst>
            <pc:docMk/>
            <pc:sldMk cId="2419447606" sldId="458"/>
            <ac:inkMk id="5" creationId="{9645B3BF-5489-CBF8-46D0-00E3DE5BE250}"/>
          </ac:inkMkLst>
        </pc:inkChg>
        <pc:inkChg chg="add mod">
          <ac:chgData name="#GOH BO JUN, ISSAC (WU BOJUN)#" userId="ce8c5c95-f0eb-4abf-bc55-35adb6fccc0a" providerId="ADAL" clId="{DB617A24-9B6E-4873-A4B8-63CBEC32041F}" dt="2025-03-09T03:02:03.180" v="6"/>
          <ac:inkMkLst>
            <pc:docMk/>
            <pc:sldMk cId="2419447606" sldId="458"/>
            <ac:inkMk id="6" creationId="{BF356155-2A22-83C9-757F-043385FAB997}"/>
          </ac:inkMkLst>
        </pc:inkChg>
        <pc:inkChg chg="add">
          <ac:chgData name="#GOH BO JUN, ISSAC (WU BOJUN)#" userId="ce8c5c95-f0eb-4abf-bc55-35adb6fccc0a" providerId="ADAL" clId="{DB617A24-9B6E-4873-A4B8-63CBEC32041F}" dt="2025-03-09T03:02:04.178" v="7" actId="9405"/>
          <ac:inkMkLst>
            <pc:docMk/>
            <pc:sldMk cId="2419447606" sldId="458"/>
            <ac:inkMk id="10" creationId="{B0C2203D-1C05-AE57-1468-157601F52F8E}"/>
          </ac:inkMkLst>
        </pc:inkChg>
        <pc:inkChg chg="add">
          <ac:chgData name="#GOH BO JUN, ISSAC (WU BOJUN)#" userId="ce8c5c95-f0eb-4abf-bc55-35adb6fccc0a" providerId="ADAL" clId="{DB617A24-9B6E-4873-A4B8-63CBEC32041F}" dt="2025-03-09T03:02:04.602" v="8" actId="9405"/>
          <ac:inkMkLst>
            <pc:docMk/>
            <pc:sldMk cId="2419447606" sldId="458"/>
            <ac:inkMk id="11" creationId="{EABBCAAA-4EB0-45AF-96F4-EEFF6E5A67DF}"/>
          </ac:inkMkLst>
        </pc:inkChg>
        <pc:inkChg chg="add">
          <ac:chgData name="#GOH BO JUN, ISSAC (WU BOJUN)#" userId="ce8c5c95-f0eb-4abf-bc55-35adb6fccc0a" providerId="ADAL" clId="{DB617A24-9B6E-4873-A4B8-63CBEC32041F}" dt="2025-03-09T03:02:09.506" v="9" actId="9405"/>
          <ac:inkMkLst>
            <pc:docMk/>
            <pc:sldMk cId="2419447606" sldId="458"/>
            <ac:inkMk id="12" creationId="{3F47433D-AA9E-E58E-DE58-0797C6598188}"/>
          </ac:inkMkLst>
        </pc:inkChg>
        <pc:inkChg chg="add">
          <ac:chgData name="#GOH BO JUN, ISSAC (WU BOJUN)#" userId="ce8c5c95-f0eb-4abf-bc55-35adb6fccc0a" providerId="ADAL" clId="{DB617A24-9B6E-4873-A4B8-63CBEC32041F}" dt="2025-03-09T03:02:10.720" v="10" actId="9405"/>
          <ac:inkMkLst>
            <pc:docMk/>
            <pc:sldMk cId="2419447606" sldId="458"/>
            <ac:inkMk id="13" creationId="{82ED73E3-764F-DAE8-5A4C-5CD74065B0C4}"/>
          </ac:inkMkLst>
        </pc:inkChg>
      </pc:sldChg>
    </pc:docChg>
  </pc:docChgLst>
  <pc:docChgLst>
    <pc:chgData name="#JOHN TAN ZHU EN#" userId="9c038d62-e560-4ab3-ba62-0b2d27497b2c" providerId="ADAL" clId="{35F756DB-B64D-4C71-AE6C-1621F7F25598}"/>
    <pc:docChg chg="undo custSel addSld delSld modSld">
      <pc:chgData name="#JOHN TAN ZHU EN#" userId="9c038d62-e560-4ab3-ba62-0b2d27497b2c" providerId="ADAL" clId="{35F756DB-B64D-4C71-AE6C-1621F7F25598}" dt="2023-02-06T06:47:18.862" v="1301" actId="1076"/>
      <pc:docMkLst>
        <pc:docMk/>
      </pc:docMkLst>
      <pc:sldChg chg="modSp mod">
        <pc:chgData name="#JOHN TAN ZHU EN#" userId="9c038d62-e560-4ab3-ba62-0b2d27497b2c" providerId="ADAL" clId="{35F756DB-B64D-4C71-AE6C-1621F7F25598}" dt="2023-02-06T04:12:07.517" v="6" actId="20577"/>
        <pc:sldMkLst>
          <pc:docMk/>
          <pc:sldMk cId="0" sldId="256"/>
        </pc:sldMkLst>
      </pc:sldChg>
      <pc:sldChg chg="addSp delSp modSp add del mod">
        <pc:chgData name="#JOHN TAN ZHU EN#" userId="9c038d62-e560-4ab3-ba62-0b2d27497b2c" providerId="ADAL" clId="{35F756DB-B64D-4C71-AE6C-1621F7F25598}" dt="2023-02-06T06:45:29.973" v="1206" actId="47"/>
        <pc:sldMkLst>
          <pc:docMk/>
          <pc:sldMk cId="975112287" sldId="270"/>
        </pc:sldMkLst>
      </pc:sldChg>
      <pc:sldChg chg="add del">
        <pc:chgData name="#JOHN TAN ZHU EN#" userId="9c038d62-e560-4ab3-ba62-0b2d27497b2c" providerId="ADAL" clId="{35F756DB-B64D-4C71-AE6C-1621F7F25598}" dt="2023-02-06T06:35:47.443" v="986" actId="47"/>
        <pc:sldMkLst>
          <pc:docMk/>
          <pc:sldMk cId="1793074108" sldId="274"/>
        </pc:sldMkLst>
      </pc:sldChg>
      <pc:sldChg chg="addSp delSp modSp add del mod">
        <pc:chgData name="#JOHN TAN ZHU EN#" userId="9c038d62-e560-4ab3-ba62-0b2d27497b2c" providerId="ADAL" clId="{35F756DB-B64D-4C71-AE6C-1621F7F25598}" dt="2023-02-06T06:39:19.572" v="1064" actId="47"/>
        <pc:sldMkLst>
          <pc:docMk/>
          <pc:sldMk cId="2854497754" sldId="280"/>
        </pc:sldMkLst>
      </pc:sldChg>
      <pc:sldChg chg="addSp delSp modSp add del mod">
        <pc:chgData name="#JOHN TAN ZHU EN#" userId="9c038d62-e560-4ab3-ba62-0b2d27497b2c" providerId="ADAL" clId="{35F756DB-B64D-4C71-AE6C-1621F7F25598}" dt="2023-02-06T06:22:11.035" v="576" actId="47"/>
        <pc:sldMkLst>
          <pc:docMk/>
          <pc:sldMk cId="1418223732" sldId="296"/>
        </pc:sldMkLst>
      </pc:sldChg>
      <pc:sldChg chg="delSp modSp add del mod">
        <pc:chgData name="#JOHN TAN ZHU EN#" userId="9c038d62-e560-4ab3-ba62-0b2d27497b2c" providerId="ADAL" clId="{35F756DB-B64D-4C71-AE6C-1621F7F25598}" dt="2023-02-06T06:34:41.926" v="910" actId="47"/>
        <pc:sldMkLst>
          <pc:docMk/>
          <pc:sldMk cId="2775684421" sldId="297"/>
        </pc:sldMkLst>
      </pc:sldChg>
      <pc:sldChg chg="addSp delSp modSp mod">
        <pc:chgData name="#JOHN TAN ZHU EN#" userId="9c038d62-e560-4ab3-ba62-0b2d27497b2c" providerId="ADAL" clId="{35F756DB-B64D-4C71-AE6C-1621F7F25598}" dt="2023-02-06T04:14:21.241" v="27" actId="255"/>
        <pc:sldMkLst>
          <pc:docMk/>
          <pc:sldMk cId="723655709" sldId="395"/>
        </pc:sldMkLst>
      </pc:sldChg>
      <pc:sldChg chg="del">
        <pc:chgData name="#JOHN TAN ZHU EN#" userId="9c038d62-e560-4ab3-ba62-0b2d27497b2c" providerId="ADAL" clId="{35F756DB-B64D-4C71-AE6C-1621F7F25598}" dt="2023-02-06T04:38:56.979" v="267" actId="47"/>
        <pc:sldMkLst>
          <pc:docMk/>
          <pc:sldMk cId="921638460" sldId="437"/>
        </pc:sldMkLst>
      </pc:sldChg>
      <pc:sldChg chg="del">
        <pc:chgData name="#JOHN TAN ZHU EN#" userId="9c038d62-e560-4ab3-ba62-0b2d27497b2c" providerId="ADAL" clId="{35F756DB-B64D-4C71-AE6C-1621F7F25598}" dt="2023-02-06T04:38:57.473" v="268" actId="47"/>
        <pc:sldMkLst>
          <pc:docMk/>
          <pc:sldMk cId="1286511172" sldId="438"/>
        </pc:sldMkLst>
      </pc:sldChg>
      <pc:sldChg chg="del">
        <pc:chgData name="#JOHN TAN ZHU EN#" userId="9c038d62-e560-4ab3-ba62-0b2d27497b2c" providerId="ADAL" clId="{35F756DB-B64D-4C71-AE6C-1621F7F25598}" dt="2023-02-06T04:38:57.510" v="269" actId="47"/>
        <pc:sldMkLst>
          <pc:docMk/>
          <pc:sldMk cId="974091328" sldId="439"/>
        </pc:sldMkLst>
      </pc:sldChg>
      <pc:sldChg chg="del">
        <pc:chgData name="#JOHN TAN ZHU EN#" userId="9c038d62-e560-4ab3-ba62-0b2d27497b2c" providerId="ADAL" clId="{35F756DB-B64D-4C71-AE6C-1621F7F25598}" dt="2023-02-06T04:38:57.564" v="270" actId="47"/>
        <pc:sldMkLst>
          <pc:docMk/>
          <pc:sldMk cId="37964738" sldId="440"/>
        </pc:sldMkLst>
      </pc:sldChg>
      <pc:sldChg chg="del">
        <pc:chgData name="#JOHN TAN ZHU EN#" userId="9c038d62-e560-4ab3-ba62-0b2d27497b2c" providerId="ADAL" clId="{35F756DB-B64D-4C71-AE6C-1621F7F25598}" dt="2023-02-06T04:38:57.609" v="271" actId="47"/>
        <pc:sldMkLst>
          <pc:docMk/>
          <pc:sldMk cId="4092687721" sldId="441"/>
        </pc:sldMkLst>
      </pc:sldChg>
      <pc:sldChg chg="del">
        <pc:chgData name="#JOHN TAN ZHU EN#" userId="9c038d62-e560-4ab3-ba62-0b2d27497b2c" providerId="ADAL" clId="{35F756DB-B64D-4C71-AE6C-1621F7F25598}" dt="2023-02-06T04:38:57.655" v="272" actId="47"/>
        <pc:sldMkLst>
          <pc:docMk/>
          <pc:sldMk cId="2091373070" sldId="442"/>
        </pc:sldMkLst>
      </pc:sldChg>
      <pc:sldChg chg="del">
        <pc:chgData name="#JOHN TAN ZHU EN#" userId="9c038d62-e560-4ab3-ba62-0b2d27497b2c" providerId="ADAL" clId="{35F756DB-B64D-4C71-AE6C-1621F7F25598}" dt="2023-02-06T04:38:57.671" v="273" actId="47"/>
        <pc:sldMkLst>
          <pc:docMk/>
          <pc:sldMk cId="347285931" sldId="443"/>
        </pc:sldMkLst>
      </pc:sldChg>
      <pc:sldChg chg="del">
        <pc:chgData name="#JOHN TAN ZHU EN#" userId="9c038d62-e560-4ab3-ba62-0b2d27497b2c" providerId="ADAL" clId="{35F756DB-B64D-4C71-AE6C-1621F7F25598}" dt="2023-02-06T04:38:57.685" v="274" actId="47"/>
        <pc:sldMkLst>
          <pc:docMk/>
          <pc:sldMk cId="4212888094" sldId="444"/>
        </pc:sldMkLst>
      </pc:sldChg>
      <pc:sldChg chg="del">
        <pc:chgData name="#JOHN TAN ZHU EN#" userId="9c038d62-e560-4ab3-ba62-0b2d27497b2c" providerId="ADAL" clId="{35F756DB-B64D-4C71-AE6C-1621F7F25598}" dt="2023-02-06T04:38:57.711" v="275" actId="47"/>
        <pc:sldMkLst>
          <pc:docMk/>
          <pc:sldMk cId="3315885274" sldId="445"/>
        </pc:sldMkLst>
      </pc:sldChg>
      <pc:sldChg chg="del">
        <pc:chgData name="#JOHN TAN ZHU EN#" userId="9c038d62-e560-4ab3-ba62-0b2d27497b2c" providerId="ADAL" clId="{35F756DB-B64D-4C71-AE6C-1621F7F25598}" dt="2023-02-06T04:38:57.746" v="276" actId="47"/>
        <pc:sldMkLst>
          <pc:docMk/>
          <pc:sldMk cId="4028851198" sldId="446"/>
        </pc:sldMkLst>
      </pc:sldChg>
      <pc:sldChg chg="del">
        <pc:chgData name="#JOHN TAN ZHU EN#" userId="9c038d62-e560-4ab3-ba62-0b2d27497b2c" providerId="ADAL" clId="{35F756DB-B64D-4C71-AE6C-1621F7F25598}" dt="2023-02-06T04:38:57.781" v="277" actId="47"/>
        <pc:sldMkLst>
          <pc:docMk/>
          <pc:sldMk cId="3094326729" sldId="447"/>
        </pc:sldMkLst>
      </pc:sldChg>
      <pc:sldChg chg="del">
        <pc:chgData name="#JOHN TAN ZHU EN#" userId="9c038d62-e560-4ab3-ba62-0b2d27497b2c" providerId="ADAL" clId="{35F756DB-B64D-4C71-AE6C-1621F7F25598}" dt="2023-02-06T04:38:57.811" v="278" actId="47"/>
        <pc:sldMkLst>
          <pc:docMk/>
          <pc:sldMk cId="3460283768" sldId="448"/>
        </pc:sldMkLst>
      </pc:sldChg>
      <pc:sldChg chg="del">
        <pc:chgData name="#JOHN TAN ZHU EN#" userId="9c038d62-e560-4ab3-ba62-0b2d27497b2c" providerId="ADAL" clId="{35F756DB-B64D-4C71-AE6C-1621F7F25598}" dt="2023-02-06T04:38:57.847" v="279" actId="47"/>
        <pc:sldMkLst>
          <pc:docMk/>
          <pc:sldMk cId="3568854406" sldId="449"/>
        </pc:sldMkLst>
      </pc:sldChg>
      <pc:sldChg chg="del">
        <pc:chgData name="#JOHN TAN ZHU EN#" userId="9c038d62-e560-4ab3-ba62-0b2d27497b2c" providerId="ADAL" clId="{35F756DB-B64D-4C71-AE6C-1621F7F25598}" dt="2023-02-06T04:38:57.894" v="280" actId="47"/>
        <pc:sldMkLst>
          <pc:docMk/>
          <pc:sldMk cId="294658869" sldId="450"/>
        </pc:sldMkLst>
      </pc:sldChg>
      <pc:sldChg chg="del">
        <pc:chgData name="#JOHN TAN ZHU EN#" userId="9c038d62-e560-4ab3-ba62-0b2d27497b2c" providerId="ADAL" clId="{35F756DB-B64D-4C71-AE6C-1621F7F25598}" dt="2023-02-06T04:38:57.921" v="281" actId="47"/>
        <pc:sldMkLst>
          <pc:docMk/>
          <pc:sldMk cId="2351446934" sldId="451"/>
        </pc:sldMkLst>
      </pc:sldChg>
      <pc:sldChg chg="add del">
        <pc:chgData name="#JOHN TAN ZHU EN#" userId="9c038d62-e560-4ab3-ba62-0b2d27497b2c" providerId="ADAL" clId="{35F756DB-B64D-4C71-AE6C-1621F7F25598}" dt="2023-02-06T04:39:06.677" v="292" actId="47"/>
        <pc:sldMkLst>
          <pc:docMk/>
          <pc:sldMk cId="3228794130" sldId="452"/>
        </pc:sldMkLst>
      </pc:sldChg>
      <pc:sldChg chg="modSp add mod">
        <pc:chgData name="#JOHN TAN ZHU EN#" userId="9c038d62-e560-4ab3-ba62-0b2d27497b2c" providerId="ADAL" clId="{35F756DB-B64D-4C71-AE6C-1621F7F25598}" dt="2023-02-06T04:15:45.172" v="44" actId="255"/>
        <pc:sldMkLst>
          <pc:docMk/>
          <pc:sldMk cId="1132291480" sldId="453"/>
        </pc:sldMkLst>
      </pc:sldChg>
      <pc:sldChg chg="addSp modSp add mod modAnim modNotesTx">
        <pc:chgData name="#JOHN TAN ZHU EN#" userId="9c038d62-e560-4ab3-ba62-0b2d27497b2c" providerId="ADAL" clId="{35F756DB-B64D-4C71-AE6C-1621F7F25598}" dt="2023-02-06T04:21:48.132" v="134" actId="1076"/>
        <pc:sldMkLst>
          <pc:docMk/>
          <pc:sldMk cId="3549118353" sldId="454"/>
        </pc:sldMkLst>
      </pc:sldChg>
      <pc:sldChg chg="addSp delSp modSp add mod delAnim modNotesTx">
        <pc:chgData name="#JOHN TAN ZHU EN#" userId="9c038d62-e560-4ab3-ba62-0b2d27497b2c" providerId="ADAL" clId="{35F756DB-B64D-4C71-AE6C-1621F7F25598}" dt="2023-02-06T04:24:03.207" v="154" actId="1076"/>
        <pc:sldMkLst>
          <pc:docMk/>
          <pc:sldMk cId="1035168378" sldId="455"/>
        </pc:sldMkLst>
      </pc:sldChg>
      <pc:sldChg chg="addSp delSp modSp add del mod">
        <pc:chgData name="#JOHN TAN ZHU EN#" userId="9c038d62-e560-4ab3-ba62-0b2d27497b2c" providerId="ADAL" clId="{35F756DB-B64D-4C71-AE6C-1621F7F25598}" dt="2023-02-06T04:38:59.229" v="287" actId="47"/>
        <pc:sldMkLst>
          <pc:docMk/>
          <pc:sldMk cId="3549849856" sldId="456"/>
        </pc:sldMkLst>
      </pc:sldChg>
      <pc:sldChg chg="addSp delSp modSp add del mod modNotesTx">
        <pc:chgData name="#JOHN TAN ZHU EN#" userId="9c038d62-e560-4ab3-ba62-0b2d27497b2c" providerId="ADAL" clId="{35F756DB-B64D-4C71-AE6C-1621F7F25598}" dt="2023-02-06T04:38:59.418" v="288" actId="47"/>
        <pc:sldMkLst>
          <pc:docMk/>
          <pc:sldMk cId="260472429" sldId="457"/>
        </pc:sldMkLst>
      </pc:sldChg>
      <pc:sldChg chg="addSp delSp modSp add del mod modNotesTx">
        <pc:chgData name="#JOHN TAN ZHU EN#" userId="9c038d62-e560-4ab3-ba62-0b2d27497b2c" providerId="ADAL" clId="{35F756DB-B64D-4C71-AE6C-1621F7F25598}" dt="2023-02-06T04:38:59.592" v="289" actId="47"/>
        <pc:sldMkLst>
          <pc:docMk/>
          <pc:sldMk cId="2419447606" sldId="458"/>
        </pc:sldMkLst>
      </pc:sldChg>
      <pc:sldChg chg="addSp delSp modSp add del mod modAnim">
        <pc:chgData name="#JOHN TAN ZHU EN#" userId="9c038d62-e560-4ab3-ba62-0b2d27497b2c" providerId="ADAL" clId="{35F756DB-B64D-4C71-AE6C-1621F7F25598}" dt="2023-02-06T04:43:04.805" v="371" actId="403"/>
        <pc:sldMkLst>
          <pc:docMk/>
          <pc:sldMk cId="3562934519" sldId="459"/>
        </pc:sldMkLst>
      </pc:sldChg>
      <pc:sldChg chg="addSp delSp modSp add mod delAnim">
        <pc:chgData name="#JOHN TAN ZHU EN#" userId="9c038d62-e560-4ab3-ba62-0b2d27497b2c" providerId="ADAL" clId="{35F756DB-B64D-4C71-AE6C-1621F7F25598}" dt="2023-02-06T06:19:20.475" v="517" actId="404"/>
        <pc:sldMkLst>
          <pc:docMk/>
          <pc:sldMk cId="3719165443" sldId="460"/>
        </pc:sldMkLst>
      </pc:sldChg>
      <pc:sldChg chg="addSp delSp modSp add mod modAnim">
        <pc:chgData name="#JOHN TAN ZHU EN#" userId="9c038d62-e560-4ab3-ba62-0b2d27497b2c" providerId="ADAL" clId="{35F756DB-B64D-4C71-AE6C-1621F7F25598}" dt="2023-02-06T06:22:49.922" v="583" actId="1076"/>
        <pc:sldMkLst>
          <pc:docMk/>
          <pc:sldMk cId="605868267" sldId="461"/>
        </pc:sldMkLst>
      </pc:sldChg>
      <pc:sldChg chg="addSp delSp modSp add mod delAnim modNotesTx">
        <pc:chgData name="#JOHN TAN ZHU EN#" userId="9c038d62-e560-4ab3-ba62-0b2d27497b2c" providerId="ADAL" clId="{35F756DB-B64D-4C71-AE6C-1621F7F25598}" dt="2023-02-06T06:24:47.064" v="641" actId="1036"/>
        <pc:sldMkLst>
          <pc:docMk/>
          <pc:sldMk cId="40173595" sldId="462"/>
        </pc:sldMkLst>
      </pc:sldChg>
      <pc:sldChg chg="addSp delSp modSp add mod modAnim modNotesTx">
        <pc:chgData name="#JOHN TAN ZHU EN#" userId="9c038d62-e560-4ab3-ba62-0b2d27497b2c" providerId="ADAL" clId="{35F756DB-B64D-4C71-AE6C-1621F7F25598}" dt="2023-02-06T06:26:59.061" v="669" actId="14100"/>
        <pc:sldMkLst>
          <pc:docMk/>
          <pc:sldMk cId="1323907706" sldId="463"/>
        </pc:sldMkLst>
      </pc:sldChg>
      <pc:sldChg chg="addSp delSp modSp add mod delAnim">
        <pc:chgData name="#JOHN TAN ZHU EN#" userId="9c038d62-e560-4ab3-ba62-0b2d27497b2c" providerId="ADAL" clId="{35F756DB-B64D-4C71-AE6C-1621F7F25598}" dt="2023-02-06T06:28:26.548" v="696" actId="14100"/>
        <pc:sldMkLst>
          <pc:docMk/>
          <pc:sldMk cId="2291558496" sldId="464"/>
        </pc:sldMkLst>
      </pc:sldChg>
      <pc:sldChg chg="addSp delSp modSp add mod modAnim">
        <pc:chgData name="#JOHN TAN ZHU EN#" userId="9c038d62-e560-4ab3-ba62-0b2d27497b2c" providerId="ADAL" clId="{35F756DB-B64D-4C71-AE6C-1621F7F25598}" dt="2023-02-06T06:29:58.242" v="723" actId="14100"/>
        <pc:sldMkLst>
          <pc:docMk/>
          <pc:sldMk cId="2182191660" sldId="465"/>
        </pc:sldMkLst>
      </pc:sldChg>
      <pc:sldChg chg="addSp delSp modSp add mod delAnim">
        <pc:chgData name="#JOHN TAN ZHU EN#" userId="9c038d62-e560-4ab3-ba62-0b2d27497b2c" providerId="ADAL" clId="{35F756DB-B64D-4C71-AE6C-1621F7F25598}" dt="2023-02-06T06:31:43.037" v="744" actId="14100"/>
        <pc:sldMkLst>
          <pc:docMk/>
          <pc:sldMk cId="2418094241" sldId="466"/>
        </pc:sldMkLst>
      </pc:sldChg>
      <pc:sldChg chg="delSp modSp add mod">
        <pc:chgData name="#JOHN TAN ZHU EN#" userId="9c038d62-e560-4ab3-ba62-0b2d27497b2c" providerId="ADAL" clId="{35F756DB-B64D-4C71-AE6C-1621F7F25598}" dt="2023-02-06T06:33:21.228" v="820" actId="14100"/>
        <pc:sldMkLst>
          <pc:docMk/>
          <pc:sldMk cId="1832509323" sldId="467"/>
        </pc:sldMkLst>
      </pc:sldChg>
      <pc:sldChg chg="addSp modSp add mod modAnim">
        <pc:chgData name="#JOHN TAN ZHU EN#" userId="9c038d62-e560-4ab3-ba62-0b2d27497b2c" providerId="ADAL" clId="{35F756DB-B64D-4C71-AE6C-1621F7F25598}" dt="2023-02-06T06:34:37.427" v="909" actId="1038"/>
        <pc:sldMkLst>
          <pc:docMk/>
          <pc:sldMk cId="1642310298" sldId="468"/>
        </pc:sldMkLst>
      </pc:sldChg>
      <pc:sldChg chg="add del">
        <pc:chgData name="#JOHN TAN ZHU EN#" userId="9c038d62-e560-4ab3-ba62-0b2d27497b2c" providerId="ADAL" clId="{35F756DB-B64D-4C71-AE6C-1621F7F25598}" dt="2023-02-06T06:33:41.225" v="823" actId="2890"/>
        <pc:sldMkLst>
          <pc:docMk/>
          <pc:sldMk cId="136388419" sldId="469"/>
        </pc:sldMkLst>
      </pc:sldChg>
      <pc:sldChg chg="addSp delSp modSp add mod delAnim">
        <pc:chgData name="#JOHN TAN ZHU EN#" userId="9c038d62-e560-4ab3-ba62-0b2d27497b2c" providerId="ADAL" clId="{35F756DB-B64D-4C71-AE6C-1621F7F25598}" dt="2023-02-06T06:35:43.661" v="985" actId="1037"/>
        <pc:sldMkLst>
          <pc:docMk/>
          <pc:sldMk cId="3659002911" sldId="469"/>
        </pc:sldMkLst>
      </pc:sldChg>
      <pc:sldChg chg="addSp delSp modSp add mod modNotesTx">
        <pc:chgData name="#JOHN TAN ZHU EN#" userId="9c038d62-e560-4ab3-ba62-0b2d27497b2c" providerId="ADAL" clId="{35F756DB-B64D-4C71-AE6C-1621F7F25598}" dt="2023-02-06T06:37:09.586" v="1007"/>
        <pc:sldMkLst>
          <pc:docMk/>
          <pc:sldMk cId="915514716" sldId="470"/>
        </pc:sldMkLst>
      </pc:sldChg>
      <pc:sldChg chg="add del">
        <pc:chgData name="#JOHN TAN ZHU EN#" userId="9c038d62-e560-4ab3-ba62-0b2d27497b2c" providerId="ADAL" clId="{35F756DB-B64D-4C71-AE6C-1621F7F25598}" dt="2023-02-06T06:35:21.320" v="954" actId="47"/>
        <pc:sldMkLst>
          <pc:docMk/>
          <pc:sldMk cId="1480780716" sldId="470"/>
        </pc:sldMkLst>
      </pc:sldChg>
      <pc:sldChg chg="addSp delSp modSp add mod modAnim">
        <pc:chgData name="#JOHN TAN ZHU EN#" userId="9c038d62-e560-4ab3-ba62-0b2d27497b2c" providerId="ADAL" clId="{35F756DB-B64D-4C71-AE6C-1621F7F25598}" dt="2023-02-06T06:37:50.888" v="1025" actId="1076"/>
        <pc:sldMkLst>
          <pc:docMk/>
          <pc:sldMk cId="576469541" sldId="471"/>
        </pc:sldMkLst>
      </pc:sldChg>
      <pc:sldChg chg="addSp delSp modSp add mod delAnim">
        <pc:chgData name="#JOHN TAN ZHU EN#" userId="9c038d62-e560-4ab3-ba62-0b2d27497b2c" providerId="ADAL" clId="{35F756DB-B64D-4C71-AE6C-1621F7F25598}" dt="2023-02-06T06:39:16.874" v="1063" actId="1037"/>
        <pc:sldMkLst>
          <pc:docMk/>
          <pc:sldMk cId="3156108839" sldId="472"/>
        </pc:sldMkLst>
      </pc:sldChg>
      <pc:sldChg chg="addSp delSp modSp add mod modAnim">
        <pc:chgData name="#JOHN TAN ZHU EN#" userId="9c038d62-e560-4ab3-ba62-0b2d27497b2c" providerId="ADAL" clId="{35F756DB-B64D-4C71-AE6C-1621F7F25598}" dt="2023-02-06T06:40:19.814" v="1083" actId="1076"/>
        <pc:sldMkLst>
          <pc:docMk/>
          <pc:sldMk cId="3764942815" sldId="473"/>
        </pc:sldMkLst>
      </pc:sldChg>
      <pc:sldChg chg="addSp delSp modSp add mod delAnim modNotesTx">
        <pc:chgData name="#JOHN TAN ZHU EN#" userId="9c038d62-e560-4ab3-ba62-0b2d27497b2c" providerId="ADAL" clId="{35F756DB-B64D-4C71-AE6C-1621F7F25598}" dt="2023-02-06T06:42:35.171" v="1117" actId="1076"/>
        <pc:sldMkLst>
          <pc:docMk/>
          <pc:sldMk cId="3008369096" sldId="474"/>
        </pc:sldMkLst>
      </pc:sldChg>
      <pc:sldChg chg="addSp delSp modSp add mod modNotesTx">
        <pc:chgData name="#JOHN TAN ZHU EN#" userId="9c038d62-e560-4ab3-ba62-0b2d27497b2c" providerId="ADAL" clId="{35F756DB-B64D-4C71-AE6C-1621F7F25598}" dt="2023-02-06T06:43:34.055" v="1134" actId="255"/>
        <pc:sldMkLst>
          <pc:docMk/>
          <pc:sldMk cId="3883269582" sldId="475"/>
        </pc:sldMkLst>
      </pc:sldChg>
      <pc:sldChg chg="addSp delSp modSp add mod">
        <pc:chgData name="#JOHN TAN ZHU EN#" userId="9c038d62-e560-4ab3-ba62-0b2d27497b2c" providerId="ADAL" clId="{35F756DB-B64D-4C71-AE6C-1621F7F25598}" dt="2023-02-06T06:45:27.889" v="1205" actId="1036"/>
        <pc:sldMkLst>
          <pc:docMk/>
          <pc:sldMk cId="3159311806" sldId="476"/>
        </pc:sldMkLst>
      </pc:sldChg>
      <pc:sldChg chg="delSp modSp add mod">
        <pc:chgData name="#JOHN TAN ZHU EN#" userId="9c038d62-e560-4ab3-ba62-0b2d27497b2c" providerId="ADAL" clId="{35F756DB-B64D-4C71-AE6C-1621F7F25598}" dt="2023-02-06T06:46:23.627" v="1258" actId="20577"/>
        <pc:sldMkLst>
          <pc:docMk/>
          <pc:sldMk cId="3359122392" sldId="477"/>
        </pc:sldMkLst>
      </pc:sldChg>
      <pc:sldChg chg="modSp add mod">
        <pc:chgData name="#JOHN TAN ZHU EN#" userId="9c038d62-e560-4ab3-ba62-0b2d27497b2c" providerId="ADAL" clId="{35F756DB-B64D-4C71-AE6C-1621F7F25598}" dt="2023-02-06T06:47:18.862" v="1301" actId="1076"/>
        <pc:sldMkLst>
          <pc:docMk/>
          <pc:sldMk cId="2819721248" sldId="478"/>
        </pc:sldMkLst>
      </pc:sldChg>
    </pc:docChg>
  </pc:docChgLst>
  <pc:docChgLst>
    <pc:chgData name="#GOH BO JUN, ISSAC (WU BOJUN)#" userId="ce8c5c95-f0eb-4abf-bc55-35adb6fccc0a" providerId="ADAL" clId="{C64D2ED0-F41F-4056-87A9-E7DE2305FE00}"/>
    <pc:docChg chg="undo custSel modSld">
      <pc:chgData name="#GOH BO JUN, ISSAC (WU BOJUN)#" userId="ce8c5c95-f0eb-4abf-bc55-35adb6fccc0a" providerId="ADAL" clId="{C64D2ED0-F41F-4056-87A9-E7DE2305FE00}" dt="2025-04-15T06:10:21.325" v="7" actId="9405"/>
      <pc:docMkLst>
        <pc:docMk/>
      </pc:docMkLst>
      <pc:sldChg chg="addSp delSp modSp mod">
        <pc:chgData name="#GOH BO JUN, ISSAC (WU BOJUN)#" userId="ce8c5c95-f0eb-4abf-bc55-35adb6fccc0a" providerId="ADAL" clId="{C64D2ED0-F41F-4056-87A9-E7DE2305FE00}" dt="2025-04-15T06:10:21.325" v="7" actId="9405"/>
        <pc:sldMkLst>
          <pc:docMk/>
          <pc:sldMk cId="1832509323" sldId="467"/>
        </pc:sldMkLst>
        <pc:grpChg chg="del mod">
          <ac:chgData name="#GOH BO JUN, ISSAC (WU BOJUN)#" userId="ce8c5c95-f0eb-4abf-bc55-35adb6fccc0a" providerId="ADAL" clId="{C64D2ED0-F41F-4056-87A9-E7DE2305FE00}" dt="2025-04-15T06:10:18.102" v="5"/>
          <ac:grpSpMkLst>
            <pc:docMk/>
            <pc:sldMk cId="1832509323" sldId="467"/>
            <ac:grpSpMk id="21" creationId="{EFB30C52-0AB3-CE31-36DC-946118394E32}"/>
          </ac:grpSpMkLst>
        </pc:grpChg>
        <pc:grpChg chg="mod">
          <ac:chgData name="#GOH BO JUN, ISSAC (WU BOJUN)#" userId="ce8c5c95-f0eb-4abf-bc55-35adb6fccc0a" providerId="ADAL" clId="{C64D2ED0-F41F-4056-87A9-E7DE2305FE00}" dt="2025-04-15T06:10:18.102" v="5"/>
          <ac:grpSpMkLst>
            <pc:docMk/>
            <pc:sldMk cId="1832509323" sldId="467"/>
            <ac:grpSpMk id="24" creationId="{1A4BE136-CA92-56B7-6124-1D157BAF8F3F}"/>
          </ac:grpSpMkLst>
        </pc:grpChg>
        <pc:inkChg chg="add mod">
          <ac:chgData name="#GOH BO JUN, ISSAC (WU BOJUN)#" userId="ce8c5c95-f0eb-4abf-bc55-35adb6fccc0a" providerId="ADAL" clId="{C64D2ED0-F41F-4056-87A9-E7DE2305FE00}" dt="2025-04-15T06:10:18.102" v="5"/>
          <ac:inkMkLst>
            <pc:docMk/>
            <pc:sldMk cId="1832509323" sldId="467"/>
            <ac:inkMk id="19" creationId="{E00C455D-F953-0355-8652-BD910CC42202}"/>
          </ac:inkMkLst>
        </pc:inkChg>
        <pc:inkChg chg="add mod">
          <ac:chgData name="#GOH BO JUN, ISSAC (WU BOJUN)#" userId="ce8c5c95-f0eb-4abf-bc55-35adb6fccc0a" providerId="ADAL" clId="{C64D2ED0-F41F-4056-87A9-E7DE2305FE00}" dt="2025-04-15T06:10:18.102" v="5"/>
          <ac:inkMkLst>
            <pc:docMk/>
            <pc:sldMk cId="1832509323" sldId="467"/>
            <ac:inkMk id="20" creationId="{D63AAFA9-51ED-6D23-3456-B5132F2963CC}"/>
          </ac:inkMkLst>
        </pc:inkChg>
        <pc:inkChg chg="add mod">
          <ac:chgData name="#GOH BO JUN, ISSAC (WU BOJUN)#" userId="ce8c5c95-f0eb-4abf-bc55-35adb6fccc0a" providerId="ADAL" clId="{C64D2ED0-F41F-4056-87A9-E7DE2305FE00}" dt="2025-04-15T06:10:18.102" v="5"/>
          <ac:inkMkLst>
            <pc:docMk/>
            <pc:sldMk cId="1832509323" sldId="467"/>
            <ac:inkMk id="22" creationId="{7F154419-4BDF-8F58-9860-16C8465D2CFB}"/>
          </ac:inkMkLst>
        </pc:inkChg>
        <pc:inkChg chg="add mod">
          <ac:chgData name="#GOH BO JUN, ISSAC (WU BOJUN)#" userId="ce8c5c95-f0eb-4abf-bc55-35adb6fccc0a" providerId="ADAL" clId="{C64D2ED0-F41F-4056-87A9-E7DE2305FE00}" dt="2025-04-15T06:10:18.102" v="5"/>
          <ac:inkMkLst>
            <pc:docMk/>
            <pc:sldMk cId="1832509323" sldId="467"/>
            <ac:inkMk id="23" creationId="{D0893A26-38BE-D009-89EE-DC9EF3750318}"/>
          </ac:inkMkLst>
        </pc:inkChg>
        <pc:inkChg chg="add del">
          <ac:chgData name="#GOH BO JUN, ISSAC (WU BOJUN)#" userId="ce8c5c95-f0eb-4abf-bc55-35adb6fccc0a" providerId="ADAL" clId="{C64D2ED0-F41F-4056-87A9-E7DE2305FE00}" dt="2025-04-15T06:10:21.325" v="7" actId="9405"/>
          <ac:inkMkLst>
            <pc:docMk/>
            <pc:sldMk cId="1832509323" sldId="467"/>
            <ac:inkMk id="25" creationId="{754E9E01-1396-2B5E-9B90-B7CFFF9658C3}"/>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9T03:01:31.725"/>
    </inkml:context>
    <inkml:brush xml:id="br0">
      <inkml:brushProperty name="width" value="0.035" units="cm"/>
      <inkml:brushProperty name="height" value="0.035" units="cm"/>
    </inkml:brush>
  </inkml:definitions>
  <inkml:trace contextRef="#ctx0" brushRef="#br0">282 111 220,'64'-27'4763,"-39"17"-2874,4 0 7743,-26 10-7852,1-1 1,-1 1-1,0 0 1,1 0-1,-1 0 0,1 0 1,-1 1-1,4 0 1,-1 0-1546,-11-4-176,-12-2-118,-50 0 59,-18-14 0,75 17 0,0 0 0,0 0 0,0-1 0,-11-5 0,14 5 0,-1 0 0,0 0 0,0 1 0,0 0 0,0 1 0,-12-1 0,15 1 0,0 1 0,0 0 0,0 1 0,0-1 0,0 1 0,0 0 0,0 0 0,-5 3 0,7-3 0,1 1 0,-1 0 0,0 0 0,1 0 0,0 0 0,0 1 0,-1-1 0,1 1 0,1-1 0,-1 1 0,0 0 0,1-1 0,-1 1 0,-1 4 0,1-2 0,1 1 0,-1 0 0,1-1 0,-1 1 0,2 0 0,-1 0 0,1-1 0,0 11 0,8 52 0,-1-18 0,-7-43 0,8 68 0,-7-69 0,1 1 0,-1-1 0,1 0 0,0 0 0,1 0 0,0 0 0,0 0 0,0 0 0,5 6 0,-6-11 0,-1 0 0,0 0 0,1 0 0,-1 0 0,1 0 0,-1 0 0,1 0 0,0 0 0,-1-1 0,1 1 0,0-1 0,0 1 0,-1-1 0,1 0 0,0 0 0,0 0 0,-1 0 0,4 0 0,40-6 0,-6 1 0,-33 6 0,0 0 0,0 0 0,0 0 0,0 0 0,-1 1 0,1 0 0,-1 0 0,1 1 0,-1 0 0,0-1 0,0 2 0,0-1 0,8 8 0,-6-5 0,-1 1 0,0 0 0,-1 1 0,1-1 0,-1 1 0,-1 0 0,0 0 0,5 12 0,-3-3 0,-1 1 0,-1 0 0,0 0 0,-1 0 0,-1 0 0,-1 0 0,-1 1 0,-2 28 0,2-43 0,-1 1 0,0 0 0,0-1 0,0 1 0,0-1 0,-1 1 0,0-1 0,0 0 0,0 0 0,0 0 0,-1 0 0,0 0 0,1 0 0,-1-1 0,-1 1 0,1-1 0,0 0 0,-6 4 0,4-4 0,1-1 0,-1 1 0,0-1 0,0 0 0,0-1 0,-1 1 0,1-1 0,0 0 0,-1 0 0,1-1 0,-1 0 0,1 0 0,0 0 0,-1 0 0,-7-2 0,-90-22 389,-20-2-2369,114 25 410,6 0-524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9T03:01:32.841"/>
    </inkml:context>
    <inkml:brush xml:id="br0">
      <inkml:brushProperty name="width" value="0.035" units="cm"/>
      <inkml:brushProperty name="height" value="0.035" units="cm"/>
    </inkml:brush>
  </inkml:definitions>
  <inkml:trace contextRef="#ctx0" brushRef="#br0">491 31 780,'8'-27'31209,"-13"29"-31132,0-1 1,-1 0-1,1 0 1,0-1-1,-1 1 0,1-1 1,-1 0-1,1 0 1,-11-3-1,8 1-77,0 1 0,-1-1 0,1 1 0,-1 1 0,1-1 0,-1 2 0,1-1 0,-1 1 0,-11 3 0,-77 23 0,82-22 0,9-4 0,0 1 0,0 0 0,0 1 0,0-1 0,0 1 0,1 0 0,-1 1 0,1-1 0,0 1 0,0 0 0,0 0 0,0 1 0,1 0 0,-1 0 0,1 0 0,-4 7 0,3-4 0,1 1 0,0-1 0,1 1 0,-1 0 0,2 0 0,-3 11 0,-8 24 0,13-43 0,0 1 0,-1-1 0,1 1 0,0-1 0,0 1 0,0-1 0,0 1 0,0-1 0,0 0 0,0 1 0,0-1 0,1 1 0,-1-1 0,1 1 0,-1-1 0,1 0 0,-1 1 0,1-1 0,1 3 0,1 0 0,0 0 0,1-1 0,-1 1 0,1 0 0,-1-1 0,6 3 0,4 3 0,1 0 0,25 11 0,13-1 0,-38-15 0,0 1 0,0 0 0,-1 1 0,0 0 0,18 12 0,-28-15 0,0-1 0,0 0 0,-1 1 0,1 0 0,-1 0 0,0 0 0,1 0 0,-1 0 0,-1 0 0,1 0 0,0 1 0,-1-1 0,1 0 0,-1 1 0,0-1 0,-1 1 0,1 0 0,0-1 0,-1 1 0,0 0 0,0 0 0,0-1 0,0 1 0,-1 0 0,1-1 0,-2 6 0,1-6 0,-1 0 0,1 0 0,-1 1 0,1-1 0,-1 0 0,0-1 0,0 1 0,0 0 0,0-1 0,-1 1 0,1-1 0,-1 1 0,1-1 0,-1 0 0,0 0 0,0 0 0,0-1 0,0 1 0,0-1 0,-1 0 0,1 1 0,0-1 0,0-1 0,-1 1 0,-4 0 0,-5 1 0,-1 0 0,1-1 0,-1-1 0,0-1 0,-14-1 0,-1-2 64,-117-10-1151,126 12-4353,5-3-5451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9T03:01:34.662"/>
    </inkml:context>
    <inkml:brush xml:id="br0">
      <inkml:brushProperty name="width" value="0.035" units="cm"/>
      <inkml:brushProperty name="height" value="0.035" units="cm"/>
    </inkml:brush>
  </inkml:definitions>
  <inkml:trace contextRef="#ctx0" brushRef="#br0">368 32 464,'8'-9'3591,"9"-6"9169,-5 8-1785,-12 7-10903,0 0 0,0 0 0,0 0 0,0 0 0,1 0 0,-1 0 0,0 0 0,0 0 0,0 0 0,0 0 0,0 0 1,0 0-1,0 0 0,0 0 0,1 0 0,-1 0 0,0 0 0,0 0 0,0 0 0,0 0 0,0 0 0,0 0 0,0 0 0,0 0 1,1 0-1,-1 0 0,0 0 0,0 0 0,0 0 0,0 0 0,0 0 0,0 0 0,0 1 0,0-1 0,0 0 0,0 0 0,0 0 1,1 0-1,-1 0 0,0 0 0,0 0 0,0 0 0,0 0 0,0 1 0,0-1 0,0 0 0,0 0 0,0 0 0,0 0 1,0 0-1,0 0 0,0 0 0,0 1 0,0-1 0,0 0 0,0 0 0,0 0 0,0 0 0,0 0 0,0 0 0,-1 0 0,1 0 1,0 0-1,0 1 0,0-1 0,0 0 0,0 0 0,0 0 0,-1 1-72,-1-1 0,1 1 0,0-1 0,-1 1 0,1-1 0,-1 0 0,1 1 0,-1-1 0,1 0 0,0 0 0,-1 0 0,1 0 0,-1 0 0,1 0 0,-3-1 0,2 1 0,-45 2 0,-1 2 0,-56 13 0,97-16 0,1 0 0,0 0 0,-1 1 0,1 0 0,0 0 0,-7 4 0,11-5 0,0 1 0,0 0 0,0 0 0,0 0 0,0 0 0,0 0 0,1 0 0,-1 0 0,1 0 0,-1 1 0,1-1 0,0 1 0,0-1 0,0 1 0,0-1 0,1 1 0,-2 3 0,-2 11 0,1 1 0,1-1 0,0 0 0,1 1 0,2 24 0,0-36 0,-1-1 0,1 1 0,0-1 0,1 0 0,-1 1 0,1-1 0,0 0 0,0 0 0,1 0 0,0 0 0,0 0 0,0-1 0,0 1 0,1-1 0,-1 0 0,1 0 0,0 0 0,0 0 0,1-1 0,-1 0 0,6 3 0,45 19 0,15 6 0,-64-28 0,-1 1 0,0-1 0,0 1 0,0-1 0,0 2 0,-1-1 0,1 0 0,-1 1 0,5 7 0,-7-8 0,-1 0 0,1 0 0,-1 0 0,1 0 0,-1 0 0,-1 0 0,1 1 0,0-1 0,-1 0 0,0 0 0,0 1 0,-1-1 0,1 0 0,-1 0 0,0 1 0,0-1 0,0 0 0,0 0 0,-1 0 0,1 0 0,-1 0 0,0-1 0,-5 7 0,3-4 0,0 0 0,0 0 0,-1-1 0,1 0 0,-1 0 0,0 0 0,-1-1 0,1 1 0,-1-1 0,0 0 0,0-1 0,0 0 0,-12 5 0,3-4-81,-1-2-1,1 0 1,0 0-1,-1-1 1,1-1-1,-1-1 1,-26-4-1,28 2-598,0 0-1,0-1 0,1 0 0,-24-12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9T03:01:35.705"/>
    </inkml:context>
    <inkml:brush xml:id="br0">
      <inkml:brushProperty name="width" value="0.035" units="cm"/>
      <inkml:brushProperty name="height" value="0.035" units="cm"/>
    </inkml:brush>
  </inkml:definitions>
  <inkml:trace contextRef="#ctx0" brushRef="#br0">614 29 284,'-4'-7'1767,"4"5"-146,-1 0 0,0 0 1,0 0-1,0 1 0,0-1 1,-1 0-1,1 1 0,0-1 1,-1 1-1,-1-2 0,3 3-1224,-1-1 0,1 1 0,-1 0 0,1 0 0,-1 0-1,1 0 1,-1 0 0,1 0 0,-1 0 0,1 0 0,0 0 0,-1 0-1,1 0 1,-1 0 0,1 0 0,-1 0 0,1 0 0,-1 0-1,1 1 1,-1-1 0,1 0 0,0 0 0,-1 0 0,1 1 0,-1-1-1,-10 11 2164,7-6-2560,0-1 0,-1 0 0,1 0 0,-1-1 0,0 0 0,0 0 0,-1 0 0,-10 4 0,-49 15 0,-5-9 0,57-12 0,1 0 0,-1 2 0,1-1 0,0 2 0,0-1 0,-22 11 0,32-13 0,1 0 0,-1 0 0,1 0 0,-1 1 0,1-1 0,0 0 0,0 1 0,-1-1 0,1 1 0,0-1 0,0 1 0,0 0 0,0-1 0,1 1 0,-1 0 0,0 0 0,1-1 0,-1 1 0,1 4 0,-1 42 0,1-7 0,-1-22 0,1-1 0,0 1 0,1-1 0,2 1 0,6 28 0,-5-25 0,-4-21 0,0 0 0,1 0 0,-1 0 0,0 0 0,1-1 0,-1 1 0,0 0 0,1 0 0,0 0 0,-1-1 0,1 1 0,-1 0 0,1-1 0,0 1 0,-1 0 0,1-1 0,0 1 0,0-1 0,-1 1 0,1-1 0,0 1 0,0-1 0,0 0 0,0 1 0,0-1 0,0 0 0,0 0 0,-1 0 0,1 0 0,0 1 0,0-1 0,0 0 0,0-1 0,0 1 0,0 0 0,1 0 0,41-12 0,-24 6 0,-12 4 0,1 0 0,0 1 0,0 0 0,0 0 0,0 1 0,-1 0 0,1 1 0,0-1 0,0 2 0,0-1 0,0 1 0,-1 0 0,1 0 0,-1 1 0,0 0 0,0 1 0,0 0 0,0 0 0,0 0 0,-1 0 0,0 1 0,0 0 0,0 1 0,0 0 0,-1-1 0,0 2 0,7 9 0,-6-7 0,-1 0 0,0 0 0,0 1 0,-1-1 0,0 1 0,-1 0 0,0 0 0,3 18 0,-6-21 0,0 0 0,0 1 0,0-1 0,-1 0 0,-1 1 0,1-1 0,-1 0 0,0 0 0,0 0 0,-1 0 0,0-1 0,0 1 0,-7 9 0,4-6 0,-1 0 0,0-1 0,-1 1 0,0-2 0,0 1 0,-1-1 0,0 0 0,0-1 0,-1 0 0,0 0 0,-15 6 0,11-6 0,0-2 0,-1 0 0,0-1 0,0 0 0,-1-2 0,1 1 0,-1-2 0,-20 0 0,-13 0-849,-74-3-6106,108 1 5624,1-1 0,0 0 0,0-1 0,0-1 1,0 0-1,-16-8 0,24 10-1924,-2-1-326</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9T03:02:02.206"/>
    </inkml:context>
    <inkml:brush xml:id="br0">
      <inkml:brushProperty name="width" value="0.035" units="cm"/>
      <inkml:brushProperty name="height" value="0.035" units="cm"/>
    </inkml:brush>
  </inkml:definitions>
  <inkml:trace contextRef="#ctx0" brushRef="#br0">317 1 484,'4'20'24993,"-6"-9"-17707,2-9-7286,-7-3 0,7 1 0,0 0 0,0-1 0,-1 1 0,1 0 0,0 0 0,0 0 0,0 0 0,-1 0 0,1 0 0,0-1 0,0 1 0,-1 0 0,1 0 0,0 0 0,0 0 0,0 0 0,-1 0 0,1 0 0,0 0 0,0 0 0,-1 0 0,1 0 0,0 0 0,0 0 0,-1 0 0,1 0 0,0 1 0,0-1 0,-1 0 0,1 0 0,0 0 0,0 0 0,0 0 0,-1 0 0,1 1 0,0-1 0,0 0 0,0 0 0,0 0 0,0 0 0,-1 1 0,1-1 0,0 0 0,-2 2 0,-1-1 0,1 1 0,-1-1 0,1 0 0,-1 0 0,0 0 0,1 0 0,-1-1 0,0 1 0,0-1 0,-4 1 0,-10 2 0,-4 3 0,0-2 0,-1 0 0,1-1 0,-1-1 0,-38-2 0,53 0 0,5 0 0,-1 0 0,0 0 0,1 0 0,-1 1 0,0-1 0,1 1 0,-1 0 0,1 0 0,-1 0 0,1 0 0,-1 0 0,1 0 0,0 1 0,0-1 0,0 1 0,-1 0 0,1 0 0,1-1 0,-1 1 0,0 0 0,-1 3 0,0-1 0,1 1 0,-1 0 0,1-1 0,0 1 0,1 0 0,-1 0 0,1 0 0,0 0 0,0 1 0,0 7 0,1-6 0,-1 0 0,1-1 0,1 1 0,-1-1 0,1 1 0,1 0 0,-1-1 0,1 0 0,0 1 0,0-1 0,1 0 0,0 0 0,0 0 0,0 0 0,1-1 0,0 1 0,8 9 0,49 21 0,-52-32 0,-1 0 0,1 1 0,-1 0 0,0 0 0,-1 1 0,1-1 0,-1 2 0,0-1 0,0 1 0,-1 0 0,0 1 0,6 9 0,12 38 0,-23-51 0,0 0 0,0 0 0,0 0 0,0 0 0,-1 0 0,0 0 0,1 0 0,-2 1 0,1-1 0,0 0 0,-1 0 0,-1 5 0,1-7 0,0-1 0,0 1 0,0-1 0,0 1 0,0-1 0,0 1 0,0-1 0,-1 0 0,1 0 0,0 1 0,-1-1 0,1 0 0,-1 0 0,1-1 0,-1 1 0,0 0 0,-3 1 0,-36 7 0,5 0 0,-53 27 0,86-36-81,1 1 0,0-1 0,-1 1 0,1-1 0,0 0 0,-1 0 0,1 0 0,0 0 0,-5-1 0,-8-6-3199,39-11-23488,-6 6 25207</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9T03:02:02.594"/>
    </inkml:context>
    <inkml:brush xml:id="br0">
      <inkml:brushProperty name="width" value="0.035" units="cm"/>
      <inkml:brushProperty name="height" value="0.035" units="cm"/>
    </inkml:brush>
  </inkml:definitions>
  <inkml:trace contextRef="#ctx0" brushRef="#br0">75 159 108,'-4'-21'32058,"4"21"-32041,-1-1-1,1 1 1,0 0-1,-1 0 1,1 0 0,-1 0-1,1-1 1,-1 1-1,1 0 1,-1 0-1,1 0 1,0 0-1,-1 0 1,1 0 0,-1 0-1,1 0 1,-1 1-1,1-1 1,-1 0-1,1 0 1,0 0-1,-1 0 1,1 1 0,-1-1-1,1 0 1,0 0-1,-1 1 1,1-1-1,0 0 1,-1 0-1,1 1 1,0-1 0,-1 1-1,1-1 1,0 0-1,0 1 1,-1-1-1,1 1 1,0-1-1,0 0 1,0 1 0,0-1-1,0 1 1,-1 0-1,-1 16-161,2-16 142,1 7 3,-1 1 0,1 0 0,1-1 0,0 1 0,0-1 0,0 0 0,1 0 0,0 0 0,1 0 0,0 0 0,0 0 0,1-1 0,-1 0 0,9 8 0,-10-11 0,0-1 0,0 1 0,1-1 0,-1 0 0,1-1 0,0 1 0,0-1 0,0 1 0,0-1 0,0 0 0,0-1 0,1 1 0,-1-1 0,1 0 0,-1 0 0,1 0 0,-1 0 0,1-1 0,0 0 0,-1 0 0,1 0 0,-1-1 0,1 1 0,0-1 0,-1 0 0,1 0 0,7-4 0,-4 1 0,-1 1 0,0-1 0,0 0 0,0-1 0,-1 0 0,0 0 0,1 0 0,-2-1 0,1 0 0,-1 0 0,0 0 0,0-1 0,0 1 0,-1-1 0,0-1 0,4-11 0,-6 13 0,0 0 0,0 0 0,-1 0 0,0 0 0,0-1 0,0 1 0,-1 0 0,0 0 0,-1-1 0,1 1 0,-1 0 0,0-1 0,-1 1 0,1 0 0,-1 0 0,0 0 0,-1 0 0,0 1 0,0-1 0,0 1 0,0-1 0,-5-4 0,-2-3 0,5 6 0,0 0 0,-1 0 0,0 1 0,0 0 0,-14-11 0,17 16 0,1-1 0,-1 1 0,0 0 0,1 0 0,-1 0 0,0 0 0,0 1 0,0-1 0,0 1 0,0-1 0,0 1 0,1 0 0,-1 0 0,0 1 0,0-1 0,0 0 0,0 1 0,0 0 0,0 0 0,1 0 0,-1 0 0,-3 2 0,-3 2 0,0 0 0,1 0 0,-1 2 0,-9 7 0,11-7 0,-2 0 0,1-1 0,-1 0 0,-11 5 0,-18 1-4750,36-12 4246,0 0-1,0 0 1,1 1 0,-1-1 0,0 0-1,0-1 1,0 1 0,0 0 0,0 0 0,1-1-1,-1 1 1,0-1 0,0 0 0,1 1-1,-1-1 1,0 0 0,1 0 0,-4-2-1,25 2-15806,-15 2 15508,23-1-499</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9T03:02:04.176"/>
    </inkml:context>
    <inkml:brush xml:id="br0">
      <inkml:brushProperty name="width" value="0.035" units="cm"/>
      <inkml:brushProperty name="height" value="0.035" units="cm"/>
    </inkml:brush>
  </inkml:definitions>
  <inkml:trace contextRef="#ctx0" brushRef="#br0">362 0 548,'-23'11'28670,"19"-9"-25381,-15 2-3236,1-1-1,-1 0 1,0-2 0,-32-1 0,36 0-61,8 1 8,1 1 0,0-1 0,-1 1 0,1 0 0,0 0 0,0 1 0,0 0 0,0 0 0,0 0 0,1 1 0,-1-1 0,1 1 0,0 1 0,0-1 0,0 1 0,1 0 0,-8 11 0,7-8 0,0 1 0,1-1 0,0 1 0,0 0 0,1 1 0,0-1 0,0 1 0,1-1 0,1 1 0,-2 17 0,3-10 0,1 0 0,0 1 0,1-1 0,1 0 0,5 21 0,-7-35 0,0 0 0,0 0 0,0 0 0,0 0 0,1 0 0,-1 0 0,1 0 0,0 0 0,0-1 0,0 1 0,0-1 0,0 1 0,1-1 0,-1 0 0,1 0 0,-1 0 0,1 0 0,3 2 0,1-1 0,1-1 0,-1 1 0,1-1 0,0-1 0,0 0 0,11 1 0,-13-1 0,0 0 0,0 0 0,0 1 0,0 0 0,-1 0 0,1 0 0,-1 0 0,0 1 0,1 0 0,-1 0 0,0 1 0,-1-1 0,1 1 0,-1 0 0,1 0 0,-1 1 0,0-1 0,-1 1 0,1 0 0,-1 0 0,5 10 0,-6-10 0,0 0 0,0 0 0,0 0 0,-1 0 0,0 0 0,0 0 0,0 0 0,-1 0 0,1 0 0,-1 0 0,-1 1 0,1-1 0,-1 0 0,0 0 0,0 0 0,0 0 0,-1 0 0,1 0 0,-1 0 0,0 0 0,-1-1 0,1 1 0,-1-1 0,0 0 0,-4 6 0,3-7 0,0 1 0,0-1 0,0 0 0,0 0 0,0 0 0,-1 0 0,0-1 0,1 0 0,-1 0 0,0 0 0,0 0 0,0-1 0,0 0 0,0 0 0,-10 1 0,-4-2 0,0 0 0,-37-6 0,43 4 0,8 1-357,0 0 1,0 0-1,1 0 0,-1-1 0,0 0 1,-8-4-1,11 5-220,-1-1 0,1 1 0,-1-1 0,1 0 0,0 0 0,0 0 0,0 0 1,0 0-1,0-1 0,0 1 0,1-1 0,-3-2 0,5-13-16027,12-5 13612,-11 21 1941,13-17-720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9T03:02:04.597"/>
    </inkml:context>
    <inkml:brush xml:id="br0">
      <inkml:brushProperty name="width" value="0.035" units="cm"/>
      <inkml:brushProperty name="height" value="0.035" units="cm"/>
    </inkml:brush>
  </inkml:definitions>
  <inkml:trace contextRef="#ctx0" brushRef="#br0">163 115 964,'-33'1'3870,"29"0"-2480,0 0 0,0 0-1,1 1 1,-1-1 0,0 1 0,0 0 0,1 0-1,-6 4 1,4-2 357,1 0 1,0 0-1,0 0 1,0 0-1,1 1 0,-3 4 1,-9 20 1441,6-6-3189,1 0 0,0 0 0,2 1 0,1-1 0,-3 41 0,7-55 0,1 1 0,0 0 0,0 0 0,1 0 0,0-1 0,1 1 0,0 0 0,1-1 0,0 1 0,0-1 0,1 0 0,0 0 0,0 0 0,1-1 0,1 1 0,8 10 0,-12-17 0,0 0 0,0 0 0,1 0 0,-1 0 0,0 0 0,1 0 0,-1-1 0,1 0 0,0 1 0,-1-1 0,1 0 0,0 0 0,0 0 0,-1-1 0,1 1 0,0-1 0,0 1 0,0-1 0,4 0 0,-2-1 0,0 0 0,0 0 0,0 0 0,1-1 0,-1 0 0,-1 0 0,1 0 0,0-1 0,8-5 0,1-2 0,-1-1 0,-1 0 0,0-1 0,0 0 0,16-24 0,-12 10 0,0-1 0,-2-1 0,0 0 0,-3-1 0,0 0 0,-2-1 0,0 0 0,-3 0 0,5-46 0,-10 68 0,-1-1 0,0 0 0,0 0 0,-1 1 0,0-1 0,-1 1 0,0-1 0,0 1 0,-4-9 0,5 15 0,0 0 0,1 0 0,-1 1 0,-1-1 0,1 0 0,0 1 0,0-1 0,0 1 0,-1 0 0,1-1 0,-1 1 0,1 0 0,-1 0 0,0 0 0,1 0 0,-1 0 0,0 0 0,-2-1 0,1 2 0,0 0 0,0 0 0,1 0 0,-1 0 0,0 0 0,0 1 0,1-1 0,-1 1 0,0 0 0,1 0 0,-1 0 0,1 0 0,-1 0 0,1 0 0,-1 1 0,1-1 0,-3 3 0,-11 9 0,-1 1 0,2 1 0,0 1 0,0 0 0,-18 28 0,20-26 0,-1 0 0,0-1 0,-1-1 0,-1 0 0,-21 16 0,22-26-2978,14-6 2518,1 0-1,-1 0 1,0 0 0,1 0 0,-1 0 0,0 0 0,1 0 0,-1 0 0,0-1 0,1 1 0,-1 0-1,0 0 1,1-1 0,-1 1 0,1 0 0,-1-1 0,1 1 0,-1-1 0,1 1 0,-1-1-1,1 1 1,-1-1 0,1 1 0,-1-1 0,-4-19-11549,6 6 8131,4-5 1895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9T03:02:09.495"/>
    </inkml:context>
    <inkml:brush xml:id="br0">
      <inkml:brushProperty name="width" value="0.035" units="cm"/>
      <inkml:brushProperty name="height" value="0.035" units="cm"/>
    </inkml:brush>
  </inkml:definitions>
  <inkml:trace contextRef="#ctx0" brushRef="#br0">425 15 60,'-20'-12'32094,"26"10"-31483,-6 2-473,-10 2-278,-147 8 140,115-8 0,20-1 0,0 0 0,0 1 0,0 1 0,-38 12 0,58-15 0,-1 1 0,1-1 0,0 1 0,0 0 0,-1 0 0,1 0 0,0 0 0,0 0 0,0 1 0,0-1 0,0 1 0,0-1 0,0 1 0,1 0 0,-1 0 0,1-1 0,-1 1 0,1 0 0,0 0 0,0 1 0,-1-1 0,1 0 0,1 0 0,-1 1 0,0-1 0,1 0 0,-1 1 0,0 3 0,-3 21 0,2 1 0,0 0 0,4 39 0,14 84 0,-16-147 0,1 0 0,-1-1 0,1 1 0,0 0 0,-1-1 0,2 1 0,-1-1 0,0 1 0,1-1 0,0 1 0,-1-1 0,1 0 0,1 0 0,-1 0 0,0 0 0,1 0 0,-1-1 0,1 1 0,0-1 0,0 1 0,0-1 0,0 0 0,0 0 0,1-1 0,-1 1 0,1-1 0,-1 1 0,1-1 0,-1 0 0,1 0 0,0-1 0,5 1 0,51 7 0,-39-6 0,0 0 0,29 9 0,-45-9 0,0 0 0,0 0 0,0 1 0,0 0 0,0 0 0,0 0 0,-1 1 0,0-1 0,0 1 0,0 0 0,0 1 0,0-1 0,-1 1 0,5 8 0,0 0 0,-1 1 0,-1 0 0,-1 0 0,6 19 0,-9-23 0,0 1 0,0 0 0,-1 0 0,0-1 0,-1 1 0,0 0 0,-4 21 0,3-27 0,0 1 0,0-1 0,0 0 0,-1 0 0,0 0 0,0-1 0,0 1 0,0 0 0,-1-1 0,0 1 0,0-1 0,0 0 0,-1 0 0,1 0 0,-1 0 0,0-1 0,0 0 0,-6 5 0,-1-5 0,0 0 0,0-1 0,0 0 0,0-1 0,0 0 0,0 0 0,0-1 0,-13-2 0,-31-5-721,40 5-545,1 0-1,-1 1 0,0 0 0,-15 2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9T03:02:10.718"/>
    </inkml:context>
    <inkml:brush xml:id="br0">
      <inkml:brushProperty name="width" value="0.035" units="cm"/>
      <inkml:brushProperty name="height" value="0.035" units="cm"/>
    </inkml:brush>
  </inkml:definitions>
  <inkml:trace contextRef="#ctx0" brushRef="#br0">157 42 44,'-10'-16'1308,"-1"2"8081,10 13-8340,0 0-1,0 1 0,0-1 0,0 0 0,0 1 0,0-1 1,0 1-1,0 0 0,0-1 0,0 1 0,-1 0 0,1 0 0,0 0 1,0 0-1,-2 0 0,-3-5 1982,4 4-1454,-1 9-931,1-4-645,0 0 0,-1 0 0,1 0 0,-1 0 0,0 0 0,-5 5 0,-12 20 0,2 6 0,14-29 0,0 1 0,1 0 0,-1 0 0,1 0 0,1 0 0,-1 0 0,0 10 0,-6 37 0,4 0 0,0 57 0,6-91 0,0 1 0,2 0 0,0-1 0,1 0 0,1 1 0,1-2 0,0 1 0,16 29 0,-19-43 0,0 0 0,1-1 0,0 1 0,0-1 0,0 0 0,1 0 0,-1-1 0,1 1 0,0-1 0,1 0 0,-1 0 0,1-1 0,-1 1 0,1-2 0,0 1 0,1 0 0,-1-1 0,0 0 0,1-1 0,-1 1 0,1-1 0,-1 0 0,1-1 0,-1 0 0,9 0 0,-7-1 0,0 0 0,0 0 0,0-1 0,0 0 0,-1-1 0,1 1 0,0-1 0,-1-1 0,0 0 0,0 0 0,0 0 0,0-1 0,-1 1 0,0-2 0,0 1 0,0-1 0,-1 0 0,1 0 0,-1 0 0,4-9 0,4-9 0,-2 0 0,0-1 0,-2 0 0,-1-1 0,-1 0 0,-1 0 0,-1-1 0,-2 1 0,0-1 0,-2 0 0,-4-51 0,2 68 0,0 0 0,-1 0 0,0 1 0,-1-1 0,0 1 0,0 0 0,-1-1 0,-1 2 0,1-1 0,-1 0 0,-1 1 0,-7-10 0,8 13 0,0 0 0,0 0 0,0 1 0,-1 0 0,1 0 0,-1 0 0,0 0 0,-1 1 0,1 0 0,0 1 0,-1-1 0,0 1 0,1 0 0,-1 1 0,0 0 0,0 0 0,-14 0 0,3 1 0,7-1 0,0 1 0,0 0 0,0 0 0,0 2 0,0-1 0,0 1 0,0 1 0,1 0 0,-15 6 0,20-6 0,0 0 0,1 0 0,-1 1 0,1-1 0,0 1 0,0 0 0,0 0 0,1 0 0,-1 1 0,1 0 0,0-1 0,0 1 0,1 0 0,-4 10 0,-1-1 0,6-12-30,-10 19-3467,-1-4-4436,28 7-13126</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5T06:10:13.939"/>
    </inkml:context>
    <inkml:brush xml:id="br0">
      <inkml:brushProperty name="width" value="0.035" units="cm"/>
      <inkml:brushProperty name="height" value="0.035" units="cm"/>
    </inkml:brush>
  </inkml:definitions>
  <inkml:trace contextRef="#ctx0" brushRef="#br0">7299 3837 24575,'0'-6'0,"-1"0"0,1 0 0,-1 0 0,0 0 0,-1 1 0,1-1 0,-1 0 0,0 1 0,-1-1 0,1 1 0,-1 0 0,0-1 0,-6-5 0,-3-4 0,-1 2 0,0 0 0,-16-11 0,28 23 0,-65-48 0,-2 2 0,-2 4 0,-79-36 0,77 41 0,-476-226-933,-18 23 648,477 204 356,-684-274-154,154 64-188,86 57 1187,209 80-331,64-4-585,39 14 0,-282-64 0,337 115 0,21 8 0,54 17 0,-154-63 0,210 68 0,1-2 0,0-2 0,2 0 0,-56-54 0,-22-16 0,-262-140 0,181 121 0,122 71 0,-96-65 0,142 89 0,1-1 0,1-2 0,1 0 0,-35-43 0,-249-359 0,219 314-1365,52 73-5461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5T06:10:14.826"/>
    </inkml:context>
    <inkml:brush xml:id="br0">
      <inkml:brushProperty name="width" value="0.035" units="cm"/>
      <inkml:brushProperty name="height" value="0.035" units="cm"/>
    </inkml:brush>
  </inkml:definitions>
  <inkml:trace contextRef="#ctx0" brushRef="#br0">635 1 24575,'-536'0'0,"528"-1"0,1 2 0,-1-1 0,0 1 0,1 0 0,-12 3 0,17-3 0,0 0 0,-1 0 0,1 0 0,0 0 0,0 0 0,0 1 0,0-1 0,0 1 0,0-1 0,1 1 0,-1 0 0,1-1 0,-1 1 0,1 0 0,-1 0 0,1 0 0,0 1 0,0-1 0,0 0 0,0 0 0,-1 4 0,0 8 0,1-1 0,0 1 0,1 0 0,0-1 0,1 1 0,1-1 0,0 1 0,1-1 0,7 24 0,-3-12 0,73 255 0,30 136 0,-99-356-1365,-1-15-5461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5T06:10:16.649"/>
    </inkml:context>
    <inkml:brush xml:id="br0">
      <inkml:brushProperty name="width" value="0.035" units="cm"/>
      <inkml:brushProperty name="height" value="0.035" units="cm"/>
    </inkml:brush>
  </inkml:definitions>
  <inkml:trace contextRef="#ctx0" brushRef="#br0">1 200 24575,'7'-6'0,"0"1"0,1-1 0,0 2 0,0-1 0,1 1 0,-1 1 0,1-1 0,12-2 0,4-2 0,78-25 0,1 4 0,1 5 0,1 5 0,116-6 0,437 6 0,-592 19 0,519 15-457,-6 52 90,-25 59 367,-4 29 0,-166-45 0,1209 369 0,-1421-420 0,268 131 0,-266-99 612,504 285-400,-289-132-212,92 59 0,-272-172 0,45 31 0,-14 21 0,-122-76 0,117 136 0,-171-166 0,-3 3 0,99 172 0,-88-115 0,-2-3 0,105 150 0,-147-243 0,2 4 0,2-1 0,1-2 0,2-2 0,43 37 0,-45-46 0,-2 3 0,-1 0 0,-2 2 0,28 45 0,29 34 0,17 6 0,56 69 0,-129-150 0,3-1 0,0-1 0,41 33 0,-51-52-273,0 2 0,-1 1 0,-2 0 0,20 28 0,-25-27-6553</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5T06:10:17.538"/>
    </inkml:context>
    <inkml:brush xml:id="br0">
      <inkml:brushProperty name="width" value="0.035" units="cm"/>
      <inkml:brushProperty name="height" value="0.035" units="cm"/>
    </inkml:brush>
  </inkml:definitions>
  <inkml:trace contextRef="#ctx0" brushRef="#br0">0 1009 24575,'463'29'0,"-433"-24"0,-1 2 0,52 17 0,-20-4 0,-59-20 0,-1 1 0,1 0 0,0-1 0,0 1 0,1-1 0,-1 0 0,0 0 0,0 1 0,0-1 0,0-1 0,0 1 0,0 0 0,0 0 0,0-1 0,0 1 0,0-1 0,0 0 0,0 0 0,0 0 0,0 1 0,-1-2 0,1 1 0,0 0 0,-1 0 0,1 0 0,0-1 0,-1 1 0,0-1 0,1 1 0,-1-1 0,0 0 0,0 0 0,0 1 0,0-1 0,1-4 0,2-5 0,-1 0 0,0-1 0,-1 1 0,-1-1 0,1-15 0,-1 22 0,2-508 0,-7 322 0,2-38-1365,2 186-5461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3370C6-0EB6-AB4C-B6F2-DFBA4991C1ED}" type="datetimeFigureOut">
              <a:rPr lang="en-US" smtClean="0"/>
              <a:t>4/14/2025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5E6A36-EFE3-384E-8CE4-826E10130968}" type="slidenum">
              <a:rPr lang="en-US" smtClean="0"/>
              <a:t>‹#›</a:t>
            </a:fld>
            <a:endParaRPr lang="en-US"/>
          </a:p>
        </p:txBody>
      </p:sp>
    </p:spTree>
    <p:extLst>
      <p:ext uri="{BB962C8B-B14F-4D97-AF65-F5344CB8AC3E}">
        <p14:creationId xmlns:p14="http://schemas.microsoft.com/office/powerpoint/2010/main" val="780623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noRot="1" noChangeAspect="1"/>
          </p:cNvSpPr>
          <p:nvPr>
            <p:ph type="sldImg"/>
          </p:nvPr>
        </p:nvSpPr>
        <p:spPr/>
      </p:sp>
      <p:sp>
        <p:nvSpPr>
          <p:cNvPr id="3" name="Rectangle 2"/>
          <p:cNvSpPr>
            <a:spLocks noGrp="1"/>
          </p:cNvSpPr>
          <p:nvPr>
            <p:ph type="body" idx="1"/>
          </p:nvPr>
        </p:nvSpPr>
        <p:spPr/>
        <p:txBody>
          <a:bodyPr/>
          <a:lstStyle/>
          <a:p>
            <a:endParaRPr lang="en-US" dirty="0"/>
          </a:p>
        </p:txBody>
      </p:sp>
      <p:sp>
        <p:nvSpPr>
          <p:cNvPr id="4" name="Rectangl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5D3BF3-D352-46FC-8343-31F56E6730E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Portfolio opportunity set shows all combinations of portfolio expected return and standard derivation that can be constructed from the two available assets.</a:t>
            </a:r>
          </a:p>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3</a:t>
            </a:fld>
            <a:endParaRPr lang="en-US"/>
          </a:p>
        </p:txBody>
      </p:sp>
    </p:spTree>
    <p:extLst>
      <p:ext uri="{BB962C8B-B14F-4D97-AF65-F5344CB8AC3E}">
        <p14:creationId xmlns:p14="http://schemas.microsoft.com/office/powerpoint/2010/main" val="39159661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4</a:t>
            </a:fld>
            <a:endParaRPr lang="en-US"/>
          </a:p>
        </p:txBody>
      </p:sp>
    </p:spTree>
    <p:extLst>
      <p:ext uri="{BB962C8B-B14F-4D97-AF65-F5344CB8AC3E}">
        <p14:creationId xmlns:p14="http://schemas.microsoft.com/office/powerpoint/2010/main" val="28241666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58B1A-D765-008B-4467-EBB42BA0E0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AD29E6-6886-C9DA-117E-6277707017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B3C7DC-F7F8-85D9-3CC8-02FA369C65CE}"/>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1174CA73-8DAA-8037-D44C-48F5EE3A0076}"/>
              </a:ext>
            </a:extLst>
          </p:cNvPr>
          <p:cNvSpPr>
            <a:spLocks noGrp="1"/>
          </p:cNvSpPr>
          <p:nvPr>
            <p:ph type="sldNum" sz="quarter" idx="5"/>
          </p:nvPr>
        </p:nvSpPr>
        <p:spPr/>
        <p:txBody>
          <a:bodyPr/>
          <a:lstStyle/>
          <a:p>
            <a:fld id="{C65E6A36-EFE3-384E-8CE4-826E10130968}" type="slidenum">
              <a:rPr lang="en-US" smtClean="0"/>
              <a:t>5</a:t>
            </a:fld>
            <a:endParaRPr lang="en-US"/>
          </a:p>
        </p:txBody>
      </p:sp>
    </p:spTree>
    <p:extLst>
      <p:ext uri="{BB962C8B-B14F-4D97-AF65-F5344CB8AC3E}">
        <p14:creationId xmlns:p14="http://schemas.microsoft.com/office/powerpoint/2010/main" val="20761658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5%; 5%; 5%; 5%</a:t>
            </a:r>
          </a:p>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6</a:t>
            </a:fld>
            <a:endParaRPr lang="en-US"/>
          </a:p>
        </p:txBody>
      </p:sp>
    </p:spTree>
    <p:extLst>
      <p:ext uri="{BB962C8B-B14F-4D97-AF65-F5344CB8AC3E}">
        <p14:creationId xmlns:p14="http://schemas.microsoft.com/office/powerpoint/2010/main" val="382736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7</a:t>
            </a:fld>
            <a:endParaRPr lang="en-US"/>
          </a:p>
        </p:txBody>
      </p:sp>
    </p:spTree>
    <p:extLst>
      <p:ext uri="{BB962C8B-B14F-4D97-AF65-F5344CB8AC3E}">
        <p14:creationId xmlns:p14="http://schemas.microsoft.com/office/powerpoint/2010/main" val="22123859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8</a:t>
            </a:fld>
            <a:endParaRPr lang="en-US"/>
          </a:p>
        </p:txBody>
      </p:sp>
    </p:spTree>
    <p:extLst>
      <p:ext uri="{BB962C8B-B14F-4D97-AF65-F5344CB8AC3E}">
        <p14:creationId xmlns:p14="http://schemas.microsoft.com/office/powerpoint/2010/main" val="2207257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More examples of unique risk factors:</a:t>
            </a:r>
          </a:p>
          <a:p>
            <a:endParaRPr lang="en-SG" dirty="0"/>
          </a:p>
          <a:p>
            <a:r>
              <a:rPr lang="en-SG" dirty="0" err="1"/>
              <a:t>Sushiro</a:t>
            </a:r>
            <a:r>
              <a:rPr lang="en-SG" dirty="0"/>
              <a:t>:</a:t>
            </a:r>
          </a:p>
          <a:p>
            <a:r>
              <a:rPr lang="en-SG" dirty="0"/>
              <a:t>https://</a:t>
            </a:r>
            <a:r>
              <a:rPr lang="en-SG" dirty="0" err="1"/>
              <a:t>www.youtube.com</a:t>
            </a:r>
            <a:r>
              <a:rPr lang="en-SG" dirty="0"/>
              <a:t>/shorts/37EfTuv3eWo</a:t>
            </a:r>
          </a:p>
          <a:p>
            <a:endParaRPr lang="en-SG" dirty="0"/>
          </a:p>
          <a:p>
            <a:r>
              <a:rPr lang="en-SG" dirty="0"/>
              <a:t>Cindi Wang’s performance on China Hunan TV</a:t>
            </a:r>
          </a:p>
          <a:p>
            <a:r>
              <a:rPr lang="en-SG" dirty="0"/>
              <a:t>https://</a:t>
            </a:r>
            <a:r>
              <a:rPr lang="en-SG" dirty="0" err="1"/>
              <a:t>www.youtube.com</a:t>
            </a:r>
            <a:r>
              <a:rPr lang="en-SG" dirty="0"/>
              <a:t>/</a:t>
            </a:r>
            <a:r>
              <a:rPr lang="en-SG" dirty="0" err="1"/>
              <a:t>watch?v</a:t>
            </a:r>
            <a:r>
              <a:rPr lang="en-SG" dirty="0"/>
              <a:t>=te09w4vbQiY</a:t>
            </a:r>
          </a:p>
          <a:p>
            <a:r>
              <a:rPr lang="en-SG" dirty="0"/>
              <a:t>https://</a:t>
            </a:r>
            <a:r>
              <a:rPr lang="en-SG" dirty="0" err="1"/>
              <a:t>www.youtube.com</a:t>
            </a:r>
            <a:r>
              <a:rPr lang="en-SG" dirty="0"/>
              <a:t>/</a:t>
            </a:r>
            <a:r>
              <a:rPr lang="en-SG" dirty="0" err="1"/>
              <a:t>watch?v</a:t>
            </a:r>
            <a:r>
              <a:rPr lang="en-SG" dirty="0"/>
              <a:t>=GnO6BbZrbko&amp;t=38s</a:t>
            </a:r>
          </a:p>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9</a:t>
            </a:fld>
            <a:endParaRPr lang="en-US"/>
          </a:p>
        </p:txBody>
      </p:sp>
    </p:spTree>
    <p:extLst>
      <p:ext uri="{BB962C8B-B14F-4D97-AF65-F5344CB8AC3E}">
        <p14:creationId xmlns:p14="http://schemas.microsoft.com/office/powerpoint/2010/main" val="2035555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10</a:t>
            </a:fld>
            <a:endParaRPr lang="en-US"/>
          </a:p>
        </p:txBody>
      </p:sp>
    </p:spTree>
    <p:extLst>
      <p:ext uri="{BB962C8B-B14F-4D97-AF65-F5344CB8AC3E}">
        <p14:creationId xmlns:p14="http://schemas.microsoft.com/office/powerpoint/2010/main" val="13171705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a:t>
            </a:r>
            <a:r>
              <a:rPr lang="en-US" dirty="0" err="1"/>
              <a:t>Cov</a:t>
            </a:r>
            <a:r>
              <a:rPr lang="en-US" dirty="0"/>
              <a:t> (</a:t>
            </a:r>
            <a:r>
              <a:rPr lang="en-US" dirty="0" err="1"/>
              <a:t>rD,rE</a:t>
            </a:r>
            <a:r>
              <a:rPr lang="en-US" dirty="0"/>
              <a:t>)=Prob</a:t>
            </a:r>
            <a:r>
              <a:rPr lang="en-US" baseline="0" dirty="0"/>
              <a:t> (scenario) (</a:t>
            </a:r>
            <a:r>
              <a:rPr lang="en-US" baseline="0" dirty="0" err="1"/>
              <a:t>rD</a:t>
            </a:r>
            <a:r>
              <a:rPr lang="en-US" baseline="0" dirty="0"/>
              <a:t>-E(</a:t>
            </a:r>
            <a:r>
              <a:rPr lang="en-US" baseline="0" dirty="0" err="1"/>
              <a:t>rD</a:t>
            </a:r>
            <a:r>
              <a:rPr lang="en-US" baseline="0" dirty="0"/>
              <a:t>)) (</a:t>
            </a:r>
            <a:r>
              <a:rPr lang="en-US" baseline="0" dirty="0" err="1"/>
              <a:t>rE</a:t>
            </a:r>
            <a:r>
              <a:rPr lang="en-US" baseline="0" dirty="0"/>
              <a:t>-E(</a:t>
            </a:r>
            <a:r>
              <a:rPr lang="en-US" baseline="0" dirty="0" err="1"/>
              <a:t>rE</a:t>
            </a:r>
            <a:r>
              <a:rPr lang="en-US" baseline="0" dirty="0"/>
              <a:t>))</a:t>
            </a:r>
            <a:endParaRPr lang="en-US" dirty="0"/>
          </a:p>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11</a:t>
            </a:fld>
            <a:endParaRPr lang="en-US"/>
          </a:p>
        </p:txBody>
      </p:sp>
    </p:spTree>
    <p:extLst>
      <p:ext uri="{BB962C8B-B14F-4D97-AF65-F5344CB8AC3E}">
        <p14:creationId xmlns:p14="http://schemas.microsoft.com/office/powerpoint/2010/main" val="10734939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12</a:t>
            </a:fld>
            <a:endParaRPr lang="en-US"/>
          </a:p>
        </p:txBody>
      </p:sp>
    </p:spTree>
    <p:extLst>
      <p:ext uri="{BB962C8B-B14F-4D97-AF65-F5344CB8AC3E}">
        <p14:creationId xmlns:p14="http://schemas.microsoft.com/office/powerpoint/2010/main" val="6951836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13</a:t>
            </a:fld>
            <a:endParaRPr lang="en-US"/>
          </a:p>
        </p:txBody>
      </p:sp>
    </p:spTree>
    <p:extLst>
      <p:ext uri="{BB962C8B-B14F-4D97-AF65-F5344CB8AC3E}">
        <p14:creationId xmlns:p14="http://schemas.microsoft.com/office/powerpoint/2010/main" val="37968545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14</a:t>
            </a:fld>
            <a:endParaRPr lang="en-US"/>
          </a:p>
        </p:txBody>
      </p:sp>
    </p:spTree>
    <p:extLst>
      <p:ext uri="{BB962C8B-B14F-4D97-AF65-F5344CB8AC3E}">
        <p14:creationId xmlns:p14="http://schemas.microsoft.com/office/powerpoint/2010/main" val="41719662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15</a:t>
            </a:fld>
            <a:endParaRPr lang="en-US"/>
          </a:p>
        </p:txBody>
      </p:sp>
    </p:spTree>
    <p:extLst>
      <p:ext uri="{BB962C8B-B14F-4D97-AF65-F5344CB8AC3E}">
        <p14:creationId xmlns:p14="http://schemas.microsoft.com/office/powerpoint/2010/main" val="18088157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A3B1C-EBD7-B276-65CC-806B5F88DD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84D468-9D81-36DF-39B0-0EF9A9FE35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8C082C-E6D7-87E6-942B-2C5948B98998}"/>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7861660D-11E0-120A-3F60-FED8E126E52F}"/>
              </a:ext>
            </a:extLst>
          </p:cNvPr>
          <p:cNvSpPr>
            <a:spLocks noGrp="1"/>
          </p:cNvSpPr>
          <p:nvPr>
            <p:ph type="sldNum" sz="quarter" idx="5"/>
          </p:nvPr>
        </p:nvSpPr>
        <p:spPr/>
        <p:txBody>
          <a:bodyPr/>
          <a:lstStyle/>
          <a:p>
            <a:fld id="{C65E6A36-EFE3-384E-8CE4-826E10130968}" type="slidenum">
              <a:rPr lang="en-US" smtClean="0"/>
              <a:t>16</a:t>
            </a:fld>
            <a:endParaRPr lang="en-US"/>
          </a:p>
        </p:txBody>
      </p:sp>
    </p:spTree>
    <p:extLst>
      <p:ext uri="{BB962C8B-B14F-4D97-AF65-F5344CB8AC3E}">
        <p14:creationId xmlns:p14="http://schemas.microsoft.com/office/powerpoint/2010/main" val="121908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RD=</a:t>
            </a:r>
            <a:r>
              <a:rPr kumimoji="0" lang="en-US" sz="1200" b="0" i="0" u="none" strike="noStrike" kern="1200" cap="none" spc="0" normalizeH="0" baseline="0" noProof="0" dirty="0" err="1">
                <a:ln>
                  <a:noFill/>
                </a:ln>
                <a:solidFill>
                  <a:prstClr val="black"/>
                </a:solidFill>
                <a:effectLst/>
                <a:uLnTx/>
                <a:uFillTx/>
                <a:latin typeface="Calibri"/>
                <a:ea typeface="+mn-ea"/>
                <a:cs typeface="+mn-cs"/>
              </a:rPr>
              <a:t>rD</a:t>
            </a:r>
            <a:r>
              <a:rPr kumimoji="0" lang="en-US" sz="1200" b="0" i="0" u="none" strike="noStrike" kern="1200" cap="none" spc="0" normalizeH="0" baseline="0" noProof="0" dirty="0">
                <a:ln>
                  <a:noFill/>
                </a:ln>
                <a:solidFill>
                  <a:prstClr val="black"/>
                </a:solidFill>
                <a:effectLst/>
                <a:uLnTx/>
                <a:uFillTx/>
                <a:latin typeface="Calibri"/>
                <a:ea typeface="+mn-ea"/>
                <a:cs typeface="+mn-cs"/>
              </a:rPr>
              <a:t>-rf</a:t>
            </a:r>
          </a:p>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17</a:t>
            </a:fld>
            <a:endParaRPr lang="en-US"/>
          </a:p>
        </p:txBody>
      </p:sp>
    </p:spTree>
    <p:extLst>
      <p:ext uri="{BB962C8B-B14F-4D97-AF65-F5344CB8AC3E}">
        <p14:creationId xmlns:p14="http://schemas.microsoft.com/office/powerpoint/2010/main" val="35763051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0E7E1-F8AF-08AB-3C84-47BB7C3E20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E5807D-3D9F-D765-CBFD-441072A322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66003F-1656-CE80-4AA2-49ECB2207D94}"/>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C726A58C-B1F8-BE20-EE86-B0FF697CE302}"/>
              </a:ext>
            </a:extLst>
          </p:cNvPr>
          <p:cNvSpPr>
            <a:spLocks noGrp="1"/>
          </p:cNvSpPr>
          <p:nvPr>
            <p:ph type="sldNum" sz="quarter" idx="5"/>
          </p:nvPr>
        </p:nvSpPr>
        <p:spPr/>
        <p:txBody>
          <a:bodyPr/>
          <a:lstStyle/>
          <a:p>
            <a:fld id="{C65E6A36-EFE3-384E-8CE4-826E10130968}" type="slidenum">
              <a:rPr lang="en-US" smtClean="0"/>
              <a:t>18</a:t>
            </a:fld>
            <a:endParaRPr lang="en-US"/>
          </a:p>
        </p:txBody>
      </p:sp>
    </p:spTree>
    <p:extLst>
      <p:ext uri="{BB962C8B-B14F-4D97-AF65-F5344CB8AC3E}">
        <p14:creationId xmlns:p14="http://schemas.microsoft.com/office/powerpoint/2010/main" val="10984438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E665C-59A2-B794-D403-922158AEB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7BF6B-3ABE-1E0E-2406-88054483AA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D5363B-52F3-0174-6FAC-06EAF7DB42C6}"/>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62775B0D-5FDB-1491-5442-0A6FC20BDB71}"/>
              </a:ext>
            </a:extLst>
          </p:cNvPr>
          <p:cNvSpPr>
            <a:spLocks noGrp="1"/>
          </p:cNvSpPr>
          <p:nvPr>
            <p:ph type="sldNum" sz="quarter" idx="5"/>
          </p:nvPr>
        </p:nvSpPr>
        <p:spPr/>
        <p:txBody>
          <a:bodyPr/>
          <a:lstStyle/>
          <a:p>
            <a:fld id="{C65E6A36-EFE3-384E-8CE4-826E10130968}" type="slidenum">
              <a:rPr lang="en-US" smtClean="0"/>
              <a:t>19</a:t>
            </a:fld>
            <a:endParaRPr lang="en-US"/>
          </a:p>
        </p:txBody>
      </p:sp>
    </p:spTree>
    <p:extLst>
      <p:ext uri="{BB962C8B-B14F-4D97-AF65-F5344CB8AC3E}">
        <p14:creationId xmlns:p14="http://schemas.microsoft.com/office/powerpoint/2010/main" val="295154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F015B-374B-DFFD-436B-F4FA6BB9B4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4758A-3799-10D2-30C4-72FC73B165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61E37B-C872-D6BE-0EF9-641475DC2B00}"/>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6FADAE5F-2DD6-7DE7-4BAF-511A52A84A22}"/>
              </a:ext>
            </a:extLst>
          </p:cNvPr>
          <p:cNvSpPr>
            <a:spLocks noGrp="1"/>
          </p:cNvSpPr>
          <p:nvPr>
            <p:ph type="sldNum" sz="quarter" idx="5"/>
          </p:nvPr>
        </p:nvSpPr>
        <p:spPr/>
        <p:txBody>
          <a:bodyPr/>
          <a:lstStyle/>
          <a:p>
            <a:fld id="{C65E6A36-EFE3-384E-8CE4-826E10130968}" type="slidenum">
              <a:rPr lang="en-US" smtClean="0"/>
              <a:t>20</a:t>
            </a:fld>
            <a:endParaRPr lang="en-US"/>
          </a:p>
        </p:txBody>
      </p:sp>
    </p:spTree>
    <p:extLst>
      <p:ext uri="{BB962C8B-B14F-4D97-AF65-F5344CB8AC3E}">
        <p14:creationId xmlns:p14="http://schemas.microsoft.com/office/powerpoint/2010/main" val="12657254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C5308-C2E9-5B55-3B95-249AC8A0B1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5E6889-56DF-6499-BDB9-524195F07A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F490E0-277E-4E5F-FA30-056E131D87AB}"/>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DF9DE1DB-AE51-32CD-6CF3-0EBCADADCA18}"/>
              </a:ext>
            </a:extLst>
          </p:cNvPr>
          <p:cNvSpPr>
            <a:spLocks noGrp="1"/>
          </p:cNvSpPr>
          <p:nvPr>
            <p:ph type="sldNum" sz="quarter" idx="5"/>
          </p:nvPr>
        </p:nvSpPr>
        <p:spPr/>
        <p:txBody>
          <a:bodyPr/>
          <a:lstStyle/>
          <a:p>
            <a:fld id="{C65E6A36-EFE3-384E-8CE4-826E10130968}" type="slidenum">
              <a:rPr lang="en-US" smtClean="0"/>
              <a:t>21</a:t>
            </a:fld>
            <a:endParaRPr lang="en-US"/>
          </a:p>
        </p:txBody>
      </p:sp>
    </p:spTree>
    <p:extLst>
      <p:ext uri="{BB962C8B-B14F-4D97-AF65-F5344CB8AC3E}">
        <p14:creationId xmlns:p14="http://schemas.microsoft.com/office/powerpoint/2010/main" val="42924718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2E3B7-79B1-BE8E-BB75-DCA71AF0F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AA9EC0-A2E1-7662-EB62-61C67878B5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9764DE-B1E2-9EF7-87DE-A3AEB3B27DA9}"/>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610FD8ED-1D9C-5D8B-5211-D6A840F33C45}"/>
              </a:ext>
            </a:extLst>
          </p:cNvPr>
          <p:cNvSpPr>
            <a:spLocks noGrp="1"/>
          </p:cNvSpPr>
          <p:nvPr>
            <p:ph type="sldNum" sz="quarter" idx="5"/>
          </p:nvPr>
        </p:nvSpPr>
        <p:spPr/>
        <p:txBody>
          <a:bodyPr/>
          <a:lstStyle/>
          <a:p>
            <a:fld id="{C65E6A36-EFE3-384E-8CE4-826E10130968}" type="slidenum">
              <a:rPr lang="en-US" smtClean="0"/>
              <a:t>22</a:t>
            </a:fld>
            <a:endParaRPr lang="en-US"/>
          </a:p>
        </p:txBody>
      </p:sp>
    </p:spTree>
    <p:extLst>
      <p:ext uri="{BB962C8B-B14F-4D97-AF65-F5344CB8AC3E}">
        <p14:creationId xmlns:p14="http://schemas.microsoft.com/office/powerpoint/2010/main" val="34816316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7F80B-9956-F3A1-6A4C-8A828EFAF7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5AB731-AFED-75D2-14F3-3073085A8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F804F4-D20C-0F74-43BD-AD567832A155}"/>
              </a:ext>
            </a:extLst>
          </p:cNvPr>
          <p:cNvSpPr>
            <a:spLocks noGrp="1"/>
          </p:cNvSpPr>
          <p:nvPr>
            <p:ph type="body" idx="1"/>
          </p:nvPr>
        </p:nvSpPr>
        <p:spPr/>
        <p:txBody>
          <a:bodyPr/>
          <a:lstStyle/>
          <a:p>
            <a:endParaRPr lang="en-SG" dirty="0"/>
          </a:p>
        </p:txBody>
      </p:sp>
      <p:sp>
        <p:nvSpPr>
          <p:cNvPr id="4" name="Slide Number Placeholder 3">
            <a:extLst>
              <a:ext uri="{FF2B5EF4-FFF2-40B4-BE49-F238E27FC236}">
                <a16:creationId xmlns:a16="http://schemas.microsoft.com/office/drawing/2014/main" id="{56A5E62D-179D-FA46-A350-672C9F21F4A1}"/>
              </a:ext>
            </a:extLst>
          </p:cNvPr>
          <p:cNvSpPr>
            <a:spLocks noGrp="1"/>
          </p:cNvSpPr>
          <p:nvPr>
            <p:ph type="sldNum" sz="quarter" idx="5"/>
          </p:nvPr>
        </p:nvSpPr>
        <p:spPr/>
        <p:txBody>
          <a:bodyPr/>
          <a:lstStyle/>
          <a:p>
            <a:fld id="{C65E6A36-EFE3-384E-8CE4-826E10130968}" type="slidenum">
              <a:rPr lang="en-US" smtClean="0"/>
              <a:t>23</a:t>
            </a:fld>
            <a:endParaRPr lang="en-US"/>
          </a:p>
        </p:txBody>
      </p:sp>
    </p:spTree>
    <p:extLst>
      <p:ext uri="{BB962C8B-B14F-4D97-AF65-F5344CB8AC3E}">
        <p14:creationId xmlns:p14="http://schemas.microsoft.com/office/powerpoint/2010/main" val="1049385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C65E6A36-EFE3-384E-8CE4-826E10130968}" type="slidenum">
              <a:rPr lang="en-US" smtClean="0"/>
              <a:t>24</a:t>
            </a:fld>
            <a:endParaRPr lang="en-US"/>
          </a:p>
        </p:txBody>
      </p:sp>
    </p:spTree>
    <p:extLst>
      <p:ext uri="{BB962C8B-B14F-4D97-AF65-F5344CB8AC3E}">
        <p14:creationId xmlns:p14="http://schemas.microsoft.com/office/powerpoint/2010/main" val="16357491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7DDC1-F938-39E6-B3F4-EE600A5A009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310E25C-DA30-F293-094D-6C39E109A1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2DFDE2F-3C96-91B6-5144-86EF252C9221}"/>
              </a:ext>
            </a:extLst>
          </p:cNvPr>
          <p:cNvSpPr>
            <a:spLocks noGrp="1"/>
          </p:cNvSpPr>
          <p:nvPr>
            <p:ph type="dt" sz="half" idx="10"/>
          </p:nvPr>
        </p:nvSpPr>
        <p:spPr/>
        <p:txBody>
          <a:bodyPr/>
          <a:lstStyle/>
          <a:p>
            <a:fld id="{D69FE89A-86BA-FD42-9062-6FDC96000E94}" type="datetimeFigureOut">
              <a:rPr lang="en-US" smtClean="0"/>
              <a:t>4/14/2025</a:t>
            </a:fld>
            <a:endParaRPr lang="en-US"/>
          </a:p>
        </p:txBody>
      </p:sp>
      <p:sp>
        <p:nvSpPr>
          <p:cNvPr id="5" name="Footer Placeholder 4">
            <a:extLst>
              <a:ext uri="{FF2B5EF4-FFF2-40B4-BE49-F238E27FC236}">
                <a16:creationId xmlns:a16="http://schemas.microsoft.com/office/drawing/2014/main" id="{D930E73F-BD8A-1A31-E1EA-8D0C5BAD9B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4404F0-4178-CE82-D356-35F161479C3B}"/>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791111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13162-2B14-4CA9-34B5-4C54D72AC02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7AE6F61-CB65-7BDF-539B-E50D55B140E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EAA6BF6-4C90-201F-92CF-20B243068639}"/>
              </a:ext>
            </a:extLst>
          </p:cNvPr>
          <p:cNvSpPr>
            <a:spLocks noGrp="1"/>
          </p:cNvSpPr>
          <p:nvPr>
            <p:ph type="dt" sz="half" idx="10"/>
          </p:nvPr>
        </p:nvSpPr>
        <p:spPr/>
        <p:txBody>
          <a:bodyPr/>
          <a:lstStyle/>
          <a:p>
            <a:fld id="{D69FE89A-86BA-FD42-9062-6FDC96000E94}" type="datetimeFigureOut">
              <a:rPr lang="en-US" smtClean="0"/>
              <a:t>4/14/2025</a:t>
            </a:fld>
            <a:endParaRPr lang="en-US"/>
          </a:p>
        </p:txBody>
      </p:sp>
      <p:sp>
        <p:nvSpPr>
          <p:cNvPr id="5" name="Footer Placeholder 4">
            <a:extLst>
              <a:ext uri="{FF2B5EF4-FFF2-40B4-BE49-F238E27FC236}">
                <a16:creationId xmlns:a16="http://schemas.microsoft.com/office/drawing/2014/main" id="{7CF38521-5721-D7E9-C5BD-1A005E7DB5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9A9494-39DF-3752-31D7-E1A2FF29F375}"/>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730077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0C542-42B3-DEF2-8D99-F6F5CFA91C5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B43B492-7744-AEE7-3E0D-9B0B34D5BB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F49855A-1C3C-BCAF-BA93-EFB9556B35E9}"/>
              </a:ext>
            </a:extLst>
          </p:cNvPr>
          <p:cNvSpPr>
            <a:spLocks noGrp="1"/>
          </p:cNvSpPr>
          <p:nvPr>
            <p:ph type="dt" sz="half" idx="10"/>
          </p:nvPr>
        </p:nvSpPr>
        <p:spPr/>
        <p:txBody>
          <a:bodyPr/>
          <a:lstStyle/>
          <a:p>
            <a:fld id="{D69FE89A-86BA-FD42-9062-6FDC96000E94}" type="datetimeFigureOut">
              <a:rPr lang="en-US" smtClean="0"/>
              <a:t>4/14/2025</a:t>
            </a:fld>
            <a:endParaRPr lang="en-US"/>
          </a:p>
        </p:txBody>
      </p:sp>
      <p:sp>
        <p:nvSpPr>
          <p:cNvPr id="5" name="Footer Placeholder 4">
            <a:extLst>
              <a:ext uri="{FF2B5EF4-FFF2-40B4-BE49-F238E27FC236}">
                <a16:creationId xmlns:a16="http://schemas.microsoft.com/office/drawing/2014/main" id="{D0A5939B-A777-DBE7-E457-B3D5F69415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2F3945-DAEF-EC24-6450-36E53556C748}"/>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099312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52EDA-922E-3FB8-D74A-041F33CF58F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626B4D5-9E31-2CBB-683F-631D34E8B2F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8D82937-D4A7-B2A4-73BE-97B71BF7722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F7BE170-5ED5-DBDC-9598-3BC575CCC857}"/>
              </a:ext>
            </a:extLst>
          </p:cNvPr>
          <p:cNvSpPr>
            <a:spLocks noGrp="1"/>
          </p:cNvSpPr>
          <p:nvPr>
            <p:ph type="dt" sz="half" idx="10"/>
          </p:nvPr>
        </p:nvSpPr>
        <p:spPr/>
        <p:txBody>
          <a:bodyPr/>
          <a:lstStyle/>
          <a:p>
            <a:fld id="{D69FE89A-86BA-FD42-9062-6FDC96000E94}" type="datetimeFigureOut">
              <a:rPr lang="en-US" smtClean="0"/>
              <a:t>4/14/2025</a:t>
            </a:fld>
            <a:endParaRPr lang="en-US"/>
          </a:p>
        </p:txBody>
      </p:sp>
      <p:sp>
        <p:nvSpPr>
          <p:cNvPr id="6" name="Footer Placeholder 5">
            <a:extLst>
              <a:ext uri="{FF2B5EF4-FFF2-40B4-BE49-F238E27FC236}">
                <a16:creationId xmlns:a16="http://schemas.microsoft.com/office/drawing/2014/main" id="{45A24D56-BF9A-22ED-C2A7-99F5991BA5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5E357D-6133-6A46-144D-403593448CB4}"/>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78446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F133A-AC9A-D625-3179-1A32B69871D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B6DEC2B-4EC1-0AC9-08A1-712C1D601E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5CEA498-10A5-5B38-CA4A-8DBAEECD126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040DD02-8608-91C6-80F3-31687FF44D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4733F49-49EF-E36F-8072-31F0522E873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A5AD18D-8600-3D9E-F7DF-BB27CC9E6273}"/>
              </a:ext>
            </a:extLst>
          </p:cNvPr>
          <p:cNvSpPr>
            <a:spLocks noGrp="1"/>
          </p:cNvSpPr>
          <p:nvPr>
            <p:ph type="dt" sz="half" idx="10"/>
          </p:nvPr>
        </p:nvSpPr>
        <p:spPr/>
        <p:txBody>
          <a:bodyPr/>
          <a:lstStyle/>
          <a:p>
            <a:fld id="{D69FE89A-86BA-FD42-9062-6FDC96000E94}" type="datetimeFigureOut">
              <a:rPr lang="en-US" smtClean="0"/>
              <a:t>4/14/2025</a:t>
            </a:fld>
            <a:endParaRPr lang="en-US"/>
          </a:p>
        </p:txBody>
      </p:sp>
      <p:sp>
        <p:nvSpPr>
          <p:cNvPr id="8" name="Footer Placeholder 7">
            <a:extLst>
              <a:ext uri="{FF2B5EF4-FFF2-40B4-BE49-F238E27FC236}">
                <a16:creationId xmlns:a16="http://schemas.microsoft.com/office/drawing/2014/main" id="{2F831029-141B-BFFF-73FF-A66219D4D9E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06EEDD-A397-2580-48D3-A253530AE4FD}"/>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892218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4DE71-0437-F5AA-9446-18C06C7C453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ED63A9C-6008-2E20-B9B1-4A0FAA4C0809}"/>
              </a:ext>
            </a:extLst>
          </p:cNvPr>
          <p:cNvSpPr>
            <a:spLocks noGrp="1"/>
          </p:cNvSpPr>
          <p:nvPr>
            <p:ph type="dt" sz="half" idx="10"/>
          </p:nvPr>
        </p:nvSpPr>
        <p:spPr/>
        <p:txBody>
          <a:bodyPr/>
          <a:lstStyle/>
          <a:p>
            <a:fld id="{D69FE89A-86BA-FD42-9062-6FDC96000E94}" type="datetimeFigureOut">
              <a:rPr lang="en-US" smtClean="0"/>
              <a:t>4/14/2025</a:t>
            </a:fld>
            <a:endParaRPr lang="en-US"/>
          </a:p>
        </p:txBody>
      </p:sp>
      <p:sp>
        <p:nvSpPr>
          <p:cNvPr id="4" name="Footer Placeholder 3">
            <a:extLst>
              <a:ext uri="{FF2B5EF4-FFF2-40B4-BE49-F238E27FC236}">
                <a16:creationId xmlns:a16="http://schemas.microsoft.com/office/drawing/2014/main" id="{D9186955-7AF9-A7DD-C41A-4F16D1B5AD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AE9460A-1480-FE9F-9A17-937A23D56FF2}"/>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3953201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7E15C2-1EC8-B992-ECD0-C58895213ED6}"/>
              </a:ext>
            </a:extLst>
          </p:cNvPr>
          <p:cNvSpPr>
            <a:spLocks noGrp="1"/>
          </p:cNvSpPr>
          <p:nvPr>
            <p:ph type="dt" sz="half" idx="10"/>
          </p:nvPr>
        </p:nvSpPr>
        <p:spPr/>
        <p:txBody>
          <a:bodyPr/>
          <a:lstStyle/>
          <a:p>
            <a:fld id="{D69FE89A-86BA-FD42-9062-6FDC96000E94}" type="datetimeFigureOut">
              <a:rPr lang="en-US" smtClean="0"/>
              <a:t>4/14/2025</a:t>
            </a:fld>
            <a:endParaRPr lang="en-US"/>
          </a:p>
        </p:txBody>
      </p:sp>
      <p:sp>
        <p:nvSpPr>
          <p:cNvPr id="3" name="Footer Placeholder 2">
            <a:extLst>
              <a:ext uri="{FF2B5EF4-FFF2-40B4-BE49-F238E27FC236}">
                <a16:creationId xmlns:a16="http://schemas.microsoft.com/office/drawing/2014/main" id="{FC315E9E-720E-BC87-9443-2F895F70B2B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1D9D3E-C868-F812-8E13-F0D1739F699E}"/>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3087757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5DD15-EEED-CEA6-C707-385C1B2951A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8393A3A-B88B-08AF-C900-1A5642671D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50EA202-647A-AEC1-3A69-F88FA61466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0699A85-DB44-0343-144A-E9A91DDC4AB2}"/>
              </a:ext>
            </a:extLst>
          </p:cNvPr>
          <p:cNvSpPr>
            <a:spLocks noGrp="1"/>
          </p:cNvSpPr>
          <p:nvPr>
            <p:ph type="dt" sz="half" idx="10"/>
          </p:nvPr>
        </p:nvSpPr>
        <p:spPr/>
        <p:txBody>
          <a:bodyPr/>
          <a:lstStyle/>
          <a:p>
            <a:fld id="{D69FE89A-86BA-FD42-9062-6FDC96000E94}" type="datetimeFigureOut">
              <a:rPr lang="en-US" smtClean="0"/>
              <a:t>4/14/2025</a:t>
            </a:fld>
            <a:endParaRPr lang="en-US"/>
          </a:p>
        </p:txBody>
      </p:sp>
      <p:sp>
        <p:nvSpPr>
          <p:cNvPr id="6" name="Footer Placeholder 5">
            <a:extLst>
              <a:ext uri="{FF2B5EF4-FFF2-40B4-BE49-F238E27FC236}">
                <a16:creationId xmlns:a16="http://schemas.microsoft.com/office/drawing/2014/main" id="{AD4C8560-3CD4-5BD1-7073-6C81305E8F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426E01-2CBA-5305-A8C9-6AD316FC0E10}"/>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23333752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6486-D790-8717-6108-668B5D01EF4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2C77FDC-5172-3106-DC82-8A74194AD2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EBA6034-A474-10C9-4218-96F78062FB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EC41F6A-2BBC-CE28-A15A-988E24A72797}"/>
              </a:ext>
            </a:extLst>
          </p:cNvPr>
          <p:cNvSpPr>
            <a:spLocks noGrp="1"/>
          </p:cNvSpPr>
          <p:nvPr>
            <p:ph type="dt" sz="half" idx="10"/>
          </p:nvPr>
        </p:nvSpPr>
        <p:spPr/>
        <p:txBody>
          <a:bodyPr/>
          <a:lstStyle/>
          <a:p>
            <a:fld id="{D69FE89A-86BA-FD42-9062-6FDC96000E94}" type="datetimeFigureOut">
              <a:rPr lang="en-US" smtClean="0"/>
              <a:t>4/14/2025</a:t>
            </a:fld>
            <a:endParaRPr lang="en-US"/>
          </a:p>
        </p:txBody>
      </p:sp>
      <p:sp>
        <p:nvSpPr>
          <p:cNvPr id="6" name="Footer Placeholder 5">
            <a:extLst>
              <a:ext uri="{FF2B5EF4-FFF2-40B4-BE49-F238E27FC236}">
                <a16:creationId xmlns:a16="http://schemas.microsoft.com/office/drawing/2014/main" id="{EF6B4D11-D1AA-1913-F28A-FD5D0270F4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7E6097-F062-EBFB-5A2D-5A8B95B22F12}"/>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3199847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FCE19-3113-5CA8-4A83-BAE90D3AFAD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5E0656D-219D-B693-BDCA-F6240A89534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E89D2FF-C4E7-28CC-49DB-885EA07042A3}"/>
              </a:ext>
            </a:extLst>
          </p:cNvPr>
          <p:cNvSpPr>
            <a:spLocks noGrp="1"/>
          </p:cNvSpPr>
          <p:nvPr>
            <p:ph type="dt" sz="half" idx="10"/>
          </p:nvPr>
        </p:nvSpPr>
        <p:spPr/>
        <p:txBody>
          <a:bodyPr/>
          <a:lstStyle/>
          <a:p>
            <a:fld id="{D69FE89A-86BA-FD42-9062-6FDC96000E94}" type="datetimeFigureOut">
              <a:rPr lang="en-US" smtClean="0"/>
              <a:t>4/14/2025</a:t>
            </a:fld>
            <a:endParaRPr lang="en-US"/>
          </a:p>
        </p:txBody>
      </p:sp>
      <p:sp>
        <p:nvSpPr>
          <p:cNvPr id="5" name="Footer Placeholder 4">
            <a:extLst>
              <a:ext uri="{FF2B5EF4-FFF2-40B4-BE49-F238E27FC236}">
                <a16:creationId xmlns:a16="http://schemas.microsoft.com/office/drawing/2014/main" id="{08A0D90F-5BDA-FDD3-D096-145F86BFC6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A56B89-CA2C-7B4B-1E75-F21BA63FC0C1}"/>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965607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154FBD-B0CE-D003-3384-B360414AE4F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03F0770-FE73-D5A6-3F31-3F45F9FDCEA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50806A0-DB60-4C90-0E5C-A4438A160B4B}"/>
              </a:ext>
            </a:extLst>
          </p:cNvPr>
          <p:cNvSpPr>
            <a:spLocks noGrp="1"/>
          </p:cNvSpPr>
          <p:nvPr>
            <p:ph type="dt" sz="half" idx="10"/>
          </p:nvPr>
        </p:nvSpPr>
        <p:spPr/>
        <p:txBody>
          <a:bodyPr/>
          <a:lstStyle/>
          <a:p>
            <a:fld id="{D69FE89A-86BA-FD42-9062-6FDC96000E94}" type="datetimeFigureOut">
              <a:rPr lang="en-US" smtClean="0"/>
              <a:t>4/14/2025</a:t>
            </a:fld>
            <a:endParaRPr lang="en-US"/>
          </a:p>
        </p:txBody>
      </p:sp>
      <p:sp>
        <p:nvSpPr>
          <p:cNvPr id="5" name="Footer Placeholder 4">
            <a:extLst>
              <a:ext uri="{FF2B5EF4-FFF2-40B4-BE49-F238E27FC236}">
                <a16:creationId xmlns:a16="http://schemas.microsoft.com/office/drawing/2014/main" id="{C2B60272-25A5-F266-476F-DCEC769079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47DF08-E356-0558-FF8F-2DC1400DD8E9}"/>
              </a:ext>
            </a:extLst>
          </p:cNvPr>
          <p:cNvSpPr>
            <a:spLocks noGrp="1"/>
          </p:cNvSpPr>
          <p:nvPr>
            <p:ph type="sldNum" sz="quarter" idx="12"/>
          </p:nvPr>
        </p:nvSpPr>
        <p:spPr/>
        <p:txBody>
          <a:bodyPr/>
          <a:lstStyle/>
          <a:p>
            <a:fld id="{7E3AC420-73C7-0E4D-B258-8A377A6F8F1A}" type="slidenum">
              <a:rPr lang="en-US" smtClean="0"/>
              <a:t>‹#›</a:t>
            </a:fld>
            <a:endParaRPr lang="en-US"/>
          </a:p>
        </p:txBody>
      </p:sp>
    </p:spTree>
    <p:extLst>
      <p:ext uri="{BB962C8B-B14F-4D97-AF65-F5344CB8AC3E}">
        <p14:creationId xmlns:p14="http://schemas.microsoft.com/office/powerpoint/2010/main" val="1908459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a:xfrm>
            <a:off x="0" y="5971032"/>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0" name="Rectangle 9"/>
          <p:cNvSpPr/>
          <p:nvPr/>
        </p:nvSpPr>
        <p:spPr>
          <a:xfrm>
            <a:off x="-12192" y="6053328"/>
            <a:ext cx="2999232"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1" name="Rectangle 10"/>
          <p:cNvSpPr/>
          <p:nvPr/>
        </p:nvSpPr>
        <p:spPr>
          <a:xfrm>
            <a:off x="3145536" y="6044184"/>
            <a:ext cx="90464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Subtitle 8"/>
          <p:cNvSpPr>
            <a:spLocks noGrp="1"/>
          </p:cNvSpPr>
          <p:nvPr>
            <p:ph type="subTitle" idx="1"/>
          </p:nvPr>
        </p:nvSpPr>
        <p:spPr>
          <a:xfrm>
            <a:off x="3149600" y="6050037"/>
            <a:ext cx="8686800" cy="685800"/>
          </a:xfrm>
        </p:spPr>
        <p:txBody>
          <a:bodyPr anchor="ctr"/>
          <a:lstStyle>
            <a:lvl1pPr marL="0" indent="0" algn="l">
              <a:buNone/>
              <a:defRPr sz="3733">
                <a:solidFill>
                  <a:srgbClr val="FFFFFF"/>
                </a:solidFill>
              </a:defRPr>
            </a:lvl1pPr>
            <a:lvl2pPr marL="609585" indent="0" algn="ctr">
              <a:buNone/>
            </a:lvl2pPr>
            <a:lvl3pPr marL="1219170" indent="0" algn="ctr">
              <a:buNone/>
            </a:lvl3pPr>
            <a:lvl4pPr marL="1828754" indent="0" algn="ctr">
              <a:buNone/>
            </a:lvl4pPr>
            <a:lvl5pPr marL="2438339" indent="0" algn="ctr">
              <a:buNone/>
            </a:lvl5pPr>
            <a:lvl6pPr marL="3047924" indent="0" algn="ctr">
              <a:buNone/>
            </a:lvl6pPr>
            <a:lvl7pPr marL="3657509" indent="0" algn="ctr">
              <a:buNone/>
            </a:lvl7pPr>
            <a:lvl8pPr marL="4267093" indent="0" algn="ctr">
              <a:buNone/>
            </a:lvl8pPr>
            <a:lvl9pPr marL="4876678" indent="0" algn="ctr">
              <a:buNone/>
            </a:lvl9pPr>
            <a:extLst/>
          </a:lstStyle>
          <a:p>
            <a:r>
              <a:rPr lang="en-US"/>
              <a:t>Click to edit Master subtitle style</a:t>
            </a:r>
            <a:endParaRPr lang="en-US" dirty="0"/>
          </a:p>
        </p:txBody>
      </p:sp>
      <p:sp>
        <p:nvSpPr>
          <p:cNvPr id="28" name="Date Placeholder 27"/>
          <p:cNvSpPr>
            <a:spLocks noGrp="1"/>
          </p:cNvSpPr>
          <p:nvPr>
            <p:ph type="dt" sz="half" idx="10"/>
          </p:nvPr>
        </p:nvSpPr>
        <p:spPr>
          <a:xfrm>
            <a:off x="101600" y="6068699"/>
            <a:ext cx="2743200" cy="685800"/>
          </a:xfrm>
        </p:spPr>
        <p:txBody>
          <a:bodyPr>
            <a:noAutofit/>
          </a:bodyPr>
          <a:lstStyle>
            <a:lvl1pPr algn="ctr">
              <a:defRPr sz="2667">
                <a:solidFill>
                  <a:srgbClr val="FFFFFF"/>
                </a:solidFill>
              </a:defRPr>
            </a:lvl1pPr>
            <a:extLst/>
          </a:lstStyle>
          <a:p>
            <a:pPr algn="ctr"/>
            <a:fld id="{047E157E-8DCB-4F70-A0AF-5EB586A91DD4}" type="datetime1">
              <a:rPr lang="en-US" smtClean="0">
                <a:solidFill>
                  <a:srgbClr val="FFFFFF"/>
                </a:solidFill>
              </a:rPr>
              <a:pPr algn="ctr"/>
              <a:t>4/14/2025</a:t>
            </a:fld>
            <a:endParaRPr lang="en-US" sz="2667" dirty="0">
              <a:solidFill>
                <a:srgbClr val="FFFFFF"/>
              </a:solidFill>
            </a:endParaRPr>
          </a:p>
        </p:txBody>
      </p:sp>
      <p:sp>
        <p:nvSpPr>
          <p:cNvPr id="17" name="Footer Placeholder 16"/>
          <p:cNvSpPr>
            <a:spLocks noGrp="1"/>
          </p:cNvSpPr>
          <p:nvPr>
            <p:ph type="ftr" sz="quarter" idx="11"/>
          </p:nvPr>
        </p:nvSpPr>
        <p:spPr>
          <a:xfrm>
            <a:off x="2780524" y="236539"/>
            <a:ext cx="7823200" cy="365125"/>
          </a:xfrm>
        </p:spPr>
        <p:txBody>
          <a:bodyPr/>
          <a:lstStyle>
            <a:lvl1pPr algn="r">
              <a:defRPr>
                <a:solidFill>
                  <a:schemeClr val="tx2"/>
                </a:solidFill>
              </a:defRPr>
            </a:lvl1pPr>
            <a:extLst/>
          </a:lstStyle>
          <a:p>
            <a:pPr algn="r"/>
            <a:endParaRPr lang="en-US" dirty="0">
              <a:solidFill>
                <a:schemeClr val="tx2"/>
              </a:solidFill>
            </a:endParaRPr>
          </a:p>
        </p:txBody>
      </p:sp>
      <p:sp>
        <p:nvSpPr>
          <p:cNvPr id="29" name="Slide Number Placeholder 28"/>
          <p:cNvSpPr>
            <a:spLocks noGrp="1"/>
          </p:cNvSpPr>
          <p:nvPr>
            <p:ph type="sldNum" sz="quarter" idx="12"/>
          </p:nvPr>
        </p:nvSpPr>
        <p:spPr>
          <a:xfrm>
            <a:off x="10668000" y="228600"/>
            <a:ext cx="1117600" cy="381000"/>
          </a:xfrm>
        </p:spPr>
        <p:txBody>
          <a:bodyPr/>
          <a:lstStyle>
            <a:lvl1pPr>
              <a:defRPr>
                <a:solidFill>
                  <a:schemeClr val="tx2"/>
                </a:solidFill>
              </a:defRPr>
            </a:lvl1pPr>
            <a:extLst/>
          </a:lstStyle>
          <a:p>
            <a:fld id="{8F82E0A0-C266-4798-8C8F-B9F91E9DA37E}" type="slidenum">
              <a:rPr lang="en-US" smtClean="0">
                <a:solidFill>
                  <a:schemeClr val="tx2"/>
                </a:solidFill>
              </a:rPr>
              <a:pPr/>
              <a:t>‹#›</a:t>
            </a:fld>
            <a:endParaRPr lang="en-US" dirty="0">
              <a:solidFill>
                <a:schemeClr val="tx2"/>
              </a:solidFill>
            </a:endParaRPr>
          </a:p>
        </p:txBody>
      </p:sp>
      <p:sp>
        <p:nvSpPr>
          <p:cNvPr id="12" name="Rectangle 11"/>
          <p:cNvSpPr>
            <a:spLocks noGrp="1"/>
          </p:cNvSpPr>
          <p:nvPr>
            <p:ph type="title"/>
          </p:nvPr>
        </p:nvSpPr>
        <p:spPr>
          <a:xfrm>
            <a:off x="3149600" y="3124200"/>
            <a:ext cx="8636000" cy="2717800"/>
          </a:xfrm>
        </p:spPr>
        <p:txBody>
          <a:bodyPr rtlCol="0" anchor="b"/>
          <a:lstStyle>
            <a:lvl1pPr>
              <a:defRPr cap="all" baseline="0"/>
            </a:lvl1pPr>
            <a:extLst/>
          </a:lstStyle>
          <a:p>
            <a:r>
              <a:rPr lang="en-US"/>
              <a:t>Click to edit Master title style</a:t>
            </a:r>
            <a:endParaRPr lang="en-US" dirty="0"/>
          </a:p>
        </p:txBody>
      </p:sp>
    </p:spTree>
    <p:extLst>
      <p:ext uri="{BB962C8B-B14F-4D97-AF65-F5344CB8AC3E}">
        <p14:creationId xmlns:p14="http://schemas.microsoft.com/office/powerpoint/2010/main" val="2195200140"/>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a:t>Click to edit Master title style</a:t>
            </a:r>
            <a:endParaRPr lang="en-US" dirty="0"/>
          </a:p>
        </p:txBody>
      </p:sp>
      <p:sp>
        <p:nvSpPr>
          <p:cNvPr id="3" name="Rectangle 2"/>
          <p:cNvSpPr>
            <a:spLocks noGrp="1"/>
          </p:cNvSpPr>
          <p:nvPr>
            <p:ph type="dt" sz="half" idx="10"/>
          </p:nvPr>
        </p:nvSpPr>
        <p:spPr/>
        <p:txBody>
          <a:bodyPr/>
          <a:lstStyle/>
          <a:p>
            <a:fld id="{E4606EA6-EFEA-4C30-9264-4F9291A5780D}" type="datetime1">
              <a:rPr lang="en-US" smtClean="0"/>
              <a:pPr/>
              <a:t>4/14/2025</a:t>
            </a:fld>
            <a:endParaRPr lang="en-US"/>
          </a:p>
        </p:txBody>
      </p:sp>
      <p:sp>
        <p:nvSpPr>
          <p:cNvPr id="4" name="Rectangle 3"/>
          <p:cNvSpPr>
            <a:spLocks noGrp="1"/>
          </p:cNvSpPr>
          <p:nvPr>
            <p:ph type="ftr" sz="quarter" idx="11"/>
          </p:nvPr>
        </p:nvSpPr>
        <p:spPr/>
        <p:txBody>
          <a:bodyPr/>
          <a:lstStyle/>
          <a:p>
            <a:endParaRPr lang="en-US"/>
          </a:p>
        </p:txBody>
      </p:sp>
      <p:sp>
        <p:nvSpPr>
          <p:cNvPr id="5" name="Rectangle 4"/>
          <p:cNvSpPr>
            <a:spLocks noGrp="1"/>
          </p:cNvSpPr>
          <p:nvPr>
            <p:ph type="sldNum" sz="quarter" idx="12"/>
          </p:nvPr>
        </p:nvSpPr>
        <p:spPr/>
        <p:txBody>
          <a:bodyPr/>
          <a:lstStyle/>
          <a:p>
            <a:pPr algn="ctr"/>
            <a:fld id="{8F82E0A0-C266-4798-8C8F-B9F91E9DA37E}" type="slidenum">
              <a:rPr lang="en-US" sz="1867" b="1" smtClean="0">
                <a:solidFill>
                  <a:srgbClr val="FFFFFF"/>
                </a:solidFill>
              </a:rPr>
              <a:pPr algn="ctr"/>
              <a:t>‹#›</a:t>
            </a:fld>
            <a:endParaRPr lang="en-US"/>
          </a:p>
        </p:txBody>
      </p:sp>
      <p:sp>
        <p:nvSpPr>
          <p:cNvPr id="7" name="Rectangle 6"/>
          <p:cNvSpPr>
            <a:spLocks noGrp="1"/>
          </p:cNvSpPr>
          <p:nvPr>
            <p:ph sz="quarter" idx="13"/>
          </p:nvPr>
        </p:nvSpPr>
        <p:spPr>
          <a:xfrm>
            <a:off x="812800" y="1803400"/>
            <a:ext cx="10871200" cy="436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1084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28801" y="2743201"/>
            <a:ext cx="9497484" cy="1673225"/>
          </a:xfrm>
        </p:spPr>
        <p:txBody>
          <a:bodyPr anchor="t"/>
          <a:lstStyle>
            <a:lvl1pPr>
              <a:buNone/>
              <a:defRPr sz="3733">
                <a:solidFill>
                  <a:schemeClr val="tx2"/>
                </a:solidFill>
              </a:defRPr>
            </a:lvl1pPr>
            <a:lvl2pPr>
              <a:buNone/>
              <a:defRPr sz="2400">
                <a:solidFill>
                  <a:schemeClr val="tx1">
                    <a:tint val="75000"/>
                  </a:schemeClr>
                </a:solidFill>
              </a:defRPr>
            </a:lvl2pPr>
            <a:lvl3pPr>
              <a:buNone/>
              <a:defRPr sz="2133">
                <a:solidFill>
                  <a:schemeClr val="tx1">
                    <a:tint val="75000"/>
                  </a:schemeClr>
                </a:solidFill>
              </a:defRPr>
            </a:lvl3pPr>
            <a:lvl4pPr>
              <a:buNone/>
              <a:defRPr sz="1867">
                <a:solidFill>
                  <a:schemeClr val="tx1">
                    <a:tint val="75000"/>
                  </a:schemeClr>
                </a:solidFill>
              </a:defRPr>
            </a:lvl4pPr>
            <a:lvl5pPr>
              <a:buNone/>
              <a:defRPr sz="1867">
                <a:solidFill>
                  <a:schemeClr val="tx1">
                    <a:tint val="75000"/>
                  </a:schemeClr>
                </a:solidFill>
              </a:defRPr>
            </a:lvl5pPr>
            <a:extLst/>
          </a:lstStyle>
          <a:p>
            <a:pPr lvl="0"/>
            <a:r>
              <a:rPr lang="en-US"/>
              <a:t>Click to edit Master text styles</a:t>
            </a:r>
          </a:p>
        </p:txBody>
      </p:sp>
      <p:sp>
        <p:nvSpPr>
          <p:cNvPr id="7" name="Rectangle 6"/>
          <p:cNvSpPr/>
          <p:nvPr/>
        </p:nvSpPr>
        <p:spPr>
          <a:xfrm>
            <a:off x="0" y="1524000"/>
            <a:ext cx="12192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8" name="Rectangle 7"/>
          <p:cNvSpPr/>
          <p:nvPr/>
        </p:nvSpPr>
        <p:spPr>
          <a:xfrm>
            <a:off x="0" y="1600200"/>
            <a:ext cx="17272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Rectangle 8"/>
          <p:cNvSpPr/>
          <p:nvPr/>
        </p:nvSpPr>
        <p:spPr>
          <a:xfrm>
            <a:off x="1828800" y="1600200"/>
            <a:ext cx="10363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2" name="Title 1"/>
          <p:cNvSpPr>
            <a:spLocks noGrp="1"/>
          </p:cNvSpPr>
          <p:nvPr>
            <p:ph type="title" hasCustomPrompt="1"/>
          </p:nvPr>
        </p:nvSpPr>
        <p:spPr>
          <a:xfrm>
            <a:off x="1828800" y="1600200"/>
            <a:ext cx="10160000" cy="990600"/>
          </a:xfrm>
        </p:spPr>
        <p:txBody>
          <a:bodyPr/>
          <a:lstStyle>
            <a:lvl1pPr algn="l">
              <a:buNone/>
              <a:defRPr sz="5867" b="0" cap="none">
                <a:solidFill>
                  <a:srgbClr val="FFFFFF"/>
                </a:solidFill>
              </a:defRPr>
            </a:lvl1pPr>
            <a:extLst/>
          </a:lstStyle>
          <a:p>
            <a:r>
              <a:rPr lang="en-US" dirty="0"/>
              <a:t>Click to edit master title style</a:t>
            </a:r>
          </a:p>
        </p:txBody>
      </p:sp>
      <p:sp>
        <p:nvSpPr>
          <p:cNvPr id="12" name="Date Placeholder 11"/>
          <p:cNvSpPr>
            <a:spLocks noGrp="1"/>
          </p:cNvSpPr>
          <p:nvPr>
            <p:ph type="dt" sz="half" idx="10"/>
          </p:nvPr>
        </p:nvSpPr>
        <p:spPr/>
        <p:txBody>
          <a:bodyPr/>
          <a:lstStyle/>
          <a:p>
            <a:fld id="{6FCF9F07-3BC7-4570-B054-79111B0A380C}" type="datetime1">
              <a:rPr lang="en-US" smtClean="0"/>
              <a:pPr/>
              <a:t>4/14/2025</a:t>
            </a:fld>
            <a:endParaRPr lang="en-US"/>
          </a:p>
        </p:txBody>
      </p:sp>
      <p:sp>
        <p:nvSpPr>
          <p:cNvPr id="13" name="Slide Number Placeholder 12"/>
          <p:cNvSpPr>
            <a:spLocks noGrp="1"/>
          </p:cNvSpPr>
          <p:nvPr>
            <p:ph type="sldNum" sz="quarter" idx="11"/>
          </p:nvPr>
        </p:nvSpPr>
        <p:spPr>
          <a:xfrm>
            <a:off x="0" y="1752601"/>
            <a:ext cx="1727200" cy="701676"/>
          </a:xfrm>
        </p:spPr>
        <p:txBody>
          <a:bodyPr>
            <a:noAutofit/>
          </a:bodyPr>
          <a:lstStyle>
            <a:lvl1pPr>
              <a:defRPr sz="3200">
                <a:solidFill>
                  <a:srgbClr val="FFFFFF"/>
                </a:solidFill>
              </a:defRPr>
            </a:lvl1pPr>
            <a:extLst/>
          </a:lstStyle>
          <a:p>
            <a:pPr algn="ctr"/>
            <a:fld id="{8F82E0A0-C266-4798-8C8F-B9F91E9DA37E}" type="slidenum">
              <a:rPr lang="en-US" sz="3200" b="1" smtClean="0">
                <a:solidFill>
                  <a:srgbClr val="FFFFFF"/>
                </a:solidFill>
              </a:rPr>
              <a:pPr algn="ctr"/>
              <a:t>‹#›</a:t>
            </a:fld>
            <a:endParaRPr lang="en-US" sz="3200" dirty="0">
              <a:solidFill>
                <a:srgbClr val="FFFFFF"/>
              </a:solidFill>
            </a:endParaRPr>
          </a:p>
        </p:txBody>
      </p:sp>
      <p:sp>
        <p:nvSpPr>
          <p:cNvPr id="14" name="Footer Placeholder 13"/>
          <p:cNvSpPr>
            <a:spLocks noGrp="1"/>
          </p:cNvSpPr>
          <p:nvPr>
            <p:ph type="ftr" sz="quarter" idx="12"/>
          </p:nvPr>
        </p:nvSpPr>
        <p:spPr/>
        <p:txBody>
          <a:bodyPr/>
          <a:lstStyle/>
          <a:p>
            <a:endParaRPr lang="en-US"/>
          </a:p>
        </p:txBody>
      </p:sp>
    </p:spTree>
    <p:extLst>
      <p:ext uri="{BB962C8B-B14F-4D97-AF65-F5344CB8AC3E}">
        <p14:creationId xmlns:p14="http://schemas.microsoft.com/office/powerpoint/2010/main" val="1643558021"/>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9" name="Content Placeholder 8"/>
          <p:cNvSpPr>
            <a:spLocks noGrp="1"/>
          </p:cNvSpPr>
          <p:nvPr>
            <p:ph sz="quarter" idx="13"/>
          </p:nvPr>
        </p:nvSpPr>
        <p:spPr>
          <a:xfrm>
            <a:off x="812800" y="1803402"/>
            <a:ext cx="5181600" cy="43581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14"/>
          </p:nvPr>
        </p:nvSpPr>
        <p:spPr>
          <a:xfrm>
            <a:off x="6459868" y="1803399"/>
            <a:ext cx="5181600" cy="4358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5"/>
          </p:nvPr>
        </p:nvSpPr>
        <p:spPr/>
        <p:txBody>
          <a:bodyPr rtlCol="0"/>
          <a:lstStyle/>
          <a:p>
            <a:fld id="{E4606EA6-EFEA-4C30-9264-4F9291A5780D}" type="datetime1">
              <a:rPr lang="en-US" smtClean="0"/>
              <a:pPr/>
              <a:t>4/14/2025</a:t>
            </a:fld>
            <a:endParaRPr lang="en-US"/>
          </a:p>
        </p:txBody>
      </p:sp>
      <p:sp>
        <p:nvSpPr>
          <p:cNvPr id="10" name="Slide Number Placeholder 9"/>
          <p:cNvSpPr>
            <a:spLocks noGrp="1"/>
          </p:cNvSpPr>
          <p:nvPr>
            <p:ph type="sldNum" sz="quarter" idx="16"/>
          </p:nvPr>
        </p:nvSpPr>
        <p:spPr/>
        <p:txBody>
          <a:bodyPr rtlCol="0"/>
          <a:lstStyle/>
          <a:p>
            <a:pPr algn="ctr"/>
            <a:fld id="{8F82E0A0-C266-4798-8C8F-B9F91E9DA37E}" type="slidenum">
              <a:rPr lang="en-US" sz="1867" b="1" smtClean="0">
                <a:solidFill>
                  <a:srgbClr val="FFFFFF"/>
                </a:solidFill>
              </a:rPr>
              <a:pPr algn="ctr"/>
              <a:t>‹#›</a:t>
            </a:fld>
            <a:endParaRPr lang="en-US"/>
          </a:p>
        </p:txBody>
      </p:sp>
      <p:sp>
        <p:nvSpPr>
          <p:cNvPr id="12" name="Footer Placeholder 11"/>
          <p:cNvSpPr>
            <a:spLocks noGrp="1"/>
          </p:cNvSpPr>
          <p:nvPr>
            <p:ph type="ftr" sz="quarter" idx="17"/>
          </p:nvPr>
        </p:nvSpPr>
        <p:spPr/>
        <p:txBody>
          <a:bodyPr rtlCol="0"/>
          <a:lstStyle/>
          <a:p>
            <a:endParaRPr lang="en-US"/>
          </a:p>
        </p:txBody>
      </p:sp>
    </p:spTree>
    <p:extLst>
      <p:ext uri="{BB962C8B-B14F-4D97-AF65-F5344CB8AC3E}">
        <p14:creationId xmlns:p14="http://schemas.microsoft.com/office/powerpoint/2010/main" val="1057513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6864" y="157480"/>
            <a:ext cx="10871200" cy="1341120"/>
          </a:xfrm>
        </p:spPr>
        <p:txBody>
          <a:bodyPr anchor="b"/>
          <a:lstStyle>
            <a:lvl1pPr>
              <a:defRPr/>
            </a:lvl1pPr>
            <a:extLst/>
          </a:lstStyle>
          <a:p>
            <a:r>
              <a:rPr lang="en-US"/>
              <a:t>Click to edit Master title style</a:t>
            </a:r>
            <a:endParaRPr lang="en-US" dirty="0"/>
          </a:p>
        </p:txBody>
      </p:sp>
      <p:sp>
        <p:nvSpPr>
          <p:cNvPr id="11" name="Content Placeholder 10"/>
          <p:cNvSpPr>
            <a:spLocks noGrp="1"/>
          </p:cNvSpPr>
          <p:nvPr>
            <p:ph sz="quarter" idx="13"/>
          </p:nvPr>
        </p:nvSpPr>
        <p:spPr>
          <a:xfrm>
            <a:off x="812800" y="2559757"/>
            <a:ext cx="51816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6400800" y="2559757"/>
            <a:ext cx="5181600" cy="3505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p:cNvSpPr>
            <a:spLocks noGrp="1"/>
          </p:cNvSpPr>
          <p:nvPr>
            <p:ph type="dt" sz="half" idx="15"/>
          </p:nvPr>
        </p:nvSpPr>
        <p:spPr/>
        <p:txBody>
          <a:bodyPr rtlCol="0"/>
          <a:lstStyle/>
          <a:p>
            <a:fld id="{E4606EA6-EFEA-4C30-9264-4F9291A5780D}" type="datetime1">
              <a:rPr lang="en-US" smtClean="0"/>
              <a:pPr/>
              <a:t>4/14/2025</a:t>
            </a:fld>
            <a:endParaRPr lang="en-US"/>
          </a:p>
        </p:txBody>
      </p:sp>
      <p:sp>
        <p:nvSpPr>
          <p:cNvPr id="12" name="Slide Number Placeholder 11"/>
          <p:cNvSpPr>
            <a:spLocks noGrp="1"/>
          </p:cNvSpPr>
          <p:nvPr>
            <p:ph type="sldNum" sz="quarter" idx="16"/>
          </p:nvPr>
        </p:nvSpPr>
        <p:spPr/>
        <p:txBody>
          <a:bodyPr rtlCol="0"/>
          <a:lstStyle/>
          <a:p>
            <a:pPr algn="ctr"/>
            <a:fld id="{8F82E0A0-C266-4798-8C8F-B9F91E9DA37E}" type="slidenum">
              <a:rPr lang="en-US" sz="1867" b="1" smtClean="0">
                <a:solidFill>
                  <a:srgbClr val="FFFFFF"/>
                </a:solidFill>
              </a:rPr>
              <a:pPr algn="ct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8"/>
          </p:nvPr>
        </p:nvSpPr>
        <p:spPr>
          <a:xfrm>
            <a:off x="812800" y="1816383"/>
            <a:ext cx="5181600" cy="707136"/>
          </a:xfrm>
          <a:solidFill>
            <a:schemeClr val="accent2"/>
          </a:solidFill>
        </p:spPr>
        <p:txBody>
          <a:bodyPr rtlCol="0" anchor="ctr"/>
          <a:lstStyle>
            <a:lvl1pPr>
              <a:buFontTx/>
              <a:buNone/>
              <a:defRPr sz="2667" b="1">
                <a:solidFill>
                  <a:srgbClr val="FFFFFF"/>
                </a:solidFill>
              </a:defRPr>
            </a:lvl1pPr>
            <a:extLst/>
          </a:lstStyle>
          <a:p>
            <a:pPr lvl="0"/>
            <a:r>
              <a:rPr lang="en-US"/>
              <a:t>Click to edit Master text styles</a:t>
            </a:r>
          </a:p>
        </p:txBody>
      </p:sp>
      <p:sp>
        <p:nvSpPr>
          <p:cNvPr id="15" name="Text Placeholder 14"/>
          <p:cNvSpPr>
            <a:spLocks noGrp="1"/>
          </p:cNvSpPr>
          <p:nvPr>
            <p:ph type="body" sz="quarter" idx="19"/>
          </p:nvPr>
        </p:nvSpPr>
        <p:spPr>
          <a:xfrm>
            <a:off x="6400800" y="1816383"/>
            <a:ext cx="5181600" cy="707136"/>
          </a:xfrm>
          <a:solidFill>
            <a:schemeClr val="accent4"/>
          </a:solidFill>
        </p:spPr>
        <p:txBody>
          <a:bodyPr rtlCol="0" anchor="ctr"/>
          <a:lstStyle>
            <a:lvl1pPr>
              <a:buFontTx/>
              <a:buNone/>
              <a:defRPr sz="2667" b="1">
                <a:solidFill>
                  <a:srgbClr val="FFFFFF"/>
                </a:solidFill>
              </a:defRPr>
            </a:lvl1pPr>
            <a:extLst/>
          </a:lstStyle>
          <a:p>
            <a:pPr lvl="0"/>
            <a:r>
              <a:rPr lang="en-US"/>
              <a:t>Click to edit Master text styles</a:t>
            </a:r>
          </a:p>
        </p:txBody>
      </p:sp>
    </p:spTree>
    <p:extLst>
      <p:ext uri="{BB962C8B-B14F-4D97-AF65-F5344CB8AC3E}">
        <p14:creationId xmlns:p14="http://schemas.microsoft.com/office/powerpoint/2010/main" val="27910586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FADB5D-B7A0-47E3-AD2D-B1A6F8614213}" type="datetime1">
              <a:rPr lang="en-US" smtClean="0"/>
              <a:pPr/>
              <a:t>4/14/2025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32429293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968126-03FC-49C0-B9B8-2B561CCC3D90}" type="datetime1">
              <a:rPr lang="en-US" smtClean="0"/>
              <a:pPr/>
              <a:t>4/14/2025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0" y="6248400"/>
            <a:ext cx="711200" cy="381000"/>
          </a:xfrm>
        </p:spPr>
        <p:txBody>
          <a:bodyPr/>
          <a:lstStyle>
            <a:lvl1pPr>
              <a:defRPr>
                <a:solidFill>
                  <a:schemeClr val="tx2"/>
                </a:solidFill>
              </a:defRPr>
            </a:lvl1pPr>
            <a:extLst/>
          </a:lstStyle>
          <a:p>
            <a:fld id="{A3F7CB7D-F184-43C7-B6FD-03D728E1BBFF}" type="slidenum">
              <a:rPr lang="en-US" smtClean="0">
                <a:solidFill>
                  <a:schemeClr val="tx2"/>
                </a:solidFill>
              </a:rPr>
              <a:pPr/>
              <a:t>‹#›</a:t>
            </a:fld>
            <a:endParaRPr lang="en-US" dirty="0">
              <a:solidFill>
                <a:schemeClr val="tx2"/>
              </a:solidFill>
            </a:endParaRPr>
          </a:p>
        </p:txBody>
      </p:sp>
    </p:spTree>
    <p:extLst>
      <p:ext uri="{BB962C8B-B14F-4D97-AF65-F5344CB8AC3E}">
        <p14:creationId xmlns:p14="http://schemas.microsoft.com/office/powerpoint/2010/main" val="40420227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157480"/>
            <a:ext cx="10871200" cy="1341120"/>
          </a:xfrm>
        </p:spPr>
        <p:txBody>
          <a:bodyPr anchor="b"/>
          <a:lstStyle>
            <a:lvl1pPr algn="l">
              <a:buNone/>
              <a:defRPr sz="5600" b="0"/>
            </a:lvl1pPr>
            <a:extLst/>
          </a:lstStyle>
          <a:p>
            <a:r>
              <a:rPr lang="en-US"/>
              <a:t>Click to edit Master title style</a:t>
            </a:r>
            <a:endParaRPr lang="en-US" dirty="0"/>
          </a:p>
        </p:txBody>
      </p:sp>
      <p:sp>
        <p:nvSpPr>
          <p:cNvPr id="5" name="Date Placeholder 4"/>
          <p:cNvSpPr>
            <a:spLocks noGrp="1"/>
          </p:cNvSpPr>
          <p:nvPr>
            <p:ph type="dt" sz="half" idx="10"/>
          </p:nvPr>
        </p:nvSpPr>
        <p:spPr/>
        <p:txBody>
          <a:bodyPr/>
          <a:lstStyle/>
          <a:p>
            <a:fld id="{F49A8198-4617-485E-9585-4840B69DBBA6}" type="datetime1">
              <a:rPr lang="en-US" smtClean="0"/>
              <a:pPr/>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extLst/>
          </a:lstStyle>
          <a:p>
            <a:fld id="{A3F7CB7D-F184-43C7-B6FD-03D728E1BBFF}" type="slidenum">
              <a:rPr lang="en-US" smtClean="0">
                <a:solidFill>
                  <a:srgbClr val="FFFFFF"/>
                </a:solidFill>
              </a:rPr>
              <a:pPr/>
              <a:t>‹#›</a:t>
            </a:fld>
            <a:endParaRPr lang="en-US" dirty="0">
              <a:solidFill>
                <a:srgbClr val="FFFFFF"/>
              </a:solidFill>
            </a:endParaRPr>
          </a:p>
        </p:txBody>
      </p:sp>
      <p:sp>
        <p:nvSpPr>
          <p:cNvPr id="3" name="Text Placeholder 2"/>
          <p:cNvSpPr>
            <a:spLocks noGrp="1"/>
          </p:cNvSpPr>
          <p:nvPr>
            <p:ph type="body" idx="1"/>
          </p:nvPr>
        </p:nvSpPr>
        <p:spPr>
          <a:xfrm>
            <a:off x="812800" y="1905000"/>
            <a:ext cx="2133600" cy="41656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333"/>
              </a:spcAft>
              <a:buNone/>
              <a:defRPr sz="2400"/>
            </a:lvl1pPr>
            <a:lvl2pPr>
              <a:buNone/>
              <a:defRPr sz="1600"/>
            </a:lvl2pPr>
            <a:lvl3pPr>
              <a:buNone/>
              <a:defRPr sz="1333"/>
            </a:lvl3pPr>
            <a:lvl4pPr>
              <a:buNone/>
              <a:defRPr sz="1200"/>
            </a:lvl4pPr>
            <a:lvl5pPr>
              <a:buNone/>
              <a:defRPr sz="1200"/>
            </a:lvl5pPr>
            <a:extLst/>
          </a:lstStyle>
          <a:p>
            <a:pPr lvl="0"/>
            <a:r>
              <a:rPr lang="en-US"/>
              <a:t>Click to edit Master text styles</a:t>
            </a:r>
          </a:p>
        </p:txBody>
      </p:sp>
      <p:sp>
        <p:nvSpPr>
          <p:cNvPr id="9" name="Content Placeholder 8"/>
          <p:cNvSpPr>
            <a:spLocks noGrp="1"/>
          </p:cNvSpPr>
          <p:nvPr>
            <p:ph sz="quarter" idx="13"/>
          </p:nvPr>
        </p:nvSpPr>
        <p:spPr>
          <a:xfrm>
            <a:off x="3149600" y="1905000"/>
            <a:ext cx="85344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661890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076891" y="0"/>
            <a:ext cx="10115109" cy="4559808"/>
          </a:xfrm>
          <a:solidFill>
            <a:schemeClr val="tx2">
              <a:shade val="50000"/>
            </a:schemeClr>
          </a:solidFill>
          <a:ln>
            <a:noFill/>
          </a:ln>
        </p:spPr>
        <p:txBody>
          <a:bodyPr/>
          <a:lstStyle>
            <a:lvl1pPr>
              <a:buNone/>
              <a:defRPr sz="4267"/>
            </a:lvl1pPr>
            <a:extLst/>
          </a:lstStyle>
          <a:p>
            <a:r>
              <a:rPr lang="en-US"/>
              <a:t>Drag picture to placeholder or click icon to add</a:t>
            </a:r>
            <a:endParaRPr lang="en-US" dirty="0"/>
          </a:p>
        </p:txBody>
      </p:sp>
      <p:sp>
        <p:nvSpPr>
          <p:cNvPr id="4" name="Text Placeholder 3"/>
          <p:cNvSpPr>
            <a:spLocks noGrp="1"/>
          </p:cNvSpPr>
          <p:nvPr>
            <p:ph type="body" sz="half" idx="2"/>
          </p:nvPr>
        </p:nvSpPr>
        <p:spPr>
          <a:xfrm>
            <a:off x="2133600" y="5486400"/>
            <a:ext cx="9753600" cy="685800"/>
          </a:xfrm>
        </p:spPr>
        <p:txBody>
          <a:bodyPr/>
          <a:lstStyle>
            <a:lvl1pPr marL="0" indent="0">
              <a:buFontTx/>
              <a:buNone/>
              <a:defRPr sz="2267"/>
            </a:lvl1pPr>
            <a:lvl2pPr>
              <a:buFontTx/>
              <a:buNone/>
              <a:defRPr sz="1600"/>
            </a:lvl2pPr>
            <a:lvl3pPr>
              <a:buFontTx/>
              <a:buNone/>
              <a:defRPr sz="1333"/>
            </a:lvl3pPr>
            <a:lvl4pPr>
              <a:buFontTx/>
              <a:buNone/>
              <a:defRPr sz="1200"/>
            </a:lvl4pPr>
            <a:lvl5pPr>
              <a:buFontTx/>
              <a:buNone/>
              <a:defRPr sz="1200"/>
            </a:lvl5pPr>
            <a:extLst/>
          </a:lstStyle>
          <a:p>
            <a:pPr lvl="0"/>
            <a:r>
              <a:rPr lang="en-US"/>
              <a:t>Click to edit Master text styles</a:t>
            </a:r>
          </a:p>
        </p:txBody>
      </p:sp>
      <p:sp>
        <p:nvSpPr>
          <p:cNvPr id="8" name="Rectangle 7"/>
          <p:cNvSpPr/>
          <p:nvPr/>
        </p:nvSpPr>
        <p:spPr>
          <a:xfrm>
            <a:off x="-12192" y="4572000"/>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Rectangle 8"/>
          <p:cNvSpPr/>
          <p:nvPr/>
        </p:nvSpPr>
        <p:spPr>
          <a:xfrm>
            <a:off x="-12192" y="4663440"/>
            <a:ext cx="195072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0" name="Rectangle 9"/>
          <p:cNvSpPr/>
          <p:nvPr/>
        </p:nvSpPr>
        <p:spPr>
          <a:xfrm>
            <a:off x="2060448" y="4654296"/>
            <a:ext cx="10119360"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2" name="Title 1"/>
          <p:cNvSpPr>
            <a:spLocks noGrp="1"/>
          </p:cNvSpPr>
          <p:nvPr>
            <p:ph type="title"/>
          </p:nvPr>
        </p:nvSpPr>
        <p:spPr>
          <a:xfrm>
            <a:off x="2133600" y="4724400"/>
            <a:ext cx="9753600" cy="609600"/>
          </a:xfrm>
        </p:spPr>
        <p:txBody>
          <a:bodyPr anchor="ctr"/>
          <a:lstStyle>
            <a:lvl1pPr algn="l">
              <a:buNone/>
              <a:defRPr sz="3733" b="0">
                <a:solidFill>
                  <a:srgbClr val="FFFFFF"/>
                </a:solidFill>
              </a:defRPr>
            </a:lvl1pPr>
            <a:extLst/>
          </a:lstStyle>
          <a:p>
            <a:r>
              <a:rPr lang="en-US"/>
              <a:t>Click to edit Master title style</a:t>
            </a:r>
            <a:endParaRPr lang="en-US" dirty="0"/>
          </a:p>
        </p:txBody>
      </p:sp>
      <p:sp>
        <p:nvSpPr>
          <p:cNvPr id="11" name="Rectangle 10"/>
          <p:cNvSpPr/>
          <p:nvPr/>
        </p:nvSpPr>
        <p:spPr>
          <a:xfrm>
            <a:off x="1930400" y="0"/>
            <a:ext cx="134112"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12" name="Date Placeholder 11"/>
          <p:cNvSpPr>
            <a:spLocks noGrp="1"/>
          </p:cNvSpPr>
          <p:nvPr>
            <p:ph type="dt" sz="half" idx="10"/>
          </p:nvPr>
        </p:nvSpPr>
        <p:spPr>
          <a:xfrm>
            <a:off x="8331200" y="6248400"/>
            <a:ext cx="3556000" cy="365125"/>
          </a:xfrm>
        </p:spPr>
        <p:txBody>
          <a:bodyPr rtlCol="0"/>
          <a:lstStyle/>
          <a:p>
            <a:fld id="{E4606EA6-EFEA-4C30-9264-4F9291A5780D}" type="datetime1">
              <a:rPr lang="en-US" smtClean="0"/>
              <a:pPr/>
              <a:t>4/14/2025</a:t>
            </a:fld>
            <a:endParaRPr lang="en-US"/>
          </a:p>
        </p:txBody>
      </p:sp>
      <p:sp>
        <p:nvSpPr>
          <p:cNvPr id="13" name="Slide Number Placeholder 12"/>
          <p:cNvSpPr>
            <a:spLocks noGrp="1"/>
          </p:cNvSpPr>
          <p:nvPr>
            <p:ph type="sldNum" sz="quarter" idx="11"/>
          </p:nvPr>
        </p:nvSpPr>
        <p:spPr>
          <a:xfrm>
            <a:off x="0" y="4667249"/>
            <a:ext cx="1930400" cy="663579"/>
          </a:xfrm>
        </p:spPr>
        <p:txBody>
          <a:bodyPr rtlCol="0"/>
          <a:lstStyle>
            <a:lvl1pPr>
              <a:defRPr sz="3733"/>
            </a:lvl1pPr>
            <a:extLst/>
          </a:lstStyle>
          <a:p>
            <a:pPr algn="ctr"/>
            <a:fld id="{8F82E0A0-C266-4798-8C8F-B9F91E9DA37E}" type="slidenum">
              <a:rPr lang="en-US" sz="3733" b="1" smtClean="0">
                <a:solidFill>
                  <a:srgbClr val="FFFFFF"/>
                </a:solidFill>
              </a:rPr>
              <a:pPr algn="ctr"/>
              <a:t>‹#›</a:t>
            </a:fld>
            <a:endParaRPr lang="en-US" sz="3733" dirty="0"/>
          </a:p>
        </p:txBody>
      </p:sp>
      <p:sp>
        <p:nvSpPr>
          <p:cNvPr id="14" name="Footer Placeholder 13"/>
          <p:cNvSpPr>
            <a:spLocks noGrp="1"/>
          </p:cNvSpPr>
          <p:nvPr>
            <p:ph type="ftr" sz="quarter" idx="12"/>
          </p:nvPr>
        </p:nvSpPr>
        <p:spPr>
          <a:xfrm>
            <a:off x="2133600" y="6248207"/>
            <a:ext cx="6096000" cy="365125"/>
          </a:xfrm>
        </p:spPr>
        <p:txBody>
          <a:bodyPr rtlCol="0"/>
          <a:lstStyle/>
          <a:p>
            <a:endParaRPr lang="en-US" dirty="0"/>
          </a:p>
        </p:txBody>
      </p:sp>
    </p:spTree>
    <p:extLst>
      <p:ext uri="{BB962C8B-B14F-4D97-AF65-F5344CB8AC3E}">
        <p14:creationId xmlns:p14="http://schemas.microsoft.com/office/powerpoint/2010/main" val="317874242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000B9F-3D16-F369-AF91-1E7E3797BE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46678A3-0C92-DA57-BF84-76D00ED975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5435C56-5483-A3CC-1AD0-7E2B0047C5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9FE89A-86BA-FD42-9062-6FDC96000E94}" type="datetimeFigureOut">
              <a:rPr lang="en-US" smtClean="0"/>
              <a:t>4/14/2025</a:t>
            </a:fld>
            <a:endParaRPr lang="en-US"/>
          </a:p>
        </p:txBody>
      </p:sp>
      <p:sp>
        <p:nvSpPr>
          <p:cNvPr id="5" name="Footer Placeholder 4">
            <a:extLst>
              <a:ext uri="{FF2B5EF4-FFF2-40B4-BE49-F238E27FC236}">
                <a16:creationId xmlns:a16="http://schemas.microsoft.com/office/drawing/2014/main" id="{28FEBC52-95E6-A71C-B80B-178C8A1F9C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B858E87-786F-0E40-8A5E-1DB601037E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3AC420-73C7-0E4D-B258-8A377A6F8F1A}" type="slidenum">
              <a:rPr lang="en-US" smtClean="0"/>
              <a:t>‹#›</a:t>
            </a:fld>
            <a:endParaRPr lang="en-US"/>
          </a:p>
        </p:txBody>
      </p:sp>
    </p:spTree>
    <p:extLst>
      <p:ext uri="{BB962C8B-B14F-4D97-AF65-F5344CB8AC3E}">
        <p14:creationId xmlns:p14="http://schemas.microsoft.com/office/powerpoint/2010/main" val="21592595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816864" y="1803400"/>
            <a:ext cx="10871200" cy="4323080"/>
          </a:xfrm>
          <a:prstGeom prst="rect">
            <a:avLst/>
          </a:prstGeom>
        </p:spPr>
        <p:txBody>
          <a:bodyPr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Date Placeholder 13"/>
          <p:cNvSpPr>
            <a:spLocks noGrp="1"/>
          </p:cNvSpPr>
          <p:nvPr>
            <p:ph type="dt" sz="half" idx="2"/>
          </p:nvPr>
        </p:nvSpPr>
        <p:spPr>
          <a:xfrm>
            <a:off x="8128000" y="6248400"/>
            <a:ext cx="3556000" cy="365125"/>
          </a:xfrm>
          <a:prstGeom prst="rect">
            <a:avLst/>
          </a:prstGeom>
        </p:spPr>
        <p:txBody>
          <a:bodyPr vert="horz" anchor="ctr" anchorCtr="0"/>
          <a:lstStyle>
            <a:lvl1pPr algn="l">
              <a:defRPr sz="1867">
                <a:solidFill>
                  <a:schemeClr val="tx2"/>
                </a:solidFill>
              </a:defRPr>
            </a:lvl1pPr>
            <a:extLst/>
          </a:lstStyle>
          <a:p>
            <a:fld id="{E4606EA6-EFEA-4C30-9264-4F9291A5780D}" type="datetime1">
              <a:rPr lang="en-US" smtClean="0"/>
              <a:pPr/>
              <a:t>4/14/2025</a:t>
            </a:fld>
            <a:endParaRPr lang="en-US" sz="1867" dirty="0">
              <a:solidFill>
                <a:schemeClr val="tx2"/>
              </a:solidFill>
            </a:endParaRPr>
          </a:p>
        </p:txBody>
      </p:sp>
      <p:sp>
        <p:nvSpPr>
          <p:cNvPr id="3" name="Footer Placeholder 2"/>
          <p:cNvSpPr>
            <a:spLocks noGrp="1"/>
          </p:cNvSpPr>
          <p:nvPr>
            <p:ph type="ftr" sz="quarter" idx="3"/>
          </p:nvPr>
        </p:nvSpPr>
        <p:spPr>
          <a:xfrm>
            <a:off x="812802" y="6248207"/>
            <a:ext cx="7228111" cy="365125"/>
          </a:xfrm>
          <a:prstGeom prst="rect">
            <a:avLst/>
          </a:prstGeom>
        </p:spPr>
        <p:txBody>
          <a:bodyPr vert="horz" anchor="ctr"/>
          <a:lstStyle>
            <a:lvl1pPr algn="r">
              <a:defRPr sz="1867">
                <a:solidFill>
                  <a:schemeClr val="tx2"/>
                </a:solidFill>
              </a:defRPr>
            </a:lvl1pPr>
            <a:extLst/>
          </a:lstStyle>
          <a:p>
            <a:pPr algn="r"/>
            <a:endParaRPr lang="en-US" sz="1867" dirty="0">
              <a:solidFill>
                <a:schemeClr val="tx2"/>
              </a:solidFill>
            </a:endParaRPr>
          </a:p>
        </p:txBody>
      </p:sp>
      <p:sp>
        <p:nvSpPr>
          <p:cNvPr id="7" name="Rectangle 6"/>
          <p:cNvSpPr/>
          <p:nvPr/>
        </p:nvSpPr>
        <p:spPr>
          <a:xfrm>
            <a:off x="0" y="1460227"/>
            <a:ext cx="12192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8" name="Rectangle 7"/>
          <p:cNvSpPr/>
          <p:nvPr/>
        </p:nvSpPr>
        <p:spPr>
          <a:xfrm>
            <a:off x="0" y="1505947"/>
            <a:ext cx="7112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9" name="Rectangle 8"/>
          <p:cNvSpPr/>
          <p:nvPr/>
        </p:nvSpPr>
        <p:spPr>
          <a:xfrm>
            <a:off x="787400" y="1505947"/>
            <a:ext cx="1140460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endParaRPr lang="en-US" sz="2400"/>
          </a:p>
        </p:txBody>
      </p:sp>
      <p:sp>
        <p:nvSpPr>
          <p:cNvPr id="23" name="Slide Number Placeholder 22"/>
          <p:cNvSpPr>
            <a:spLocks noGrp="1"/>
          </p:cNvSpPr>
          <p:nvPr>
            <p:ph type="sldNum" sz="quarter" idx="4"/>
          </p:nvPr>
        </p:nvSpPr>
        <p:spPr>
          <a:xfrm>
            <a:off x="0" y="1498010"/>
            <a:ext cx="711200" cy="244476"/>
          </a:xfrm>
          <a:prstGeom prst="rect">
            <a:avLst/>
          </a:prstGeom>
        </p:spPr>
        <p:txBody>
          <a:bodyPr vert="horz" anchor="ctr" anchorCtr="0">
            <a:normAutofit/>
          </a:bodyPr>
          <a:lstStyle>
            <a:lvl1pPr algn="ctr">
              <a:defRPr sz="1867" b="1">
                <a:solidFill>
                  <a:srgbClr val="FFFFFF"/>
                </a:solidFill>
              </a:defRPr>
            </a:lvl1pPr>
            <a:extLst/>
          </a:lstStyle>
          <a:p>
            <a:pPr algn="ctr"/>
            <a:fld id="{8F82E0A0-C266-4798-8C8F-B9F91E9DA37E}" type="slidenum">
              <a:rPr lang="en-US" sz="1867" b="1" smtClean="0">
                <a:solidFill>
                  <a:srgbClr val="FFFFFF"/>
                </a:solidFill>
              </a:rPr>
              <a:pPr algn="ctr"/>
              <a:t>‹#›</a:t>
            </a:fld>
            <a:endParaRPr lang="en-US" sz="1867" b="1" dirty="0">
              <a:solidFill>
                <a:srgbClr val="FFFFFF"/>
              </a:solidFill>
            </a:endParaRPr>
          </a:p>
        </p:txBody>
      </p:sp>
      <p:sp>
        <p:nvSpPr>
          <p:cNvPr id="22" name="Title Placeholder 21"/>
          <p:cNvSpPr>
            <a:spLocks noGrp="1"/>
          </p:cNvSpPr>
          <p:nvPr>
            <p:ph type="title"/>
          </p:nvPr>
        </p:nvSpPr>
        <p:spPr>
          <a:xfrm>
            <a:off x="812800" y="157480"/>
            <a:ext cx="10871200" cy="1341120"/>
          </a:xfrm>
          <a:prstGeom prst="rect">
            <a:avLst/>
          </a:prstGeom>
        </p:spPr>
        <p:txBody>
          <a:bodyPr vert="horz" anchor="b">
            <a:normAutofit/>
          </a:bodyPr>
          <a:lstStyle/>
          <a:p>
            <a:r>
              <a:rPr lang="en-US"/>
              <a:t>Click to edit Master title style</a:t>
            </a:r>
            <a:endParaRPr lang="en-US" dirty="0"/>
          </a:p>
        </p:txBody>
      </p:sp>
    </p:spTree>
    <p:extLst>
      <p:ext uri="{BB962C8B-B14F-4D97-AF65-F5344CB8AC3E}">
        <p14:creationId xmlns:p14="http://schemas.microsoft.com/office/powerpoint/2010/main" val="35066838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lgn="l" rtl="0" eaLnBrk="1" latinLnBrk="0" hangingPunct="1">
        <a:spcBef>
          <a:spcPct val="0"/>
        </a:spcBef>
        <a:buNone/>
        <a:defRPr sz="5600" kern="1200">
          <a:solidFill>
            <a:schemeClr val="tx2"/>
          </a:solidFill>
          <a:latin typeface="+mj-lt"/>
          <a:ea typeface="+mj-ea"/>
          <a:cs typeface="+mj-cs"/>
        </a:defRPr>
      </a:lvl1pPr>
      <a:extLst/>
    </p:titleStyle>
    <p:bodyStyle>
      <a:lvl1pPr marL="426709" indent="-426709" algn="l" rtl="0" eaLnBrk="1" latinLnBrk="0" hangingPunct="1">
        <a:spcBef>
          <a:spcPts val="933"/>
        </a:spcBef>
        <a:buClr>
          <a:schemeClr val="accent2"/>
        </a:buClr>
        <a:buSzPct val="60000"/>
        <a:buFont typeface="Wingdings"/>
        <a:buChar char=""/>
        <a:defRPr sz="3867" kern="1200">
          <a:solidFill>
            <a:schemeClr val="tx1"/>
          </a:solidFill>
          <a:latin typeface="+mn-lt"/>
          <a:ea typeface="+mn-ea"/>
          <a:cs typeface="+mn-cs"/>
        </a:defRPr>
      </a:lvl1pPr>
      <a:lvl2pPr marL="853419" indent="-365751" algn="l" rtl="0" eaLnBrk="1" latinLnBrk="0" hangingPunct="1">
        <a:spcBef>
          <a:spcPts val="733"/>
        </a:spcBef>
        <a:buClr>
          <a:schemeClr val="accent1"/>
        </a:buClr>
        <a:buSzPct val="70000"/>
        <a:buFont typeface="Wingdings 2"/>
        <a:buChar char=""/>
        <a:defRPr sz="3467" kern="1200">
          <a:solidFill>
            <a:schemeClr val="tx1"/>
          </a:solidFill>
          <a:latin typeface="+mn-lt"/>
          <a:ea typeface="+mn-ea"/>
          <a:cs typeface="+mn-cs"/>
        </a:defRPr>
      </a:lvl2pPr>
      <a:lvl3pPr marL="1219170" indent="-304792" algn="l" rtl="0" eaLnBrk="1" latinLnBrk="0" hangingPunct="1">
        <a:spcBef>
          <a:spcPts val="667"/>
        </a:spcBef>
        <a:buClr>
          <a:schemeClr val="accent2"/>
        </a:buClr>
        <a:buSzPct val="75000"/>
        <a:buFont typeface="Wingdings"/>
        <a:buChar char=""/>
        <a:defRPr sz="3067" kern="1200">
          <a:solidFill>
            <a:schemeClr val="tx1"/>
          </a:solidFill>
          <a:latin typeface="+mn-lt"/>
          <a:ea typeface="+mn-ea"/>
          <a:cs typeface="+mn-cs"/>
        </a:defRPr>
      </a:lvl3pPr>
      <a:lvl4pPr marL="1828754" indent="-304792" algn="l" rtl="0" eaLnBrk="1" latinLnBrk="0" hangingPunct="1">
        <a:spcBef>
          <a:spcPts val="533"/>
        </a:spcBef>
        <a:buClr>
          <a:schemeClr val="accent3"/>
        </a:buClr>
        <a:buSzPct val="75000"/>
        <a:buFont typeface="Wingdings"/>
        <a:buChar char=""/>
        <a:defRPr sz="2667" kern="1200">
          <a:solidFill>
            <a:schemeClr val="tx1"/>
          </a:solidFill>
          <a:latin typeface="+mn-lt"/>
          <a:ea typeface="+mn-ea"/>
          <a:cs typeface="+mn-cs"/>
        </a:defRPr>
      </a:lvl4pPr>
      <a:lvl5pPr marL="2438339" indent="-304792" algn="l" rtl="0" eaLnBrk="1" latinLnBrk="0" hangingPunct="1">
        <a:spcBef>
          <a:spcPts val="533"/>
        </a:spcBef>
        <a:buClr>
          <a:schemeClr val="accent4"/>
        </a:buClr>
        <a:buSzPct val="65000"/>
        <a:buFont typeface="Wingdings"/>
        <a:buChar char=""/>
        <a:defRPr sz="2667" kern="1200">
          <a:solidFill>
            <a:schemeClr val="tx1"/>
          </a:solidFill>
          <a:latin typeface="+mn-lt"/>
          <a:ea typeface="+mn-ea"/>
          <a:cs typeface="+mn-cs"/>
        </a:defRPr>
      </a:lvl5pPr>
      <a:lvl6pPr marL="2804090" indent="-304792" algn="l" rtl="0" eaLnBrk="1" latinLnBrk="0" hangingPunct="1">
        <a:spcBef>
          <a:spcPct val="20000"/>
        </a:spcBef>
        <a:buClr>
          <a:schemeClr val="accent1"/>
        </a:buClr>
        <a:buFont typeface="Wingdings"/>
        <a:buNone/>
        <a:defRPr sz="2400" kern="1200" baseline="0">
          <a:solidFill>
            <a:schemeClr val="tx1"/>
          </a:solidFill>
          <a:latin typeface="+mn-lt"/>
          <a:ea typeface="+mn-ea"/>
          <a:cs typeface="+mn-cs"/>
        </a:defRPr>
      </a:lvl6pPr>
      <a:lvl7pPr marL="3169841" indent="-304792" algn="l" rtl="0" eaLnBrk="1" latinLnBrk="0" hangingPunct="1">
        <a:spcBef>
          <a:spcPct val="20000"/>
        </a:spcBef>
        <a:buClr>
          <a:schemeClr val="accent2"/>
        </a:buClr>
        <a:buFont typeface="Wingdings"/>
        <a:buChar char="§"/>
        <a:defRPr sz="2400" kern="1200" baseline="0">
          <a:solidFill>
            <a:schemeClr val="tx1"/>
          </a:solidFill>
          <a:latin typeface="+mn-lt"/>
          <a:ea typeface="+mn-ea"/>
          <a:cs typeface="+mn-cs"/>
        </a:defRPr>
      </a:lvl7pPr>
      <a:lvl8pPr marL="3535592" indent="-304792" algn="l" rtl="0" eaLnBrk="1" latinLnBrk="0" hangingPunct="1">
        <a:spcBef>
          <a:spcPct val="20000"/>
        </a:spcBef>
        <a:buClr>
          <a:schemeClr val="accent3"/>
        </a:buClr>
        <a:buFont typeface="Wingdings"/>
        <a:buChar char="§"/>
        <a:defRPr sz="2400" kern="1200" baseline="0">
          <a:solidFill>
            <a:schemeClr val="tx1"/>
          </a:solidFill>
          <a:latin typeface="+mn-lt"/>
          <a:ea typeface="+mn-ea"/>
          <a:cs typeface="+mn-cs"/>
        </a:defRPr>
      </a:lvl8pPr>
      <a:lvl9pPr marL="3901342" indent="-304792" algn="l" rtl="0" eaLnBrk="1" latinLnBrk="0" hangingPunct="1">
        <a:spcBef>
          <a:spcPct val="20000"/>
        </a:spcBef>
        <a:buClr>
          <a:schemeClr val="accent4"/>
        </a:buClr>
        <a:buFont typeface="Wingdings"/>
        <a:buChar char="§"/>
        <a:defRPr sz="2400" kern="1200" baseline="0">
          <a:solidFill>
            <a:schemeClr val="tx1"/>
          </a:solidFill>
          <a:latin typeface="+mn-lt"/>
          <a:ea typeface="+mn-ea"/>
          <a:cs typeface="+mn-cs"/>
        </a:defRPr>
      </a:lvl9pPr>
      <a:extLst/>
    </p:bodyStyle>
    <p:otherStyle>
      <a:lvl1pPr marL="0" algn="l" rtl="0" eaLnBrk="1" hangingPunct="1">
        <a:defRPr kern="1200">
          <a:solidFill>
            <a:schemeClr val="tx1"/>
          </a:solidFill>
          <a:latin typeface="+mn-lt"/>
          <a:ea typeface="+mn-ea"/>
          <a:cs typeface="+mn-cs"/>
        </a:defRPr>
      </a:lvl1pPr>
      <a:lvl2pPr marL="609585" algn="l" rtl="0" eaLnBrk="1" hangingPunct="1">
        <a:defRPr kern="1200">
          <a:solidFill>
            <a:schemeClr val="tx1"/>
          </a:solidFill>
          <a:latin typeface="+mn-lt"/>
          <a:ea typeface="+mn-ea"/>
          <a:cs typeface="+mn-cs"/>
        </a:defRPr>
      </a:lvl2pPr>
      <a:lvl3pPr marL="1219170" algn="l" rtl="0" eaLnBrk="1" hangingPunct="1">
        <a:defRPr kern="1200">
          <a:solidFill>
            <a:schemeClr val="tx1"/>
          </a:solidFill>
          <a:latin typeface="+mn-lt"/>
          <a:ea typeface="+mn-ea"/>
          <a:cs typeface="+mn-cs"/>
        </a:defRPr>
      </a:lvl3pPr>
      <a:lvl4pPr marL="1828754" algn="l" rtl="0" eaLnBrk="1" hangingPunct="1">
        <a:defRPr kern="1200">
          <a:solidFill>
            <a:schemeClr val="tx1"/>
          </a:solidFill>
          <a:latin typeface="+mn-lt"/>
          <a:ea typeface="+mn-ea"/>
          <a:cs typeface="+mn-cs"/>
        </a:defRPr>
      </a:lvl4pPr>
      <a:lvl5pPr marL="2438339" algn="l" rtl="0" eaLnBrk="1" hangingPunct="1">
        <a:defRPr kern="1200">
          <a:solidFill>
            <a:schemeClr val="tx1"/>
          </a:solidFill>
          <a:latin typeface="+mn-lt"/>
          <a:ea typeface="+mn-ea"/>
          <a:cs typeface="+mn-cs"/>
        </a:defRPr>
      </a:lvl5pPr>
      <a:lvl6pPr marL="3047924" algn="l" rtl="0" eaLnBrk="1" hangingPunct="1">
        <a:defRPr kern="1200">
          <a:solidFill>
            <a:schemeClr val="tx1"/>
          </a:solidFill>
          <a:latin typeface="+mn-lt"/>
          <a:ea typeface="+mn-ea"/>
          <a:cs typeface="+mn-cs"/>
        </a:defRPr>
      </a:lvl6pPr>
      <a:lvl7pPr marL="3657509" algn="l" rtl="0" eaLnBrk="1" hangingPunct="1">
        <a:defRPr kern="1200">
          <a:solidFill>
            <a:schemeClr val="tx1"/>
          </a:solidFill>
          <a:latin typeface="+mn-lt"/>
          <a:ea typeface="+mn-ea"/>
          <a:cs typeface="+mn-cs"/>
        </a:defRPr>
      </a:lvl7pPr>
      <a:lvl8pPr marL="4267093" algn="l" rtl="0" eaLnBrk="1" hangingPunct="1">
        <a:defRPr kern="1200">
          <a:solidFill>
            <a:schemeClr val="tx1"/>
          </a:solidFill>
          <a:latin typeface="+mn-lt"/>
          <a:ea typeface="+mn-ea"/>
          <a:cs typeface="+mn-cs"/>
        </a:defRPr>
      </a:lvl8pPr>
      <a:lvl9pPr marL="4876678" algn="l" rtl="0" eaLnBrk="1" hangingPunct="1">
        <a:defRPr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customXml" Target="../ink/ink2.xml"/><Relationship Id="rId12"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customXml" Target="../ink/ink4.xml"/><Relationship Id="rId5" Type="http://schemas.openxmlformats.org/officeDocument/2006/relationships/customXml" Target="../ink/ink1.xml"/><Relationship Id="rId10"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customXml" Target="../ink/ink3.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customXml" Target="../ink/ink10.xml"/><Relationship Id="rId3" Type="http://schemas.openxmlformats.org/officeDocument/2006/relationships/customXml" Target="../ink/ink5.xml"/><Relationship Id="rId7" Type="http://schemas.openxmlformats.org/officeDocument/2006/relationships/customXml" Target="../ink/ink7.xml"/><Relationship Id="rId12"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customXml" Target="../ink/ink9.xml"/><Relationship Id="rId5" Type="http://schemas.openxmlformats.org/officeDocument/2006/relationships/customXml" Target="../ink/ink6.xml"/><Relationship Id="rId10"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customXml" Target="../ink/ink8.xml"/><Relationship Id="rId1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emf"/><Relationship Id="rId5" Type="http://schemas.openxmlformats.org/officeDocument/2006/relationships/oleObject" Target="../embeddings/oleObject2.bin"/><Relationship Id="rId10" Type="http://schemas.openxmlformats.org/officeDocument/2006/relationships/image" Target="../media/image8.emf"/><Relationship Id="rId4" Type="http://schemas.openxmlformats.org/officeDocument/2006/relationships/image" Target="../media/image5.emf"/><Relationship Id="rId9"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0.emf"/><Relationship Id="rId5" Type="http://schemas.openxmlformats.org/officeDocument/2006/relationships/oleObject" Target="../embeddings/oleObject6.bin"/><Relationship Id="rId4" Type="http://schemas.openxmlformats.org/officeDocument/2006/relationships/image" Target="../media/image9.emf"/><Relationship Id="rId9" Type="http://schemas.openxmlformats.org/officeDocument/2006/relationships/image" Target="../media/image15.png"/></Relationships>
</file>

<file path=ppt/slides/_rels/slide13.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6.emf"/><Relationship Id="rId11" Type="http://schemas.openxmlformats.org/officeDocument/2006/relationships/image" Target="../media/image18.png"/><Relationship Id="rId5" Type="http://schemas.openxmlformats.org/officeDocument/2006/relationships/oleObject" Target="../embeddings/oleObject9.bin"/><Relationship Id="rId10" Type="http://schemas.openxmlformats.org/officeDocument/2006/relationships/image" Target="../media/image17.emf"/><Relationship Id="rId4" Type="http://schemas.openxmlformats.org/officeDocument/2006/relationships/image" Target="../media/image16.emf"/><Relationship Id="rId9" Type="http://schemas.openxmlformats.org/officeDocument/2006/relationships/oleObject" Target="../embeddings/oleObject11.bin"/></Relationships>
</file>

<file path=ppt/slides/_rels/slide1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customXml" Target="../ink/ink11.xml"/><Relationship Id="rId7" Type="http://schemas.openxmlformats.org/officeDocument/2006/relationships/customXml" Target="../ink/ink13.xml"/><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customXml" Target="../ink/ink12.xml"/><Relationship Id="rId10" Type="http://schemas.openxmlformats.org/officeDocument/2006/relationships/image" Target="../media/image23.png"/><Relationship Id="rId4" Type="http://schemas.openxmlformats.org/officeDocument/2006/relationships/image" Target="../media/image20.png"/><Relationship Id="rId9" Type="http://schemas.openxmlformats.org/officeDocument/2006/relationships/customXml" Target="../ink/ink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6.emf"/><Relationship Id="rId5" Type="http://schemas.openxmlformats.org/officeDocument/2006/relationships/oleObject" Target="../embeddings/oleObject13.bin"/><Relationship Id="rId10" Type="http://schemas.openxmlformats.org/officeDocument/2006/relationships/image" Target="../media/image25.emf"/><Relationship Id="rId4" Type="http://schemas.openxmlformats.org/officeDocument/2006/relationships/image" Target="../media/image24.emf"/><Relationship Id="rId9" Type="http://schemas.openxmlformats.org/officeDocument/2006/relationships/oleObject" Target="../embeddings/oleObject15.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6.emf"/></Relationships>
</file>

<file path=ppt/slides/_rels/slide20.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1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3np0tuRlOPc"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hyperlink" Target="https://www.youtube.com/watch?v=w36sJdbsBhA" TargetMode="External"/><Relationship Id="rId4" Type="http://schemas.openxmlformats.org/officeDocument/2006/relationships/hyperlink" Target="https://www.youtube.com/watch?v=wbjPiYE-F4Y"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www.dothefinancial.info/rate-return/the-optimal-risky-portfolio-with-two-risky-assets-and-a-riskfree-asset.html"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hyperlink" Target="https://www.nytimes.com/2015/07/12/upshot/investing-in-the-dark-the-biggest-cost-of-fear-is-paralysis.html?_r=0" TargetMode="External"/><Relationship Id="rId4" Type="http://schemas.openxmlformats.org/officeDocument/2006/relationships/hyperlink" Target="https://blog.personalcapital.com/investing/the-seven-deadly-investor-si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Rectangle 3"/>
          <p:cNvSpPr>
            <a:spLocks noGrp="1"/>
          </p:cNvSpPr>
          <p:nvPr>
            <p:ph type="title"/>
          </p:nvPr>
        </p:nvSpPr>
        <p:spPr>
          <a:xfrm>
            <a:off x="1188134" y="1276285"/>
            <a:ext cx="10401886" cy="812800"/>
          </a:xfrm>
        </p:spPr>
        <p:txBody>
          <a:bodyPr>
            <a:noAutofit/>
          </a:bodyPr>
          <a:lstStyle/>
          <a:p>
            <a:r>
              <a:rPr kumimoji="0" lang="en-US" sz="4000" b="1" i="0" u="none" strike="noStrike" kern="1200" cap="all" spc="0" normalizeH="0" baseline="0" noProof="0" dirty="0">
                <a:ln>
                  <a:noFill/>
                </a:ln>
                <a:solidFill>
                  <a:srgbClr val="DA1F28">
                    <a:lumMod val="75000"/>
                  </a:srgbClr>
                </a:solidFill>
                <a:effectLst/>
                <a:uLnTx/>
                <a:uFillTx/>
                <a:latin typeface="Tw Cen MT"/>
                <a:ea typeface="+mj-ea"/>
                <a:cs typeface="+mj-cs"/>
              </a:rPr>
              <a:t>Lecture 6: Modern Portfolio Theory </a:t>
            </a:r>
            <a:r>
              <a:rPr kumimoji="0" lang="en-US" sz="4000" b="1" i="0" u="none" strike="noStrike" kern="1200" cap="all" spc="0" normalizeH="0" baseline="0" noProof="0" dirty="0" err="1">
                <a:ln>
                  <a:noFill/>
                </a:ln>
                <a:solidFill>
                  <a:srgbClr val="DA1F28">
                    <a:lumMod val="75000"/>
                  </a:srgbClr>
                </a:solidFill>
                <a:effectLst/>
                <a:uLnTx/>
                <a:uFillTx/>
                <a:latin typeface="Tw Cen MT"/>
                <a:ea typeface="+mj-ea"/>
                <a:cs typeface="+mj-cs"/>
              </a:rPr>
              <a:t>Ii</a:t>
            </a:r>
            <a:endParaRPr lang="en-US" sz="4000" dirty="0">
              <a:solidFill>
                <a:schemeClr val="accent2">
                  <a:lumMod val="75000"/>
                </a:schemeClr>
              </a:solidFill>
            </a:endParaRPr>
          </a:p>
        </p:txBody>
      </p:sp>
      <p:sp>
        <p:nvSpPr>
          <p:cNvPr id="2" name="TextBox 1"/>
          <p:cNvSpPr txBox="1"/>
          <p:nvPr/>
        </p:nvSpPr>
        <p:spPr>
          <a:xfrm>
            <a:off x="12966184" y="1136501"/>
            <a:ext cx="184731" cy="461665"/>
          </a:xfrm>
          <a:prstGeom prst="rect">
            <a:avLst/>
          </a:prstGeom>
          <a:noFill/>
        </p:spPr>
        <p:txBody>
          <a:bodyPr wrap="none" rtlCol="0">
            <a:spAutoFit/>
          </a:bodyPr>
          <a:lstStyle/>
          <a:p>
            <a:pPr defTabSz="1219170"/>
            <a:endParaRPr lang="en-US" sz="2400" dirty="0">
              <a:solidFill>
                <a:prstClr val="white"/>
              </a:solidFill>
              <a:latin typeface="Tw Cen MT"/>
            </a:endParaRPr>
          </a:p>
        </p:txBody>
      </p:sp>
      <p:sp>
        <p:nvSpPr>
          <p:cNvPr id="5" name="Subtitle 2"/>
          <p:cNvSpPr txBox="1">
            <a:spLocks/>
          </p:cNvSpPr>
          <p:nvPr/>
        </p:nvSpPr>
        <p:spPr>
          <a:xfrm>
            <a:off x="365393" y="6070600"/>
            <a:ext cx="2590800" cy="685800"/>
          </a:xfrm>
          <a:prstGeom prst="rect">
            <a:avLst/>
          </a:prstGeom>
        </p:spPr>
        <p:txBody>
          <a:bodyPr vert="horz" anchor="ctr">
            <a:normAutofit/>
          </a:bodyPr>
          <a:lstStyle>
            <a:lvl1pPr marL="0" indent="0" algn="l" rtl="0" eaLnBrk="1" latinLnBrk="0" hangingPunct="1">
              <a:spcBef>
                <a:spcPts val="700"/>
              </a:spcBef>
              <a:buClr>
                <a:schemeClr val="accent2"/>
              </a:buClr>
              <a:buSzPct val="60000"/>
              <a:buFont typeface="Wingdings"/>
              <a:buNone/>
              <a:defRPr sz="2800" kern="1200">
                <a:solidFill>
                  <a:srgbClr val="FFFFFF"/>
                </a:solidFill>
                <a:latin typeface="+mn-lt"/>
                <a:ea typeface="+mn-ea"/>
                <a:cs typeface="+mn-cs"/>
              </a:defRPr>
            </a:lvl1pPr>
            <a:lvl2pPr marL="457200" indent="0" algn="ctr" rtl="0" eaLnBrk="1" latinLnBrk="0" hangingPunct="1">
              <a:spcBef>
                <a:spcPts val="550"/>
              </a:spcBef>
              <a:buClr>
                <a:schemeClr val="accent1"/>
              </a:buClr>
              <a:buSzPct val="70000"/>
              <a:buFont typeface="Wingdings 2"/>
              <a:buNone/>
              <a:defRPr sz="2600" kern="1200">
                <a:solidFill>
                  <a:schemeClr val="tx1"/>
                </a:solidFill>
                <a:latin typeface="+mn-lt"/>
                <a:ea typeface="+mn-ea"/>
                <a:cs typeface="+mn-cs"/>
              </a:defRPr>
            </a:lvl2pPr>
            <a:lvl3pPr marL="914400" indent="0" algn="ctr" rtl="0" eaLnBrk="1" latinLnBrk="0" hangingPunct="1">
              <a:spcBef>
                <a:spcPts val="500"/>
              </a:spcBef>
              <a:buClr>
                <a:schemeClr val="accent2"/>
              </a:buClr>
              <a:buSzPct val="75000"/>
              <a:buFont typeface="Wingdings"/>
              <a:buNone/>
              <a:defRPr sz="2300" kern="1200">
                <a:solidFill>
                  <a:schemeClr val="tx1"/>
                </a:solidFill>
                <a:latin typeface="+mn-lt"/>
                <a:ea typeface="+mn-ea"/>
                <a:cs typeface="+mn-cs"/>
              </a:defRPr>
            </a:lvl3pPr>
            <a:lvl4pPr marL="1371600" indent="0" algn="ctr" rtl="0" eaLnBrk="1" latinLnBrk="0" hangingPunct="1">
              <a:spcBef>
                <a:spcPts val="400"/>
              </a:spcBef>
              <a:buClr>
                <a:schemeClr val="accent3"/>
              </a:buClr>
              <a:buSzPct val="75000"/>
              <a:buFont typeface="Wingdings"/>
              <a:buNone/>
              <a:defRPr sz="2000" kern="1200">
                <a:solidFill>
                  <a:schemeClr val="tx1"/>
                </a:solidFill>
                <a:latin typeface="+mn-lt"/>
                <a:ea typeface="+mn-ea"/>
                <a:cs typeface="+mn-cs"/>
              </a:defRPr>
            </a:lvl4pPr>
            <a:lvl5pPr marL="1828800" indent="0" algn="ctr" rtl="0" eaLnBrk="1" latinLnBrk="0" hangingPunct="1">
              <a:spcBef>
                <a:spcPts val="400"/>
              </a:spcBef>
              <a:buClr>
                <a:schemeClr val="accent4"/>
              </a:buClr>
              <a:buSzPct val="65000"/>
              <a:buFont typeface="Wingdings"/>
              <a:buNone/>
              <a:defRPr sz="2000" kern="1200">
                <a:solidFill>
                  <a:schemeClr val="tx1"/>
                </a:solidFill>
                <a:latin typeface="+mn-lt"/>
                <a:ea typeface="+mn-ea"/>
                <a:cs typeface="+mn-cs"/>
              </a:defRPr>
            </a:lvl5pPr>
            <a:lvl6pPr marL="2286000" indent="0" algn="ctr"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743200" indent="0" algn="ctr" rtl="0" eaLnBrk="1" latinLnBrk="0" hangingPunct="1">
              <a:spcBef>
                <a:spcPct val="20000"/>
              </a:spcBef>
              <a:buClr>
                <a:schemeClr val="accent2"/>
              </a:buClr>
              <a:buFont typeface="Wingdings"/>
              <a:buNone/>
              <a:defRPr sz="1800" kern="1200" baseline="0">
                <a:solidFill>
                  <a:schemeClr val="tx1"/>
                </a:solidFill>
                <a:latin typeface="+mn-lt"/>
                <a:ea typeface="+mn-ea"/>
                <a:cs typeface="+mn-cs"/>
              </a:defRPr>
            </a:lvl7pPr>
            <a:lvl8pPr marL="3200400" indent="0" algn="ctr" rtl="0" eaLnBrk="1" latinLnBrk="0" hangingPunct="1">
              <a:spcBef>
                <a:spcPct val="20000"/>
              </a:spcBef>
              <a:buClr>
                <a:schemeClr val="accent3"/>
              </a:buClr>
              <a:buFont typeface="Wingdings"/>
              <a:buNone/>
              <a:defRPr sz="1800" kern="1200" baseline="0">
                <a:solidFill>
                  <a:schemeClr val="tx1"/>
                </a:solidFill>
                <a:latin typeface="+mn-lt"/>
                <a:ea typeface="+mn-ea"/>
                <a:cs typeface="+mn-cs"/>
              </a:defRPr>
            </a:lvl8pPr>
            <a:lvl9pPr marL="3657600" indent="0" algn="ctr" rtl="0" eaLnBrk="1" latinLnBrk="0" hangingPunct="1">
              <a:spcBef>
                <a:spcPct val="20000"/>
              </a:spcBef>
              <a:buClr>
                <a:schemeClr val="accent4"/>
              </a:buClr>
              <a:buFont typeface="Wingdings"/>
              <a:buNone/>
              <a:defRPr sz="1800" kern="1200" baseline="0">
                <a:solidFill>
                  <a:schemeClr val="tx1"/>
                </a:solidFill>
                <a:latin typeface="+mn-lt"/>
                <a:ea typeface="+mn-ea"/>
                <a:cs typeface="+mn-cs"/>
              </a:defRPr>
            </a:lvl9pPr>
            <a:extLst/>
          </a:lstStyle>
          <a:p>
            <a:pPr defTabSz="1219170">
              <a:spcBef>
                <a:spcPts val="933"/>
              </a:spcBef>
              <a:buClr>
                <a:srgbClr val="DA1F28"/>
              </a:buClr>
            </a:pPr>
            <a:r>
              <a:rPr lang="en-US" sz="3733" dirty="0">
                <a:latin typeface="Tw Cen MT"/>
              </a:rPr>
              <a:t>HE Tai-</a:t>
            </a:r>
            <a:r>
              <a:rPr lang="en-US" sz="3733" dirty="0" err="1">
                <a:latin typeface="Tw Cen MT"/>
              </a:rPr>
              <a:t>Sen</a:t>
            </a:r>
            <a:endParaRPr lang="en-US" sz="3733" dirty="0">
              <a:latin typeface="Tw Cen MT"/>
            </a:endParaRPr>
          </a:p>
        </p:txBody>
      </p:sp>
      <p:sp>
        <p:nvSpPr>
          <p:cNvPr id="7" name="Subtitle 2"/>
          <p:cNvSpPr txBox="1">
            <a:spLocks/>
          </p:cNvSpPr>
          <p:nvPr/>
        </p:nvSpPr>
        <p:spPr>
          <a:xfrm>
            <a:off x="5177794" y="5973618"/>
            <a:ext cx="4963734" cy="812800"/>
          </a:xfrm>
          <a:prstGeom prst="rect">
            <a:avLst/>
          </a:prstGeom>
        </p:spPr>
        <p:txBody>
          <a:bodyPr vert="horz" anchor="ctr">
            <a:normAutofit/>
          </a:bodyPr>
          <a:lstStyle>
            <a:lvl1pPr marL="0" indent="0" algn="l" rtl="0" eaLnBrk="1" latinLnBrk="0" hangingPunct="1">
              <a:spcBef>
                <a:spcPts val="700"/>
              </a:spcBef>
              <a:buClr>
                <a:schemeClr val="accent2"/>
              </a:buClr>
              <a:buSzPct val="60000"/>
              <a:buFont typeface="Wingdings"/>
              <a:buNone/>
              <a:defRPr sz="2800" kern="1200">
                <a:solidFill>
                  <a:srgbClr val="FFFFFF"/>
                </a:solidFill>
                <a:latin typeface="+mn-lt"/>
                <a:ea typeface="+mn-ea"/>
                <a:cs typeface="+mn-cs"/>
              </a:defRPr>
            </a:lvl1pPr>
            <a:lvl2pPr marL="457200" indent="0" algn="ctr" rtl="0" eaLnBrk="1" latinLnBrk="0" hangingPunct="1">
              <a:spcBef>
                <a:spcPts val="550"/>
              </a:spcBef>
              <a:buClr>
                <a:schemeClr val="accent1"/>
              </a:buClr>
              <a:buSzPct val="70000"/>
              <a:buFont typeface="Wingdings 2"/>
              <a:buNone/>
              <a:defRPr sz="2600" kern="1200">
                <a:solidFill>
                  <a:schemeClr val="tx1"/>
                </a:solidFill>
                <a:latin typeface="+mn-lt"/>
                <a:ea typeface="+mn-ea"/>
                <a:cs typeface="+mn-cs"/>
              </a:defRPr>
            </a:lvl2pPr>
            <a:lvl3pPr marL="914400" indent="0" algn="ctr" rtl="0" eaLnBrk="1" latinLnBrk="0" hangingPunct="1">
              <a:spcBef>
                <a:spcPts val="500"/>
              </a:spcBef>
              <a:buClr>
                <a:schemeClr val="accent2"/>
              </a:buClr>
              <a:buSzPct val="75000"/>
              <a:buFont typeface="Wingdings"/>
              <a:buNone/>
              <a:defRPr sz="2300" kern="1200">
                <a:solidFill>
                  <a:schemeClr val="tx1"/>
                </a:solidFill>
                <a:latin typeface="+mn-lt"/>
                <a:ea typeface="+mn-ea"/>
                <a:cs typeface="+mn-cs"/>
              </a:defRPr>
            </a:lvl3pPr>
            <a:lvl4pPr marL="1371600" indent="0" algn="ctr" rtl="0" eaLnBrk="1" latinLnBrk="0" hangingPunct="1">
              <a:spcBef>
                <a:spcPts val="400"/>
              </a:spcBef>
              <a:buClr>
                <a:schemeClr val="accent3"/>
              </a:buClr>
              <a:buSzPct val="75000"/>
              <a:buFont typeface="Wingdings"/>
              <a:buNone/>
              <a:defRPr sz="2000" kern="1200">
                <a:solidFill>
                  <a:schemeClr val="tx1"/>
                </a:solidFill>
                <a:latin typeface="+mn-lt"/>
                <a:ea typeface="+mn-ea"/>
                <a:cs typeface="+mn-cs"/>
              </a:defRPr>
            </a:lvl4pPr>
            <a:lvl5pPr marL="1828800" indent="0" algn="ctr" rtl="0" eaLnBrk="1" latinLnBrk="0" hangingPunct="1">
              <a:spcBef>
                <a:spcPts val="400"/>
              </a:spcBef>
              <a:buClr>
                <a:schemeClr val="accent4"/>
              </a:buClr>
              <a:buSzPct val="65000"/>
              <a:buFont typeface="Wingdings"/>
              <a:buNone/>
              <a:defRPr sz="2000" kern="1200">
                <a:solidFill>
                  <a:schemeClr val="tx1"/>
                </a:solidFill>
                <a:latin typeface="+mn-lt"/>
                <a:ea typeface="+mn-ea"/>
                <a:cs typeface="+mn-cs"/>
              </a:defRPr>
            </a:lvl5pPr>
            <a:lvl6pPr marL="2286000" indent="0" algn="ctr" rtl="0" eaLnBrk="1" latinLnBrk="0" hangingPunct="1">
              <a:spcBef>
                <a:spcPct val="20000"/>
              </a:spcBef>
              <a:buClr>
                <a:schemeClr val="accent1"/>
              </a:buClr>
              <a:buFont typeface="Wingdings"/>
              <a:buNone/>
              <a:defRPr sz="1800" kern="1200" baseline="0">
                <a:solidFill>
                  <a:schemeClr val="tx1"/>
                </a:solidFill>
                <a:latin typeface="+mn-lt"/>
                <a:ea typeface="+mn-ea"/>
                <a:cs typeface="+mn-cs"/>
              </a:defRPr>
            </a:lvl6pPr>
            <a:lvl7pPr marL="2743200" indent="0" algn="ctr" rtl="0" eaLnBrk="1" latinLnBrk="0" hangingPunct="1">
              <a:spcBef>
                <a:spcPct val="20000"/>
              </a:spcBef>
              <a:buClr>
                <a:schemeClr val="accent2"/>
              </a:buClr>
              <a:buFont typeface="Wingdings"/>
              <a:buNone/>
              <a:defRPr sz="1800" kern="1200" baseline="0">
                <a:solidFill>
                  <a:schemeClr val="tx1"/>
                </a:solidFill>
                <a:latin typeface="+mn-lt"/>
                <a:ea typeface="+mn-ea"/>
                <a:cs typeface="+mn-cs"/>
              </a:defRPr>
            </a:lvl7pPr>
            <a:lvl8pPr marL="3200400" indent="0" algn="ctr" rtl="0" eaLnBrk="1" latinLnBrk="0" hangingPunct="1">
              <a:spcBef>
                <a:spcPct val="20000"/>
              </a:spcBef>
              <a:buClr>
                <a:schemeClr val="accent3"/>
              </a:buClr>
              <a:buFont typeface="Wingdings"/>
              <a:buNone/>
              <a:defRPr sz="1800" kern="1200" baseline="0">
                <a:solidFill>
                  <a:schemeClr val="tx1"/>
                </a:solidFill>
                <a:latin typeface="+mn-lt"/>
                <a:ea typeface="+mn-ea"/>
                <a:cs typeface="+mn-cs"/>
              </a:defRPr>
            </a:lvl8pPr>
            <a:lvl9pPr marL="3657600" indent="0" algn="ctr" rtl="0" eaLnBrk="1" latinLnBrk="0" hangingPunct="1">
              <a:spcBef>
                <a:spcPct val="20000"/>
              </a:spcBef>
              <a:buClr>
                <a:schemeClr val="accent4"/>
              </a:buClr>
              <a:buFont typeface="Wingdings"/>
              <a:buNone/>
              <a:defRPr sz="1800" kern="1200" baseline="0">
                <a:solidFill>
                  <a:schemeClr val="tx1"/>
                </a:solidFill>
                <a:latin typeface="+mn-lt"/>
                <a:ea typeface="+mn-ea"/>
                <a:cs typeface="+mn-cs"/>
              </a:defRPr>
            </a:lvl9pPr>
            <a:extLst/>
          </a:lstStyle>
          <a:p>
            <a:pPr defTabSz="1219170">
              <a:spcBef>
                <a:spcPts val="933"/>
              </a:spcBef>
              <a:buClr>
                <a:srgbClr val="DA1F28"/>
              </a:buClr>
            </a:pPr>
            <a:r>
              <a:rPr lang="en-US" sz="3067" b="1" dirty="0">
                <a:latin typeface="Tw Cen MT"/>
                <a:cs typeface="Tw Cen MT"/>
              </a:rPr>
              <a:t>FINANCIAL ECONOMICS</a:t>
            </a:r>
          </a:p>
        </p:txBody>
      </p:sp>
      <p:pic>
        <p:nvPicPr>
          <p:cNvPr id="3" name="Picture 4" descr="What does a healthy investment portfolio look like?">
            <a:extLst>
              <a:ext uri="{FF2B5EF4-FFF2-40B4-BE49-F238E27FC236}">
                <a16:creationId xmlns:a16="http://schemas.microsoft.com/office/drawing/2014/main" id="{4430DC43-2CA1-A667-0618-14603CC20D4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000"/>
          <a:stretch/>
        </p:blipFill>
        <p:spPr bwMode="auto">
          <a:xfrm>
            <a:off x="7228266" y="2952371"/>
            <a:ext cx="4963734" cy="29534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921369"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rPr>
              <a:t>Modern Portfolio Theory </a:t>
            </a:r>
            <a:r>
              <a:rPr kumimoji="0" lang="en-US" sz="2000" b="1" i="0" u="none" strike="noStrike" kern="1200" cap="none" spc="0" normalizeH="0" baseline="0" noProof="0" dirty="0" err="1">
                <a:ln>
                  <a:noFill/>
                </a:ln>
                <a:solidFill>
                  <a:schemeClr val="bg1"/>
                </a:solidFill>
                <a:effectLst/>
                <a:uLnTx/>
                <a:uFillTx/>
                <a:latin typeface="Calibri" panose="020F0502020204030204"/>
                <a:ea typeface="+mn-ea"/>
                <a:cs typeface="+mn-cs"/>
              </a:rPr>
              <a:t>ll</a:t>
            </a:r>
            <a:endPar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Outline</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10" name="TextBox 9">
            <a:extLst>
              <a:ext uri="{FF2B5EF4-FFF2-40B4-BE49-F238E27FC236}">
                <a16:creationId xmlns:a16="http://schemas.microsoft.com/office/drawing/2014/main" id="{0059CEEC-0547-9AE3-4F33-27757775770C}"/>
              </a:ext>
            </a:extLst>
          </p:cNvPr>
          <p:cNvSpPr txBox="1"/>
          <p:nvPr/>
        </p:nvSpPr>
        <p:spPr>
          <a:xfrm>
            <a:off x="152400" y="526472"/>
            <a:ext cx="11887200" cy="4167808"/>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Diversification (7.1)</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Portfolios of Two Risky Assets (7.2)</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Asset Allocation with Stocks, Bonds and Bills (7.3)</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The Markowitz Portfolio Selection Model (7.4)</a:t>
            </a:r>
          </a:p>
          <a:p>
            <a:pPr marL="320040" indent="-320040">
              <a:spcBef>
                <a:spcPts val="700"/>
              </a:spcBef>
              <a:buClr>
                <a:srgbClr val="DA1F28"/>
              </a:buClr>
              <a:buSzPct val="60000"/>
              <a:buFont typeface="Wingdings"/>
              <a:buChar char=""/>
              <a:defRPr/>
            </a:pPr>
            <a:r>
              <a:rPr lang="en-US" sz="2800" dirty="0">
                <a:latin typeface="Tw Cen MT" panose="020B0602020104020603" pitchFamily="34" charset="77"/>
              </a:rPr>
              <a:t>Experts’ Views on Diversification</a:t>
            </a:r>
          </a:p>
          <a:p>
            <a:pPr marL="320040" indent="-320040">
              <a:spcBef>
                <a:spcPts val="700"/>
              </a:spcBef>
              <a:buClr>
                <a:srgbClr val="DA1F28"/>
              </a:buClr>
              <a:buSzPct val="60000"/>
              <a:buFont typeface="Wingdings"/>
              <a:buChar char=""/>
              <a:defRPr/>
            </a:pPr>
            <a:r>
              <a:rPr lang="en-US" sz="2800" dirty="0">
                <a:latin typeface="Tw Cen MT" panose="020B0602020104020603" pitchFamily="34" charset="77"/>
              </a:rPr>
              <a:t>Common Asset-Allocation Mistakes</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p:txBody>
      </p:sp>
    </p:spTree>
    <p:extLst>
      <p:ext uri="{BB962C8B-B14F-4D97-AF65-F5344CB8AC3E}">
        <p14:creationId xmlns:p14="http://schemas.microsoft.com/office/powerpoint/2010/main" val="723655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921369"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rPr>
              <a:t>Modern Portfolio Theory </a:t>
            </a:r>
            <a:r>
              <a:rPr kumimoji="0" lang="en-US" sz="2000" b="1" i="0" u="none" strike="noStrike" kern="1200" cap="none" spc="0" normalizeH="0" baseline="0" noProof="0" dirty="0" err="1">
                <a:ln>
                  <a:noFill/>
                </a:ln>
                <a:solidFill>
                  <a:schemeClr val="bg1"/>
                </a:solidFill>
                <a:effectLst/>
                <a:uLnTx/>
                <a:uFillTx/>
                <a:latin typeface="Calibri" panose="020F0502020204030204"/>
                <a:ea typeface="+mn-ea"/>
                <a:cs typeface="+mn-cs"/>
              </a:rPr>
              <a:t>ll</a:t>
            </a:r>
            <a:endPar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Diversification</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10" name="TextBox 9">
            <a:extLst>
              <a:ext uri="{FF2B5EF4-FFF2-40B4-BE49-F238E27FC236}">
                <a16:creationId xmlns:a16="http://schemas.microsoft.com/office/drawing/2014/main" id="{0059CEEC-0547-9AE3-4F33-27757775770C}"/>
              </a:ext>
            </a:extLst>
          </p:cNvPr>
          <p:cNvSpPr txBox="1"/>
          <p:nvPr/>
        </p:nvSpPr>
        <p:spPr>
          <a:xfrm>
            <a:off x="122922" y="618780"/>
            <a:ext cx="11694696" cy="523220"/>
          </a:xfrm>
          <a:prstGeom prst="rect">
            <a:avLst/>
          </a:prstGeom>
          <a:noFill/>
        </p:spPr>
        <p:txBody>
          <a:bodyPr wrap="square">
            <a:spAutoFit/>
          </a:bodyPr>
          <a:lstStyle/>
          <a:p>
            <a:pPr marL="457200" indent="-457200">
              <a:spcBef>
                <a:spcPts val="700"/>
              </a:spcBef>
              <a:buClr>
                <a:srgbClr val="DA1F28"/>
              </a:buClr>
              <a:buSzPct val="60000"/>
              <a:buFont typeface="Wingdings"/>
              <a:buChar char=""/>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These situations differ in the budget constraint (i.e., </a:t>
            </a:r>
            <a:r>
              <a:rPr kumimoji="0" lang="en-US" sz="2800" b="0" i="0" u="none" strike="noStrike" kern="1200" cap="none" spc="0" normalizeH="0" baseline="0" noProof="0" dirty="0">
                <a:ln>
                  <a:noFill/>
                </a:ln>
                <a:solidFill>
                  <a:srgbClr val="DA1F28">
                    <a:lumMod val="60000"/>
                    <a:lumOff val="40000"/>
                  </a:srgbClr>
                </a:solidFill>
                <a:effectLst/>
                <a:uLnTx/>
                <a:uFillTx/>
                <a:latin typeface="Tw Cen MT"/>
                <a:ea typeface="+mn-ea"/>
                <a:cs typeface="+mn-cs"/>
              </a:rPr>
              <a:t>portfolio opportunity set</a:t>
            </a:r>
            <a:r>
              <a:rPr kumimoji="0" lang="en-US" sz="2800" b="0" i="0" u="none" strike="noStrike" kern="1200" cap="none" spc="0" normalizeH="0" baseline="0" noProof="0" dirty="0">
                <a:ln>
                  <a:noFill/>
                </a:ln>
                <a:solidFill>
                  <a:prstClr val="black"/>
                </a:solidFill>
                <a:effectLst/>
                <a:uLnTx/>
                <a:uFillTx/>
                <a:latin typeface="Tw Cen MT"/>
                <a:ea typeface="+mn-ea"/>
                <a:cs typeface="+mn-cs"/>
              </a:rPr>
              <a:t>).</a:t>
            </a:r>
          </a:p>
        </p:txBody>
      </p:sp>
      <p:cxnSp>
        <p:nvCxnSpPr>
          <p:cNvPr id="2" name="Straight Connector 1">
            <a:extLst>
              <a:ext uri="{FF2B5EF4-FFF2-40B4-BE49-F238E27FC236}">
                <a16:creationId xmlns:a16="http://schemas.microsoft.com/office/drawing/2014/main" id="{E5F4C823-488D-3329-6208-C7070DEC1E58}"/>
              </a:ext>
            </a:extLst>
          </p:cNvPr>
          <p:cNvCxnSpPr>
            <a:cxnSpLocks/>
          </p:cNvCxnSpPr>
          <p:nvPr/>
        </p:nvCxnSpPr>
        <p:spPr>
          <a:xfrm>
            <a:off x="2536116" y="2750761"/>
            <a:ext cx="0" cy="2370221"/>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cxnSp>
        <p:nvCxnSpPr>
          <p:cNvPr id="3" name="Straight Connector 2">
            <a:extLst>
              <a:ext uri="{FF2B5EF4-FFF2-40B4-BE49-F238E27FC236}">
                <a16:creationId xmlns:a16="http://schemas.microsoft.com/office/drawing/2014/main" id="{489DB661-E91C-F3B8-FDDB-937AD4E9A64B}"/>
              </a:ext>
            </a:extLst>
          </p:cNvPr>
          <p:cNvCxnSpPr>
            <a:cxnSpLocks/>
          </p:cNvCxnSpPr>
          <p:nvPr/>
        </p:nvCxnSpPr>
        <p:spPr>
          <a:xfrm>
            <a:off x="2536116" y="5120982"/>
            <a:ext cx="2915790" cy="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
        <p:nvSpPr>
          <p:cNvPr id="4" name="TextBox 3">
            <a:extLst>
              <a:ext uri="{FF2B5EF4-FFF2-40B4-BE49-F238E27FC236}">
                <a16:creationId xmlns:a16="http://schemas.microsoft.com/office/drawing/2014/main" id="{AA928B0F-920B-F836-A048-0918CF014A5A}"/>
              </a:ext>
            </a:extLst>
          </p:cNvPr>
          <p:cNvSpPr txBox="1"/>
          <p:nvPr/>
        </p:nvSpPr>
        <p:spPr>
          <a:xfrm>
            <a:off x="2018229" y="2576172"/>
            <a:ext cx="589410" cy="400110"/>
          </a:xfrm>
          <a:prstGeom prst="rect">
            <a:avLst/>
          </a:prstGeom>
          <a:noFill/>
        </p:spPr>
        <p:txBody>
          <a:bodyPr wrap="square" rtlCol="0">
            <a:spAutoFit/>
          </a:bodyPr>
          <a:lstStyle/>
          <a:p>
            <a:r>
              <a:rPr lang="en-US" sz="2000" dirty="0">
                <a:solidFill>
                  <a:prstClr val="black"/>
                </a:solidFill>
                <a:latin typeface="Tw Cen MT"/>
              </a:rPr>
              <a:t>E(R)</a:t>
            </a:r>
          </a:p>
        </p:txBody>
      </p:sp>
      <p:sp>
        <p:nvSpPr>
          <p:cNvPr id="5" name="TextBox 4">
            <a:extLst>
              <a:ext uri="{FF2B5EF4-FFF2-40B4-BE49-F238E27FC236}">
                <a16:creationId xmlns:a16="http://schemas.microsoft.com/office/drawing/2014/main" id="{8025B4F4-6A60-63A9-2A5B-086A2EE84DC8}"/>
              </a:ext>
            </a:extLst>
          </p:cNvPr>
          <p:cNvSpPr txBox="1"/>
          <p:nvPr/>
        </p:nvSpPr>
        <p:spPr>
          <a:xfrm>
            <a:off x="4871914" y="5142871"/>
            <a:ext cx="685800" cy="400110"/>
          </a:xfrm>
          <a:prstGeom prst="rect">
            <a:avLst/>
          </a:prstGeom>
          <a:noFill/>
        </p:spPr>
        <p:txBody>
          <a:bodyPr wrap="square" rtlCol="0">
            <a:spAutoFit/>
          </a:bodyPr>
          <a:lstStyle/>
          <a:p>
            <a:r>
              <a:rPr lang="en-US" sz="2000" dirty="0" err="1">
                <a:solidFill>
                  <a:prstClr val="black"/>
                </a:solidFill>
                <a:latin typeface="Tw Cen MT"/>
              </a:rPr>
              <a:t>Std</a:t>
            </a:r>
            <a:endParaRPr lang="en-US" sz="2000" dirty="0">
              <a:solidFill>
                <a:prstClr val="black"/>
              </a:solidFill>
              <a:latin typeface="Tw Cen MT"/>
            </a:endParaRPr>
          </a:p>
        </p:txBody>
      </p:sp>
      <p:sp>
        <p:nvSpPr>
          <p:cNvPr id="6" name="Oval 5">
            <a:extLst>
              <a:ext uri="{FF2B5EF4-FFF2-40B4-BE49-F238E27FC236}">
                <a16:creationId xmlns:a16="http://schemas.microsoft.com/office/drawing/2014/main" id="{CDB2522D-88E4-3534-B09F-47865566B7F5}"/>
              </a:ext>
            </a:extLst>
          </p:cNvPr>
          <p:cNvSpPr/>
          <p:nvPr/>
        </p:nvSpPr>
        <p:spPr>
          <a:xfrm>
            <a:off x="2459916" y="4587582"/>
            <a:ext cx="152400" cy="152400"/>
          </a:xfrm>
          <a:prstGeom prst="ellipse">
            <a:avLst/>
          </a:prstGeom>
          <a:solidFill>
            <a:srgbClr val="DA1F28"/>
          </a:solidFill>
          <a:ln w="10000" cap="flat" cmpd="sng" algn="ctr">
            <a:solidFill>
              <a:srgbClr val="DA1F28"/>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DA1F28"/>
              </a:solidFill>
              <a:effectLst/>
              <a:uLnTx/>
              <a:uFillTx/>
              <a:latin typeface="Tw Cen MT"/>
              <a:ea typeface="+mn-ea"/>
              <a:cs typeface="+mn-cs"/>
            </a:endParaRPr>
          </a:p>
        </p:txBody>
      </p:sp>
      <p:sp>
        <p:nvSpPr>
          <p:cNvPr id="9" name="Oval 8">
            <a:extLst>
              <a:ext uri="{FF2B5EF4-FFF2-40B4-BE49-F238E27FC236}">
                <a16:creationId xmlns:a16="http://schemas.microsoft.com/office/drawing/2014/main" id="{F5A59FA9-7260-2519-F2DE-FE8E72D1594B}"/>
              </a:ext>
            </a:extLst>
          </p:cNvPr>
          <p:cNvSpPr/>
          <p:nvPr/>
        </p:nvSpPr>
        <p:spPr>
          <a:xfrm>
            <a:off x="4998582" y="3890174"/>
            <a:ext cx="152400" cy="152400"/>
          </a:xfrm>
          <a:prstGeom prst="ellipse">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DA1F28"/>
              </a:solidFill>
              <a:effectLst/>
              <a:uLnTx/>
              <a:uFillTx/>
              <a:latin typeface="Tw Cen MT"/>
              <a:ea typeface="+mn-ea"/>
              <a:cs typeface="+mn-cs"/>
            </a:endParaRPr>
          </a:p>
        </p:txBody>
      </p:sp>
      <p:cxnSp>
        <p:nvCxnSpPr>
          <p:cNvPr id="11" name="Straight Connector 10">
            <a:extLst>
              <a:ext uri="{FF2B5EF4-FFF2-40B4-BE49-F238E27FC236}">
                <a16:creationId xmlns:a16="http://schemas.microsoft.com/office/drawing/2014/main" id="{2066AA88-A650-ABE2-1B8E-9FC505B02945}"/>
              </a:ext>
            </a:extLst>
          </p:cNvPr>
          <p:cNvCxnSpPr>
            <a:cxnSpLocks/>
          </p:cNvCxnSpPr>
          <p:nvPr/>
        </p:nvCxnSpPr>
        <p:spPr>
          <a:xfrm flipV="1">
            <a:off x="2556976" y="3997033"/>
            <a:ext cx="2440935" cy="666749"/>
          </a:xfrm>
          <a:prstGeom prst="line">
            <a:avLst/>
          </a:prstGeom>
          <a:noFill/>
          <a:ln w="19050" cap="flat" cmpd="sng" algn="ctr">
            <a:solidFill>
              <a:srgbClr val="DA1F28"/>
            </a:solidFill>
            <a:prstDash val="solid"/>
          </a:ln>
          <a:effectLst>
            <a:outerShdw blurRad="38100" dist="30000" dir="5400000" rotWithShape="0">
              <a:srgbClr val="000000">
                <a:alpha val="45000"/>
              </a:srgbClr>
            </a:outerShdw>
          </a:effectLst>
        </p:spPr>
      </p:cxnSp>
      <p:sp>
        <p:nvSpPr>
          <p:cNvPr id="12" name="TextBox 11">
            <a:extLst>
              <a:ext uri="{FF2B5EF4-FFF2-40B4-BE49-F238E27FC236}">
                <a16:creationId xmlns:a16="http://schemas.microsoft.com/office/drawing/2014/main" id="{192A3F8E-5966-B764-0DBD-56E731306919}"/>
              </a:ext>
            </a:extLst>
          </p:cNvPr>
          <p:cNvSpPr txBox="1"/>
          <p:nvPr/>
        </p:nvSpPr>
        <p:spPr>
          <a:xfrm>
            <a:off x="2312934" y="1753764"/>
            <a:ext cx="3399340" cy="523220"/>
          </a:xfrm>
          <a:prstGeom prst="rect">
            <a:avLst/>
          </a:prstGeom>
          <a:noFill/>
        </p:spPr>
        <p:txBody>
          <a:bodyPr wrap="square" rtlCol="0">
            <a:spAutoFit/>
          </a:bodyPr>
          <a:lstStyle/>
          <a:p>
            <a:r>
              <a:rPr lang="en-US" sz="2800" dirty="0">
                <a:solidFill>
                  <a:prstClr val="black"/>
                </a:solidFill>
                <a:latin typeface="Tw Cen MT"/>
              </a:rPr>
              <a:t>1 risk-free + 1 risky</a:t>
            </a:r>
          </a:p>
        </p:txBody>
      </p:sp>
      <p:cxnSp>
        <p:nvCxnSpPr>
          <p:cNvPr id="13" name="Straight Connector 12">
            <a:extLst>
              <a:ext uri="{FF2B5EF4-FFF2-40B4-BE49-F238E27FC236}">
                <a16:creationId xmlns:a16="http://schemas.microsoft.com/office/drawing/2014/main" id="{98B60DE3-022D-A9C3-C39B-217222106EFA}"/>
              </a:ext>
            </a:extLst>
          </p:cNvPr>
          <p:cNvCxnSpPr>
            <a:cxnSpLocks/>
          </p:cNvCxnSpPr>
          <p:nvPr/>
        </p:nvCxnSpPr>
        <p:spPr>
          <a:xfrm flipH="1">
            <a:off x="7172366" y="2727168"/>
            <a:ext cx="20190" cy="2415703"/>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cxnSp>
        <p:nvCxnSpPr>
          <p:cNvPr id="14" name="Straight Connector 13">
            <a:extLst>
              <a:ext uri="{FF2B5EF4-FFF2-40B4-BE49-F238E27FC236}">
                <a16:creationId xmlns:a16="http://schemas.microsoft.com/office/drawing/2014/main" id="{ECAF8F8A-CEEA-0616-2461-514284D8BA47}"/>
              </a:ext>
            </a:extLst>
          </p:cNvPr>
          <p:cNvCxnSpPr>
            <a:cxnSpLocks/>
          </p:cNvCxnSpPr>
          <p:nvPr/>
        </p:nvCxnSpPr>
        <p:spPr>
          <a:xfrm>
            <a:off x="7172366" y="5142871"/>
            <a:ext cx="2991989" cy="23336"/>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
        <p:nvSpPr>
          <p:cNvPr id="15" name="TextBox 14">
            <a:extLst>
              <a:ext uri="{FF2B5EF4-FFF2-40B4-BE49-F238E27FC236}">
                <a16:creationId xmlns:a16="http://schemas.microsoft.com/office/drawing/2014/main" id="{75C865FB-8CD9-CAE6-4582-005676E45058}"/>
              </a:ext>
            </a:extLst>
          </p:cNvPr>
          <p:cNvSpPr txBox="1"/>
          <p:nvPr/>
        </p:nvSpPr>
        <p:spPr>
          <a:xfrm>
            <a:off x="6634288" y="2600832"/>
            <a:ext cx="589410" cy="400110"/>
          </a:xfrm>
          <a:prstGeom prst="rect">
            <a:avLst/>
          </a:prstGeom>
          <a:noFill/>
        </p:spPr>
        <p:txBody>
          <a:bodyPr wrap="square" rtlCol="0">
            <a:spAutoFit/>
          </a:bodyPr>
          <a:lstStyle/>
          <a:p>
            <a:r>
              <a:rPr lang="en-US" sz="2000" dirty="0">
                <a:solidFill>
                  <a:prstClr val="black"/>
                </a:solidFill>
                <a:latin typeface="Tw Cen MT"/>
              </a:rPr>
              <a:t>E(R)</a:t>
            </a:r>
          </a:p>
        </p:txBody>
      </p:sp>
      <p:sp>
        <p:nvSpPr>
          <p:cNvPr id="16" name="TextBox 15">
            <a:extLst>
              <a:ext uri="{FF2B5EF4-FFF2-40B4-BE49-F238E27FC236}">
                <a16:creationId xmlns:a16="http://schemas.microsoft.com/office/drawing/2014/main" id="{1CD812B6-02B9-B329-ADE8-D0BFD55DD932}"/>
              </a:ext>
            </a:extLst>
          </p:cNvPr>
          <p:cNvSpPr txBox="1"/>
          <p:nvPr/>
        </p:nvSpPr>
        <p:spPr>
          <a:xfrm>
            <a:off x="9725736" y="5169403"/>
            <a:ext cx="685800" cy="400110"/>
          </a:xfrm>
          <a:prstGeom prst="rect">
            <a:avLst/>
          </a:prstGeom>
          <a:noFill/>
        </p:spPr>
        <p:txBody>
          <a:bodyPr wrap="square" rtlCol="0">
            <a:spAutoFit/>
          </a:bodyPr>
          <a:lstStyle/>
          <a:p>
            <a:r>
              <a:rPr lang="en-US" sz="2000" dirty="0" err="1">
                <a:solidFill>
                  <a:prstClr val="black"/>
                </a:solidFill>
                <a:latin typeface="Tw Cen MT"/>
              </a:rPr>
              <a:t>Std</a:t>
            </a:r>
            <a:endParaRPr lang="en-US" sz="2000" dirty="0">
              <a:solidFill>
                <a:prstClr val="black"/>
              </a:solidFill>
              <a:latin typeface="Tw Cen MT"/>
            </a:endParaRPr>
          </a:p>
        </p:txBody>
      </p:sp>
      <p:sp>
        <p:nvSpPr>
          <p:cNvPr id="17" name="Oval 16">
            <a:extLst>
              <a:ext uri="{FF2B5EF4-FFF2-40B4-BE49-F238E27FC236}">
                <a16:creationId xmlns:a16="http://schemas.microsoft.com/office/drawing/2014/main" id="{751A4D0F-84A6-C5A4-A832-72C587419D6C}"/>
              </a:ext>
            </a:extLst>
          </p:cNvPr>
          <p:cNvSpPr/>
          <p:nvPr/>
        </p:nvSpPr>
        <p:spPr>
          <a:xfrm>
            <a:off x="7725956" y="4544939"/>
            <a:ext cx="152400" cy="152400"/>
          </a:xfrm>
          <a:prstGeom prst="ellipse">
            <a:avLst/>
          </a:prstGeom>
          <a:solidFill>
            <a:srgbClr val="DA1F28"/>
          </a:solidFill>
          <a:ln w="10000" cap="flat" cmpd="sng" algn="ctr">
            <a:solidFill>
              <a:srgbClr val="DA1F28"/>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DA1F28"/>
              </a:solidFill>
              <a:effectLst/>
              <a:uLnTx/>
              <a:uFillTx/>
              <a:latin typeface="Tw Cen MT"/>
              <a:ea typeface="+mn-ea"/>
              <a:cs typeface="+mn-cs"/>
            </a:endParaRPr>
          </a:p>
        </p:txBody>
      </p:sp>
      <p:sp>
        <p:nvSpPr>
          <p:cNvPr id="18" name="Oval 17">
            <a:extLst>
              <a:ext uri="{FF2B5EF4-FFF2-40B4-BE49-F238E27FC236}">
                <a16:creationId xmlns:a16="http://schemas.microsoft.com/office/drawing/2014/main" id="{968BE0C6-0B93-9ACD-85EE-2FE494478FDB}"/>
              </a:ext>
            </a:extLst>
          </p:cNvPr>
          <p:cNvSpPr/>
          <p:nvPr/>
        </p:nvSpPr>
        <p:spPr>
          <a:xfrm>
            <a:off x="9197543" y="3912278"/>
            <a:ext cx="152400" cy="152400"/>
          </a:xfrm>
          <a:prstGeom prst="ellipse">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DA1F28"/>
              </a:solidFill>
              <a:effectLst/>
              <a:uLnTx/>
              <a:uFillTx/>
              <a:latin typeface="Tw Cen MT"/>
              <a:ea typeface="+mn-ea"/>
              <a:cs typeface="+mn-cs"/>
            </a:endParaRPr>
          </a:p>
        </p:txBody>
      </p:sp>
      <p:cxnSp>
        <p:nvCxnSpPr>
          <p:cNvPr id="19" name="Straight Connector 18">
            <a:extLst>
              <a:ext uri="{FF2B5EF4-FFF2-40B4-BE49-F238E27FC236}">
                <a16:creationId xmlns:a16="http://schemas.microsoft.com/office/drawing/2014/main" id="{8831D25E-3CA9-A800-76E2-325FB2019691}"/>
              </a:ext>
            </a:extLst>
          </p:cNvPr>
          <p:cNvCxnSpPr>
            <a:cxnSpLocks/>
          </p:cNvCxnSpPr>
          <p:nvPr/>
        </p:nvCxnSpPr>
        <p:spPr>
          <a:xfrm flipV="1">
            <a:off x="7809234" y="4018981"/>
            <a:ext cx="1518391" cy="569585"/>
          </a:xfrm>
          <a:prstGeom prst="line">
            <a:avLst/>
          </a:prstGeom>
          <a:noFill/>
          <a:ln w="19050" cap="flat" cmpd="sng" algn="ctr">
            <a:solidFill>
              <a:srgbClr val="DA1F28"/>
            </a:solidFill>
            <a:prstDash val="solid"/>
          </a:ln>
          <a:effectLst>
            <a:outerShdw blurRad="38100" dist="30000" dir="5400000" rotWithShape="0">
              <a:srgbClr val="000000">
                <a:alpha val="45000"/>
              </a:srgbClr>
            </a:outerShdw>
          </a:effectLst>
        </p:spPr>
      </p:cxnSp>
      <p:sp>
        <p:nvSpPr>
          <p:cNvPr id="20" name="TextBox 19">
            <a:extLst>
              <a:ext uri="{FF2B5EF4-FFF2-40B4-BE49-F238E27FC236}">
                <a16:creationId xmlns:a16="http://schemas.microsoft.com/office/drawing/2014/main" id="{547BBAF3-9AAB-DE90-0580-8C8C984C8FBC}"/>
              </a:ext>
            </a:extLst>
          </p:cNvPr>
          <p:cNvSpPr txBox="1"/>
          <p:nvPr/>
        </p:nvSpPr>
        <p:spPr>
          <a:xfrm>
            <a:off x="7909039" y="1858387"/>
            <a:ext cx="1652818" cy="523220"/>
          </a:xfrm>
          <a:prstGeom prst="rect">
            <a:avLst/>
          </a:prstGeom>
          <a:noFill/>
        </p:spPr>
        <p:txBody>
          <a:bodyPr wrap="square" rtlCol="0">
            <a:spAutoFit/>
          </a:bodyPr>
          <a:lstStyle/>
          <a:p>
            <a:r>
              <a:rPr lang="en-US" sz="2800" dirty="0">
                <a:solidFill>
                  <a:prstClr val="black"/>
                </a:solidFill>
                <a:latin typeface="Tw Cen MT"/>
              </a:rPr>
              <a:t>2 risky</a:t>
            </a:r>
          </a:p>
        </p:txBody>
      </p:sp>
      <p:sp>
        <p:nvSpPr>
          <p:cNvPr id="21" name="Freeform 32">
            <a:extLst>
              <a:ext uri="{FF2B5EF4-FFF2-40B4-BE49-F238E27FC236}">
                <a16:creationId xmlns:a16="http://schemas.microsoft.com/office/drawing/2014/main" id="{E2032923-F45D-C847-004D-FE06472F8A2B}"/>
              </a:ext>
            </a:extLst>
          </p:cNvPr>
          <p:cNvSpPr/>
          <p:nvPr/>
        </p:nvSpPr>
        <p:spPr>
          <a:xfrm>
            <a:off x="7512061" y="3973440"/>
            <a:ext cx="1761682" cy="599573"/>
          </a:xfrm>
          <a:custGeom>
            <a:avLst/>
            <a:gdLst>
              <a:gd name="connsiteX0" fmla="*/ 1223804 w 1277848"/>
              <a:gd name="connsiteY0" fmla="*/ 19298 h 520695"/>
              <a:gd name="connsiteX1" fmla="*/ 1140259 w 1277848"/>
              <a:gd name="connsiteY1" fmla="*/ 19298 h 520695"/>
              <a:gd name="connsiteX2" fmla="*/ 37465 w 1277848"/>
              <a:gd name="connsiteY2" fmla="*/ 219857 h 520695"/>
              <a:gd name="connsiteX3" fmla="*/ 237973 w 1277848"/>
              <a:gd name="connsiteY3" fmla="*/ 520695 h 520695"/>
              <a:gd name="connsiteX4" fmla="*/ 237973 w 1277848"/>
              <a:gd name="connsiteY4" fmla="*/ 520695 h 520695"/>
              <a:gd name="connsiteX5" fmla="*/ 237973 w 1277848"/>
              <a:gd name="connsiteY5" fmla="*/ 520695 h 520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7848" h="520695">
                <a:moveTo>
                  <a:pt x="1223804" y="19298"/>
                </a:moveTo>
                <a:cubicBezTo>
                  <a:pt x="1280893" y="2585"/>
                  <a:pt x="1337982" y="-14128"/>
                  <a:pt x="1140259" y="19298"/>
                </a:cubicBezTo>
                <a:cubicBezTo>
                  <a:pt x="942536" y="52724"/>
                  <a:pt x="187846" y="136291"/>
                  <a:pt x="37465" y="219857"/>
                </a:cubicBezTo>
                <a:cubicBezTo>
                  <a:pt x="-112916" y="303423"/>
                  <a:pt x="237973" y="520695"/>
                  <a:pt x="237973" y="520695"/>
                </a:cubicBezTo>
                <a:lnTo>
                  <a:pt x="237973" y="520695"/>
                </a:lnTo>
                <a:lnTo>
                  <a:pt x="237973" y="520695"/>
                </a:lnTo>
              </a:path>
            </a:pathLst>
          </a:custGeom>
          <a:noFill/>
          <a:ln w="19050" cap="flat" cmpd="sng" algn="ctr">
            <a:solidFill>
              <a:srgbClr val="DA1F28"/>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Tw Cen MT"/>
              <a:ea typeface="+mn-ea"/>
              <a:cs typeface="+mn-cs"/>
            </a:endParaRPr>
          </a:p>
        </p:txBody>
      </p:sp>
    </p:spTree>
    <p:extLst>
      <p:ext uri="{BB962C8B-B14F-4D97-AF65-F5344CB8AC3E}">
        <p14:creationId xmlns:p14="http://schemas.microsoft.com/office/powerpoint/2010/main" val="3549118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9" presetClass="exit" presetSubtype="0" fill="hold" nodeType="clickEffect">
                                  <p:stCondLst>
                                    <p:cond delay="0"/>
                                  </p:stCondLst>
                                  <p:childTnLst>
                                    <p:animEffect transition="out" filter="dissolve">
                                      <p:cBhvr>
                                        <p:cTn id="30" dur="500"/>
                                        <p:tgtEl>
                                          <p:spTgt spid="19"/>
                                        </p:tgtEl>
                                      </p:cBhvr>
                                    </p:animEffect>
                                    <p:set>
                                      <p:cBhvr>
                                        <p:cTn id="31" dur="1" fill="hold">
                                          <p:stCondLst>
                                            <p:cond delay="499"/>
                                          </p:stCondLst>
                                        </p:cTn>
                                        <p:tgtEl>
                                          <p:spTgt spid="19"/>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dissolve">
                                      <p:cBhvr>
                                        <p:cTn id="3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7" grpId="0" animBg="1"/>
      <p:bldP spid="18" grpId="0" animBg="1"/>
      <p:bldP spid="2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921369"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rPr>
              <a:t>Modern Portfolio Theory </a:t>
            </a:r>
            <a:r>
              <a:rPr kumimoji="0" lang="en-US" sz="2000" b="1" i="0" u="none" strike="noStrike" kern="1200" cap="none" spc="0" normalizeH="0" baseline="0" noProof="0" dirty="0" err="1">
                <a:ln>
                  <a:noFill/>
                </a:ln>
                <a:solidFill>
                  <a:schemeClr val="bg1"/>
                </a:solidFill>
                <a:effectLst/>
                <a:uLnTx/>
                <a:uFillTx/>
                <a:latin typeface="Calibri" panose="020F0502020204030204"/>
                <a:ea typeface="+mn-ea"/>
                <a:cs typeface="+mn-cs"/>
              </a:rPr>
              <a:t>ll</a:t>
            </a:r>
            <a:endPar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Diversification</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24" name="TextBox 23">
            <a:extLst>
              <a:ext uri="{FF2B5EF4-FFF2-40B4-BE49-F238E27FC236}">
                <a16:creationId xmlns:a16="http://schemas.microsoft.com/office/drawing/2014/main" id="{DE9429F8-60DF-98DF-1E0B-6C540FE4CE4F}"/>
              </a:ext>
            </a:extLst>
          </p:cNvPr>
          <p:cNvSpPr txBox="1"/>
          <p:nvPr/>
        </p:nvSpPr>
        <p:spPr>
          <a:xfrm>
            <a:off x="175460" y="526472"/>
            <a:ext cx="10940715" cy="1538883"/>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Example 1:</a:t>
            </a:r>
          </a:p>
          <a:p>
            <a:pPr marL="777240" marR="0" lvl="1" indent="-457200" algn="l" defTabSz="914400" rtl="0" eaLnBrk="1" fontAlgn="auto" latinLnBrk="0" hangingPunct="1">
              <a:lnSpc>
                <a:spcPct val="100000"/>
              </a:lnSpc>
              <a:spcBef>
                <a:spcPts val="550"/>
              </a:spcBef>
              <a:spcAft>
                <a:spcPts val="0"/>
              </a:spcAft>
              <a:buClr>
                <a:srgbClr val="2DA2BF"/>
              </a:buClr>
              <a:buSzPct val="70000"/>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Two stocks: KMP and ABC</a:t>
            </a:r>
          </a:p>
          <a:p>
            <a:pPr marL="777240" marR="0" lvl="1" indent="-457200" algn="l" defTabSz="914400" rtl="0" eaLnBrk="1" fontAlgn="auto" latinLnBrk="0" hangingPunct="1">
              <a:lnSpc>
                <a:spcPct val="100000"/>
              </a:lnSpc>
              <a:spcBef>
                <a:spcPts val="550"/>
              </a:spcBef>
              <a:spcAft>
                <a:spcPts val="0"/>
              </a:spcAft>
              <a:buClr>
                <a:srgbClr val="2DA2BF"/>
              </a:buClr>
              <a:buSzPct val="70000"/>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Portfolio X is composed of 40% in KMP and 60% in ABC.</a:t>
            </a:r>
          </a:p>
        </p:txBody>
      </p:sp>
      <p:graphicFrame>
        <p:nvGraphicFramePr>
          <p:cNvPr id="25" name="Table 24">
            <a:extLst>
              <a:ext uri="{FF2B5EF4-FFF2-40B4-BE49-F238E27FC236}">
                <a16:creationId xmlns:a16="http://schemas.microsoft.com/office/drawing/2014/main" id="{2876403B-2BD7-195A-3B15-0FBE7CC31A93}"/>
              </a:ext>
            </a:extLst>
          </p:cNvPr>
          <p:cNvGraphicFramePr>
            <a:graphicFrameLocks noGrp="1"/>
          </p:cNvGraphicFramePr>
          <p:nvPr>
            <p:extLst>
              <p:ext uri="{D42A27DB-BD31-4B8C-83A1-F6EECF244321}">
                <p14:modId xmlns:p14="http://schemas.microsoft.com/office/powerpoint/2010/main" val="3265448414"/>
              </p:ext>
            </p:extLst>
          </p:nvPr>
        </p:nvGraphicFramePr>
        <p:xfrm>
          <a:off x="1746522" y="2329432"/>
          <a:ext cx="8094706" cy="3275766"/>
        </p:xfrm>
        <a:graphic>
          <a:graphicData uri="http://schemas.openxmlformats.org/drawingml/2006/table">
            <a:tbl>
              <a:tblPr/>
              <a:tblGrid>
                <a:gridCol w="1742458">
                  <a:extLst>
                    <a:ext uri="{9D8B030D-6E8A-4147-A177-3AD203B41FA5}">
                      <a16:colId xmlns:a16="http://schemas.microsoft.com/office/drawing/2014/main" val="3413213736"/>
                    </a:ext>
                  </a:extLst>
                </a:gridCol>
                <a:gridCol w="1588062">
                  <a:extLst>
                    <a:ext uri="{9D8B030D-6E8A-4147-A177-3AD203B41FA5}">
                      <a16:colId xmlns:a16="http://schemas.microsoft.com/office/drawing/2014/main" val="4247666953"/>
                    </a:ext>
                  </a:extLst>
                </a:gridCol>
                <a:gridCol w="1588062">
                  <a:extLst>
                    <a:ext uri="{9D8B030D-6E8A-4147-A177-3AD203B41FA5}">
                      <a16:colId xmlns:a16="http://schemas.microsoft.com/office/drawing/2014/main" val="679719322"/>
                    </a:ext>
                  </a:extLst>
                </a:gridCol>
                <a:gridCol w="1588062">
                  <a:extLst>
                    <a:ext uri="{9D8B030D-6E8A-4147-A177-3AD203B41FA5}">
                      <a16:colId xmlns:a16="http://schemas.microsoft.com/office/drawing/2014/main" val="1618005916"/>
                    </a:ext>
                  </a:extLst>
                </a:gridCol>
                <a:gridCol w="1588062">
                  <a:extLst>
                    <a:ext uri="{9D8B030D-6E8A-4147-A177-3AD203B41FA5}">
                      <a16:colId xmlns:a16="http://schemas.microsoft.com/office/drawing/2014/main" val="2540743883"/>
                    </a:ext>
                  </a:extLst>
                </a:gridCol>
              </a:tblGrid>
              <a:tr h="545961">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dirty="0">
                          <a:effectLst/>
                        </a:rPr>
                        <a:t>State</a:t>
                      </a:r>
                      <a:endParaRPr lang="en-SG" sz="2400" b="0" i="0" u="none" strike="noStrike" dirty="0">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dirty="0">
                          <a:effectLst/>
                        </a:rPr>
                        <a:t>Probability</a:t>
                      </a:r>
                      <a:endParaRPr lang="en-SG" sz="2400" b="0" i="0" u="none" strike="noStrike" dirty="0">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a:effectLst/>
                        </a:rPr>
                        <a:t>KMP</a:t>
                      </a:r>
                      <a:endParaRPr lang="en-SG" sz="2400" b="0" i="0" u="none" strike="noStrike">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dirty="0">
                          <a:effectLst/>
                        </a:rPr>
                        <a:t>ABC</a:t>
                      </a:r>
                      <a:endParaRPr lang="en-SG" sz="2400" b="0" i="0" u="none" strike="noStrike" dirty="0">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dirty="0">
                          <a:effectLst/>
                        </a:rPr>
                        <a:t>Portfolio X</a:t>
                      </a:r>
                      <a:endParaRPr lang="en-SG" sz="2400" b="0" i="0" u="none" strike="noStrike" dirty="0">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1618227326"/>
                  </a:ext>
                </a:extLst>
              </a:tr>
              <a:tr h="545961">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a:effectLst/>
                        </a:rPr>
                        <a:t>Boom</a:t>
                      </a:r>
                      <a:endParaRPr lang="en-SG" sz="2400" b="0" i="0" u="none" strike="noStrike">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dirty="0">
                          <a:effectLst/>
                        </a:rPr>
                        <a:t>30%</a:t>
                      </a:r>
                      <a:endParaRPr lang="en-SG" sz="2400" b="0" i="0" u="none" strike="noStrike" dirty="0">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dirty="0">
                          <a:effectLst/>
                        </a:rPr>
                        <a:t>18%</a:t>
                      </a:r>
                      <a:endParaRPr lang="en-SG" sz="2400" b="0" i="0" u="none" strike="noStrike" dirty="0">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a:effectLst/>
                        </a:rPr>
                        <a:t>0%</a:t>
                      </a:r>
                      <a:endParaRPr lang="en-SG" sz="2400" b="0" i="0" u="none" strike="noStrike">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a:effectLst/>
                        </a:rPr>
                        <a:t>7.20%</a:t>
                      </a:r>
                      <a:endParaRPr lang="en-SG" sz="2400" b="0" i="0" u="none" strike="noStrike">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1001045159"/>
                  </a:ext>
                </a:extLst>
              </a:tr>
              <a:tr h="545961">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a:effectLst/>
                        </a:rPr>
                        <a:t>Neutral</a:t>
                      </a:r>
                      <a:endParaRPr lang="en-SG" sz="2400" b="0" i="0" u="none" strike="noStrike">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dirty="0">
                          <a:effectLst/>
                        </a:rPr>
                        <a:t>50%</a:t>
                      </a:r>
                      <a:endParaRPr lang="en-SG" sz="2400" b="0" i="0" u="none" strike="noStrike" dirty="0">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dirty="0">
                          <a:effectLst/>
                        </a:rPr>
                        <a:t>12%</a:t>
                      </a:r>
                      <a:endParaRPr lang="en-SG" sz="2400" b="0" i="0" u="none" strike="noStrike" dirty="0">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dirty="0">
                          <a:effectLst/>
                        </a:rPr>
                        <a:t>5%</a:t>
                      </a:r>
                      <a:endParaRPr lang="en-SG" sz="2400" b="0" i="0" u="none" strike="noStrike" dirty="0">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a:effectLst/>
                        </a:rPr>
                        <a:t>7.80%</a:t>
                      </a:r>
                      <a:endParaRPr lang="en-SG" sz="2400" b="0" i="0" u="none" strike="noStrike">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2138925748"/>
                  </a:ext>
                </a:extLst>
              </a:tr>
              <a:tr h="545961">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a:effectLst/>
                        </a:rPr>
                        <a:t>Recession</a:t>
                      </a:r>
                      <a:endParaRPr lang="en-SG" sz="2400" b="0" i="0" u="none" strike="noStrike">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a:effectLst/>
                        </a:rPr>
                        <a:t>20%</a:t>
                      </a:r>
                      <a:endParaRPr lang="en-SG" sz="2400" b="0" i="0" u="none" strike="noStrike">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dirty="0">
                          <a:effectLst/>
                        </a:rPr>
                        <a:t>-5%</a:t>
                      </a:r>
                      <a:endParaRPr lang="en-SG" sz="2400" b="0" i="0" u="none" strike="noStrike" dirty="0">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dirty="0">
                          <a:effectLst/>
                        </a:rPr>
                        <a:t>10%</a:t>
                      </a:r>
                      <a:endParaRPr lang="en-SG" sz="2400" b="0" i="0" u="none" strike="noStrike" dirty="0">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dirty="0">
                          <a:effectLst/>
                        </a:rPr>
                        <a:t>4.00%</a:t>
                      </a:r>
                      <a:endParaRPr lang="en-SG" sz="2400" b="0" i="0" u="none" strike="noStrike" dirty="0">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2789456369"/>
                  </a:ext>
                </a:extLst>
              </a:tr>
              <a:tr h="545961">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a:effectLst/>
                        </a:rPr>
                        <a:t>E(r)</a:t>
                      </a:r>
                      <a:endParaRPr lang="en-SG" sz="2400" b="0" i="0" u="none" strike="noStrike">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a:effectLst/>
                        </a:rPr>
                        <a:t> </a:t>
                      </a:r>
                      <a:endParaRPr lang="en-SG" sz="2400" b="0" i="0" u="none" strike="noStrike">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a:effectLst/>
                        </a:rPr>
                        <a:t>10.40%</a:t>
                      </a:r>
                      <a:endParaRPr lang="en-SG" sz="2400" b="0" i="0" u="none" strike="noStrike">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dirty="0">
                          <a:effectLst/>
                        </a:rPr>
                        <a:t>4.50%</a:t>
                      </a:r>
                      <a:endParaRPr lang="en-SG" sz="2400" b="0" i="0" u="none" strike="noStrike" dirty="0">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dirty="0">
                          <a:effectLst/>
                        </a:rPr>
                        <a:t>6.86%</a:t>
                      </a:r>
                      <a:endParaRPr lang="en-SG" sz="2400" b="0" i="0" u="none" strike="noStrike" dirty="0">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2088809928"/>
                  </a:ext>
                </a:extLst>
              </a:tr>
              <a:tr h="545961">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a:effectLst/>
                        </a:rPr>
                        <a:t>Std</a:t>
                      </a:r>
                      <a:endParaRPr lang="en-SG" sz="2400" b="0" i="0" u="none" strike="noStrike">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a:effectLst/>
                        </a:rPr>
                        <a:t> </a:t>
                      </a:r>
                      <a:endParaRPr lang="en-SG" sz="2400" b="0" i="0" u="none" strike="noStrike">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a:effectLst/>
                        </a:rPr>
                        <a:t>8.13%</a:t>
                      </a:r>
                      <a:endParaRPr lang="en-SG" sz="2400" b="0" i="0" u="none" strike="noStrike">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dirty="0">
                          <a:effectLst/>
                        </a:rPr>
                        <a:t>3.50%</a:t>
                      </a:r>
                      <a:endParaRPr lang="en-SG" sz="2400" b="0" i="0" u="none" strike="noStrike" dirty="0">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fontAlgn="ctr"/>
                      <a:r>
                        <a:rPr lang="en-SG" sz="2400" u="none" strike="noStrike" dirty="0">
                          <a:effectLst/>
                        </a:rPr>
                        <a:t>1.45%</a:t>
                      </a:r>
                      <a:endParaRPr lang="en-SG" sz="2400" b="0" i="0" u="none" strike="noStrike" dirty="0">
                        <a:solidFill>
                          <a:srgbClr val="000000"/>
                        </a:solidFill>
                        <a:effectLst/>
                        <a:latin typeface="Calibri" panose="020F050202020403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2DA2BF">
                        <a:tint val="20000"/>
                      </a:srgbClr>
                    </a:solidFill>
                  </a:tcPr>
                </a:tc>
                <a:extLst>
                  <a:ext uri="{0D108BD9-81ED-4DB2-BD59-A6C34878D82A}">
                    <a16:rowId xmlns:a16="http://schemas.microsoft.com/office/drawing/2014/main" val="1857873015"/>
                  </a:ext>
                </a:extLst>
              </a:tr>
            </a:tbl>
          </a:graphicData>
        </a:graphic>
      </p:graphicFrame>
    </p:spTree>
    <p:extLst>
      <p:ext uri="{BB962C8B-B14F-4D97-AF65-F5344CB8AC3E}">
        <p14:creationId xmlns:p14="http://schemas.microsoft.com/office/powerpoint/2010/main" val="1035168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D5B89-D00A-579E-5D64-7200AAAA7E92}"/>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F38A17F-DA19-1B17-CAA7-6D207334B46E}"/>
              </a:ext>
            </a:extLst>
          </p:cNvPr>
          <p:cNvSpPr/>
          <p:nvPr/>
        </p:nvSpPr>
        <p:spPr>
          <a:xfrm>
            <a:off x="0" y="0"/>
            <a:ext cx="3921369"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rPr>
              <a:t>Modern Portfolio Theory </a:t>
            </a:r>
            <a:r>
              <a:rPr kumimoji="0" lang="en-US" sz="2000" b="1" i="0" u="none" strike="noStrike" kern="1200" cap="none" spc="0" normalizeH="0" baseline="0" noProof="0" dirty="0" err="1">
                <a:ln>
                  <a:noFill/>
                </a:ln>
                <a:solidFill>
                  <a:schemeClr val="bg1"/>
                </a:solidFill>
                <a:effectLst/>
                <a:uLnTx/>
                <a:uFillTx/>
                <a:latin typeface="Calibri" panose="020F0502020204030204"/>
                <a:ea typeface="+mn-ea"/>
                <a:cs typeface="+mn-cs"/>
              </a:rPr>
              <a:t>ll</a:t>
            </a:r>
            <a:endPar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045F1593-3688-04D3-24C8-2B5049367268}"/>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Diversification</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24" name="TextBox 23">
            <a:extLst>
              <a:ext uri="{FF2B5EF4-FFF2-40B4-BE49-F238E27FC236}">
                <a16:creationId xmlns:a16="http://schemas.microsoft.com/office/drawing/2014/main" id="{A7F7F8DE-5AC7-7278-1D64-77CEC03154E5}"/>
              </a:ext>
            </a:extLst>
          </p:cNvPr>
          <p:cNvSpPr txBox="1"/>
          <p:nvPr/>
        </p:nvSpPr>
        <p:spPr>
          <a:xfrm>
            <a:off x="175460" y="526472"/>
            <a:ext cx="10940715" cy="1538883"/>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Example 2:</a:t>
            </a:r>
          </a:p>
          <a:p>
            <a:pPr marL="777240" marR="0" lvl="1" indent="-457200" algn="l" defTabSz="914400" rtl="0" eaLnBrk="1" fontAlgn="auto" latinLnBrk="0" hangingPunct="1">
              <a:lnSpc>
                <a:spcPct val="100000"/>
              </a:lnSpc>
              <a:spcBef>
                <a:spcPts val="550"/>
              </a:spcBef>
              <a:spcAft>
                <a:spcPts val="0"/>
              </a:spcAft>
              <a:buClr>
                <a:srgbClr val="2DA2BF"/>
              </a:buClr>
              <a:buSzPct val="70000"/>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Two stocks: A (Ice Cream) and B (Umbrella)</a:t>
            </a:r>
          </a:p>
          <a:p>
            <a:pPr marL="777240" marR="0" lvl="1" indent="-457200" algn="l" defTabSz="914400" rtl="0" eaLnBrk="1" fontAlgn="auto" latinLnBrk="0" hangingPunct="1">
              <a:lnSpc>
                <a:spcPct val="100000"/>
              </a:lnSpc>
              <a:spcBef>
                <a:spcPts val="550"/>
              </a:spcBef>
              <a:spcAft>
                <a:spcPts val="0"/>
              </a:spcAft>
              <a:buClr>
                <a:srgbClr val="2DA2BF"/>
              </a:buClr>
              <a:buSzPct val="70000"/>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Both stocks are selling at $100 per share.</a:t>
            </a:r>
          </a:p>
        </p:txBody>
      </p:sp>
      <p:graphicFrame>
        <p:nvGraphicFramePr>
          <p:cNvPr id="3" name="Table 2">
            <a:extLst>
              <a:ext uri="{FF2B5EF4-FFF2-40B4-BE49-F238E27FC236}">
                <a16:creationId xmlns:a16="http://schemas.microsoft.com/office/drawing/2014/main" id="{DC8BE7B8-638E-C5E5-A92A-70BE6F9EFBA6}"/>
              </a:ext>
            </a:extLst>
          </p:cNvPr>
          <p:cNvGraphicFramePr>
            <a:graphicFrameLocks noGrp="1"/>
          </p:cNvGraphicFramePr>
          <p:nvPr>
            <p:extLst>
              <p:ext uri="{D42A27DB-BD31-4B8C-83A1-F6EECF244321}">
                <p14:modId xmlns:p14="http://schemas.microsoft.com/office/powerpoint/2010/main" val="1135282841"/>
              </p:ext>
            </p:extLst>
          </p:nvPr>
        </p:nvGraphicFramePr>
        <p:xfrm>
          <a:off x="2279752" y="2591827"/>
          <a:ext cx="7632495" cy="2044148"/>
        </p:xfrm>
        <a:graphic>
          <a:graphicData uri="http://schemas.openxmlformats.org/drawingml/2006/table">
            <a:tbl>
              <a:tblPr firstRow="1" bandRow="1">
                <a:solidFill>
                  <a:srgbClr val="2DA2BF">
                    <a:tint val="50000"/>
                  </a:srgbClr>
                </a:solidFill>
                <a:effectLst>
                  <a:outerShdw blurRad="38100" dist="30000" dir="5400000" rotWithShape="0">
                    <a:srgbClr val="000000">
                      <a:alpha val="45000"/>
                    </a:srgbClr>
                  </a:outerShdw>
                </a:effectLst>
              </a:tblPr>
              <a:tblGrid>
                <a:gridCol w="2544165">
                  <a:extLst>
                    <a:ext uri="{9D8B030D-6E8A-4147-A177-3AD203B41FA5}">
                      <a16:colId xmlns:a16="http://schemas.microsoft.com/office/drawing/2014/main" val="336836977"/>
                    </a:ext>
                  </a:extLst>
                </a:gridCol>
                <a:gridCol w="2544165">
                  <a:extLst>
                    <a:ext uri="{9D8B030D-6E8A-4147-A177-3AD203B41FA5}">
                      <a16:colId xmlns:a16="http://schemas.microsoft.com/office/drawing/2014/main" val="3944527864"/>
                    </a:ext>
                  </a:extLst>
                </a:gridCol>
                <a:gridCol w="2544165">
                  <a:extLst>
                    <a:ext uri="{9D8B030D-6E8A-4147-A177-3AD203B41FA5}">
                      <a16:colId xmlns:a16="http://schemas.microsoft.com/office/drawing/2014/main" val="2231393301"/>
                    </a:ext>
                  </a:extLst>
                </a:gridCol>
              </a:tblGrid>
              <a:tr h="589340">
                <a:tc>
                  <a:txBody>
                    <a:bodyPr/>
                    <a:lstStyle>
                      <a:lvl1pPr marL="0" algn="l" defTabSz="914400" rtl="0" eaLnBrk="1" latinLnBrk="0" hangingPunct="1">
                        <a:defRPr sz="1800" b="1" kern="1200">
                          <a:solidFill>
                            <a:schemeClr val="lt1"/>
                          </a:solidFill>
                          <a:latin typeface="Tw Cen MT"/>
                        </a:defRPr>
                      </a:lvl1pPr>
                      <a:lvl2pPr marL="457200" algn="l" defTabSz="914400" rtl="0" eaLnBrk="1" latinLnBrk="0" hangingPunct="1">
                        <a:defRPr sz="1800" b="1" kern="1200">
                          <a:solidFill>
                            <a:schemeClr val="lt1"/>
                          </a:solidFill>
                          <a:latin typeface="Tw Cen MT"/>
                        </a:defRPr>
                      </a:lvl2pPr>
                      <a:lvl3pPr marL="914400" algn="l" defTabSz="914400" rtl="0" eaLnBrk="1" latinLnBrk="0" hangingPunct="1">
                        <a:defRPr sz="1800" b="1" kern="1200">
                          <a:solidFill>
                            <a:schemeClr val="lt1"/>
                          </a:solidFill>
                          <a:latin typeface="Tw Cen MT"/>
                        </a:defRPr>
                      </a:lvl3pPr>
                      <a:lvl4pPr marL="1371600" algn="l" defTabSz="914400" rtl="0" eaLnBrk="1" latinLnBrk="0" hangingPunct="1">
                        <a:defRPr sz="1800" b="1" kern="1200">
                          <a:solidFill>
                            <a:schemeClr val="lt1"/>
                          </a:solidFill>
                          <a:latin typeface="Tw Cen MT"/>
                        </a:defRPr>
                      </a:lvl4pPr>
                      <a:lvl5pPr marL="1828800" algn="l" defTabSz="914400" rtl="0" eaLnBrk="1" latinLnBrk="0" hangingPunct="1">
                        <a:defRPr sz="1800" b="1" kern="1200">
                          <a:solidFill>
                            <a:schemeClr val="lt1"/>
                          </a:solidFill>
                          <a:latin typeface="Tw Cen MT"/>
                        </a:defRPr>
                      </a:lvl5pPr>
                      <a:lvl6pPr marL="2286000" algn="l" defTabSz="914400" rtl="0" eaLnBrk="1" latinLnBrk="0" hangingPunct="1">
                        <a:defRPr sz="1800" b="1" kern="1200">
                          <a:solidFill>
                            <a:schemeClr val="lt1"/>
                          </a:solidFill>
                          <a:latin typeface="Tw Cen MT"/>
                        </a:defRPr>
                      </a:lvl6pPr>
                      <a:lvl7pPr marL="2743200" algn="l" defTabSz="914400" rtl="0" eaLnBrk="1" latinLnBrk="0" hangingPunct="1">
                        <a:defRPr sz="1800" b="1" kern="1200">
                          <a:solidFill>
                            <a:schemeClr val="lt1"/>
                          </a:solidFill>
                          <a:latin typeface="Tw Cen MT"/>
                        </a:defRPr>
                      </a:lvl7pPr>
                      <a:lvl8pPr marL="3200400" algn="l" defTabSz="914400" rtl="0" eaLnBrk="1" latinLnBrk="0" hangingPunct="1">
                        <a:defRPr sz="1800" b="1" kern="1200">
                          <a:solidFill>
                            <a:schemeClr val="lt1"/>
                          </a:solidFill>
                          <a:latin typeface="Tw Cen MT"/>
                        </a:defRPr>
                      </a:lvl8pPr>
                      <a:lvl9pPr marL="3657600" algn="l" defTabSz="914400" rtl="0" eaLnBrk="1" latinLnBrk="0" hangingPunct="1">
                        <a:defRPr sz="1800" b="1" kern="1200">
                          <a:solidFill>
                            <a:schemeClr val="lt1"/>
                          </a:solidFill>
                          <a:latin typeface="Tw Cen MT"/>
                        </a:defRPr>
                      </a:lvl9pPr>
                    </a:lstStyle>
                    <a:p>
                      <a:endParaRPr lang="en-US" sz="3200" dirty="0"/>
                    </a:p>
                  </a:txBody>
                  <a:tcPr>
                    <a:lnL w="10000" cap="flat" cmpd="sng" algn="ctr">
                      <a:solidFill>
                        <a:srgbClr val="2DA2BF"/>
                      </a:solidFill>
                      <a:prstDash val="solid"/>
                    </a:lnL>
                    <a:lnR>
                      <a:noFill/>
                    </a:lnR>
                    <a:lnT w="10000" cap="flat" cmpd="sng" algn="ctr">
                      <a:solidFill>
                        <a:srgbClr val="2DA2BF"/>
                      </a:solidFill>
                      <a:prstDash val="solid"/>
                    </a:lnT>
                    <a:lnB w="19050" cap="flat" cmpd="sng" algn="ctr">
                      <a:solidFill>
                        <a:sysClr val="window" lastClr="FFFFFF"/>
                      </a:solidFill>
                      <a:prstDash val="solid"/>
                    </a:lnB>
                    <a:lnTlToBr w="12700" cmpd="sng">
                      <a:noFill/>
                      <a:prstDash val="solid"/>
                    </a:lnTlToBr>
                    <a:lnBlToTr w="12700" cmpd="sng">
                      <a:noFill/>
                      <a:prstDash val="solid"/>
                    </a:lnBlToTr>
                    <a:solidFill>
                      <a:srgbClr val="2DA2BF"/>
                    </a:solidFill>
                  </a:tcPr>
                </a:tc>
                <a:tc>
                  <a:txBody>
                    <a:bodyPr/>
                    <a:lstStyle>
                      <a:lvl1pPr marL="0" algn="l" defTabSz="914400" rtl="0" eaLnBrk="1" latinLnBrk="0" hangingPunct="1">
                        <a:defRPr sz="1800" b="1" kern="1200">
                          <a:solidFill>
                            <a:schemeClr val="lt1"/>
                          </a:solidFill>
                          <a:latin typeface="Tw Cen MT"/>
                        </a:defRPr>
                      </a:lvl1pPr>
                      <a:lvl2pPr marL="457200" algn="l" defTabSz="914400" rtl="0" eaLnBrk="1" latinLnBrk="0" hangingPunct="1">
                        <a:defRPr sz="1800" b="1" kern="1200">
                          <a:solidFill>
                            <a:schemeClr val="lt1"/>
                          </a:solidFill>
                          <a:latin typeface="Tw Cen MT"/>
                        </a:defRPr>
                      </a:lvl2pPr>
                      <a:lvl3pPr marL="914400" algn="l" defTabSz="914400" rtl="0" eaLnBrk="1" latinLnBrk="0" hangingPunct="1">
                        <a:defRPr sz="1800" b="1" kern="1200">
                          <a:solidFill>
                            <a:schemeClr val="lt1"/>
                          </a:solidFill>
                          <a:latin typeface="Tw Cen MT"/>
                        </a:defRPr>
                      </a:lvl3pPr>
                      <a:lvl4pPr marL="1371600" algn="l" defTabSz="914400" rtl="0" eaLnBrk="1" latinLnBrk="0" hangingPunct="1">
                        <a:defRPr sz="1800" b="1" kern="1200">
                          <a:solidFill>
                            <a:schemeClr val="lt1"/>
                          </a:solidFill>
                          <a:latin typeface="Tw Cen MT"/>
                        </a:defRPr>
                      </a:lvl4pPr>
                      <a:lvl5pPr marL="1828800" algn="l" defTabSz="914400" rtl="0" eaLnBrk="1" latinLnBrk="0" hangingPunct="1">
                        <a:defRPr sz="1800" b="1" kern="1200">
                          <a:solidFill>
                            <a:schemeClr val="lt1"/>
                          </a:solidFill>
                          <a:latin typeface="Tw Cen MT"/>
                        </a:defRPr>
                      </a:lvl5pPr>
                      <a:lvl6pPr marL="2286000" algn="l" defTabSz="914400" rtl="0" eaLnBrk="1" latinLnBrk="0" hangingPunct="1">
                        <a:defRPr sz="1800" b="1" kern="1200">
                          <a:solidFill>
                            <a:schemeClr val="lt1"/>
                          </a:solidFill>
                          <a:latin typeface="Tw Cen MT"/>
                        </a:defRPr>
                      </a:lvl6pPr>
                      <a:lvl7pPr marL="2743200" algn="l" defTabSz="914400" rtl="0" eaLnBrk="1" latinLnBrk="0" hangingPunct="1">
                        <a:defRPr sz="1800" b="1" kern="1200">
                          <a:solidFill>
                            <a:schemeClr val="lt1"/>
                          </a:solidFill>
                          <a:latin typeface="Tw Cen MT"/>
                        </a:defRPr>
                      </a:lvl7pPr>
                      <a:lvl8pPr marL="3200400" algn="l" defTabSz="914400" rtl="0" eaLnBrk="1" latinLnBrk="0" hangingPunct="1">
                        <a:defRPr sz="1800" b="1" kern="1200">
                          <a:solidFill>
                            <a:schemeClr val="lt1"/>
                          </a:solidFill>
                          <a:latin typeface="Tw Cen MT"/>
                        </a:defRPr>
                      </a:lvl8pPr>
                      <a:lvl9pPr marL="3657600" algn="l" defTabSz="914400" rtl="0" eaLnBrk="1" latinLnBrk="0" hangingPunct="1">
                        <a:defRPr sz="1800" b="1" kern="1200">
                          <a:solidFill>
                            <a:schemeClr val="lt1"/>
                          </a:solidFill>
                          <a:latin typeface="Tw Cen MT"/>
                        </a:defRPr>
                      </a:lvl9pPr>
                    </a:lstStyle>
                    <a:p>
                      <a:pPr algn="ctr"/>
                      <a:r>
                        <a:rPr lang="en-US" sz="3200" dirty="0"/>
                        <a:t>Sunny (50%)</a:t>
                      </a:r>
                    </a:p>
                  </a:txBody>
                  <a:tcPr>
                    <a:lnL>
                      <a:noFill/>
                    </a:lnL>
                    <a:lnR>
                      <a:noFill/>
                    </a:lnR>
                    <a:lnT w="10000" cap="flat" cmpd="sng" algn="ctr">
                      <a:solidFill>
                        <a:srgbClr val="2DA2BF"/>
                      </a:solidFill>
                      <a:prstDash val="solid"/>
                    </a:lnT>
                    <a:lnB w="19050" cap="flat" cmpd="sng" algn="ctr">
                      <a:solidFill>
                        <a:sysClr val="window" lastClr="FFFFFF"/>
                      </a:solidFill>
                      <a:prstDash val="solid"/>
                    </a:lnB>
                    <a:lnTlToBr w="12700" cmpd="sng">
                      <a:noFill/>
                      <a:prstDash val="solid"/>
                    </a:lnTlToBr>
                    <a:lnBlToTr w="12700" cmpd="sng">
                      <a:noFill/>
                      <a:prstDash val="solid"/>
                    </a:lnBlToTr>
                    <a:solidFill>
                      <a:srgbClr val="2DA2BF"/>
                    </a:solidFill>
                  </a:tcPr>
                </a:tc>
                <a:tc>
                  <a:txBody>
                    <a:bodyPr/>
                    <a:lstStyle>
                      <a:lvl1pPr marL="0" algn="l" defTabSz="914400" rtl="0" eaLnBrk="1" latinLnBrk="0" hangingPunct="1">
                        <a:defRPr sz="1800" b="1" kern="1200">
                          <a:solidFill>
                            <a:schemeClr val="lt1"/>
                          </a:solidFill>
                          <a:latin typeface="Tw Cen MT"/>
                        </a:defRPr>
                      </a:lvl1pPr>
                      <a:lvl2pPr marL="457200" algn="l" defTabSz="914400" rtl="0" eaLnBrk="1" latinLnBrk="0" hangingPunct="1">
                        <a:defRPr sz="1800" b="1" kern="1200">
                          <a:solidFill>
                            <a:schemeClr val="lt1"/>
                          </a:solidFill>
                          <a:latin typeface="Tw Cen MT"/>
                        </a:defRPr>
                      </a:lvl2pPr>
                      <a:lvl3pPr marL="914400" algn="l" defTabSz="914400" rtl="0" eaLnBrk="1" latinLnBrk="0" hangingPunct="1">
                        <a:defRPr sz="1800" b="1" kern="1200">
                          <a:solidFill>
                            <a:schemeClr val="lt1"/>
                          </a:solidFill>
                          <a:latin typeface="Tw Cen MT"/>
                        </a:defRPr>
                      </a:lvl3pPr>
                      <a:lvl4pPr marL="1371600" algn="l" defTabSz="914400" rtl="0" eaLnBrk="1" latinLnBrk="0" hangingPunct="1">
                        <a:defRPr sz="1800" b="1" kern="1200">
                          <a:solidFill>
                            <a:schemeClr val="lt1"/>
                          </a:solidFill>
                          <a:latin typeface="Tw Cen MT"/>
                        </a:defRPr>
                      </a:lvl4pPr>
                      <a:lvl5pPr marL="1828800" algn="l" defTabSz="914400" rtl="0" eaLnBrk="1" latinLnBrk="0" hangingPunct="1">
                        <a:defRPr sz="1800" b="1" kern="1200">
                          <a:solidFill>
                            <a:schemeClr val="lt1"/>
                          </a:solidFill>
                          <a:latin typeface="Tw Cen MT"/>
                        </a:defRPr>
                      </a:lvl5pPr>
                      <a:lvl6pPr marL="2286000" algn="l" defTabSz="914400" rtl="0" eaLnBrk="1" latinLnBrk="0" hangingPunct="1">
                        <a:defRPr sz="1800" b="1" kern="1200">
                          <a:solidFill>
                            <a:schemeClr val="lt1"/>
                          </a:solidFill>
                          <a:latin typeface="Tw Cen MT"/>
                        </a:defRPr>
                      </a:lvl6pPr>
                      <a:lvl7pPr marL="2743200" algn="l" defTabSz="914400" rtl="0" eaLnBrk="1" latinLnBrk="0" hangingPunct="1">
                        <a:defRPr sz="1800" b="1" kern="1200">
                          <a:solidFill>
                            <a:schemeClr val="lt1"/>
                          </a:solidFill>
                          <a:latin typeface="Tw Cen MT"/>
                        </a:defRPr>
                      </a:lvl7pPr>
                      <a:lvl8pPr marL="3200400" algn="l" defTabSz="914400" rtl="0" eaLnBrk="1" latinLnBrk="0" hangingPunct="1">
                        <a:defRPr sz="1800" b="1" kern="1200">
                          <a:solidFill>
                            <a:schemeClr val="lt1"/>
                          </a:solidFill>
                          <a:latin typeface="Tw Cen MT"/>
                        </a:defRPr>
                      </a:lvl8pPr>
                      <a:lvl9pPr marL="3657600" algn="l" defTabSz="914400" rtl="0" eaLnBrk="1" latinLnBrk="0" hangingPunct="1">
                        <a:defRPr sz="1800" b="1" kern="1200">
                          <a:solidFill>
                            <a:schemeClr val="lt1"/>
                          </a:solidFill>
                          <a:latin typeface="Tw Cen MT"/>
                        </a:defRPr>
                      </a:lvl9pPr>
                    </a:lstStyle>
                    <a:p>
                      <a:pPr algn="ctr"/>
                      <a:r>
                        <a:rPr lang="en-US" sz="3200" dirty="0"/>
                        <a:t>Rainy (50%)</a:t>
                      </a:r>
                    </a:p>
                  </a:txBody>
                  <a:tcPr>
                    <a:lnL>
                      <a:noFill/>
                    </a:lnL>
                    <a:lnR w="10000" cap="flat" cmpd="sng" algn="ctr">
                      <a:solidFill>
                        <a:srgbClr val="2DA2BF"/>
                      </a:solidFill>
                      <a:prstDash val="solid"/>
                    </a:lnR>
                    <a:lnT w="10000" cap="flat" cmpd="sng" algn="ctr">
                      <a:solidFill>
                        <a:srgbClr val="2DA2BF"/>
                      </a:solidFill>
                      <a:prstDash val="solid"/>
                    </a:lnT>
                    <a:lnB w="19050" cap="flat" cmpd="sng" algn="ctr">
                      <a:solidFill>
                        <a:sysClr val="window" lastClr="FFFFFF"/>
                      </a:solidFill>
                      <a:prstDash val="solid"/>
                    </a:lnB>
                    <a:lnTlToBr w="12700" cmpd="sng">
                      <a:noFill/>
                      <a:prstDash val="solid"/>
                    </a:lnTlToBr>
                    <a:lnBlToTr w="12700" cmpd="sng">
                      <a:noFill/>
                      <a:prstDash val="solid"/>
                    </a:lnBlToTr>
                    <a:solidFill>
                      <a:srgbClr val="2DA2BF"/>
                    </a:solidFill>
                  </a:tcPr>
                </a:tc>
                <a:extLst>
                  <a:ext uri="{0D108BD9-81ED-4DB2-BD59-A6C34878D82A}">
                    <a16:rowId xmlns:a16="http://schemas.microsoft.com/office/drawing/2014/main" val="3202766682"/>
                  </a:ext>
                </a:extLst>
              </a:tr>
              <a:tr h="727404">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endParaRPr lang="en-US" sz="3200" dirty="0"/>
                    </a:p>
                  </a:txBody>
                  <a:tcPr>
                    <a:lnL w="10000" cap="flat" cmpd="sng" algn="ctr">
                      <a:solidFill>
                        <a:srgbClr val="2DA2BF"/>
                      </a:solidFill>
                      <a:prstDash val="solid"/>
                    </a:lnL>
                    <a:lnR w="10000" cap="flat" cmpd="sng" algn="ctr">
                      <a:solidFill>
                        <a:srgbClr val="2DA2BF"/>
                      </a:solidFill>
                      <a:prstDash val="solid"/>
                    </a:lnR>
                    <a:lnT w="19050" cap="flat" cmpd="sng" algn="ctr">
                      <a:solidFill>
                        <a:sysClr val="window" lastClr="FFFFFF"/>
                      </a:solidFill>
                      <a:prstDash val="solid"/>
                    </a:lnT>
                    <a:lnB w="10000" cap="flat" cmpd="sng" algn="ctr">
                      <a:solidFill>
                        <a:srgbClr val="2DA2BF"/>
                      </a:solidFill>
                      <a:prstDash val="solid"/>
                    </a:lnB>
                    <a:lnTlToBr w="12700" cmpd="sng">
                      <a:noFill/>
                      <a:prstDash val="solid"/>
                    </a:lnTlToBr>
                    <a:lnBlToTr w="12700" cmpd="sng">
                      <a:noFill/>
                      <a:prstDash val="solid"/>
                    </a:lnBlToTr>
                    <a:solidFill>
                      <a:srgbClr val="2DA2BF">
                        <a:alpha val="4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3200" dirty="0"/>
                        <a:t>110</a:t>
                      </a:r>
                    </a:p>
                  </a:txBody>
                  <a:tcPr>
                    <a:lnL w="10000" cap="flat" cmpd="sng" algn="ctr">
                      <a:solidFill>
                        <a:srgbClr val="2DA2BF"/>
                      </a:solidFill>
                      <a:prstDash val="solid"/>
                    </a:lnL>
                    <a:lnR w="10000" cap="flat" cmpd="sng" algn="ctr">
                      <a:solidFill>
                        <a:srgbClr val="2DA2BF"/>
                      </a:solidFill>
                      <a:prstDash val="solid"/>
                    </a:lnR>
                    <a:lnT w="19050" cap="flat" cmpd="sng" algn="ctr">
                      <a:solidFill>
                        <a:sysClr val="window" lastClr="FFFFFF"/>
                      </a:solidFill>
                      <a:prstDash val="solid"/>
                    </a:lnT>
                    <a:lnB w="10000" cap="flat" cmpd="sng" algn="ctr">
                      <a:solidFill>
                        <a:srgbClr val="2DA2BF"/>
                      </a:solidFill>
                      <a:prstDash val="solid"/>
                    </a:lnB>
                    <a:lnTlToBr w="12700" cmpd="sng">
                      <a:noFill/>
                      <a:prstDash val="solid"/>
                    </a:lnTlToBr>
                    <a:lnBlToTr w="12700" cmpd="sng">
                      <a:noFill/>
                      <a:prstDash val="solid"/>
                    </a:lnBlToTr>
                    <a:solidFill>
                      <a:srgbClr val="2DA2BF">
                        <a:alpha val="4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3200" dirty="0"/>
                        <a:t>100</a:t>
                      </a:r>
                    </a:p>
                  </a:txBody>
                  <a:tcPr>
                    <a:lnL w="10000" cap="flat" cmpd="sng" algn="ctr">
                      <a:solidFill>
                        <a:srgbClr val="2DA2BF"/>
                      </a:solidFill>
                      <a:prstDash val="solid"/>
                    </a:lnL>
                    <a:lnR w="10000" cap="flat" cmpd="sng" algn="ctr">
                      <a:solidFill>
                        <a:srgbClr val="2DA2BF"/>
                      </a:solidFill>
                      <a:prstDash val="solid"/>
                    </a:lnR>
                    <a:lnT w="19050" cap="flat" cmpd="sng" algn="ctr">
                      <a:solidFill>
                        <a:sysClr val="window" lastClr="FFFFFF"/>
                      </a:solidFill>
                      <a:prstDash val="solid"/>
                    </a:lnT>
                    <a:lnB w="10000" cap="flat" cmpd="sng" algn="ctr">
                      <a:solidFill>
                        <a:srgbClr val="2DA2BF"/>
                      </a:solidFill>
                      <a:prstDash val="solid"/>
                    </a:lnB>
                    <a:lnTlToBr w="12700" cmpd="sng">
                      <a:noFill/>
                      <a:prstDash val="solid"/>
                    </a:lnTlToBr>
                    <a:lnBlToTr w="12700" cmpd="sng">
                      <a:noFill/>
                      <a:prstDash val="solid"/>
                    </a:lnBlToTr>
                    <a:solidFill>
                      <a:srgbClr val="2DA2BF">
                        <a:alpha val="40000"/>
                      </a:srgbClr>
                    </a:solidFill>
                  </a:tcPr>
                </a:tc>
                <a:extLst>
                  <a:ext uri="{0D108BD9-81ED-4DB2-BD59-A6C34878D82A}">
                    <a16:rowId xmlns:a16="http://schemas.microsoft.com/office/drawing/2014/main" val="477618906"/>
                  </a:ext>
                </a:extLst>
              </a:tr>
              <a:tr h="727404">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endParaRPr lang="en-US" sz="3200"/>
                    </a:p>
                  </a:txBody>
                  <a:tcPr>
                    <a:lnL w="10000" cap="flat" cmpd="sng" algn="ctr">
                      <a:solidFill>
                        <a:srgbClr val="2DA2BF"/>
                      </a:solidFill>
                      <a:prstDash val="solid"/>
                    </a:lnL>
                    <a:lnR w="10000" cap="flat" cmpd="sng" algn="ctr">
                      <a:solidFill>
                        <a:srgbClr val="2DA2BF"/>
                      </a:solidFill>
                      <a:prstDash val="solid"/>
                    </a:lnR>
                    <a:lnT w="10000" cap="flat" cmpd="sng" algn="ctr">
                      <a:solidFill>
                        <a:srgbClr val="2DA2BF"/>
                      </a:solidFill>
                      <a:prstDash val="solid"/>
                    </a:lnT>
                    <a:lnB w="10000" cap="flat" cmpd="sng" algn="ctr">
                      <a:solidFill>
                        <a:srgbClr val="2DA2BF"/>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3200" dirty="0"/>
                        <a:t>100</a:t>
                      </a:r>
                    </a:p>
                  </a:txBody>
                  <a:tcPr>
                    <a:lnL w="10000" cap="flat" cmpd="sng" algn="ctr">
                      <a:solidFill>
                        <a:srgbClr val="2DA2BF"/>
                      </a:solidFill>
                      <a:prstDash val="solid"/>
                    </a:lnL>
                    <a:lnR w="10000" cap="flat" cmpd="sng" algn="ctr">
                      <a:solidFill>
                        <a:srgbClr val="2DA2BF"/>
                      </a:solidFill>
                      <a:prstDash val="solid"/>
                    </a:lnR>
                    <a:lnT w="10000" cap="flat" cmpd="sng" algn="ctr">
                      <a:solidFill>
                        <a:srgbClr val="2DA2BF"/>
                      </a:solidFill>
                      <a:prstDash val="solid"/>
                    </a:lnT>
                    <a:lnB w="10000" cap="flat" cmpd="sng" algn="ctr">
                      <a:solidFill>
                        <a:srgbClr val="2DA2BF"/>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3200" dirty="0"/>
                        <a:t>110</a:t>
                      </a:r>
                    </a:p>
                  </a:txBody>
                  <a:tcPr>
                    <a:lnL w="10000" cap="flat" cmpd="sng" algn="ctr">
                      <a:solidFill>
                        <a:srgbClr val="2DA2BF"/>
                      </a:solidFill>
                      <a:prstDash val="solid"/>
                    </a:lnL>
                    <a:lnR w="10000" cap="flat" cmpd="sng" algn="ctr">
                      <a:solidFill>
                        <a:srgbClr val="2DA2BF"/>
                      </a:solidFill>
                      <a:prstDash val="solid"/>
                    </a:lnR>
                    <a:lnT w="10000" cap="flat" cmpd="sng" algn="ctr">
                      <a:solidFill>
                        <a:srgbClr val="2DA2BF"/>
                      </a:solidFill>
                      <a:prstDash val="solid"/>
                    </a:lnT>
                    <a:lnB w="10000" cap="flat" cmpd="sng" algn="ctr">
                      <a:solidFill>
                        <a:srgbClr val="2DA2BF"/>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4243292004"/>
                  </a:ext>
                </a:extLst>
              </a:tr>
            </a:tbl>
          </a:graphicData>
        </a:graphic>
      </p:graphicFrame>
      <p:pic>
        <p:nvPicPr>
          <p:cNvPr id="4" name="Picture 3">
            <a:extLst>
              <a:ext uri="{FF2B5EF4-FFF2-40B4-BE49-F238E27FC236}">
                <a16:creationId xmlns:a16="http://schemas.microsoft.com/office/drawing/2014/main" id="{8578B354-89BA-73C8-DA18-F767459F20A1}"/>
              </a:ext>
            </a:extLst>
          </p:cNvPr>
          <p:cNvPicPr>
            <a:picLocks noChangeAspect="1"/>
          </p:cNvPicPr>
          <p:nvPr/>
        </p:nvPicPr>
        <p:blipFill>
          <a:blip r:embed="rId3"/>
          <a:stretch>
            <a:fillRect/>
          </a:stretch>
        </p:blipFill>
        <p:spPr>
          <a:xfrm>
            <a:off x="3133060" y="3184549"/>
            <a:ext cx="472388" cy="657726"/>
          </a:xfrm>
          <a:prstGeom prst="rect">
            <a:avLst/>
          </a:prstGeom>
        </p:spPr>
      </p:pic>
      <p:pic>
        <p:nvPicPr>
          <p:cNvPr id="5" name="Picture 4">
            <a:extLst>
              <a:ext uri="{FF2B5EF4-FFF2-40B4-BE49-F238E27FC236}">
                <a16:creationId xmlns:a16="http://schemas.microsoft.com/office/drawing/2014/main" id="{2F83010E-8F4E-2344-1390-1C7A4EF923D8}"/>
              </a:ext>
            </a:extLst>
          </p:cNvPr>
          <p:cNvPicPr>
            <a:picLocks noChangeAspect="1"/>
          </p:cNvPicPr>
          <p:nvPr/>
        </p:nvPicPr>
        <p:blipFill>
          <a:blip r:embed="rId4"/>
          <a:stretch>
            <a:fillRect/>
          </a:stretch>
        </p:blipFill>
        <p:spPr>
          <a:xfrm>
            <a:off x="3177522" y="4040271"/>
            <a:ext cx="447631" cy="445642"/>
          </a:xfrm>
          <a:prstGeom prst="rect">
            <a:avLst/>
          </a:prstGeom>
        </p:spPr>
      </p:pic>
    </p:spTree>
    <p:extLst>
      <p:ext uri="{BB962C8B-B14F-4D97-AF65-F5344CB8AC3E}">
        <p14:creationId xmlns:p14="http://schemas.microsoft.com/office/powerpoint/2010/main" val="1771745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921369"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rPr>
              <a:t>Modern Portfolio Theory </a:t>
            </a:r>
            <a:r>
              <a:rPr kumimoji="0" lang="en-US" sz="2000" b="1" i="0" u="none" strike="noStrike" kern="1200" cap="none" spc="0" normalizeH="0" baseline="0" noProof="0" dirty="0" err="1">
                <a:ln>
                  <a:noFill/>
                </a:ln>
                <a:solidFill>
                  <a:schemeClr val="bg1"/>
                </a:solidFill>
                <a:effectLst/>
                <a:uLnTx/>
                <a:uFillTx/>
                <a:latin typeface="Calibri" panose="020F0502020204030204"/>
                <a:ea typeface="+mn-ea"/>
                <a:cs typeface="+mn-cs"/>
              </a:rPr>
              <a:t>ll</a:t>
            </a:r>
            <a:endPar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Diversification</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graphicFrame>
        <p:nvGraphicFramePr>
          <p:cNvPr id="5" name="Table 4">
            <a:extLst>
              <a:ext uri="{FF2B5EF4-FFF2-40B4-BE49-F238E27FC236}">
                <a16:creationId xmlns:a16="http://schemas.microsoft.com/office/drawing/2014/main" id="{66D90633-16E1-3D58-3DD8-1DD9572BD524}"/>
              </a:ext>
            </a:extLst>
          </p:cNvPr>
          <p:cNvGraphicFramePr>
            <a:graphicFrameLocks noGrp="1"/>
          </p:cNvGraphicFramePr>
          <p:nvPr>
            <p:extLst>
              <p:ext uri="{D42A27DB-BD31-4B8C-83A1-F6EECF244321}">
                <p14:modId xmlns:p14="http://schemas.microsoft.com/office/powerpoint/2010/main" val="1987939547"/>
              </p:ext>
            </p:extLst>
          </p:nvPr>
        </p:nvGraphicFramePr>
        <p:xfrm>
          <a:off x="1528009" y="1462295"/>
          <a:ext cx="8321845" cy="1690807"/>
        </p:xfrm>
        <a:graphic>
          <a:graphicData uri="http://schemas.openxmlformats.org/drawingml/2006/table">
            <a:tbl>
              <a:tblPr firstRow="1" bandRow="1">
                <a:solidFill>
                  <a:srgbClr val="2DA2BF">
                    <a:tint val="50000"/>
                  </a:srgbClr>
                </a:solidFill>
                <a:effectLst>
                  <a:outerShdw blurRad="38100" dist="30000" dir="5400000" rotWithShape="0">
                    <a:srgbClr val="000000">
                      <a:alpha val="45000"/>
                    </a:srgbClr>
                  </a:outerShdw>
                </a:effectLst>
              </a:tblPr>
              <a:tblGrid>
                <a:gridCol w="1664369">
                  <a:extLst>
                    <a:ext uri="{9D8B030D-6E8A-4147-A177-3AD203B41FA5}">
                      <a16:colId xmlns:a16="http://schemas.microsoft.com/office/drawing/2014/main" val="978087848"/>
                    </a:ext>
                  </a:extLst>
                </a:gridCol>
                <a:gridCol w="1664369">
                  <a:extLst>
                    <a:ext uri="{9D8B030D-6E8A-4147-A177-3AD203B41FA5}">
                      <a16:colId xmlns:a16="http://schemas.microsoft.com/office/drawing/2014/main" val="1905999863"/>
                    </a:ext>
                  </a:extLst>
                </a:gridCol>
                <a:gridCol w="1664369">
                  <a:extLst>
                    <a:ext uri="{9D8B030D-6E8A-4147-A177-3AD203B41FA5}">
                      <a16:colId xmlns:a16="http://schemas.microsoft.com/office/drawing/2014/main" val="91562511"/>
                    </a:ext>
                  </a:extLst>
                </a:gridCol>
                <a:gridCol w="1664369">
                  <a:extLst>
                    <a:ext uri="{9D8B030D-6E8A-4147-A177-3AD203B41FA5}">
                      <a16:colId xmlns:a16="http://schemas.microsoft.com/office/drawing/2014/main" val="3195101750"/>
                    </a:ext>
                  </a:extLst>
                </a:gridCol>
                <a:gridCol w="1664369">
                  <a:extLst>
                    <a:ext uri="{9D8B030D-6E8A-4147-A177-3AD203B41FA5}">
                      <a16:colId xmlns:a16="http://schemas.microsoft.com/office/drawing/2014/main" val="409368483"/>
                    </a:ext>
                  </a:extLst>
                </a:gridCol>
              </a:tblGrid>
              <a:tr h="837367">
                <a:tc>
                  <a:txBody>
                    <a:bodyPr/>
                    <a:lstStyle>
                      <a:lvl1pPr marL="0" algn="l" defTabSz="914400" rtl="0" eaLnBrk="1" latinLnBrk="0" hangingPunct="1">
                        <a:defRPr sz="1800" b="1" kern="1200">
                          <a:solidFill>
                            <a:schemeClr val="lt1"/>
                          </a:solidFill>
                          <a:latin typeface="Tw Cen MT"/>
                        </a:defRPr>
                      </a:lvl1pPr>
                      <a:lvl2pPr marL="457200" algn="l" defTabSz="914400" rtl="0" eaLnBrk="1" latinLnBrk="0" hangingPunct="1">
                        <a:defRPr sz="1800" b="1" kern="1200">
                          <a:solidFill>
                            <a:schemeClr val="lt1"/>
                          </a:solidFill>
                          <a:latin typeface="Tw Cen MT"/>
                        </a:defRPr>
                      </a:lvl2pPr>
                      <a:lvl3pPr marL="914400" algn="l" defTabSz="914400" rtl="0" eaLnBrk="1" latinLnBrk="0" hangingPunct="1">
                        <a:defRPr sz="1800" b="1" kern="1200">
                          <a:solidFill>
                            <a:schemeClr val="lt1"/>
                          </a:solidFill>
                          <a:latin typeface="Tw Cen MT"/>
                        </a:defRPr>
                      </a:lvl3pPr>
                      <a:lvl4pPr marL="1371600" algn="l" defTabSz="914400" rtl="0" eaLnBrk="1" latinLnBrk="0" hangingPunct="1">
                        <a:defRPr sz="1800" b="1" kern="1200">
                          <a:solidFill>
                            <a:schemeClr val="lt1"/>
                          </a:solidFill>
                          <a:latin typeface="Tw Cen MT"/>
                        </a:defRPr>
                      </a:lvl4pPr>
                      <a:lvl5pPr marL="1828800" algn="l" defTabSz="914400" rtl="0" eaLnBrk="1" latinLnBrk="0" hangingPunct="1">
                        <a:defRPr sz="1800" b="1" kern="1200">
                          <a:solidFill>
                            <a:schemeClr val="lt1"/>
                          </a:solidFill>
                          <a:latin typeface="Tw Cen MT"/>
                        </a:defRPr>
                      </a:lvl5pPr>
                      <a:lvl6pPr marL="2286000" algn="l" defTabSz="914400" rtl="0" eaLnBrk="1" latinLnBrk="0" hangingPunct="1">
                        <a:defRPr sz="1800" b="1" kern="1200">
                          <a:solidFill>
                            <a:schemeClr val="lt1"/>
                          </a:solidFill>
                          <a:latin typeface="Tw Cen MT"/>
                        </a:defRPr>
                      </a:lvl6pPr>
                      <a:lvl7pPr marL="2743200" algn="l" defTabSz="914400" rtl="0" eaLnBrk="1" latinLnBrk="0" hangingPunct="1">
                        <a:defRPr sz="1800" b="1" kern="1200">
                          <a:solidFill>
                            <a:schemeClr val="lt1"/>
                          </a:solidFill>
                          <a:latin typeface="Tw Cen MT"/>
                        </a:defRPr>
                      </a:lvl7pPr>
                      <a:lvl8pPr marL="3200400" algn="l" defTabSz="914400" rtl="0" eaLnBrk="1" latinLnBrk="0" hangingPunct="1">
                        <a:defRPr sz="1800" b="1" kern="1200">
                          <a:solidFill>
                            <a:schemeClr val="lt1"/>
                          </a:solidFill>
                          <a:latin typeface="Tw Cen MT"/>
                        </a:defRPr>
                      </a:lvl8pPr>
                      <a:lvl9pPr marL="3657600" algn="l" defTabSz="914400" rtl="0" eaLnBrk="1" latinLnBrk="0" hangingPunct="1">
                        <a:defRPr sz="1800" b="1" kern="1200">
                          <a:solidFill>
                            <a:schemeClr val="lt1"/>
                          </a:solidFill>
                          <a:latin typeface="Tw Cen MT"/>
                        </a:defRPr>
                      </a:lvl9pPr>
                    </a:lstStyle>
                    <a:p>
                      <a:pPr algn="ctr"/>
                      <a:r>
                        <a:rPr lang="en-US" sz="2200" b="0" dirty="0"/>
                        <a:t>State of the Market</a:t>
                      </a:r>
                    </a:p>
                  </a:txBody>
                  <a:tcPr>
                    <a:lnL w="10000" cap="flat" cmpd="sng" algn="ctr">
                      <a:solidFill>
                        <a:srgbClr val="2DA2BF"/>
                      </a:solidFill>
                      <a:prstDash val="solid"/>
                    </a:lnL>
                    <a:lnR>
                      <a:noFill/>
                    </a:lnR>
                    <a:lnT w="10000" cap="flat" cmpd="sng" algn="ctr">
                      <a:solidFill>
                        <a:srgbClr val="2DA2BF"/>
                      </a:solidFill>
                      <a:prstDash val="solid"/>
                    </a:lnT>
                    <a:lnB w="19050" cap="flat" cmpd="sng" algn="ctr">
                      <a:solidFill>
                        <a:sysClr val="window" lastClr="FFFFFF"/>
                      </a:solidFill>
                      <a:prstDash val="solid"/>
                    </a:lnB>
                    <a:lnTlToBr w="12700" cmpd="sng">
                      <a:noFill/>
                      <a:prstDash val="solid"/>
                    </a:lnTlToBr>
                    <a:lnBlToTr w="12700" cmpd="sng">
                      <a:noFill/>
                      <a:prstDash val="solid"/>
                    </a:lnBlToTr>
                    <a:solidFill>
                      <a:srgbClr val="2DA2BF"/>
                    </a:solidFill>
                  </a:tcPr>
                </a:tc>
                <a:tc>
                  <a:txBody>
                    <a:bodyPr/>
                    <a:lstStyle>
                      <a:lvl1pPr marL="0" algn="l" defTabSz="914400" rtl="0" eaLnBrk="1" latinLnBrk="0" hangingPunct="1">
                        <a:defRPr sz="1800" b="1" kern="1200">
                          <a:solidFill>
                            <a:schemeClr val="lt1"/>
                          </a:solidFill>
                          <a:latin typeface="Tw Cen MT"/>
                        </a:defRPr>
                      </a:lvl1pPr>
                      <a:lvl2pPr marL="457200" algn="l" defTabSz="914400" rtl="0" eaLnBrk="1" latinLnBrk="0" hangingPunct="1">
                        <a:defRPr sz="1800" b="1" kern="1200">
                          <a:solidFill>
                            <a:schemeClr val="lt1"/>
                          </a:solidFill>
                          <a:latin typeface="Tw Cen MT"/>
                        </a:defRPr>
                      </a:lvl2pPr>
                      <a:lvl3pPr marL="914400" algn="l" defTabSz="914400" rtl="0" eaLnBrk="1" latinLnBrk="0" hangingPunct="1">
                        <a:defRPr sz="1800" b="1" kern="1200">
                          <a:solidFill>
                            <a:schemeClr val="lt1"/>
                          </a:solidFill>
                          <a:latin typeface="Tw Cen MT"/>
                        </a:defRPr>
                      </a:lvl3pPr>
                      <a:lvl4pPr marL="1371600" algn="l" defTabSz="914400" rtl="0" eaLnBrk="1" latinLnBrk="0" hangingPunct="1">
                        <a:defRPr sz="1800" b="1" kern="1200">
                          <a:solidFill>
                            <a:schemeClr val="lt1"/>
                          </a:solidFill>
                          <a:latin typeface="Tw Cen MT"/>
                        </a:defRPr>
                      </a:lvl4pPr>
                      <a:lvl5pPr marL="1828800" algn="l" defTabSz="914400" rtl="0" eaLnBrk="1" latinLnBrk="0" hangingPunct="1">
                        <a:defRPr sz="1800" b="1" kern="1200">
                          <a:solidFill>
                            <a:schemeClr val="lt1"/>
                          </a:solidFill>
                          <a:latin typeface="Tw Cen MT"/>
                        </a:defRPr>
                      </a:lvl5pPr>
                      <a:lvl6pPr marL="2286000" algn="l" defTabSz="914400" rtl="0" eaLnBrk="1" latinLnBrk="0" hangingPunct="1">
                        <a:defRPr sz="1800" b="1" kern="1200">
                          <a:solidFill>
                            <a:schemeClr val="lt1"/>
                          </a:solidFill>
                          <a:latin typeface="Tw Cen MT"/>
                        </a:defRPr>
                      </a:lvl6pPr>
                      <a:lvl7pPr marL="2743200" algn="l" defTabSz="914400" rtl="0" eaLnBrk="1" latinLnBrk="0" hangingPunct="1">
                        <a:defRPr sz="1800" b="1" kern="1200">
                          <a:solidFill>
                            <a:schemeClr val="lt1"/>
                          </a:solidFill>
                          <a:latin typeface="Tw Cen MT"/>
                        </a:defRPr>
                      </a:lvl7pPr>
                      <a:lvl8pPr marL="3200400" algn="l" defTabSz="914400" rtl="0" eaLnBrk="1" latinLnBrk="0" hangingPunct="1">
                        <a:defRPr sz="1800" b="1" kern="1200">
                          <a:solidFill>
                            <a:schemeClr val="lt1"/>
                          </a:solidFill>
                          <a:latin typeface="Tw Cen MT"/>
                        </a:defRPr>
                      </a:lvl8pPr>
                      <a:lvl9pPr marL="3657600" algn="l" defTabSz="914400" rtl="0" eaLnBrk="1" latinLnBrk="0" hangingPunct="1">
                        <a:defRPr sz="1800" b="1" kern="1200">
                          <a:solidFill>
                            <a:schemeClr val="lt1"/>
                          </a:solidFill>
                          <a:latin typeface="Tw Cen MT"/>
                        </a:defRPr>
                      </a:lvl9pPr>
                    </a:lstStyle>
                    <a:p>
                      <a:pPr algn="ctr"/>
                      <a:r>
                        <a:rPr lang="en-US" sz="2200" b="0" dirty="0"/>
                        <a:t>Probability</a:t>
                      </a:r>
                    </a:p>
                  </a:txBody>
                  <a:tcPr>
                    <a:lnL>
                      <a:noFill/>
                    </a:lnL>
                    <a:lnR>
                      <a:noFill/>
                    </a:lnR>
                    <a:lnT w="10000" cap="flat" cmpd="sng" algn="ctr">
                      <a:solidFill>
                        <a:srgbClr val="2DA2BF"/>
                      </a:solidFill>
                      <a:prstDash val="solid"/>
                    </a:lnT>
                    <a:lnB w="19050" cap="flat" cmpd="sng" algn="ctr">
                      <a:solidFill>
                        <a:sysClr val="window" lastClr="FFFFFF"/>
                      </a:solidFill>
                      <a:prstDash val="solid"/>
                    </a:lnB>
                    <a:lnTlToBr w="12700" cmpd="sng">
                      <a:noFill/>
                      <a:prstDash val="solid"/>
                    </a:lnTlToBr>
                    <a:lnBlToTr w="12700" cmpd="sng">
                      <a:noFill/>
                      <a:prstDash val="solid"/>
                    </a:lnBlToTr>
                    <a:solidFill>
                      <a:srgbClr val="2DA2BF"/>
                    </a:solidFill>
                  </a:tcPr>
                </a:tc>
                <a:tc>
                  <a:txBody>
                    <a:bodyPr/>
                    <a:lstStyle>
                      <a:lvl1pPr marL="0" algn="l" defTabSz="914400" rtl="0" eaLnBrk="1" latinLnBrk="0" hangingPunct="1">
                        <a:defRPr sz="1800" b="1" kern="1200">
                          <a:solidFill>
                            <a:schemeClr val="lt1"/>
                          </a:solidFill>
                          <a:latin typeface="Tw Cen MT"/>
                        </a:defRPr>
                      </a:lvl1pPr>
                      <a:lvl2pPr marL="457200" algn="l" defTabSz="914400" rtl="0" eaLnBrk="1" latinLnBrk="0" hangingPunct="1">
                        <a:defRPr sz="1800" b="1" kern="1200">
                          <a:solidFill>
                            <a:schemeClr val="lt1"/>
                          </a:solidFill>
                          <a:latin typeface="Tw Cen MT"/>
                        </a:defRPr>
                      </a:lvl2pPr>
                      <a:lvl3pPr marL="914400" algn="l" defTabSz="914400" rtl="0" eaLnBrk="1" latinLnBrk="0" hangingPunct="1">
                        <a:defRPr sz="1800" b="1" kern="1200">
                          <a:solidFill>
                            <a:schemeClr val="lt1"/>
                          </a:solidFill>
                          <a:latin typeface="Tw Cen MT"/>
                        </a:defRPr>
                      </a:lvl3pPr>
                      <a:lvl4pPr marL="1371600" algn="l" defTabSz="914400" rtl="0" eaLnBrk="1" latinLnBrk="0" hangingPunct="1">
                        <a:defRPr sz="1800" b="1" kern="1200">
                          <a:solidFill>
                            <a:schemeClr val="lt1"/>
                          </a:solidFill>
                          <a:latin typeface="Tw Cen MT"/>
                        </a:defRPr>
                      </a:lvl4pPr>
                      <a:lvl5pPr marL="1828800" algn="l" defTabSz="914400" rtl="0" eaLnBrk="1" latinLnBrk="0" hangingPunct="1">
                        <a:defRPr sz="1800" b="1" kern="1200">
                          <a:solidFill>
                            <a:schemeClr val="lt1"/>
                          </a:solidFill>
                          <a:latin typeface="Tw Cen MT"/>
                        </a:defRPr>
                      </a:lvl5pPr>
                      <a:lvl6pPr marL="2286000" algn="l" defTabSz="914400" rtl="0" eaLnBrk="1" latinLnBrk="0" hangingPunct="1">
                        <a:defRPr sz="1800" b="1" kern="1200">
                          <a:solidFill>
                            <a:schemeClr val="lt1"/>
                          </a:solidFill>
                          <a:latin typeface="Tw Cen MT"/>
                        </a:defRPr>
                      </a:lvl6pPr>
                      <a:lvl7pPr marL="2743200" algn="l" defTabSz="914400" rtl="0" eaLnBrk="1" latinLnBrk="0" hangingPunct="1">
                        <a:defRPr sz="1800" b="1" kern="1200">
                          <a:solidFill>
                            <a:schemeClr val="lt1"/>
                          </a:solidFill>
                          <a:latin typeface="Tw Cen MT"/>
                        </a:defRPr>
                      </a:lvl7pPr>
                      <a:lvl8pPr marL="3200400" algn="l" defTabSz="914400" rtl="0" eaLnBrk="1" latinLnBrk="0" hangingPunct="1">
                        <a:defRPr sz="1800" b="1" kern="1200">
                          <a:solidFill>
                            <a:schemeClr val="lt1"/>
                          </a:solidFill>
                          <a:latin typeface="Tw Cen MT"/>
                        </a:defRPr>
                      </a:lvl8pPr>
                      <a:lvl9pPr marL="3657600" algn="l" defTabSz="914400" rtl="0" eaLnBrk="1" latinLnBrk="0" hangingPunct="1">
                        <a:defRPr sz="1800" b="1" kern="1200">
                          <a:solidFill>
                            <a:schemeClr val="lt1"/>
                          </a:solidFill>
                          <a:latin typeface="Tw Cen MT"/>
                        </a:defRPr>
                      </a:lvl9pPr>
                    </a:lstStyle>
                    <a:p>
                      <a:pPr algn="ctr"/>
                      <a:r>
                        <a:rPr lang="en-US" sz="2200" b="0" dirty="0"/>
                        <a:t>Year-end Price</a:t>
                      </a:r>
                    </a:p>
                  </a:txBody>
                  <a:tcPr>
                    <a:lnL>
                      <a:noFill/>
                    </a:lnL>
                    <a:lnR>
                      <a:noFill/>
                    </a:lnR>
                    <a:lnT w="10000" cap="flat" cmpd="sng" algn="ctr">
                      <a:solidFill>
                        <a:srgbClr val="2DA2BF"/>
                      </a:solidFill>
                      <a:prstDash val="solid"/>
                    </a:lnT>
                    <a:lnB w="19050" cap="flat" cmpd="sng" algn="ctr">
                      <a:solidFill>
                        <a:sysClr val="window" lastClr="FFFFFF"/>
                      </a:solidFill>
                      <a:prstDash val="solid"/>
                    </a:lnB>
                    <a:lnTlToBr w="12700" cmpd="sng">
                      <a:noFill/>
                      <a:prstDash val="solid"/>
                    </a:lnTlToBr>
                    <a:lnBlToTr w="12700" cmpd="sng">
                      <a:noFill/>
                      <a:prstDash val="solid"/>
                    </a:lnBlToTr>
                    <a:solidFill>
                      <a:srgbClr val="2DA2BF"/>
                    </a:solidFill>
                  </a:tcPr>
                </a:tc>
                <a:tc>
                  <a:txBody>
                    <a:bodyPr/>
                    <a:lstStyle>
                      <a:lvl1pPr marL="0" algn="l" defTabSz="914400" rtl="0" eaLnBrk="1" latinLnBrk="0" hangingPunct="1">
                        <a:defRPr sz="1800" b="1" kern="1200">
                          <a:solidFill>
                            <a:schemeClr val="lt1"/>
                          </a:solidFill>
                          <a:latin typeface="Tw Cen MT"/>
                        </a:defRPr>
                      </a:lvl1pPr>
                      <a:lvl2pPr marL="457200" algn="l" defTabSz="914400" rtl="0" eaLnBrk="1" latinLnBrk="0" hangingPunct="1">
                        <a:defRPr sz="1800" b="1" kern="1200">
                          <a:solidFill>
                            <a:schemeClr val="lt1"/>
                          </a:solidFill>
                          <a:latin typeface="Tw Cen MT"/>
                        </a:defRPr>
                      </a:lvl2pPr>
                      <a:lvl3pPr marL="914400" algn="l" defTabSz="914400" rtl="0" eaLnBrk="1" latinLnBrk="0" hangingPunct="1">
                        <a:defRPr sz="1800" b="1" kern="1200">
                          <a:solidFill>
                            <a:schemeClr val="lt1"/>
                          </a:solidFill>
                          <a:latin typeface="Tw Cen MT"/>
                        </a:defRPr>
                      </a:lvl3pPr>
                      <a:lvl4pPr marL="1371600" algn="l" defTabSz="914400" rtl="0" eaLnBrk="1" latinLnBrk="0" hangingPunct="1">
                        <a:defRPr sz="1800" b="1" kern="1200">
                          <a:solidFill>
                            <a:schemeClr val="lt1"/>
                          </a:solidFill>
                          <a:latin typeface="Tw Cen MT"/>
                        </a:defRPr>
                      </a:lvl4pPr>
                      <a:lvl5pPr marL="1828800" algn="l" defTabSz="914400" rtl="0" eaLnBrk="1" latinLnBrk="0" hangingPunct="1">
                        <a:defRPr sz="1800" b="1" kern="1200">
                          <a:solidFill>
                            <a:schemeClr val="lt1"/>
                          </a:solidFill>
                          <a:latin typeface="Tw Cen MT"/>
                        </a:defRPr>
                      </a:lvl5pPr>
                      <a:lvl6pPr marL="2286000" algn="l" defTabSz="914400" rtl="0" eaLnBrk="1" latinLnBrk="0" hangingPunct="1">
                        <a:defRPr sz="1800" b="1" kern="1200">
                          <a:solidFill>
                            <a:schemeClr val="lt1"/>
                          </a:solidFill>
                          <a:latin typeface="Tw Cen MT"/>
                        </a:defRPr>
                      </a:lvl6pPr>
                      <a:lvl7pPr marL="2743200" algn="l" defTabSz="914400" rtl="0" eaLnBrk="1" latinLnBrk="0" hangingPunct="1">
                        <a:defRPr sz="1800" b="1" kern="1200">
                          <a:solidFill>
                            <a:schemeClr val="lt1"/>
                          </a:solidFill>
                          <a:latin typeface="Tw Cen MT"/>
                        </a:defRPr>
                      </a:lvl7pPr>
                      <a:lvl8pPr marL="3200400" algn="l" defTabSz="914400" rtl="0" eaLnBrk="1" latinLnBrk="0" hangingPunct="1">
                        <a:defRPr sz="1800" b="1" kern="1200">
                          <a:solidFill>
                            <a:schemeClr val="lt1"/>
                          </a:solidFill>
                          <a:latin typeface="Tw Cen MT"/>
                        </a:defRPr>
                      </a:lvl8pPr>
                      <a:lvl9pPr marL="3657600" algn="l" defTabSz="914400" rtl="0" eaLnBrk="1" latinLnBrk="0" hangingPunct="1">
                        <a:defRPr sz="1800" b="1" kern="1200">
                          <a:solidFill>
                            <a:schemeClr val="lt1"/>
                          </a:solidFill>
                          <a:latin typeface="Tw Cen MT"/>
                        </a:defRPr>
                      </a:lvl9pPr>
                    </a:lstStyle>
                    <a:p>
                      <a:pPr algn="ctr"/>
                      <a:r>
                        <a:rPr lang="en-US" sz="2200" b="0" dirty="0"/>
                        <a:t>Cash Dividends</a:t>
                      </a:r>
                    </a:p>
                  </a:txBody>
                  <a:tcPr>
                    <a:lnL>
                      <a:noFill/>
                    </a:lnL>
                    <a:lnR>
                      <a:noFill/>
                    </a:lnR>
                    <a:lnT w="10000" cap="flat" cmpd="sng" algn="ctr">
                      <a:solidFill>
                        <a:srgbClr val="2DA2BF"/>
                      </a:solidFill>
                      <a:prstDash val="solid"/>
                    </a:lnT>
                    <a:lnB w="19050" cap="flat" cmpd="sng" algn="ctr">
                      <a:solidFill>
                        <a:sysClr val="window" lastClr="FFFFFF"/>
                      </a:solidFill>
                      <a:prstDash val="solid"/>
                    </a:lnB>
                    <a:lnTlToBr w="12700" cmpd="sng">
                      <a:noFill/>
                      <a:prstDash val="solid"/>
                    </a:lnTlToBr>
                    <a:lnBlToTr w="12700" cmpd="sng">
                      <a:noFill/>
                      <a:prstDash val="solid"/>
                    </a:lnBlToTr>
                    <a:solidFill>
                      <a:srgbClr val="2DA2BF"/>
                    </a:solidFill>
                  </a:tcPr>
                </a:tc>
                <a:tc>
                  <a:txBody>
                    <a:bodyPr/>
                    <a:lstStyle>
                      <a:lvl1pPr marL="0" algn="l" defTabSz="914400" rtl="0" eaLnBrk="1" latinLnBrk="0" hangingPunct="1">
                        <a:defRPr sz="1800" b="1" kern="1200">
                          <a:solidFill>
                            <a:schemeClr val="lt1"/>
                          </a:solidFill>
                          <a:latin typeface="Tw Cen MT"/>
                        </a:defRPr>
                      </a:lvl1pPr>
                      <a:lvl2pPr marL="457200" algn="l" defTabSz="914400" rtl="0" eaLnBrk="1" latinLnBrk="0" hangingPunct="1">
                        <a:defRPr sz="1800" b="1" kern="1200">
                          <a:solidFill>
                            <a:schemeClr val="lt1"/>
                          </a:solidFill>
                          <a:latin typeface="Tw Cen MT"/>
                        </a:defRPr>
                      </a:lvl2pPr>
                      <a:lvl3pPr marL="914400" algn="l" defTabSz="914400" rtl="0" eaLnBrk="1" latinLnBrk="0" hangingPunct="1">
                        <a:defRPr sz="1800" b="1" kern="1200">
                          <a:solidFill>
                            <a:schemeClr val="lt1"/>
                          </a:solidFill>
                          <a:latin typeface="Tw Cen MT"/>
                        </a:defRPr>
                      </a:lvl3pPr>
                      <a:lvl4pPr marL="1371600" algn="l" defTabSz="914400" rtl="0" eaLnBrk="1" latinLnBrk="0" hangingPunct="1">
                        <a:defRPr sz="1800" b="1" kern="1200">
                          <a:solidFill>
                            <a:schemeClr val="lt1"/>
                          </a:solidFill>
                          <a:latin typeface="Tw Cen MT"/>
                        </a:defRPr>
                      </a:lvl4pPr>
                      <a:lvl5pPr marL="1828800" algn="l" defTabSz="914400" rtl="0" eaLnBrk="1" latinLnBrk="0" hangingPunct="1">
                        <a:defRPr sz="1800" b="1" kern="1200">
                          <a:solidFill>
                            <a:schemeClr val="lt1"/>
                          </a:solidFill>
                          <a:latin typeface="Tw Cen MT"/>
                        </a:defRPr>
                      </a:lvl5pPr>
                      <a:lvl6pPr marL="2286000" algn="l" defTabSz="914400" rtl="0" eaLnBrk="1" latinLnBrk="0" hangingPunct="1">
                        <a:defRPr sz="1800" b="1" kern="1200">
                          <a:solidFill>
                            <a:schemeClr val="lt1"/>
                          </a:solidFill>
                          <a:latin typeface="Tw Cen MT"/>
                        </a:defRPr>
                      </a:lvl6pPr>
                      <a:lvl7pPr marL="2743200" algn="l" defTabSz="914400" rtl="0" eaLnBrk="1" latinLnBrk="0" hangingPunct="1">
                        <a:defRPr sz="1800" b="1" kern="1200">
                          <a:solidFill>
                            <a:schemeClr val="lt1"/>
                          </a:solidFill>
                          <a:latin typeface="Tw Cen MT"/>
                        </a:defRPr>
                      </a:lvl7pPr>
                      <a:lvl8pPr marL="3200400" algn="l" defTabSz="914400" rtl="0" eaLnBrk="1" latinLnBrk="0" hangingPunct="1">
                        <a:defRPr sz="1800" b="1" kern="1200">
                          <a:solidFill>
                            <a:schemeClr val="lt1"/>
                          </a:solidFill>
                          <a:latin typeface="Tw Cen MT"/>
                        </a:defRPr>
                      </a:lvl8pPr>
                      <a:lvl9pPr marL="3657600" algn="l" defTabSz="914400" rtl="0" eaLnBrk="1" latinLnBrk="0" hangingPunct="1">
                        <a:defRPr sz="1800" b="1" kern="1200">
                          <a:solidFill>
                            <a:schemeClr val="lt1"/>
                          </a:solidFill>
                          <a:latin typeface="Tw Cen MT"/>
                        </a:defRPr>
                      </a:lvl9pPr>
                    </a:lstStyle>
                    <a:p>
                      <a:pPr algn="ctr"/>
                      <a:r>
                        <a:rPr lang="en-US" sz="2200" b="0" dirty="0"/>
                        <a:t>HPR</a:t>
                      </a:r>
                    </a:p>
                  </a:txBody>
                  <a:tcPr>
                    <a:lnL>
                      <a:noFill/>
                    </a:lnL>
                    <a:lnR w="10000" cap="flat" cmpd="sng" algn="ctr">
                      <a:solidFill>
                        <a:srgbClr val="2DA2BF"/>
                      </a:solidFill>
                      <a:prstDash val="solid"/>
                    </a:lnR>
                    <a:lnT w="10000" cap="flat" cmpd="sng" algn="ctr">
                      <a:solidFill>
                        <a:srgbClr val="2DA2BF"/>
                      </a:solidFill>
                      <a:prstDash val="solid"/>
                    </a:lnT>
                    <a:lnB w="19050" cap="flat" cmpd="sng" algn="ctr">
                      <a:solidFill>
                        <a:sysClr val="window" lastClr="FFFFFF"/>
                      </a:solidFill>
                      <a:prstDash val="solid"/>
                    </a:lnB>
                    <a:lnTlToBr w="12700" cmpd="sng">
                      <a:noFill/>
                      <a:prstDash val="solid"/>
                    </a:lnTlToBr>
                    <a:lnBlToTr w="12700" cmpd="sng">
                      <a:noFill/>
                      <a:prstDash val="solid"/>
                    </a:lnBlToTr>
                    <a:solidFill>
                      <a:srgbClr val="2DA2BF"/>
                    </a:solidFill>
                  </a:tcPr>
                </a:tc>
                <a:extLst>
                  <a:ext uri="{0D108BD9-81ED-4DB2-BD59-A6C34878D82A}">
                    <a16:rowId xmlns:a16="http://schemas.microsoft.com/office/drawing/2014/main" val="643636494"/>
                  </a:ext>
                </a:extLst>
              </a:tr>
              <a:tr h="363924">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2200" dirty="0"/>
                        <a:t>Sunny</a:t>
                      </a:r>
                    </a:p>
                  </a:txBody>
                  <a:tcPr>
                    <a:lnL w="10000" cap="flat" cmpd="sng" algn="ctr">
                      <a:solidFill>
                        <a:srgbClr val="2DA2BF"/>
                      </a:solidFill>
                      <a:prstDash val="solid"/>
                    </a:lnL>
                    <a:lnR w="10000" cap="flat" cmpd="sng" algn="ctr">
                      <a:solidFill>
                        <a:srgbClr val="2DA2BF"/>
                      </a:solidFill>
                      <a:prstDash val="solid"/>
                    </a:lnR>
                    <a:lnT w="19050" cap="flat" cmpd="sng" algn="ctr">
                      <a:solidFill>
                        <a:sysClr val="window" lastClr="FFFFFF"/>
                      </a:solidFill>
                      <a:prstDash val="solid"/>
                    </a:lnT>
                    <a:lnB w="10000" cap="flat" cmpd="sng" algn="ctr">
                      <a:solidFill>
                        <a:srgbClr val="2DA2BF"/>
                      </a:solidFill>
                      <a:prstDash val="solid"/>
                    </a:lnB>
                    <a:lnTlToBr w="12700" cmpd="sng">
                      <a:noFill/>
                      <a:prstDash val="solid"/>
                    </a:lnTlToBr>
                    <a:lnBlToTr w="12700" cmpd="sng">
                      <a:noFill/>
                      <a:prstDash val="solid"/>
                    </a:lnBlToTr>
                    <a:solidFill>
                      <a:srgbClr val="2DA2BF">
                        <a:alpha val="4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2200" dirty="0"/>
                        <a:t>50%</a:t>
                      </a:r>
                    </a:p>
                  </a:txBody>
                  <a:tcPr>
                    <a:lnL w="10000" cap="flat" cmpd="sng" algn="ctr">
                      <a:solidFill>
                        <a:srgbClr val="2DA2BF"/>
                      </a:solidFill>
                      <a:prstDash val="solid"/>
                    </a:lnL>
                    <a:lnR w="10000" cap="flat" cmpd="sng" algn="ctr">
                      <a:solidFill>
                        <a:srgbClr val="2DA2BF"/>
                      </a:solidFill>
                      <a:prstDash val="solid"/>
                    </a:lnR>
                    <a:lnT w="19050" cap="flat" cmpd="sng" algn="ctr">
                      <a:solidFill>
                        <a:sysClr val="window" lastClr="FFFFFF"/>
                      </a:solidFill>
                      <a:prstDash val="solid"/>
                    </a:lnT>
                    <a:lnB w="10000" cap="flat" cmpd="sng" algn="ctr">
                      <a:solidFill>
                        <a:srgbClr val="2DA2BF"/>
                      </a:solidFill>
                      <a:prstDash val="solid"/>
                    </a:lnB>
                    <a:lnTlToBr w="12700" cmpd="sng">
                      <a:noFill/>
                      <a:prstDash val="solid"/>
                    </a:lnTlToBr>
                    <a:lnBlToTr w="12700" cmpd="sng">
                      <a:noFill/>
                      <a:prstDash val="solid"/>
                    </a:lnBlToTr>
                    <a:solidFill>
                      <a:srgbClr val="2DA2BF">
                        <a:alpha val="4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2200" dirty="0"/>
                        <a:t>110</a:t>
                      </a:r>
                    </a:p>
                  </a:txBody>
                  <a:tcPr>
                    <a:lnL w="10000" cap="flat" cmpd="sng" algn="ctr">
                      <a:solidFill>
                        <a:srgbClr val="2DA2BF"/>
                      </a:solidFill>
                      <a:prstDash val="solid"/>
                    </a:lnL>
                    <a:lnR w="10000" cap="flat" cmpd="sng" algn="ctr">
                      <a:solidFill>
                        <a:srgbClr val="2DA2BF"/>
                      </a:solidFill>
                      <a:prstDash val="solid"/>
                    </a:lnR>
                    <a:lnT w="19050" cap="flat" cmpd="sng" algn="ctr">
                      <a:solidFill>
                        <a:sysClr val="window" lastClr="FFFFFF"/>
                      </a:solidFill>
                      <a:prstDash val="solid"/>
                    </a:lnT>
                    <a:lnB w="10000" cap="flat" cmpd="sng" algn="ctr">
                      <a:solidFill>
                        <a:srgbClr val="2DA2BF"/>
                      </a:solidFill>
                      <a:prstDash val="solid"/>
                    </a:lnB>
                    <a:lnTlToBr w="12700" cmpd="sng">
                      <a:noFill/>
                      <a:prstDash val="solid"/>
                    </a:lnTlToBr>
                    <a:lnBlToTr w="12700" cmpd="sng">
                      <a:noFill/>
                      <a:prstDash val="solid"/>
                    </a:lnBlToTr>
                    <a:solidFill>
                      <a:srgbClr val="2DA2BF">
                        <a:alpha val="4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2200" dirty="0"/>
                        <a:t>0</a:t>
                      </a:r>
                    </a:p>
                  </a:txBody>
                  <a:tcPr>
                    <a:lnL w="10000" cap="flat" cmpd="sng" algn="ctr">
                      <a:solidFill>
                        <a:srgbClr val="2DA2BF"/>
                      </a:solidFill>
                      <a:prstDash val="solid"/>
                    </a:lnL>
                    <a:lnR w="10000" cap="flat" cmpd="sng" algn="ctr">
                      <a:solidFill>
                        <a:srgbClr val="2DA2BF"/>
                      </a:solidFill>
                      <a:prstDash val="solid"/>
                    </a:lnR>
                    <a:lnT w="19050" cap="flat" cmpd="sng" algn="ctr">
                      <a:solidFill>
                        <a:sysClr val="window" lastClr="FFFFFF"/>
                      </a:solidFill>
                      <a:prstDash val="solid"/>
                    </a:lnT>
                    <a:lnB w="10000" cap="flat" cmpd="sng" algn="ctr">
                      <a:solidFill>
                        <a:srgbClr val="2DA2BF"/>
                      </a:solidFill>
                      <a:prstDash val="solid"/>
                    </a:lnB>
                    <a:lnTlToBr w="12700" cmpd="sng">
                      <a:noFill/>
                      <a:prstDash val="solid"/>
                    </a:lnTlToBr>
                    <a:lnBlToTr w="12700" cmpd="sng">
                      <a:noFill/>
                      <a:prstDash val="solid"/>
                    </a:lnBlToTr>
                    <a:solidFill>
                      <a:srgbClr val="2DA2BF">
                        <a:alpha val="4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2200" dirty="0"/>
                        <a:t>10%</a:t>
                      </a:r>
                    </a:p>
                  </a:txBody>
                  <a:tcPr>
                    <a:lnL w="10000" cap="flat" cmpd="sng" algn="ctr">
                      <a:solidFill>
                        <a:srgbClr val="2DA2BF"/>
                      </a:solidFill>
                      <a:prstDash val="solid"/>
                    </a:lnL>
                    <a:lnR w="10000" cap="flat" cmpd="sng" algn="ctr">
                      <a:solidFill>
                        <a:srgbClr val="2DA2BF"/>
                      </a:solidFill>
                      <a:prstDash val="solid"/>
                    </a:lnR>
                    <a:lnT w="19050" cap="flat" cmpd="sng" algn="ctr">
                      <a:solidFill>
                        <a:sysClr val="window" lastClr="FFFFFF"/>
                      </a:solidFill>
                      <a:prstDash val="solid"/>
                    </a:lnT>
                    <a:lnB w="10000" cap="flat" cmpd="sng" algn="ctr">
                      <a:solidFill>
                        <a:srgbClr val="2DA2BF"/>
                      </a:solidFill>
                      <a:prstDash val="solid"/>
                    </a:lnB>
                    <a:lnTlToBr w="12700" cmpd="sng">
                      <a:noFill/>
                      <a:prstDash val="solid"/>
                    </a:lnTlToBr>
                    <a:lnBlToTr w="12700" cmpd="sng">
                      <a:noFill/>
                      <a:prstDash val="solid"/>
                    </a:lnBlToTr>
                    <a:solidFill>
                      <a:srgbClr val="2DA2BF">
                        <a:alpha val="40000"/>
                      </a:srgbClr>
                    </a:solidFill>
                  </a:tcPr>
                </a:tc>
                <a:extLst>
                  <a:ext uri="{0D108BD9-81ED-4DB2-BD59-A6C34878D82A}">
                    <a16:rowId xmlns:a16="http://schemas.microsoft.com/office/drawing/2014/main" val="1125528709"/>
                  </a:ext>
                </a:extLst>
              </a:tr>
              <a:tr h="222954">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2200" dirty="0"/>
                        <a:t>Rainy</a:t>
                      </a:r>
                    </a:p>
                  </a:txBody>
                  <a:tcPr>
                    <a:lnL w="10000" cap="flat" cmpd="sng" algn="ctr">
                      <a:solidFill>
                        <a:srgbClr val="2DA2BF"/>
                      </a:solidFill>
                      <a:prstDash val="solid"/>
                    </a:lnL>
                    <a:lnR w="10000" cap="flat" cmpd="sng" algn="ctr">
                      <a:solidFill>
                        <a:srgbClr val="2DA2BF"/>
                      </a:solidFill>
                      <a:prstDash val="solid"/>
                    </a:lnR>
                    <a:lnT w="10000" cap="flat" cmpd="sng" algn="ctr">
                      <a:solidFill>
                        <a:srgbClr val="2DA2BF"/>
                      </a:solidFill>
                      <a:prstDash val="solid"/>
                    </a:lnT>
                    <a:lnB w="10000" cap="flat" cmpd="sng" algn="ctr">
                      <a:solidFill>
                        <a:srgbClr val="2DA2BF"/>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2200" dirty="0"/>
                        <a:t>50%</a:t>
                      </a:r>
                    </a:p>
                  </a:txBody>
                  <a:tcPr>
                    <a:lnL w="10000" cap="flat" cmpd="sng" algn="ctr">
                      <a:solidFill>
                        <a:srgbClr val="2DA2BF"/>
                      </a:solidFill>
                      <a:prstDash val="solid"/>
                    </a:lnL>
                    <a:lnR w="10000" cap="flat" cmpd="sng" algn="ctr">
                      <a:solidFill>
                        <a:srgbClr val="2DA2BF"/>
                      </a:solidFill>
                      <a:prstDash val="solid"/>
                    </a:lnR>
                    <a:lnT w="10000" cap="flat" cmpd="sng" algn="ctr">
                      <a:solidFill>
                        <a:srgbClr val="2DA2BF"/>
                      </a:solidFill>
                      <a:prstDash val="solid"/>
                    </a:lnT>
                    <a:lnB w="10000" cap="flat" cmpd="sng" algn="ctr">
                      <a:solidFill>
                        <a:srgbClr val="2DA2BF"/>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2200" dirty="0"/>
                        <a:t>100</a:t>
                      </a:r>
                    </a:p>
                  </a:txBody>
                  <a:tcPr>
                    <a:lnL w="10000" cap="flat" cmpd="sng" algn="ctr">
                      <a:solidFill>
                        <a:srgbClr val="2DA2BF"/>
                      </a:solidFill>
                      <a:prstDash val="solid"/>
                    </a:lnL>
                    <a:lnR w="10000" cap="flat" cmpd="sng" algn="ctr">
                      <a:solidFill>
                        <a:srgbClr val="2DA2BF"/>
                      </a:solidFill>
                      <a:prstDash val="solid"/>
                    </a:lnR>
                    <a:lnT w="10000" cap="flat" cmpd="sng" algn="ctr">
                      <a:solidFill>
                        <a:srgbClr val="2DA2BF"/>
                      </a:solidFill>
                      <a:prstDash val="solid"/>
                    </a:lnT>
                    <a:lnB w="10000" cap="flat" cmpd="sng" algn="ctr">
                      <a:solidFill>
                        <a:srgbClr val="2DA2BF"/>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2200" dirty="0"/>
                        <a:t>0</a:t>
                      </a:r>
                    </a:p>
                  </a:txBody>
                  <a:tcPr>
                    <a:lnL w="10000" cap="flat" cmpd="sng" algn="ctr">
                      <a:solidFill>
                        <a:srgbClr val="2DA2BF"/>
                      </a:solidFill>
                      <a:prstDash val="solid"/>
                    </a:lnL>
                    <a:lnR w="10000" cap="flat" cmpd="sng" algn="ctr">
                      <a:solidFill>
                        <a:srgbClr val="2DA2BF"/>
                      </a:solidFill>
                      <a:prstDash val="solid"/>
                    </a:lnR>
                    <a:lnT w="10000" cap="flat" cmpd="sng" algn="ctr">
                      <a:solidFill>
                        <a:srgbClr val="2DA2BF"/>
                      </a:solidFill>
                      <a:prstDash val="solid"/>
                    </a:lnT>
                    <a:lnB w="10000" cap="flat" cmpd="sng" algn="ctr">
                      <a:solidFill>
                        <a:srgbClr val="2DA2BF"/>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2200" dirty="0"/>
                        <a:t>0%</a:t>
                      </a:r>
                    </a:p>
                  </a:txBody>
                  <a:tcPr>
                    <a:lnL w="10000" cap="flat" cmpd="sng" algn="ctr">
                      <a:solidFill>
                        <a:srgbClr val="2DA2BF"/>
                      </a:solidFill>
                      <a:prstDash val="solid"/>
                    </a:lnL>
                    <a:lnR w="10000" cap="flat" cmpd="sng" algn="ctr">
                      <a:solidFill>
                        <a:srgbClr val="2DA2BF"/>
                      </a:solidFill>
                      <a:prstDash val="solid"/>
                    </a:lnR>
                    <a:lnT w="10000" cap="flat" cmpd="sng" algn="ctr">
                      <a:solidFill>
                        <a:srgbClr val="2DA2BF"/>
                      </a:solidFill>
                      <a:prstDash val="solid"/>
                    </a:lnT>
                    <a:lnB w="10000" cap="flat" cmpd="sng" algn="ctr">
                      <a:solidFill>
                        <a:srgbClr val="2DA2BF"/>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995014216"/>
                  </a:ext>
                </a:extLst>
              </a:tr>
            </a:tbl>
          </a:graphicData>
        </a:graphic>
      </p:graphicFrame>
      <p:graphicFrame>
        <p:nvGraphicFramePr>
          <p:cNvPr id="6" name="Table 5">
            <a:extLst>
              <a:ext uri="{FF2B5EF4-FFF2-40B4-BE49-F238E27FC236}">
                <a16:creationId xmlns:a16="http://schemas.microsoft.com/office/drawing/2014/main" id="{0A141CA1-17D5-635C-FA10-B39404CA09F3}"/>
              </a:ext>
            </a:extLst>
          </p:cNvPr>
          <p:cNvGraphicFramePr>
            <a:graphicFrameLocks noGrp="1"/>
          </p:cNvGraphicFramePr>
          <p:nvPr>
            <p:extLst>
              <p:ext uri="{D42A27DB-BD31-4B8C-83A1-F6EECF244321}">
                <p14:modId xmlns:p14="http://schemas.microsoft.com/office/powerpoint/2010/main" val="75915769"/>
              </p:ext>
            </p:extLst>
          </p:nvPr>
        </p:nvGraphicFramePr>
        <p:xfrm>
          <a:off x="1528009" y="3953370"/>
          <a:ext cx="8321845" cy="1690807"/>
        </p:xfrm>
        <a:graphic>
          <a:graphicData uri="http://schemas.openxmlformats.org/drawingml/2006/table">
            <a:tbl>
              <a:tblPr firstRow="1" bandRow="1">
                <a:solidFill>
                  <a:srgbClr val="2DA2BF">
                    <a:tint val="50000"/>
                  </a:srgbClr>
                </a:solidFill>
                <a:effectLst>
                  <a:outerShdw blurRad="38100" dist="30000" dir="5400000" rotWithShape="0">
                    <a:srgbClr val="000000">
                      <a:alpha val="45000"/>
                    </a:srgbClr>
                  </a:outerShdw>
                </a:effectLst>
              </a:tblPr>
              <a:tblGrid>
                <a:gridCol w="1664369">
                  <a:extLst>
                    <a:ext uri="{9D8B030D-6E8A-4147-A177-3AD203B41FA5}">
                      <a16:colId xmlns:a16="http://schemas.microsoft.com/office/drawing/2014/main" val="3715367617"/>
                    </a:ext>
                  </a:extLst>
                </a:gridCol>
                <a:gridCol w="1664369">
                  <a:extLst>
                    <a:ext uri="{9D8B030D-6E8A-4147-A177-3AD203B41FA5}">
                      <a16:colId xmlns:a16="http://schemas.microsoft.com/office/drawing/2014/main" val="1902119226"/>
                    </a:ext>
                  </a:extLst>
                </a:gridCol>
                <a:gridCol w="1664369">
                  <a:extLst>
                    <a:ext uri="{9D8B030D-6E8A-4147-A177-3AD203B41FA5}">
                      <a16:colId xmlns:a16="http://schemas.microsoft.com/office/drawing/2014/main" val="1994510896"/>
                    </a:ext>
                  </a:extLst>
                </a:gridCol>
                <a:gridCol w="1664369">
                  <a:extLst>
                    <a:ext uri="{9D8B030D-6E8A-4147-A177-3AD203B41FA5}">
                      <a16:colId xmlns:a16="http://schemas.microsoft.com/office/drawing/2014/main" val="1430981035"/>
                    </a:ext>
                  </a:extLst>
                </a:gridCol>
                <a:gridCol w="1664369">
                  <a:extLst>
                    <a:ext uri="{9D8B030D-6E8A-4147-A177-3AD203B41FA5}">
                      <a16:colId xmlns:a16="http://schemas.microsoft.com/office/drawing/2014/main" val="1480813845"/>
                    </a:ext>
                  </a:extLst>
                </a:gridCol>
              </a:tblGrid>
              <a:tr h="837367">
                <a:tc>
                  <a:txBody>
                    <a:bodyPr/>
                    <a:lstStyle>
                      <a:lvl1pPr marL="0" algn="l" defTabSz="914400" rtl="0" eaLnBrk="1" latinLnBrk="0" hangingPunct="1">
                        <a:defRPr sz="1800" b="1" kern="1200">
                          <a:solidFill>
                            <a:schemeClr val="lt1"/>
                          </a:solidFill>
                          <a:latin typeface="Tw Cen MT"/>
                        </a:defRPr>
                      </a:lvl1pPr>
                      <a:lvl2pPr marL="457200" algn="l" defTabSz="914400" rtl="0" eaLnBrk="1" latinLnBrk="0" hangingPunct="1">
                        <a:defRPr sz="1800" b="1" kern="1200">
                          <a:solidFill>
                            <a:schemeClr val="lt1"/>
                          </a:solidFill>
                          <a:latin typeface="Tw Cen MT"/>
                        </a:defRPr>
                      </a:lvl2pPr>
                      <a:lvl3pPr marL="914400" algn="l" defTabSz="914400" rtl="0" eaLnBrk="1" latinLnBrk="0" hangingPunct="1">
                        <a:defRPr sz="1800" b="1" kern="1200">
                          <a:solidFill>
                            <a:schemeClr val="lt1"/>
                          </a:solidFill>
                          <a:latin typeface="Tw Cen MT"/>
                        </a:defRPr>
                      </a:lvl3pPr>
                      <a:lvl4pPr marL="1371600" algn="l" defTabSz="914400" rtl="0" eaLnBrk="1" latinLnBrk="0" hangingPunct="1">
                        <a:defRPr sz="1800" b="1" kern="1200">
                          <a:solidFill>
                            <a:schemeClr val="lt1"/>
                          </a:solidFill>
                          <a:latin typeface="Tw Cen MT"/>
                        </a:defRPr>
                      </a:lvl4pPr>
                      <a:lvl5pPr marL="1828800" algn="l" defTabSz="914400" rtl="0" eaLnBrk="1" latinLnBrk="0" hangingPunct="1">
                        <a:defRPr sz="1800" b="1" kern="1200">
                          <a:solidFill>
                            <a:schemeClr val="lt1"/>
                          </a:solidFill>
                          <a:latin typeface="Tw Cen MT"/>
                        </a:defRPr>
                      </a:lvl5pPr>
                      <a:lvl6pPr marL="2286000" algn="l" defTabSz="914400" rtl="0" eaLnBrk="1" latinLnBrk="0" hangingPunct="1">
                        <a:defRPr sz="1800" b="1" kern="1200">
                          <a:solidFill>
                            <a:schemeClr val="lt1"/>
                          </a:solidFill>
                          <a:latin typeface="Tw Cen MT"/>
                        </a:defRPr>
                      </a:lvl6pPr>
                      <a:lvl7pPr marL="2743200" algn="l" defTabSz="914400" rtl="0" eaLnBrk="1" latinLnBrk="0" hangingPunct="1">
                        <a:defRPr sz="1800" b="1" kern="1200">
                          <a:solidFill>
                            <a:schemeClr val="lt1"/>
                          </a:solidFill>
                          <a:latin typeface="Tw Cen MT"/>
                        </a:defRPr>
                      </a:lvl7pPr>
                      <a:lvl8pPr marL="3200400" algn="l" defTabSz="914400" rtl="0" eaLnBrk="1" latinLnBrk="0" hangingPunct="1">
                        <a:defRPr sz="1800" b="1" kern="1200">
                          <a:solidFill>
                            <a:schemeClr val="lt1"/>
                          </a:solidFill>
                          <a:latin typeface="Tw Cen MT"/>
                        </a:defRPr>
                      </a:lvl8pPr>
                      <a:lvl9pPr marL="3657600" algn="l" defTabSz="914400" rtl="0" eaLnBrk="1" latinLnBrk="0" hangingPunct="1">
                        <a:defRPr sz="1800" b="1" kern="1200">
                          <a:solidFill>
                            <a:schemeClr val="lt1"/>
                          </a:solidFill>
                          <a:latin typeface="Tw Cen MT"/>
                        </a:defRPr>
                      </a:lvl9pPr>
                    </a:lstStyle>
                    <a:p>
                      <a:pPr algn="ctr"/>
                      <a:r>
                        <a:rPr lang="en-US" sz="2200" b="0" dirty="0"/>
                        <a:t>State of the Market</a:t>
                      </a:r>
                    </a:p>
                  </a:txBody>
                  <a:tcPr>
                    <a:lnL w="10000" cap="flat" cmpd="sng" algn="ctr">
                      <a:solidFill>
                        <a:srgbClr val="2DA2BF"/>
                      </a:solidFill>
                      <a:prstDash val="solid"/>
                    </a:lnL>
                    <a:lnR>
                      <a:noFill/>
                    </a:lnR>
                    <a:lnT w="10000" cap="flat" cmpd="sng" algn="ctr">
                      <a:solidFill>
                        <a:srgbClr val="2DA2BF"/>
                      </a:solidFill>
                      <a:prstDash val="solid"/>
                    </a:lnT>
                    <a:lnB w="19050" cap="flat" cmpd="sng" algn="ctr">
                      <a:solidFill>
                        <a:sysClr val="window" lastClr="FFFFFF"/>
                      </a:solidFill>
                      <a:prstDash val="solid"/>
                    </a:lnB>
                    <a:lnTlToBr w="12700" cmpd="sng">
                      <a:noFill/>
                      <a:prstDash val="solid"/>
                    </a:lnTlToBr>
                    <a:lnBlToTr w="12700" cmpd="sng">
                      <a:noFill/>
                      <a:prstDash val="solid"/>
                    </a:lnBlToTr>
                    <a:solidFill>
                      <a:srgbClr val="2DA2BF"/>
                    </a:solidFill>
                  </a:tcPr>
                </a:tc>
                <a:tc>
                  <a:txBody>
                    <a:bodyPr/>
                    <a:lstStyle>
                      <a:lvl1pPr marL="0" algn="l" defTabSz="914400" rtl="0" eaLnBrk="1" latinLnBrk="0" hangingPunct="1">
                        <a:defRPr sz="1800" b="1" kern="1200">
                          <a:solidFill>
                            <a:schemeClr val="lt1"/>
                          </a:solidFill>
                          <a:latin typeface="Tw Cen MT"/>
                        </a:defRPr>
                      </a:lvl1pPr>
                      <a:lvl2pPr marL="457200" algn="l" defTabSz="914400" rtl="0" eaLnBrk="1" latinLnBrk="0" hangingPunct="1">
                        <a:defRPr sz="1800" b="1" kern="1200">
                          <a:solidFill>
                            <a:schemeClr val="lt1"/>
                          </a:solidFill>
                          <a:latin typeface="Tw Cen MT"/>
                        </a:defRPr>
                      </a:lvl2pPr>
                      <a:lvl3pPr marL="914400" algn="l" defTabSz="914400" rtl="0" eaLnBrk="1" latinLnBrk="0" hangingPunct="1">
                        <a:defRPr sz="1800" b="1" kern="1200">
                          <a:solidFill>
                            <a:schemeClr val="lt1"/>
                          </a:solidFill>
                          <a:latin typeface="Tw Cen MT"/>
                        </a:defRPr>
                      </a:lvl3pPr>
                      <a:lvl4pPr marL="1371600" algn="l" defTabSz="914400" rtl="0" eaLnBrk="1" latinLnBrk="0" hangingPunct="1">
                        <a:defRPr sz="1800" b="1" kern="1200">
                          <a:solidFill>
                            <a:schemeClr val="lt1"/>
                          </a:solidFill>
                          <a:latin typeface="Tw Cen MT"/>
                        </a:defRPr>
                      </a:lvl4pPr>
                      <a:lvl5pPr marL="1828800" algn="l" defTabSz="914400" rtl="0" eaLnBrk="1" latinLnBrk="0" hangingPunct="1">
                        <a:defRPr sz="1800" b="1" kern="1200">
                          <a:solidFill>
                            <a:schemeClr val="lt1"/>
                          </a:solidFill>
                          <a:latin typeface="Tw Cen MT"/>
                        </a:defRPr>
                      </a:lvl5pPr>
                      <a:lvl6pPr marL="2286000" algn="l" defTabSz="914400" rtl="0" eaLnBrk="1" latinLnBrk="0" hangingPunct="1">
                        <a:defRPr sz="1800" b="1" kern="1200">
                          <a:solidFill>
                            <a:schemeClr val="lt1"/>
                          </a:solidFill>
                          <a:latin typeface="Tw Cen MT"/>
                        </a:defRPr>
                      </a:lvl6pPr>
                      <a:lvl7pPr marL="2743200" algn="l" defTabSz="914400" rtl="0" eaLnBrk="1" latinLnBrk="0" hangingPunct="1">
                        <a:defRPr sz="1800" b="1" kern="1200">
                          <a:solidFill>
                            <a:schemeClr val="lt1"/>
                          </a:solidFill>
                          <a:latin typeface="Tw Cen MT"/>
                        </a:defRPr>
                      </a:lvl7pPr>
                      <a:lvl8pPr marL="3200400" algn="l" defTabSz="914400" rtl="0" eaLnBrk="1" latinLnBrk="0" hangingPunct="1">
                        <a:defRPr sz="1800" b="1" kern="1200">
                          <a:solidFill>
                            <a:schemeClr val="lt1"/>
                          </a:solidFill>
                          <a:latin typeface="Tw Cen MT"/>
                        </a:defRPr>
                      </a:lvl8pPr>
                      <a:lvl9pPr marL="3657600" algn="l" defTabSz="914400" rtl="0" eaLnBrk="1" latinLnBrk="0" hangingPunct="1">
                        <a:defRPr sz="1800" b="1" kern="1200">
                          <a:solidFill>
                            <a:schemeClr val="lt1"/>
                          </a:solidFill>
                          <a:latin typeface="Tw Cen MT"/>
                        </a:defRPr>
                      </a:lvl9pPr>
                    </a:lstStyle>
                    <a:p>
                      <a:pPr algn="ctr"/>
                      <a:r>
                        <a:rPr lang="en-US" sz="2200" b="0" dirty="0"/>
                        <a:t>Probability</a:t>
                      </a:r>
                    </a:p>
                  </a:txBody>
                  <a:tcPr>
                    <a:lnL>
                      <a:noFill/>
                    </a:lnL>
                    <a:lnR>
                      <a:noFill/>
                    </a:lnR>
                    <a:lnT w="10000" cap="flat" cmpd="sng" algn="ctr">
                      <a:solidFill>
                        <a:srgbClr val="2DA2BF"/>
                      </a:solidFill>
                      <a:prstDash val="solid"/>
                    </a:lnT>
                    <a:lnB w="19050" cap="flat" cmpd="sng" algn="ctr">
                      <a:solidFill>
                        <a:sysClr val="window" lastClr="FFFFFF"/>
                      </a:solidFill>
                      <a:prstDash val="solid"/>
                    </a:lnB>
                    <a:lnTlToBr w="12700" cmpd="sng">
                      <a:noFill/>
                      <a:prstDash val="solid"/>
                    </a:lnTlToBr>
                    <a:lnBlToTr w="12700" cmpd="sng">
                      <a:noFill/>
                      <a:prstDash val="solid"/>
                    </a:lnBlToTr>
                    <a:solidFill>
                      <a:srgbClr val="2DA2BF"/>
                    </a:solidFill>
                  </a:tcPr>
                </a:tc>
                <a:tc>
                  <a:txBody>
                    <a:bodyPr/>
                    <a:lstStyle>
                      <a:lvl1pPr marL="0" algn="l" defTabSz="914400" rtl="0" eaLnBrk="1" latinLnBrk="0" hangingPunct="1">
                        <a:defRPr sz="1800" b="1" kern="1200">
                          <a:solidFill>
                            <a:schemeClr val="lt1"/>
                          </a:solidFill>
                          <a:latin typeface="Tw Cen MT"/>
                        </a:defRPr>
                      </a:lvl1pPr>
                      <a:lvl2pPr marL="457200" algn="l" defTabSz="914400" rtl="0" eaLnBrk="1" latinLnBrk="0" hangingPunct="1">
                        <a:defRPr sz="1800" b="1" kern="1200">
                          <a:solidFill>
                            <a:schemeClr val="lt1"/>
                          </a:solidFill>
                          <a:latin typeface="Tw Cen MT"/>
                        </a:defRPr>
                      </a:lvl2pPr>
                      <a:lvl3pPr marL="914400" algn="l" defTabSz="914400" rtl="0" eaLnBrk="1" latinLnBrk="0" hangingPunct="1">
                        <a:defRPr sz="1800" b="1" kern="1200">
                          <a:solidFill>
                            <a:schemeClr val="lt1"/>
                          </a:solidFill>
                          <a:latin typeface="Tw Cen MT"/>
                        </a:defRPr>
                      </a:lvl3pPr>
                      <a:lvl4pPr marL="1371600" algn="l" defTabSz="914400" rtl="0" eaLnBrk="1" latinLnBrk="0" hangingPunct="1">
                        <a:defRPr sz="1800" b="1" kern="1200">
                          <a:solidFill>
                            <a:schemeClr val="lt1"/>
                          </a:solidFill>
                          <a:latin typeface="Tw Cen MT"/>
                        </a:defRPr>
                      </a:lvl4pPr>
                      <a:lvl5pPr marL="1828800" algn="l" defTabSz="914400" rtl="0" eaLnBrk="1" latinLnBrk="0" hangingPunct="1">
                        <a:defRPr sz="1800" b="1" kern="1200">
                          <a:solidFill>
                            <a:schemeClr val="lt1"/>
                          </a:solidFill>
                          <a:latin typeface="Tw Cen MT"/>
                        </a:defRPr>
                      </a:lvl5pPr>
                      <a:lvl6pPr marL="2286000" algn="l" defTabSz="914400" rtl="0" eaLnBrk="1" latinLnBrk="0" hangingPunct="1">
                        <a:defRPr sz="1800" b="1" kern="1200">
                          <a:solidFill>
                            <a:schemeClr val="lt1"/>
                          </a:solidFill>
                          <a:latin typeface="Tw Cen MT"/>
                        </a:defRPr>
                      </a:lvl6pPr>
                      <a:lvl7pPr marL="2743200" algn="l" defTabSz="914400" rtl="0" eaLnBrk="1" latinLnBrk="0" hangingPunct="1">
                        <a:defRPr sz="1800" b="1" kern="1200">
                          <a:solidFill>
                            <a:schemeClr val="lt1"/>
                          </a:solidFill>
                          <a:latin typeface="Tw Cen MT"/>
                        </a:defRPr>
                      </a:lvl7pPr>
                      <a:lvl8pPr marL="3200400" algn="l" defTabSz="914400" rtl="0" eaLnBrk="1" latinLnBrk="0" hangingPunct="1">
                        <a:defRPr sz="1800" b="1" kern="1200">
                          <a:solidFill>
                            <a:schemeClr val="lt1"/>
                          </a:solidFill>
                          <a:latin typeface="Tw Cen MT"/>
                        </a:defRPr>
                      </a:lvl8pPr>
                      <a:lvl9pPr marL="3657600" algn="l" defTabSz="914400" rtl="0" eaLnBrk="1" latinLnBrk="0" hangingPunct="1">
                        <a:defRPr sz="1800" b="1" kern="1200">
                          <a:solidFill>
                            <a:schemeClr val="lt1"/>
                          </a:solidFill>
                          <a:latin typeface="Tw Cen MT"/>
                        </a:defRPr>
                      </a:lvl9pPr>
                    </a:lstStyle>
                    <a:p>
                      <a:pPr algn="ctr"/>
                      <a:r>
                        <a:rPr lang="en-US" sz="2200" b="0" dirty="0"/>
                        <a:t>Year-end Price</a:t>
                      </a:r>
                    </a:p>
                  </a:txBody>
                  <a:tcPr>
                    <a:lnL>
                      <a:noFill/>
                    </a:lnL>
                    <a:lnR>
                      <a:noFill/>
                    </a:lnR>
                    <a:lnT w="10000" cap="flat" cmpd="sng" algn="ctr">
                      <a:solidFill>
                        <a:srgbClr val="2DA2BF"/>
                      </a:solidFill>
                      <a:prstDash val="solid"/>
                    </a:lnT>
                    <a:lnB w="19050" cap="flat" cmpd="sng" algn="ctr">
                      <a:solidFill>
                        <a:sysClr val="window" lastClr="FFFFFF"/>
                      </a:solidFill>
                      <a:prstDash val="solid"/>
                    </a:lnB>
                    <a:lnTlToBr w="12700" cmpd="sng">
                      <a:noFill/>
                      <a:prstDash val="solid"/>
                    </a:lnTlToBr>
                    <a:lnBlToTr w="12700" cmpd="sng">
                      <a:noFill/>
                      <a:prstDash val="solid"/>
                    </a:lnBlToTr>
                    <a:solidFill>
                      <a:srgbClr val="2DA2BF"/>
                    </a:solidFill>
                  </a:tcPr>
                </a:tc>
                <a:tc>
                  <a:txBody>
                    <a:bodyPr/>
                    <a:lstStyle>
                      <a:lvl1pPr marL="0" algn="l" defTabSz="914400" rtl="0" eaLnBrk="1" latinLnBrk="0" hangingPunct="1">
                        <a:defRPr sz="1800" b="1" kern="1200">
                          <a:solidFill>
                            <a:schemeClr val="lt1"/>
                          </a:solidFill>
                          <a:latin typeface="Tw Cen MT"/>
                        </a:defRPr>
                      </a:lvl1pPr>
                      <a:lvl2pPr marL="457200" algn="l" defTabSz="914400" rtl="0" eaLnBrk="1" latinLnBrk="0" hangingPunct="1">
                        <a:defRPr sz="1800" b="1" kern="1200">
                          <a:solidFill>
                            <a:schemeClr val="lt1"/>
                          </a:solidFill>
                          <a:latin typeface="Tw Cen MT"/>
                        </a:defRPr>
                      </a:lvl2pPr>
                      <a:lvl3pPr marL="914400" algn="l" defTabSz="914400" rtl="0" eaLnBrk="1" latinLnBrk="0" hangingPunct="1">
                        <a:defRPr sz="1800" b="1" kern="1200">
                          <a:solidFill>
                            <a:schemeClr val="lt1"/>
                          </a:solidFill>
                          <a:latin typeface="Tw Cen MT"/>
                        </a:defRPr>
                      </a:lvl3pPr>
                      <a:lvl4pPr marL="1371600" algn="l" defTabSz="914400" rtl="0" eaLnBrk="1" latinLnBrk="0" hangingPunct="1">
                        <a:defRPr sz="1800" b="1" kern="1200">
                          <a:solidFill>
                            <a:schemeClr val="lt1"/>
                          </a:solidFill>
                          <a:latin typeface="Tw Cen MT"/>
                        </a:defRPr>
                      </a:lvl4pPr>
                      <a:lvl5pPr marL="1828800" algn="l" defTabSz="914400" rtl="0" eaLnBrk="1" latinLnBrk="0" hangingPunct="1">
                        <a:defRPr sz="1800" b="1" kern="1200">
                          <a:solidFill>
                            <a:schemeClr val="lt1"/>
                          </a:solidFill>
                          <a:latin typeface="Tw Cen MT"/>
                        </a:defRPr>
                      </a:lvl5pPr>
                      <a:lvl6pPr marL="2286000" algn="l" defTabSz="914400" rtl="0" eaLnBrk="1" latinLnBrk="0" hangingPunct="1">
                        <a:defRPr sz="1800" b="1" kern="1200">
                          <a:solidFill>
                            <a:schemeClr val="lt1"/>
                          </a:solidFill>
                          <a:latin typeface="Tw Cen MT"/>
                        </a:defRPr>
                      </a:lvl6pPr>
                      <a:lvl7pPr marL="2743200" algn="l" defTabSz="914400" rtl="0" eaLnBrk="1" latinLnBrk="0" hangingPunct="1">
                        <a:defRPr sz="1800" b="1" kern="1200">
                          <a:solidFill>
                            <a:schemeClr val="lt1"/>
                          </a:solidFill>
                          <a:latin typeface="Tw Cen MT"/>
                        </a:defRPr>
                      </a:lvl7pPr>
                      <a:lvl8pPr marL="3200400" algn="l" defTabSz="914400" rtl="0" eaLnBrk="1" latinLnBrk="0" hangingPunct="1">
                        <a:defRPr sz="1800" b="1" kern="1200">
                          <a:solidFill>
                            <a:schemeClr val="lt1"/>
                          </a:solidFill>
                          <a:latin typeface="Tw Cen MT"/>
                        </a:defRPr>
                      </a:lvl8pPr>
                      <a:lvl9pPr marL="3657600" algn="l" defTabSz="914400" rtl="0" eaLnBrk="1" latinLnBrk="0" hangingPunct="1">
                        <a:defRPr sz="1800" b="1" kern="1200">
                          <a:solidFill>
                            <a:schemeClr val="lt1"/>
                          </a:solidFill>
                          <a:latin typeface="Tw Cen MT"/>
                        </a:defRPr>
                      </a:lvl9pPr>
                    </a:lstStyle>
                    <a:p>
                      <a:pPr algn="ctr"/>
                      <a:r>
                        <a:rPr lang="en-US" sz="2200" b="0" dirty="0"/>
                        <a:t>Cash Dividends</a:t>
                      </a:r>
                    </a:p>
                  </a:txBody>
                  <a:tcPr>
                    <a:lnL>
                      <a:noFill/>
                    </a:lnL>
                    <a:lnR>
                      <a:noFill/>
                    </a:lnR>
                    <a:lnT w="10000" cap="flat" cmpd="sng" algn="ctr">
                      <a:solidFill>
                        <a:srgbClr val="2DA2BF"/>
                      </a:solidFill>
                      <a:prstDash val="solid"/>
                    </a:lnT>
                    <a:lnB w="19050" cap="flat" cmpd="sng" algn="ctr">
                      <a:solidFill>
                        <a:sysClr val="window" lastClr="FFFFFF"/>
                      </a:solidFill>
                      <a:prstDash val="solid"/>
                    </a:lnB>
                    <a:lnTlToBr w="12700" cmpd="sng">
                      <a:noFill/>
                      <a:prstDash val="solid"/>
                    </a:lnTlToBr>
                    <a:lnBlToTr w="12700" cmpd="sng">
                      <a:noFill/>
                      <a:prstDash val="solid"/>
                    </a:lnBlToTr>
                    <a:solidFill>
                      <a:srgbClr val="2DA2BF"/>
                    </a:solidFill>
                  </a:tcPr>
                </a:tc>
                <a:tc>
                  <a:txBody>
                    <a:bodyPr/>
                    <a:lstStyle>
                      <a:lvl1pPr marL="0" algn="l" defTabSz="914400" rtl="0" eaLnBrk="1" latinLnBrk="0" hangingPunct="1">
                        <a:defRPr sz="1800" b="1" kern="1200">
                          <a:solidFill>
                            <a:schemeClr val="lt1"/>
                          </a:solidFill>
                          <a:latin typeface="Tw Cen MT"/>
                        </a:defRPr>
                      </a:lvl1pPr>
                      <a:lvl2pPr marL="457200" algn="l" defTabSz="914400" rtl="0" eaLnBrk="1" latinLnBrk="0" hangingPunct="1">
                        <a:defRPr sz="1800" b="1" kern="1200">
                          <a:solidFill>
                            <a:schemeClr val="lt1"/>
                          </a:solidFill>
                          <a:latin typeface="Tw Cen MT"/>
                        </a:defRPr>
                      </a:lvl2pPr>
                      <a:lvl3pPr marL="914400" algn="l" defTabSz="914400" rtl="0" eaLnBrk="1" latinLnBrk="0" hangingPunct="1">
                        <a:defRPr sz="1800" b="1" kern="1200">
                          <a:solidFill>
                            <a:schemeClr val="lt1"/>
                          </a:solidFill>
                          <a:latin typeface="Tw Cen MT"/>
                        </a:defRPr>
                      </a:lvl3pPr>
                      <a:lvl4pPr marL="1371600" algn="l" defTabSz="914400" rtl="0" eaLnBrk="1" latinLnBrk="0" hangingPunct="1">
                        <a:defRPr sz="1800" b="1" kern="1200">
                          <a:solidFill>
                            <a:schemeClr val="lt1"/>
                          </a:solidFill>
                          <a:latin typeface="Tw Cen MT"/>
                        </a:defRPr>
                      </a:lvl4pPr>
                      <a:lvl5pPr marL="1828800" algn="l" defTabSz="914400" rtl="0" eaLnBrk="1" latinLnBrk="0" hangingPunct="1">
                        <a:defRPr sz="1800" b="1" kern="1200">
                          <a:solidFill>
                            <a:schemeClr val="lt1"/>
                          </a:solidFill>
                          <a:latin typeface="Tw Cen MT"/>
                        </a:defRPr>
                      </a:lvl5pPr>
                      <a:lvl6pPr marL="2286000" algn="l" defTabSz="914400" rtl="0" eaLnBrk="1" latinLnBrk="0" hangingPunct="1">
                        <a:defRPr sz="1800" b="1" kern="1200">
                          <a:solidFill>
                            <a:schemeClr val="lt1"/>
                          </a:solidFill>
                          <a:latin typeface="Tw Cen MT"/>
                        </a:defRPr>
                      </a:lvl6pPr>
                      <a:lvl7pPr marL="2743200" algn="l" defTabSz="914400" rtl="0" eaLnBrk="1" latinLnBrk="0" hangingPunct="1">
                        <a:defRPr sz="1800" b="1" kern="1200">
                          <a:solidFill>
                            <a:schemeClr val="lt1"/>
                          </a:solidFill>
                          <a:latin typeface="Tw Cen MT"/>
                        </a:defRPr>
                      </a:lvl7pPr>
                      <a:lvl8pPr marL="3200400" algn="l" defTabSz="914400" rtl="0" eaLnBrk="1" latinLnBrk="0" hangingPunct="1">
                        <a:defRPr sz="1800" b="1" kern="1200">
                          <a:solidFill>
                            <a:schemeClr val="lt1"/>
                          </a:solidFill>
                          <a:latin typeface="Tw Cen MT"/>
                        </a:defRPr>
                      </a:lvl8pPr>
                      <a:lvl9pPr marL="3657600" algn="l" defTabSz="914400" rtl="0" eaLnBrk="1" latinLnBrk="0" hangingPunct="1">
                        <a:defRPr sz="1800" b="1" kern="1200">
                          <a:solidFill>
                            <a:schemeClr val="lt1"/>
                          </a:solidFill>
                          <a:latin typeface="Tw Cen MT"/>
                        </a:defRPr>
                      </a:lvl9pPr>
                    </a:lstStyle>
                    <a:p>
                      <a:pPr algn="ctr"/>
                      <a:r>
                        <a:rPr lang="en-US" sz="2200" b="0" dirty="0"/>
                        <a:t>HPR</a:t>
                      </a:r>
                    </a:p>
                  </a:txBody>
                  <a:tcPr>
                    <a:lnL>
                      <a:noFill/>
                    </a:lnL>
                    <a:lnR w="10000" cap="flat" cmpd="sng" algn="ctr">
                      <a:solidFill>
                        <a:srgbClr val="2DA2BF"/>
                      </a:solidFill>
                      <a:prstDash val="solid"/>
                    </a:lnR>
                    <a:lnT w="10000" cap="flat" cmpd="sng" algn="ctr">
                      <a:solidFill>
                        <a:srgbClr val="2DA2BF"/>
                      </a:solidFill>
                      <a:prstDash val="solid"/>
                    </a:lnT>
                    <a:lnB w="19050" cap="flat" cmpd="sng" algn="ctr">
                      <a:solidFill>
                        <a:sysClr val="window" lastClr="FFFFFF"/>
                      </a:solidFill>
                      <a:prstDash val="solid"/>
                    </a:lnB>
                    <a:lnTlToBr w="12700" cmpd="sng">
                      <a:noFill/>
                      <a:prstDash val="solid"/>
                    </a:lnTlToBr>
                    <a:lnBlToTr w="12700" cmpd="sng">
                      <a:noFill/>
                      <a:prstDash val="solid"/>
                    </a:lnBlToTr>
                    <a:solidFill>
                      <a:srgbClr val="2DA2BF"/>
                    </a:solidFill>
                  </a:tcPr>
                </a:tc>
                <a:extLst>
                  <a:ext uri="{0D108BD9-81ED-4DB2-BD59-A6C34878D82A}">
                    <a16:rowId xmlns:a16="http://schemas.microsoft.com/office/drawing/2014/main" val="3565201848"/>
                  </a:ext>
                </a:extLst>
              </a:tr>
              <a:tr h="395495">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2200" dirty="0"/>
                        <a:t>Sunny</a:t>
                      </a:r>
                    </a:p>
                  </a:txBody>
                  <a:tcPr>
                    <a:lnL w="10000" cap="flat" cmpd="sng" algn="ctr">
                      <a:solidFill>
                        <a:srgbClr val="2DA2BF"/>
                      </a:solidFill>
                      <a:prstDash val="solid"/>
                    </a:lnL>
                    <a:lnR w="10000" cap="flat" cmpd="sng" algn="ctr">
                      <a:solidFill>
                        <a:srgbClr val="2DA2BF"/>
                      </a:solidFill>
                      <a:prstDash val="solid"/>
                    </a:lnR>
                    <a:lnT w="19050" cap="flat" cmpd="sng" algn="ctr">
                      <a:solidFill>
                        <a:sysClr val="window" lastClr="FFFFFF"/>
                      </a:solidFill>
                      <a:prstDash val="solid"/>
                    </a:lnT>
                    <a:lnB w="10000" cap="flat" cmpd="sng" algn="ctr">
                      <a:solidFill>
                        <a:srgbClr val="2DA2BF"/>
                      </a:solidFill>
                      <a:prstDash val="solid"/>
                    </a:lnB>
                    <a:lnTlToBr w="12700" cmpd="sng">
                      <a:noFill/>
                      <a:prstDash val="solid"/>
                    </a:lnTlToBr>
                    <a:lnBlToTr w="12700" cmpd="sng">
                      <a:noFill/>
                      <a:prstDash val="solid"/>
                    </a:lnBlToTr>
                    <a:solidFill>
                      <a:srgbClr val="2DA2BF">
                        <a:alpha val="4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2200" dirty="0"/>
                        <a:t>50%</a:t>
                      </a:r>
                    </a:p>
                  </a:txBody>
                  <a:tcPr>
                    <a:lnL w="10000" cap="flat" cmpd="sng" algn="ctr">
                      <a:solidFill>
                        <a:srgbClr val="2DA2BF"/>
                      </a:solidFill>
                      <a:prstDash val="solid"/>
                    </a:lnL>
                    <a:lnR w="10000" cap="flat" cmpd="sng" algn="ctr">
                      <a:solidFill>
                        <a:srgbClr val="2DA2BF"/>
                      </a:solidFill>
                      <a:prstDash val="solid"/>
                    </a:lnR>
                    <a:lnT w="19050" cap="flat" cmpd="sng" algn="ctr">
                      <a:solidFill>
                        <a:sysClr val="window" lastClr="FFFFFF"/>
                      </a:solidFill>
                      <a:prstDash val="solid"/>
                    </a:lnT>
                    <a:lnB w="10000" cap="flat" cmpd="sng" algn="ctr">
                      <a:solidFill>
                        <a:srgbClr val="2DA2BF"/>
                      </a:solidFill>
                      <a:prstDash val="solid"/>
                    </a:lnB>
                    <a:lnTlToBr w="12700" cmpd="sng">
                      <a:noFill/>
                      <a:prstDash val="solid"/>
                    </a:lnTlToBr>
                    <a:lnBlToTr w="12700" cmpd="sng">
                      <a:noFill/>
                      <a:prstDash val="solid"/>
                    </a:lnBlToTr>
                    <a:solidFill>
                      <a:srgbClr val="2DA2BF">
                        <a:alpha val="4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2200" dirty="0"/>
                        <a:t>100</a:t>
                      </a:r>
                    </a:p>
                  </a:txBody>
                  <a:tcPr>
                    <a:lnL w="10000" cap="flat" cmpd="sng" algn="ctr">
                      <a:solidFill>
                        <a:srgbClr val="2DA2BF"/>
                      </a:solidFill>
                      <a:prstDash val="solid"/>
                    </a:lnL>
                    <a:lnR w="10000" cap="flat" cmpd="sng" algn="ctr">
                      <a:solidFill>
                        <a:srgbClr val="2DA2BF"/>
                      </a:solidFill>
                      <a:prstDash val="solid"/>
                    </a:lnR>
                    <a:lnT w="19050" cap="flat" cmpd="sng" algn="ctr">
                      <a:solidFill>
                        <a:sysClr val="window" lastClr="FFFFFF"/>
                      </a:solidFill>
                      <a:prstDash val="solid"/>
                    </a:lnT>
                    <a:lnB w="10000" cap="flat" cmpd="sng" algn="ctr">
                      <a:solidFill>
                        <a:srgbClr val="2DA2BF"/>
                      </a:solidFill>
                      <a:prstDash val="solid"/>
                    </a:lnB>
                    <a:lnTlToBr w="12700" cmpd="sng">
                      <a:noFill/>
                      <a:prstDash val="solid"/>
                    </a:lnTlToBr>
                    <a:lnBlToTr w="12700" cmpd="sng">
                      <a:noFill/>
                      <a:prstDash val="solid"/>
                    </a:lnBlToTr>
                    <a:solidFill>
                      <a:srgbClr val="2DA2BF">
                        <a:alpha val="4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2200" dirty="0"/>
                        <a:t>0</a:t>
                      </a:r>
                    </a:p>
                  </a:txBody>
                  <a:tcPr>
                    <a:lnL w="10000" cap="flat" cmpd="sng" algn="ctr">
                      <a:solidFill>
                        <a:srgbClr val="2DA2BF"/>
                      </a:solidFill>
                      <a:prstDash val="solid"/>
                    </a:lnL>
                    <a:lnR w="10000" cap="flat" cmpd="sng" algn="ctr">
                      <a:solidFill>
                        <a:srgbClr val="2DA2BF"/>
                      </a:solidFill>
                      <a:prstDash val="solid"/>
                    </a:lnR>
                    <a:lnT w="19050" cap="flat" cmpd="sng" algn="ctr">
                      <a:solidFill>
                        <a:sysClr val="window" lastClr="FFFFFF"/>
                      </a:solidFill>
                      <a:prstDash val="solid"/>
                    </a:lnT>
                    <a:lnB w="10000" cap="flat" cmpd="sng" algn="ctr">
                      <a:solidFill>
                        <a:srgbClr val="2DA2BF"/>
                      </a:solidFill>
                      <a:prstDash val="solid"/>
                    </a:lnB>
                    <a:lnTlToBr w="12700" cmpd="sng">
                      <a:noFill/>
                      <a:prstDash val="solid"/>
                    </a:lnTlToBr>
                    <a:lnBlToTr w="12700" cmpd="sng">
                      <a:noFill/>
                      <a:prstDash val="solid"/>
                    </a:lnBlToTr>
                    <a:solidFill>
                      <a:srgbClr val="2DA2BF">
                        <a:alpha val="40000"/>
                      </a:srgbClr>
                    </a:solid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2200" dirty="0"/>
                        <a:t>0%</a:t>
                      </a:r>
                    </a:p>
                  </a:txBody>
                  <a:tcPr>
                    <a:lnL w="10000" cap="flat" cmpd="sng" algn="ctr">
                      <a:solidFill>
                        <a:srgbClr val="2DA2BF"/>
                      </a:solidFill>
                      <a:prstDash val="solid"/>
                    </a:lnL>
                    <a:lnR w="10000" cap="flat" cmpd="sng" algn="ctr">
                      <a:solidFill>
                        <a:srgbClr val="2DA2BF"/>
                      </a:solidFill>
                      <a:prstDash val="solid"/>
                    </a:lnR>
                    <a:lnT w="19050" cap="flat" cmpd="sng" algn="ctr">
                      <a:solidFill>
                        <a:sysClr val="window" lastClr="FFFFFF"/>
                      </a:solidFill>
                      <a:prstDash val="solid"/>
                    </a:lnT>
                    <a:lnB w="10000" cap="flat" cmpd="sng" algn="ctr">
                      <a:solidFill>
                        <a:srgbClr val="2DA2BF"/>
                      </a:solidFill>
                      <a:prstDash val="solid"/>
                    </a:lnB>
                    <a:lnTlToBr w="12700" cmpd="sng">
                      <a:noFill/>
                      <a:prstDash val="solid"/>
                    </a:lnTlToBr>
                    <a:lnBlToTr w="12700" cmpd="sng">
                      <a:noFill/>
                      <a:prstDash val="solid"/>
                    </a:lnBlToTr>
                    <a:solidFill>
                      <a:srgbClr val="2DA2BF">
                        <a:alpha val="40000"/>
                      </a:srgbClr>
                    </a:solidFill>
                  </a:tcPr>
                </a:tc>
                <a:extLst>
                  <a:ext uri="{0D108BD9-81ED-4DB2-BD59-A6C34878D82A}">
                    <a16:rowId xmlns:a16="http://schemas.microsoft.com/office/drawing/2014/main" val="2287021790"/>
                  </a:ext>
                </a:extLst>
              </a:tr>
              <a:tr h="368825">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2200" dirty="0"/>
                        <a:t>Rainy</a:t>
                      </a:r>
                    </a:p>
                  </a:txBody>
                  <a:tcPr>
                    <a:lnL w="10000" cap="flat" cmpd="sng" algn="ctr">
                      <a:solidFill>
                        <a:srgbClr val="2DA2BF"/>
                      </a:solidFill>
                      <a:prstDash val="solid"/>
                    </a:lnL>
                    <a:lnR w="10000" cap="flat" cmpd="sng" algn="ctr">
                      <a:solidFill>
                        <a:srgbClr val="2DA2BF"/>
                      </a:solidFill>
                      <a:prstDash val="solid"/>
                    </a:lnR>
                    <a:lnT w="10000" cap="flat" cmpd="sng" algn="ctr">
                      <a:solidFill>
                        <a:srgbClr val="2DA2BF"/>
                      </a:solidFill>
                      <a:prstDash val="solid"/>
                    </a:lnT>
                    <a:lnB w="10000" cap="flat" cmpd="sng" algn="ctr">
                      <a:solidFill>
                        <a:srgbClr val="2DA2BF"/>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2200" dirty="0"/>
                        <a:t>50%</a:t>
                      </a:r>
                    </a:p>
                  </a:txBody>
                  <a:tcPr>
                    <a:lnL w="10000" cap="flat" cmpd="sng" algn="ctr">
                      <a:solidFill>
                        <a:srgbClr val="2DA2BF"/>
                      </a:solidFill>
                      <a:prstDash val="solid"/>
                    </a:lnL>
                    <a:lnR w="10000" cap="flat" cmpd="sng" algn="ctr">
                      <a:solidFill>
                        <a:srgbClr val="2DA2BF"/>
                      </a:solidFill>
                      <a:prstDash val="solid"/>
                    </a:lnR>
                    <a:lnT w="10000" cap="flat" cmpd="sng" algn="ctr">
                      <a:solidFill>
                        <a:srgbClr val="2DA2BF"/>
                      </a:solidFill>
                      <a:prstDash val="solid"/>
                    </a:lnT>
                    <a:lnB w="10000" cap="flat" cmpd="sng" algn="ctr">
                      <a:solidFill>
                        <a:srgbClr val="2DA2BF"/>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2200" dirty="0"/>
                        <a:t>110</a:t>
                      </a:r>
                    </a:p>
                  </a:txBody>
                  <a:tcPr>
                    <a:lnL w="10000" cap="flat" cmpd="sng" algn="ctr">
                      <a:solidFill>
                        <a:srgbClr val="2DA2BF"/>
                      </a:solidFill>
                      <a:prstDash val="solid"/>
                    </a:lnL>
                    <a:lnR w="10000" cap="flat" cmpd="sng" algn="ctr">
                      <a:solidFill>
                        <a:srgbClr val="2DA2BF"/>
                      </a:solidFill>
                      <a:prstDash val="solid"/>
                    </a:lnR>
                    <a:lnT w="10000" cap="flat" cmpd="sng" algn="ctr">
                      <a:solidFill>
                        <a:srgbClr val="2DA2BF"/>
                      </a:solidFill>
                      <a:prstDash val="solid"/>
                    </a:lnT>
                    <a:lnB w="10000" cap="flat" cmpd="sng" algn="ctr">
                      <a:solidFill>
                        <a:srgbClr val="2DA2BF"/>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2200" dirty="0"/>
                        <a:t>0</a:t>
                      </a:r>
                    </a:p>
                  </a:txBody>
                  <a:tcPr>
                    <a:lnL w="10000" cap="flat" cmpd="sng" algn="ctr">
                      <a:solidFill>
                        <a:srgbClr val="2DA2BF"/>
                      </a:solidFill>
                      <a:prstDash val="solid"/>
                    </a:lnL>
                    <a:lnR w="10000" cap="flat" cmpd="sng" algn="ctr">
                      <a:solidFill>
                        <a:srgbClr val="2DA2BF"/>
                      </a:solidFill>
                      <a:prstDash val="solid"/>
                    </a:lnR>
                    <a:lnT w="10000" cap="flat" cmpd="sng" algn="ctr">
                      <a:solidFill>
                        <a:srgbClr val="2DA2BF"/>
                      </a:solidFill>
                      <a:prstDash val="solid"/>
                    </a:lnT>
                    <a:lnB w="10000" cap="flat" cmpd="sng" algn="ctr">
                      <a:solidFill>
                        <a:srgbClr val="2DA2BF"/>
                      </a:solidFill>
                      <a:prstDash val="soli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Tw Cen MT"/>
                        </a:defRPr>
                      </a:lvl1pPr>
                      <a:lvl2pPr marL="457200" algn="l" defTabSz="914400" rtl="0" eaLnBrk="1" latinLnBrk="0" hangingPunct="1">
                        <a:defRPr sz="1800" kern="1200">
                          <a:solidFill>
                            <a:schemeClr val="dk1"/>
                          </a:solidFill>
                          <a:latin typeface="Tw Cen MT"/>
                        </a:defRPr>
                      </a:lvl2pPr>
                      <a:lvl3pPr marL="914400" algn="l" defTabSz="914400" rtl="0" eaLnBrk="1" latinLnBrk="0" hangingPunct="1">
                        <a:defRPr sz="1800" kern="1200">
                          <a:solidFill>
                            <a:schemeClr val="dk1"/>
                          </a:solidFill>
                          <a:latin typeface="Tw Cen MT"/>
                        </a:defRPr>
                      </a:lvl3pPr>
                      <a:lvl4pPr marL="1371600" algn="l" defTabSz="914400" rtl="0" eaLnBrk="1" latinLnBrk="0" hangingPunct="1">
                        <a:defRPr sz="1800" kern="1200">
                          <a:solidFill>
                            <a:schemeClr val="dk1"/>
                          </a:solidFill>
                          <a:latin typeface="Tw Cen MT"/>
                        </a:defRPr>
                      </a:lvl4pPr>
                      <a:lvl5pPr marL="1828800" algn="l" defTabSz="914400" rtl="0" eaLnBrk="1" latinLnBrk="0" hangingPunct="1">
                        <a:defRPr sz="1800" kern="1200">
                          <a:solidFill>
                            <a:schemeClr val="dk1"/>
                          </a:solidFill>
                          <a:latin typeface="Tw Cen MT"/>
                        </a:defRPr>
                      </a:lvl5pPr>
                      <a:lvl6pPr marL="2286000" algn="l" defTabSz="914400" rtl="0" eaLnBrk="1" latinLnBrk="0" hangingPunct="1">
                        <a:defRPr sz="1800" kern="1200">
                          <a:solidFill>
                            <a:schemeClr val="dk1"/>
                          </a:solidFill>
                          <a:latin typeface="Tw Cen MT"/>
                        </a:defRPr>
                      </a:lvl6pPr>
                      <a:lvl7pPr marL="2743200" algn="l" defTabSz="914400" rtl="0" eaLnBrk="1" latinLnBrk="0" hangingPunct="1">
                        <a:defRPr sz="1800" kern="1200">
                          <a:solidFill>
                            <a:schemeClr val="dk1"/>
                          </a:solidFill>
                          <a:latin typeface="Tw Cen MT"/>
                        </a:defRPr>
                      </a:lvl7pPr>
                      <a:lvl8pPr marL="3200400" algn="l" defTabSz="914400" rtl="0" eaLnBrk="1" latinLnBrk="0" hangingPunct="1">
                        <a:defRPr sz="1800" kern="1200">
                          <a:solidFill>
                            <a:schemeClr val="dk1"/>
                          </a:solidFill>
                          <a:latin typeface="Tw Cen MT"/>
                        </a:defRPr>
                      </a:lvl8pPr>
                      <a:lvl9pPr marL="3657600" algn="l" defTabSz="914400" rtl="0" eaLnBrk="1" latinLnBrk="0" hangingPunct="1">
                        <a:defRPr sz="1800" kern="1200">
                          <a:solidFill>
                            <a:schemeClr val="dk1"/>
                          </a:solidFill>
                          <a:latin typeface="Tw Cen MT"/>
                        </a:defRPr>
                      </a:lvl9pPr>
                    </a:lstStyle>
                    <a:p>
                      <a:pPr algn="ctr"/>
                      <a:r>
                        <a:rPr lang="en-US" sz="2200" dirty="0"/>
                        <a:t>10%</a:t>
                      </a:r>
                    </a:p>
                  </a:txBody>
                  <a:tcPr>
                    <a:lnL w="10000" cap="flat" cmpd="sng" algn="ctr">
                      <a:solidFill>
                        <a:srgbClr val="2DA2BF"/>
                      </a:solidFill>
                      <a:prstDash val="solid"/>
                    </a:lnL>
                    <a:lnR w="10000" cap="flat" cmpd="sng" algn="ctr">
                      <a:solidFill>
                        <a:srgbClr val="2DA2BF"/>
                      </a:solidFill>
                      <a:prstDash val="solid"/>
                    </a:lnR>
                    <a:lnT w="10000" cap="flat" cmpd="sng" algn="ctr">
                      <a:solidFill>
                        <a:srgbClr val="2DA2BF"/>
                      </a:solidFill>
                      <a:prstDash val="solid"/>
                    </a:lnT>
                    <a:lnB w="10000" cap="flat" cmpd="sng" algn="ctr">
                      <a:solidFill>
                        <a:srgbClr val="2DA2BF"/>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870142197"/>
                  </a:ext>
                </a:extLst>
              </a:tr>
            </a:tbl>
          </a:graphicData>
        </a:graphic>
      </p:graphicFrame>
      <p:pic>
        <p:nvPicPr>
          <p:cNvPr id="9" name="Picture 8">
            <a:extLst>
              <a:ext uri="{FF2B5EF4-FFF2-40B4-BE49-F238E27FC236}">
                <a16:creationId xmlns:a16="http://schemas.microsoft.com/office/drawing/2014/main" id="{84521706-DF10-C272-80ED-A97C565E2615}"/>
              </a:ext>
            </a:extLst>
          </p:cNvPr>
          <p:cNvPicPr>
            <a:picLocks noChangeAspect="1"/>
          </p:cNvPicPr>
          <p:nvPr/>
        </p:nvPicPr>
        <p:blipFill>
          <a:blip r:embed="rId3"/>
          <a:stretch>
            <a:fillRect/>
          </a:stretch>
        </p:blipFill>
        <p:spPr>
          <a:xfrm>
            <a:off x="186376" y="1430062"/>
            <a:ext cx="1185067" cy="1650021"/>
          </a:xfrm>
          <a:prstGeom prst="rect">
            <a:avLst/>
          </a:prstGeom>
        </p:spPr>
      </p:pic>
      <p:pic>
        <p:nvPicPr>
          <p:cNvPr id="10" name="Picture 9">
            <a:extLst>
              <a:ext uri="{FF2B5EF4-FFF2-40B4-BE49-F238E27FC236}">
                <a16:creationId xmlns:a16="http://schemas.microsoft.com/office/drawing/2014/main" id="{6070BC7E-0B69-CE14-2E39-E45D0CA5CDFF}"/>
              </a:ext>
            </a:extLst>
          </p:cNvPr>
          <p:cNvPicPr>
            <a:picLocks noChangeAspect="1"/>
          </p:cNvPicPr>
          <p:nvPr/>
        </p:nvPicPr>
        <p:blipFill>
          <a:blip r:embed="rId4"/>
          <a:stretch>
            <a:fillRect/>
          </a:stretch>
        </p:blipFill>
        <p:spPr>
          <a:xfrm>
            <a:off x="183366" y="4310068"/>
            <a:ext cx="1188077" cy="1182796"/>
          </a:xfrm>
          <a:prstGeom prst="rect">
            <a:avLst/>
          </a:prstGeom>
        </p:spPr>
      </p:pic>
      <p:sp>
        <p:nvSpPr>
          <p:cNvPr id="12" name="TextBox 11">
            <a:extLst>
              <a:ext uri="{FF2B5EF4-FFF2-40B4-BE49-F238E27FC236}">
                <a16:creationId xmlns:a16="http://schemas.microsoft.com/office/drawing/2014/main" id="{16C0D5C4-4B13-EA15-7B2C-ECD7F0D887DD}"/>
              </a:ext>
            </a:extLst>
          </p:cNvPr>
          <p:cNvSpPr txBox="1"/>
          <p:nvPr/>
        </p:nvSpPr>
        <p:spPr>
          <a:xfrm>
            <a:off x="9910056" y="1908620"/>
            <a:ext cx="2534940"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mn-cs"/>
              </a:rPr>
              <a:t>E(A)= __%</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mn-cs"/>
              </a:rPr>
              <a:t>Std(A)= __%</a:t>
            </a:r>
          </a:p>
        </p:txBody>
      </p:sp>
      <p:sp>
        <p:nvSpPr>
          <p:cNvPr id="14" name="TextBox 13">
            <a:extLst>
              <a:ext uri="{FF2B5EF4-FFF2-40B4-BE49-F238E27FC236}">
                <a16:creationId xmlns:a16="http://schemas.microsoft.com/office/drawing/2014/main" id="{A795B281-2E13-93B0-CAA4-B2FBF8F29AD1}"/>
              </a:ext>
            </a:extLst>
          </p:cNvPr>
          <p:cNvSpPr txBox="1"/>
          <p:nvPr/>
        </p:nvSpPr>
        <p:spPr>
          <a:xfrm>
            <a:off x="9910056" y="4356746"/>
            <a:ext cx="2414536"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mn-cs"/>
              </a:rPr>
              <a:t>E(B)= __%</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mn-cs"/>
              </a:rPr>
              <a:t>Std(B)= __%</a:t>
            </a: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44D0A50C-DB5A-4943-6697-2A8963D1E27A}"/>
                  </a:ext>
                </a:extLst>
              </p14:cNvPr>
              <p14:cNvContentPartPr/>
              <p14:nvPr/>
            </p14:nvContentPartPr>
            <p14:xfrm>
              <a:off x="11162600" y="1935840"/>
              <a:ext cx="158400" cy="281160"/>
            </p14:xfrm>
          </p:contentPart>
        </mc:Choice>
        <mc:Fallback xmlns="">
          <p:pic>
            <p:nvPicPr>
              <p:cNvPr id="2" name="Ink 1">
                <a:extLst>
                  <a:ext uri="{FF2B5EF4-FFF2-40B4-BE49-F238E27FC236}">
                    <a16:creationId xmlns:a16="http://schemas.microsoft.com/office/drawing/2014/main" id="{44D0A50C-DB5A-4943-6697-2A8963D1E27A}"/>
                  </a:ext>
                </a:extLst>
              </p:cNvPr>
              <p:cNvPicPr/>
              <p:nvPr/>
            </p:nvPicPr>
            <p:blipFill>
              <a:blip r:embed="rId6"/>
              <a:stretch>
                <a:fillRect/>
              </a:stretch>
            </p:blipFill>
            <p:spPr>
              <a:xfrm>
                <a:off x="11156480" y="1929720"/>
                <a:ext cx="170640" cy="293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21FBB98B-2FE3-C5DF-F771-4E0A16F00DA6}"/>
                  </a:ext>
                </a:extLst>
              </p14:cNvPr>
              <p14:cNvContentPartPr/>
              <p14:nvPr/>
            </p14:nvContentPartPr>
            <p14:xfrm>
              <a:off x="11488400" y="2530560"/>
              <a:ext cx="180000" cy="192600"/>
            </p14:xfrm>
          </p:contentPart>
        </mc:Choice>
        <mc:Fallback xmlns="">
          <p:pic>
            <p:nvPicPr>
              <p:cNvPr id="3" name="Ink 2">
                <a:extLst>
                  <a:ext uri="{FF2B5EF4-FFF2-40B4-BE49-F238E27FC236}">
                    <a16:creationId xmlns:a16="http://schemas.microsoft.com/office/drawing/2014/main" id="{21FBB98B-2FE3-C5DF-F771-4E0A16F00DA6}"/>
                  </a:ext>
                </a:extLst>
              </p:cNvPr>
              <p:cNvPicPr/>
              <p:nvPr/>
            </p:nvPicPr>
            <p:blipFill>
              <a:blip r:embed="rId8"/>
              <a:stretch>
                <a:fillRect/>
              </a:stretch>
            </p:blipFill>
            <p:spPr>
              <a:xfrm>
                <a:off x="11482280" y="2524440"/>
                <a:ext cx="19224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 name="Ink 3">
                <a:extLst>
                  <a:ext uri="{FF2B5EF4-FFF2-40B4-BE49-F238E27FC236}">
                    <a16:creationId xmlns:a16="http://schemas.microsoft.com/office/drawing/2014/main" id="{04B6C38C-9A28-259C-D9E4-DD473770B67B}"/>
                  </a:ext>
                </a:extLst>
              </p14:cNvPr>
              <p14:cNvContentPartPr/>
              <p14:nvPr/>
            </p14:nvContentPartPr>
            <p14:xfrm>
              <a:off x="11002760" y="4461960"/>
              <a:ext cx="147240" cy="219240"/>
            </p14:xfrm>
          </p:contentPart>
        </mc:Choice>
        <mc:Fallback xmlns="">
          <p:pic>
            <p:nvPicPr>
              <p:cNvPr id="4" name="Ink 3">
                <a:extLst>
                  <a:ext uri="{FF2B5EF4-FFF2-40B4-BE49-F238E27FC236}">
                    <a16:creationId xmlns:a16="http://schemas.microsoft.com/office/drawing/2014/main" id="{04B6C38C-9A28-259C-D9E4-DD473770B67B}"/>
                  </a:ext>
                </a:extLst>
              </p:cNvPr>
              <p:cNvPicPr/>
              <p:nvPr/>
            </p:nvPicPr>
            <p:blipFill>
              <a:blip r:embed="rId10"/>
              <a:stretch>
                <a:fillRect/>
              </a:stretch>
            </p:blipFill>
            <p:spPr>
              <a:xfrm>
                <a:off x="10996640" y="4455840"/>
                <a:ext cx="15948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A7EAB483-99ED-3DA8-5930-758638ED2BA7}"/>
                  </a:ext>
                </a:extLst>
              </p14:cNvPr>
              <p14:cNvContentPartPr/>
              <p14:nvPr/>
            </p14:nvContentPartPr>
            <p14:xfrm>
              <a:off x="11392280" y="4963080"/>
              <a:ext cx="221400" cy="297720"/>
            </p14:xfrm>
          </p:contentPart>
        </mc:Choice>
        <mc:Fallback xmlns="">
          <p:pic>
            <p:nvPicPr>
              <p:cNvPr id="11" name="Ink 10">
                <a:extLst>
                  <a:ext uri="{FF2B5EF4-FFF2-40B4-BE49-F238E27FC236}">
                    <a16:creationId xmlns:a16="http://schemas.microsoft.com/office/drawing/2014/main" id="{A7EAB483-99ED-3DA8-5930-758638ED2BA7}"/>
                  </a:ext>
                </a:extLst>
              </p:cNvPr>
              <p:cNvPicPr/>
              <p:nvPr/>
            </p:nvPicPr>
            <p:blipFill>
              <a:blip r:embed="rId12"/>
              <a:stretch>
                <a:fillRect/>
              </a:stretch>
            </p:blipFill>
            <p:spPr>
              <a:xfrm>
                <a:off x="11386160" y="4956960"/>
                <a:ext cx="233640" cy="309960"/>
              </a:xfrm>
              <a:prstGeom prst="rect">
                <a:avLst/>
              </a:prstGeom>
            </p:spPr>
          </p:pic>
        </mc:Fallback>
      </mc:AlternateContent>
    </p:spTree>
    <p:extLst>
      <p:ext uri="{BB962C8B-B14F-4D97-AF65-F5344CB8AC3E}">
        <p14:creationId xmlns:p14="http://schemas.microsoft.com/office/powerpoint/2010/main" val="260472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921369"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rPr>
              <a:t>Modern Portfolio Theory </a:t>
            </a:r>
            <a:r>
              <a:rPr kumimoji="0" lang="en-US" sz="2000" b="1" i="0" u="none" strike="noStrike" kern="1200" cap="none" spc="0" normalizeH="0" baseline="0" noProof="0" dirty="0" err="1">
                <a:ln>
                  <a:noFill/>
                </a:ln>
                <a:solidFill>
                  <a:schemeClr val="bg1"/>
                </a:solidFill>
                <a:effectLst/>
                <a:uLnTx/>
                <a:uFillTx/>
                <a:latin typeface="Calibri" panose="020F0502020204030204"/>
                <a:ea typeface="+mn-ea"/>
                <a:cs typeface="+mn-cs"/>
              </a:rPr>
              <a:t>ll</a:t>
            </a:r>
            <a:endPar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Diversification</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3" name="TextBox 2">
            <a:extLst>
              <a:ext uri="{FF2B5EF4-FFF2-40B4-BE49-F238E27FC236}">
                <a16:creationId xmlns:a16="http://schemas.microsoft.com/office/drawing/2014/main" id="{2FEB4F09-E3DE-7FAA-E537-20A20F056A16}"/>
              </a:ext>
            </a:extLst>
          </p:cNvPr>
          <p:cNvSpPr txBox="1"/>
          <p:nvPr/>
        </p:nvSpPr>
        <p:spPr>
          <a:xfrm>
            <a:off x="161423" y="662545"/>
            <a:ext cx="11502189" cy="3062377"/>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What portfolio would you hold? </a:t>
            </a:r>
            <a:r>
              <a:rPr lang="en-US" sz="2800" b="1" dirty="0">
                <a:solidFill>
                  <a:srgbClr val="DA1F28">
                    <a:lumMod val="60000"/>
                    <a:lumOff val="40000"/>
                  </a:srgbClr>
                </a:solidFill>
                <a:latin typeface="Tw Cen MT"/>
              </a:rPr>
              <a:t>___ % in Stock A and ___% in Stock B </a:t>
            </a: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r>
              <a:rPr kumimoji="0" lang="en-US" sz="2800" b="1" i="0" u="none" strike="noStrike" kern="1200" cap="none" spc="0" normalizeH="0" baseline="0" noProof="0" dirty="0">
                <a:ln>
                  <a:noFill/>
                </a:ln>
                <a:solidFill>
                  <a:srgbClr val="DA1F28">
                    <a:lumMod val="60000"/>
                    <a:lumOff val="40000"/>
                  </a:srgbClr>
                </a:solidFill>
                <a:effectLst/>
                <a:uLnTx/>
                <a:uFillTx/>
                <a:latin typeface="Tw Cen MT"/>
                <a:ea typeface="+mn-ea"/>
                <a:cs typeface="+mn-cs"/>
              </a:rPr>
              <a:t>  </a:t>
            </a: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320040" marR="0" lvl="1" indent="0" algn="l" defTabSz="914400" rtl="0" eaLnBrk="1" fontAlgn="auto" latinLnBrk="0" hangingPunct="1">
              <a:lnSpc>
                <a:spcPct val="100000"/>
              </a:lnSpc>
              <a:spcBef>
                <a:spcPts val="550"/>
              </a:spcBef>
              <a:spcAft>
                <a:spcPts val="0"/>
              </a:spcAft>
              <a:buClr>
                <a:srgbClr val="2DA2BF"/>
              </a:buClr>
              <a:buSzPct val="70000"/>
              <a:buFont typeface="Wingdings 2"/>
              <a:buNone/>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p:txBody>
      </p:sp>
      <p:graphicFrame>
        <p:nvGraphicFramePr>
          <p:cNvPr id="4" name="Table 3">
            <a:extLst>
              <a:ext uri="{FF2B5EF4-FFF2-40B4-BE49-F238E27FC236}">
                <a16:creationId xmlns:a16="http://schemas.microsoft.com/office/drawing/2014/main" id="{5095F422-C911-4AD0-79F6-2ACBCCD29434}"/>
              </a:ext>
            </a:extLst>
          </p:cNvPr>
          <p:cNvGraphicFramePr>
            <a:graphicFrameLocks noGrp="1"/>
          </p:cNvGraphicFramePr>
          <p:nvPr>
            <p:extLst>
              <p:ext uri="{D42A27DB-BD31-4B8C-83A1-F6EECF244321}">
                <p14:modId xmlns:p14="http://schemas.microsoft.com/office/powerpoint/2010/main" val="3757169091"/>
              </p:ext>
            </p:extLst>
          </p:nvPr>
        </p:nvGraphicFramePr>
        <p:xfrm>
          <a:off x="789069" y="1495413"/>
          <a:ext cx="10246895" cy="1933587"/>
        </p:xfrm>
        <a:graphic>
          <a:graphicData uri="http://schemas.openxmlformats.org/drawingml/2006/table">
            <a:tbl>
              <a:tblPr firstRow="1" bandRow="1">
                <a:solidFill>
                  <a:srgbClr val="2DA2BF">
                    <a:tint val="50000"/>
                  </a:srgbClr>
                </a:solidFill>
                <a:effectLst>
                  <a:outerShdw blurRad="38100" dist="30000" dir="5400000" rotWithShape="0">
                    <a:srgbClr val="000000">
                      <a:alpha val="45000"/>
                    </a:srgbClr>
                  </a:outerShdw>
                </a:effectLst>
              </a:tblPr>
              <a:tblGrid>
                <a:gridCol w="2049379">
                  <a:extLst>
                    <a:ext uri="{9D8B030D-6E8A-4147-A177-3AD203B41FA5}">
                      <a16:colId xmlns:a16="http://schemas.microsoft.com/office/drawing/2014/main" val="1205337534"/>
                    </a:ext>
                  </a:extLst>
                </a:gridCol>
                <a:gridCol w="2049379">
                  <a:extLst>
                    <a:ext uri="{9D8B030D-6E8A-4147-A177-3AD203B41FA5}">
                      <a16:colId xmlns:a16="http://schemas.microsoft.com/office/drawing/2014/main" val="1364764631"/>
                    </a:ext>
                  </a:extLst>
                </a:gridCol>
                <a:gridCol w="2049379">
                  <a:extLst>
                    <a:ext uri="{9D8B030D-6E8A-4147-A177-3AD203B41FA5}">
                      <a16:colId xmlns:a16="http://schemas.microsoft.com/office/drawing/2014/main" val="489982734"/>
                    </a:ext>
                  </a:extLst>
                </a:gridCol>
                <a:gridCol w="2049379">
                  <a:extLst>
                    <a:ext uri="{9D8B030D-6E8A-4147-A177-3AD203B41FA5}">
                      <a16:colId xmlns:a16="http://schemas.microsoft.com/office/drawing/2014/main" val="2322215716"/>
                    </a:ext>
                  </a:extLst>
                </a:gridCol>
                <a:gridCol w="2049379">
                  <a:extLst>
                    <a:ext uri="{9D8B030D-6E8A-4147-A177-3AD203B41FA5}">
                      <a16:colId xmlns:a16="http://schemas.microsoft.com/office/drawing/2014/main" val="1582759538"/>
                    </a:ext>
                  </a:extLst>
                </a:gridCol>
              </a:tblGrid>
              <a:tr h="958227">
                <a:tc>
                  <a:txBody>
                    <a:bodyPr/>
                    <a:lstStyle/>
                    <a:p>
                      <a:pPr marL="0" algn="ctr" rtl="0" eaLnBrk="1" fontAlgn="t" hangingPunct="1">
                        <a:spcBef>
                          <a:spcPts val="0"/>
                        </a:spcBef>
                        <a:spcAft>
                          <a:spcPts val="0"/>
                        </a:spcAft>
                      </a:pPr>
                      <a:r>
                        <a:rPr lang="en-US" sz="2600" b="0" i="0" u="none" strike="noStrike" kern="1200" dirty="0">
                          <a:solidFill>
                            <a:srgbClr val="FFFFFF"/>
                          </a:solidFill>
                          <a:effectLst/>
                          <a:latin typeface="Tw Cen MT" panose="020B0602020104020603" pitchFamily="34" charset="0"/>
                        </a:rPr>
                        <a:t>State of the Market</a:t>
                      </a:r>
                      <a:endParaRPr lang="en-US" sz="2600" b="0" i="0" u="none" strike="noStrike" dirty="0">
                        <a:effectLst/>
                        <a:latin typeface="Arial" panose="020B0604020202020204" pitchFamily="34" charset="0"/>
                      </a:endParaRPr>
                    </a:p>
                  </a:txBody>
                  <a:tcPr>
                    <a:lnL w="10000" cap="flat" cmpd="sng" algn="ctr">
                      <a:solidFill>
                        <a:srgbClr val="2DA2BF"/>
                      </a:solidFill>
                      <a:prstDash val="solid"/>
                    </a:lnL>
                    <a:lnR>
                      <a:noFill/>
                    </a:lnR>
                    <a:lnT w="10000" cap="flat" cmpd="sng" algn="ctr">
                      <a:solidFill>
                        <a:srgbClr val="2DA2BF"/>
                      </a:solidFill>
                      <a:prstDash val="solid"/>
                    </a:lnT>
                    <a:lnB w="19050" cap="flat" cmpd="sng" algn="ctr">
                      <a:solidFill>
                        <a:sysClr val="window" lastClr="FFFFFF"/>
                      </a:solidFill>
                      <a:prstDash val="solid"/>
                    </a:lnB>
                    <a:lnTlToBr w="12700" cmpd="sng">
                      <a:noFill/>
                      <a:prstDash val="solid"/>
                    </a:lnTlToBr>
                    <a:lnBlToTr w="12700" cmpd="sng">
                      <a:noFill/>
                      <a:prstDash val="solid"/>
                    </a:lnBlToTr>
                    <a:solidFill>
                      <a:srgbClr val="2DA2BF"/>
                    </a:solidFill>
                  </a:tcPr>
                </a:tc>
                <a:tc>
                  <a:txBody>
                    <a:bodyPr/>
                    <a:lstStyle/>
                    <a:p>
                      <a:pPr marL="0" algn="ctr" rtl="0" eaLnBrk="1" fontAlgn="t" hangingPunct="1">
                        <a:spcBef>
                          <a:spcPts val="0"/>
                        </a:spcBef>
                        <a:spcAft>
                          <a:spcPts val="0"/>
                        </a:spcAft>
                      </a:pPr>
                      <a:r>
                        <a:rPr lang="en-US" sz="2600" b="0" i="0" u="none" strike="noStrike" kern="1200" dirty="0">
                          <a:solidFill>
                            <a:srgbClr val="FFFFFF"/>
                          </a:solidFill>
                          <a:effectLst/>
                          <a:latin typeface="Tw Cen MT" panose="020B0602020104020603" pitchFamily="34" charset="0"/>
                        </a:rPr>
                        <a:t>Probability</a:t>
                      </a:r>
                      <a:endParaRPr lang="en-US" sz="2600" b="0" i="0" u="none" strike="noStrike" dirty="0">
                        <a:effectLst/>
                        <a:latin typeface="Arial" panose="020B0604020202020204" pitchFamily="34" charset="0"/>
                      </a:endParaRPr>
                    </a:p>
                  </a:txBody>
                  <a:tcPr>
                    <a:lnL>
                      <a:noFill/>
                    </a:lnL>
                    <a:lnR>
                      <a:noFill/>
                    </a:lnR>
                    <a:lnT w="10000" cap="flat" cmpd="sng" algn="ctr">
                      <a:solidFill>
                        <a:srgbClr val="2DA2BF"/>
                      </a:solidFill>
                      <a:prstDash val="solid"/>
                    </a:lnT>
                    <a:lnB w="19050" cap="flat" cmpd="sng" algn="ctr">
                      <a:solidFill>
                        <a:sysClr val="window" lastClr="FFFFFF"/>
                      </a:solidFill>
                      <a:prstDash val="solid"/>
                    </a:lnB>
                    <a:lnTlToBr w="12700" cmpd="sng">
                      <a:noFill/>
                      <a:prstDash val="solid"/>
                    </a:lnTlToBr>
                    <a:lnBlToTr w="12700" cmpd="sng">
                      <a:noFill/>
                      <a:prstDash val="solid"/>
                    </a:lnBlToTr>
                    <a:solidFill>
                      <a:srgbClr val="2DA2BF"/>
                    </a:solidFill>
                  </a:tcPr>
                </a:tc>
                <a:tc>
                  <a:txBody>
                    <a:bodyPr/>
                    <a:lstStyle/>
                    <a:p>
                      <a:pPr marL="0" algn="ctr" rtl="0" eaLnBrk="1" fontAlgn="t" hangingPunct="1">
                        <a:spcBef>
                          <a:spcPts val="0"/>
                        </a:spcBef>
                        <a:spcAft>
                          <a:spcPts val="0"/>
                        </a:spcAft>
                      </a:pPr>
                      <a:r>
                        <a:rPr lang="en-US" sz="2600" b="0" i="0" u="none" strike="noStrike" kern="1200" dirty="0">
                          <a:solidFill>
                            <a:srgbClr val="FFFFFF"/>
                          </a:solidFill>
                          <a:effectLst/>
                          <a:latin typeface="Tw Cen MT" panose="020B0602020104020603" pitchFamily="34" charset="0"/>
                        </a:rPr>
                        <a:t>Year-end Price</a:t>
                      </a:r>
                      <a:endParaRPr lang="en-US" sz="2600" b="0" i="0" u="none" strike="noStrike" dirty="0">
                        <a:effectLst/>
                        <a:latin typeface="Arial" panose="020B0604020202020204" pitchFamily="34" charset="0"/>
                      </a:endParaRPr>
                    </a:p>
                  </a:txBody>
                  <a:tcPr>
                    <a:lnL>
                      <a:noFill/>
                    </a:lnL>
                    <a:lnR>
                      <a:noFill/>
                    </a:lnR>
                    <a:lnT w="10000" cap="flat" cmpd="sng" algn="ctr">
                      <a:solidFill>
                        <a:srgbClr val="2DA2BF"/>
                      </a:solidFill>
                      <a:prstDash val="solid"/>
                    </a:lnT>
                    <a:lnB w="19050" cap="flat" cmpd="sng" algn="ctr">
                      <a:solidFill>
                        <a:sysClr val="window" lastClr="FFFFFF"/>
                      </a:solidFill>
                      <a:prstDash val="solid"/>
                    </a:lnB>
                    <a:lnTlToBr w="12700" cmpd="sng">
                      <a:noFill/>
                      <a:prstDash val="solid"/>
                    </a:lnTlToBr>
                    <a:lnBlToTr w="12700" cmpd="sng">
                      <a:noFill/>
                      <a:prstDash val="solid"/>
                    </a:lnBlToTr>
                    <a:solidFill>
                      <a:srgbClr val="2DA2BF"/>
                    </a:solidFill>
                  </a:tcPr>
                </a:tc>
                <a:tc>
                  <a:txBody>
                    <a:bodyPr/>
                    <a:lstStyle/>
                    <a:p>
                      <a:pPr marL="0" algn="ctr" rtl="0" eaLnBrk="1" fontAlgn="t" hangingPunct="1">
                        <a:spcBef>
                          <a:spcPts val="0"/>
                        </a:spcBef>
                        <a:spcAft>
                          <a:spcPts val="0"/>
                        </a:spcAft>
                      </a:pPr>
                      <a:r>
                        <a:rPr lang="en-US" sz="2600" b="0" i="0" u="none" strike="noStrike" kern="1200" dirty="0">
                          <a:solidFill>
                            <a:srgbClr val="FFFFFF"/>
                          </a:solidFill>
                          <a:effectLst/>
                          <a:latin typeface="Tw Cen MT" panose="020B0602020104020603" pitchFamily="34" charset="0"/>
                        </a:rPr>
                        <a:t>Cash Dividends</a:t>
                      </a:r>
                      <a:endParaRPr lang="en-US" sz="2600" b="0" i="0" u="none" strike="noStrike" dirty="0">
                        <a:effectLst/>
                        <a:latin typeface="Arial" panose="020B0604020202020204" pitchFamily="34" charset="0"/>
                      </a:endParaRPr>
                    </a:p>
                  </a:txBody>
                  <a:tcPr>
                    <a:lnL>
                      <a:noFill/>
                    </a:lnL>
                    <a:lnR>
                      <a:noFill/>
                    </a:lnR>
                    <a:lnT w="10000" cap="flat" cmpd="sng" algn="ctr">
                      <a:solidFill>
                        <a:srgbClr val="2DA2BF"/>
                      </a:solidFill>
                      <a:prstDash val="solid"/>
                    </a:lnT>
                    <a:lnB w="19050" cap="flat" cmpd="sng" algn="ctr">
                      <a:solidFill>
                        <a:sysClr val="window" lastClr="FFFFFF"/>
                      </a:solidFill>
                      <a:prstDash val="solid"/>
                    </a:lnB>
                    <a:lnTlToBr w="12700" cmpd="sng">
                      <a:noFill/>
                      <a:prstDash val="solid"/>
                    </a:lnTlToBr>
                    <a:lnBlToTr w="12700" cmpd="sng">
                      <a:noFill/>
                      <a:prstDash val="solid"/>
                    </a:lnBlToTr>
                    <a:solidFill>
                      <a:srgbClr val="2DA2BF"/>
                    </a:solidFill>
                  </a:tcPr>
                </a:tc>
                <a:tc>
                  <a:txBody>
                    <a:bodyPr/>
                    <a:lstStyle/>
                    <a:p>
                      <a:pPr marL="0" algn="ctr" rtl="0" eaLnBrk="1" fontAlgn="t" hangingPunct="1">
                        <a:spcBef>
                          <a:spcPts val="0"/>
                        </a:spcBef>
                        <a:spcAft>
                          <a:spcPts val="0"/>
                        </a:spcAft>
                      </a:pPr>
                      <a:r>
                        <a:rPr lang="en-US" sz="2600" b="0" i="0" u="none" strike="noStrike" kern="1200" dirty="0">
                          <a:solidFill>
                            <a:srgbClr val="FFFFFF"/>
                          </a:solidFill>
                          <a:effectLst/>
                          <a:latin typeface="Tw Cen MT" panose="020B0602020104020603" pitchFamily="34" charset="0"/>
                        </a:rPr>
                        <a:t>HPR</a:t>
                      </a:r>
                      <a:endParaRPr lang="en-US" sz="2600" b="0" i="0" u="none" strike="noStrike" dirty="0">
                        <a:effectLst/>
                        <a:latin typeface="Arial" panose="020B0604020202020204" pitchFamily="34" charset="0"/>
                      </a:endParaRPr>
                    </a:p>
                  </a:txBody>
                  <a:tcPr>
                    <a:lnL>
                      <a:noFill/>
                    </a:lnL>
                    <a:lnR w="10000" cap="flat" cmpd="sng" algn="ctr">
                      <a:solidFill>
                        <a:srgbClr val="2DA2BF"/>
                      </a:solidFill>
                      <a:prstDash val="solid"/>
                    </a:lnR>
                    <a:lnT w="10000" cap="flat" cmpd="sng" algn="ctr">
                      <a:solidFill>
                        <a:srgbClr val="2DA2BF"/>
                      </a:solidFill>
                      <a:prstDash val="solid"/>
                    </a:lnT>
                    <a:lnB w="19050" cap="flat" cmpd="sng" algn="ctr">
                      <a:solidFill>
                        <a:sysClr val="window" lastClr="FFFFFF"/>
                      </a:solidFill>
                      <a:prstDash val="solid"/>
                    </a:lnB>
                    <a:lnTlToBr w="12700" cmpd="sng">
                      <a:noFill/>
                      <a:prstDash val="solid"/>
                    </a:lnTlToBr>
                    <a:lnBlToTr w="12700" cmpd="sng">
                      <a:noFill/>
                      <a:prstDash val="solid"/>
                    </a:lnBlToTr>
                    <a:solidFill>
                      <a:srgbClr val="2DA2BF"/>
                    </a:solidFill>
                  </a:tcPr>
                </a:tc>
                <a:extLst>
                  <a:ext uri="{0D108BD9-81ED-4DB2-BD59-A6C34878D82A}">
                    <a16:rowId xmlns:a16="http://schemas.microsoft.com/office/drawing/2014/main" val="3065718799"/>
                  </a:ext>
                </a:extLst>
              </a:tr>
              <a:tr h="0">
                <a:tc>
                  <a:txBody>
                    <a:bodyPr/>
                    <a:lstStyle/>
                    <a:p>
                      <a:pPr marL="0" algn="ctr" rtl="0" eaLnBrk="1" fontAlgn="t" hangingPunct="1">
                        <a:spcBef>
                          <a:spcPts val="0"/>
                        </a:spcBef>
                        <a:spcAft>
                          <a:spcPts val="0"/>
                        </a:spcAft>
                      </a:pPr>
                      <a:r>
                        <a:rPr lang="en-US" sz="2600" b="0" i="0" u="none" strike="noStrike" kern="1200">
                          <a:solidFill>
                            <a:srgbClr val="000000"/>
                          </a:solidFill>
                          <a:effectLst/>
                          <a:latin typeface="Tw Cen MT" panose="020B0602020104020603" pitchFamily="34" charset="0"/>
                        </a:rPr>
                        <a:t>Sunny</a:t>
                      </a:r>
                      <a:endParaRPr lang="en-US" sz="2600" b="0" i="0" u="none" strike="noStrike">
                        <a:effectLst/>
                        <a:latin typeface="Arial" panose="020B0604020202020204" pitchFamily="34" charset="0"/>
                      </a:endParaRPr>
                    </a:p>
                  </a:txBody>
                  <a:tcPr>
                    <a:lnL w="10000" cap="flat" cmpd="sng" algn="ctr">
                      <a:solidFill>
                        <a:srgbClr val="2DA2BF"/>
                      </a:solidFill>
                      <a:prstDash val="solid"/>
                    </a:lnL>
                    <a:lnR w="10000" cap="flat" cmpd="sng" algn="ctr">
                      <a:solidFill>
                        <a:srgbClr val="2DA2BF"/>
                      </a:solidFill>
                      <a:prstDash val="solid"/>
                    </a:lnR>
                    <a:lnT w="19050" cap="flat" cmpd="sng" algn="ctr">
                      <a:solidFill>
                        <a:sysClr val="window" lastClr="FFFFFF"/>
                      </a:solidFill>
                      <a:prstDash val="solid"/>
                    </a:lnT>
                    <a:lnB w="10000" cap="flat" cmpd="sng" algn="ctr">
                      <a:solidFill>
                        <a:srgbClr val="2DA2BF"/>
                      </a:solidFill>
                      <a:prstDash val="solid"/>
                    </a:lnB>
                    <a:lnTlToBr w="12700" cmpd="sng">
                      <a:noFill/>
                      <a:prstDash val="solid"/>
                    </a:lnTlToBr>
                    <a:lnBlToTr w="12700" cmpd="sng">
                      <a:noFill/>
                      <a:prstDash val="solid"/>
                    </a:lnBlToTr>
                    <a:solidFill>
                      <a:srgbClr val="2DA2BF">
                        <a:alpha val="40000"/>
                      </a:srgbClr>
                    </a:solidFill>
                  </a:tcPr>
                </a:tc>
                <a:tc>
                  <a:txBody>
                    <a:bodyPr/>
                    <a:lstStyle/>
                    <a:p>
                      <a:pPr marL="0" algn="ctr" rtl="0" eaLnBrk="1" fontAlgn="t" hangingPunct="1">
                        <a:spcBef>
                          <a:spcPts val="0"/>
                        </a:spcBef>
                        <a:spcAft>
                          <a:spcPts val="0"/>
                        </a:spcAft>
                      </a:pPr>
                      <a:r>
                        <a:rPr lang="en-US" sz="2600" b="0" i="0" u="none" strike="noStrike" kern="1200" dirty="0">
                          <a:solidFill>
                            <a:srgbClr val="000000"/>
                          </a:solidFill>
                          <a:effectLst/>
                          <a:latin typeface="Tw Cen MT" panose="020B0602020104020603" pitchFamily="34" charset="0"/>
                        </a:rPr>
                        <a:t>50%</a:t>
                      </a:r>
                      <a:endParaRPr lang="en-US" sz="2600" b="0" i="0" u="none" strike="noStrike" dirty="0">
                        <a:effectLst/>
                        <a:latin typeface="Arial" panose="020B0604020202020204" pitchFamily="34" charset="0"/>
                      </a:endParaRPr>
                    </a:p>
                  </a:txBody>
                  <a:tcPr>
                    <a:lnL w="10000" cap="flat" cmpd="sng" algn="ctr">
                      <a:solidFill>
                        <a:srgbClr val="2DA2BF"/>
                      </a:solidFill>
                      <a:prstDash val="solid"/>
                    </a:lnL>
                    <a:lnR w="10000" cap="flat" cmpd="sng" algn="ctr">
                      <a:solidFill>
                        <a:srgbClr val="2DA2BF"/>
                      </a:solidFill>
                      <a:prstDash val="solid"/>
                    </a:lnR>
                    <a:lnT w="19050" cap="flat" cmpd="sng" algn="ctr">
                      <a:solidFill>
                        <a:sysClr val="window" lastClr="FFFFFF"/>
                      </a:solidFill>
                      <a:prstDash val="solid"/>
                    </a:lnT>
                    <a:lnB w="10000" cap="flat" cmpd="sng" algn="ctr">
                      <a:solidFill>
                        <a:srgbClr val="2DA2BF"/>
                      </a:solidFill>
                      <a:prstDash val="solid"/>
                    </a:lnB>
                    <a:lnTlToBr w="12700" cmpd="sng">
                      <a:noFill/>
                      <a:prstDash val="solid"/>
                    </a:lnTlToBr>
                    <a:lnBlToTr w="12700" cmpd="sng">
                      <a:noFill/>
                      <a:prstDash val="solid"/>
                    </a:lnBlToTr>
                    <a:solidFill>
                      <a:srgbClr val="2DA2BF">
                        <a:alpha val="40000"/>
                      </a:srgbClr>
                    </a:solidFill>
                  </a:tcPr>
                </a:tc>
                <a:tc>
                  <a:txBody>
                    <a:bodyPr/>
                    <a:lstStyle/>
                    <a:p>
                      <a:pPr marL="0" algn="ctr" rtl="0" eaLnBrk="1" fontAlgn="t" hangingPunct="1">
                        <a:spcBef>
                          <a:spcPts val="0"/>
                        </a:spcBef>
                        <a:spcAft>
                          <a:spcPts val="0"/>
                        </a:spcAft>
                      </a:pPr>
                      <a:r>
                        <a:rPr lang="en-US" sz="2600" b="0" i="0" u="none" strike="noStrike" kern="1200" dirty="0">
                          <a:solidFill>
                            <a:srgbClr val="000000"/>
                          </a:solidFill>
                          <a:effectLst/>
                          <a:latin typeface="Tw Cen MT" panose="020B0602020104020603" pitchFamily="34" charset="0"/>
                        </a:rPr>
                        <a:t>105</a:t>
                      </a:r>
                      <a:endParaRPr lang="en-US" sz="2600" b="0" i="0" u="none" strike="noStrike" dirty="0">
                        <a:effectLst/>
                        <a:latin typeface="Arial" panose="020B0604020202020204" pitchFamily="34" charset="0"/>
                      </a:endParaRPr>
                    </a:p>
                  </a:txBody>
                  <a:tcPr>
                    <a:lnL w="10000" cap="flat" cmpd="sng" algn="ctr">
                      <a:solidFill>
                        <a:srgbClr val="2DA2BF"/>
                      </a:solidFill>
                      <a:prstDash val="solid"/>
                    </a:lnL>
                    <a:lnR w="10000" cap="flat" cmpd="sng" algn="ctr">
                      <a:solidFill>
                        <a:srgbClr val="2DA2BF"/>
                      </a:solidFill>
                      <a:prstDash val="solid"/>
                    </a:lnR>
                    <a:lnT w="19050" cap="flat" cmpd="sng" algn="ctr">
                      <a:solidFill>
                        <a:sysClr val="window" lastClr="FFFFFF"/>
                      </a:solidFill>
                      <a:prstDash val="solid"/>
                    </a:lnT>
                    <a:lnB w="10000" cap="flat" cmpd="sng" algn="ctr">
                      <a:solidFill>
                        <a:srgbClr val="2DA2BF"/>
                      </a:solidFill>
                      <a:prstDash val="solid"/>
                    </a:lnB>
                    <a:lnTlToBr w="12700" cmpd="sng">
                      <a:noFill/>
                      <a:prstDash val="solid"/>
                    </a:lnTlToBr>
                    <a:lnBlToTr w="12700" cmpd="sng">
                      <a:noFill/>
                      <a:prstDash val="solid"/>
                    </a:lnBlToTr>
                    <a:solidFill>
                      <a:srgbClr val="2DA2BF">
                        <a:alpha val="40000"/>
                      </a:srgbClr>
                    </a:solidFill>
                  </a:tcPr>
                </a:tc>
                <a:tc>
                  <a:txBody>
                    <a:bodyPr/>
                    <a:lstStyle/>
                    <a:p>
                      <a:pPr marL="0" algn="ctr" rtl="0" eaLnBrk="1" fontAlgn="t" hangingPunct="1">
                        <a:spcBef>
                          <a:spcPts val="0"/>
                        </a:spcBef>
                        <a:spcAft>
                          <a:spcPts val="0"/>
                        </a:spcAft>
                      </a:pPr>
                      <a:r>
                        <a:rPr lang="en-US" sz="2600" b="0" i="0" u="none" strike="noStrike" kern="1200" dirty="0">
                          <a:solidFill>
                            <a:srgbClr val="000000"/>
                          </a:solidFill>
                          <a:effectLst/>
                          <a:latin typeface="Tw Cen MT" panose="020B0602020104020603" pitchFamily="34" charset="0"/>
                        </a:rPr>
                        <a:t>0</a:t>
                      </a:r>
                      <a:endParaRPr lang="en-US" sz="2600" b="0" i="0" u="none" strike="noStrike" dirty="0">
                        <a:effectLst/>
                        <a:latin typeface="Arial" panose="020B0604020202020204" pitchFamily="34" charset="0"/>
                      </a:endParaRPr>
                    </a:p>
                  </a:txBody>
                  <a:tcPr>
                    <a:lnL w="10000" cap="flat" cmpd="sng" algn="ctr">
                      <a:solidFill>
                        <a:srgbClr val="2DA2BF"/>
                      </a:solidFill>
                      <a:prstDash val="solid"/>
                    </a:lnL>
                    <a:lnR w="10000" cap="flat" cmpd="sng" algn="ctr">
                      <a:solidFill>
                        <a:srgbClr val="2DA2BF"/>
                      </a:solidFill>
                      <a:prstDash val="solid"/>
                    </a:lnR>
                    <a:lnT w="19050" cap="flat" cmpd="sng" algn="ctr">
                      <a:solidFill>
                        <a:sysClr val="window" lastClr="FFFFFF"/>
                      </a:solidFill>
                      <a:prstDash val="solid"/>
                    </a:lnT>
                    <a:lnB w="10000" cap="flat" cmpd="sng" algn="ctr">
                      <a:solidFill>
                        <a:srgbClr val="2DA2BF"/>
                      </a:solidFill>
                      <a:prstDash val="solid"/>
                    </a:lnB>
                    <a:lnTlToBr w="12700" cmpd="sng">
                      <a:noFill/>
                      <a:prstDash val="solid"/>
                    </a:lnTlToBr>
                    <a:lnBlToTr w="12700" cmpd="sng">
                      <a:noFill/>
                      <a:prstDash val="solid"/>
                    </a:lnBlToTr>
                    <a:solidFill>
                      <a:srgbClr val="2DA2BF">
                        <a:alpha val="40000"/>
                      </a:srgbClr>
                    </a:solidFill>
                  </a:tcPr>
                </a:tc>
                <a:tc>
                  <a:txBody>
                    <a:bodyPr/>
                    <a:lstStyle/>
                    <a:p>
                      <a:pPr marL="0" algn="ctr" rtl="0" eaLnBrk="1" fontAlgn="t" hangingPunct="1">
                        <a:spcBef>
                          <a:spcPts val="0"/>
                        </a:spcBef>
                        <a:spcAft>
                          <a:spcPts val="0"/>
                        </a:spcAft>
                      </a:pPr>
                      <a:r>
                        <a:rPr lang="en-US" sz="2600" b="0" i="0" u="none" strike="noStrike" kern="1200">
                          <a:solidFill>
                            <a:srgbClr val="000000"/>
                          </a:solidFill>
                          <a:effectLst/>
                          <a:latin typeface="Tw Cen MT" panose="020B0602020104020603" pitchFamily="34" charset="0"/>
                        </a:rPr>
                        <a:t>5%</a:t>
                      </a:r>
                      <a:endParaRPr lang="en-US" sz="2600" b="0" i="0" u="none" strike="noStrike">
                        <a:effectLst/>
                        <a:latin typeface="Arial" panose="020B0604020202020204" pitchFamily="34" charset="0"/>
                      </a:endParaRPr>
                    </a:p>
                  </a:txBody>
                  <a:tcPr>
                    <a:lnL w="10000" cap="flat" cmpd="sng" algn="ctr">
                      <a:solidFill>
                        <a:srgbClr val="2DA2BF"/>
                      </a:solidFill>
                      <a:prstDash val="solid"/>
                    </a:lnL>
                    <a:lnR w="10000" cap="flat" cmpd="sng" algn="ctr">
                      <a:solidFill>
                        <a:srgbClr val="2DA2BF"/>
                      </a:solidFill>
                      <a:prstDash val="solid"/>
                    </a:lnR>
                    <a:lnT w="19050" cap="flat" cmpd="sng" algn="ctr">
                      <a:solidFill>
                        <a:sysClr val="window" lastClr="FFFFFF"/>
                      </a:solidFill>
                      <a:prstDash val="solid"/>
                    </a:lnT>
                    <a:lnB w="10000" cap="flat" cmpd="sng" algn="ctr">
                      <a:solidFill>
                        <a:srgbClr val="2DA2BF"/>
                      </a:solidFill>
                      <a:prstDash val="solid"/>
                    </a:lnB>
                    <a:lnTlToBr w="12700" cmpd="sng">
                      <a:noFill/>
                      <a:prstDash val="solid"/>
                    </a:lnTlToBr>
                    <a:lnBlToTr w="12700" cmpd="sng">
                      <a:noFill/>
                      <a:prstDash val="solid"/>
                    </a:lnBlToTr>
                    <a:solidFill>
                      <a:srgbClr val="2DA2BF">
                        <a:alpha val="40000"/>
                      </a:srgbClr>
                    </a:solidFill>
                  </a:tcPr>
                </a:tc>
                <a:extLst>
                  <a:ext uri="{0D108BD9-81ED-4DB2-BD59-A6C34878D82A}">
                    <a16:rowId xmlns:a16="http://schemas.microsoft.com/office/drawing/2014/main" val="3867195253"/>
                  </a:ext>
                </a:extLst>
              </a:tr>
              <a:tr h="355588">
                <a:tc>
                  <a:txBody>
                    <a:bodyPr/>
                    <a:lstStyle/>
                    <a:p>
                      <a:pPr marL="0" algn="ctr" rtl="0" eaLnBrk="1" fontAlgn="t" hangingPunct="1">
                        <a:spcBef>
                          <a:spcPts val="0"/>
                        </a:spcBef>
                        <a:spcAft>
                          <a:spcPts val="0"/>
                        </a:spcAft>
                      </a:pPr>
                      <a:r>
                        <a:rPr lang="en-US" sz="2600" b="0" i="0" u="none" strike="noStrike" kern="1200">
                          <a:solidFill>
                            <a:srgbClr val="000000"/>
                          </a:solidFill>
                          <a:effectLst/>
                          <a:latin typeface="Tw Cen MT" panose="020B0602020104020603" pitchFamily="34" charset="0"/>
                        </a:rPr>
                        <a:t>Rainy</a:t>
                      </a:r>
                      <a:endParaRPr lang="en-US" sz="2600" b="0" i="0" u="none" strike="noStrike">
                        <a:effectLst/>
                        <a:latin typeface="Arial" panose="020B0604020202020204" pitchFamily="34" charset="0"/>
                      </a:endParaRPr>
                    </a:p>
                  </a:txBody>
                  <a:tcPr>
                    <a:lnL w="10000" cap="flat" cmpd="sng" algn="ctr">
                      <a:solidFill>
                        <a:srgbClr val="2DA2BF"/>
                      </a:solidFill>
                      <a:prstDash val="solid"/>
                    </a:lnL>
                    <a:lnR w="10000" cap="flat" cmpd="sng" algn="ctr">
                      <a:solidFill>
                        <a:srgbClr val="2DA2BF"/>
                      </a:solidFill>
                      <a:prstDash val="solid"/>
                    </a:lnR>
                    <a:lnT w="10000" cap="flat" cmpd="sng" algn="ctr">
                      <a:solidFill>
                        <a:srgbClr val="2DA2BF"/>
                      </a:solidFill>
                      <a:prstDash val="solid"/>
                    </a:lnT>
                    <a:lnB w="10000" cap="flat" cmpd="sng" algn="ctr">
                      <a:solidFill>
                        <a:srgbClr val="2DA2BF"/>
                      </a:solidFill>
                      <a:prstDash val="solid"/>
                    </a:lnB>
                    <a:lnTlToBr w="12700" cmpd="sng">
                      <a:noFill/>
                      <a:prstDash val="solid"/>
                    </a:lnTlToBr>
                    <a:lnBlToTr w="12700" cmpd="sng">
                      <a:noFill/>
                      <a:prstDash val="solid"/>
                    </a:lnBlToTr>
                    <a:noFill/>
                  </a:tcPr>
                </a:tc>
                <a:tc>
                  <a:txBody>
                    <a:bodyPr/>
                    <a:lstStyle/>
                    <a:p>
                      <a:pPr marL="0" algn="ctr" rtl="0" eaLnBrk="1" fontAlgn="t" hangingPunct="1">
                        <a:spcBef>
                          <a:spcPts val="0"/>
                        </a:spcBef>
                        <a:spcAft>
                          <a:spcPts val="0"/>
                        </a:spcAft>
                      </a:pPr>
                      <a:r>
                        <a:rPr lang="en-US" sz="2600" b="0" i="0" u="none" strike="noStrike" kern="1200" dirty="0">
                          <a:solidFill>
                            <a:srgbClr val="000000"/>
                          </a:solidFill>
                          <a:effectLst/>
                          <a:latin typeface="Tw Cen MT" panose="020B0602020104020603" pitchFamily="34" charset="0"/>
                        </a:rPr>
                        <a:t>50%</a:t>
                      </a:r>
                      <a:endParaRPr lang="en-US" sz="2600" b="0" i="0" u="none" strike="noStrike" dirty="0">
                        <a:effectLst/>
                        <a:latin typeface="Arial" panose="020B0604020202020204" pitchFamily="34" charset="0"/>
                      </a:endParaRPr>
                    </a:p>
                  </a:txBody>
                  <a:tcPr>
                    <a:lnL w="10000" cap="flat" cmpd="sng" algn="ctr">
                      <a:solidFill>
                        <a:srgbClr val="2DA2BF"/>
                      </a:solidFill>
                      <a:prstDash val="solid"/>
                    </a:lnL>
                    <a:lnR w="10000" cap="flat" cmpd="sng" algn="ctr">
                      <a:solidFill>
                        <a:srgbClr val="2DA2BF"/>
                      </a:solidFill>
                      <a:prstDash val="solid"/>
                    </a:lnR>
                    <a:lnT w="10000" cap="flat" cmpd="sng" algn="ctr">
                      <a:solidFill>
                        <a:srgbClr val="2DA2BF"/>
                      </a:solidFill>
                      <a:prstDash val="solid"/>
                    </a:lnT>
                    <a:lnB w="10000" cap="flat" cmpd="sng" algn="ctr">
                      <a:solidFill>
                        <a:srgbClr val="2DA2BF"/>
                      </a:solidFill>
                      <a:prstDash val="solid"/>
                    </a:lnB>
                    <a:lnTlToBr w="12700" cmpd="sng">
                      <a:noFill/>
                      <a:prstDash val="solid"/>
                    </a:lnTlToBr>
                    <a:lnBlToTr w="12700" cmpd="sng">
                      <a:noFill/>
                      <a:prstDash val="solid"/>
                    </a:lnBlToTr>
                    <a:noFill/>
                  </a:tcPr>
                </a:tc>
                <a:tc>
                  <a:txBody>
                    <a:bodyPr/>
                    <a:lstStyle/>
                    <a:p>
                      <a:pPr marL="0" algn="ctr" rtl="0" eaLnBrk="1" fontAlgn="t" hangingPunct="1">
                        <a:spcBef>
                          <a:spcPts val="0"/>
                        </a:spcBef>
                        <a:spcAft>
                          <a:spcPts val="0"/>
                        </a:spcAft>
                      </a:pPr>
                      <a:r>
                        <a:rPr lang="en-US" sz="2600" b="0" i="0" u="none" strike="noStrike" kern="1200">
                          <a:solidFill>
                            <a:srgbClr val="000000"/>
                          </a:solidFill>
                          <a:effectLst/>
                          <a:latin typeface="Tw Cen MT" panose="020B0602020104020603" pitchFamily="34" charset="0"/>
                        </a:rPr>
                        <a:t>105</a:t>
                      </a:r>
                      <a:endParaRPr lang="en-US" sz="2600" b="0" i="0" u="none" strike="noStrike">
                        <a:effectLst/>
                        <a:latin typeface="Arial" panose="020B0604020202020204" pitchFamily="34" charset="0"/>
                      </a:endParaRPr>
                    </a:p>
                  </a:txBody>
                  <a:tcPr>
                    <a:lnL w="10000" cap="flat" cmpd="sng" algn="ctr">
                      <a:solidFill>
                        <a:srgbClr val="2DA2BF"/>
                      </a:solidFill>
                      <a:prstDash val="solid"/>
                    </a:lnL>
                    <a:lnR w="10000" cap="flat" cmpd="sng" algn="ctr">
                      <a:solidFill>
                        <a:srgbClr val="2DA2BF"/>
                      </a:solidFill>
                      <a:prstDash val="solid"/>
                    </a:lnR>
                    <a:lnT w="10000" cap="flat" cmpd="sng" algn="ctr">
                      <a:solidFill>
                        <a:srgbClr val="2DA2BF"/>
                      </a:solidFill>
                      <a:prstDash val="solid"/>
                    </a:lnT>
                    <a:lnB w="10000" cap="flat" cmpd="sng" algn="ctr">
                      <a:solidFill>
                        <a:srgbClr val="2DA2BF"/>
                      </a:solidFill>
                      <a:prstDash val="solid"/>
                    </a:lnB>
                    <a:lnTlToBr w="12700" cmpd="sng">
                      <a:noFill/>
                      <a:prstDash val="solid"/>
                    </a:lnTlToBr>
                    <a:lnBlToTr w="12700" cmpd="sng">
                      <a:noFill/>
                      <a:prstDash val="solid"/>
                    </a:lnBlToTr>
                    <a:noFill/>
                  </a:tcPr>
                </a:tc>
                <a:tc>
                  <a:txBody>
                    <a:bodyPr/>
                    <a:lstStyle/>
                    <a:p>
                      <a:pPr marL="0" algn="ctr" rtl="0" eaLnBrk="1" fontAlgn="t" hangingPunct="1">
                        <a:spcBef>
                          <a:spcPts val="0"/>
                        </a:spcBef>
                        <a:spcAft>
                          <a:spcPts val="0"/>
                        </a:spcAft>
                      </a:pPr>
                      <a:r>
                        <a:rPr lang="en-US" sz="2600" b="0" i="0" u="none" strike="noStrike" kern="1200" dirty="0">
                          <a:solidFill>
                            <a:srgbClr val="000000"/>
                          </a:solidFill>
                          <a:effectLst/>
                          <a:latin typeface="Tw Cen MT" panose="020B0602020104020603" pitchFamily="34" charset="0"/>
                        </a:rPr>
                        <a:t>0</a:t>
                      </a:r>
                      <a:endParaRPr lang="en-US" sz="2600" b="0" i="0" u="none" strike="noStrike" dirty="0">
                        <a:effectLst/>
                        <a:latin typeface="Arial" panose="020B0604020202020204" pitchFamily="34" charset="0"/>
                      </a:endParaRPr>
                    </a:p>
                  </a:txBody>
                  <a:tcPr>
                    <a:lnL w="10000" cap="flat" cmpd="sng" algn="ctr">
                      <a:solidFill>
                        <a:srgbClr val="2DA2BF"/>
                      </a:solidFill>
                      <a:prstDash val="solid"/>
                    </a:lnL>
                    <a:lnR w="10000" cap="flat" cmpd="sng" algn="ctr">
                      <a:solidFill>
                        <a:srgbClr val="2DA2BF"/>
                      </a:solidFill>
                      <a:prstDash val="solid"/>
                    </a:lnR>
                    <a:lnT w="10000" cap="flat" cmpd="sng" algn="ctr">
                      <a:solidFill>
                        <a:srgbClr val="2DA2BF"/>
                      </a:solidFill>
                      <a:prstDash val="solid"/>
                    </a:lnT>
                    <a:lnB w="10000" cap="flat" cmpd="sng" algn="ctr">
                      <a:solidFill>
                        <a:srgbClr val="2DA2BF"/>
                      </a:solidFill>
                      <a:prstDash val="solid"/>
                    </a:lnB>
                    <a:lnTlToBr w="12700" cmpd="sng">
                      <a:noFill/>
                      <a:prstDash val="solid"/>
                    </a:lnTlToBr>
                    <a:lnBlToTr w="12700" cmpd="sng">
                      <a:noFill/>
                      <a:prstDash val="solid"/>
                    </a:lnBlToTr>
                    <a:noFill/>
                  </a:tcPr>
                </a:tc>
                <a:tc>
                  <a:txBody>
                    <a:bodyPr/>
                    <a:lstStyle/>
                    <a:p>
                      <a:pPr marL="0" algn="ctr" rtl="0" eaLnBrk="1" fontAlgn="t" hangingPunct="1">
                        <a:spcBef>
                          <a:spcPts val="0"/>
                        </a:spcBef>
                        <a:spcAft>
                          <a:spcPts val="0"/>
                        </a:spcAft>
                      </a:pPr>
                      <a:r>
                        <a:rPr lang="en-US" sz="2600" b="0" i="0" u="none" strike="noStrike" kern="1200" dirty="0">
                          <a:solidFill>
                            <a:srgbClr val="000000"/>
                          </a:solidFill>
                          <a:effectLst/>
                          <a:latin typeface="Tw Cen MT" panose="020B0602020104020603" pitchFamily="34" charset="0"/>
                        </a:rPr>
                        <a:t>5%</a:t>
                      </a:r>
                      <a:endParaRPr lang="en-US" sz="2600" b="0" i="0" u="none" strike="noStrike" dirty="0">
                        <a:effectLst/>
                        <a:latin typeface="Arial" panose="020B0604020202020204" pitchFamily="34" charset="0"/>
                      </a:endParaRPr>
                    </a:p>
                  </a:txBody>
                  <a:tcPr>
                    <a:lnL w="10000" cap="flat" cmpd="sng" algn="ctr">
                      <a:solidFill>
                        <a:srgbClr val="2DA2BF"/>
                      </a:solidFill>
                      <a:prstDash val="solid"/>
                    </a:lnL>
                    <a:lnR w="10000" cap="flat" cmpd="sng" algn="ctr">
                      <a:solidFill>
                        <a:srgbClr val="2DA2BF"/>
                      </a:solidFill>
                      <a:prstDash val="solid"/>
                    </a:lnR>
                    <a:lnT w="10000" cap="flat" cmpd="sng" algn="ctr">
                      <a:solidFill>
                        <a:srgbClr val="2DA2BF"/>
                      </a:solidFill>
                      <a:prstDash val="solid"/>
                    </a:lnT>
                    <a:lnB w="10000" cap="flat" cmpd="sng" algn="ctr">
                      <a:solidFill>
                        <a:srgbClr val="2DA2BF"/>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4231687959"/>
                  </a:ext>
                </a:extLst>
              </a:tr>
            </a:tbl>
          </a:graphicData>
        </a:graphic>
      </p:graphicFrame>
      <p:sp>
        <p:nvSpPr>
          <p:cNvPr id="2" name="TextBox 1">
            <a:extLst>
              <a:ext uri="{FF2B5EF4-FFF2-40B4-BE49-F238E27FC236}">
                <a16:creationId xmlns:a16="http://schemas.microsoft.com/office/drawing/2014/main" id="{FF8666F3-CB07-F5BC-C42A-324BF61F6633}"/>
              </a:ext>
            </a:extLst>
          </p:cNvPr>
          <p:cNvSpPr txBox="1"/>
          <p:nvPr/>
        </p:nvSpPr>
        <p:spPr>
          <a:xfrm>
            <a:off x="961776" y="4019181"/>
            <a:ext cx="2534940"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mn-cs"/>
              </a:rPr>
              <a:t>E(X)= __%</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Tw Cen MT"/>
                <a:ea typeface="+mn-ea"/>
                <a:cs typeface="+mn-cs"/>
              </a:rPr>
              <a:t>Std(X)= __%</a:t>
            </a:r>
          </a:p>
        </p:txBody>
      </p:sp>
      <p:grpSp>
        <p:nvGrpSpPr>
          <p:cNvPr id="9" name="Group 8">
            <a:extLst>
              <a:ext uri="{FF2B5EF4-FFF2-40B4-BE49-F238E27FC236}">
                <a16:creationId xmlns:a16="http://schemas.microsoft.com/office/drawing/2014/main" id="{89572273-159B-5A05-2444-C5FEF73B13E8}"/>
              </a:ext>
            </a:extLst>
          </p:cNvPr>
          <p:cNvGrpSpPr/>
          <p:nvPr/>
        </p:nvGrpSpPr>
        <p:grpSpPr>
          <a:xfrm>
            <a:off x="5337440" y="689160"/>
            <a:ext cx="307800" cy="214560"/>
            <a:chOff x="5337440" y="689160"/>
            <a:chExt cx="307800" cy="21456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9645B3BF-5489-CBF8-46D0-00E3DE5BE250}"/>
                    </a:ext>
                  </a:extLst>
                </p14:cNvPr>
                <p14:cNvContentPartPr/>
                <p14:nvPr/>
              </p14:nvContentPartPr>
              <p14:xfrm>
                <a:off x="5337440" y="689160"/>
                <a:ext cx="115920" cy="213840"/>
              </p14:xfrm>
            </p:contentPart>
          </mc:Choice>
          <mc:Fallback xmlns="">
            <p:pic>
              <p:nvPicPr>
                <p:cNvPr id="5" name="Ink 4">
                  <a:extLst>
                    <a:ext uri="{FF2B5EF4-FFF2-40B4-BE49-F238E27FC236}">
                      <a16:creationId xmlns:a16="http://schemas.microsoft.com/office/drawing/2014/main" id="{9645B3BF-5489-CBF8-46D0-00E3DE5BE250}"/>
                    </a:ext>
                  </a:extLst>
                </p:cNvPr>
                <p:cNvPicPr/>
                <p:nvPr/>
              </p:nvPicPr>
              <p:blipFill>
                <a:blip r:embed="rId4"/>
                <a:stretch>
                  <a:fillRect/>
                </a:stretch>
              </p:blipFill>
              <p:spPr>
                <a:xfrm>
                  <a:off x="5331320" y="683040"/>
                  <a:ext cx="12816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BF356155-2A22-83C9-757F-043385FAB997}"/>
                    </a:ext>
                  </a:extLst>
                </p14:cNvPr>
                <p14:cNvContentPartPr/>
                <p14:nvPr/>
              </p14:nvContentPartPr>
              <p14:xfrm>
                <a:off x="5522480" y="784200"/>
                <a:ext cx="122760" cy="119520"/>
              </p14:xfrm>
            </p:contentPart>
          </mc:Choice>
          <mc:Fallback xmlns="">
            <p:pic>
              <p:nvPicPr>
                <p:cNvPr id="6" name="Ink 5">
                  <a:extLst>
                    <a:ext uri="{FF2B5EF4-FFF2-40B4-BE49-F238E27FC236}">
                      <a16:creationId xmlns:a16="http://schemas.microsoft.com/office/drawing/2014/main" id="{BF356155-2A22-83C9-757F-043385FAB997}"/>
                    </a:ext>
                  </a:extLst>
                </p:cNvPr>
                <p:cNvPicPr/>
                <p:nvPr/>
              </p:nvPicPr>
              <p:blipFill>
                <a:blip r:embed="rId6"/>
                <a:stretch>
                  <a:fillRect/>
                </a:stretch>
              </p:blipFill>
              <p:spPr>
                <a:xfrm>
                  <a:off x="5516360" y="778080"/>
                  <a:ext cx="135000" cy="131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B0C2203D-1C05-AE57-1468-157601F52F8E}"/>
                  </a:ext>
                </a:extLst>
              </p14:cNvPr>
              <p14:cNvContentPartPr/>
              <p14:nvPr/>
            </p14:nvContentPartPr>
            <p14:xfrm>
              <a:off x="8585000" y="738480"/>
              <a:ext cx="130680" cy="234000"/>
            </p14:xfrm>
          </p:contentPart>
        </mc:Choice>
        <mc:Fallback xmlns="">
          <p:pic>
            <p:nvPicPr>
              <p:cNvPr id="10" name="Ink 9">
                <a:extLst>
                  <a:ext uri="{FF2B5EF4-FFF2-40B4-BE49-F238E27FC236}">
                    <a16:creationId xmlns:a16="http://schemas.microsoft.com/office/drawing/2014/main" id="{B0C2203D-1C05-AE57-1468-157601F52F8E}"/>
                  </a:ext>
                </a:extLst>
              </p:cNvPr>
              <p:cNvPicPr/>
              <p:nvPr/>
            </p:nvPicPr>
            <p:blipFill>
              <a:blip r:embed="rId8"/>
              <a:stretch>
                <a:fillRect/>
              </a:stretch>
            </p:blipFill>
            <p:spPr>
              <a:xfrm>
                <a:off x="8578880" y="732360"/>
                <a:ext cx="14292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EABBCAAA-4EB0-45AF-96F4-EEFF6E5A67DF}"/>
                  </a:ext>
                </a:extLst>
              </p14:cNvPr>
              <p14:cNvContentPartPr/>
              <p14:nvPr/>
            </p14:nvContentPartPr>
            <p14:xfrm>
              <a:off x="8859320" y="804360"/>
              <a:ext cx="135360" cy="205200"/>
            </p14:xfrm>
          </p:contentPart>
        </mc:Choice>
        <mc:Fallback xmlns="">
          <p:pic>
            <p:nvPicPr>
              <p:cNvPr id="11" name="Ink 10">
                <a:extLst>
                  <a:ext uri="{FF2B5EF4-FFF2-40B4-BE49-F238E27FC236}">
                    <a16:creationId xmlns:a16="http://schemas.microsoft.com/office/drawing/2014/main" id="{EABBCAAA-4EB0-45AF-96F4-EEFF6E5A67DF}"/>
                  </a:ext>
                </a:extLst>
              </p:cNvPr>
              <p:cNvPicPr/>
              <p:nvPr/>
            </p:nvPicPr>
            <p:blipFill>
              <a:blip r:embed="rId10"/>
              <a:stretch>
                <a:fillRect/>
              </a:stretch>
            </p:blipFill>
            <p:spPr>
              <a:xfrm>
                <a:off x="8853200" y="798240"/>
                <a:ext cx="147600" cy="2174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3F47433D-AA9E-E58E-DE58-0797C6598188}"/>
                  </a:ext>
                </a:extLst>
              </p14:cNvPr>
              <p14:cNvContentPartPr/>
              <p14:nvPr/>
            </p14:nvContentPartPr>
            <p14:xfrm>
              <a:off x="2098880" y="3975600"/>
              <a:ext cx="153360" cy="306720"/>
            </p14:xfrm>
          </p:contentPart>
        </mc:Choice>
        <mc:Fallback xmlns="">
          <p:pic>
            <p:nvPicPr>
              <p:cNvPr id="12" name="Ink 11">
                <a:extLst>
                  <a:ext uri="{FF2B5EF4-FFF2-40B4-BE49-F238E27FC236}">
                    <a16:creationId xmlns:a16="http://schemas.microsoft.com/office/drawing/2014/main" id="{3F47433D-AA9E-E58E-DE58-0797C6598188}"/>
                  </a:ext>
                </a:extLst>
              </p:cNvPr>
              <p:cNvPicPr/>
              <p:nvPr/>
            </p:nvPicPr>
            <p:blipFill>
              <a:blip r:embed="rId12"/>
              <a:stretch>
                <a:fillRect/>
              </a:stretch>
            </p:blipFill>
            <p:spPr>
              <a:xfrm>
                <a:off x="2092760" y="3969480"/>
                <a:ext cx="165600" cy="318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82ED73E3-764F-DAE8-5A4C-5CD74065B0C4}"/>
                  </a:ext>
                </a:extLst>
              </p14:cNvPr>
              <p14:cNvContentPartPr/>
              <p14:nvPr/>
            </p14:nvContentPartPr>
            <p14:xfrm>
              <a:off x="2530520" y="4611360"/>
              <a:ext cx="152640" cy="246240"/>
            </p14:xfrm>
          </p:contentPart>
        </mc:Choice>
        <mc:Fallback xmlns="">
          <p:pic>
            <p:nvPicPr>
              <p:cNvPr id="13" name="Ink 12">
                <a:extLst>
                  <a:ext uri="{FF2B5EF4-FFF2-40B4-BE49-F238E27FC236}">
                    <a16:creationId xmlns:a16="http://schemas.microsoft.com/office/drawing/2014/main" id="{82ED73E3-764F-DAE8-5A4C-5CD74065B0C4}"/>
                  </a:ext>
                </a:extLst>
              </p:cNvPr>
              <p:cNvPicPr/>
              <p:nvPr/>
            </p:nvPicPr>
            <p:blipFill>
              <a:blip r:embed="rId14"/>
              <a:stretch>
                <a:fillRect/>
              </a:stretch>
            </p:blipFill>
            <p:spPr>
              <a:xfrm>
                <a:off x="2524400" y="4605240"/>
                <a:ext cx="164880" cy="258480"/>
              </a:xfrm>
              <a:prstGeom prst="rect">
                <a:avLst/>
              </a:prstGeom>
            </p:spPr>
          </p:pic>
        </mc:Fallback>
      </mc:AlternateContent>
    </p:spTree>
    <p:extLst>
      <p:ext uri="{BB962C8B-B14F-4D97-AF65-F5344CB8AC3E}">
        <p14:creationId xmlns:p14="http://schemas.microsoft.com/office/powerpoint/2010/main" val="2419447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921369"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rPr>
              <a:t>Modern Portfolio Theory </a:t>
            </a:r>
            <a:r>
              <a:rPr kumimoji="0" lang="en-US" sz="2000" b="1" i="0" u="none" strike="noStrike" kern="1200" cap="none" spc="0" normalizeH="0" baseline="0" noProof="0" dirty="0" err="1">
                <a:ln>
                  <a:noFill/>
                </a:ln>
                <a:solidFill>
                  <a:schemeClr val="bg1"/>
                </a:solidFill>
                <a:effectLst/>
                <a:uLnTx/>
                <a:uFillTx/>
                <a:latin typeface="Calibri" panose="020F0502020204030204"/>
                <a:ea typeface="+mn-ea"/>
                <a:cs typeface="+mn-cs"/>
              </a:rPr>
              <a:t>ll</a:t>
            </a:r>
            <a:endPar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Diversification</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TextBox 4">
            <a:extLst>
              <a:ext uri="{FF2B5EF4-FFF2-40B4-BE49-F238E27FC236}">
                <a16:creationId xmlns:a16="http://schemas.microsoft.com/office/drawing/2014/main" id="{A56E1DFC-459C-1909-3B1E-882F7FC0F5EA}"/>
              </a:ext>
            </a:extLst>
          </p:cNvPr>
          <p:cNvSpPr txBox="1"/>
          <p:nvPr/>
        </p:nvSpPr>
        <p:spPr>
          <a:xfrm>
            <a:off x="156869" y="619922"/>
            <a:ext cx="6128084" cy="523220"/>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Back to the graph,</a:t>
            </a:r>
          </a:p>
        </p:txBody>
      </p:sp>
      <p:cxnSp>
        <p:nvCxnSpPr>
          <p:cNvPr id="6" name="Straight Connector 5">
            <a:extLst>
              <a:ext uri="{FF2B5EF4-FFF2-40B4-BE49-F238E27FC236}">
                <a16:creationId xmlns:a16="http://schemas.microsoft.com/office/drawing/2014/main" id="{C0BD6739-541C-6DBA-F55C-924D454E91CE}"/>
              </a:ext>
            </a:extLst>
          </p:cNvPr>
          <p:cNvCxnSpPr>
            <a:cxnSpLocks/>
          </p:cNvCxnSpPr>
          <p:nvPr/>
        </p:nvCxnSpPr>
        <p:spPr>
          <a:xfrm>
            <a:off x="1408158" y="2405514"/>
            <a:ext cx="0" cy="2293318"/>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cxnSp>
        <p:nvCxnSpPr>
          <p:cNvPr id="9" name="Straight Connector 8">
            <a:extLst>
              <a:ext uri="{FF2B5EF4-FFF2-40B4-BE49-F238E27FC236}">
                <a16:creationId xmlns:a16="http://schemas.microsoft.com/office/drawing/2014/main" id="{0EF85267-43CE-49A2-D664-3BF2040C3121}"/>
              </a:ext>
            </a:extLst>
          </p:cNvPr>
          <p:cNvCxnSpPr>
            <a:cxnSpLocks/>
          </p:cNvCxnSpPr>
          <p:nvPr/>
        </p:nvCxnSpPr>
        <p:spPr>
          <a:xfrm>
            <a:off x="1408158" y="4698832"/>
            <a:ext cx="2963778" cy="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
        <p:nvSpPr>
          <p:cNvPr id="10" name="TextBox 9">
            <a:extLst>
              <a:ext uri="{FF2B5EF4-FFF2-40B4-BE49-F238E27FC236}">
                <a16:creationId xmlns:a16="http://schemas.microsoft.com/office/drawing/2014/main" id="{540074D9-E5BD-8F29-8D57-B786BD85E2E6}"/>
              </a:ext>
            </a:extLst>
          </p:cNvPr>
          <p:cNvSpPr txBox="1"/>
          <p:nvPr/>
        </p:nvSpPr>
        <p:spPr>
          <a:xfrm>
            <a:off x="778395" y="2246843"/>
            <a:ext cx="589410" cy="400110"/>
          </a:xfrm>
          <a:prstGeom prst="rect">
            <a:avLst/>
          </a:prstGeom>
          <a:noFill/>
        </p:spPr>
        <p:txBody>
          <a:bodyPr wrap="square" rtlCol="0">
            <a:spAutoFit/>
          </a:bodyPr>
          <a:lstStyle/>
          <a:p>
            <a:r>
              <a:rPr lang="en-US" sz="2000" dirty="0">
                <a:solidFill>
                  <a:prstClr val="black"/>
                </a:solidFill>
                <a:latin typeface="Tw Cen MT"/>
              </a:rPr>
              <a:t>E(R)</a:t>
            </a:r>
          </a:p>
        </p:txBody>
      </p:sp>
      <p:sp>
        <p:nvSpPr>
          <p:cNvPr id="11" name="Oval 10">
            <a:extLst>
              <a:ext uri="{FF2B5EF4-FFF2-40B4-BE49-F238E27FC236}">
                <a16:creationId xmlns:a16="http://schemas.microsoft.com/office/drawing/2014/main" id="{841F9642-C617-E34F-D52E-C98BBB8CD695}"/>
              </a:ext>
            </a:extLst>
          </p:cNvPr>
          <p:cNvSpPr/>
          <p:nvPr/>
        </p:nvSpPr>
        <p:spPr>
          <a:xfrm>
            <a:off x="2294620" y="4324160"/>
            <a:ext cx="152400" cy="152400"/>
          </a:xfrm>
          <a:prstGeom prst="ellipse">
            <a:avLst/>
          </a:prstGeom>
          <a:solidFill>
            <a:srgbClr val="DA1F28"/>
          </a:solidFill>
          <a:ln w="10000" cap="flat" cmpd="sng" algn="ctr">
            <a:solidFill>
              <a:srgbClr val="DA1F28"/>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DA1F28"/>
              </a:solidFill>
              <a:effectLst/>
              <a:uLnTx/>
              <a:uFillTx/>
              <a:latin typeface="Tw Cen MT"/>
              <a:ea typeface="+mn-ea"/>
              <a:cs typeface="+mn-cs"/>
            </a:endParaRPr>
          </a:p>
        </p:txBody>
      </p:sp>
      <p:sp>
        <p:nvSpPr>
          <p:cNvPr id="12" name="Oval 11">
            <a:extLst>
              <a:ext uri="{FF2B5EF4-FFF2-40B4-BE49-F238E27FC236}">
                <a16:creationId xmlns:a16="http://schemas.microsoft.com/office/drawing/2014/main" id="{EF876491-EA0A-63BA-285D-E13FB7AF1F5D}"/>
              </a:ext>
            </a:extLst>
          </p:cNvPr>
          <p:cNvSpPr/>
          <p:nvPr/>
        </p:nvSpPr>
        <p:spPr>
          <a:xfrm>
            <a:off x="4095481" y="3405761"/>
            <a:ext cx="152400" cy="152400"/>
          </a:xfrm>
          <a:prstGeom prst="ellipse">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DA1F28"/>
              </a:solidFill>
              <a:effectLst/>
              <a:uLnTx/>
              <a:uFillTx/>
              <a:latin typeface="Tw Cen MT"/>
              <a:ea typeface="+mn-ea"/>
              <a:cs typeface="+mn-cs"/>
            </a:endParaRPr>
          </a:p>
        </p:txBody>
      </p:sp>
      <p:cxnSp>
        <p:nvCxnSpPr>
          <p:cNvPr id="13" name="Straight Connector 12">
            <a:extLst>
              <a:ext uri="{FF2B5EF4-FFF2-40B4-BE49-F238E27FC236}">
                <a16:creationId xmlns:a16="http://schemas.microsoft.com/office/drawing/2014/main" id="{1E41E246-1F90-DFEC-0496-07353EC45A34}"/>
              </a:ext>
            </a:extLst>
          </p:cNvPr>
          <p:cNvCxnSpPr>
            <a:cxnSpLocks/>
            <a:endCxn id="12" idx="3"/>
          </p:cNvCxnSpPr>
          <p:nvPr/>
        </p:nvCxnSpPr>
        <p:spPr>
          <a:xfrm flipV="1">
            <a:off x="2380053" y="3535843"/>
            <a:ext cx="1737746" cy="873971"/>
          </a:xfrm>
          <a:prstGeom prst="line">
            <a:avLst/>
          </a:prstGeom>
          <a:noFill/>
          <a:ln w="19050" cap="flat" cmpd="sng" algn="ctr">
            <a:solidFill>
              <a:srgbClr val="DA1F28"/>
            </a:solidFill>
            <a:prstDash val="solid"/>
          </a:ln>
          <a:effectLst>
            <a:outerShdw blurRad="38100" dist="30000" dir="5400000" rotWithShape="0">
              <a:srgbClr val="000000">
                <a:alpha val="45000"/>
              </a:srgbClr>
            </a:outerShdw>
          </a:effectLst>
        </p:spPr>
      </p:cxnSp>
      <p:sp>
        <p:nvSpPr>
          <p:cNvPr id="14" name="TextBox 13">
            <a:extLst>
              <a:ext uri="{FF2B5EF4-FFF2-40B4-BE49-F238E27FC236}">
                <a16:creationId xmlns:a16="http://schemas.microsoft.com/office/drawing/2014/main" id="{614D85B2-CE84-1DB9-42BD-B97560A9AA67}"/>
              </a:ext>
            </a:extLst>
          </p:cNvPr>
          <p:cNvSpPr txBox="1"/>
          <p:nvPr/>
        </p:nvSpPr>
        <p:spPr>
          <a:xfrm>
            <a:off x="2038081" y="1663330"/>
            <a:ext cx="2057400" cy="477054"/>
          </a:xfrm>
          <a:prstGeom prst="rect">
            <a:avLst/>
          </a:prstGeom>
          <a:noFill/>
        </p:spPr>
        <p:txBody>
          <a:bodyPr wrap="square" rtlCol="0">
            <a:spAutoFit/>
          </a:bodyPr>
          <a:lstStyle/>
          <a:p>
            <a:r>
              <a:rPr lang="en-US" sz="2500" dirty="0">
                <a:solidFill>
                  <a:prstClr val="black"/>
                </a:solidFill>
                <a:latin typeface="Tw Cen MT"/>
              </a:rPr>
              <a:t>2 risky assets</a:t>
            </a:r>
          </a:p>
        </p:txBody>
      </p:sp>
      <p:sp>
        <p:nvSpPr>
          <p:cNvPr id="15" name="TextBox 14">
            <a:extLst>
              <a:ext uri="{FF2B5EF4-FFF2-40B4-BE49-F238E27FC236}">
                <a16:creationId xmlns:a16="http://schemas.microsoft.com/office/drawing/2014/main" id="{43F9D6F8-6C1D-44AF-3545-7E6A6D058995}"/>
              </a:ext>
            </a:extLst>
          </p:cNvPr>
          <p:cNvSpPr txBox="1"/>
          <p:nvPr/>
        </p:nvSpPr>
        <p:spPr>
          <a:xfrm>
            <a:off x="2111115" y="2552242"/>
            <a:ext cx="3719547" cy="430887"/>
          </a:xfrm>
          <a:prstGeom prst="rect">
            <a:avLst/>
          </a:prstGeom>
          <a:noFill/>
        </p:spPr>
        <p:txBody>
          <a:bodyPr wrap="square" rtlCol="0">
            <a:spAutoFit/>
          </a:bodyPr>
          <a:lstStyle/>
          <a:p>
            <a:r>
              <a:rPr lang="en-US" sz="2200" dirty="0">
                <a:solidFill>
                  <a:prstClr val="black"/>
                </a:solidFill>
                <a:latin typeface="Tw Cen MT"/>
              </a:rPr>
              <a:t>Perfectly negatively correlated</a:t>
            </a:r>
          </a:p>
        </p:txBody>
      </p:sp>
      <p:cxnSp>
        <p:nvCxnSpPr>
          <p:cNvPr id="16" name="Straight Arrow Connector 15">
            <a:extLst>
              <a:ext uri="{FF2B5EF4-FFF2-40B4-BE49-F238E27FC236}">
                <a16:creationId xmlns:a16="http://schemas.microsoft.com/office/drawing/2014/main" id="{58638C00-6273-B082-40C8-24C389D226DA}"/>
              </a:ext>
            </a:extLst>
          </p:cNvPr>
          <p:cNvCxnSpPr>
            <a:cxnSpLocks/>
          </p:cNvCxnSpPr>
          <p:nvPr/>
        </p:nvCxnSpPr>
        <p:spPr>
          <a:xfrm flipH="1" flipV="1">
            <a:off x="3271119" y="4055095"/>
            <a:ext cx="667346" cy="184666"/>
          </a:xfrm>
          <a:prstGeom prst="straightConnector1">
            <a:avLst/>
          </a:prstGeom>
          <a:noFill/>
          <a:ln w="19050" cap="flat" cmpd="sng" algn="ctr">
            <a:solidFill>
              <a:srgbClr val="2DA2BF"/>
            </a:solidFill>
            <a:prstDash val="solid"/>
            <a:tailEnd type="arrow"/>
          </a:ln>
          <a:effectLst>
            <a:outerShdw blurRad="38100" dist="30000" dir="5400000" rotWithShape="0">
              <a:srgbClr val="000000">
                <a:alpha val="45000"/>
              </a:srgbClr>
            </a:outerShdw>
          </a:effectLst>
        </p:spPr>
      </p:cxnSp>
      <p:cxnSp>
        <p:nvCxnSpPr>
          <p:cNvPr id="17" name="Straight Arrow Connector 16">
            <a:extLst>
              <a:ext uri="{FF2B5EF4-FFF2-40B4-BE49-F238E27FC236}">
                <a16:creationId xmlns:a16="http://schemas.microsoft.com/office/drawing/2014/main" id="{7264E96B-F948-0D38-4F10-81505CC8163E}"/>
              </a:ext>
            </a:extLst>
          </p:cNvPr>
          <p:cNvCxnSpPr>
            <a:cxnSpLocks/>
          </p:cNvCxnSpPr>
          <p:nvPr/>
        </p:nvCxnSpPr>
        <p:spPr>
          <a:xfrm flipH="1">
            <a:off x="1842639" y="2956705"/>
            <a:ext cx="534473" cy="811776"/>
          </a:xfrm>
          <a:prstGeom prst="straightConnector1">
            <a:avLst/>
          </a:prstGeom>
          <a:noFill/>
          <a:ln w="19050" cap="flat" cmpd="sng" algn="ctr">
            <a:solidFill>
              <a:srgbClr val="2DA2BF"/>
            </a:solidFill>
            <a:prstDash val="solid"/>
            <a:tailEnd type="arrow"/>
          </a:ln>
          <a:effectLst>
            <a:outerShdw blurRad="38100" dist="30000" dir="5400000" rotWithShape="0">
              <a:srgbClr val="000000">
                <a:alpha val="45000"/>
              </a:srgbClr>
            </a:outerShdw>
          </a:effectLst>
        </p:spPr>
      </p:cxnSp>
      <p:cxnSp>
        <p:nvCxnSpPr>
          <p:cNvPr id="18" name="Straight Connector 17">
            <a:extLst>
              <a:ext uri="{FF2B5EF4-FFF2-40B4-BE49-F238E27FC236}">
                <a16:creationId xmlns:a16="http://schemas.microsoft.com/office/drawing/2014/main" id="{F45F9CE6-D1C4-4C71-BBAC-C0C48A962867}"/>
              </a:ext>
            </a:extLst>
          </p:cNvPr>
          <p:cNvCxnSpPr>
            <a:cxnSpLocks/>
            <a:stCxn id="11" idx="5"/>
          </p:cNvCxnSpPr>
          <p:nvPr/>
        </p:nvCxnSpPr>
        <p:spPr>
          <a:xfrm flipH="1" flipV="1">
            <a:off x="1402277" y="3931606"/>
            <a:ext cx="1022425" cy="522636"/>
          </a:xfrm>
          <a:prstGeom prst="line">
            <a:avLst/>
          </a:prstGeom>
          <a:noFill/>
          <a:ln w="19050" cap="flat" cmpd="sng" algn="ctr">
            <a:solidFill>
              <a:srgbClr val="EB641B"/>
            </a:solidFill>
            <a:prstDash val="solid"/>
          </a:ln>
          <a:effectLst>
            <a:outerShdw blurRad="38100" dist="30000" dir="5400000" rotWithShape="0">
              <a:srgbClr val="000000">
                <a:alpha val="45000"/>
              </a:srgbClr>
            </a:outerShdw>
          </a:effectLst>
        </p:spPr>
      </p:cxnSp>
      <p:cxnSp>
        <p:nvCxnSpPr>
          <p:cNvPr id="19" name="Straight Connector 18">
            <a:extLst>
              <a:ext uri="{FF2B5EF4-FFF2-40B4-BE49-F238E27FC236}">
                <a16:creationId xmlns:a16="http://schemas.microsoft.com/office/drawing/2014/main" id="{8609A28D-F95D-355A-23B2-575B9A5CD304}"/>
              </a:ext>
            </a:extLst>
          </p:cNvPr>
          <p:cNvCxnSpPr>
            <a:cxnSpLocks/>
            <a:stCxn id="12" idx="2"/>
          </p:cNvCxnSpPr>
          <p:nvPr/>
        </p:nvCxnSpPr>
        <p:spPr>
          <a:xfrm flipH="1">
            <a:off x="1414040" y="3481961"/>
            <a:ext cx="2681441" cy="435261"/>
          </a:xfrm>
          <a:prstGeom prst="line">
            <a:avLst/>
          </a:prstGeom>
          <a:noFill/>
          <a:ln w="19050" cap="flat" cmpd="sng" algn="ctr">
            <a:solidFill>
              <a:srgbClr val="EB641B"/>
            </a:solidFill>
            <a:prstDash val="solid"/>
          </a:ln>
          <a:effectLst>
            <a:outerShdw blurRad="38100" dist="30000" dir="5400000" rotWithShape="0">
              <a:srgbClr val="000000">
                <a:alpha val="45000"/>
              </a:srgbClr>
            </a:outerShdw>
          </a:effectLst>
        </p:spPr>
      </p:cxnSp>
      <p:sp>
        <p:nvSpPr>
          <p:cNvPr id="20" name="Freeform 25">
            <a:extLst>
              <a:ext uri="{FF2B5EF4-FFF2-40B4-BE49-F238E27FC236}">
                <a16:creationId xmlns:a16="http://schemas.microsoft.com/office/drawing/2014/main" id="{85F46507-9DB1-86F0-9899-78E5E72BCDA6}"/>
              </a:ext>
            </a:extLst>
          </p:cNvPr>
          <p:cNvSpPr/>
          <p:nvPr/>
        </p:nvSpPr>
        <p:spPr>
          <a:xfrm rot="21432259">
            <a:off x="1936855" y="3565956"/>
            <a:ext cx="2180941" cy="823650"/>
          </a:xfrm>
          <a:custGeom>
            <a:avLst/>
            <a:gdLst>
              <a:gd name="connsiteX0" fmla="*/ 1223804 w 1277848"/>
              <a:gd name="connsiteY0" fmla="*/ 19298 h 520695"/>
              <a:gd name="connsiteX1" fmla="*/ 1140259 w 1277848"/>
              <a:gd name="connsiteY1" fmla="*/ 19298 h 520695"/>
              <a:gd name="connsiteX2" fmla="*/ 37465 w 1277848"/>
              <a:gd name="connsiteY2" fmla="*/ 219857 h 520695"/>
              <a:gd name="connsiteX3" fmla="*/ 237973 w 1277848"/>
              <a:gd name="connsiteY3" fmla="*/ 520695 h 520695"/>
              <a:gd name="connsiteX4" fmla="*/ 237973 w 1277848"/>
              <a:gd name="connsiteY4" fmla="*/ 520695 h 520695"/>
              <a:gd name="connsiteX5" fmla="*/ 237973 w 1277848"/>
              <a:gd name="connsiteY5" fmla="*/ 520695 h 520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77848" h="520695">
                <a:moveTo>
                  <a:pt x="1223804" y="19298"/>
                </a:moveTo>
                <a:cubicBezTo>
                  <a:pt x="1280893" y="2585"/>
                  <a:pt x="1337982" y="-14128"/>
                  <a:pt x="1140259" y="19298"/>
                </a:cubicBezTo>
                <a:cubicBezTo>
                  <a:pt x="942536" y="52724"/>
                  <a:pt x="187846" y="136291"/>
                  <a:pt x="37465" y="219857"/>
                </a:cubicBezTo>
                <a:cubicBezTo>
                  <a:pt x="-112916" y="303423"/>
                  <a:pt x="237973" y="520695"/>
                  <a:pt x="237973" y="520695"/>
                </a:cubicBezTo>
                <a:lnTo>
                  <a:pt x="237973" y="520695"/>
                </a:lnTo>
                <a:lnTo>
                  <a:pt x="237973" y="520695"/>
                </a:lnTo>
              </a:path>
            </a:pathLst>
          </a:custGeom>
          <a:noFill/>
          <a:ln w="19050" cap="flat" cmpd="sng" algn="ctr">
            <a:solidFill>
              <a:srgbClr val="DA1F28"/>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Tw Cen MT"/>
              <a:ea typeface="+mn-ea"/>
              <a:cs typeface="+mn-cs"/>
            </a:endParaRPr>
          </a:p>
        </p:txBody>
      </p:sp>
      <p:sp>
        <p:nvSpPr>
          <p:cNvPr id="21" name="TextBox 20">
            <a:extLst>
              <a:ext uri="{FF2B5EF4-FFF2-40B4-BE49-F238E27FC236}">
                <a16:creationId xmlns:a16="http://schemas.microsoft.com/office/drawing/2014/main" id="{B7C1C972-C0E9-C06A-5375-F1DD383CBA83}"/>
              </a:ext>
            </a:extLst>
          </p:cNvPr>
          <p:cNvSpPr txBox="1"/>
          <p:nvPr/>
        </p:nvSpPr>
        <p:spPr>
          <a:xfrm>
            <a:off x="3248926" y="4248533"/>
            <a:ext cx="3911949" cy="430887"/>
          </a:xfrm>
          <a:prstGeom prst="rect">
            <a:avLst/>
          </a:prstGeom>
          <a:noFill/>
        </p:spPr>
        <p:txBody>
          <a:bodyPr wrap="square" rtlCol="0">
            <a:spAutoFit/>
          </a:bodyPr>
          <a:lstStyle/>
          <a:p>
            <a:r>
              <a:rPr lang="en-US" sz="2200" dirty="0">
                <a:solidFill>
                  <a:prstClr val="black"/>
                </a:solidFill>
                <a:latin typeface="Tw Cen MT"/>
              </a:rPr>
              <a:t>Perfectly positively correlated</a:t>
            </a:r>
          </a:p>
        </p:txBody>
      </p:sp>
      <p:sp>
        <p:nvSpPr>
          <p:cNvPr id="31" name="TextBox 30">
            <a:extLst>
              <a:ext uri="{FF2B5EF4-FFF2-40B4-BE49-F238E27FC236}">
                <a16:creationId xmlns:a16="http://schemas.microsoft.com/office/drawing/2014/main" id="{40AB94B3-0EFD-AFEE-A1A5-674CBBFC9F1D}"/>
              </a:ext>
            </a:extLst>
          </p:cNvPr>
          <p:cNvSpPr txBox="1"/>
          <p:nvPr/>
        </p:nvSpPr>
        <p:spPr>
          <a:xfrm>
            <a:off x="3940800" y="4789408"/>
            <a:ext cx="685800" cy="400110"/>
          </a:xfrm>
          <a:prstGeom prst="rect">
            <a:avLst/>
          </a:prstGeom>
          <a:noFill/>
        </p:spPr>
        <p:txBody>
          <a:bodyPr wrap="square" rtlCol="0">
            <a:spAutoFit/>
          </a:bodyPr>
          <a:lstStyle/>
          <a:p>
            <a:r>
              <a:rPr lang="en-US" sz="2000" dirty="0" err="1">
                <a:solidFill>
                  <a:prstClr val="black"/>
                </a:solidFill>
                <a:latin typeface="Tw Cen MT"/>
              </a:rPr>
              <a:t>Std</a:t>
            </a:r>
            <a:endParaRPr lang="en-US" sz="2000" dirty="0">
              <a:solidFill>
                <a:prstClr val="black"/>
              </a:solidFill>
              <a:latin typeface="Tw Cen MT"/>
            </a:endParaRPr>
          </a:p>
        </p:txBody>
      </p:sp>
    </p:spTree>
    <p:extLst>
      <p:ext uri="{BB962C8B-B14F-4D97-AF65-F5344CB8AC3E}">
        <p14:creationId xmlns:p14="http://schemas.microsoft.com/office/powerpoint/2010/main" val="3562934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921369"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rPr>
              <a:t>Modern Portfolio Theory </a:t>
            </a:r>
            <a:r>
              <a:rPr kumimoji="0" lang="en-US" sz="2000" b="1" i="0" u="none" strike="noStrike" kern="1200" cap="none" spc="0" normalizeH="0" baseline="0" noProof="0" dirty="0" err="1">
                <a:ln>
                  <a:noFill/>
                </a:ln>
                <a:solidFill>
                  <a:schemeClr val="bg1"/>
                </a:solidFill>
                <a:effectLst/>
                <a:uLnTx/>
                <a:uFillTx/>
                <a:latin typeface="Calibri" panose="020F0502020204030204"/>
                <a:ea typeface="+mn-ea"/>
                <a:cs typeface="+mn-cs"/>
              </a:rPr>
              <a:t>ll</a:t>
            </a:r>
            <a:endPar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Diversification</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3" name="TextBox 2">
            <a:extLst>
              <a:ext uri="{FF2B5EF4-FFF2-40B4-BE49-F238E27FC236}">
                <a16:creationId xmlns:a16="http://schemas.microsoft.com/office/drawing/2014/main" id="{58C14EF2-F043-3354-1AF6-C81AC0E9F183}"/>
              </a:ext>
            </a:extLst>
          </p:cNvPr>
          <p:cNvSpPr txBox="1"/>
          <p:nvPr/>
        </p:nvSpPr>
        <p:spPr>
          <a:xfrm>
            <a:off x="136157" y="557871"/>
            <a:ext cx="11396713" cy="1905650"/>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If you include additional securities in your portfolio (</a:t>
            </a:r>
            <a:r>
              <a:rPr kumimoji="0" lang="en-US" sz="2800" b="0" i="0" u="none" strike="noStrike" kern="1200" cap="none" spc="0" normalizeH="0" baseline="0" noProof="0" dirty="0">
                <a:ln>
                  <a:noFill/>
                </a:ln>
                <a:solidFill>
                  <a:srgbClr val="EC767C"/>
                </a:solidFill>
                <a:effectLst/>
                <a:uLnTx/>
                <a:uFillTx/>
                <a:latin typeface="Tw Cen MT"/>
                <a:ea typeface="+mn-ea"/>
                <a:cs typeface="+mn-cs"/>
              </a:rPr>
              <a:t>diversification strategy</a:t>
            </a:r>
            <a:r>
              <a:rPr kumimoji="0" lang="en-US" sz="2800" b="0" i="0" u="none" strike="noStrike" kern="1200" cap="none" spc="0" normalizeH="0" baseline="0" noProof="0" dirty="0">
                <a:ln>
                  <a:noFill/>
                </a:ln>
                <a:solidFill>
                  <a:prstClr val="black"/>
                </a:solidFill>
                <a:effectLst/>
                <a:uLnTx/>
                <a:uFillTx/>
                <a:latin typeface="Tw Cen MT"/>
                <a:ea typeface="+mn-ea"/>
                <a:cs typeface="+mn-cs"/>
              </a:rPr>
              <a:t>), you can stabilize portfolio return.</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But, why end diversification with only two stocks? We can include more securities in the portfolio and portfolio volatility should continue to fall.</a:t>
            </a:r>
          </a:p>
        </p:txBody>
      </p:sp>
      <p:cxnSp>
        <p:nvCxnSpPr>
          <p:cNvPr id="4" name="Straight Connector 3">
            <a:extLst>
              <a:ext uri="{FF2B5EF4-FFF2-40B4-BE49-F238E27FC236}">
                <a16:creationId xmlns:a16="http://schemas.microsoft.com/office/drawing/2014/main" id="{D1621FFC-8971-6043-5C86-97E7C241B4D8}"/>
              </a:ext>
            </a:extLst>
          </p:cNvPr>
          <p:cNvCxnSpPr>
            <a:cxnSpLocks/>
          </p:cNvCxnSpPr>
          <p:nvPr/>
        </p:nvCxnSpPr>
        <p:spPr>
          <a:xfrm flipH="1">
            <a:off x="2256904" y="3429000"/>
            <a:ext cx="34619" cy="2189434"/>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cxnSp>
        <p:nvCxnSpPr>
          <p:cNvPr id="22" name="Straight Connector 21">
            <a:extLst>
              <a:ext uri="{FF2B5EF4-FFF2-40B4-BE49-F238E27FC236}">
                <a16:creationId xmlns:a16="http://schemas.microsoft.com/office/drawing/2014/main" id="{B85D1430-C4C4-D38C-697A-690C142727CD}"/>
              </a:ext>
            </a:extLst>
          </p:cNvPr>
          <p:cNvCxnSpPr/>
          <p:nvPr/>
        </p:nvCxnSpPr>
        <p:spPr>
          <a:xfrm>
            <a:off x="2256904" y="5601505"/>
            <a:ext cx="3581400" cy="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
        <p:nvSpPr>
          <p:cNvPr id="23" name="TextBox 22">
            <a:extLst>
              <a:ext uri="{FF2B5EF4-FFF2-40B4-BE49-F238E27FC236}">
                <a16:creationId xmlns:a16="http://schemas.microsoft.com/office/drawing/2014/main" id="{0815807A-6DD1-7AFC-F41F-17DA263B681F}"/>
              </a:ext>
            </a:extLst>
          </p:cNvPr>
          <p:cNvSpPr txBox="1"/>
          <p:nvPr/>
        </p:nvSpPr>
        <p:spPr>
          <a:xfrm>
            <a:off x="3151251" y="5635362"/>
            <a:ext cx="4002503" cy="400110"/>
          </a:xfrm>
          <a:prstGeom prst="rect">
            <a:avLst/>
          </a:prstGeom>
          <a:noFill/>
        </p:spPr>
        <p:txBody>
          <a:bodyPr wrap="square" rtlCol="0">
            <a:spAutoFit/>
          </a:bodyPr>
          <a:lstStyle/>
          <a:p>
            <a:r>
              <a:rPr lang="en-US" sz="2000" dirty="0">
                <a:solidFill>
                  <a:prstClr val="black"/>
                </a:solidFill>
                <a:latin typeface="Tw Cen MT"/>
              </a:rPr>
              <a:t>Number of stocks in the portfolio</a:t>
            </a:r>
          </a:p>
        </p:txBody>
      </p:sp>
      <p:sp>
        <p:nvSpPr>
          <p:cNvPr id="24" name="Freeform 7">
            <a:extLst>
              <a:ext uri="{FF2B5EF4-FFF2-40B4-BE49-F238E27FC236}">
                <a16:creationId xmlns:a16="http://schemas.microsoft.com/office/drawing/2014/main" id="{D6639458-5906-26FC-152A-15D84A879D89}"/>
              </a:ext>
            </a:extLst>
          </p:cNvPr>
          <p:cNvSpPr/>
          <p:nvPr/>
        </p:nvSpPr>
        <p:spPr>
          <a:xfrm>
            <a:off x="2528476" y="3519184"/>
            <a:ext cx="3309828" cy="1464926"/>
          </a:xfrm>
          <a:custGeom>
            <a:avLst/>
            <a:gdLst>
              <a:gd name="connsiteX0" fmla="*/ 0 w 3091165"/>
              <a:gd name="connsiteY0" fmla="*/ 0 h 1402849"/>
              <a:gd name="connsiteX1" fmla="*/ 634942 w 3091165"/>
              <a:gd name="connsiteY1" fmla="*/ 1019507 h 1402849"/>
              <a:gd name="connsiteX2" fmla="*/ 2456223 w 3091165"/>
              <a:gd name="connsiteY2" fmla="*/ 1370485 h 1402849"/>
              <a:gd name="connsiteX3" fmla="*/ 3091165 w 3091165"/>
              <a:gd name="connsiteY3" fmla="*/ 1387199 h 1402849"/>
            </a:gdLst>
            <a:ahLst/>
            <a:cxnLst>
              <a:cxn ang="0">
                <a:pos x="connsiteX0" y="connsiteY0"/>
              </a:cxn>
              <a:cxn ang="0">
                <a:pos x="connsiteX1" y="connsiteY1"/>
              </a:cxn>
              <a:cxn ang="0">
                <a:pos x="connsiteX2" y="connsiteY2"/>
              </a:cxn>
              <a:cxn ang="0">
                <a:pos x="connsiteX3" y="connsiteY3"/>
              </a:cxn>
            </a:cxnLst>
            <a:rect l="l" t="t" r="r" b="b"/>
            <a:pathLst>
              <a:path w="3091165" h="1402849">
                <a:moveTo>
                  <a:pt x="0" y="0"/>
                </a:moveTo>
                <a:cubicBezTo>
                  <a:pt x="112786" y="395546"/>
                  <a:pt x="225572" y="791093"/>
                  <a:pt x="634942" y="1019507"/>
                </a:cubicBezTo>
                <a:cubicBezTo>
                  <a:pt x="1044312" y="1247921"/>
                  <a:pt x="2046853" y="1309203"/>
                  <a:pt x="2456223" y="1370485"/>
                </a:cubicBezTo>
                <a:cubicBezTo>
                  <a:pt x="2865593" y="1431767"/>
                  <a:pt x="3091165" y="1387199"/>
                  <a:pt x="3091165" y="1387199"/>
                </a:cubicBezTo>
              </a:path>
            </a:pathLst>
          </a:custGeom>
          <a:noFill/>
          <a:ln w="28575"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Tw Cen MT"/>
              <a:ea typeface="+mn-ea"/>
              <a:cs typeface="+mn-cs"/>
            </a:endParaRPr>
          </a:p>
        </p:txBody>
      </p:sp>
      <p:cxnSp>
        <p:nvCxnSpPr>
          <p:cNvPr id="25" name="Straight Connector 24">
            <a:extLst>
              <a:ext uri="{FF2B5EF4-FFF2-40B4-BE49-F238E27FC236}">
                <a16:creationId xmlns:a16="http://schemas.microsoft.com/office/drawing/2014/main" id="{EF4C4280-0325-23FF-81EE-05D4E60AD759}"/>
              </a:ext>
            </a:extLst>
          </p:cNvPr>
          <p:cNvCxnSpPr>
            <a:cxnSpLocks/>
          </p:cNvCxnSpPr>
          <p:nvPr/>
        </p:nvCxnSpPr>
        <p:spPr>
          <a:xfrm>
            <a:off x="2316395" y="5017966"/>
            <a:ext cx="3521909" cy="22069"/>
          </a:xfrm>
          <a:prstGeom prst="line">
            <a:avLst/>
          </a:prstGeom>
          <a:noFill/>
          <a:ln w="19050" cap="flat" cmpd="sng" algn="ctr">
            <a:solidFill>
              <a:sysClr val="windowText" lastClr="000000"/>
            </a:solidFill>
            <a:prstDash val="dash"/>
          </a:ln>
          <a:effectLst>
            <a:outerShdw blurRad="38100" dist="30000" dir="5400000" rotWithShape="0">
              <a:srgbClr val="000000">
                <a:alpha val="45000"/>
              </a:srgbClr>
            </a:outerShdw>
          </a:effectLst>
        </p:spPr>
      </p:cxnSp>
      <p:cxnSp>
        <p:nvCxnSpPr>
          <p:cNvPr id="26" name="Straight Arrow Connector 25">
            <a:extLst>
              <a:ext uri="{FF2B5EF4-FFF2-40B4-BE49-F238E27FC236}">
                <a16:creationId xmlns:a16="http://schemas.microsoft.com/office/drawing/2014/main" id="{749A3D0F-ADFB-B9D5-742D-D028A3BEEE62}"/>
              </a:ext>
            </a:extLst>
          </p:cNvPr>
          <p:cNvCxnSpPr>
            <a:cxnSpLocks/>
          </p:cNvCxnSpPr>
          <p:nvPr/>
        </p:nvCxnSpPr>
        <p:spPr>
          <a:xfrm>
            <a:off x="2561704" y="4019517"/>
            <a:ext cx="0" cy="896188"/>
          </a:xfrm>
          <a:prstGeom prst="straightConnector1">
            <a:avLst/>
          </a:prstGeom>
          <a:noFill/>
          <a:ln w="19050" cap="flat" cmpd="sng" algn="ctr">
            <a:solidFill>
              <a:srgbClr val="DA1F28">
                <a:lumMod val="60000"/>
                <a:lumOff val="40000"/>
              </a:srgbClr>
            </a:solidFill>
            <a:prstDash val="solid"/>
            <a:headEnd type="arrow"/>
            <a:tailEnd type="arrow"/>
          </a:ln>
          <a:effectLst>
            <a:outerShdw blurRad="38100" dist="30000" dir="5400000" rotWithShape="0">
              <a:srgbClr val="000000">
                <a:alpha val="45000"/>
              </a:srgbClr>
            </a:outerShdw>
          </a:effectLst>
        </p:spPr>
      </p:cxnSp>
      <p:cxnSp>
        <p:nvCxnSpPr>
          <p:cNvPr id="27" name="Straight Arrow Connector 26">
            <a:extLst>
              <a:ext uri="{FF2B5EF4-FFF2-40B4-BE49-F238E27FC236}">
                <a16:creationId xmlns:a16="http://schemas.microsoft.com/office/drawing/2014/main" id="{617BE49C-67B5-C338-4C76-105DC103AD3C}"/>
              </a:ext>
            </a:extLst>
          </p:cNvPr>
          <p:cNvCxnSpPr/>
          <p:nvPr/>
        </p:nvCxnSpPr>
        <p:spPr>
          <a:xfrm>
            <a:off x="2561704" y="5068105"/>
            <a:ext cx="0" cy="533400"/>
          </a:xfrm>
          <a:prstGeom prst="straightConnector1">
            <a:avLst/>
          </a:prstGeom>
          <a:noFill/>
          <a:ln w="19050" cap="flat" cmpd="sng" algn="ctr">
            <a:solidFill>
              <a:srgbClr val="2DA2BF"/>
            </a:solidFill>
            <a:prstDash val="solid"/>
            <a:headEnd type="arrow"/>
            <a:tailEnd type="arrow"/>
          </a:ln>
          <a:effectLst>
            <a:outerShdw blurRad="38100" dist="30000" dir="5400000" rotWithShape="0">
              <a:srgbClr val="000000">
                <a:alpha val="45000"/>
              </a:srgbClr>
            </a:outerShdw>
          </a:effectLst>
        </p:spPr>
      </p:cxnSp>
      <p:sp>
        <p:nvSpPr>
          <p:cNvPr id="33" name="TextBox 32">
            <a:extLst>
              <a:ext uri="{FF2B5EF4-FFF2-40B4-BE49-F238E27FC236}">
                <a16:creationId xmlns:a16="http://schemas.microsoft.com/office/drawing/2014/main" id="{D5C7C12D-CA91-D54E-0FED-8BD622F7A4B4}"/>
              </a:ext>
            </a:extLst>
          </p:cNvPr>
          <p:cNvSpPr txBox="1"/>
          <p:nvPr/>
        </p:nvSpPr>
        <p:spPr>
          <a:xfrm>
            <a:off x="1523688" y="3153027"/>
            <a:ext cx="1008828" cy="461665"/>
          </a:xfrm>
          <a:prstGeom prst="rect">
            <a:avLst/>
          </a:prstGeom>
          <a:noFill/>
        </p:spPr>
        <p:txBody>
          <a:bodyPr wrap="square" rtlCol="0">
            <a:spAutoFit/>
          </a:bodyPr>
          <a:lstStyle/>
          <a:p>
            <a:r>
              <a:rPr lang="en-US" sz="2400" dirty="0">
                <a:solidFill>
                  <a:prstClr val="black"/>
                </a:solidFill>
                <a:latin typeface="Tw Cen MT"/>
              </a:rPr>
              <a:t>Risk</a:t>
            </a:r>
            <a:endParaRPr lang="en-US" dirty="0">
              <a:solidFill>
                <a:prstClr val="black"/>
              </a:solidFill>
              <a:latin typeface="Tw Cen MT"/>
            </a:endParaRPr>
          </a:p>
        </p:txBody>
      </p:sp>
      <p:sp>
        <p:nvSpPr>
          <p:cNvPr id="35" name="Line Callout 1 11">
            <a:extLst>
              <a:ext uri="{FF2B5EF4-FFF2-40B4-BE49-F238E27FC236}">
                <a16:creationId xmlns:a16="http://schemas.microsoft.com/office/drawing/2014/main" id="{20D02D1F-8715-B452-7088-324B03C91955}"/>
              </a:ext>
            </a:extLst>
          </p:cNvPr>
          <p:cNvSpPr/>
          <p:nvPr/>
        </p:nvSpPr>
        <p:spPr>
          <a:xfrm>
            <a:off x="6835831" y="3212868"/>
            <a:ext cx="3793483" cy="1132718"/>
          </a:xfrm>
          <a:prstGeom prst="borderCallout1">
            <a:avLst>
              <a:gd name="adj1" fmla="val 49378"/>
              <a:gd name="adj2" fmla="val -9872"/>
              <a:gd name="adj3" fmla="val 74675"/>
              <a:gd name="adj4" fmla="val -84460"/>
            </a:avLst>
          </a:prstGeom>
          <a:solidFill>
            <a:srgbClr val="DA1F28">
              <a:lumMod val="60000"/>
              <a:lumOff val="40000"/>
            </a:srgbClr>
          </a:solidFill>
          <a:ln w="10000" cap="flat" cmpd="sng" algn="ctr">
            <a:solidFill>
              <a:srgbClr val="DA1F28">
                <a:lumMod val="60000"/>
                <a:lumOff val="40000"/>
              </a:srgbClr>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prstClr val="white"/>
                </a:solidFill>
                <a:effectLst/>
                <a:uLnTx/>
                <a:uFillTx/>
                <a:latin typeface="Tw Cen MT"/>
                <a:ea typeface="+mn-ea"/>
                <a:cs typeface="+mn-cs"/>
              </a:rPr>
              <a:t>Unique risk (non-systematic risk, firm-specific risk)</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prstClr val="white"/>
                </a:solidFill>
                <a:effectLst/>
                <a:uLnTx/>
                <a:uFillTx/>
                <a:latin typeface="Tw Cen MT"/>
                <a:ea typeface="+mn-ea"/>
                <a:cs typeface="+mn-cs"/>
              </a:rPr>
              <a:t>e.g., CEO dies, factory fire</a:t>
            </a:r>
          </a:p>
        </p:txBody>
      </p:sp>
      <p:sp>
        <p:nvSpPr>
          <p:cNvPr id="36" name="Line Callout 1 12">
            <a:extLst>
              <a:ext uri="{FF2B5EF4-FFF2-40B4-BE49-F238E27FC236}">
                <a16:creationId xmlns:a16="http://schemas.microsoft.com/office/drawing/2014/main" id="{9A6603AE-BD21-B696-4597-221B37B84E9A}"/>
              </a:ext>
            </a:extLst>
          </p:cNvPr>
          <p:cNvSpPr/>
          <p:nvPr/>
        </p:nvSpPr>
        <p:spPr>
          <a:xfrm>
            <a:off x="6835831" y="4878797"/>
            <a:ext cx="3793483" cy="912016"/>
          </a:xfrm>
          <a:prstGeom prst="borderCallout1">
            <a:avLst>
              <a:gd name="adj1" fmla="val 50499"/>
              <a:gd name="adj2" fmla="val -8333"/>
              <a:gd name="adj3" fmla="val 51189"/>
              <a:gd name="adj4" fmla="val -84588"/>
            </a:avLst>
          </a:prstGeom>
          <a:solidFill>
            <a:srgbClr val="2DA2BF"/>
          </a:solidFill>
          <a:ln w="19050" cap="flat" cmpd="sng" algn="ctr">
            <a:solidFill>
              <a:srgbClr val="2DA2B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prstClr val="white"/>
                </a:solidFill>
                <a:effectLst/>
                <a:uLnTx/>
                <a:uFillTx/>
                <a:latin typeface="Tw Cen MT"/>
                <a:ea typeface="+mn-ea"/>
                <a:cs typeface="+mn-cs"/>
              </a:rPr>
              <a:t>Market risk (systematic risk)</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200" b="0" i="0" u="none" strike="noStrike" kern="0" cap="none" spc="0" normalizeH="0" baseline="0" noProof="0" dirty="0">
                <a:ln>
                  <a:noFill/>
                </a:ln>
                <a:solidFill>
                  <a:prstClr val="white"/>
                </a:solidFill>
                <a:effectLst/>
                <a:uLnTx/>
                <a:uFillTx/>
                <a:latin typeface="Tw Cen MT"/>
                <a:ea typeface="+mn-ea"/>
                <a:cs typeface="+mn-cs"/>
              </a:rPr>
              <a:t>e.g., interest rate hikes</a:t>
            </a:r>
          </a:p>
        </p:txBody>
      </p:sp>
    </p:spTree>
    <p:extLst>
      <p:ext uri="{BB962C8B-B14F-4D97-AF65-F5344CB8AC3E}">
        <p14:creationId xmlns:p14="http://schemas.microsoft.com/office/powerpoint/2010/main" val="3719165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921369"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rPr>
              <a:t>Modern Portfolio Theory </a:t>
            </a:r>
            <a:r>
              <a:rPr kumimoji="0" lang="en-US" sz="2000" b="1" i="0" u="none" strike="noStrike" kern="1200" cap="none" spc="0" normalizeH="0" baseline="0" noProof="0" dirty="0" err="1">
                <a:ln>
                  <a:noFill/>
                </a:ln>
                <a:solidFill>
                  <a:schemeClr val="bg1"/>
                </a:solidFill>
                <a:effectLst/>
                <a:uLnTx/>
                <a:uFillTx/>
                <a:latin typeface="Calibri" panose="020F0502020204030204"/>
                <a:ea typeface="+mn-ea"/>
                <a:cs typeface="+mn-cs"/>
              </a:rPr>
              <a:t>ll</a:t>
            </a:r>
            <a:endPar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Portfolios of Two Risky Assets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cxnSp>
        <p:nvCxnSpPr>
          <p:cNvPr id="19" name="Straight Connector 18">
            <a:extLst>
              <a:ext uri="{FF2B5EF4-FFF2-40B4-BE49-F238E27FC236}">
                <a16:creationId xmlns:a16="http://schemas.microsoft.com/office/drawing/2014/main" id="{8B523C13-D57B-BD1A-ABA5-553322F9F522}"/>
              </a:ext>
            </a:extLst>
          </p:cNvPr>
          <p:cNvCxnSpPr/>
          <p:nvPr/>
        </p:nvCxnSpPr>
        <p:spPr>
          <a:xfrm>
            <a:off x="5994400" y="2627604"/>
            <a:ext cx="101600" cy="345440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cxnSp>
        <p:nvCxnSpPr>
          <p:cNvPr id="20" name="Straight Connector 19">
            <a:extLst>
              <a:ext uri="{FF2B5EF4-FFF2-40B4-BE49-F238E27FC236}">
                <a16:creationId xmlns:a16="http://schemas.microsoft.com/office/drawing/2014/main" id="{15802392-4191-5FEA-0CD1-5FF59C18292C}"/>
              </a:ext>
            </a:extLst>
          </p:cNvPr>
          <p:cNvCxnSpPr/>
          <p:nvPr/>
        </p:nvCxnSpPr>
        <p:spPr>
          <a:xfrm>
            <a:off x="6096000" y="6082004"/>
            <a:ext cx="4775200" cy="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
        <p:nvSpPr>
          <p:cNvPr id="21" name="Oval 20">
            <a:extLst>
              <a:ext uri="{FF2B5EF4-FFF2-40B4-BE49-F238E27FC236}">
                <a16:creationId xmlns:a16="http://schemas.microsoft.com/office/drawing/2014/main" id="{93C75C49-AB2A-DE5D-1524-C975243E296C}"/>
              </a:ext>
            </a:extLst>
          </p:cNvPr>
          <p:cNvSpPr/>
          <p:nvPr/>
        </p:nvSpPr>
        <p:spPr>
          <a:xfrm>
            <a:off x="7089721" y="5043720"/>
            <a:ext cx="329184" cy="329184"/>
          </a:xfrm>
          <a:prstGeom prst="ellipse">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sp>
        <p:nvSpPr>
          <p:cNvPr id="28" name="Oval 27">
            <a:extLst>
              <a:ext uri="{FF2B5EF4-FFF2-40B4-BE49-F238E27FC236}">
                <a16:creationId xmlns:a16="http://schemas.microsoft.com/office/drawing/2014/main" id="{8F9007CB-78AD-20E9-A301-4DF9D484549A}"/>
              </a:ext>
            </a:extLst>
          </p:cNvPr>
          <p:cNvSpPr/>
          <p:nvPr/>
        </p:nvSpPr>
        <p:spPr>
          <a:xfrm>
            <a:off x="9471079" y="3688172"/>
            <a:ext cx="329184" cy="329184"/>
          </a:xfrm>
          <a:prstGeom prst="ellipse">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cxnSp>
        <p:nvCxnSpPr>
          <p:cNvPr id="29" name="Straight Connector 28">
            <a:extLst>
              <a:ext uri="{FF2B5EF4-FFF2-40B4-BE49-F238E27FC236}">
                <a16:creationId xmlns:a16="http://schemas.microsoft.com/office/drawing/2014/main" id="{CC5003C0-3F01-6A89-F407-0FE99E3B3455}"/>
              </a:ext>
            </a:extLst>
          </p:cNvPr>
          <p:cNvCxnSpPr/>
          <p:nvPr/>
        </p:nvCxnSpPr>
        <p:spPr>
          <a:xfrm flipV="1">
            <a:off x="7315200" y="3948404"/>
            <a:ext cx="2298192" cy="1194816"/>
          </a:xfrm>
          <a:prstGeom prst="line">
            <a:avLst/>
          </a:prstGeom>
          <a:noFill/>
          <a:ln w="19050" cap="flat" cmpd="sng" algn="ctr">
            <a:solidFill>
              <a:srgbClr val="2DA2BF"/>
            </a:solidFill>
            <a:prstDash val="dash"/>
          </a:ln>
          <a:effectLst>
            <a:outerShdw blurRad="38100" dist="30000" dir="5400000" rotWithShape="0">
              <a:srgbClr val="000000">
                <a:alpha val="45000"/>
              </a:srgbClr>
            </a:outerShdw>
          </a:effectLst>
        </p:spPr>
      </p:cxnSp>
      <p:sp>
        <p:nvSpPr>
          <p:cNvPr id="30" name="Freeform 18">
            <a:extLst>
              <a:ext uri="{FF2B5EF4-FFF2-40B4-BE49-F238E27FC236}">
                <a16:creationId xmlns:a16="http://schemas.microsoft.com/office/drawing/2014/main" id="{669FB2DA-027D-A326-B9B2-4F9F96B58A78}"/>
              </a:ext>
            </a:extLst>
          </p:cNvPr>
          <p:cNvSpPr/>
          <p:nvPr/>
        </p:nvSpPr>
        <p:spPr>
          <a:xfrm>
            <a:off x="6718642" y="3785977"/>
            <a:ext cx="2730159" cy="1381628"/>
          </a:xfrm>
          <a:custGeom>
            <a:avLst/>
            <a:gdLst>
              <a:gd name="connsiteX0" fmla="*/ 2047619 w 2047619"/>
              <a:gd name="connsiteY0" fmla="*/ 0 h 1036221"/>
              <a:gd name="connsiteX1" fmla="*/ 727608 w 2047619"/>
              <a:gd name="connsiteY1" fmla="*/ 217273 h 1036221"/>
              <a:gd name="connsiteX2" fmla="*/ 9121 w 2047619"/>
              <a:gd name="connsiteY2" fmla="*/ 618390 h 1036221"/>
              <a:gd name="connsiteX3" fmla="*/ 326592 w 2047619"/>
              <a:gd name="connsiteY3" fmla="*/ 986082 h 1036221"/>
              <a:gd name="connsiteX4" fmla="*/ 393428 w 2047619"/>
              <a:gd name="connsiteY4" fmla="*/ 1002795 h 1036221"/>
              <a:gd name="connsiteX5" fmla="*/ 393428 w 2047619"/>
              <a:gd name="connsiteY5" fmla="*/ 1002795 h 1036221"/>
              <a:gd name="connsiteX6" fmla="*/ 393428 w 2047619"/>
              <a:gd name="connsiteY6" fmla="*/ 1036221 h 1036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47619" h="1036221">
                <a:moveTo>
                  <a:pt x="2047619" y="0"/>
                </a:moveTo>
                <a:cubicBezTo>
                  <a:pt x="1557488" y="57104"/>
                  <a:pt x="1067358" y="114208"/>
                  <a:pt x="727608" y="217273"/>
                </a:cubicBezTo>
                <a:cubicBezTo>
                  <a:pt x="387858" y="320338"/>
                  <a:pt x="75957" y="490255"/>
                  <a:pt x="9121" y="618390"/>
                </a:cubicBezTo>
                <a:cubicBezTo>
                  <a:pt x="-57715" y="746525"/>
                  <a:pt x="262541" y="922014"/>
                  <a:pt x="326592" y="986082"/>
                </a:cubicBezTo>
                <a:cubicBezTo>
                  <a:pt x="390643" y="1050150"/>
                  <a:pt x="393428" y="1002795"/>
                  <a:pt x="393428" y="1002795"/>
                </a:cubicBezTo>
                <a:lnTo>
                  <a:pt x="393428" y="1002795"/>
                </a:lnTo>
                <a:lnTo>
                  <a:pt x="393428" y="1036221"/>
                </a:lnTo>
              </a:path>
            </a:pathLst>
          </a:custGeom>
          <a:noFill/>
          <a:ln w="28575"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Tw Cen MT"/>
              <a:ea typeface="+mn-ea"/>
              <a:cs typeface="+mn-cs"/>
            </a:endParaRPr>
          </a:p>
        </p:txBody>
      </p:sp>
      <p:sp>
        <p:nvSpPr>
          <p:cNvPr id="31" name="TextBox 30">
            <a:extLst>
              <a:ext uri="{FF2B5EF4-FFF2-40B4-BE49-F238E27FC236}">
                <a16:creationId xmlns:a16="http://schemas.microsoft.com/office/drawing/2014/main" id="{BD6CC4B1-910F-15C9-74E9-145C991E3525}"/>
              </a:ext>
            </a:extLst>
          </p:cNvPr>
          <p:cNvSpPr txBox="1"/>
          <p:nvPr/>
        </p:nvSpPr>
        <p:spPr>
          <a:xfrm>
            <a:off x="5283200" y="2627605"/>
            <a:ext cx="914400" cy="543675"/>
          </a:xfrm>
          <a:prstGeom prst="rect">
            <a:avLst/>
          </a:prstGeom>
          <a:noFill/>
        </p:spPr>
        <p:txBody>
          <a:bodyPr wrap="square" rtlCol="0">
            <a:spAutoFit/>
          </a:bodyPr>
          <a:lstStyle/>
          <a:p>
            <a:pPr defTabSz="1219170"/>
            <a:r>
              <a:rPr lang="en-US" sz="2933" dirty="0">
                <a:solidFill>
                  <a:prstClr val="black"/>
                </a:solidFill>
                <a:latin typeface="Tw Cen MT"/>
              </a:rPr>
              <a:t>E(r)</a:t>
            </a:r>
          </a:p>
        </p:txBody>
      </p:sp>
      <p:sp>
        <p:nvSpPr>
          <p:cNvPr id="32" name="TextBox 31">
            <a:extLst>
              <a:ext uri="{FF2B5EF4-FFF2-40B4-BE49-F238E27FC236}">
                <a16:creationId xmlns:a16="http://schemas.microsoft.com/office/drawing/2014/main" id="{7C84A5A2-0DBB-95A6-A9B4-C2FF1E5BD1C7}"/>
              </a:ext>
            </a:extLst>
          </p:cNvPr>
          <p:cNvSpPr txBox="1"/>
          <p:nvPr/>
        </p:nvSpPr>
        <p:spPr>
          <a:xfrm>
            <a:off x="10261600" y="6082004"/>
            <a:ext cx="914400" cy="543675"/>
          </a:xfrm>
          <a:prstGeom prst="rect">
            <a:avLst/>
          </a:prstGeom>
          <a:noFill/>
        </p:spPr>
        <p:txBody>
          <a:bodyPr wrap="square" rtlCol="0">
            <a:spAutoFit/>
          </a:bodyPr>
          <a:lstStyle/>
          <a:p>
            <a:pPr defTabSz="1219170"/>
            <a:r>
              <a:rPr lang="en-US" sz="2933" dirty="0">
                <a:solidFill>
                  <a:prstClr val="black"/>
                </a:solidFill>
                <a:latin typeface="Tw Cen MT"/>
              </a:rPr>
              <a:t>Std.</a:t>
            </a:r>
          </a:p>
        </p:txBody>
      </p:sp>
      <p:sp>
        <p:nvSpPr>
          <p:cNvPr id="34" name="Freeform 4">
            <a:extLst>
              <a:ext uri="{FF2B5EF4-FFF2-40B4-BE49-F238E27FC236}">
                <a16:creationId xmlns:a16="http://schemas.microsoft.com/office/drawing/2014/main" id="{2FD62434-9919-C603-BC82-FD6CDC277555}"/>
              </a:ext>
            </a:extLst>
          </p:cNvPr>
          <p:cNvSpPr/>
          <p:nvPr/>
        </p:nvSpPr>
        <p:spPr>
          <a:xfrm>
            <a:off x="6284256" y="3192636"/>
            <a:ext cx="2250145" cy="1069648"/>
          </a:xfrm>
          <a:custGeom>
            <a:avLst/>
            <a:gdLst>
              <a:gd name="connsiteX0" fmla="*/ 0 w 1687609"/>
              <a:gd name="connsiteY0" fmla="*/ 802236 h 802236"/>
              <a:gd name="connsiteX1" fmla="*/ 952413 w 1687609"/>
              <a:gd name="connsiteY1" fmla="*/ 635103 h 802236"/>
              <a:gd name="connsiteX2" fmla="*/ 1687609 w 1687609"/>
              <a:gd name="connsiteY2" fmla="*/ 0 h 802236"/>
            </a:gdLst>
            <a:ahLst/>
            <a:cxnLst>
              <a:cxn ang="0">
                <a:pos x="connsiteX0" y="connsiteY0"/>
              </a:cxn>
              <a:cxn ang="0">
                <a:pos x="connsiteX1" y="connsiteY1"/>
              </a:cxn>
              <a:cxn ang="0">
                <a:pos x="connsiteX2" y="connsiteY2"/>
              </a:cxn>
            </a:cxnLst>
            <a:rect l="l" t="t" r="r" b="b"/>
            <a:pathLst>
              <a:path w="1687609" h="802236">
                <a:moveTo>
                  <a:pt x="0" y="802236"/>
                </a:moveTo>
                <a:cubicBezTo>
                  <a:pt x="335572" y="785522"/>
                  <a:pt x="671145" y="768809"/>
                  <a:pt x="952413" y="635103"/>
                </a:cubicBezTo>
                <a:cubicBezTo>
                  <a:pt x="1233681" y="501397"/>
                  <a:pt x="1687609" y="0"/>
                  <a:pt x="1687609" y="0"/>
                </a:cubicBezTo>
              </a:path>
            </a:pathLst>
          </a:custGeom>
          <a:noFill/>
          <a:ln w="19050" cap="flat" cmpd="sng" algn="ctr">
            <a:solidFill>
              <a:sysClr val="windowText" lastClr="000000"/>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w Cen MT"/>
              <a:ea typeface="+mn-ea"/>
              <a:cs typeface="+mn-cs"/>
            </a:endParaRPr>
          </a:p>
        </p:txBody>
      </p:sp>
      <p:sp>
        <p:nvSpPr>
          <p:cNvPr id="37" name="Freeform 14">
            <a:extLst>
              <a:ext uri="{FF2B5EF4-FFF2-40B4-BE49-F238E27FC236}">
                <a16:creationId xmlns:a16="http://schemas.microsoft.com/office/drawing/2014/main" id="{A0D17B3C-E89A-9AED-E786-B74C7CC2BDFA}"/>
              </a:ext>
            </a:extLst>
          </p:cNvPr>
          <p:cNvSpPr/>
          <p:nvPr/>
        </p:nvSpPr>
        <p:spPr>
          <a:xfrm>
            <a:off x="6096001" y="2919940"/>
            <a:ext cx="2250145" cy="1069648"/>
          </a:xfrm>
          <a:custGeom>
            <a:avLst/>
            <a:gdLst>
              <a:gd name="connsiteX0" fmla="*/ 0 w 1687609"/>
              <a:gd name="connsiteY0" fmla="*/ 802236 h 802236"/>
              <a:gd name="connsiteX1" fmla="*/ 952413 w 1687609"/>
              <a:gd name="connsiteY1" fmla="*/ 635103 h 802236"/>
              <a:gd name="connsiteX2" fmla="*/ 1687609 w 1687609"/>
              <a:gd name="connsiteY2" fmla="*/ 0 h 802236"/>
            </a:gdLst>
            <a:ahLst/>
            <a:cxnLst>
              <a:cxn ang="0">
                <a:pos x="connsiteX0" y="connsiteY0"/>
              </a:cxn>
              <a:cxn ang="0">
                <a:pos x="connsiteX1" y="connsiteY1"/>
              </a:cxn>
              <a:cxn ang="0">
                <a:pos x="connsiteX2" y="connsiteY2"/>
              </a:cxn>
            </a:cxnLst>
            <a:rect l="l" t="t" r="r" b="b"/>
            <a:pathLst>
              <a:path w="1687609" h="802236">
                <a:moveTo>
                  <a:pt x="0" y="802236"/>
                </a:moveTo>
                <a:cubicBezTo>
                  <a:pt x="335572" y="785522"/>
                  <a:pt x="671145" y="768809"/>
                  <a:pt x="952413" y="635103"/>
                </a:cubicBezTo>
                <a:cubicBezTo>
                  <a:pt x="1233681" y="501397"/>
                  <a:pt x="1687609" y="0"/>
                  <a:pt x="1687609" y="0"/>
                </a:cubicBezTo>
              </a:path>
            </a:pathLst>
          </a:custGeom>
          <a:noFill/>
          <a:ln w="19050" cap="flat" cmpd="sng" algn="ctr">
            <a:solidFill>
              <a:sysClr val="windowText" lastClr="000000"/>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w Cen MT"/>
              <a:ea typeface="+mn-ea"/>
              <a:cs typeface="+mn-cs"/>
            </a:endParaRPr>
          </a:p>
        </p:txBody>
      </p:sp>
      <p:sp>
        <p:nvSpPr>
          <p:cNvPr id="38" name="Freeform 16">
            <a:extLst>
              <a:ext uri="{FF2B5EF4-FFF2-40B4-BE49-F238E27FC236}">
                <a16:creationId xmlns:a16="http://schemas.microsoft.com/office/drawing/2014/main" id="{E5A9CDF5-E9D4-3200-CA1F-EC7665E2102C}"/>
              </a:ext>
            </a:extLst>
          </p:cNvPr>
          <p:cNvSpPr/>
          <p:nvPr/>
        </p:nvSpPr>
        <p:spPr>
          <a:xfrm>
            <a:off x="5994401" y="2627604"/>
            <a:ext cx="2250145" cy="1069648"/>
          </a:xfrm>
          <a:custGeom>
            <a:avLst/>
            <a:gdLst>
              <a:gd name="connsiteX0" fmla="*/ 0 w 1687609"/>
              <a:gd name="connsiteY0" fmla="*/ 802236 h 802236"/>
              <a:gd name="connsiteX1" fmla="*/ 952413 w 1687609"/>
              <a:gd name="connsiteY1" fmla="*/ 635103 h 802236"/>
              <a:gd name="connsiteX2" fmla="*/ 1687609 w 1687609"/>
              <a:gd name="connsiteY2" fmla="*/ 0 h 802236"/>
            </a:gdLst>
            <a:ahLst/>
            <a:cxnLst>
              <a:cxn ang="0">
                <a:pos x="connsiteX0" y="connsiteY0"/>
              </a:cxn>
              <a:cxn ang="0">
                <a:pos x="connsiteX1" y="connsiteY1"/>
              </a:cxn>
              <a:cxn ang="0">
                <a:pos x="connsiteX2" y="connsiteY2"/>
              </a:cxn>
            </a:cxnLst>
            <a:rect l="l" t="t" r="r" b="b"/>
            <a:pathLst>
              <a:path w="1687609" h="802236">
                <a:moveTo>
                  <a:pt x="0" y="802236"/>
                </a:moveTo>
                <a:cubicBezTo>
                  <a:pt x="335572" y="785522"/>
                  <a:pt x="671145" y="768809"/>
                  <a:pt x="952413" y="635103"/>
                </a:cubicBezTo>
                <a:cubicBezTo>
                  <a:pt x="1233681" y="501397"/>
                  <a:pt x="1687609" y="0"/>
                  <a:pt x="1687609" y="0"/>
                </a:cubicBezTo>
              </a:path>
            </a:pathLst>
          </a:custGeom>
          <a:noFill/>
          <a:ln w="19050" cap="flat" cmpd="sng" algn="ctr">
            <a:solidFill>
              <a:sysClr val="windowText" lastClr="000000"/>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w Cen MT"/>
              <a:ea typeface="+mn-ea"/>
              <a:cs typeface="+mn-cs"/>
            </a:endParaRPr>
          </a:p>
        </p:txBody>
      </p:sp>
      <p:sp>
        <p:nvSpPr>
          <p:cNvPr id="39" name="Oval 38">
            <a:extLst>
              <a:ext uri="{FF2B5EF4-FFF2-40B4-BE49-F238E27FC236}">
                <a16:creationId xmlns:a16="http://schemas.microsoft.com/office/drawing/2014/main" id="{E1DC5982-1705-6B87-EBBC-8814C3C18A48}"/>
              </a:ext>
            </a:extLst>
          </p:cNvPr>
          <p:cNvSpPr/>
          <p:nvPr/>
        </p:nvSpPr>
        <p:spPr>
          <a:xfrm>
            <a:off x="6604001" y="4456404"/>
            <a:ext cx="327079" cy="317264"/>
          </a:xfrm>
          <a:prstGeom prst="ellipse">
            <a:avLst/>
          </a:prstGeom>
          <a:solidFill>
            <a:srgbClr val="DA1F28"/>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sp>
        <p:nvSpPr>
          <p:cNvPr id="40" name="Oval 39">
            <a:extLst>
              <a:ext uri="{FF2B5EF4-FFF2-40B4-BE49-F238E27FC236}">
                <a16:creationId xmlns:a16="http://schemas.microsoft.com/office/drawing/2014/main" id="{C4435EF6-ABED-3F5B-05EB-113E38EE74F6}"/>
              </a:ext>
            </a:extLst>
          </p:cNvPr>
          <p:cNvSpPr/>
          <p:nvPr/>
        </p:nvSpPr>
        <p:spPr>
          <a:xfrm>
            <a:off x="7292922" y="3948404"/>
            <a:ext cx="327079" cy="317264"/>
          </a:xfrm>
          <a:prstGeom prst="ellipse">
            <a:avLst/>
          </a:prstGeom>
          <a:solidFill>
            <a:srgbClr val="DA1F28"/>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sp>
        <p:nvSpPr>
          <p:cNvPr id="2" name="TextBox 1">
            <a:extLst>
              <a:ext uri="{FF2B5EF4-FFF2-40B4-BE49-F238E27FC236}">
                <a16:creationId xmlns:a16="http://schemas.microsoft.com/office/drawing/2014/main" id="{52590FF9-AB4D-985B-4A1C-320BF8808102}"/>
              </a:ext>
            </a:extLst>
          </p:cNvPr>
          <p:cNvSpPr txBox="1"/>
          <p:nvPr/>
        </p:nvSpPr>
        <p:spPr>
          <a:xfrm>
            <a:off x="160021" y="637413"/>
            <a:ext cx="5390808" cy="1564531"/>
          </a:xfrm>
          <a:prstGeom prst="rect">
            <a:avLst/>
          </a:prstGeom>
          <a:noFill/>
        </p:spPr>
        <p:txBody>
          <a:bodyPr wrap="square">
            <a:spAutoFit/>
          </a:bodyPr>
          <a:lstStyle/>
          <a:p>
            <a:pPr marL="320040" indent="-320040">
              <a:spcBef>
                <a:spcPts val="700"/>
              </a:spcBef>
              <a:buClr>
                <a:srgbClr val="DA1F28"/>
              </a:buClr>
              <a:buSzPct val="60000"/>
              <a:buFont typeface="Wingdings"/>
              <a:buChar char=""/>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Portfolio of Two Risky Assets:</a:t>
            </a:r>
          </a:p>
          <a:p>
            <a:pPr marL="971550" lvl="1" indent="-514350">
              <a:spcBef>
                <a:spcPts val="700"/>
              </a:spcBef>
              <a:buClr>
                <a:srgbClr val="DA1F28"/>
              </a:buClr>
              <a:buSzPct val="60000"/>
              <a:buFont typeface="+mj-lt"/>
              <a:buAutoNum type="arabicPeriod"/>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Minimum variance portfolio</a:t>
            </a:r>
          </a:p>
          <a:p>
            <a:pPr marL="971550" lvl="1" indent="-514350">
              <a:spcBef>
                <a:spcPts val="700"/>
              </a:spcBef>
              <a:buClr>
                <a:srgbClr val="DA1F28"/>
              </a:buClr>
              <a:buSzPct val="60000"/>
              <a:buFont typeface="+mj-lt"/>
              <a:buAutoNum type="arabicPeriod"/>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Optimal complete portfolio</a:t>
            </a:r>
          </a:p>
        </p:txBody>
      </p:sp>
    </p:spTree>
    <p:extLst>
      <p:ext uri="{BB962C8B-B14F-4D97-AF65-F5344CB8AC3E}">
        <p14:creationId xmlns:p14="http://schemas.microsoft.com/office/powerpoint/2010/main" val="605868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921369"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rPr>
              <a:t>Modern Portfolio Theory </a:t>
            </a:r>
            <a:r>
              <a:rPr kumimoji="0" lang="en-US" sz="2000" b="1" i="0" u="none" strike="noStrike" kern="1200" cap="none" spc="0" normalizeH="0" baseline="0" noProof="0" dirty="0" err="1">
                <a:ln>
                  <a:noFill/>
                </a:ln>
                <a:solidFill>
                  <a:schemeClr val="bg1"/>
                </a:solidFill>
                <a:effectLst/>
                <a:uLnTx/>
                <a:uFillTx/>
                <a:latin typeface="Calibri" panose="020F0502020204030204"/>
                <a:ea typeface="+mn-ea"/>
                <a:cs typeface="+mn-cs"/>
              </a:rPr>
              <a:t>ll</a:t>
            </a:r>
            <a:endPar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Portfolios of Two Risky Assets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3" name="TextBox 2">
            <a:extLst>
              <a:ext uri="{FF2B5EF4-FFF2-40B4-BE49-F238E27FC236}">
                <a16:creationId xmlns:a16="http://schemas.microsoft.com/office/drawing/2014/main" id="{A4EDAFD1-AA85-1B03-8FBC-68DF4240F505}"/>
              </a:ext>
            </a:extLst>
          </p:cNvPr>
          <p:cNvSpPr txBox="1"/>
          <p:nvPr/>
        </p:nvSpPr>
        <p:spPr>
          <a:xfrm>
            <a:off x="186289" y="591283"/>
            <a:ext cx="8678779" cy="523220"/>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Two risky assets: bond (D) and stock (E)</a:t>
            </a:r>
          </a:p>
        </p:txBody>
      </p:sp>
      <p:graphicFrame>
        <p:nvGraphicFramePr>
          <p:cNvPr id="4" name="Content Placeholder 3">
            <a:extLst>
              <a:ext uri="{FF2B5EF4-FFF2-40B4-BE49-F238E27FC236}">
                <a16:creationId xmlns:a16="http://schemas.microsoft.com/office/drawing/2014/main" id="{F23062E3-1353-C52D-918E-E524D527AD01}"/>
              </a:ext>
            </a:extLst>
          </p:cNvPr>
          <p:cNvGraphicFramePr>
            <a:graphicFrameLocks noChangeAspect="1"/>
          </p:cNvGraphicFramePr>
          <p:nvPr>
            <p:extLst>
              <p:ext uri="{D42A27DB-BD31-4B8C-83A1-F6EECF244321}">
                <p14:modId xmlns:p14="http://schemas.microsoft.com/office/powerpoint/2010/main" val="2431358284"/>
              </p:ext>
            </p:extLst>
          </p:nvPr>
        </p:nvGraphicFramePr>
        <p:xfrm>
          <a:off x="1020751" y="1311066"/>
          <a:ext cx="4576041" cy="894249"/>
        </p:xfrm>
        <a:graphic>
          <a:graphicData uri="http://schemas.openxmlformats.org/presentationml/2006/ole">
            <mc:AlternateContent xmlns:mc="http://schemas.openxmlformats.org/markup-compatibility/2006">
              <mc:Choice xmlns:v="urn:schemas-microsoft-com:vml" Requires="v">
                <p:oleObj name="Equation" r:id="rId3" imgW="1168400" imgH="228600" progId="Equation.3">
                  <p:embed/>
                </p:oleObj>
              </mc:Choice>
              <mc:Fallback>
                <p:oleObj name="Equation" r:id="rId3" imgW="1168400" imgH="228600" progId="Equation.3">
                  <p:embed/>
                  <p:pic>
                    <p:nvPicPr>
                      <p:cNvPr id="4" name="Content Placeholder 3">
                        <a:extLst>
                          <a:ext uri="{FF2B5EF4-FFF2-40B4-BE49-F238E27FC236}">
                            <a16:creationId xmlns:a16="http://schemas.microsoft.com/office/drawing/2014/main" id="{F23062E3-1353-C52D-918E-E524D527AD01}"/>
                          </a:ext>
                        </a:extLst>
                      </p:cNvPr>
                      <p:cNvPicPr/>
                      <p:nvPr/>
                    </p:nvPicPr>
                    <p:blipFill>
                      <a:blip r:embed="rId4"/>
                      <a:stretch>
                        <a:fillRect/>
                      </a:stretch>
                    </p:blipFill>
                    <p:spPr>
                      <a:xfrm>
                        <a:off x="1020751" y="1311066"/>
                        <a:ext cx="4576041" cy="894249"/>
                      </a:xfrm>
                      <a:prstGeom prst="rect">
                        <a:avLst/>
                      </a:prstGeom>
                    </p:spPr>
                  </p:pic>
                </p:oleObj>
              </mc:Fallback>
            </mc:AlternateContent>
          </a:graphicData>
        </a:graphic>
      </p:graphicFrame>
      <p:graphicFrame>
        <p:nvGraphicFramePr>
          <p:cNvPr id="6" name="Content Placeholder 3">
            <a:extLst>
              <a:ext uri="{FF2B5EF4-FFF2-40B4-BE49-F238E27FC236}">
                <a16:creationId xmlns:a16="http://schemas.microsoft.com/office/drawing/2014/main" id="{3AE5FEAD-BBB2-099F-D636-11C428C1BFA9}"/>
              </a:ext>
            </a:extLst>
          </p:cNvPr>
          <p:cNvGraphicFramePr>
            <a:graphicFrameLocks noChangeAspect="1"/>
          </p:cNvGraphicFramePr>
          <p:nvPr>
            <p:extLst>
              <p:ext uri="{D42A27DB-BD31-4B8C-83A1-F6EECF244321}">
                <p14:modId xmlns:p14="http://schemas.microsoft.com/office/powerpoint/2010/main" val="1163083096"/>
              </p:ext>
            </p:extLst>
          </p:nvPr>
        </p:nvGraphicFramePr>
        <p:xfrm>
          <a:off x="914400" y="2258475"/>
          <a:ext cx="5589350" cy="707886"/>
        </p:xfrm>
        <a:graphic>
          <a:graphicData uri="http://schemas.openxmlformats.org/presentationml/2006/ole">
            <mc:AlternateContent xmlns:mc="http://schemas.openxmlformats.org/markup-compatibility/2006">
              <mc:Choice xmlns:v="urn:schemas-microsoft-com:vml" Requires="v">
                <p:oleObj name="Equation" r:id="rId5" imgW="1803400" imgH="228600" progId="Equation.3">
                  <p:embed/>
                </p:oleObj>
              </mc:Choice>
              <mc:Fallback>
                <p:oleObj name="Equation" r:id="rId5" imgW="1803400" imgH="228600" progId="Equation.3">
                  <p:embed/>
                  <p:pic>
                    <p:nvPicPr>
                      <p:cNvPr id="6" name="Content Placeholder 3">
                        <a:extLst>
                          <a:ext uri="{FF2B5EF4-FFF2-40B4-BE49-F238E27FC236}">
                            <a16:creationId xmlns:a16="http://schemas.microsoft.com/office/drawing/2014/main" id="{3AE5FEAD-BBB2-099F-D636-11C428C1BFA9}"/>
                          </a:ext>
                        </a:extLst>
                      </p:cNvPr>
                      <p:cNvPicPr/>
                      <p:nvPr/>
                    </p:nvPicPr>
                    <p:blipFill>
                      <a:blip r:embed="rId6"/>
                      <a:stretch>
                        <a:fillRect/>
                      </a:stretch>
                    </p:blipFill>
                    <p:spPr>
                      <a:xfrm>
                        <a:off x="914400" y="2258475"/>
                        <a:ext cx="5589350" cy="707886"/>
                      </a:xfrm>
                      <a:prstGeom prst="rect">
                        <a:avLst/>
                      </a:prstGeom>
                    </p:spPr>
                  </p:pic>
                </p:oleObj>
              </mc:Fallback>
            </mc:AlternateContent>
          </a:graphicData>
        </a:graphic>
      </p:graphicFrame>
      <p:graphicFrame>
        <p:nvGraphicFramePr>
          <p:cNvPr id="9" name="Content Placeholder 3">
            <a:extLst>
              <a:ext uri="{FF2B5EF4-FFF2-40B4-BE49-F238E27FC236}">
                <a16:creationId xmlns:a16="http://schemas.microsoft.com/office/drawing/2014/main" id="{D5BF3B05-2DC4-DDC1-0722-2775D3FF38FA}"/>
              </a:ext>
            </a:extLst>
          </p:cNvPr>
          <p:cNvGraphicFramePr>
            <a:graphicFrameLocks noChangeAspect="1"/>
          </p:cNvGraphicFramePr>
          <p:nvPr>
            <p:extLst>
              <p:ext uri="{D42A27DB-BD31-4B8C-83A1-F6EECF244321}">
                <p14:modId xmlns:p14="http://schemas.microsoft.com/office/powerpoint/2010/main" val="280363272"/>
              </p:ext>
            </p:extLst>
          </p:nvPr>
        </p:nvGraphicFramePr>
        <p:xfrm>
          <a:off x="967343" y="3072680"/>
          <a:ext cx="9258899" cy="849312"/>
        </p:xfrm>
        <a:graphic>
          <a:graphicData uri="http://schemas.openxmlformats.org/presentationml/2006/ole">
            <mc:AlternateContent xmlns:mc="http://schemas.openxmlformats.org/markup-compatibility/2006">
              <mc:Choice xmlns:v="urn:schemas-microsoft-com:vml" Requires="v">
                <p:oleObj name="Equation" r:id="rId7" imgW="2768600" imgH="254000" progId="Equation.3">
                  <p:embed/>
                </p:oleObj>
              </mc:Choice>
              <mc:Fallback>
                <p:oleObj name="Equation" r:id="rId7" imgW="2768600" imgH="254000" progId="Equation.3">
                  <p:embed/>
                  <p:pic>
                    <p:nvPicPr>
                      <p:cNvPr id="9" name="Content Placeholder 3">
                        <a:extLst>
                          <a:ext uri="{FF2B5EF4-FFF2-40B4-BE49-F238E27FC236}">
                            <a16:creationId xmlns:a16="http://schemas.microsoft.com/office/drawing/2014/main" id="{D5BF3B05-2DC4-DDC1-0722-2775D3FF38FA}"/>
                          </a:ext>
                        </a:extLst>
                      </p:cNvPr>
                      <p:cNvPicPr/>
                      <p:nvPr/>
                    </p:nvPicPr>
                    <p:blipFill>
                      <a:blip r:embed="rId8"/>
                      <a:stretch>
                        <a:fillRect/>
                      </a:stretch>
                    </p:blipFill>
                    <p:spPr>
                      <a:xfrm>
                        <a:off x="967343" y="3072680"/>
                        <a:ext cx="9258899" cy="849312"/>
                      </a:xfrm>
                      <a:prstGeom prst="rect">
                        <a:avLst/>
                      </a:prstGeom>
                    </p:spPr>
                  </p:pic>
                </p:oleObj>
              </mc:Fallback>
            </mc:AlternateContent>
          </a:graphicData>
        </a:graphic>
      </p:graphicFrame>
      <p:graphicFrame>
        <p:nvGraphicFramePr>
          <p:cNvPr id="10" name="Content Placeholder 3">
            <a:extLst>
              <a:ext uri="{FF2B5EF4-FFF2-40B4-BE49-F238E27FC236}">
                <a16:creationId xmlns:a16="http://schemas.microsoft.com/office/drawing/2014/main" id="{77E4E915-43AA-87A0-BE7A-9A5597B271C3}"/>
              </a:ext>
            </a:extLst>
          </p:cNvPr>
          <p:cNvGraphicFramePr>
            <a:graphicFrameLocks noChangeAspect="1"/>
          </p:cNvGraphicFramePr>
          <p:nvPr>
            <p:extLst>
              <p:ext uri="{D42A27DB-BD31-4B8C-83A1-F6EECF244321}">
                <p14:modId xmlns:p14="http://schemas.microsoft.com/office/powerpoint/2010/main" val="1732752714"/>
              </p:ext>
            </p:extLst>
          </p:nvPr>
        </p:nvGraphicFramePr>
        <p:xfrm>
          <a:off x="967343" y="4121711"/>
          <a:ext cx="9379815" cy="826321"/>
        </p:xfrm>
        <a:graphic>
          <a:graphicData uri="http://schemas.openxmlformats.org/presentationml/2006/ole">
            <mc:AlternateContent xmlns:mc="http://schemas.openxmlformats.org/markup-compatibility/2006">
              <mc:Choice xmlns:v="urn:schemas-microsoft-com:vml" Requires="v">
                <p:oleObj name="Equation" r:id="rId9" imgW="2882900" imgH="254000" progId="Equation.3">
                  <p:embed/>
                </p:oleObj>
              </mc:Choice>
              <mc:Fallback>
                <p:oleObj name="Equation" r:id="rId9" imgW="2882900" imgH="254000" progId="Equation.3">
                  <p:embed/>
                  <p:pic>
                    <p:nvPicPr>
                      <p:cNvPr id="10" name="Content Placeholder 3">
                        <a:extLst>
                          <a:ext uri="{FF2B5EF4-FFF2-40B4-BE49-F238E27FC236}">
                            <a16:creationId xmlns:a16="http://schemas.microsoft.com/office/drawing/2014/main" id="{77E4E915-43AA-87A0-BE7A-9A5597B271C3}"/>
                          </a:ext>
                        </a:extLst>
                      </p:cNvPr>
                      <p:cNvPicPr/>
                      <p:nvPr/>
                    </p:nvPicPr>
                    <p:blipFill>
                      <a:blip r:embed="rId10"/>
                      <a:stretch>
                        <a:fillRect/>
                      </a:stretch>
                    </p:blipFill>
                    <p:spPr>
                      <a:xfrm>
                        <a:off x="967343" y="4121711"/>
                        <a:ext cx="9379815" cy="826321"/>
                      </a:xfrm>
                      <a:prstGeom prst="rect">
                        <a:avLst/>
                      </a:prstGeom>
                    </p:spPr>
                  </p:pic>
                </p:oleObj>
              </mc:Fallback>
            </mc:AlternateContent>
          </a:graphicData>
        </a:graphic>
      </p:graphicFrame>
      <p:sp>
        <p:nvSpPr>
          <p:cNvPr id="11" name="5-Point Star 7">
            <a:extLst>
              <a:ext uri="{FF2B5EF4-FFF2-40B4-BE49-F238E27FC236}">
                <a16:creationId xmlns:a16="http://schemas.microsoft.com/office/drawing/2014/main" id="{DE473EB9-6204-ECB7-48BA-98370A240F04}"/>
              </a:ext>
            </a:extLst>
          </p:cNvPr>
          <p:cNvSpPr/>
          <p:nvPr/>
        </p:nvSpPr>
        <p:spPr>
          <a:xfrm>
            <a:off x="300789" y="2275843"/>
            <a:ext cx="465221" cy="381000"/>
          </a:xfrm>
          <a:prstGeom prst="star5">
            <a:avLst/>
          </a:prstGeom>
          <a:solidFill>
            <a:srgbClr val="DA1F28">
              <a:lumMod val="40000"/>
              <a:lumOff val="60000"/>
            </a:srgbClr>
          </a:solidFill>
          <a:ln w="10000" cap="flat" cmpd="sng" algn="ctr">
            <a:solidFill>
              <a:srgbClr val="DA1F28">
                <a:lumMod val="40000"/>
                <a:lumOff val="60000"/>
              </a:srgbClr>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Tw Cen MT"/>
              <a:ea typeface="+mn-ea"/>
              <a:cs typeface="+mn-cs"/>
            </a:endParaRPr>
          </a:p>
        </p:txBody>
      </p:sp>
      <p:sp>
        <p:nvSpPr>
          <p:cNvPr id="13" name="5-Point Star 7">
            <a:extLst>
              <a:ext uri="{FF2B5EF4-FFF2-40B4-BE49-F238E27FC236}">
                <a16:creationId xmlns:a16="http://schemas.microsoft.com/office/drawing/2014/main" id="{B836E200-D38D-5253-9F63-30A3A16CB07F}"/>
              </a:ext>
            </a:extLst>
          </p:cNvPr>
          <p:cNvSpPr/>
          <p:nvPr/>
        </p:nvSpPr>
        <p:spPr>
          <a:xfrm>
            <a:off x="342899" y="3306836"/>
            <a:ext cx="381000" cy="381000"/>
          </a:xfrm>
          <a:prstGeom prst="star5">
            <a:avLst/>
          </a:prstGeom>
          <a:solidFill>
            <a:srgbClr val="DA1F28">
              <a:lumMod val="40000"/>
              <a:lumOff val="60000"/>
            </a:srgbClr>
          </a:solidFill>
          <a:ln w="10000" cap="flat" cmpd="sng" algn="ctr">
            <a:solidFill>
              <a:srgbClr val="DA1F28">
                <a:lumMod val="40000"/>
                <a:lumOff val="60000"/>
              </a:srgbClr>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Tw Cen MT"/>
              <a:ea typeface="+mn-ea"/>
              <a:cs typeface="+mn-cs"/>
            </a:endParaRPr>
          </a:p>
        </p:txBody>
      </p:sp>
    </p:spTree>
    <p:extLst>
      <p:ext uri="{BB962C8B-B14F-4D97-AF65-F5344CB8AC3E}">
        <p14:creationId xmlns:p14="http://schemas.microsoft.com/office/powerpoint/2010/main" val="40173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921369"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rPr>
              <a:t>Modern Portfolio Theory </a:t>
            </a:r>
            <a:r>
              <a:rPr kumimoji="0" lang="en-US" sz="2000" b="1" i="0" u="none" strike="noStrike" kern="1200" cap="none" spc="0" normalizeH="0" baseline="0" noProof="0" dirty="0" err="1">
                <a:ln>
                  <a:noFill/>
                </a:ln>
                <a:solidFill>
                  <a:schemeClr val="bg1"/>
                </a:solidFill>
                <a:effectLst/>
                <a:uLnTx/>
                <a:uFillTx/>
                <a:latin typeface="Calibri" panose="020F0502020204030204"/>
                <a:ea typeface="+mn-ea"/>
                <a:cs typeface="+mn-cs"/>
              </a:rPr>
              <a:t>ll</a:t>
            </a:r>
            <a:endPar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Portfolios of Two Risky Assets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3" name="TextBox 2">
            <a:extLst>
              <a:ext uri="{FF2B5EF4-FFF2-40B4-BE49-F238E27FC236}">
                <a16:creationId xmlns:a16="http://schemas.microsoft.com/office/drawing/2014/main" id="{A4EDAFD1-AA85-1B03-8FBC-68DF4240F505}"/>
              </a:ext>
            </a:extLst>
          </p:cNvPr>
          <p:cNvSpPr txBox="1"/>
          <p:nvPr/>
        </p:nvSpPr>
        <p:spPr>
          <a:xfrm>
            <a:off x="106279" y="597484"/>
            <a:ext cx="10914022" cy="4688463"/>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Solving for the minimum variance portfolio</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R="0" lvl="0" algn="l" defTabSz="914400" rtl="0" eaLnBrk="1" fontAlgn="auto" latinLnBrk="0" hangingPunct="1">
              <a:lnSpc>
                <a:spcPct val="100000"/>
              </a:lnSpc>
              <a:spcBef>
                <a:spcPts val="700"/>
              </a:spcBef>
              <a:spcAft>
                <a:spcPts val="0"/>
              </a:spcAft>
              <a:buClr>
                <a:srgbClr val="DA1F28"/>
              </a:buClr>
              <a:buSzPct val="60000"/>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320040" indent="-320040">
              <a:spcBef>
                <a:spcPts val="700"/>
              </a:spcBef>
              <a:buClr>
                <a:srgbClr val="DA1F28"/>
              </a:buClr>
              <a:buSzPct val="60000"/>
              <a:buFont typeface="Wingdings"/>
              <a:buChar char=""/>
              <a:defRPr/>
            </a:pPr>
            <a:r>
              <a:rPr lang="en-US" sz="2800" dirty="0">
                <a:solidFill>
                  <a:prstClr val="black"/>
                </a:solidFill>
                <a:latin typeface="Tw Cen MT"/>
              </a:rPr>
              <a:t>First-order condition:</a:t>
            </a:r>
          </a:p>
          <a:p>
            <a:pPr>
              <a:spcBef>
                <a:spcPts val="700"/>
              </a:spcBef>
              <a:buClr>
                <a:srgbClr val="DA1F28"/>
              </a:buClr>
              <a:buSzPct val="60000"/>
              <a:defRPr/>
            </a:pPr>
            <a:r>
              <a:rPr lang="en-US" sz="2800" kern="100" dirty="0">
                <a:solidFill>
                  <a:prstClr val="black"/>
                </a:solidFill>
                <a:effectLst/>
                <a:latin typeface="Tw Cen MT"/>
                <a:ea typeface="PMingLiU" panose="02020500000000000000" pitchFamily="18" charset="-120"/>
                <a:cs typeface="Times New Roman" panose="02020603050405020304" pitchFamily="18" charset="0"/>
              </a:rPr>
              <a:t>      </a:t>
            </a:r>
          </a:p>
          <a:p>
            <a:pPr>
              <a:spcBef>
                <a:spcPts val="700"/>
              </a:spcBef>
              <a:buClr>
                <a:srgbClr val="DA1F28"/>
              </a:buClr>
              <a:buSzPct val="60000"/>
              <a:defRPr/>
            </a:pPr>
            <a:endParaRPr lang="en-US" sz="2800" dirty="0">
              <a:solidFill>
                <a:prstClr val="black"/>
              </a:solidFill>
              <a:latin typeface="Tw Cen MT"/>
            </a:endParaRPr>
          </a:p>
          <a:p>
            <a:pPr>
              <a:spcBef>
                <a:spcPts val="700"/>
              </a:spcBef>
              <a:buClr>
                <a:srgbClr val="DA1F28"/>
              </a:buClr>
              <a:buSzPct val="60000"/>
              <a:defRPr/>
            </a:pPr>
            <a:endParaRPr lang="en-US" sz="2800" dirty="0">
              <a:solidFill>
                <a:prstClr val="black"/>
              </a:solidFill>
              <a:latin typeface="Tw Cen MT"/>
            </a:endParaRPr>
          </a:p>
          <a:p>
            <a:pPr marL="320040" indent="-320040">
              <a:spcBef>
                <a:spcPts val="700"/>
              </a:spcBef>
              <a:buClr>
                <a:srgbClr val="DA1F28"/>
              </a:buClr>
              <a:buSzPct val="60000"/>
              <a:buFont typeface="Wingdings"/>
              <a:buChar char=""/>
              <a:defRPr/>
            </a:pPr>
            <a:r>
              <a:rPr lang="en-US" sz="2800" dirty="0">
                <a:solidFill>
                  <a:prstClr val="black"/>
                </a:solidFill>
                <a:latin typeface="Tw Cen MT"/>
              </a:rPr>
              <a:t>Minimum variance portfolio:</a:t>
            </a:r>
          </a:p>
        </p:txBody>
      </p:sp>
      <p:graphicFrame>
        <p:nvGraphicFramePr>
          <p:cNvPr id="2" name="Content Placeholder 3">
            <a:extLst>
              <a:ext uri="{FF2B5EF4-FFF2-40B4-BE49-F238E27FC236}">
                <a16:creationId xmlns:a16="http://schemas.microsoft.com/office/drawing/2014/main" id="{61B45AEE-5E12-7293-6FCC-70C807551BEF}"/>
              </a:ext>
            </a:extLst>
          </p:cNvPr>
          <p:cNvGraphicFramePr>
            <a:graphicFrameLocks noChangeAspect="1"/>
          </p:cNvGraphicFramePr>
          <p:nvPr>
            <p:extLst>
              <p:ext uri="{D42A27DB-BD31-4B8C-83A1-F6EECF244321}">
                <p14:modId xmlns:p14="http://schemas.microsoft.com/office/powerpoint/2010/main" val="2713990785"/>
              </p:ext>
            </p:extLst>
          </p:nvPr>
        </p:nvGraphicFramePr>
        <p:xfrm>
          <a:off x="632060" y="1179095"/>
          <a:ext cx="7835046" cy="652793"/>
        </p:xfrm>
        <a:graphic>
          <a:graphicData uri="http://schemas.openxmlformats.org/presentationml/2006/ole">
            <mc:AlternateContent xmlns:mc="http://schemas.openxmlformats.org/markup-compatibility/2006">
              <mc:Choice xmlns:v="urn:schemas-microsoft-com:vml" Requires="v">
                <p:oleObj name="Equation" r:id="rId3" imgW="3048000" imgH="254000" progId="Equation.3">
                  <p:embed/>
                </p:oleObj>
              </mc:Choice>
              <mc:Fallback>
                <p:oleObj name="Equation" r:id="rId3" imgW="3048000" imgH="254000" progId="Equation.3">
                  <p:embed/>
                  <p:pic>
                    <p:nvPicPr>
                      <p:cNvPr id="2" name="Content Placeholder 3">
                        <a:extLst>
                          <a:ext uri="{FF2B5EF4-FFF2-40B4-BE49-F238E27FC236}">
                            <a16:creationId xmlns:a16="http://schemas.microsoft.com/office/drawing/2014/main" id="{61B45AEE-5E12-7293-6FCC-70C807551BEF}"/>
                          </a:ext>
                        </a:extLst>
                      </p:cNvPr>
                      <p:cNvPicPr/>
                      <p:nvPr/>
                    </p:nvPicPr>
                    <p:blipFill>
                      <a:blip r:embed="rId4"/>
                      <a:stretch>
                        <a:fillRect/>
                      </a:stretch>
                    </p:blipFill>
                    <p:spPr>
                      <a:xfrm>
                        <a:off x="632060" y="1179095"/>
                        <a:ext cx="7835046" cy="652793"/>
                      </a:xfrm>
                      <a:prstGeom prst="rect">
                        <a:avLst/>
                      </a:prstGeom>
                    </p:spPr>
                  </p:pic>
                </p:oleObj>
              </mc:Fallback>
            </mc:AlternateContent>
          </a:graphicData>
        </a:graphic>
      </p:graphicFrame>
      <p:graphicFrame>
        <p:nvGraphicFramePr>
          <p:cNvPr id="5" name="Content Placeholder 3">
            <a:extLst>
              <a:ext uri="{FF2B5EF4-FFF2-40B4-BE49-F238E27FC236}">
                <a16:creationId xmlns:a16="http://schemas.microsoft.com/office/drawing/2014/main" id="{6F9C98DA-E128-BDFE-0EF2-4BD014B44AC8}"/>
              </a:ext>
            </a:extLst>
          </p:cNvPr>
          <p:cNvGraphicFramePr>
            <a:graphicFrameLocks noChangeAspect="1"/>
          </p:cNvGraphicFramePr>
          <p:nvPr>
            <p:extLst>
              <p:ext uri="{D42A27DB-BD31-4B8C-83A1-F6EECF244321}">
                <p14:modId xmlns:p14="http://schemas.microsoft.com/office/powerpoint/2010/main" val="821748885"/>
              </p:ext>
            </p:extLst>
          </p:nvPr>
        </p:nvGraphicFramePr>
        <p:xfrm>
          <a:off x="632059" y="1919719"/>
          <a:ext cx="9367721" cy="775979"/>
        </p:xfrm>
        <a:graphic>
          <a:graphicData uri="http://schemas.openxmlformats.org/presentationml/2006/ole">
            <mc:AlternateContent xmlns:mc="http://schemas.openxmlformats.org/markup-compatibility/2006">
              <mc:Choice xmlns:v="urn:schemas-microsoft-com:vml" Requires="v">
                <p:oleObj name="Equation" r:id="rId5" imgW="3683000" imgH="304800" progId="Equation.3">
                  <p:embed/>
                </p:oleObj>
              </mc:Choice>
              <mc:Fallback>
                <p:oleObj name="Equation" r:id="rId5" imgW="3683000" imgH="304800" progId="Equation.3">
                  <p:embed/>
                  <p:pic>
                    <p:nvPicPr>
                      <p:cNvPr id="5" name="Content Placeholder 3">
                        <a:extLst>
                          <a:ext uri="{FF2B5EF4-FFF2-40B4-BE49-F238E27FC236}">
                            <a16:creationId xmlns:a16="http://schemas.microsoft.com/office/drawing/2014/main" id="{6F9C98DA-E128-BDFE-0EF2-4BD014B44AC8}"/>
                          </a:ext>
                        </a:extLst>
                      </p:cNvPr>
                      <p:cNvPicPr/>
                      <p:nvPr/>
                    </p:nvPicPr>
                    <p:blipFill>
                      <a:blip r:embed="rId6"/>
                      <a:stretch>
                        <a:fillRect/>
                      </a:stretch>
                    </p:blipFill>
                    <p:spPr>
                      <a:xfrm>
                        <a:off x="632059" y="1919719"/>
                        <a:ext cx="9367721" cy="775979"/>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B3E36EAE-41EB-F33F-D8E6-988A08DD9E4C}"/>
              </a:ext>
            </a:extLst>
          </p:cNvPr>
          <p:cNvSpPr/>
          <p:nvPr/>
        </p:nvSpPr>
        <p:spPr>
          <a:xfrm>
            <a:off x="4549583" y="4775609"/>
            <a:ext cx="4256488" cy="1570062"/>
          </a:xfrm>
          <a:prstGeom prst="rect">
            <a:avLst/>
          </a:prstGeom>
          <a:solidFill>
            <a:srgbClr val="2DA2BF">
              <a:alpha val="36000"/>
            </a:srgbClr>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Tw Cen MT"/>
              <a:ea typeface="+mn-ea"/>
              <a:cs typeface="+mn-cs"/>
            </a:endParaRPr>
          </a:p>
        </p:txBody>
      </p:sp>
      <p:graphicFrame>
        <p:nvGraphicFramePr>
          <p:cNvPr id="14" name="Content Placeholder 3">
            <a:extLst>
              <a:ext uri="{FF2B5EF4-FFF2-40B4-BE49-F238E27FC236}">
                <a16:creationId xmlns:a16="http://schemas.microsoft.com/office/drawing/2014/main" id="{6E88D61E-2352-8752-98B1-82F8E31D7EA0}"/>
              </a:ext>
            </a:extLst>
          </p:cNvPr>
          <p:cNvGraphicFramePr>
            <a:graphicFrameLocks noChangeAspect="1"/>
          </p:cNvGraphicFramePr>
          <p:nvPr>
            <p:extLst>
              <p:ext uri="{D42A27DB-BD31-4B8C-83A1-F6EECF244321}">
                <p14:modId xmlns:p14="http://schemas.microsoft.com/office/powerpoint/2010/main" val="4021542947"/>
              </p:ext>
            </p:extLst>
          </p:nvPr>
        </p:nvGraphicFramePr>
        <p:xfrm>
          <a:off x="4692846" y="4860765"/>
          <a:ext cx="3588075" cy="1399751"/>
        </p:xfrm>
        <a:graphic>
          <a:graphicData uri="http://schemas.openxmlformats.org/presentationml/2006/ole">
            <mc:AlternateContent xmlns:mc="http://schemas.openxmlformats.org/markup-compatibility/2006">
              <mc:Choice xmlns:v="urn:schemas-microsoft-com:vml" Requires="v">
                <p:oleObj name="Equation" r:id="rId7" imgW="1727200" imgH="673100" progId="Equation.3">
                  <p:embed/>
                </p:oleObj>
              </mc:Choice>
              <mc:Fallback>
                <p:oleObj name="Equation" r:id="rId7" imgW="1727200" imgH="673100" progId="Equation.3">
                  <p:embed/>
                  <p:pic>
                    <p:nvPicPr>
                      <p:cNvPr id="14" name="Content Placeholder 3">
                        <a:extLst>
                          <a:ext uri="{FF2B5EF4-FFF2-40B4-BE49-F238E27FC236}">
                            <a16:creationId xmlns:a16="http://schemas.microsoft.com/office/drawing/2014/main" id="{6E88D61E-2352-8752-98B1-82F8E31D7EA0}"/>
                          </a:ext>
                        </a:extLst>
                      </p:cNvPr>
                      <p:cNvPicPr/>
                      <p:nvPr/>
                    </p:nvPicPr>
                    <p:blipFill>
                      <a:blip r:embed="rId8"/>
                      <a:stretch>
                        <a:fillRect/>
                      </a:stretch>
                    </p:blipFill>
                    <p:spPr>
                      <a:xfrm>
                        <a:off x="4692846" y="4860765"/>
                        <a:ext cx="3588075" cy="1399751"/>
                      </a:xfrm>
                      <a:prstGeom prst="rect">
                        <a:avLst/>
                      </a:prstGeom>
                    </p:spPr>
                  </p:pic>
                </p:oleObj>
              </mc:Fallback>
            </mc:AlternateContent>
          </a:graphicData>
        </a:graphic>
      </p:graphicFrame>
      <p:pic>
        <p:nvPicPr>
          <p:cNvPr id="4" name="Picture 3">
            <a:extLst>
              <a:ext uri="{FF2B5EF4-FFF2-40B4-BE49-F238E27FC236}">
                <a16:creationId xmlns:a16="http://schemas.microsoft.com/office/drawing/2014/main" id="{15D44B37-C5BB-3F63-B64F-5EB558A5EABE}"/>
              </a:ext>
            </a:extLst>
          </p:cNvPr>
          <p:cNvPicPr>
            <a:picLocks noChangeAspect="1"/>
          </p:cNvPicPr>
          <p:nvPr/>
        </p:nvPicPr>
        <p:blipFill>
          <a:blip r:embed="rId9"/>
          <a:stretch>
            <a:fillRect/>
          </a:stretch>
        </p:blipFill>
        <p:spPr>
          <a:xfrm>
            <a:off x="3648505" y="2875941"/>
            <a:ext cx="2734224" cy="1679888"/>
          </a:xfrm>
          <a:prstGeom prst="rect">
            <a:avLst/>
          </a:prstGeom>
        </p:spPr>
      </p:pic>
    </p:spTree>
    <p:extLst>
      <p:ext uri="{BB962C8B-B14F-4D97-AF65-F5344CB8AC3E}">
        <p14:creationId xmlns:p14="http://schemas.microsoft.com/office/powerpoint/2010/main" val="1323907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921369"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rPr>
              <a:t>Modern Portfolio Theory </a:t>
            </a:r>
            <a:r>
              <a:rPr kumimoji="0" lang="en-US" sz="2000" b="1" i="0" u="none" strike="noStrike" kern="1200" cap="none" spc="0" normalizeH="0" baseline="0" noProof="0" dirty="0" err="1">
                <a:ln>
                  <a:noFill/>
                </a:ln>
                <a:solidFill>
                  <a:schemeClr val="bg1"/>
                </a:solidFill>
                <a:effectLst/>
                <a:uLnTx/>
                <a:uFillTx/>
                <a:latin typeface="Calibri" panose="020F0502020204030204"/>
                <a:ea typeface="+mn-ea"/>
                <a:cs typeface="+mn-cs"/>
              </a:rPr>
              <a:t>ll</a:t>
            </a:r>
            <a:endPar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Portfolios of Two Risky Assets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3" name="TextBox 2">
            <a:extLst>
              <a:ext uri="{FF2B5EF4-FFF2-40B4-BE49-F238E27FC236}">
                <a16:creationId xmlns:a16="http://schemas.microsoft.com/office/drawing/2014/main" id="{A4EDAFD1-AA85-1B03-8FBC-68DF4240F505}"/>
              </a:ext>
            </a:extLst>
          </p:cNvPr>
          <p:cNvSpPr txBox="1"/>
          <p:nvPr/>
        </p:nvSpPr>
        <p:spPr>
          <a:xfrm>
            <a:off x="88857" y="604707"/>
            <a:ext cx="11742821" cy="4688463"/>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Solving for the optimal complete portfolio (when there are two risky assets):</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R="0" lvl="0" algn="l" defTabSz="914400" rtl="0" eaLnBrk="1" fontAlgn="auto" latinLnBrk="0" hangingPunct="1">
              <a:lnSpc>
                <a:spcPct val="100000"/>
              </a:lnSpc>
              <a:spcBef>
                <a:spcPts val="700"/>
              </a:spcBef>
              <a:spcAft>
                <a:spcPts val="0"/>
              </a:spcAft>
              <a:buClr>
                <a:srgbClr val="DA1F28"/>
              </a:buClr>
              <a:buSzPct val="60000"/>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lang="en-US" sz="2800" dirty="0">
                <a:solidFill>
                  <a:prstClr val="black"/>
                </a:solidFill>
                <a:latin typeface="Tw Cen MT"/>
              </a:rPr>
              <a:t>First-order condition:</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lang="en-US" sz="2800" dirty="0">
              <a:solidFill>
                <a:prstClr val="black"/>
              </a:solidFill>
              <a:latin typeface="Tw Cen MT"/>
            </a:endParaRPr>
          </a:p>
          <a:p>
            <a:pPr marR="0" lvl="0" algn="l" defTabSz="914400" rtl="0" eaLnBrk="1" fontAlgn="auto" latinLnBrk="0" hangingPunct="1">
              <a:lnSpc>
                <a:spcPct val="100000"/>
              </a:lnSpc>
              <a:spcBef>
                <a:spcPts val="700"/>
              </a:spcBef>
              <a:spcAft>
                <a:spcPts val="0"/>
              </a:spcAft>
              <a:buClr>
                <a:srgbClr val="DA1F28"/>
              </a:buClr>
              <a:buSzPct val="60000"/>
              <a:tabLst/>
              <a:defRPr/>
            </a:pPr>
            <a:endParaRPr lang="en-US" sz="2800" dirty="0">
              <a:solidFill>
                <a:prstClr val="black"/>
              </a:solidFill>
              <a:latin typeface="Tw Cen MT"/>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lang="en-US" sz="2800" dirty="0">
                <a:solidFill>
                  <a:prstClr val="black"/>
                </a:solidFill>
                <a:latin typeface="Tw Cen MT"/>
              </a:rPr>
              <a:t>Optimal complete portfolio:</a:t>
            </a:r>
          </a:p>
        </p:txBody>
      </p:sp>
      <p:graphicFrame>
        <p:nvGraphicFramePr>
          <p:cNvPr id="4" name="Content Placeholder 3">
            <a:extLst>
              <a:ext uri="{FF2B5EF4-FFF2-40B4-BE49-F238E27FC236}">
                <a16:creationId xmlns:a16="http://schemas.microsoft.com/office/drawing/2014/main" id="{4B8F9DAA-261E-E258-79B4-9A0E7945D127}"/>
              </a:ext>
            </a:extLst>
          </p:cNvPr>
          <p:cNvGraphicFramePr>
            <a:graphicFrameLocks noChangeAspect="1"/>
          </p:cNvGraphicFramePr>
          <p:nvPr>
            <p:extLst>
              <p:ext uri="{D42A27DB-BD31-4B8C-83A1-F6EECF244321}">
                <p14:modId xmlns:p14="http://schemas.microsoft.com/office/powerpoint/2010/main" val="1344643038"/>
              </p:ext>
            </p:extLst>
          </p:nvPr>
        </p:nvGraphicFramePr>
        <p:xfrm>
          <a:off x="851769" y="1190112"/>
          <a:ext cx="4364749" cy="805316"/>
        </p:xfrm>
        <a:graphic>
          <a:graphicData uri="http://schemas.openxmlformats.org/presentationml/2006/ole">
            <mc:AlternateContent xmlns:mc="http://schemas.openxmlformats.org/markup-compatibility/2006">
              <mc:Choice xmlns:v="urn:schemas-microsoft-com:vml" Requires="v">
                <p:oleObj name="Equation" r:id="rId3" imgW="1651000" imgH="304800" progId="Equation.3">
                  <p:embed/>
                </p:oleObj>
              </mc:Choice>
              <mc:Fallback>
                <p:oleObj name="Equation" r:id="rId3" imgW="1651000" imgH="304800" progId="Equation.3">
                  <p:embed/>
                  <p:pic>
                    <p:nvPicPr>
                      <p:cNvPr id="4" name="Content Placeholder 3">
                        <a:extLst>
                          <a:ext uri="{FF2B5EF4-FFF2-40B4-BE49-F238E27FC236}">
                            <a16:creationId xmlns:a16="http://schemas.microsoft.com/office/drawing/2014/main" id="{4B8F9DAA-261E-E258-79B4-9A0E7945D127}"/>
                          </a:ext>
                        </a:extLst>
                      </p:cNvPr>
                      <p:cNvPicPr/>
                      <p:nvPr/>
                    </p:nvPicPr>
                    <p:blipFill>
                      <a:blip r:embed="rId4"/>
                      <a:stretch>
                        <a:fillRect/>
                      </a:stretch>
                    </p:blipFill>
                    <p:spPr>
                      <a:xfrm>
                        <a:off x="851769" y="1190112"/>
                        <a:ext cx="4364749" cy="805316"/>
                      </a:xfrm>
                      <a:prstGeom prst="rect">
                        <a:avLst/>
                      </a:prstGeom>
                    </p:spPr>
                  </p:pic>
                </p:oleObj>
              </mc:Fallback>
            </mc:AlternateContent>
          </a:graphicData>
        </a:graphic>
      </p:graphicFrame>
      <p:graphicFrame>
        <p:nvGraphicFramePr>
          <p:cNvPr id="6" name="Content Placeholder 3">
            <a:extLst>
              <a:ext uri="{FF2B5EF4-FFF2-40B4-BE49-F238E27FC236}">
                <a16:creationId xmlns:a16="http://schemas.microsoft.com/office/drawing/2014/main" id="{70E732B0-9072-CF05-9DAF-E346E83B6B31}"/>
              </a:ext>
            </a:extLst>
          </p:cNvPr>
          <p:cNvGraphicFramePr>
            <a:graphicFrameLocks noChangeAspect="1"/>
          </p:cNvGraphicFramePr>
          <p:nvPr>
            <p:extLst>
              <p:ext uri="{D42A27DB-BD31-4B8C-83A1-F6EECF244321}">
                <p14:modId xmlns:p14="http://schemas.microsoft.com/office/powerpoint/2010/main" val="1031730809"/>
              </p:ext>
            </p:extLst>
          </p:nvPr>
        </p:nvGraphicFramePr>
        <p:xfrm>
          <a:off x="1588861" y="1992510"/>
          <a:ext cx="4720499" cy="597907"/>
        </p:xfrm>
        <a:graphic>
          <a:graphicData uri="http://schemas.openxmlformats.org/presentationml/2006/ole">
            <mc:AlternateContent xmlns:mc="http://schemas.openxmlformats.org/markup-compatibility/2006">
              <mc:Choice xmlns:v="urn:schemas-microsoft-com:vml" Requires="v">
                <p:oleObj name="Equation" r:id="rId5" imgW="1803400" imgH="228600" progId="Equation.3">
                  <p:embed/>
                </p:oleObj>
              </mc:Choice>
              <mc:Fallback>
                <p:oleObj name="Equation" r:id="rId5" imgW="1803400" imgH="228600" progId="Equation.3">
                  <p:embed/>
                  <p:pic>
                    <p:nvPicPr>
                      <p:cNvPr id="6" name="Content Placeholder 3">
                        <a:extLst>
                          <a:ext uri="{FF2B5EF4-FFF2-40B4-BE49-F238E27FC236}">
                            <a16:creationId xmlns:a16="http://schemas.microsoft.com/office/drawing/2014/main" id="{70E732B0-9072-CF05-9DAF-E346E83B6B31}"/>
                          </a:ext>
                        </a:extLst>
                      </p:cNvPr>
                      <p:cNvPicPr/>
                      <p:nvPr/>
                    </p:nvPicPr>
                    <p:blipFill>
                      <a:blip r:embed="rId6"/>
                      <a:stretch>
                        <a:fillRect/>
                      </a:stretch>
                    </p:blipFill>
                    <p:spPr>
                      <a:xfrm>
                        <a:off x="1588861" y="1992510"/>
                        <a:ext cx="4720499" cy="597907"/>
                      </a:xfrm>
                      <a:prstGeom prst="rect">
                        <a:avLst/>
                      </a:prstGeom>
                    </p:spPr>
                  </p:pic>
                </p:oleObj>
              </mc:Fallback>
            </mc:AlternateContent>
          </a:graphicData>
        </a:graphic>
      </p:graphicFrame>
      <p:graphicFrame>
        <p:nvGraphicFramePr>
          <p:cNvPr id="9" name="Content Placeholder 3">
            <a:extLst>
              <a:ext uri="{FF2B5EF4-FFF2-40B4-BE49-F238E27FC236}">
                <a16:creationId xmlns:a16="http://schemas.microsoft.com/office/drawing/2014/main" id="{53BD45C2-2757-4C06-7404-3507F5B398C7}"/>
              </a:ext>
            </a:extLst>
          </p:cNvPr>
          <p:cNvGraphicFramePr>
            <a:graphicFrameLocks noChangeAspect="1"/>
          </p:cNvGraphicFramePr>
          <p:nvPr>
            <p:extLst>
              <p:ext uri="{D42A27DB-BD31-4B8C-83A1-F6EECF244321}">
                <p14:modId xmlns:p14="http://schemas.microsoft.com/office/powerpoint/2010/main" val="461646413"/>
              </p:ext>
            </p:extLst>
          </p:nvPr>
        </p:nvGraphicFramePr>
        <p:xfrm>
          <a:off x="1588861" y="2629535"/>
          <a:ext cx="6811479" cy="624812"/>
        </p:xfrm>
        <a:graphic>
          <a:graphicData uri="http://schemas.openxmlformats.org/presentationml/2006/ole">
            <mc:AlternateContent xmlns:mc="http://schemas.openxmlformats.org/markup-compatibility/2006">
              <mc:Choice xmlns:v="urn:schemas-microsoft-com:vml" Requires="v">
                <p:oleObj name="Equation" r:id="rId7" imgW="2768600" imgH="254000" progId="Equation.3">
                  <p:embed/>
                </p:oleObj>
              </mc:Choice>
              <mc:Fallback>
                <p:oleObj name="Equation" r:id="rId7" imgW="2768600" imgH="254000" progId="Equation.3">
                  <p:embed/>
                  <p:pic>
                    <p:nvPicPr>
                      <p:cNvPr id="9" name="Content Placeholder 3">
                        <a:extLst>
                          <a:ext uri="{FF2B5EF4-FFF2-40B4-BE49-F238E27FC236}">
                            <a16:creationId xmlns:a16="http://schemas.microsoft.com/office/drawing/2014/main" id="{53BD45C2-2757-4C06-7404-3507F5B398C7}"/>
                          </a:ext>
                        </a:extLst>
                      </p:cNvPr>
                      <p:cNvPicPr/>
                      <p:nvPr/>
                    </p:nvPicPr>
                    <p:blipFill>
                      <a:blip r:embed="rId8"/>
                      <a:stretch>
                        <a:fillRect/>
                      </a:stretch>
                    </p:blipFill>
                    <p:spPr>
                      <a:xfrm>
                        <a:off x="1588861" y="2629535"/>
                        <a:ext cx="6811479" cy="624812"/>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BD1774D5-9A01-84A9-6C5A-C32FE63F9F76}"/>
              </a:ext>
            </a:extLst>
          </p:cNvPr>
          <p:cNvSpPr/>
          <p:nvPr/>
        </p:nvSpPr>
        <p:spPr>
          <a:xfrm>
            <a:off x="1218237" y="5250828"/>
            <a:ext cx="4869089" cy="1416949"/>
          </a:xfrm>
          <a:prstGeom prst="rect">
            <a:avLst/>
          </a:prstGeom>
          <a:solidFill>
            <a:srgbClr val="2DA2BF">
              <a:alpha val="36000"/>
            </a:srgbClr>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Tw Cen MT"/>
              <a:ea typeface="+mn-ea"/>
              <a:cs typeface="+mn-cs"/>
            </a:endParaRPr>
          </a:p>
        </p:txBody>
      </p:sp>
      <p:graphicFrame>
        <p:nvGraphicFramePr>
          <p:cNvPr id="10" name="Content Placeholder 3">
            <a:extLst>
              <a:ext uri="{FF2B5EF4-FFF2-40B4-BE49-F238E27FC236}">
                <a16:creationId xmlns:a16="http://schemas.microsoft.com/office/drawing/2014/main" id="{1E92C751-3F02-11C9-C0BA-BA8B6F922FC0}"/>
              </a:ext>
            </a:extLst>
          </p:cNvPr>
          <p:cNvGraphicFramePr>
            <a:graphicFrameLocks noChangeAspect="1"/>
          </p:cNvGraphicFramePr>
          <p:nvPr>
            <p:extLst>
              <p:ext uri="{D42A27DB-BD31-4B8C-83A1-F6EECF244321}">
                <p14:modId xmlns:p14="http://schemas.microsoft.com/office/powerpoint/2010/main" val="1339912879"/>
              </p:ext>
            </p:extLst>
          </p:nvPr>
        </p:nvGraphicFramePr>
        <p:xfrm>
          <a:off x="1369360" y="5357371"/>
          <a:ext cx="4566842" cy="1268093"/>
        </p:xfrm>
        <a:graphic>
          <a:graphicData uri="http://schemas.openxmlformats.org/presentationml/2006/ole">
            <mc:AlternateContent xmlns:mc="http://schemas.openxmlformats.org/markup-compatibility/2006">
              <mc:Choice xmlns:v="urn:schemas-microsoft-com:vml" Requires="v">
                <p:oleObj name="Equation" r:id="rId9" imgW="2425700" imgH="673100" progId="Equation.3">
                  <p:embed/>
                </p:oleObj>
              </mc:Choice>
              <mc:Fallback>
                <p:oleObj name="Equation" r:id="rId9" imgW="2425700" imgH="673100" progId="Equation.3">
                  <p:embed/>
                  <p:pic>
                    <p:nvPicPr>
                      <p:cNvPr id="10" name="Content Placeholder 3">
                        <a:extLst>
                          <a:ext uri="{FF2B5EF4-FFF2-40B4-BE49-F238E27FC236}">
                            <a16:creationId xmlns:a16="http://schemas.microsoft.com/office/drawing/2014/main" id="{1E92C751-3F02-11C9-C0BA-BA8B6F922FC0}"/>
                          </a:ext>
                        </a:extLst>
                      </p:cNvPr>
                      <p:cNvPicPr/>
                      <p:nvPr/>
                    </p:nvPicPr>
                    <p:blipFill>
                      <a:blip r:embed="rId10"/>
                      <a:stretch>
                        <a:fillRect/>
                      </a:stretch>
                    </p:blipFill>
                    <p:spPr>
                      <a:xfrm>
                        <a:off x="1369360" y="5357371"/>
                        <a:ext cx="4566842" cy="1268093"/>
                      </a:xfrm>
                      <a:prstGeom prst="rect">
                        <a:avLst/>
                      </a:prstGeom>
                    </p:spPr>
                  </p:pic>
                </p:oleObj>
              </mc:Fallback>
            </mc:AlternateContent>
          </a:graphicData>
        </a:graphic>
      </p:graphicFrame>
      <p:pic>
        <p:nvPicPr>
          <p:cNvPr id="12" name="Picture 11">
            <a:extLst>
              <a:ext uri="{FF2B5EF4-FFF2-40B4-BE49-F238E27FC236}">
                <a16:creationId xmlns:a16="http://schemas.microsoft.com/office/drawing/2014/main" id="{7741F161-AF69-BB18-8099-5C75B5F4FC77}"/>
              </a:ext>
            </a:extLst>
          </p:cNvPr>
          <p:cNvPicPr>
            <a:picLocks noChangeAspect="1"/>
          </p:cNvPicPr>
          <p:nvPr/>
        </p:nvPicPr>
        <p:blipFill>
          <a:blip r:embed="rId11"/>
          <a:stretch>
            <a:fillRect/>
          </a:stretch>
        </p:blipFill>
        <p:spPr>
          <a:xfrm>
            <a:off x="3652781" y="3293465"/>
            <a:ext cx="2258621" cy="1464494"/>
          </a:xfrm>
          <a:prstGeom prst="rect">
            <a:avLst/>
          </a:prstGeom>
        </p:spPr>
      </p:pic>
    </p:spTree>
    <p:extLst>
      <p:ext uri="{BB962C8B-B14F-4D97-AF65-F5344CB8AC3E}">
        <p14:creationId xmlns:p14="http://schemas.microsoft.com/office/powerpoint/2010/main" val="2291558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921369"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rPr>
              <a:t>Modern Portfolio Theory </a:t>
            </a:r>
            <a:r>
              <a:rPr kumimoji="0" lang="en-US" sz="2000" b="1" i="0" u="none" strike="noStrike" kern="1200" cap="none" spc="0" normalizeH="0" baseline="0" noProof="0" dirty="0" err="1">
                <a:ln>
                  <a:noFill/>
                </a:ln>
                <a:solidFill>
                  <a:schemeClr val="bg1"/>
                </a:solidFill>
                <a:effectLst/>
                <a:uLnTx/>
                <a:uFillTx/>
                <a:latin typeface="Calibri" panose="020F0502020204030204"/>
                <a:ea typeface="+mn-ea"/>
                <a:cs typeface="+mn-cs"/>
              </a:rPr>
              <a:t>ll</a:t>
            </a:r>
            <a:endPar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Portfolios of Two Risky Assets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TextBox 4">
            <a:extLst>
              <a:ext uri="{FF2B5EF4-FFF2-40B4-BE49-F238E27FC236}">
                <a16:creationId xmlns:a16="http://schemas.microsoft.com/office/drawing/2014/main" id="{802DE822-18B5-392E-28B0-C01414F4C2B4}"/>
              </a:ext>
            </a:extLst>
          </p:cNvPr>
          <p:cNvSpPr txBox="1"/>
          <p:nvPr/>
        </p:nvSpPr>
        <p:spPr>
          <a:xfrm>
            <a:off x="192505" y="554437"/>
            <a:ext cx="11806990" cy="5209118"/>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Numerical Example (refer to Table 7.1):</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endParaRPr lang="en-US" sz="2800" dirty="0">
              <a:solidFill>
                <a:prstClr val="black"/>
              </a:solidFill>
              <a:latin typeface="Tw Cen MT"/>
            </a:endParaRP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0" marR="0" lvl="0" indent="0" algn="l" defTabSz="914400" rtl="0" eaLnBrk="1" fontAlgn="auto" latinLnBrk="0" hangingPunct="1">
              <a:lnSpc>
                <a:spcPct val="100000"/>
              </a:lnSpc>
              <a:spcBef>
                <a:spcPts val="700"/>
              </a:spcBef>
              <a:spcAft>
                <a:spcPts val="0"/>
              </a:spcAft>
              <a:buClr>
                <a:srgbClr val="DA1F28"/>
              </a:buClr>
              <a:buSzPct val="60000"/>
              <a:buFont typeface="Wingdings"/>
              <a:buNone/>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Minimum variance portfolio: </a:t>
            </a:r>
            <a:r>
              <a:rPr kumimoji="0" lang="en-US" sz="2800" b="0" i="0" u="none" strike="noStrike" kern="1200" cap="none" spc="0" normalizeH="0" baseline="0" noProof="0" dirty="0">
                <a:ln>
                  <a:noFill/>
                </a:ln>
                <a:solidFill>
                  <a:srgbClr val="FF0000"/>
                </a:solidFill>
                <a:effectLst/>
                <a:uLnTx/>
                <a:uFillTx/>
                <a:latin typeface="Tw Cen MT"/>
                <a:ea typeface="+mn-ea"/>
                <a:cs typeface="+mn-cs"/>
              </a:rPr>
              <a:t>W</a:t>
            </a:r>
            <a:r>
              <a:rPr kumimoji="0" lang="en-US" sz="2800" b="0" i="0" u="none" strike="noStrike" kern="1200" cap="none" spc="0" normalizeH="0" baseline="-25000" noProof="0" dirty="0">
                <a:ln>
                  <a:noFill/>
                </a:ln>
                <a:solidFill>
                  <a:srgbClr val="FF0000"/>
                </a:solidFill>
                <a:effectLst/>
                <a:uLnTx/>
                <a:uFillTx/>
                <a:latin typeface="Tw Cen MT"/>
                <a:ea typeface="+mn-ea"/>
                <a:cs typeface="+mn-cs"/>
              </a:rPr>
              <a:t>D</a:t>
            </a:r>
            <a:r>
              <a:rPr kumimoji="0" lang="en-US" sz="2800" b="0" i="0" u="none" strike="noStrike" kern="1200" cap="none" spc="0" normalizeH="0" baseline="0" noProof="0" dirty="0">
                <a:ln>
                  <a:noFill/>
                </a:ln>
                <a:solidFill>
                  <a:srgbClr val="FF0000"/>
                </a:solidFill>
                <a:effectLst/>
                <a:uLnTx/>
                <a:uFillTx/>
                <a:latin typeface="Tw Cen MT"/>
                <a:ea typeface="+mn-ea"/>
                <a:cs typeface="+mn-cs"/>
              </a:rPr>
              <a:t>=82% W</a:t>
            </a:r>
            <a:r>
              <a:rPr kumimoji="0" lang="en-US" sz="2800" b="0" i="0" u="none" strike="noStrike" kern="1200" cap="none" spc="0" normalizeH="0" baseline="-25000" noProof="0" dirty="0">
                <a:ln>
                  <a:noFill/>
                </a:ln>
                <a:solidFill>
                  <a:srgbClr val="FF0000"/>
                </a:solidFill>
                <a:effectLst/>
                <a:uLnTx/>
                <a:uFillTx/>
                <a:latin typeface="Tw Cen MT"/>
                <a:ea typeface="+mn-ea"/>
                <a:cs typeface="+mn-cs"/>
              </a:rPr>
              <a:t>E</a:t>
            </a:r>
            <a:r>
              <a:rPr kumimoji="0" lang="en-US" sz="2800" b="0" i="0" u="none" strike="noStrike" kern="1200" cap="none" spc="0" normalizeH="0" baseline="0" noProof="0" dirty="0">
                <a:ln>
                  <a:noFill/>
                </a:ln>
                <a:solidFill>
                  <a:srgbClr val="FF0000"/>
                </a:solidFill>
                <a:effectLst/>
                <a:uLnTx/>
                <a:uFillTx/>
                <a:latin typeface="Tw Cen MT"/>
                <a:ea typeface="+mn-ea"/>
                <a:cs typeface="+mn-cs"/>
              </a:rPr>
              <a:t>=18%</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endParaRPr kumimoji="0" lang="en-US" sz="2800" b="0" i="0" u="none" strike="noStrike" kern="1200" cap="none" spc="0" normalizeH="0" baseline="0" noProof="0" dirty="0">
              <a:ln>
                <a:noFill/>
              </a:ln>
              <a:solidFill>
                <a:srgbClr val="FF0000"/>
              </a:solidFill>
              <a:effectLst/>
              <a:uLnTx/>
              <a:uFillTx/>
              <a:latin typeface="Tw Cen MT"/>
              <a:ea typeface="+mn-ea"/>
              <a:cs typeface="+mn-cs"/>
            </a:endParaRP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Optimal complete portfolio: </a:t>
            </a:r>
            <a:r>
              <a:rPr kumimoji="0" lang="en-US" sz="2800" b="0" i="0" u="none" strike="noStrike" kern="1200" cap="none" spc="0" normalizeH="0" baseline="0" noProof="0" dirty="0">
                <a:ln>
                  <a:noFill/>
                </a:ln>
                <a:solidFill>
                  <a:srgbClr val="FF0000"/>
                </a:solidFill>
                <a:effectLst/>
                <a:uLnTx/>
                <a:uFillTx/>
                <a:latin typeface="Tw Cen MT"/>
                <a:ea typeface="+mn-ea"/>
                <a:cs typeface="+mn-cs"/>
              </a:rPr>
              <a:t>W</a:t>
            </a:r>
            <a:r>
              <a:rPr kumimoji="0" lang="en-US" sz="2800" b="0" i="0" u="none" strike="noStrike" kern="1200" cap="none" spc="0" normalizeH="0" baseline="-25000" noProof="0" dirty="0">
                <a:ln>
                  <a:noFill/>
                </a:ln>
                <a:solidFill>
                  <a:srgbClr val="FF0000"/>
                </a:solidFill>
                <a:effectLst/>
                <a:uLnTx/>
                <a:uFillTx/>
                <a:latin typeface="Tw Cen MT"/>
                <a:ea typeface="+mn-ea"/>
                <a:cs typeface="+mn-cs"/>
              </a:rPr>
              <a:t>D</a:t>
            </a:r>
            <a:r>
              <a:rPr kumimoji="0" lang="en-US" sz="2800" b="0" i="0" u="none" strike="noStrike" kern="1200" cap="none" spc="0" normalizeH="0" baseline="0" noProof="0" dirty="0">
                <a:ln>
                  <a:noFill/>
                </a:ln>
                <a:solidFill>
                  <a:srgbClr val="FF0000"/>
                </a:solidFill>
                <a:effectLst/>
                <a:uLnTx/>
                <a:uFillTx/>
                <a:latin typeface="Tw Cen MT"/>
                <a:ea typeface="+mn-ea"/>
                <a:cs typeface="+mn-cs"/>
              </a:rPr>
              <a:t>=50.75% W</a:t>
            </a:r>
            <a:r>
              <a:rPr kumimoji="0" lang="en-US" sz="2800" b="0" i="0" u="none" strike="noStrike" kern="1200" cap="none" spc="0" normalizeH="0" baseline="-25000" noProof="0" dirty="0">
                <a:ln>
                  <a:noFill/>
                </a:ln>
                <a:solidFill>
                  <a:srgbClr val="FF0000"/>
                </a:solidFill>
                <a:effectLst/>
                <a:uLnTx/>
                <a:uFillTx/>
                <a:latin typeface="Tw Cen MT"/>
                <a:ea typeface="+mn-ea"/>
                <a:cs typeface="+mn-cs"/>
              </a:rPr>
              <a:t>E</a:t>
            </a:r>
            <a:r>
              <a:rPr kumimoji="0" lang="en-US" sz="2800" b="0" i="0" u="none" strike="noStrike" kern="1200" cap="none" spc="0" normalizeH="0" baseline="0" noProof="0" dirty="0">
                <a:ln>
                  <a:noFill/>
                </a:ln>
                <a:solidFill>
                  <a:srgbClr val="FF0000"/>
                </a:solidFill>
                <a:effectLst/>
                <a:uLnTx/>
                <a:uFillTx/>
                <a:latin typeface="Tw Cen MT"/>
                <a:ea typeface="+mn-ea"/>
                <a:cs typeface="+mn-cs"/>
              </a:rPr>
              <a:t>=49.25%</a:t>
            </a:r>
          </a:p>
        </p:txBody>
      </p:sp>
      <p:sp>
        <p:nvSpPr>
          <p:cNvPr id="9" name="TextBox 8">
            <a:extLst>
              <a:ext uri="{FF2B5EF4-FFF2-40B4-BE49-F238E27FC236}">
                <a16:creationId xmlns:a16="http://schemas.microsoft.com/office/drawing/2014/main" id="{DEE7366E-20B3-AE1B-C4A8-FF686B3410CE}"/>
              </a:ext>
            </a:extLst>
          </p:cNvPr>
          <p:cNvSpPr txBox="1"/>
          <p:nvPr/>
        </p:nvSpPr>
        <p:spPr>
          <a:xfrm>
            <a:off x="852514" y="3164577"/>
            <a:ext cx="6216314"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2DA2BF"/>
                </a:solidFill>
                <a:effectLst/>
                <a:uLnTx/>
                <a:uFillTx/>
                <a:latin typeface="Tw Cen MT"/>
                <a:ea typeface="+mn-ea"/>
                <a:cs typeface="+mn-cs"/>
              </a:rPr>
              <a:t>Assume A=4</a:t>
            </a:r>
          </a:p>
        </p:txBody>
      </p:sp>
      <p:pic>
        <p:nvPicPr>
          <p:cNvPr id="13" name="Picture 12">
            <a:extLst>
              <a:ext uri="{FF2B5EF4-FFF2-40B4-BE49-F238E27FC236}">
                <a16:creationId xmlns:a16="http://schemas.microsoft.com/office/drawing/2014/main" id="{36D0BC4D-BC68-167B-344D-D17E6BEEE85A}"/>
              </a:ext>
            </a:extLst>
          </p:cNvPr>
          <p:cNvPicPr>
            <a:picLocks noChangeAspect="1"/>
          </p:cNvPicPr>
          <p:nvPr/>
        </p:nvPicPr>
        <p:blipFill>
          <a:blip r:embed="rId3"/>
          <a:stretch>
            <a:fillRect/>
          </a:stretch>
        </p:blipFill>
        <p:spPr>
          <a:xfrm>
            <a:off x="852514" y="1030342"/>
            <a:ext cx="5863389" cy="2398658"/>
          </a:xfrm>
          <a:prstGeom prst="rect">
            <a:avLst/>
          </a:prstGeom>
        </p:spPr>
      </p:pic>
    </p:spTree>
    <p:extLst>
      <p:ext uri="{BB962C8B-B14F-4D97-AF65-F5344CB8AC3E}">
        <p14:creationId xmlns:p14="http://schemas.microsoft.com/office/powerpoint/2010/main" val="2418094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921369"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rPr>
              <a:t>Modern Portfolio Theory </a:t>
            </a:r>
            <a:r>
              <a:rPr kumimoji="0" lang="en-US" sz="2000" b="1" i="0" u="none" strike="noStrike" kern="1200" cap="none" spc="0" normalizeH="0" baseline="0" noProof="0" dirty="0" err="1">
                <a:ln>
                  <a:noFill/>
                </a:ln>
                <a:solidFill>
                  <a:schemeClr val="bg1"/>
                </a:solidFill>
                <a:effectLst/>
                <a:uLnTx/>
                <a:uFillTx/>
                <a:latin typeface="Calibri" panose="020F0502020204030204"/>
                <a:ea typeface="+mn-ea"/>
                <a:cs typeface="+mn-cs"/>
              </a:rPr>
              <a:t>ll</a:t>
            </a:r>
            <a:endPar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Allocation with Stocks, Bonds and Bills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TextBox 4">
            <a:extLst>
              <a:ext uri="{FF2B5EF4-FFF2-40B4-BE49-F238E27FC236}">
                <a16:creationId xmlns:a16="http://schemas.microsoft.com/office/drawing/2014/main" id="{802DE822-18B5-392E-28B0-C01414F4C2B4}"/>
              </a:ext>
            </a:extLst>
          </p:cNvPr>
          <p:cNvSpPr txBox="1"/>
          <p:nvPr/>
        </p:nvSpPr>
        <p:spPr>
          <a:xfrm>
            <a:off x="192505" y="526472"/>
            <a:ext cx="11806990" cy="2490425"/>
          </a:xfrm>
          <a:prstGeom prst="rect">
            <a:avLst/>
          </a:prstGeom>
          <a:noFill/>
        </p:spPr>
        <p:txBody>
          <a:bodyPr wrap="square">
            <a:spAutoFit/>
          </a:bodyPr>
          <a:lstStyle/>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Suppose we have two risky assets and one risk-free asset. Again, we want to find the optimal complete portfolio.</a:t>
            </a:r>
          </a:p>
          <a:p>
            <a:pPr marL="320040" marR="0" lvl="0" indent="-320040" algn="l" defTabSz="914400" rtl="0" eaLnBrk="1" fontAlgn="auto" latinLnBrk="0" hangingPunct="1">
              <a:lnSpc>
                <a:spcPct val="100000"/>
              </a:lnSpc>
              <a:spcBef>
                <a:spcPts val="700"/>
              </a:spcBef>
              <a:spcAft>
                <a:spcPts val="0"/>
              </a:spcAft>
              <a:buClr>
                <a:srgbClr val="DA1F28"/>
              </a:buClr>
              <a:buSzPct val="60000"/>
              <a:buFont typeface="Wingdings"/>
              <a:buChar char=""/>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Two steps:</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Optimal risky portfolio</a:t>
            </a:r>
          </a:p>
          <a:p>
            <a:pPr marL="83439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Optimal complete portfolio</a:t>
            </a:r>
          </a:p>
        </p:txBody>
      </p:sp>
      <p:cxnSp>
        <p:nvCxnSpPr>
          <p:cNvPr id="2" name="Straight Connector 1">
            <a:extLst>
              <a:ext uri="{FF2B5EF4-FFF2-40B4-BE49-F238E27FC236}">
                <a16:creationId xmlns:a16="http://schemas.microsoft.com/office/drawing/2014/main" id="{B8582EE1-D591-F4AD-6BBB-04D72B6D45D3}"/>
              </a:ext>
            </a:extLst>
          </p:cNvPr>
          <p:cNvCxnSpPr/>
          <p:nvPr/>
        </p:nvCxnSpPr>
        <p:spPr>
          <a:xfrm>
            <a:off x="6677524" y="2580164"/>
            <a:ext cx="101600" cy="345440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cxnSp>
        <p:nvCxnSpPr>
          <p:cNvPr id="3" name="Straight Connector 2">
            <a:extLst>
              <a:ext uri="{FF2B5EF4-FFF2-40B4-BE49-F238E27FC236}">
                <a16:creationId xmlns:a16="http://schemas.microsoft.com/office/drawing/2014/main" id="{A5EFEECF-76F7-E29B-ED13-41470A1F3E74}"/>
              </a:ext>
            </a:extLst>
          </p:cNvPr>
          <p:cNvCxnSpPr/>
          <p:nvPr/>
        </p:nvCxnSpPr>
        <p:spPr>
          <a:xfrm>
            <a:off x="6779124" y="6034564"/>
            <a:ext cx="4775200" cy="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
        <p:nvSpPr>
          <p:cNvPr id="4" name="Oval 3">
            <a:extLst>
              <a:ext uri="{FF2B5EF4-FFF2-40B4-BE49-F238E27FC236}">
                <a16:creationId xmlns:a16="http://schemas.microsoft.com/office/drawing/2014/main" id="{40BD5481-74F8-0FEC-BA19-9D8DF9D58011}"/>
              </a:ext>
            </a:extLst>
          </p:cNvPr>
          <p:cNvSpPr/>
          <p:nvPr/>
        </p:nvSpPr>
        <p:spPr>
          <a:xfrm>
            <a:off x="8727005" y="4542876"/>
            <a:ext cx="329184" cy="329184"/>
          </a:xfrm>
          <a:prstGeom prst="ellipse">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sp>
        <p:nvSpPr>
          <p:cNvPr id="6" name="Oval 5">
            <a:extLst>
              <a:ext uri="{FF2B5EF4-FFF2-40B4-BE49-F238E27FC236}">
                <a16:creationId xmlns:a16="http://schemas.microsoft.com/office/drawing/2014/main" id="{E0AEFD0B-DDD0-5442-3BA1-CA5B90AA0228}"/>
              </a:ext>
            </a:extLst>
          </p:cNvPr>
          <p:cNvSpPr/>
          <p:nvPr/>
        </p:nvSpPr>
        <p:spPr>
          <a:xfrm>
            <a:off x="10865403" y="3605648"/>
            <a:ext cx="329184" cy="329184"/>
          </a:xfrm>
          <a:prstGeom prst="ellipse">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cxnSp>
        <p:nvCxnSpPr>
          <p:cNvPr id="9" name="Straight Connector 8">
            <a:extLst>
              <a:ext uri="{FF2B5EF4-FFF2-40B4-BE49-F238E27FC236}">
                <a16:creationId xmlns:a16="http://schemas.microsoft.com/office/drawing/2014/main" id="{C2490CDC-484B-94DC-B33D-187AB5E9C0A9}"/>
              </a:ext>
            </a:extLst>
          </p:cNvPr>
          <p:cNvCxnSpPr/>
          <p:nvPr/>
        </p:nvCxnSpPr>
        <p:spPr>
          <a:xfrm flipV="1">
            <a:off x="6779124" y="2829696"/>
            <a:ext cx="4470400" cy="2210816"/>
          </a:xfrm>
          <a:prstGeom prst="line">
            <a:avLst/>
          </a:prstGeom>
          <a:noFill/>
          <a:ln w="19050" cap="flat" cmpd="sng" algn="ctr">
            <a:solidFill>
              <a:srgbClr val="2DA2BF"/>
            </a:solidFill>
            <a:prstDash val="dash"/>
          </a:ln>
          <a:effectLst>
            <a:outerShdw blurRad="38100" dist="30000" dir="5400000" rotWithShape="0">
              <a:srgbClr val="000000">
                <a:alpha val="45000"/>
              </a:srgbClr>
            </a:outerShdw>
          </a:effectLst>
        </p:spPr>
      </p:cxnSp>
      <p:sp>
        <p:nvSpPr>
          <p:cNvPr id="10" name="Freeform 18">
            <a:extLst>
              <a:ext uri="{FF2B5EF4-FFF2-40B4-BE49-F238E27FC236}">
                <a16:creationId xmlns:a16="http://schemas.microsoft.com/office/drawing/2014/main" id="{EC94B6C6-76AE-BD6B-EB00-7647F54526DD}"/>
              </a:ext>
            </a:extLst>
          </p:cNvPr>
          <p:cNvSpPr/>
          <p:nvPr/>
        </p:nvSpPr>
        <p:spPr>
          <a:xfrm>
            <a:off x="8427003" y="3719713"/>
            <a:ext cx="2438400" cy="975228"/>
          </a:xfrm>
          <a:custGeom>
            <a:avLst/>
            <a:gdLst>
              <a:gd name="connsiteX0" fmla="*/ 2047619 w 2047619"/>
              <a:gd name="connsiteY0" fmla="*/ 0 h 1036221"/>
              <a:gd name="connsiteX1" fmla="*/ 727608 w 2047619"/>
              <a:gd name="connsiteY1" fmla="*/ 217273 h 1036221"/>
              <a:gd name="connsiteX2" fmla="*/ 9121 w 2047619"/>
              <a:gd name="connsiteY2" fmla="*/ 618390 h 1036221"/>
              <a:gd name="connsiteX3" fmla="*/ 326592 w 2047619"/>
              <a:gd name="connsiteY3" fmla="*/ 986082 h 1036221"/>
              <a:gd name="connsiteX4" fmla="*/ 393428 w 2047619"/>
              <a:gd name="connsiteY4" fmla="*/ 1002795 h 1036221"/>
              <a:gd name="connsiteX5" fmla="*/ 393428 w 2047619"/>
              <a:gd name="connsiteY5" fmla="*/ 1002795 h 1036221"/>
              <a:gd name="connsiteX6" fmla="*/ 393428 w 2047619"/>
              <a:gd name="connsiteY6" fmla="*/ 1036221 h 1036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47619" h="1036221">
                <a:moveTo>
                  <a:pt x="2047619" y="0"/>
                </a:moveTo>
                <a:cubicBezTo>
                  <a:pt x="1557488" y="57104"/>
                  <a:pt x="1067358" y="114208"/>
                  <a:pt x="727608" y="217273"/>
                </a:cubicBezTo>
                <a:cubicBezTo>
                  <a:pt x="387858" y="320338"/>
                  <a:pt x="75957" y="490255"/>
                  <a:pt x="9121" y="618390"/>
                </a:cubicBezTo>
                <a:cubicBezTo>
                  <a:pt x="-57715" y="746525"/>
                  <a:pt x="262541" y="922014"/>
                  <a:pt x="326592" y="986082"/>
                </a:cubicBezTo>
                <a:cubicBezTo>
                  <a:pt x="390643" y="1050150"/>
                  <a:pt x="393428" y="1002795"/>
                  <a:pt x="393428" y="1002795"/>
                </a:cubicBezTo>
                <a:lnTo>
                  <a:pt x="393428" y="1002795"/>
                </a:lnTo>
                <a:lnTo>
                  <a:pt x="393428" y="1036221"/>
                </a:lnTo>
              </a:path>
            </a:pathLst>
          </a:custGeom>
          <a:noFill/>
          <a:ln w="28575"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Tw Cen MT"/>
              <a:ea typeface="+mn-ea"/>
              <a:cs typeface="+mn-cs"/>
            </a:endParaRPr>
          </a:p>
        </p:txBody>
      </p:sp>
      <p:sp>
        <p:nvSpPr>
          <p:cNvPr id="11" name="TextBox 10">
            <a:extLst>
              <a:ext uri="{FF2B5EF4-FFF2-40B4-BE49-F238E27FC236}">
                <a16:creationId xmlns:a16="http://schemas.microsoft.com/office/drawing/2014/main" id="{EE365594-E23D-F80A-6F14-AC5AA837F9D1}"/>
              </a:ext>
            </a:extLst>
          </p:cNvPr>
          <p:cNvSpPr txBox="1"/>
          <p:nvPr/>
        </p:nvSpPr>
        <p:spPr>
          <a:xfrm>
            <a:off x="5966324" y="2580165"/>
            <a:ext cx="914400" cy="543675"/>
          </a:xfrm>
          <a:prstGeom prst="rect">
            <a:avLst/>
          </a:prstGeom>
          <a:noFill/>
        </p:spPr>
        <p:txBody>
          <a:bodyPr wrap="square" rtlCol="0">
            <a:spAutoFit/>
          </a:bodyPr>
          <a:lstStyle/>
          <a:p>
            <a:pPr defTabSz="1219170"/>
            <a:r>
              <a:rPr lang="en-US" sz="2933" dirty="0">
                <a:solidFill>
                  <a:prstClr val="black"/>
                </a:solidFill>
                <a:latin typeface="Tw Cen MT"/>
              </a:rPr>
              <a:t>E(r)</a:t>
            </a:r>
          </a:p>
        </p:txBody>
      </p:sp>
      <p:sp>
        <p:nvSpPr>
          <p:cNvPr id="12" name="TextBox 11">
            <a:extLst>
              <a:ext uri="{FF2B5EF4-FFF2-40B4-BE49-F238E27FC236}">
                <a16:creationId xmlns:a16="http://schemas.microsoft.com/office/drawing/2014/main" id="{E6FB7626-8476-80E7-4F45-139A306EBA2D}"/>
              </a:ext>
            </a:extLst>
          </p:cNvPr>
          <p:cNvSpPr txBox="1"/>
          <p:nvPr/>
        </p:nvSpPr>
        <p:spPr>
          <a:xfrm>
            <a:off x="10944724" y="6034564"/>
            <a:ext cx="914400" cy="543675"/>
          </a:xfrm>
          <a:prstGeom prst="rect">
            <a:avLst/>
          </a:prstGeom>
          <a:noFill/>
        </p:spPr>
        <p:txBody>
          <a:bodyPr wrap="square" rtlCol="0">
            <a:spAutoFit/>
          </a:bodyPr>
          <a:lstStyle/>
          <a:p>
            <a:pPr defTabSz="1219170"/>
            <a:r>
              <a:rPr lang="en-US" sz="2933" dirty="0">
                <a:solidFill>
                  <a:prstClr val="black"/>
                </a:solidFill>
                <a:latin typeface="Tw Cen MT"/>
              </a:rPr>
              <a:t>Std.</a:t>
            </a:r>
          </a:p>
        </p:txBody>
      </p:sp>
      <p:sp>
        <p:nvSpPr>
          <p:cNvPr id="13" name="Freeform 4">
            <a:extLst>
              <a:ext uri="{FF2B5EF4-FFF2-40B4-BE49-F238E27FC236}">
                <a16:creationId xmlns:a16="http://schemas.microsoft.com/office/drawing/2014/main" id="{DE5D5DEC-96CA-642F-021A-B81601DADDDD}"/>
              </a:ext>
            </a:extLst>
          </p:cNvPr>
          <p:cNvSpPr/>
          <p:nvPr/>
        </p:nvSpPr>
        <p:spPr>
          <a:xfrm>
            <a:off x="6789150" y="3442889"/>
            <a:ext cx="2123575" cy="1213508"/>
          </a:xfrm>
          <a:custGeom>
            <a:avLst/>
            <a:gdLst>
              <a:gd name="connsiteX0" fmla="*/ 0 w 1687609"/>
              <a:gd name="connsiteY0" fmla="*/ 802236 h 802236"/>
              <a:gd name="connsiteX1" fmla="*/ 952413 w 1687609"/>
              <a:gd name="connsiteY1" fmla="*/ 635103 h 802236"/>
              <a:gd name="connsiteX2" fmla="*/ 1687609 w 1687609"/>
              <a:gd name="connsiteY2" fmla="*/ 0 h 802236"/>
            </a:gdLst>
            <a:ahLst/>
            <a:cxnLst>
              <a:cxn ang="0">
                <a:pos x="connsiteX0" y="connsiteY0"/>
              </a:cxn>
              <a:cxn ang="0">
                <a:pos x="connsiteX1" y="connsiteY1"/>
              </a:cxn>
              <a:cxn ang="0">
                <a:pos x="connsiteX2" y="connsiteY2"/>
              </a:cxn>
            </a:cxnLst>
            <a:rect l="l" t="t" r="r" b="b"/>
            <a:pathLst>
              <a:path w="1687609" h="802236">
                <a:moveTo>
                  <a:pt x="0" y="802236"/>
                </a:moveTo>
                <a:cubicBezTo>
                  <a:pt x="335572" y="785522"/>
                  <a:pt x="671145" y="768809"/>
                  <a:pt x="952413" y="635103"/>
                </a:cubicBezTo>
                <a:cubicBezTo>
                  <a:pt x="1233681" y="501397"/>
                  <a:pt x="1687609" y="0"/>
                  <a:pt x="1687609" y="0"/>
                </a:cubicBezTo>
              </a:path>
            </a:pathLst>
          </a:custGeom>
          <a:noFill/>
          <a:ln w="19050" cap="flat" cmpd="sng" algn="ctr">
            <a:solidFill>
              <a:sysClr val="windowText" lastClr="000000"/>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w Cen MT"/>
              <a:ea typeface="+mn-ea"/>
              <a:cs typeface="+mn-cs"/>
            </a:endParaRPr>
          </a:p>
        </p:txBody>
      </p:sp>
      <p:sp>
        <p:nvSpPr>
          <p:cNvPr id="14" name="Oval 13">
            <a:extLst>
              <a:ext uri="{FF2B5EF4-FFF2-40B4-BE49-F238E27FC236}">
                <a16:creationId xmlns:a16="http://schemas.microsoft.com/office/drawing/2014/main" id="{002E63F3-3080-00AC-E28A-0A4935DE5A09}"/>
              </a:ext>
            </a:extLst>
          </p:cNvPr>
          <p:cNvSpPr/>
          <p:nvPr/>
        </p:nvSpPr>
        <p:spPr>
          <a:xfrm>
            <a:off x="8449282" y="3979944"/>
            <a:ext cx="327079" cy="317264"/>
          </a:xfrm>
          <a:prstGeom prst="ellipse">
            <a:avLst/>
          </a:prstGeom>
          <a:solidFill>
            <a:srgbClr val="DA1F28"/>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sp>
        <p:nvSpPr>
          <p:cNvPr id="15" name="Oval 14">
            <a:extLst>
              <a:ext uri="{FF2B5EF4-FFF2-40B4-BE49-F238E27FC236}">
                <a16:creationId xmlns:a16="http://schemas.microsoft.com/office/drawing/2014/main" id="{DB9BC614-F124-3265-00D3-B9B00B14A317}"/>
              </a:ext>
            </a:extLst>
          </p:cNvPr>
          <p:cNvSpPr/>
          <p:nvPr/>
        </p:nvSpPr>
        <p:spPr>
          <a:xfrm>
            <a:off x="7785331" y="4294564"/>
            <a:ext cx="327079" cy="317264"/>
          </a:xfrm>
          <a:prstGeom prst="ellipse">
            <a:avLst/>
          </a:prstGeom>
          <a:solidFill>
            <a:srgbClr val="DA1F28"/>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sp>
        <p:nvSpPr>
          <p:cNvPr id="16" name="Oval 15">
            <a:extLst>
              <a:ext uri="{FF2B5EF4-FFF2-40B4-BE49-F238E27FC236}">
                <a16:creationId xmlns:a16="http://schemas.microsoft.com/office/drawing/2014/main" id="{74785701-6164-9071-BB00-0F8A4E081D72}"/>
              </a:ext>
            </a:extLst>
          </p:cNvPr>
          <p:cNvSpPr/>
          <p:nvPr/>
        </p:nvSpPr>
        <p:spPr>
          <a:xfrm>
            <a:off x="6598203" y="5028592"/>
            <a:ext cx="329184" cy="329184"/>
          </a:xfrm>
          <a:prstGeom prst="ellipse">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sp>
        <p:nvSpPr>
          <p:cNvPr id="17" name="Freeform 24">
            <a:extLst>
              <a:ext uri="{FF2B5EF4-FFF2-40B4-BE49-F238E27FC236}">
                <a16:creationId xmlns:a16="http://schemas.microsoft.com/office/drawing/2014/main" id="{4E4AAC0A-382C-2108-E276-4D68C5F2854C}"/>
              </a:ext>
            </a:extLst>
          </p:cNvPr>
          <p:cNvSpPr/>
          <p:nvPr/>
        </p:nvSpPr>
        <p:spPr>
          <a:xfrm>
            <a:off x="6779125" y="3053081"/>
            <a:ext cx="2123575" cy="1213508"/>
          </a:xfrm>
          <a:custGeom>
            <a:avLst/>
            <a:gdLst>
              <a:gd name="connsiteX0" fmla="*/ 0 w 1687609"/>
              <a:gd name="connsiteY0" fmla="*/ 802236 h 802236"/>
              <a:gd name="connsiteX1" fmla="*/ 952413 w 1687609"/>
              <a:gd name="connsiteY1" fmla="*/ 635103 h 802236"/>
              <a:gd name="connsiteX2" fmla="*/ 1687609 w 1687609"/>
              <a:gd name="connsiteY2" fmla="*/ 0 h 802236"/>
            </a:gdLst>
            <a:ahLst/>
            <a:cxnLst>
              <a:cxn ang="0">
                <a:pos x="connsiteX0" y="connsiteY0"/>
              </a:cxn>
              <a:cxn ang="0">
                <a:pos x="connsiteX1" y="connsiteY1"/>
              </a:cxn>
              <a:cxn ang="0">
                <a:pos x="connsiteX2" y="connsiteY2"/>
              </a:cxn>
            </a:cxnLst>
            <a:rect l="l" t="t" r="r" b="b"/>
            <a:pathLst>
              <a:path w="1687609" h="802236">
                <a:moveTo>
                  <a:pt x="0" y="802236"/>
                </a:moveTo>
                <a:cubicBezTo>
                  <a:pt x="335572" y="785522"/>
                  <a:pt x="671145" y="768809"/>
                  <a:pt x="952413" y="635103"/>
                </a:cubicBezTo>
                <a:cubicBezTo>
                  <a:pt x="1233681" y="501397"/>
                  <a:pt x="1687609" y="0"/>
                  <a:pt x="1687609" y="0"/>
                </a:cubicBezTo>
              </a:path>
            </a:pathLst>
          </a:custGeom>
          <a:noFill/>
          <a:ln w="19050" cap="flat" cmpd="sng" algn="ctr">
            <a:solidFill>
              <a:sysClr val="windowText" lastClr="000000"/>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w Cen MT"/>
              <a:ea typeface="+mn-ea"/>
              <a:cs typeface="+mn-cs"/>
            </a:endParaRPr>
          </a:p>
        </p:txBody>
      </p:sp>
      <p:sp>
        <p:nvSpPr>
          <p:cNvPr id="18" name="Freeform 25">
            <a:extLst>
              <a:ext uri="{FF2B5EF4-FFF2-40B4-BE49-F238E27FC236}">
                <a16:creationId xmlns:a16="http://schemas.microsoft.com/office/drawing/2014/main" id="{E068672F-18A8-DB11-A795-873BF2AE4081}"/>
              </a:ext>
            </a:extLst>
          </p:cNvPr>
          <p:cNvSpPr/>
          <p:nvPr/>
        </p:nvSpPr>
        <p:spPr>
          <a:xfrm>
            <a:off x="6677525" y="2646681"/>
            <a:ext cx="2123575" cy="1213508"/>
          </a:xfrm>
          <a:custGeom>
            <a:avLst/>
            <a:gdLst>
              <a:gd name="connsiteX0" fmla="*/ 0 w 1687609"/>
              <a:gd name="connsiteY0" fmla="*/ 802236 h 802236"/>
              <a:gd name="connsiteX1" fmla="*/ 952413 w 1687609"/>
              <a:gd name="connsiteY1" fmla="*/ 635103 h 802236"/>
              <a:gd name="connsiteX2" fmla="*/ 1687609 w 1687609"/>
              <a:gd name="connsiteY2" fmla="*/ 0 h 802236"/>
            </a:gdLst>
            <a:ahLst/>
            <a:cxnLst>
              <a:cxn ang="0">
                <a:pos x="connsiteX0" y="connsiteY0"/>
              </a:cxn>
              <a:cxn ang="0">
                <a:pos x="connsiteX1" y="connsiteY1"/>
              </a:cxn>
              <a:cxn ang="0">
                <a:pos x="connsiteX2" y="connsiteY2"/>
              </a:cxn>
            </a:cxnLst>
            <a:rect l="l" t="t" r="r" b="b"/>
            <a:pathLst>
              <a:path w="1687609" h="802236">
                <a:moveTo>
                  <a:pt x="0" y="802236"/>
                </a:moveTo>
                <a:cubicBezTo>
                  <a:pt x="335572" y="785522"/>
                  <a:pt x="671145" y="768809"/>
                  <a:pt x="952413" y="635103"/>
                </a:cubicBezTo>
                <a:cubicBezTo>
                  <a:pt x="1233681" y="501397"/>
                  <a:pt x="1687609" y="0"/>
                  <a:pt x="1687609" y="0"/>
                </a:cubicBezTo>
              </a:path>
            </a:pathLst>
          </a:custGeom>
          <a:noFill/>
          <a:ln w="19050" cap="flat" cmpd="sng" algn="ctr">
            <a:solidFill>
              <a:sysClr val="windowText" lastClr="000000"/>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w Cen MT"/>
              <a:ea typeface="+mn-ea"/>
              <a:cs typeface="+mn-cs"/>
            </a:endParaRPr>
          </a:p>
        </p:txBody>
      </p:sp>
      <p:grpSp>
        <p:nvGrpSpPr>
          <p:cNvPr id="24" name="Group 23">
            <a:extLst>
              <a:ext uri="{FF2B5EF4-FFF2-40B4-BE49-F238E27FC236}">
                <a16:creationId xmlns:a16="http://schemas.microsoft.com/office/drawing/2014/main" id="{1A4BE136-CA92-56B7-6124-1D157BAF8F3F}"/>
              </a:ext>
            </a:extLst>
          </p:cNvPr>
          <p:cNvGrpSpPr/>
          <p:nvPr/>
        </p:nvGrpSpPr>
        <p:grpSpPr>
          <a:xfrm>
            <a:off x="4606501" y="2080900"/>
            <a:ext cx="3949920" cy="2352600"/>
            <a:chOff x="4606501" y="2080900"/>
            <a:chExt cx="3949920" cy="2352600"/>
          </a:xfrm>
        </p:grpSpPr>
        <mc:AlternateContent xmlns:mc="http://schemas.openxmlformats.org/markup-compatibility/2006">
          <mc:Choice xmlns:p14="http://schemas.microsoft.com/office/powerpoint/2010/main" Requires="p14">
            <p:contentPart p14:bwMode="auto" r:id="rId3">
              <p14:nvContentPartPr>
                <p14:cNvPr id="19" name="Ink 18">
                  <a:extLst>
                    <a:ext uri="{FF2B5EF4-FFF2-40B4-BE49-F238E27FC236}">
                      <a16:creationId xmlns:a16="http://schemas.microsoft.com/office/drawing/2014/main" id="{E00C455D-F953-0355-8652-BD910CC42202}"/>
                    </a:ext>
                  </a:extLst>
                </p14:cNvPr>
                <p14:cNvContentPartPr/>
                <p14:nvPr/>
              </p14:nvContentPartPr>
              <p14:xfrm>
                <a:off x="4965421" y="3051820"/>
                <a:ext cx="2628000" cy="1381680"/>
              </p14:xfrm>
            </p:contentPart>
          </mc:Choice>
          <mc:Fallback>
            <p:pic>
              <p:nvPicPr>
                <p:cNvPr id="19" name="Ink 18">
                  <a:extLst>
                    <a:ext uri="{FF2B5EF4-FFF2-40B4-BE49-F238E27FC236}">
                      <a16:creationId xmlns:a16="http://schemas.microsoft.com/office/drawing/2014/main" id="{E00C455D-F953-0355-8652-BD910CC42202}"/>
                    </a:ext>
                  </a:extLst>
                </p:cNvPr>
                <p:cNvPicPr/>
                <p:nvPr/>
              </p:nvPicPr>
              <p:blipFill>
                <a:blip r:embed="rId4"/>
                <a:stretch>
                  <a:fillRect/>
                </a:stretch>
              </p:blipFill>
              <p:spPr>
                <a:xfrm>
                  <a:off x="4959301" y="3045700"/>
                  <a:ext cx="2640240" cy="13939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20" name="Ink 19">
                  <a:extLst>
                    <a:ext uri="{FF2B5EF4-FFF2-40B4-BE49-F238E27FC236}">
                      <a16:creationId xmlns:a16="http://schemas.microsoft.com/office/drawing/2014/main" id="{D63AAFA9-51ED-6D23-3456-B5132F2963CC}"/>
                    </a:ext>
                  </a:extLst>
                </p14:cNvPr>
                <p14:cNvContentPartPr/>
                <p14:nvPr/>
              </p14:nvContentPartPr>
              <p14:xfrm>
                <a:off x="4817821" y="2985940"/>
                <a:ext cx="228600" cy="371880"/>
              </p14:xfrm>
            </p:contentPart>
          </mc:Choice>
          <mc:Fallback>
            <p:pic>
              <p:nvPicPr>
                <p:cNvPr id="20" name="Ink 19">
                  <a:extLst>
                    <a:ext uri="{FF2B5EF4-FFF2-40B4-BE49-F238E27FC236}">
                      <a16:creationId xmlns:a16="http://schemas.microsoft.com/office/drawing/2014/main" id="{D63AAFA9-51ED-6D23-3456-B5132F2963CC}"/>
                    </a:ext>
                  </a:extLst>
                </p:cNvPr>
                <p:cNvPicPr/>
                <p:nvPr/>
              </p:nvPicPr>
              <p:blipFill>
                <a:blip r:embed="rId6"/>
                <a:stretch>
                  <a:fillRect/>
                </a:stretch>
              </p:blipFill>
              <p:spPr>
                <a:xfrm>
                  <a:off x="4811701" y="2979820"/>
                  <a:ext cx="240840" cy="38412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22" name="Ink 21">
                  <a:extLst>
                    <a:ext uri="{FF2B5EF4-FFF2-40B4-BE49-F238E27FC236}">
                      <a16:creationId xmlns:a16="http://schemas.microsoft.com/office/drawing/2014/main" id="{7F154419-4BDF-8F58-9860-16C8465D2CFB}"/>
                    </a:ext>
                  </a:extLst>
                </p14:cNvPr>
                <p14:cNvContentPartPr/>
                <p14:nvPr/>
              </p14:nvContentPartPr>
              <p14:xfrm>
                <a:off x="4606501" y="2080900"/>
                <a:ext cx="3896640" cy="1901520"/>
              </p14:xfrm>
            </p:contentPart>
          </mc:Choice>
          <mc:Fallback>
            <p:pic>
              <p:nvPicPr>
                <p:cNvPr id="22" name="Ink 21">
                  <a:extLst>
                    <a:ext uri="{FF2B5EF4-FFF2-40B4-BE49-F238E27FC236}">
                      <a16:creationId xmlns:a16="http://schemas.microsoft.com/office/drawing/2014/main" id="{7F154419-4BDF-8F58-9860-16C8465D2CFB}"/>
                    </a:ext>
                  </a:extLst>
                </p:cNvPr>
                <p:cNvPicPr/>
                <p:nvPr/>
              </p:nvPicPr>
              <p:blipFill>
                <a:blip r:embed="rId8"/>
                <a:stretch>
                  <a:fillRect/>
                </a:stretch>
              </p:blipFill>
              <p:spPr>
                <a:xfrm>
                  <a:off x="4600381" y="2074780"/>
                  <a:ext cx="3908880" cy="19137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3" name="Ink 22">
                  <a:extLst>
                    <a:ext uri="{FF2B5EF4-FFF2-40B4-BE49-F238E27FC236}">
                      <a16:creationId xmlns:a16="http://schemas.microsoft.com/office/drawing/2014/main" id="{D0893A26-38BE-D009-89EE-DC9EF3750318}"/>
                    </a:ext>
                  </a:extLst>
                </p14:cNvPr>
                <p14:cNvContentPartPr/>
                <p14:nvPr/>
              </p14:nvContentPartPr>
              <p14:xfrm>
                <a:off x="8287501" y="3630340"/>
                <a:ext cx="268920" cy="395280"/>
              </p14:xfrm>
            </p:contentPart>
          </mc:Choice>
          <mc:Fallback>
            <p:pic>
              <p:nvPicPr>
                <p:cNvPr id="23" name="Ink 22">
                  <a:extLst>
                    <a:ext uri="{FF2B5EF4-FFF2-40B4-BE49-F238E27FC236}">
                      <a16:creationId xmlns:a16="http://schemas.microsoft.com/office/drawing/2014/main" id="{D0893A26-38BE-D009-89EE-DC9EF3750318}"/>
                    </a:ext>
                  </a:extLst>
                </p:cNvPr>
                <p:cNvPicPr/>
                <p:nvPr/>
              </p:nvPicPr>
              <p:blipFill>
                <a:blip r:embed="rId10"/>
                <a:stretch>
                  <a:fillRect/>
                </a:stretch>
              </p:blipFill>
              <p:spPr>
                <a:xfrm>
                  <a:off x="8281381" y="3624220"/>
                  <a:ext cx="281160" cy="407520"/>
                </a:xfrm>
                <a:prstGeom prst="rect">
                  <a:avLst/>
                </a:prstGeom>
              </p:spPr>
            </p:pic>
          </mc:Fallback>
        </mc:AlternateContent>
      </p:grpSp>
    </p:spTree>
    <p:extLst>
      <p:ext uri="{BB962C8B-B14F-4D97-AF65-F5344CB8AC3E}">
        <p14:creationId xmlns:p14="http://schemas.microsoft.com/office/powerpoint/2010/main" val="18325093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F4A14-EF31-88BE-3AF8-67C6043D851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09C44D3-11FD-FABD-400D-8412B7D35A62}"/>
              </a:ext>
            </a:extLst>
          </p:cNvPr>
          <p:cNvSpPr/>
          <p:nvPr/>
        </p:nvSpPr>
        <p:spPr>
          <a:xfrm>
            <a:off x="0" y="0"/>
            <a:ext cx="3921369"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rPr>
              <a:t>Modern Portfolio Theory </a:t>
            </a:r>
            <a:r>
              <a:rPr kumimoji="0" lang="en-US" sz="2000" b="1" i="0" u="none" strike="noStrike" kern="1200" cap="none" spc="0" normalizeH="0" baseline="0" noProof="0" dirty="0" err="1">
                <a:ln>
                  <a:noFill/>
                </a:ln>
                <a:solidFill>
                  <a:schemeClr val="bg1"/>
                </a:solidFill>
                <a:effectLst/>
                <a:uLnTx/>
                <a:uFillTx/>
                <a:latin typeface="Calibri" panose="020F0502020204030204"/>
                <a:ea typeface="+mn-ea"/>
                <a:cs typeface="+mn-cs"/>
              </a:rPr>
              <a:t>ll</a:t>
            </a:r>
            <a:endPar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070D719C-E4EB-DCF7-9399-632F1E2A3FC6}"/>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Allocation with Stocks, Bonds and Bills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TextBox 4">
            <a:extLst>
              <a:ext uri="{FF2B5EF4-FFF2-40B4-BE49-F238E27FC236}">
                <a16:creationId xmlns:a16="http://schemas.microsoft.com/office/drawing/2014/main" id="{B7DF53C9-2532-3885-BEF8-402B894710E2}"/>
              </a:ext>
            </a:extLst>
          </p:cNvPr>
          <p:cNvSpPr txBox="1"/>
          <p:nvPr/>
        </p:nvSpPr>
        <p:spPr>
          <a:xfrm>
            <a:off x="192505" y="642136"/>
            <a:ext cx="11806990" cy="523220"/>
          </a:xfrm>
          <a:prstGeom prst="rect">
            <a:avLst/>
          </a:prstGeom>
          <a:noFill/>
        </p:spPr>
        <p:txBody>
          <a:bodyPr wrap="square">
            <a:spAutoFit/>
          </a:bodyPr>
          <a:lstStyle/>
          <a:p>
            <a:pPr marL="320040" indent="-320040">
              <a:spcBef>
                <a:spcPts val="700"/>
              </a:spcBef>
              <a:buClr>
                <a:srgbClr val="DA1F28"/>
              </a:buClr>
              <a:buSzPct val="60000"/>
              <a:buFont typeface="Wingdings"/>
              <a:buChar char=""/>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Step 1: Solving for optimal risky portfolio</a:t>
            </a:r>
          </a:p>
        </p:txBody>
      </p:sp>
      <p:cxnSp>
        <p:nvCxnSpPr>
          <p:cNvPr id="34" name="Straight Connector 33">
            <a:extLst>
              <a:ext uri="{FF2B5EF4-FFF2-40B4-BE49-F238E27FC236}">
                <a16:creationId xmlns:a16="http://schemas.microsoft.com/office/drawing/2014/main" id="{F30F31FD-7D0C-3C9A-5A46-FDB7D356C018}"/>
              </a:ext>
            </a:extLst>
          </p:cNvPr>
          <p:cNvCxnSpPr/>
          <p:nvPr/>
        </p:nvCxnSpPr>
        <p:spPr>
          <a:xfrm>
            <a:off x="3593434" y="2330443"/>
            <a:ext cx="101600" cy="345440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cxnSp>
        <p:nvCxnSpPr>
          <p:cNvPr id="35" name="Straight Connector 34">
            <a:extLst>
              <a:ext uri="{FF2B5EF4-FFF2-40B4-BE49-F238E27FC236}">
                <a16:creationId xmlns:a16="http://schemas.microsoft.com/office/drawing/2014/main" id="{3A11A75E-3AD1-FF02-58BB-0BC36C15997C}"/>
              </a:ext>
            </a:extLst>
          </p:cNvPr>
          <p:cNvCxnSpPr/>
          <p:nvPr/>
        </p:nvCxnSpPr>
        <p:spPr>
          <a:xfrm>
            <a:off x="3695034" y="5784843"/>
            <a:ext cx="4775200" cy="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
        <p:nvSpPr>
          <p:cNvPr id="36" name="Oval 35">
            <a:extLst>
              <a:ext uri="{FF2B5EF4-FFF2-40B4-BE49-F238E27FC236}">
                <a16:creationId xmlns:a16="http://schemas.microsoft.com/office/drawing/2014/main" id="{795A2762-66D8-3BB3-4B5E-76C3CF37E326}"/>
              </a:ext>
            </a:extLst>
          </p:cNvPr>
          <p:cNvSpPr/>
          <p:nvPr/>
        </p:nvSpPr>
        <p:spPr>
          <a:xfrm>
            <a:off x="5397850" y="4530559"/>
            <a:ext cx="329184" cy="329184"/>
          </a:xfrm>
          <a:prstGeom prst="ellipse">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sp>
        <p:nvSpPr>
          <p:cNvPr id="37" name="Oval 36">
            <a:extLst>
              <a:ext uri="{FF2B5EF4-FFF2-40B4-BE49-F238E27FC236}">
                <a16:creationId xmlns:a16="http://schemas.microsoft.com/office/drawing/2014/main" id="{A6BC63EB-C51E-00F1-E038-3C2F323A8C47}"/>
              </a:ext>
            </a:extLst>
          </p:cNvPr>
          <p:cNvSpPr/>
          <p:nvPr/>
        </p:nvSpPr>
        <p:spPr>
          <a:xfrm>
            <a:off x="7633050" y="3311359"/>
            <a:ext cx="329184" cy="329184"/>
          </a:xfrm>
          <a:prstGeom prst="ellipse">
            <a:avLst/>
          </a:prstGeom>
          <a:solidFill>
            <a:sysClr val="windowText" lastClr="000000">
              <a:lumMod val="75000"/>
              <a:lumOff val="25000"/>
            </a:sysClr>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sp>
        <p:nvSpPr>
          <p:cNvPr id="38" name="Freeform 8">
            <a:extLst>
              <a:ext uri="{FF2B5EF4-FFF2-40B4-BE49-F238E27FC236}">
                <a16:creationId xmlns:a16="http://schemas.microsoft.com/office/drawing/2014/main" id="{C3AD03AD-FE8B-DC4E-6DF4-44765917A081}"/>
              </a:ext>
            </a:extLst>
          </p:cNvPr>
          <p:cNvSpPr/>
          <p:nvPr/>
        </p:nvSpPr>
        <p:spPr>
          <a:xfrm>
            <a:off x="5117435" y="3479812"/>
            <a:ext cx="2730159" cy="1253948"/>
          </a:xfrm>
          <a:custGeom>
            <a:avLst/>
            <a:gdLst>
              <a:gd name="connsiteX0" fmla="*/ 2047619 w 2047619"/>
              <a:gd name="connsiteY0" fmla="*/ 0 h 1036221"/>
              <a:gd name="connsiteX1" fmla="*/ 727608 w 2047619"/>
              <a:gd name="connsiteY1" fmla="*/ 217273 h 1036221"/>
              <a:gd name="connsiteX2" fmla="*/ 9121 w 2047619"/>
              <a:gd name="connsiteY2" fmla="*/ 618390 h 1036221"/>
              <a:gd name="connsiteX3" fmla="*/ 326592 w 2047619"/>
              <a:gd name="connsiteY3" fmla="*/ 986082 h 1036221"/>
              <a:gd name="connsiteX4" fmla="*/ 393428 w 2047619"/>
              <a:gd name="connsiteY4" fmla="*/ 1002795 h 1036221"/>
              <a:gd name="connsiteX5" fmla="*/ 393428 w 2047619"/>
              <a:gd name="connsiteY5" fmla="*/ 1002795 h 1036221"/>
              <a:gd name="connsiteX6" fmla="*/ 393428 w 2047619"/>
              <a:gd name="connsiteY6" fmla="*/ 1036221 h 1036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47619" h="1036221">
                <a:moveTo>
                  <a:pt x="2047619" y="0"/>
                </a:moveTo>
                <a:cubicBezTo>
                  <a:pt x="1557488" y="57104"/>
                  <a:pt x="1067358" y="114208"/>
                  <a:pt x="727608" y="217273"/>
                </a:cubicBezTo>
                <a:cubicBezTo>
                  <a:pt x="387858" y="320338"/>
                  <a:pt x="75957" y="490255"/>
                  <a:pt x="9121" y="618390"/>
                </a:cubicBezTo>
                <a:cubicBezTo>
                  <a:pt x="-57715" y="746525"/>
                  <a:pt x="262541" y="922014"/>
                  <a:pt x="326592" y="986082"/>
                </a:cubicBezTo>
                <a:cubicBezTo>
                  <a:pt x="390643" y="1050150"/>
                  <a:pt x="393428" y="1002795"/>
                  <a:pt x="393428" y="1002795"/>
                </a:cubicBezTo>
                <a:lnTo>
                  <a:pt x="393428" y="1002795"/>
                </a:lnTo>
                <a:lnTo>
                  <a:pt x="393428" y="1036221"/>
                </a:lnTo>
              </a:path>
            </a:pathLst>
          </a:custGeom>
          <a:noFill/>
          <a:ln w="1905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Tw Cen MT"/>
              <a:ea typeface="+mn-ea"/>
              <a:cs typeface="+mn-cs"/>
            </a:endParaRPr>
          </a:p>
        </p:txBody>
      </p:sp>
      <p:sp>
        <p:nvSpPr>
          <p:cNvPr id="39" name="TextBox 38">
            <a:extLst>
              <a:ext uri="{FF2B5EF4-FFF2-40B4-BE49-F238E27FC236}">
                <a16:creationId xmlns:a16="http://schemas.microsoft.com/office/drawing/2014/main" id="{CB1F79A7-0639-ADF2-57B9-483B582B7C97}"/>
              </a:ext>
            </a:extLst>
          </p:cNvPr>
          <p:cNvSpPr txBox="1"/>
          <p:nvPr/>
        </p:nvSpPr>
        <p:spPr>
          <a:xfrm>
            <a:off x="2882234" y="2330444"/>
            <a:ext cx="914400" cy="543675"/>
          </a:xfrm>
          <a:prstGeom prst="rect">
            <a:avLst/>
          </a:prstGeom>
          <a:noFill/>
        </p:spPr>
        <p:txBody>
          <a:bodyPr wrap="square" rtlCol="0">
            <a:spAutoFit/>
          </a:bodyPr>
          <a:lstStyle/>
          <a:p>
            <a:pPr defTabSz="1219170"/>
            <a:r>
              <a:rPr lang="en-US" sz="2933" dirty="0">
                <a:solidFill>
                  <a:prstClr val="black"/>
                </a:solidFill>
                <a:latin typeface="Tw Cen MT"/>
              </a:rPr>
              <a:t>E(r)</a:t>
            </a:r>
          </a:p>
        </p:txBody>
      </p:sp>
      <p:sp>
        <p:nvSpPr>
          <p:cNvPr id="40" name="TextBox 39">
            <a:extLst>
              <a:ext uri="{FF2B5EF4-FFF2-40B4-BE49-F238E27FC236}">
                <a16:creationId xmlns:a16="http://schemas.microsoft.com/office/drawing/2014/main" id="{B24C5FE5-F0A5-7E93-64B9-3140D481A6FE}"/>
              </a:ext>
            </a:extLst>
          </p:cNvPr>
          <p:cNvSpPr txBox="1"/>
          <p:nvPr/>
        </p:nvSpPr>
        <p:spPr>
          <a:xfrm>
            <a:off x="8470234" y="5343359"/>
            <a:ext cx="914400" cy="543675"/>
          </a:xfrm>
          <a:prstGeom prst="rect">
            <a:avLst/>
          </a:prstGeom>
          <a:noFill/>
        </p:spPr>
        <p:txBody>
          <a:bodyPr wrap="square" rtlCol="0">
            <a:spAutoFit/>
          </a:bodyPr>
          <a:lstStyle/>
          <a:p>
            <a:pPr defTabSz="1219170"/>
            <a:r>
              <a:rPr lang="en-US" sz="2933" dirty="0">
                <a:solidFill>
                  <a:prstClr val="black"/>
                </a:solidFill>
                <a:latin typeface="Tw Cen MT"/>
              </a:rPr>
              <a:t>Std.</a:t>
            </a:r>
          </a:p>
        </p:txBody>
      </p:sp>
      <p:sp>
        <p:nvSpPr>
          <p:cNvPr id="41" name="Oval 40">
            <a:extLst>
              <a:ext uri="{FF2B5EF4-FFF2-40B4-BE49-F238E27FC236}">
                <a16:creationId xmlns:a16="http://schemas.microsoft.com/office/drawing/2014/main" id="{9E8C3537-9BE1-7210-163B-DC57BE7D1EEE}"/>
              </a:ext>
            </a:extLst>
          </p:cNvPr>
          <p:cNvSpPr/>
          <p:nvPr/>
        </p:nvSpPr>
        <p:spPr>
          <a:xfrm>
            <a:off x="3491835" y="4924495"/>
            <a:ext cx="327079" cy="317264"/>
          </a:xfrm>
          <a:prstGeom prst="ellipse">
            <a:avLst/>
          </a:prstGeom>
          <a:solidFill>
            <a:srgbClr val="FFFF00"/>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cxnSp>
        <p:nvCxnSpPr>
          <p:cNvPr id="42" name="Straight Connector 41">
            <a:extLst>
              <a:ext uri="{FF2B5EF4-FFF2-40B4-BE49-F238E27FC236}">
                <a16:creationId xmlns:a16="http://schemas.microsoft.com/office/drawing/2014/main" id="{71529431-C29F-5475-C52E-8FC026484352}"/>
              </a:ext>
            </a:extLst>
          </p:cNvPr>
          <p:cNvCxnSpPr/>
          <p:nvPr/>
        </p:nvCxnSpPr>
        <p:spPr>
          <a:xfrm flipV="1">
            <a:off x="3641335" y="3108159"/>
            <a:ext cx="4219300" cy="186280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cxnSp>
        <p:nvCxnSpPr>
          <p:cNvPr id="43" name="Straight Connector 42">
            <a:extLst>
              <a:ext uri="{FF2B5EF4-FFF2-40B4-BE49-F238E27FC236}">
                <a16:creationId xmlns:a16="http://schemas.microsoft.com/office/drawing/2014/main" id="{175D2D98-FD8D-1C99-07EA-910B1BD87B76}"/>
              </a:ext>
            </a:extLst>
          </p:cNvPr>
          <p:cNvCxnSpPr/>
          <p:nvPr/>
        </p:nvCxnSpPr>
        <p:spPr>
          <a:xfrm flipV="1">
            <a:off x="3695034" y="2904960"/>
            <a:ext cx="3454400" cy="2032001"/>
          </a:xfrm>
          <a:prstGeom prst="line">
            <a:avLst/>
          </a:prstGeom>
          <a:noFill/>
          <a:ln w="19050" cap="flat" cmpd="sng" algn="ctr">
            <a:solidFill>
              <a:srgbClr val="DA1F28"/>
            </a:solidFill>
            <a:prstDash val="solid"/>
          </a:ln>
          <a:effectLst>
            <a:outerShdw blurRad="38100" dist="30000" dir="5400000" rotWithShape="0">
              <a:srgbClr val="000000">
                <a:alpha val="45000"/>
              </a:srgbClr>
            </a:outerShdw>
          </a:effectLst>
        </p:spPr>
      </p:cxnSp>
      <p:sp>
        <p:nvSpPr>
          <p:cNvPr id="44" name="Oval 43">
            <a:extLst>
              <a:ext uri="{FF2B5EF4-FFF2-40B4-BE49-F238E27FC236}">
                <a16:creationId xmlns:a16="http://schemas.microsoft.com/office/drawing/2014/main" id="{7D0DB0F8-2DA5-E48F-76A7-DB057E2182BE}"/>
              </a:ext>
            </a:extLst>
          </p:cNvPr>
          <p:cNvSpPr/>
          <p:nvPr/>
        </p:nvSpPr>
        <p:spPr>
          <a:xfrm>
            <a:off x="5320635" y="3717759"/>
            <a:ext cx="327079" cy="317264"/>
          </a:xfrm>
          <a:prstGeom prst="ellipse">
            <a:avLst/>
          </a:prstGeom>
          <a:solidFill>
            <a:srgbClr val="DA1F28"/>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sp>
        <p:nvSpPr>
          <p:cNvPr id="45" name="Oval 44">
            <a:extLst>
              <a:ext uri="{FF2B5EF4-FFF2-40B4-BE49-F238E27FC236}">
                <a16:creationId xmlns:a16="http://schemas.microsoft.com/office/drawing/2014/main" id="{9A0C4562-8525-11AF-1AA9-4E868CF74482}"/>
              </a:ext>
            </a:extLst>
          </p:cNvPr>
          <p:cNvSpPr/>
          <p:nvPr/>
        </p:nvSpPr>
        <p:spPr>
          <a:xfrm>
            <a:off x="6619156" y="3412959"/>
            <a:ext cx="327079" cy="317264"/>
          </a:xfrm>
          <a:prstGeom prst="ellipse">
            <a:avLst/>
          </a:prstGeom>
          <a:solidFill>
            <a:srgbClr val="EB641B"/>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sp>
        <p:nvSpPr>
          <p:cNvPr id="46" name="TextBox 45">
            <a:extLst>
              <a:ext uri="{FF2B5EF4-FFF2-40B4-BE49-F238E27FC236}">
                <a16:creationId xmlns:a16="http://schemas.microsoft.com/office/drawing/2014/main" id="{515D056E-22CE-A0BB-28B6-EC7FD39F11A4}"/>
              </a:ext>
            </a:extLst>
          </p:cNvPr>
          <p:cNvSpPr txBox="1"/>
          <p:nvPr/>
        </p:nvSpPr>
        <p:spPr>
          <a:xfrm>
            <a:off x="7149434" y="2295360"/>
            <a:ext cx="4165600" cy="584775"/>
          </a:xfrm>
          <a:prstGeom prst="rect">
            <a:avLst/>
          </a:prstGeom>
          <a:noFill/>
        </p:spPr>
        <p:txBody>
          <a:bodyPr wrap="square" rtlCol="0">
            <a:spAutoFit/>
          </a:bodyPr>
          <a:lstStyle/>
          <a:p>
            <a:pPr defTabSz="1219170"/>
            <a:r>
              <a:rPr lang="en-US" sz="3200" dirty="0">
                <a:solidFill>
                  <a:srgbClr val="DA1F28"/>
                </a:solidFill>
                <a:latin typeface="Tw Cen MT"/>
              </a:rPr>
              <a:t>Best feasible CAL</a:t>
            </a:r>
          </a:p>
        </p:txBody>
      </p:sp>
      <p:sp>
        <p:nvSpPr>
          <p:cNvPr id="47" name="TextBox 46">
            <a:extLst>
              <a:ext uri="{FF2B5EF4-FFF2-40B4-BE49-F238E27FC236}">
                <a16:creationId xmlns:a16="http://schemas.microsoft.com/office/drawing/2014/main" id="{5AB6F468-879E-1709-B1C7-89261360DE46}"/>
              </a:ext>
            </a:extLst>
          </p:cNvPr>
          <p:cNvSpPr txBox="1"/>
          <p:nvPr/>
        </p:nvSpPr>
        <p:spPr>
          <a:xfrm>
            <a:off x="850234" y="3241863"/>
            <a:ext cx="3962400" cy="584775"/>
          </a:xfrm>
          <a:prstGeom prst="rect">
            <a:avLst/>
          </a:prstGeom>
          <a:noFill/>
        </p:spPr>
        <p:txBody>
          <a:bodyPr wrap="square" rtlCol="0">
            <a:spAutoFit/>
          </a:bodyPr>
          <a:lstStyle/>
          <a:p>
            <a:pPr defTabSz="1219170"/>
            <a:r>
              <a:rPr lang="en-US" sz="3200" dirty="0">
                <a:solidFill>
                  <a:srgbClr val="DA1F28"/>
                </a:solidFill>
                <a:latin typeface="Tw Cen MT"/>
              </a:rPr>
              <a:t>Optimal risky portfolio</a:t>
            </a:r>
          </a:p>
        </p:txBody>
      </p:sp>
      <p:cxnSp>
        <p:nvCxnSpPr>
          <p:cNvPr id="48" name="Straight Arrow Connector 47">
            <a:extLst>
              <a:ext uri="{FF2B5EF4-FFF2-40B4-BE49-F238E27FC236}">
                <a16:creationId xmlns:a16="http://schemas.microsoft.com/office/drawing/2014/main" id="{BA94DE1C-9DB1-CACB-F68D-5C82AD57921E}"/>
              </a:ext>
            </a:extLst>
          </p:cNvPr>
          <p:cNvCxnSpPr/>
          <p:nvPr/>
        </p:nvCxnSpPr>
        <p:spPr>
          <a:xfrm>
            <a:off x="4812634" y="3619137"/>
            <a:ext cx="508000" cy="257255"/>
          </a:xfrm>
          <a:prstGeom prst="straightConnector1">
            <a:avLst/>
          </a:prstGeom>
          <a:noFill/>
          <a:ln w="19050" cap="flat" cmpd="sng" algn="ctr">
            <a:solidFill>
              <a:srgbClr val="DA1F28"/>
            </a:solidFill>
            <a:prstDash val="solid"/>
            <a:tailEnd type="arrow"/>
          </a:ln>
          <a:effectLst>
            <a:outerShdw blurRad="38100" dist="30000" dir="5400000" rotWithShape="0">
              <a:srgbClr val="000000">
                <a:alpha val="45000"/>
              </a:srgbClr>
            </a:outerShdw>
          </a:effectLst>
        </p:spPr>
      </p:cxnSp>
    </p:spTree>
    <p:extLst>
      <p:ext uri="{BB962C8B-B14F-4D97-AF65-F5344CB8AC3E}">
        <p14:creationId xmlns:p14="http://schemas.microsoft.com/office/powerpoint/2010/main" val="107841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921369"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rPr>
              <a:t>Modern Portfolio Theory </a:t>
            </a:r>
            <a:r>
              <a:rPr kumimoji="0" lang="en-US" sz="2000" b="1" i="0" u="none" strike="noStrike" kern="1200" cap="none" spc="0" normalizeH="0" baseline="0" noProof="0" dirty="0" err="1">
                <a:ln>
                  <a:noFill/>
                </a:ln>
                <a:solidFill>
                  <a:schemeClr val="bg1"/>
                </a:solidFill>
                <a:effectLst/>
                <a:uLnTx/>
                <a:uFillTx/>
                <a:latin typeface="Calibri" panose="020F0502020204030204"/>
                <a:ea typeface="+mn-ea"/>
                <a:cs typeface="+mn-cs"/>
              </a:rPr>
              <a:t>ll</a:t>
            </a:r>
            <a:endPar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Allocation with Stocks, Bonds and Bills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graphicFrame>
        <p:nvGraphicFramePr>
          <p:cNvPr id="4" name="Object 3">
            <a:extLst>
              <a:ext uri="{FF2B5EF4-FFF2-40B4-BE49-F238E27FC236}">
                <a16:creationId xmlns:a16="http://schemas.microsoft.com/office/drawing/2014/main" id="{12AD4854-D8A4-E5A8-AA2F-3176BF7CB769}"/>
              </a:ext>
            </a:extLst>
          </p:cNvPr>
          <p:cNvGraphicFramePr>
            <a:graphicFrameLocks noChangeAspect="1"/>
          </p:cNvGraphicFramePr>
          <p:nvPr>
            <p:extLst>
              <p:ext uri="{D42A27DB-BD31-4B8C-83A1-F6EECF244321}">
                <p14:modId xmlns:p14="http://schemas.microsoft.com/office/powerpoint/2010/main" val="2797874998"/>
              </p:ext>
            </p:extLst>
          </p:nvPr>
        </p:nvGraphicFramePr>
        <p:xfrm>
          <a:off x="994343" y="919982"/>
          <a:ext cx="2927026" cy="1097635"/>
        </p:xfrm>
        <a:graphic>
          <a:graphicData uri="http://schemas.openxmlformats.org/presentationml/2006/ole">
            <mc:AlternateContent xmlns:mc="http://schemas.openxmlformats.org/markup-compatibility/2006">
              <mc:Choice xmlns:v="urn:schemas-microsoft-com:vml" Requires="v">
                <p:oleObj name="Equation" r:id="rId3" imgW="1219200" imgH="457200" progId="Equation.3">
                  <p:embed/>
                </p:oleObj>
              </mc:Choice>
              <mc:Fallback>
                <p:oleObj name="Equation" r:id="rId3" imgW="1219200" imgH="457200" progId="Equation.3">
                  <p:embed/>
                  <p:pic>
                    <p:nvPicPr>
                      <p:cNvPr id="4" name="Object 3">
                        <a:extLst>
                          <a:ext uri="{FF2B5EF4-FFF2-40B4-BE49-F238E27FC236}">
                            <a16:creationId xmlns:a16="http://schemas.microsoft.com/office/drawing/2014/main" id="{12AD4854-D8A4-E5A8-AA2F-3176BF7CB769}"/>
                          </a:ext>
                        </a:extLst>
                      </p:cNvPr>
                      <p:cNvPicPr/>
                      <p:nvPr/>
                    </p:nvPicPr>
                    <p:blipFill>
                      <a:blip r:embed="rId4"/>
                      <a:stretch>
                        <a:fillRect/>
                      </a:stretch>
                    </p:blipFill>
                    <p:spPr>
                      <a:xfrm>
                        <a:off x="994343" y="919982"/>
                        <a:ext cx="2927026" cy="1097635"/>
                      </a:xfrm>
                      <a:prstGeom prst="rect">
                        <a:avLst/>
                      </a:prstGeom>
                    </p:spPr>
                  </p:pic>
                </p:oleObj>
              </mc:Fallback>
            </mc:AlternateContent>
          </a:graphicData>
        </a:graphic>
      </p:graphicFrame>
      <p:graphicFrame>
        <p:nvGraphicFramePr>
          <p:cNvPr id="6" name="Content Placeholder 3">
            <a:extLst>
              <a:ext uri="{FF2B5EF4-FFF2-40B4-BE49-F238E27FC236}">
                <a16:creationId xmlns:a16="http://schemas.microsoft.com/office/drawing/2014/main" id="{72BFE736-1487-B2B1-54B5-90D5B84D08D5}"/>
              </a:ext>
            </a:extLst>
          </p:cNvPr>
          <p:cNvGraphicFramePr>
            <a:graphicFrameLocks noChangeAspect="1"/>
          </p:cNvGraphicFramePr>
          <p:nvPr>
            <p:extLst>
              <p:ext uri="{D42A27DB-BD31-4B8C-83A1-F6EECF244321}">
                <p14:modId xmlns:p14="http://schemas.microsoft.com/office/powerpoint/2010/main" val="3133332750"/>
              </p:ext>
            </p:extLst>
          </p:nvPr>
        </p:nvGraphicFramePr>
        <p:xfrm>
          <a:off x="1661077" y="2164432"/>
          <a:ext cx="4045819" cy="513568"/>
        </p:xfrm>
        <a:graphic>
          <a:graphicData uri="http://schemas.openxmlformats.org/presentationml/2006/ole">
            <mc:AlternateContent xmlns:mc="http://schemas.openxmlformats.org/markup-compatibility/2006">
              <mc:Choice xmlns:v="urn:schemas-microsoft-com:vml" Requires="v">
                <p:oleObj name="Equation" r:id="rId5" imgW="1803400" imgH="228600" progId="Equation.3">
                  <p:embed/>
                </p:oleObj>
              </mc:Choice>
              <mc:Fallback>
                <p:oleObj name="Equation" r:id="rId5" imgW="1803400" imgH="228600" progId="Equation.3">
                  <p:embed/>
                  <p:pic>
                    <p:nvPicPr>
                      <p:cNvPr id="6" name="Content Placeholder 3">
                        <a:extLst>
                          <a:ext uri="{FF2B5EF4-FFF2-40B4-BE49-F238E27FC236}">
                            <a16:creationId xmlns:a16="http://schemas.microsoft.com/office/drawing/2014/main" id="{72BFE736-1487-B2B1-54B5-90D5B84D08D5}"/>
                          </a:ext>
                        </a:extLst>
                      </p:cNvPr>
                      <p:cNvPicPr/>
                      <p:nvPr/>
                    </p:nvPicPr>
                    <p:blipFill>
                      <a:blip r:embed="rId6"/>
                      <a:stretch>
                        <a:fillRect/>
                      </a:stretch>
                    </p:blipFill>
                    <p:spPr>
                      <a:xfrm>
                        <a:off x="1661077" y="2164432"/>
                        <a:ext cx="4045819" cy="513568"/>
                      </a:xfrm>
                      <a:prstGeom prst="rect">
                        <a:avLst/>
                      </a:prstGeom>
                    </p:spPr>
                  </p:pic>
                </p:oleObj>
              </mc:Fallback>
            </mc:AlternateContent>
          </a:graphicData>
        </a:graphic>
      </p:graphicFrame>
      <p:graphicFrame>
        <p:nvGraphicFramePr>
          <p:cNvPr id="9" name="Content Placeholder 3">
            <a:extLst>
              <a:ext uri="{FF2B5EF4-FFF2-40B4-BE49-F238E27FC236}">
                <a16:creationId xmlns:a16="http://schemas.microsoft.com/office/drawing/2014/main" id="{5D168F76-1149-A2C4-50E8-F69C32A52DA0}"/>
              </a:ext>
            </a:extLst>
          </p:cNvPr>
          <p:cNvGraphicFramePr>
            <a:graphicFrameLocks noChangeAspect="1"/>
          </p:cNvGraphicFramePr>
          <p:nvPr>
            <p:extLst>
              <p:ext uri="{D42A27DB-BD31-4B8C-83A1-F6EECF244321}">
                <p14:modId xmlns:p14="http://schemas.microsoft.com/office/powerpoint/2010/main" val="502388"/>
              </p:ext>
            </p:extLst>
          </p:nvPr>
        </p:nvGraphicFramePr>
        <p:xfrm>
          <a:off x="1661077" y="2876995"/>
          <a:ext cx="6594709" cy="604927"/>
        </p:xfrm>
        <a:graphic>
          <a:graphicData uri="http://schemas.openxmlformats.org/presentationml/2006/ole">
            <mc:AlternateContent xmlns:mc="http://schemas.openxmlformats.org/markup-compatibility/2006">
              <mc:Choice xmlns:v="urn:schemas-microsoft-com:vml" Requires="v">
                <p:oleObj name="Equation" r:id="rId7" imgW="2768600" imgH="254000" progId="Equation.3">
                  <p:embed/>
                </p:oleObj>
              </mc:Choice>
              <mc:Fallback>
                <p:oleObj name="Equation" r:id="rId7" imgW="2768600" imgH="254000" progId="Equation.3">
                  <p:embed/>
                  <p:pic>
                    <p:nvPicPr>
                      <p:cNvPr id="9" name="Content Placeholder 3">
                        <a:extLst>
                          <a:ext uri="{FF2B5EF4-FFF2-40B4-BE49-F238E27FC236}">
                            <a16:creationId xmlns:a16="http://schemas.microsoft.com/office/drawing/2014/main" id="{5D168F76-1149-A2C4-50E8-F69C32A52DA0}"/>
                          </a:ext>
                        </a:extLst>
                      </p:cNvPr>
                      <p:cNvPicPr/>
                      <p:nvPr/>
                    </p:nvPicPr>
                    <p:blipFill>
                      <a:blip r:embed="rId8"/>
                      <a:stretch>
                        <a:fillRect/>
                      </a:stretch>
                    </p:blipFill>
                    <p:spPr>
                      <a:xfrm>
                        <a:off x="1661077" y="2876995"/>
                        <a:ext cx="6594709" cy="604927"/>
                      </a:xfrm>
                      <a:prstGeom prst="rect">
                        <a:avLst/>
                      </a:prstGeom>
                    </p:spPr>
                  </p:pic>
                </p:oleObj>
              </mc:Fallback>
            </mc:AlternateContent>
          </a:graphicData>
        </a:graphic>
      </p:graphicFrame>
      <p:graphicFrame>
        <p:nvGraphicFramePr>
          <p:cNvPr id="2" name="Object 1">
            <a:extLst>
              <a:ext uri="{FF2B5EF4-FFF2-40B4-BE49-F238E27FC236}">
                <a16:creationId xmlns:a16="http://schemas.microsoft.com/office/drawing/2014/main" id="{B206876D-AB03-396A-51B9-A37C32760B90}"/>
              </a:ext>
            </a:extLst>
          </p:cNvPr>
          <p:cNvGraphicFramePr>
            <a:graphicFrameLocks noChangeAspect="1"/>
          </p:cNvGraphicFramePr>
          <p:nvPr>
            <p:extLst>
              <p:ext uri="{D42A27DB-BD31-4B8C-83A1-F6EECF244321}">
                <p14:modId xmlns:p14="http://schemas.microsoft.com/office/powerpoint/2010/main" val="2984476002"/>
              </p:ext>
            </p:extLst>
          </p:nvPr>
        </p:nvGraphicFramePr>
        <p:xfrm>
          <a:off x="2596114" y="3870738"/>
          <a:ext cx="6794032" cy="1797771"/>
        </p:xfrm>
        <a:graphic>
          <a:graphicData uri="http://schemas.openxmlformats.org/presentationml/2006/ole">
            <mc:AlternateContent xmlns:mc="http://schemas.openxmlformats.org/markup-compatibility/2006">
              <mc:Choice xmlns:v="urn:schemas-microsoft-com:vml" Requires="v">
                <p:oleObj name="Equation" r:id="rId9" imgW="3505200" imgH="927100" progId="Equation.3">
                  <p:embed/>
                </p:oleObj>
              </mc:Choice>
              <mc:Fallback>
                <p:oleObj name="Equation" r:id="rId9" imgW="3505200" imgH="927100" progId="Equation.3">
                  <p:embed/>
                  <p:pic>
                    <p:nvPicPr>
                      <p:cNvPr id="2" name="Object 1">
                        <a:extLst>
                          <a:ext uri="{FF2B5EF4-FFF2-40B4-BE49-F238E27FC236}">
                            <a16:creationId xmlns:a16="http://schemas.microsoft.com/office/drawing/2014/main" id="{B206876D-AB03-396A-51B9-A37C32760B90}"/>
                          </a:ext>
                        </a:extLst>
                      </p:cNvPr>
                      <p:cNvPicPr/>
                      <p:nvPr/>
                    </p:nvPicPr>
                    <p:blipFill>
                      <a:blip r:embed="rId10"/>
                      <a:stretch>
                        <a:fillRect/>
                      </a:stretch>
                    </p:blipFill>
                    <p:spPr>
                      <a:xfrm>
                        <a:off x="2596114" y="3870738"/>
                        <a:ext cx="6794032" cy="1797771"/>
                      </a:xfrm>
                      <a:prstGeom prst="rect">
                        <a:avLst/>
                      </a:prstGeom>
                    </p:spPr>
                  </p:pic>
                </p:oleObj>
              </mc:Fallback>
            </mc:AlternateContent>
          </a:graphicData>
        </a:graphic>
      </p:graphicFrame>
      <p:sp>
        <p:nvSpPr>
          <p:cNvPr id="5" name="Right Arrow 5">
            <a:extLst>
              <a:ext uri="{FF2B5EF4-FFF2-40B4-BE49-F238E27FC236}">
                <a16:creationId xmlns:a16="http://schemas.microsoft.com/office/drawing/2014/main" id="{CA4B1FE4-9EF1-6D72-812C-020A1535F8EC}"/>
              </a:ext>
            </a:extLst>
          </p:cNvPr>
          <p:cNvSpPr/>
          <p:nvPr/>
        </p:nvSpPr>
        <p:spPr>
          <a:xfrm>
            <a:off x="1661077" y="4108009"/>
            <a:ext cx="540218" cy="433072"/>
          </a:xfrm>
          <a:prstGeom prst="rightArrow">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Tw Cen MT"/>
              <a:ea typeface="+mn-ea"/>
              <a:cs typeface="+mn-cs"/>
            </a:endParaRPr>
          </a:p>
        </p:txBody>
      </p:sp>
      <p:sp>
        <p:nvSpPr>
          <p:cNvPr id="10" name="Rectangle 9">
            <a:extLst>
              <a:ext uri="{FF2B5EF4-FFF2-40B4-BE49-F238E27FC236}">
                <a16:creationId xmlns:a16="http://schemas.microsoft.com/office/drawing/2014/main" id="{A713D18F-EF82-11B2-EFAE-7DD1347A123F}"/>
              </a:ext>
            </a:extLst>
          </p:cNvPr>
          <p:cNvSpPr/>
          <p:nvPr/>
        </p:nvSpPr>
        <p:spPr>
          <a:xfrm>
            <a:off x="2521390" y="3814433"/>
            <a:ext cx="7149220" cy="2123585"/>
          </a:xfrm>
          <a:prstGeom prst="rect">
            <a:avLst/>
          </a:prstGeom>
          <a:solidFill>
            <a:srgbClr val="2DA2BF">
              <a:alpha val="36000"/>
            </a:srgbClr>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Tw Cen MT"/>
              <a:ea typeface="+mn-ea"/>
              <a:cs typeface="+mn-cs"/>
            </a:endParaRPr>
          </a:p>
        </p:txBody>
      </p:sp>
    </p:spTree>
    <p:extLst>
      <p:ext uri="{BB962C8B-B14F-4D97-AF65-F5344CB8AC3E}">
        <p14:creationId xmlns:p14="http://schemas.microsoft.com/office/powerpoint/2010/main" val="915514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D1F2F-4DE9-A12A-2311-3E449152C96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501B4801-1F19-3CF3-E0A7-FC28C7513C36}"/>
              </a:ext>
            </a:extLst>
          </p:cNvPr>
          <p:cNvSpPr/>
          <p:nvPr/>
        </p:nvSpPr>
        <p:spPr>
          <a:xfrm>
            <a:off x="0" y="0"/>
            <a:ext cx="3921369"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rPr>
              <a:t>Modern Portfolio Theory </a:t>
            </a:r>
            <a:r>
              <a:rPr kumimoji="0" lang="en-US" sz="2000" b="1" i="0" u="none" strike="noStrike" kern="1200" cap="none" spc="0" normalizeH="0" baseline="0" noProof="0" dirty="0" err="1">
                <a:ln>
                  <a:noFill/>
                </a:ln>
                <a:solidFill>
                  <a:schemeClr val="bg1"/>
                </a:solidFill>
                <a:effectLst/>
                <a:uLnTx/>
                <a:uFillTx/>
                <a:latin typeface="Calibri" panose="020F0502020204030204"/>
                <a:ea typeface="+mn-ea"/>
                <a:cs typeface="+mn-cs"/>
              </a:rPr>
              <a:t>ll</a:t>
            </a:r>
            <a:endPar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94FE338F-6EF7-E601-9614-AC8F6957B87D}"/>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Allocation with Stocks, Bonds and Bills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TextBox 4">
            <a:extLst>
              <a:ext uri="{FF2B5EF4-FFF2-40B4-BE49-F238E27FC236}">
                <a16:creationId xmlns:a16="http://schemas.microsoft.com/office/drawing/2014/main" id="{D66F7126-C10A-1F8C-01DE-32A171DD30D6}"/>
              </a:ext>
            </a:extLst>
          </p:cNvPr>
          <p:cNvSpPr txBox="1"/>
          <p:nvPr/>
        </p:nvSpPr>
        <p:spPr>
          <a:xfrm>
            <a:off x="192505" y="642136"/>
            <a:ext cx="11806990" cy="523220"/>
          </a:xfrm>
          <a:prstGeom prst="rect">
            <a:avLst/>
          </a:prstGeom>
          <a:noFill/>
        </p:spPr>
        <p:txBody>
          <a:bodyPr wrap="square">
            <a:spAutoFit/>
          </a:bodyPr>
          <a:lstStyle/>
          <a:p>
            <a:pPr marL="320040" indent="-320040">
              <a:spcBef>
                <a:spcPts val="700"/>
              </a:spcBef>
              <a:buClr>
                <a:srgbClr val="DA1F28"/>
              </a:buClr>
              <a:buSzPct val="60000"/>
              <a:buFont typeface="Wingdings"/>
              <a:buChar char=""/>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Step 2: Solving for optimal complete portfolio</a:t>
            </a:r>
          </a:p>
        </p:txBody>
      </p:sp>
      <p:cxnSp>
        <p:nvCxnSpPr>
          <p:cNvPr id="2" name="Straight Connector 1">
            <a:extLst>
              <a:ext uri="{FF2B5EF4-FFF2-40B4-BE49-F238E27FC236}">
                <a16:creationId xmlns:a16="http://schemas.microsoft.com/office/drawing/2014/main" id="{312290A2-160A-09F2-7A5F-B6E8B3BA0B08}"/>
              </a:ext>
            </a:extLst>
          </p:cNvPr>
          <p:cNvCxnSpPr/>
          <p:nvPr/>
        </p:nvCxnSpPr>
        <p:spPr>
          <a:xfrm>
            <a:off x="4377424" y="2105320"/>
            <a:ext cx="101600" cy="345440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cxnSp>
        <p:nvCxnSpPr>
          <p:cNvPr id="3" name="Straight Connector 2">
            <a:extLst>
              <a:ext uri="{FF2B5EF4-FFF2-40B4-BE49-F238E27FC236}">
                <a16:creationId xmlns:a16="http://schemas.microsoft.com/office/drawing/2014/main" id="{0D92F0E6-6D2C-8237-25E8-71AE5F876285}"/>
              </a:ext>
            </a:extLst>
          </p:cNvPr>
          <p:cNvCxnSpPr/>
          <p:nvPr/>
        </p:nvCxnSpPr>
        <p:spPr>
          <a:xfrm>
            <a:off x="4479024" y="5559720"/>
            <a:ext cx="4775200" cy="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
        <p:nvSpPr>
          <p:cNvPr id="4" name="Oval 3">
            <a:extLst>
              <a:ext uri="{FF2B5EF4-FFF2-40B4-BE49-F238E27FC236}">
                <a16:creationId xmlns:a16="http://schemas.microsoft.com/office/drawing/2014/main" id="{E4C2010B-81A2-AD15-3132-10F2A765DF6F}"/>
              </a:ext>
            </a:extLst>
          </p:cNvPr>
          <p:cNvSpPr/>
          <p:nvPr/>
        </p:nvSpPr>
        <p:spPr>
          <a:xfrm>
            <a:off x="6181840" y="4305436"/>
            <a:ext cx="329184" cy="329184"/>
          </a:xfrm>
          <a:prstGeom prst="ellipse">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sp>
        <p:nvSpPr>
          <p:cNvPr id="6" name="Oval 5">
            <a:extLst>
              <a:ext uri="{FF2B5EF4-FFF2-40B4-BE49-F238E27FC236}">
                <a16:creationId xmlns:a16="http://schemas.microsoft.com/office/drawing/2014/main" id="{FE447247-8C51-C61E-5E57-F60928121DCB}"/>
              </a:ext>
            </a:extLst>
          </p:cNvPr>
          <p:cNvSpPr/>
          <p:nvPr/>
        </p:nvSpPr>
        <p:spPr>
          <a:xfrm>
            <a:off x="8417040" y="3086236"/>
            <a:ext cx="329184" cy="329184"/>
          </a:xfrm>
          <a:prstGeom prst="ellipse">
            <a:avLst/>
          </a:prstGeom>
          <a:solidFill>
            <a:sysClr val="windowText" lastClr="000000">
              <a:lumMod val="75000"/>
              <a:lumOff val="25000"/>
            </a:sysClr>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sp>
        <p:nvSpPr>
          <p:cNvPr id="9" name="Freeform 8">
            <a:extLst>
              <a:ext uri="{FF2B5EF4-FFF2-40B4-BE49-F238E27FC236}">
                <a16:creationId xmlns:a16="http://schemas.microsoft.com/office/drawing/2014/main" id="{CF10E106-A256-F453-5FD2-9C59F4B03925}"/>
              </a:ext>
            </a:extLst>
          </p:cNvPr>
          <p:cNvSpPr/>
          <p:nvPr/>
        </p:nvSpPr>
        <p:spPr>
          <a:xfrm>
            <a:off x="5901425" y="3254689"/>
            <a:ext cx="2730159" cy="1253948"/>
          </a:xfrm>
          <a:custGeom>
            <a:avLst/>
            <a:gdLst>
              <a:gd name="connsiteX0" fmla="*/ 2047619 w 2047619"/>
              <a:gd name="connsiteY0" fmla="*/ 0 h 1036221"/>
              <a:gd name="connsiteX1" fmla="*/ 727608 w 2047619"/>
              <a:gd name="connsiteY1" fmla="*/ 217273 h 1036221"/>
              <a:gd name="connsiteX2" fmla="*/ 9121 w 2047619"/>
              <a:gd name="connsiteY2" fmla="*/ 618390 h 1036221"/>
              <a:gd name="connsiteX3" fmla="*/ 326592 w 2047619"/>
              <a:gd name="connsiteY3" fmla="*/ 986082 h 1036221"/>
              <a:gd name="connsiteX4" fmla="*/ 393428 w 2047619"/>
              <a:gd name="connsiteY4" fmla="*/ 1002795 h 1036221"/>
              <a:gd name="connsiteX5" fmla="*/ 393428 w 2047619"/>
              <a:gd name="connsiteY5" fmla="*/ 1002795 h 1036221"/>
              <a:gd name="connsiteX6" fmla="*/ 393428 w 2047619"/>
              <a:gd name="connsiteY6" fmla="*/ 1036221 h 1036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47619" h="1036221">
                <a:moveTo>
                  <a:pt x="2047619" y="0"/>
                </a:moveTo>
                <a:cubicBezTo>
                  <a:pt x="1557488" y="57104"/>
                  <a:pt x="1067358" y="114208"/>
                  <a:pt x="727608" y="217273"/>
                </a:cubicBezTo>
                <a:cubicBezTo>
                  <a:pt x="387858" y="320338"/>
                  <a:pt x="75957" y="490255"/>
                  <a:pt x="9121" y="618390"/>
                </a:cubicBezTo>
                <a:cubicBezTo>
                  <a:pt x="-57715" y="746525"/>
                  <a:pt x="262541" y="922014"/>
                  <a:pt x="326592" y="986082"/>
                </a:cubicBezTo>
                <a:cubicBezTo>
                  <a:pt x="390643" y="1050150"/>
                  <a:pt x="393428" y="1002795"/>
                  <a:pt x="393428" y="1002795"/>
                </a:cubicBezTo>
                <a:lnTo>
                  <a:pt x="393428" y="1002795"/>
                </a:lnTo>
                <a:lnTo>
                  <a:pt x="393428" y="1036221"/>
                </a:lnTo>
              </a:path>
            </a:pathLst>
          </a:custGeom>
          <a:noFill/>
          <a:ln w="1905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Tw Cen MT"/>
              <a:ea typeface="+mn-ea"/>
              <a:cs typeface="+mn-cs"/>
            </a:endParaRPr>
          </a:p>
        </p:txBody>
      </p:sp>
      <p:sp>
        <p:nvSpPr>
          <p:cNvPr id="10" name="TextBox 9">
            <a:extLst>
              <a:ext uri="{FF2B5EF4-FFF2-40B4-BE49-F238E27FC236}">
                <a16:creationId xmlns:a16="http://schemas.microsoft.com/office/drawing/2014/main" id="{C52A3519-7914-E640-E294-052F21A8A8E8}"/>
              </a:ext>
            </a:extLst>
          </p:cNvPr>
          <p:cNvSpPr txBox="1"/>
          <p:nvPr/>
        </p:nvSpPr>
        <p:spPr>
          <a:xfrm>
            <a:off x="3666224" y="2105321"/>
            <a:ext cx="914400" cy="543675"/>
          </a:xfrm>
          <a:prstGeom prst="rect">
            <a:avLst/>
          </a:prstGeom>
          <a:noFill/>
        </p:spPr>
        <p:txBody>
          <a:bodyPr wrap="square" rtlCol="0">
            <a:spAutoFit/>
          </a:bodyPr>
          <a:lstStyle/>
          <a:p>
            <a:pPr defTabSz="1219170"/>
            <a:r>
              <a:rPr lang="en-US" sz="2933" dirty="0">
                <a:solidFill>
                  <a:prstClr val="black"/>
                </a:solidFill>
                <a:latin typeface="Tw Cen MT"/>
              </a:rPr>
              <a:t>E(r)</a:t>
            </a:r>
          </a:p>
        </p:txBody>
      </p:sp>
      <p:sp>
        <p:nvSpPr>
          <p:cNvPr id="11" name="TextBox 10">
            <a:extLst>
              <a:ext uri="{FF2B5EF4-FFF2-40B4-BE49-F238E27FC236}">
                <a16:creationId xmlns:a16="http://schemas.microsoft.com/office/drawing/2014/main" id="{7F183D9A-ED17-A352-7CDE-FA6A270B112E}"/>
              </a:ext>
            </a:extLst>
          </p:cNvPr>
          <p:cNvSpPr txBox="1"/>
          <p:nvPr/>
        </p:nvSpPr>
        <p:spPr>
          <a:xfrm>
            <a:off x="8644624" y="5559720"/>
            <a:ext cx="914400" cy="543675"/>
          </a:xfrm>
          <a:prstGeom prst="rect">
            <a:avLst/>
          </a:prstGeom>
          <a:noFill/>
        </p:spPr>
        <p:txBody>
          <a:bodyPr wrap="square" rtlCol="0">
            <a:spAutoFit/>
          </a:bodyPr>
          <a:lstStyle/>
          <a:p>
            <a:pPr defTabSz="1219170"/>
            <a:r>
              <a:rPr lang="en-US" sz="2933" dirty="0">
                <a:solidFill>
                  <a:prstClr val="black"/>
                </a:solidFill>
                <a:latin typeface="Tw Cen MT"/>
              </a:rPr>
              <a:t>Std.</a:t>
            </a:r>
          </a:p>
        </p:txBody>
      </p:sp>
      <p:sp>
        <p:nvSpPr>
          <p:cNvPr id="12" name="Oval 11">
            <a:extLst>
              <a:ext uri="{FF2B5EF4-FFF2-40B4-BE49-F238E27FC236}">
                <a16:creationId xmlns:a16="http://schemas.microsoft.com/office/drawing/2014/main" id="{0352740F-35A7-E0BF-829E-9DDC934BF215}"/>
              </a:ext>
            </a:extLst>
          </p:cNvPr>
          <p:cNvSpPr/>
          <p:nvPr/>
        </p:nvSpPr>
        <p:spPr>
          <a:xfrm>
            <a:off x="4275825" y="4699372"/>
            <a:ext cx="327079" cy="317264"/>
          </a:xfrm>
          <a:prstGeom prst="ellipse">
            <a:avLst/>
          </a:prstGeom>
          <a:solidFill>
            <a:srgbClr val="FFFF00"/>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cxnSp>
        <p:nvCxnSpPr>
          <p:cNvPr id="13" name="Straight Connector 12">
            <a:extLst>
              <a:ext uri="{FF2B5EF4-FFF2-40B4-BE49-F238E27FC236}">
                <a16:creationId xmlns:a16="http://schemas.microsoft.com/office/drawing/2014/main" id="{79B48A7A-8080-37BA-0107-2B3CA42D6F95}"/>
              </a:ext>
            </a:extLst>
          </p:cNvPr>
          <p:cNvCxnSpPr/>
          <p:nvPr/>
        </p:nvCxnSpPr>
        <p:spPr>
          <a:xfrm flipV="1">
            <a:off x="4479024" y="2679837"/>
            <a:ext cx="3454400" cy="2032001"/>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
        <p:nvSpPr>
          <p:cNvPr id="14" name="Oval 13">
            <a:extLst>
              <a:ext uri="{FF2B5EF4-FFF2-40B4-BE49-F238E27FC236}">
                <a16:creationId xmlns:a16="http://schemas.microsoft.com/office/drawing/2014/main" id="{A51BD8EA-6155-5480-5FBD-334FCC3BDA60}"/>
              </a:ext>
            </a:extLst>
          </p:cNvPr>
          <p:cNvSpPr/>
          <p:nvPr/>
        </p:nvSpPr>
        <p:spPr>
          <a:xfrm>
            <a:off x="6104625" y="3492636"/>
            <a:ext cx="327079" cy="317264"/>
          </a:xfrm>
          <a:prstGeom prst="ellipse">
            <a:avLst/>
          </a:prstGeom>
          <a:solidFill>
            <a:srgbClr val="DA1F28"/>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sp>
        <p:nvSpPr>
          <p:cNvPr id="15" name="Freeform 15">
            <a:extLst>
              <a:ext uri="{FF2B5EF4-FFF2-40B4-BE49-F238E27FC236}">
                <a16:creationId xmlns:a16="http://schemas.microsoft.com/office/drawing/2014/main" id="{F69504A9-B77E-1C79-2E8B-FA5792F83164}"/>
              </a:ext>
            </a:extLst>
          </p:cNvPr>
          <p:cNvSpPr/>
          <p:nvPr/>
        </p:nvSpPr>
        <p:spPr>
          <a:xfrm>
            <a:off x="4479024" y="2829388"/>
            <a:ext cx="2133600" cy="1374448"/>
          </a:xfrm>
          <a:custGeom>
            <a:avLst/>
            <a:gdLst>
              <a:gd name="connsiteX0" fmla="*/ 0 w 1687609"/>
              <a:gd name="connsiteY0" fmla="*/ 802236 h 802236"/>
              <a:gd name="connsiteX1" fmla="*/ 952413 w 1687609"/>
              <a:gd name="connsiteY1" fmla="*/ 635103 h 802236"/>
              <a:gd name="connsiteX2" fmla="*/ 1687609 w 1687609"/>
              <a:gd name="connsiteY2" fmla="*/ 0 h 802236"/>
            </a:gdLst>
            <a:ahLst/>
            <a:cxnLst>
              <a:cxn ang="0">
                <a:pos x="connsiteX0" y="connsiteY0"/>
              </a:cxn>
              <a:cxn ang="0">
                <a:pos x="connsiteX1" y="connsiteY1"/>
              </a:cxn>
              <a:cxn ang="0">
                <a:pos x="connsiteX2" y="connsiteY2"/>
              </a:cxn>
            </a:cxnLst>
            <a:rect l="l" t="t" r="r" b="b"/>
            <a:pathLst>
              <a:path w="1687609" h="802236">
                <a:moveTo>
                  <a:pt x="0" y="802236"/>
                </a:moveTo>
                <a:cubicBezTo>
                  <a:pt x="335572" y="785522"/>
                  <a:pt x="671145" y="768809"/>
                  <a:pt x="952413" y="635103"/>
                </a:cubicBezTo>
                <a:cubicBezTo>
                  <a:pt x="1233681" y="501397"/>
                  <a:pt x="1687609" y="0"/>
                  <a:pt x="1687609" y="0"/>
                </a:cubicBezTo>
              </a:path>
            </a:pathLst>
          </a:custGeom>
          <a:noFill/>
          <a:ln w="19050" cap="flat" cmpd="sng" algn="ctr">
            <a:solidFill>
              <a:sysClr val="windowText" lastClr="000000"/>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w Cen MT"/>
              <a:ea typeface="+mn-ea"/>
              <a:cs typeface="+mn-cs"/>
            </a:endParaRPr>
          </a:p>
        </p:txBody>
      </p:sp>
      <p:sp>
        <p:nvSpPr>
          <p:cNvPr id="16" name="Freeform 19">
            <a:extLst>
              <a:ext uri="{FF2B5EF4-FFF2-40B4-BE49-F238E27FC236}">
                <a16:creationId xmlns:a16="http://schemas.microsoft.com/office/drawing/2014/main" id="{8D97F0E6-EBA4-09AB-F1AC-B7DA37CA1CC7}"/>
              </a:ext>
            </a:extLst>
          </p:cNvPr>
          <p:cNvSpPr/>
          <p:nvPr/>
        </p:nvSpPr>
        <p:spPr>
          <a:xfrm>
            <a:off x="4377424" y="2375036"/>
            <a:ext cx="2133600" cy="1374448"/>
          </a:xfrm>
          <a:custGeom>
            <a:avLst/>
            <a:gdLst>
              <a:gd name="connsiteX0" fmla="*/ 0 w 1687609"/>
              <a:gd name="connsiteY0" fmla="*/ 802236 h 802236"/>
              <a:gd name="connsiteX1" fmla="*/ 952413 w 1687609"/>
              <a:gd name="connsiteY1" fmla="*/ 635103 h 802236"/>
              <a:gd name="connsiteX2" fmla="*/ 1687609 w 1687609"/>
              <a:gd name="connsiteY2" fmla="*/ 0 h 802236"/>
            </a:gdLst>
            <a:ahLst/>
            <a:cxnLst>
              <a:cxn ang="0">
                <a:pos x="connsiteX0" y="connsiteY0"/>
              </a:cxn>
              <a:cxn ang="0">
                <a:pos x="connsiteX1" y="connsiteY1"/>
              </a:cxn>
              <a:cxn ang="0">
                <a:pos x="connsiteX2" y="connsiteY2"/>
              </a:cxn>
            </a:cxnLst>
            <a:rect l="l" t="t" r="r" b="b"/>
            <a:pathLst>
              <a:path w="1687609" h="802236">
                <a:moveTo>
                  <a:pt x="0" y="802236"/>
                </a:moveTo>
                <a:cubicBezTo>
                  <a:pt x="335572" y="785522"/>
                  <a:pt x="671145" y="768809"/>
                  <a:pt x="952413" y="635103"/>
                </a:cubicBezTo>
                <a:cubicBezTo>
                  <a:pt x="1233681" y="501397"/>
                  <a:pt x="1687609" y="0"/>
                  <a:pt x="1687609" y="0"/>
                </a:cubicBezTo>
              </a:path>
            </a:pathLst>
          </a:custGeom>
          <a:noFill/>
          <a:ln w="19050" cap="flat" cmpd="sng" algn="ctr">
            <a:solidFill>
              <a:sysClr val="windowText" lastClr="000000"/>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w Cen MT"/>
              <a:ea typeface="+mn-ea"/>
              <a:cs typeface="+mn-cs"/>
            </a:endParaRPr>
          </a:p>
        </p:txBody>
      </p:sp>
      <p:sp>
        <p:nvSpPr>
          <p:cNvPr id="17" name="Freeform 21">
            <a:extLst>
              <a:ext uri="{FF2B5EF4-FFF2-40B4-BE49-F238E27FC236}">
                <a16:creationId xmlns:a16="http://schemas.microsoft.com/office/drawing/2014/main" id="{32453F3D-06C7-6082-D189-80E64D98E991}"/>
              </a:ext>
            </a:extLst>
          </p:cNvPr>
          <p:cNvSpPr/>
          <p:nvPr/>
        </p:nvSpPr>
        <p:spPr>
          <a:xfrm>
            <a:off x="4377424" y="1867036"/>
            <a:ext cx="2032000" cy="1422400"/>
          </a:xfrm>
          <a:custGeom>
            <a:avLst/>
            <a:gdLst>
              <a:gd name="connsiteX0" fmla="*/ 0 w 1687609"/>
              <a:gd name="connsiteY0" fmla="*/ 802236 h 802236"/>
              <a:gd name="connsiteX1" fmla="*/ 952413 w 1687609"/>
              <a:gd name="connsiteY1" fmla="*/ 635103 h 802236"/>
              <a:gd name="connsiteX2" fmla="*/ 1687609 w 1687609"/>
              <a:gd name="connsiteY2" fmla="*/ 0 h 802236"/>
            </a:gdLst>
            <a:ahLst/>
            <a:cxnLst>
              <a:cxn ang="0">
                <a:pos x="connsiteX0" y="connsiteY0"/>
              </a:cxn>
              <a:cxn ang="0">
                <a:pos x="connsiteX1" y="connsiteY1"/>
              </a:cxn>
              <a:cxn ang="0">
                <a:pos x="connsiteX2" y="connsiteY2"/>
              </a:cxn>
            </a:cxnLst>
            <a:rect l="l" t="t" r="r" b="b"/>
            <a:pathLst>
              <a:path w="1687609" h="802236">
                <a:moveTo>
                  <a:pt x="0" y="802236"/>
                </a:moveTo>
                <a:cubicBezTo>
                  <a:pt x="335572" y="785522"/>
                  <a:pt x="671145" y="768809"/>
                  <a:pt x="952413" y="635103"/>
                </a:cubicBezTo>
                <a:cubicBezTo>
                  <a:pt x="1233681" y="501397"/>
                  <a:pt x="1687609" y="0"/>
                  <a:pt x="1687609" y="0"/>
                </a:cubicBezTo>
              </a:path>
            </a:pathLst>
          </a:custGeom>
          <a:noFill/>
          <a:ln w="19050" cap="flat" cmpd="sng" algn="ctr">
            <a:solidFill>
              <a:sysClr val="windowText" lastClr="000000"/>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w Cen MT"/>
              <a:ea typeface="+mn-ea"/>
              <a:cs typeface="+mn-cs"/>
            </a:endParaRPr>
          </a:p>
        </p:txBody>
      </p:sp>
      <p:sp>
        <p:nvSpPr>
          <p:cNvPr id="18" name="Oval 17">
            <a:extLst>
              <a:ext uri="{FF2B5EF4-FFF2-40B4-BE49-F238E27FC236}">
                <a16:creationId xmlns:a16="http://schemas.microsoft.com/office/drawing/2014/main" id="{3051AB14-1452-BEC6-9291-571A6B0D607D}"/>
              </a:ext>
            </a:extLst>
          </p:cNvPr>
          <p:cNvSpPr/>
          <p:nvPr/>
        </p:nvSpPr>
        <p:spPr>
          <a:xfrm>
            <a:off x="5393425" y="3886572"/>
            <a:ext cx="327079" cy="317264"/>
          </a:xfrm>
          <a:prstGeom prst="ellipse">
            <a:avLst/>
          </a:prstGeom>
          <a:solidFill>
            <a:srgbClr val="008000"/>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sp>
        <p:nvSpPr>
          <p:cNvPr id="19" name="TextBox 18">
            <a:extLst>
              <a:ext uri="{FF2B5EF4-FFF2-40B4-BE49-F238E27FC236}">
                <a16:creationId xmlns:a16="http://schemas.microsoft.com/office/drawing/2014/main" id="{DA0BEF45-8429-7318-EB6A-1A7A4A35B876}"/>
              </a:ext>
            </a:extLst>
          </p:cNvPr>
          <p:cNvSpPr txBox="1"/>
          <p:nvPr/>
        </p:nvSpPr>
        <p:spPr>
          <a:xfrm>
            <a:off x="7933424" y="2267483"/>
            <a:ext cx="3454400" cy="584775"/>
          </a:xfrm>
          <a:prstGeom prst="rect">
            <a:avLst/>
          </a:prstGeom>
          <a:noFill/>
        </p:spPr>
        <p:txBody>
          <a:bodyPr wrap="square" rtlCol="0">
            <a:spAutoFit/>
          </a:bodyPr>
          <a:lstStyle/>
          <a:p>
            <a:pPr defTabSz="1219170"/>
            <a:r>
              <a:rPr lang="en-US" sz="3200" dirty="0">
                <a:solidFill>
                  <a:srgbClr val="DA1F28"/>
                </a:solidFill>
                <a:latin typeface="Tw Cen MT"/>
              </a:rPr>
              <a:t>Best feasible CAL</a:t>
            </a:r>
          </a:p>
        </p:txBody>
      </p:sp>
      <p:sp>
        <p:nvSpPr>
          <p:cNvPr id="20" name="TextBox 19">
            <a:extLst>
              <a:ext uri="{FF2B5EF4-FFF2-40B4-BE49-F238E27FC236}">
                <a16:creationId xmlns:a16="http://schemas.microsoft.com/office/drawing/2014/main" id="{CE101E34-9D7C-7F3E-3A12-FF700FE6FECA}"/>
              </a:ext>
            </a:extLst>
          </p:cNvPr>
          <p:cNvSpPr txBox="1"/>
          <p:nvPr/>
        </p:nvSpPr>
        <p:spPr>
          <a:xfrm>
            <a:off x="516624" y="3807040"/>
            <a:ext cx="3657600" cy="1077218"/>
          </a:xfrm>
          <a:prstGeom prst="rect">
            <a:avLst/>
          </a:prstGeom>
          <a:noFill/>
        </p:spPr>
        <p:txBody>
          <a:bodyPr wrap="square" rtlCol="0">
            <a:spAutoFit/>
          </a:bodyPr>
          <a:lstStyle/>
          <a:p>
            <a:pPr defTabSz="1219170"/>
            <a:r>
              <a:rPr lang="en-US" sz="3200" dirty="0">
                <a:solidFill>
                  <a:srgbClr val="DA1F28"/>
                </a:solidFill>
                <a:latin typeface="Tw Cen MT"/>
              </a:rPr>
              <a:t>Optimal complete portfolio</a:t>
            </a:r>
          </a:p>
        </p:txBody>
      </p:sp>
      <p:cxnSp>
        <p:nvCxnSpPr>
          <p:cNvPr id="21" name="Straight Arrow Connector 20">
            <a:extLst>
              <a:ext uri="{FF2B5EF4-FFF2-40B4-BE49-F238E27FC236}">
                <a16:creationId xmlns:a16="http://schemas.microsoft.com/office/drawing/2014/main" id="{60AEBA6C-E0D6-260D-7A34-CB7611A33485}"/>
              </a:ext>
            </a:extLst>
          </p:cNvPr>
          <p:cNvCxnSpPr/>
          <p:nvPr/>
        </p:nvCxnSpPr>
        <p:spPr>
          <a:xfrm flipV="1">
            <a:off x="3604285" y="4000636"/>
            <a:ext cx="1789140" cy="203200"/>
          </a:xfrm>
          <a:prstGeom prst="straightConnector1">
            <a:avLst/>
          </a:prstGeom>
          <a:noFill/>
          <a:ln w="19050" cap="flat" cmpd="sng" algn="ctr">
            <a:solidFill>
              <a:srgbClr val="DA1F28"/>
            </a:solidFill>
            <a:prstDash val="solid"/>
            <a:tailEnd type="arrow"/>
          </a:ln>
          <a:effectLst>
            <a:outerShdw blurRad="38100" dist="30000" dir="5400000" rotWithShape="0">
              <a:srgbClr val="000000">
                <a:alpha val="45000"/>
              </a:srgbClr>
            </a:outerShdw>
          </a:effectLst>
        </p:spPr>
      </p:cxnSp>
    </p:spTree>
    <p:extLst>
      <p:ext uri="{BB962C8B-B14F-4D97-AF65-F5344CB8AC3E}">
        <p14:creationId xmlns:p14="http://schemas.microsoft.com/office/powerpoint/2010/main" val="3827439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DACFE-1AE1-0BDC-0020-0DFADC4E5C3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969A4B4-D52B-684E-771B-D8B47A6A8A3B}"/>
              </a:ext>
            </a:extLst>
          </p:cNvPr>
          <p:cNvSpPr/>
          <p:nvPr/>
        </p:nvSpPr>
        <p:spPr>
          <a:xfrm>
            <a:off x="0" y="0"/>
            <a:ext cx="3921369"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rPr>
              <a:t>Modern Portfolio Theory </a:t>
            </a:r>
            <a:r>
              <a:rPr kumimoji="0" lang="en-US" sz="2000" b="1" i="0" u="none" strike="noStrike" kern="1200" cap="none" spc="0" normalizeH="0" baseline="0" noProof="0" dirty="0" err="1">
                <a:ln>
                  <a:noFill/>
                </a:ln>
                <a:solidFill>
                  <a:schemeClr val="bg1"/>
                </a:solidFill>
                <a:effectLst/>
                <a:uLnTx/>
                <a:uFillTx/>
                <a:latin typeface="Calibri" panose="020F0502020204030204"/>
                <a:ea typeface="+mn-ea"/>
                <a:cs typeface="+mn-cs"/>
              </a:rPr>
              <a:t>ll</a:t>
            </a:r>
            <a:endPar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9C1BB11E-970D-77E2-0A2E-5933027F59BC}"/>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Allocation with Stocks, Bonds and Bills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TextBox 4">
            <a:extLst>
              <a:ext uri="{FF2B5EF4-FFF2-40B4-BE49-F238E27FC236}">
                <a16:creationId xmlns:a16="http://schemas.microsoft.com/office/drawing/2014/main" id="{97915D2B-C950-F519-FC63-A4DCA77F281C}"/>
              </a:ext>
            </a:extLst>
          </p:cNvPr>
          <p:cNvSpPr txBox="1"/>
          <p:nvPr/>
        </p:nvSpPr>
        <p:spPr>
          <a:xfrm>
            <a:off x="192505" y="642136"/>
            <a:ext cx="11806990" cy="523220"/>
          </a:xfrm>
          <a:prstGeom prst="rect">
            <a:avLst/>
          </a:prstGeom>
          <a:noFill/>
        </p:spPr>
        <p:txBody>
          <a:bodyPr wrap="square">
            <a:spAutoFit/>
          </a:bodyPr>
          <a:lstStyle/>
          <a:p>
            <a:pPr marL="320040" indent="-320040">
              <a:spcBef>
                <a:spcPts val="700"/>
              </a:spcBef>
              <a:buClr>
                <a:srgbClr val="DA1F28"/>
              </a:buClr>
              <a:buSzPct val="60000"/>
              <a:buFont typeface="Wingdings"/>
              <a:buChar char=""/>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Step 2: Solving for optimal complete portfolio</a:t>
            </a:r>
          </a:p>
        </p:txBody>
      </p:sp>
      <p:graphicFrame>
        <p:nvGraphicFramePr>
          <p:cNvPr id="22" name="Object 21">
            <a:extLst>
              <a:ext uri="{FF2B5EF4-FFF2-40B4-BE49-F238E27FC236}">
                <a16:creationId xmlns:a16="http://schemas.microsoft.com/office/drawing/2014/main" id="{48AA007E-66F5-9C72-360C-2C064038750F}"/>
              </a:ext>
            </a:extLst>
          </p:cNvPr>
          <p:cNvGraphicFramePr>
            <a:graphicFrameLocks noChangeAspect="1"/>
          </p:cNvGraphicFramePr>
          <p:nvPr>
            <p:extLst>
              <p:ext uri="{D42A27DB-BD31-4B8C-83A1-F6EECF244321}">
                <p14:modId xmlns:p14="http://schemas.microsoft.com/office/powerpoint/2010/main" val="166786921"/>
              </p:ext>
            </p:extLst>
          </p:nvPr>
        </p:nvGraphicFramePr>
        <p:xfrm>
          <a:off x="2786068" y="3263338"/>
          <a:ext cx="3165282" cy="1604906"/>
        </p:xfrm>
        <a:graphic>
          <a:graphicData uri="http://schemas.openxmlformats.org/presentationml/2006/ole">
            <mc:AlternateContent xmlns:mc="http://schemas.openxmlformats.org/markup-compatibility/2006">
              <mc:Choice xmlns:v="urn:schemas-microsoft-com:vml" Requires="v">
                <p:oleObj name="Equation" r:id="rId3" imgW="901700" imgH="457200" progId="Equation.3">
                  <p:embed/>
                </p:oleObj>
              </mc:Choice>
              <mc:Fallback>
                <p:oleObj name="Equation" r:id="rId3" imgW="901700" imgH="457200" progId="Equation.3">
                  <p:embed/>
                  <p:pic>
                    <p:nvPicPr>
                      <p:cNvPr id="22" name="Object 21">
                        <a:extLst>
                          <a:ext uri="{FF2B5EF4-FFF2-40B4-BE49-F238E27FC236}">
                            <a16:creationId xmlns:a16="http://schemas.microsoft.com/office/drawing/2014/main" id="{48AA007E-66F5-9C72-360C-2C064038750F}"/>
                          </a:ext>
                        </a:extLst>
                      </p:cNvPr>
                      <p:cNvPicPr/>
                      <p:nvPr/>
                    </p:nvPicPr>
                    <p:blipFill>
                      <a:blip r:embed="rId4"/>
                      <a:stretch>
                        <a:fillRect/>
                      </a:stretch>
                    </p:blipFill>
                    <p:spPr>
                      <a:xfrm>
                        <a:off x="2786068" y="3263338"/>
                        <a:ext cx="3165282" cy="1604906"/>
                      </a:xfrm>
                      <a:prstGeom prst="rect">
                        <a:avLst/>
                      </a:prstGeom>
                    </p:spPr>
                  </p:pic>
                </p:oleObj>
              </mc:Fallback>
            </mc:AlternateContent>
          </a:graphicData>
        </a:graphic>
      </p:graphicFrame>
      <p:sp>
        <p:nvSpPr>
          <p:cNvPr id="23" name="TextBox 22">
            <a:extLst>
              <a:ext uri="{FF2B5EF4-FFF2-40B4-BE49-F238E27FC236}">
                <a16:creationId xmlns:a16="http://schemas.microsoft.com/office/drawing/2014/main" id="{9EC4346F-386D-33E5-FC3C-46A12E9B3342}"/>
              </a:ext>
            </a:extLst>
          </p:cNvPr>
          <p:cNvSpPr txBox="1"/>
          <p:nvPr/>
        </p:nvSpPr>
        <p:spPr>
          <a:xfrm>
            <a:off x="1094631" y="1429517"/>
            <a:ext cx="8411579" cy="1569660"/>
          </a:xfrm>
          <a:prstGeom prst="rect">
            <a:avLst/>
          </a:prstGeom>
          <a:noFill/>
        </p:spPr>
        <p:txBody>
          <a:bodyPr wrap="square" rtlCol="0">
            <a:spAutoFit/>
          </a:bodyPr>
          <a:lstStyle/>
          <a:p>
            <a:r>
              <a:rPr lang="en-US" sz="3200" dirty="0">
                <a:solidFill>
                  <a:prstClr val="black"/>
                </a:solidFill>
                <a:latin typeface="Tw Cen MT"/>
              </a:rPr>
              <a:t>In Lecture 4, you have learned that when there are one risky asset and one risk-free asset, the optimal complete portfolio is: </a:t>
            </a:r>
          </a:p>
        </p:txBody>
      </p:sp>
    </p:spTree>
    <p:extLst>
      <p:ext uri="{BB962C8B-B14F-4D97-AF65-F5344CB8AC3E}">
        <p14:creationId xmlns:p14="http://schemas.microsoft.com/office/powerpoint/2010/main" val="1669713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dissolv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EEB28-EC38-C6A9-58F7-CD6CA233214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5D4FEEE0-C2F9-5210-6249-68E911B93BFE}"/>
              </a:ext>
            </a:extLst>
          </p:cNvPr>
          <p:cNvSpPr/>
          <p:nvPr/>
        </p:nvSpPr>
        <p:spPr>
          <a:xfrm>
            <a:off x="0" y="0"/>
            <a:ext cx="3921369"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rPr>
              <a:t>Modern Portfolio Theory </a:t>
            </a:r>
            <a:r>
              <a:rPr kumimoji="0" lang="en-US" sz="2000" b="1" i="0" u="none" strike="noStrike" kern="1200" cap="none" spc="0" normalizeH="0" baseline="0" noProof="0" dirty="0" err="1">
                <a:ln>
                  <a:noFill/>
                </a:ln>
                <a:solidFill>
                  <a:schemeClr val="bg1"/>
                </a:solidFill>
                <a:effectLst/>
                <a:uLnTx/>
                <a:uFillTx/>
                <a:latin typeface="Calibri" panose="020F0502020204030204"/>
                <a:ea typeface="+mn-ea"/>
                <a:cs typeface="+mn-cs"/>
              </a:rPr>
              <a:t>ll</a:t>
            </a:r>
            <a:endPar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E2A94E57-2440-543F-2A72-D36BA83F9601}"/>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Allocation with Stocks, Bonds and Bills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TextBox 4">
            <a:extLst>
              <a:ext uri="{FF2B5EF4-FFF2-40B4-BE49-F238E27FC236}">
                <a16:creationId xmlns:a16="http://schemas.microsoft.com/office/drawing/2014/main" id="{A285FB9F-9786-FF2D-D468-2F18F662D4B1}"/>
              </a:ext>
            </a:extLst>
          </p:cNvPr>
          <p:cNvSpPr txBox="1"/>
          <p:nvPr/>
        </p:nvSpPr>
        <p:spPr>
          <a:xfrm>
            <a:off x="192505" y="642136"/>
            <a:ext cx="11806990" cy="5209118"/>
          </a:xfrm>
          <a:prstGeom prst="rect">
            <a:avLst/>
          </a:prstGeom>
          <a:noFill/>
        </p:spPr>
        <p:txBody>
          <a:bodyPr wrap="square">
            <a:spAutoFit/>
          </a:bodyPr>
          <a:lstStyle/>
          <a:p>
            <a:pPr marL="320040" indent="-320040">
              <a:spcBef>
                <a:spcPts val="700"/>
              </a:spcBef>
              <a:buClr>
                <a:srgbClr val="DA1F28"/>
              </a:buClr>
              <a:buSzPct val="60000"/>
              <a:buFont typeface="Wingdings"/>
              <a:buChar char=""/>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Numerical Example (assume A=4):</a:t>
            </a:r>
          </a:p>
          <a:p>
            <a:pPr marL="320040" indent="-320040">
              <a:spcBef>
                <a:spcPts val="700"/>
              </a:spcBef>
              <a:buClr>
                <a:srgbClr val="DA1F28"/>
              </a:buClr>
              <a:buSzPct val="60000"/>
              <a:buFont typeface="Wingdings"/>
              <a:buChar char=""/>
              <a:defRPr/>
            </a:pPr>
            <a:endParaRPr lang="en-US" sz="2800" dirty="0">
              <a:solidFill>
                <a:prstClr val="black"/>
              </a:solidFill>
              <a:latin typeface="Tw Cen MT"/>
            </a:endParaRPr>
          </a:p>
          <a:p>
            <a:pPr marL="320040" indent="-320040">
              <a:spcBef>
                <a:spcPts val="700"/>
              </a:spcBef>
              <a:buClr>
                <a:srgbClr val="DA1F28"/>
              </a:buClr>
              <a:buSzPct val="60000"/>
              <a:buFont typeface="Wingdings"/>
              <a:buChar char=""/>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320040" indent="-320040">
              <a:spcBef>
                <a:spcPts val="700"/>
              </a:spcBef>
              <a:buClr>
                <a:srgbClr val="DA1F28"/>
              </a:buClr>
              <a:buSzPct val="60000"/>
              <a:buFont typeface="Wingdings"/>
              <a:buChar char=""/>
              <a:defRPr/>
            </a:pPr>
            <a:endParaRPr lang="en-US" sz="2800" dirty="0">
              <a:solidFill>
                <a:prstClr val="black"/>
              </a:solidFill>
              <a:latin typeface="Tw Cen MT"/>
            </a:endParaRPr>
          </a:p>
          <a:p>
            <a:pPr marL="320040" indent="-320040">
              <a:spcBef>
                <a:spcPts val="700"/>
              </a:spcBef>
              <a:buClr>
                <a:srgbClr val="DA1F28"/>
              </a:buClr>
              <a:buSzPct val="60000"/>
              <a:buFont typeface="Wingdings"/>
              <a:buChar char=""/>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a:p>
            <a:pPr marL="320040" indent="-320040">
              <a:spcBef>
                <a:spcPts val="700"/>
              </a:spcBef>
              <a:buClr>
                <a:srgbClr val="DA1F28"/>
              </a:buClr>
              <a:buSzPct val="60000"/>
              <a:buFont typeface="Wingdings"/>
              <a:buChar char=""/>
              <a:defRPr/>
            </a:pPr>
            <a:endParaRPr lang="en-US" sz="2800" dirty="0">
              <a:solidFill>
                <a:prstClr val="black"/>
              </a:solidFill>
              <a:latin typeface="Tw Cen MT"/>
            </a:endParaRPr>
          </a:p>
          <a:p>
            <a:pPr marL="320040" indent="-320040">
              <a:spcBef>
                <a:spcPts val="700"/>
              </a:spcBef>
              <a:buClr>
                <a:srgbClr val="DA1F28"/>
              </a:buClr>
              <a:buSzPct val="60000"/>
              <a:buFont typeface="Wingdings"/>
              <a:buChar char=""/>
              <a:defRPr/>
            </a:pPr>
            <a:r>
              <a:rPr lang="en-US" sz="2800" dirty="0">
                <a:solidFill>
                  <a:prstClr val="black"/>
                </a:solidFill>
                <a:latin typeface="Tw Cen MT"/>
              </a:rPr>
              <a:t>Optimal risky portfolio:</a:t>
            </a:r>
          </a:p>
          <a:p>
            <a:pPr lvl="1">
              <a:spcBef>
                <a:spcPts val="700"/>
              </a:spcBef>
              <a:buClr>
                <a:srgbClr val="DA1F28"/>
              </a:buClr>
              <a:buSzPct val="60000"/>
              <a:defRPr/>
            </a:pPr>
            <a:r>
              <a:rPr kumimoji="0" lang="en-US" sz="2800" b="0" i="0" u="none" strike="noStrike" kern="1200" cap="none" spc="0" normalizeH="0" baseline="0" noProof="0" dirty="0">
                <a:ln>
                  <a:noFill/>
                </a:ln>
                <a:solidFill>
                  <a:srgbClr val="0070C0"/>
                </a:solidFill>
                <a:effectLst/>
                <a:uLnTx/>
                <a:uFillTx/>
                <a:latin typeface="Tw Cen MT"/>
                <a:ea typeface="+mn-ea"/>
                <a:cs typeface="+mn-cs"/>
              </a:rPr>
              <a:t>   W</a:t>
            </a:r>
            <a:r>
              <a:rPr kumimoji="0" lang="en-US" sz="2800" b="0" i="0" u="none" strike="noStrike" kern="1200" cap="none" spc="0" normalizeH="0" baseline="-25000" noProof="0" dirty="0">
                <a:ln>
                  <a:noFill/>
                </a:ln>
                <a:solidFill>
                  <a:srgbClr val="0070C0"/>
                </a:solidFill>
                <a:effectLst/>
                <a:uLnTx/>
                <a:uFillTx/>
                <a:latin typeface="Tw Cen MT"/>
                <a:ea typeface="+mn-ea"/>
                <a:cs typeface="+mn-cs"/>
              </a:rPr>
              <a:t>D</a:t>
            </a:r>
            <a:r>
              <a:rPr kumimoji="0" lang="en-US" sz="2800" b="0" i="0" u="none" strike="noStrike" kern="1200" cap="none" spc="0" normalizeH="0" baseline="0" noProof="0" dirty="0">
                <a:ln>
                  <a:noFill/>
                </a:ln>
                <a:solidFill>
                  <a:srgbClr val="0070C0"/>
                </a:solidFill>
                <a:effectLst/>
                <a:uLnTx/>
                <a:uFillTx/>
                <a:latin typeface="Tw Cen MT"/>
                <a:ea typeface="+mn-ea"/>
                <a:cs typeface="+mn-cs"/>
              </a:rPr>
              <a:t>=40% W</a:t>
            </a:r>
            <a:r>
              <a:rPr kumimoji="0" lang="en-US" sz="2800" b="0" i="0" u="none" strike="noStrike" kern="1200" cap="none" spc="0" normalizeH="0" baseline="-25000" noProof="0" dirty="0">
                <a:ln>
                  <a:noFill/>
                </a:ln>
                <a:solidFill>
                  <a:srgbClr val="0070C0"/>
                </a:solidFill>
                <a:effectLst/>
                <a:uLnTx/>
                <a:uFillTx/>
                <a:latin typeface="Tw Cen MT"/>
                <a:ea typeface="+mn-ea"/>
                <a:cs typeface="+mn-cs"/>
              </a:rPr>
              <a:t>E</a:t>
            </a:r>
            <a:r>
              <a:rPr kumimoji="0" lang="en-US" sz="2800" b="0" i="0" u="none" strike="noStrike" kern="1200" cap="none" spc="0" normalizeH="0" baseline="0" noProof="0" dirty="0">
                <a:ln>
                  <a:noFill/>
                </a:ln>
                <a:solidFill>
                  <a:srgbClr val="0070C0"/>
                </a:solidFill>
                <a:effectLst/>
                <a:uLnTx/>
                <a:uFillTx/>
                <a:latin typeface="Tw Cen MT"/>
                <a:ea typeface="+mn-ea"/>
                <a:cs typeface="+mn-cs"/>
              </a:rPr>
              <a:t>=60%</a:t>
            </a:r>
            <a:endParaRPr lang="en-US" sz="2800" dirty="0">
              <a:solidFill>
                <a:prstClr val="black"/>
              </a:solidFill>
              <a:latin typeface="Tw Cen MT"/>
            </a:endParaRPr>
          </a:p>
          <a:p>
            <a:pPr marL="320040" indent="-320040">
              <a:spcBef>
                <a:spcPts val="700"/>
              </a:spcBef>
              <a:buClr>
                <a:srgbClr val="DA1F28"/>
              </a:buClr>
              <a:buSzPct val="60000"/>
              <a:buFont typeface="Wingdings"/>
              <a:buChar char=""/>
              <a:defRPr/>
            </a:pPr>
            <a:r>
              <a:rPr lang="en-US" sz="2800" dirty="0">
                <a:solidFill>
                  <a:prstClr val="black"/>
                </a:solidFill>
                <a:latin typeface="Tw Cen MT"/>
              </a:rPr>
              <a:t>Optimal complete portfolio:</a:t>
            </a:r>
          </a:p>
          <a:p>
            <a:pPr marL="320040" indent="-320040">
              <a:spcBef>
                <a:spcPts val="700"/>
              </a:spcBef>
              <a:buClr>
                <a:srgbClr val="DA1F28"/>
              </a:buClr>
              <a:buSzPct val="60000"/>
              <a:buFont typeface="Wingdings"/>
              <a:buChar char=""/>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p:txBody>
      </p:sp>
      <p:pic>
        <p:nvPicPr>
          <p:cNvPr id="2" name="Picture 1">
            <a:extLst>
              <a:ext uri="{FF2B5EF4-FFF2-40B4-BE49-F238E27FC236}">
                <a16:creationId xmlns:a16="http://schemas.microsoft.com/office/drawing/2014/main" id="{2A06FC51-47E4-A9AC-61AC-A63D58191BE7}"/>
              </a:ext>
            </a:extLst>
          </p:cNvPr>
          <p:cNvPicPr>
            <a:picLocks noChangeAspect="1"/>
          </p:cNvPicPr>
          <p:nvPr/>
        </p:nvPicPr>
        <p:blipFill>
          <a:blip r:embed="rId3"/>
          <a:stretch>
            <a:fillRect/>
          </a:stretch>
        </p:blipFill>
        <p:spPr>
          <a:xfrm>
            <a:off x="630853" y="1052944"/>
            <a:ext cx="7238171" cy="2376056"/>
          </a:xfrm>
          <a:prstGeom prst="rect">
            <a:avLst/>
          </a:prstGeom>
        </p:spPr>
      </p:pic>
      <p:sp>
        <p:nvSpPr>
          <p:cNvPr id="3" name="TextBox 2">
            <a:extLst>
              <a:ext uri="{FF2B5EF4-FFF2-40B4-BE49-F238E27FC236}">
                <a16:creationId xmlns:a16="http://schemas.microsoft.com/office/drawing/2014/main" id="{2FE2BACC-1D67-630D-9CEF-0EB1FB31A97D}"/>
              </a:ext>
            </a:extLst>
          </p:cNvPr>
          <p:cNvSpPr txBox="1"/>
          <p:nvPr/>
        </p:nvSpPr>
        <p:spPr>
          <a:xfrm>
            <a:off x="5566610" y="3965909"/>
            <a:ext cx="2498557"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70C0"/>
                </a:solidFill>
                <a:effectLst/>
                <a:uLnTx/>
                <a:uFillTx/>
                <a:latin typeface="Tw Cen MT"/>
                <a:ea typeface="+mn-ea"/>
                <a:cs typeface="+mn-cs"/>
              </a:rPr>
              <a:t>E(</a:t>
            </a:r>
            <a:r>
              <a:rPr kumimoji="0" lang="en-US" sz="3200" b="0" i="0" u="none" strike="noStrike" kern="1200" cap="none" spc="0" normalizeH="0" baseline="0" noProof="0" dirty="0" err="1">
                <a:ln>
                  <a:noFill/>
                </a:ln>
                <a:solidFill>
                  <a:srgbClr val="0070C0"/>
                </a:solidFill>
                <a:effectLst/>
                <a:uLnTx/>
                <a:uFillTx/>
                <a:latin typeface="Tw Cen MT"/>
                <a:ea typeface="+mn-ea"/>
                <a:cs typeface="+mn-cs"/>
              </a:rPr>
              <a:t>r</a:t>
            </a:r>
            <a:r>
              <a:rPr kumimoji="0" lang="en-US" sz="3200" b="0" i="0" u="none" strike="noStrike" kern="1200" cap="none" spc="0" normalizeH="0" baseline="-25000" noProof="0" dirty="0" err="1">
                <a:ln>
                  <a:noFill/>
                </a:ln>
                <a:solidFill>
                  <a:srgbClr val="0070C0"/>
                </a:solidFill>
                <a:effectLst/>
                <a:uLnTx/>
                <a:uFillTx/>
                <a:latin typeface="Tw Cen MT"/>
                <a:ea typeface="+mn-ea"/>
                <a:cs typeface="+mn-cs"/>
              </a:rPr>
              <a:t>p</a:t>
            </a:r>
            <a:r>
              <a:rPr kumimoji="0" lang="en-US" sz="3200" b="0" i="0" u="none" strike="noStrike" kern="1200" cap="none" spc="0" normalizeH="0" baseline="0" noProof="0" dirty="0">
                <a:ln>
                  <a:noFill/>
                </a:ln>
                <a:solidFill>
                  <a:srgbClr val="0070C0"/>
                </a:solidFill>
                <a:effectLst/>
                <a:uLnTx/>
                <a:uFillTx/>
                <a:latin typeface="Tw Cen MT"/>
                <a:ea typeface="+mn-ea"/>
                <a:cs typeface="+mn-cs"/>
              </a:rPr>
              <a:t>)=11% </a:t>
            </a:r>
            <a:br>
              <a:rPr kumimoji="0" lang="en-US" sz="3200" b="0" i="0" u="none" strike="noStrike" kern="1200" cap="none" spc="0" normalizeH="0" baseline="0" noProof="0" dirty="0">
                <a:ln>
                  <a:noFill/>
                </a:ln>
                <a:solidFill>
                  <a:srgbClr val="0070C0"/>
                </a:solidFill>
                <a:effectLst/>
                <a:uLnTx/>
                <a:uFillTx/>
                <a:latin typeface="Tw Cen MT"/>
                <a:ea typeface="+mn-ea"/>
                <a:cs typeface="+mn-cs"/>
              </a:rPr>
            </a:br>
            <a:r>
              <a:rPr kumimoji="0" lang="en-US" sz="3200" b="0" i="0" u="none" strike="noStrike" kern="1200" cap="none" spc="0" normalizeH="0" baseline="0" noProof="0" dirty="0" err="1">
                <a:ln>
                  <a:noFill/>
                </a:ln>
                <a:solidFill>
                  <a:srgbClr val="0070C0"/>
                </a:solidFill>
                <a:effectLst/>
                <a:uLnTx/>
                <a:uFillTx/>
                <a:latin typeface="Tw Cen MT"/>
                <a:ea typeface="+mn-ea"/>
                <a:cs typeface="+mn-cs"/>
              </a:rPr>
              <a:t>Std</a:t>
            </a:r>
            <a:r>
              <a:rPr kumimoji="0" lang="en-US" sz="3200" b="0" i="0" u="none" strike="noStrike" kern="1200" cap="none" spc="0" normalizeH="0" baseline="-25000" noProof="0" dirty="0" err="1">
                <a:ln>
                  <a:noFill/>
                </a:ln>
                <a:solidFill>
                  <a:srgbClr val="0070C0"/>
                </a:solidFill>
                <a:effectLst/>
                <a:uLnTx/>
                <a:uFillTx/>
                <a:latin typeface="Tw Cen MT"/>
                <a:ea typeface="+mn-ea"/>
                <a:cs typeface="+mn-cs"/>
              </a:rPr>
              <a:t>p</a:t>
            </a:r>
            <a:r>
              <a:rPr kumimoji="0" lang="en-US" sz="3200" b="0" i="0" u="none" strike="noStrike" kern="1200" cap="none" spc="0" normalizeH="0" baseline="0" noProof="0" dirty="0">
                <a:ln>
                  <a:noFill/>
                </a:ln>
                <a:solidFill>
                  <a:srgbClr val="0070C0"/>
                </a:solidFill>
                <a:effectLst/>
                <a:uLnTx/>
                <a:uFillTx/>
                <a:latin typeface="Tw Cen MT"/>
                <a:ea typeface="+mn-ea"/>
                <a:cs typeface="+mn-cs"/>
              </a:rPr>
              <a:t>=14.2%</a:t>
            </a:r>
          </a:p>
        </p:txBody>
      </p:sp>
      <p:sp>
        <p:nvSpPr>
          <p:cNvPr id="4" name="Right Arrow 7">
            <a:extLst>
              <a:ext uri="{FF2B5EF4-FFF2-40B4-BE49-F238E27FC236}">
                <a16:creationId xmlns:a16="http://schemas.microsoft.com/office/drawing/2014/main" id="{C37901EE-449B-EAA8-01A0-3A4E00946EAA}"/>
              </a:ext>
            </a:extLst>
          </p:cNvPr>
          <p:cNvSpPr/>
          <p:nvPr/>
        </p:nvSpPr>
        <p:spPr>
          <a:xfrm>
            <a:off x="4141452" y="4282603"/>
            <a:ext cx="1253558" cy="388519"/>
          </a:xfrm>
          <a:prstGeom prst="rightArrow">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Tw Cen MT"/>
              <a:ea typeface="+mn-ea"/>
              <a:cs typeface="+mn-cs"/>
            </a:endParaRPr>
          </a:p>
        </p:txBody>
      </p:sp>
      <p:sp>
        <p:nvSpPr>
          <p:cNvPr id="6" name="TextBox 5">
            <a:extLst>
              <a:ext uri="{FF2B5EF4-FFF2-40B4-BE49-F238E27FC236}">
                <a16:creationId xmlns:a16="http://schemas.microsoft.com/office/drawing/2014/main" id="{A8204810-CE03-DC3D-53A6-9C55EB673762}"/>
              </a:ext>
            </a:extLst>
          </p:cNvPr>
          <p:cNvSpPr txBox="1"/>
          <p:nvPr/>
        </p:nvSpPr>
        <p:spPr>
          <a:xfrm>
            <a:off x="1152857" y="5348604"/>
            <a:ext cx="8791074" cy="10772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70C0"/>
                </a:solidFill>
                <a:effectLst/>
                <a:uLnTx/>
                <a:uFillTx/>
                <a:latin typeface="Tw Cen MT"/>
                <a:ea typeface="+mn-ea"/>
                <a:cs typeface="+mn-cs"/>
              </a:rPr>
              <a:t>y</a:t>
            </a:r>
            <a:r>
              <a:rPr kumimoji="0" lang="en-US" sz="3200" b="0" i="0" u="none" strike="noStrike" kern="1200" cap="none" spc="0" normalizeH="0" baseline="30000" noProof="0" dirty="0">
                <a:ln>
                  <a:noFill/>
                </a:ln>
                <a:solidFill>
                  <a:srgbClr val="0070C0"/>
                </a:solidFill>
                <a:effectLst/>
                <a:uLnTx/>
                <a:uFillTx/>
                <a:latin typeface="Tw Cen MT"/>
                <a:ea typeface="+mn-ea"/>
                <a:cs typeface="+mn-cs"/>
              </a:rPr>
              <a:t>*</a:t>
            </a:r>
            <a:r>
              <a:rPr kumimoji="0" lang="en-US" sz="3200" b="0" i="0" u="none" strike="noStrike" kern="1200" cap="none" spc="0" normalizeH="0" baseline="0" noProof="0" dirty="0">
                <a:ln>
                  <a:noFill/>
                </a:ln>
                <a:solidFill>
                  <a:srgbClr val="0070C0"/>
                </a:solidFill>
                <a:effectLst/>
                <a:uLnTx/>
                <a:uFillTx/>
                <a:latin typeface="Tw Cen MT"/>
                <a:ea typeface="+mn-ea"/>
                <a:cs typeface="+mn-cs"/>
              </a:rPr>
              <a:t>=(11%-5%)/4*(14.2%)</a:t>
            </a:r>
            <a:r>
              <a:rPr kumimoji="0" lang="en-US" sz="3200" b="0" i="0" u="none" strike="noStrike" kern="1200" cap="none" spc="0" normalizeH="0" baseline="30000" noProof="0" dirty="0">
                <a:ln>
                  <a:noFill/>
                </a:ln>
                <a:solidFill>
                  <a:srgbClr val="0070C0"/>
                </a:solidFill>
                <a:effectLst/>
                <a:uLnTx/>
                <a:uFillTx/>
                <a:latin typeface="Tw Cen MT"/>
                <a:ea typeface="+mn-ea"/>
                <a:cs typeface="+mn-cs"/>
              </a:rPr>
              <a:t>2</a:t>
            </a:r>
            <a:r>
              <a:rPr kumimoji="0" lang="en-US" sz="3200" b="0" i="0" u="none" strike="noStrike" kern="1200" cap="none" spc="0" normalizeH="0" baseline="0" noProof="0" dirty="0">
                <a:ln>
                  <a:noFill/>
                </a:ln>
                <a:solidFill>
                  <a:srgbClr val="0070C0"/>
                </a:solidFill>
                <a:effectLst/>
                <a:uLnTx/>
                <a:uFillTx/>
                <a:latin typeface="Tw Cen MT"/>
                <a:ea typeface="+mn-ea"/>
                <a:cs typeface="+mn-cs"/>
              </a:rPr>
              <a:t>=74.39%</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070C0"/>
                </a:solidFill>
                <a:effectLst/>
                <a:uLnTx/>
                <a:uFillTx/>
                <a:latin typeface="Tw Cen MT"/>
                <a:ea typeface="+mn-ea"/>
                <a:cs typeface="+mn-cs"/>
              </a:rPr>
              <a:t>25.61% in T-bills, 44.63% in Equity; 29.76% in Debt</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D85BDB5-67F0-5A35-D0BB-6B026A48212A}"/>
                  </a:ext>
                </a:extLst>
              </p:cNvPr>
              <p:cNvSpPr txBox="1"/>
              <p:nvPr/>
            </p:nvSpPr>
            <p:spPr>
              <a:xfrm>
                <a:off x="8027945" y="4033046"/>
                <a:ext cx="3831972" cy="1162819"/>
              </a:xfrm>
              <a:prstGeom prst="rect">
                <a:avLst/>
              </a:prstGeom>
              <a:noFill/>
            </p:spPr>
            <p:txBody>
              <a:bodyPr wrap="square">
                <a:spAutoFit/>
              </a:bodyPr>
              <a:lstStyle/>
              <a:p>
                <a:pPr>
                  <a:lnSpc>
                    <a:spcPct val="115000"/>
                  </a:lnSpc>
                  <a:spcAft>
                    <a:spcPts val="800"/>
                  </a:spcAft>
                </a:pPr>
                <a14:m>
                  <m:oMathPara xmlns:m="http://schemas.openxmlformats.org/officeDocument/2006/math">
                    <m:oMathParaPr>
                      <m:jc m:val="centerGroup"/>
                    </m:oMathParaPr>
                    <m:oMath xmlns:m="http://schemas.openxmlformats.org/officeDocument/2006/math">
                      <m:r>
                        <a:rPr lang="en-US" sz="1200" b="0" i="1" kern="100" smtClean="0">
                          <a:effectLst/>
                          <a:latin typeface="Cambria Math" panose="02040503050406030204" pitchFamily="18" charset="0"/>
                          <a:ea typeface="PMingLiU" panose="02020500000000000000" pitchFamily="18" charset="-120"/>
                          <a:cs typeface="Times New Roman" panose="02020603050405020304" pitchFamily="18" charset="0"/>
                        </a:rPr>
                        <m:t>𝑤</m:t>
                      </m:r>
                      <m:r>
                        <a:rPr lang="en-US" sz="1200" b="0" i="1" kern="100" baseline="-25000" smtClean="0">
                          <a:effectLst/>
                          <a:latin typeface="Cambria Math" panose="02040503050406030204" pitchFamily="18" charset="0"/>
                          <a:ea typeface="PMingLiU" panose="02020500000000000000" pitchFamily="18" charset="-120"/>
                          <a:cs typeface="Times New Roman" panose="02020603050405020304" pitchFamily="18" charset="0"/>
                        </a:rPr>
                        <m:t>𝐷</m:t>
                      </m:r>
                      <m:r>
                        <a:rPr lang="en-US" sz="1200" b="0" i="1" kern="100" smtClean="0">
                          <a:effectLst/>
                          <a:latin typeface="Cambria Math" panose="02040503050406030204" pitchFamily="18" charset="0"/>
                          <a:ea typeface="PMingLiU" panose="02020500000000000000" pitchFamily="18" charset="-120"/>
                          <a:cs typeface="Times New Roman" panose="02020603050405020304" pitchFamily="18" charset="0"/>
                        </a:rPr>
                        <m:t>=</m:t>
                      </m:r>
                      <m:f>
                        <m:fPr>
                          <m:ctrlPr>
                            <a:rPr lang="en-SG" sz="1200" i="1" kern="100" smtClean="0">
                              <a:effectLst/>
                              <a:latin typeface="Cambria Math" panose="02040503050406030204" pitchFamily="18" charset="0"/>
                              <a:ea typeface="PMingLiU" panose="02020500000000000000" pitchFamily="18" charset="-120"/>
                              <a:cs typeface="Times New Roman" panose="02020603050405020304" pitchFamily="18" charset="0"/>
                            </a:rPr>
                          </m:ctrlPr>
                        </m:fPr>
                        <m:num>
                          <m:d>
                            <m:dPr>
                              <m:ctrlPr>
                                <a:rPr lang="en-SG" sz="1200" i="1" kern="100">
                                  <a:effectLst/>
                                  <a:latin typeface="Cambria Math" panose="02040503050406030204" pitchFamily="18" charset="0"/>
                                  <a:ea typeface="PMingLiU" panose="02020500000000000000" pitchFamily="18" charset="-120"/>
                                  <a:cs typeface="Times New Roman" panose="02020603050405020304" pitchFamily="18" charset="0"/>
                                </a:rPr>
                              </m:ctrlPr>
                            </m:dPr>
                            <m:e>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3%</m:t>
                              </m:r>
                            </m:e>
                          </m:d>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m:t>
                          </m:r>
                          <m:sSup>
                            <m:sSupPr>
                              <m:ctrlPr>
                                <a:rPr lang="en-SG" sz="1200" i="1" kern="100">
                                  <a:effectLst/>
                                  <a:latin typeface="Cambria Math" panose="02040503050406030204" pitchFamily="18" charset="0"/>
                                  <a:ea typeface="PMingLiU" panose="02020500000000000000" pitchFamily="18" charset="-120"/>
                                  <a:cs typeface="Times New Roman" panose="02020603050405020304" pitchFamily="18" charset="0"/>
                                </a:rPr>
                              </m:ctrlPr>
                            </m:sSupPr>
                            <m:e>
                              <m:d>
                                <m:dPr>
                                  <m:ctrlPr>
                                    <a:rPr lang="en-SG" sz="1200" i="1" kern="100">
                                      <a:effectLst/>
                                      <a:latin typeface="Cambria Math" panose="02040503050406030204" pitchFamily="18" charset="0"/>
                                      <a:ea typeface="PMingLiU" panose="02020500000000000000" pitchFamily="18" charset="-120"/>
                                      <a:cs typeface="Times New Roman" panose="02020603050405020304" pitchFamily="18" charset="0"/>
                                    </a:rPr>
                                  </m:ctrlPr>
                                </m:dPr>
                                <m:e>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20%</m:t>
                                  </m:r>
                                </m:e>
                              </m:d>
                            </m:e>
                            <m:sup>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2</m:t>
                              </m:r>
                            </m:sup>
                          </m:sSup>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m:t>
                          </m:r>
                          <m:d>
                            <m:dPr>
                              <m:ctrlPr>
                                <a:rPr lang="en-SG" sz="1200" i="1" kern="100">
                                  <a:effectLst/>
                                  <a:latin typeface="Cambria Math" panose="02040503050406030204" pitchFamily="18" charset="0"/>
                                  <a:ea typeface="PMingLiU" panose="02020500000000000000" pitchFamily="18" charset="-120"/>
                                  <a:cs typeface="Times New Roman" panose="02020603050405020304" pitchFamily="18" charset="0"/>
                                </a:rPr>
                              </m:ctrlPr>
                            </m:dPr>
                            <m:e>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8%</m:t>
                              </m:r>
                            </m:e>
                          </m:d>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m:t>
                          </m:r>
                          <m:d>
                            <m:dPr>
                              <m:ctrlPr>
                                <a:rPr lang="en-SG" sz="1200" i="1" kern="100">
                                  <a:effectLst/>
                                  <a:latin typeface="Cambria Math" panose="02040503050406030204" pitchFamily="18" charset="0"/>
                                  <a:ea typeface="PMingLiU" panose="02020500000000000000" pitchFamily="18" charset="-120"/>
                                  <a:cs typeface="Times New Roman" panose="02020603050405020304" pitchFamily="18" charset="0"/>
                                </a:rPr>
                              </m:ctrlPr>
                            </m:dPr>
                            <m:e>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0.0072</m:t>
                              </m:r>
                            </m:e>
                          </m:d>
                        </m:num>
                        <m:den>
                          <m:d>
                            <m:dPr>
                              <m:ctrlPr>
                                <a:rPr lang="en-SG" sz="1200" i="1" kern="100">
                                  <a:effectLst/>
                                  <a:latin typeface="Cambria Math" panose="02040503050406030204" pitchFamily="18" charset="0"/>
                                  <a:ea typeface="PMingLiU" panose="02020500000000000000" pitchFamily="18" charset="-120"/>
                                  <a:cs typeface="Times New Roman" panose="02020603050405020304" pitchFamily="18" charset="0"/>
                                </a:rPr>
                              </m:ctrlPr>
                            </m:dPr>
                            <m:e>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3%</m:t>
                              </m:r>
                            </m:e>
                          </m:d>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m:t>
                          </m:r>
                          <m:sSup>
                            <m:sSupPr>
                              <m:ctrlPr>
                                <a:rPr lang="en-SG" sz="1200" i="1" kern="100">
                                  <a:effectLst/>
                                  <a:latin typeface="Cambria Math" panose="02040503050406030204" pitchFamily="18" charset="0"/>
                                  <a:ea typeface="PMingLiU" panose="02020500000000000000" pitchFamily="18" charset="-120"/>
                                  <a:cs typeface="Times New Roman" panose="02020603050405020304" pitchFamily="18" charset="0"/>
                                </a:rPr>
                              </m:ctrlPr>
                            </m:sSupPr>
                            <m:e>
                              <m:d>
                                <m:dPr>
                                  <m:ctrlPr>
                                    <a:rPr lang="en-SG" sz="1200" i="1" kern="100">
                                      <a:effectLst/>
                                      <a:latin typeface="Cambria Math" panose="02040503050406030204" pitchFamily="18" charset="0"/>
                                      <a:ea typeface="PMingLiU" panose="02020500000000000000" pitchFamily="18" charset="-120"/>
                                      <a:cs typeface="Times New Roman" panose="02020603050405020304" pitchFamily="18" charset="0"/>
                                    </a:rPr>
                                  </m:ctrlPr>
                                </m:dPr>
                                <m:e>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20%</m:t>
                                  </m:r>
                                </m:e>
                              </m:d>
                            </m:e>
                            <m:sup>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2</m:t>
                              </m:r>
                            </m:sup>
                          </m:sSup>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m:t>
                          </m:r>
                          <m:d>
                            <m:dPr>
                              <m:ctrlPr>
                                <a:rPr lang="en-SG" sz="1200" i="1" kern="100">
                                  <a:effectLst/>
                                  <a:latin typeface="Cambria Math" panose="02040503050406030204" pitchFamily="18" charset="0"/>
                                  <a:ea typeface="PMingLiU" panose="02020500000000000000" pitchFamily="18" charset="-120"/>
                                  <a:cs typeface="Times New Roman" panose="02020603050405020304" pitchFamily="18" charset="0"/>
                                </a:rPr>
                              </m:ctrlPr>
                            </m:dPr>
                            <m:e>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8%</m:t>
                              </m:r>
                            </m:e>
                          </m:d>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m:t>
                          </m:r>
                          <m:sSup>
                            <m:sSupPr>
                              <m:ctrlPr>
                                <a:rPr lang="en-SG" sz="1200" i="1" kern="100">
                                  <a:effectLst/>
                                  <a:latin typeface="Cambria Math" panose="02040503050406030204" pitchFamily="18" charset="0"/>
                                  <a:ea typeface="PMingLiU" panose="02020500000000000000" pitchFamily="18" charset="-120"/>
                                  <a:cs typeface="Times New Roman" panose="02020603050405020304" pitchFamily="18" charset="0"/>
                                </a:rPr>
                              </m:ctrlPr>
                            </m:sSupPr>
                            <m:e>
                              <m:d>
                                <m:dPr>
                                  <m:ctrlPr>
                                    <a:rPr lang="en-SG" sz="1200" i="1" kern="100">
                                      <a:effectLst/>
                                      <a:latin typeface="Cambria Math" panose="02040503050406030204" pitchFamily="18" charset="0"/>
                                      <a:ea typeface="PMingLiU" panose="02020500000000000000" pitchFamily="18" charset="-120"/>
                                      <a:cs typeface="Times New Roman" panose="02020603050405020304" pitchFamily="18" charset="0"/>
                                    </a:rPr>
                                  </m:ctrlPr>
                                </m:dPr>
                                <m:e>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12%</m:t>
                                  </m:r>
                                </m:e>
                              </m:d>
                            </m:e>
                            <m:sup>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2</m:t>
                              </m:r>
                            </m:sup>
                          </m:sSup>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m:t>
                          </m:r>
                          <m:d>
                            <m:dPr>
                              <m:ctrlPr>
                                <a:rPr lang="en-SG" sz="1200" i="1" kern="100">
                                  <a:effectLst/>
                                  <a:latin typeface="Cambria Math" panose="02040503050406030204" pitchFamily="18" charset="0"/>
                                  <a:ea typeface="PMingLiU" panose="02020500000000000000" pitchFamily="18" charset="-120"/>
                                  <a:cs typeface="Times New Roman" panose="02020603050405020304" pitchFamily="18" charset="0"/>
                                </a:rPr>
                              </m:ctrlPr>
                            </m:dPr>
                            <m:e>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3%+8%</m:t>
                              </m:r>
                            </m:e>
                          </m:d>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m:t>
                          </m:r>
                          <m:d>
                            <m:dPr>
                              <m:ctrlPr>
                                <a:rPr lang="en-SG" sz="1200" i="1" kern="100">
                                  <a:effectLst/>
                                  <a:latin typeface="Cambria Math" panose="02040503050406030204" pitchFamily="18" charset="0"/>
                                  <a:ea typeface="PMingLiU" panose="02020500000000000000" pitchFamily="18" charset="-120"/>
                                  <a:cs typeface="Times New Roman" panose="02020603050405020304" pitchFamily="18" charset="0"/>
                                </a:rPr>
                              </m:ctrlPr>
                            </m:dPr>
                            <m:e>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0.0072</m:t>
                              </m:r>
                            </m:e>
                          </m:d>
                        </m:den>
                      </m:f>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m:t>
                      </m:r>
                      <m:f>
                        <m:fPr>
                          <m:ctrlPr>
                            <a:rPr lang="en-SG" sz="1200" i="1" kern="100">
                              <a:effectLst/>
                              <a:latin typeface="Cambria Math" panose="02040503050406030204" pitchFamily="18" charset="0"/>
                              <a:ea typeface="PMingLiU" panose="02020500000000000000" pitchFamily="18" charset="-120"/>
                              <a:cs typeface="Times New Roman" panose="02020603050405020304" pitchFamily="18" charset="0"/>
                            </a:rPr>
                          </m:ctrlPr>
                        </m:fPr>
                        <m:num>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0.0012−0.000576</m:t>
                          </m:r>
                        </m:num>
                        <m:den>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0.0012+0.001152−0.000792</m:t>
                          </m:r>
                        </m:den>
                      </m:f>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m:t>
                      </m:r>
                      <m:f>
                        <m:fPr>
                          <m:ctrlPr>
                            <a:rPr lang="en-SG" sz="1200" i="1" kern="100">
                              <a:effectLst/>
                              <a:latin typeface="Cambria Math" panose="02040503050406030204" pitchFamily="18" charset="0"/>
                              <a:ea typeface="PMingLiU" panose="02020500000000000000" pitchFamily="18" charset="-120"/>
                              <a:cs typeface="Times New Roman" panose="02020603050405020304" pitchFamily="18" charset="0"/>
                            </a:rPr>
                          </m:ctrlPr>
                        </m:fPr>
                        <m:num>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0.000624</m:t>
                          </m:r>
                        </m:num>
                        <m:den>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0.00156</m:t>
                          </m:r>
                        </m:den>
                      </m:f>
                      <m:r>
                        <a:rPr lang="en-US" sz="1200" i="1" kern="100">
                          <a:effectLst/>
                          <a:latin typeface="Cambria Math" panose="02040503050406030204" pitchFamily="18" charset="0"/>
                          <a:ea typeface="PMingLiU" panose="02020500000000000000" pitchFamily="18" charset="-120"/>
                          <a:cs typeface="Times New Roman" panose="02020603050405020304" pitchFamily="18" charset="0"/>
                        </a:rPr>
                        <m:t>=0.4</m:t>
                      </m:r>
                    </m:oMath>
                  </m:oMathPara>
                </a14:m>
                <a:endParaRPr lang="en-SG" sz="1200" kern="100" dirty="0">
                  <a:effectLst/>
                  <a:latin typeface="Aptos" panose="020B0004020202020204" pitchFamily="34" charset="0"/>
                  <a:ea typeface="PMingLiU" panose="02020500000000000000" pitchFamily="18" charset="-12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5D85BDB5-67F0-5A35-D0BB-6B026A48212A}"/>
                  </a:ext>
                </a:extLst>
              </p:cNvPr>
              <p:cNvSpPr txBox="1">
                <a:spLocks noRot="1" noChangeAspect="1" noMove="1" noResize="1" noEditPoints="1" noAdjustHandles="1" noChangeArrowheads="1" noChangeShapeType="1" noTextEdit="1"/>
              </p:cNvSpPr>
              <p:nvPr/>
            </p:nvSpPr>
            <p:spPr>
              <a:xfrm>
                <a:off x="8027945" y="4033046"/>
                <a:ext cx="3831972" cy="1162819"/>
              </a:xfrm>
              <a:prstGeom prst="rect">
                <a:avLst/>
              </a:prstGeom>
              <a:blipFill>
                <a:blip r:embed="rId4"/>
                <a:stretch>
                  <a:fillRect r="-5611"/>
                </a:stretch>
              </a:blipFill>
            </p:spPr>
            <p:txBody>
              <a:bodyPr/>
              <a:lstStyle/>
              <a:p>
                <a:r>
                  <a:rPr lang="en-US">
                    <a:noFill/>
                  </a:rPr>
                  <a:t> </a:t>
                </a:r>
              </a:p>
            </p:txBody>
          </p:sp>
        </mc:Fallback>
      </mc:AlternateContent>
    </p:spTree>
    <p:extLst>
      <p:ext uri="{BB962C8B-B14F-4D97-AF65-F5344CB8AC3E}">
        <p14:creationId xmlns:p14="http://schemas.microsoft.com/office/powerpoint/2010/main" val="25422899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40171-D708-E626-B17B-153BA193E973}"/>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EDC2B25-054C-A39A-1CA5-6EDDC5A97634}"/>
              </a:ext>
            </a:extLst>
          </p:cNvPr>
          <p:cNvSpPr/>
          <p:nvPr/>
        </p:nvSpPr>
        <p:spPr>
          <a:xfrm>
            <a:off x="0" y="0"/>
            <a:ext cx="3921369"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rPr>
              <a:t>Modern Portfolio Theory </a:t>
            </a:r>
            <a:r>
              <a:rPr kumimoji="0" lang="en-US" sz="2000" b="1" i="0" u="none" strike="noStrike" kern="1200" cap="none" spc="0" normalizeH="0" baseline="0" noProof="0" dirty="0" err="1">
                <a:ln>
                  <a:noFill/>
                </a:ln>
                <a:solidFill>
                  <a:schemeClr val="bg1"/>
                </a:solidFill>
                <a:effectLst/>
                <a:uLnTx/>
                <a:uFillTx/>
                <a:latin typeface="Calibri" panose="020F0502020204030204"/>
                <a:ea typeface="+mn-ea"/>
                <a:cs typeface="+mn-cs"/>
              </a:rPr>
              <a:t>ll</a:t>
            </a:r>
            <a:endPar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30188A20-773E-18F2-6596-29E9F0C2A5D1}"/>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Asset Allocation with Stocks, Bonds and Bills</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TextBox 4">
            <a:extLst>
              <a:ext uri="{FF2B5EF4-FFF2-40B4-BE49-F238E27FC236}">
                <a16:creationId xmlns:a16="http://schemas.microsoft.com/office/drawing/2014/main" id="{8D9EB321-F1CC-3208-A1B4-2F5C7B1434E0}"/>
              </a:ext>
            </a:extLst>
          </p:cNvPr>
          <p:cNvSpPr txBox="1"/>
          <p:nvPr/>
        </p:nvSpPr>
        <p:spPr>
          <a:xfrm>
            <a:off x="192505" y="642136"/>
            <a:ext cx="11806990" cy="1969770"/>
          </a:xfrm>
          <a:prstGeom prst="rect">
            <a:avLst/>
          </a:prstGeom>
          <a:noFill/>
        </p:spPr>
        <p:txBody>
          <a:bodyPr wrap="square">
            <a:spAutoFit/>
          </a:bodyPr>
          <a:lstStyle/>
          <a:p>
            <a:pPr marL="320040" indent="-320040">
              <a:spcBef>
                <a:spcPts val="700"/>
              </a:spcBef>
              <a:buClr>
                <a:srgbClr val="DA1F28"/>
              </a:buClr>
              <a:buSzPct val="60000"/>
              <a:buFont typeface="Wingdings"/>
              <a:buChar char=""/>
              <a:defRPr/>
            </a:pPr>
            <a:r>
              <a:rPr lang="en-US" sz="2800" b="1" dirty="0">
                <a:solidFill>
                  <a:srgbClr val="EC767C"/>
                </a:solidFill>
                <a:latin typeface="Tw Cen MT"/>
              </a:rPr>
              <a:t>Separation Property</a:t>
            </a:r>
            <a:r>
              <a:rPr kumimoji="0" lang="en-US" sz="2800" b="0" i="0" u="none" strike="noStrike" kern="1200" cap="none" spc="0" normalizeH="0" baseline="0" noProof="0" dirty="0">
                <a:ln>
                  <a:noFill/>
                </a:ln>
                <a:solidFill>
                  <a:prstClr val="black"/>
                </a:solidFill>
                <a:effectLst/>
                <a:uLnTx/>
                <a:uFillTx/>
                <a:latin typeface="Tw Cen MT"/>
                <a:ea typeface="+mn-ea"/>
                <a:cs typeface="+mn-cs"/>
              </a:rPr>
              <a:t>: the portfolio choice problem may be separated into two independent tasks</a:t>
            </a:r>
          </a:p>
          <a:p>
            <a:pPr marL="88011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Determine the optimal risky portfolio (objective)</a:t>
            </a:r>
          </a:p>
          <a:p>
            <a:pPr marL="88011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Determine the optimal complete portfolio (subjective)</a:t>
            </a:r>
          </a:p>
        </p:txBody>
      </p:sp>
    </p:spTree>
    <p:extLst>
      <p:ext uri="{BB962C8B-B14F-4D97-AF65-F5344CB8AC3E}">
        <p14:creationId xmlns:p14="http://schemas.microsoft.com/office/powerpoint/2010/main" val="30009898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55A2A-B7D2-9CBC-5E55-1F2B25FB46DA}"/>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1293FB3-2F39-4B2F-3805-EAB03CEB0E70}"/>
              </a:ext>
            </a:extLst>
          </p:cNvPr>
          <p:cNvSpPr/>
          <p:nvPr/>
        </p:nvSpPr>
        <p:spPr>
          <a:xfrm>
            <a:off x="0" y="0"/>
            <a:ext cx="3921369"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rPr>
              <a:t>Modern Portfolio Theory </a:t>
            </a:r>
            <a:r>
              <a:rPr kumimoji="0" lang="en-US" sz="2000" b="1" i="0" u="none" strike="noStrike" kern="1200" cap="none" spc="0" normalizeH="0" baseline="0" noProof="0" dirty="0" err="1">
                <a:ln>
                  <a:noFill/>
                </a:ln>
                <a:solidFill>
                  <a:schemeClr val="bg1"/>
                </a:solidFill>
                <a:effectLst/>
                <a:uLnTx/>
                <a:uFillTx/>
                <a:latin typeface="Calibri" panose="020F0502020204030204"/>
                <a:ea typeface="+mn-ea"/>
                <a:cs typeface="+mn-cs"/>
              </a:rPr>
              <a:t>ll</a:t>
            </a:r>
            <a:endPar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2F6732F1-D641-2D97-8337-D913869DCAF1}"/>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The Markowitz Portfolio Selection Model</a:t>
            </a:r>
            <a:endParaRPr kumimoji="0" lang="en-US" sz="2200" b="1" i="0" u="none" strike="noStrike" kern="1200" cap="none" spc="0" normalizeH="0" baseline="0" noProof="0" dirty="0">
              <a:ln>
                <a:noFill/>
              </a:ln>
              <a:solidFill>
                <a:schemeClr val="bg1"/>
              </a:solidFill>
              <a:effectLst/>
              <a:uLnTx/>
              <a:uFillTx/>
              <a:latin typeface="Tw Cen MT" panose="020B0602020104020603" pitchFamily="34" charset="77"/>
            </a:endParaRPr>
          </a:p>
        </p:txBody>
      </p:sp>
      <p:sp>
        <p:nvSpPr>
          <p:cNvPr id="5" name="TextBox 4">
            <a:extLst>
              <a:ext uri="{FF2B5EF4-FFF2-40B4-BE49-F238E27FC236}">
                <a16:creationId xmlns:a16="http://schemas.microsoft.com/office/drawing/2014/main" id="{9276DBD0-469B-751C-44BE-6044458D9476}"/>
              </a:ext>
            </a:extLst>
          </p:cNvPr>
          <p:cNvSpPr txBox="1"/>
          <p:nvPr/>
        </p:nvSpPr>
        <p:spPr>
          <a:xfrm>
            <a:off x="192505" y="642136"/>
            <a:ext cx="11806990" cy="1474763"/>
          </a:xfrm>
          <a:prstGeom prst="rect">
            <a:avLst/>
          </a:prstGeom>
          <a:noFill/>
        </p:spPr>
        <p:txBody>
          <a:bodyPr wrap="square">
            <a:spAutoFit/>
          </a:bodyPr>
          <a:lstStyle/>
          <a:p>
            <a:pPr marL="320040" indent="-320040">
              <a:spcBef>
                <a:spcPts val="700"/>
              </a:spcBef>
              <a:buClr>
                <a:srgbClr val="DA1F28"/>
              </a:buClr>
              <a:buSzPct val="60000"/>
              <a:buFont typeface="Wingdings"/>
              <a:buChar char=""/>
              <a:defRPr/>
            </a:pPr>
            <a:r>
              <a:rPr lang="en-US" sz="2800" b="1" dirty="0">
                <a:latin typeface="Tw Cen MT" panose="020B0602020104020603" pitchFamily="34" charset="77"/>
              </a:rPr>
              <a:t>The Markowitz Portfolio Selection Model (</a:t>
            </a:r>
            <a:r>
              <a:rPr kumimoji="0" lang="en-US" sz="2800" b="0" i="0" u="none" strike="noStrike" kern="1200" cap="none" spc="0" normalizeH="0" baseline="0" noProof="0" dirty="0">
                <a:ln>
                  <a:noFill/>
                </a:ln>
                <a:solidFill>
                  <a:prstClr val="black"/>
                </a:solidFill>
                <a:effectLst/>
                <a:uLnTx/>
                <a:uFillTx/>
                <a:latin typeface="Tw Cen MT"/>
                <a:ea typeface="+mn-ea"/>
                <a:cs typeface="+mn-cs"/>
              </a:rPr>
              <a:t>Many risky assets and one risk-free asset)</a:t>
            </a:r>
          </a:p>
          <a:p>
            <a:pPr marL="320040" indent="-320040">
              <a:spcBef>
                <a:spcPts val="700"/>
              </a:spcBef>
              <a:buClr>
                <a:srgbClr val="DA1F28"/>
              </a:buClr>
              <a:buSzPct val="60000"/>
              <a:buFont typeface="Wingdings"/>
              <a:buChar char=""/>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p:txBody>
      </p:sp>
      <p:cxnSp>
        <p:nvCxnSpPr>
          <p:cNvPr id="2" name="Straight Connector 1">
            <a:extLst>
              <a:ext uri="{FF2B5EF4-FFF2-40B4-BE49-F238E27FC236}">
                <a16:creationId xmlns:a16="http://schemas.microsoft.com/office/drawing/2014/main" id="{4268B6BE-79C0-BB09-1A5F-0AE9983AC505}"/>
              </a:ext>
            </a:extLst>
          </p:cNvPr>
          <p:cNvCxnSpPr/>
          <p:nvPr/>
        </p:nvCxnSpPr>
        <p:spPr>
          <a:xfrm>
            <a:off x="3921369" y="2217789"/>
            <a:ext cx="101600" cy="345440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cxnSp>
        <p:nvCxnSpPr>
          <p:cNvPr id="3" name="Straight Connector 2">
            <a:extLst>
              <a:ext uri="{FF2B5EF4-FFF2-40B4-BE49-F238E27FC236}">
                <a16:creationId xmlns:a16="http://schemas.microsoft.com/office/drawing/2014/main" id="{7865FC0E-B79C-1ED2-A881-745A6352A6BD}"/>
              </a:ext>
            </a:extLst>
          </p:cNvPr>
          <p:cNvCxnSpPr/>
          <p:nvPr/>
        </p:nvCxnSpPr>
        <p:spPr>
          <a:xfrm>
            <a:off x="4022969" y="5672189"/>
            <a:ext cx="4775200" cy="0"/>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
        <p:nvSpPr>
          <p:cNvPr id="4" name="Oval 3">
            <a:extLst>
              <a:ext uri="{FF2B5EF4-FFF2-40B4-BE49-F238E27FC236}">
                <a16:creationId xmlns:a16="http://schemas.microsoft.com/office/drawing/2014/main" id="{EF7A97BB-5532-5089-1BA3-A9A6F2550AC9}"/>
              </a:ext>
            </a:extLst>
          </p:cNvPr>
          <p:cNvSpPr/>
          <p:nvPr/>
        </p:nvSpPr>
        <p:spPr>
          <a:xfrm>
            <a:off x="5725785" y="4417905"/>
            <a:ext cx="329184" cy="329184"/>
          </a:xfrm>
          <a:prstGeom prst="ellipse">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sp>
        <p:nvSpPr>
          <p:cNvPr id="6" name="Freeform 7">
            <a:extLst>
              <a:ext uri="{FF2B5EF4-FFF2-40B4-BE49-F238E27FC236}">
                <a16:creationId xmlns:a16="http://schemas.microsoft.com/office/drawing/2014/main" id="{CC1BE788-8BE8-3149-A74E-E7F586444A22}"/>
              </a:ext>
            </a:extLst>
          </p:cNvPr>
          <p:cNvSpPr/>
          <p:nvPr/>
        </p:nvSpPr>
        <p:spPr>
          <a:xfrm>
            <a:off x="5445370" y="3367158"/>
            <a:ext cx="2730159" cy="1253948"/>
          </a:xfrm>
          <a:custGeom>
            <a:avLst/>
            <a:gdLst>
              <a:gd name="connsiteX0" fmla="*/ 2047619 w 2047619"/>
              <a:gd name="connsiteY0" fmla="*/ 0 h 1036221"/>
              <a:gd name="connsiteX1" fmla="*/ 727608 w 2047619"/>
              <a:gd name="connsiteY1" fmla="*/ 217273 h 1036221"/>
              <a:gd name="connsiteX2" fmla="*/ 9121 w 2047619"/>
              <a:gd name="connsiteY2" fmla="*/ 618390 h 1036221"/>
              <a:gd name="connsiteX3" fmla="*/ 326592 w 2047619"/>
              <a:gd name="connsiteY3" fmla="*/ 986082 h 1036221"/>
              <a:gd name="connsiteX4" fmla="*/ 393428 w 2047619"/>
              <a:gd name="connsiteY4" fmla="*/ 1002795 h 1036221"/>
              <a:gd name="connsiteX5" fmla="*/ 393428 w 2047619"/>
              <a:gd name="connsiteY5" fmla="*/ 1002795 h 1036221"/>
              <a:gd name="connsiteX6" fmla="*/ 393428 w 2047619"/>
              <a:gd name="connsiteY6" fmla="*/ 1036221 h 1036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47619" h="1036221">
                <a:moveTo>
                  <a:pt x="2047619" y="0"/>
                </a:moveTo>
                <a:cubicBezTo>
                  <a:pt x="1557488" y="57104"/>
                  <a:pt x="1067358" y="114208"/>
                  <a:pt x="727608" y="217273"/>
                </a:cubicBezTo>
                <a:cubicBezTo>
                  <a:pt x="387858" y="320338"/>
                  <a:pt x="75957" y="490255"/>
                  <a:pt x="9121" y="618390"/>
                </a:cubicBezTo>
                <a:cubicBezTo>
                  <a:pt x="-57715" y="746525"/>
                  <a:pt x="262541" y="922014"/>
                  <a:pt x="326592" y="986082"/>
                </a:cubicBezTo>
                <a:cubicBezTo>
                  <a:pt x="390643" y="1050150"/>
                  <a:pt x="393428" y="1002795"/>
                  <a:pt x="393428" y="1002795"/>
                </a:cubicBezTo>
                <a:lnTo>
                  <a:pt x="393428" y="1002795"/>
                </a:lnTo>
                <a:lnTo>
                  <a:pt x="393428" y="1036221"/>
                </a:lnTo>
              </a:path>
            </a:pathLst>
          </a:custGeom>
          <a:noFill/>
          <a:ln w="1905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Tw Cen MT"/>
              <a:ea typeface="+mn-ea"/>
              <a:cs typeface="+mn-cs"/>
            </a:endParaRPr>
          </a:p>
        </p:txBody>
      </p:sp>
      <p:sp>
        <p:nvSpPr>
          <p:cNvPr id="9" name="TextBox 8">
            <a:extLst>
              <a:ext uri="{FF2B5EF4-FFF2-40B4-BE49-F238E27FC236}">
                <a16:creationId xmlns:a16="http://schemas.microsoft.com/office/drawing/2014/main" id="{64939414-A67C-E8B7-391B-49BD56FC7D4D}"/>
              </a:ext>
            </a:extLst>
          </p:cNvPr>
          <p:cNvSpPr txBox="1"/>
          <p:nvPr/>
        </p:nvSpPr>
        <p:spPr>
          <a:xfrm>
            <a:off x="3210169" y="2217790"/>
            <a:ext cx="914400" cy="543675"/>
          </a:xfrm>
          <a:prstGeom prst="rect">
            <a:avLst/>
          </a:prstGeom>
          <a:noFill/>
        </p:spPr>
        <p:txBody>
          <a:bodyPr wrap="square" rtlCol="0">
            <a:spAutoFit/>
          </a:bodyPr>
          <a:lstStyle/>
          <a:p>
            <a:pPr defTabSz="1219170"/>
            <a:r>
              <a:rPr lang="en-US" sz="2933" dirty="0">
                <a:solidFill>
                  <a:prstClr val="black"/>
                </a:solidFill>
                <a:latin typeface="Tw Cen MT"/>
              </a:rPr>
              <a:t>E(r)</a:t>
            </a:r>
          </a:p>
        </p:txBody>
      </p:sp>
      <p:sp>
        <p:nvSpPr>
          <p:cNvPr id="10" name="TextBox 9">
            <a:extLst>
              <a:ext uri="{FF2B5EF4-FFF2-40B4-BE49-F238E27FC236}">
                <a16:creationId xmlns:a16="http://schemas.microsoft.com/office/drawing/2014/main" id="{576615F6-0359-76BB-6444-865A4ED033C1}"/>
              </a:ext>
            </a:extLst>
          </p:cNvPr>
          <p:cNvSpPr txBox="1"/>
          <p:nvPr/>
        </p:nvSpPr>
        <p:spPr>
          <a:xfrm>
            <a:off x="8188569" y="5672189"/>
            <a:ext cx="914400" cy="543675"/>
          </a:xfrm>
          <a:prstGeom prst="rect">
            <a:avLst/>
          </a:prstGeom>
          <a:noFill/>
        </p:spPr>
        <p:txBody>
          <a:bodyPr wrap="square" rtlCol="0">
            <a:spAutoFit/>
          </a:bodyPr>
          <a:lstStyle/>
          <a:p>
            <a:pPr defTabSz="1219170"/>
            <a:r>
              <a:rPr lang="en-US" sz="2933" dirty="0">
                <a:solidFill>
                  <a:prstClr val="black"/>
                </a:solidFill>
                <a:latin typeface="Tw Cen MT"/>
              </a:rPr>
              <a:t>Std.</a:t>
            </a:r>
          </a:p>
        </p:txBody>
      </p:sp>
      <p:sp>
        <p:nvSpPr>
          <p:cNvPr id="11" name="Oval 10">
            <a:extLst>
              <a:ext uri="{FF2B5EF4-FFF2-40B4-BE49-F238E27FC236}">
                <a16:creationId xmlns:a16="http://schemas.microsoft.com/office/drawing/2014/main" id="{A9050D45-15E7-0DF4-932D-626B6E392B93}"/>
              </a:ext>
            </a:extLst>
          </p:cNvPr>
          <p:cNvSpPr/>
          <p:nvPr/>
        </p:nvSpPr>
        <p:spPr>
          <a:xfrm>
            <a:off x="3819770" y="4811841"/>
            <a:ext cx="327079" cy="317264"/>
          </a:xfrm>
          <a:prstGeom prst="ellipse">
            <a:avLst/>
          </a:prstGeom>
          <a:solidFill>
            <a:srgbClr val="FFFF00"/>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cxnSp>
        <p:nvCxnSpPr>
          <p:cNvPr id="12" name="Straight Connector 11">
            <a:extLst>
              <a:ext uri="{FF2B5EF4-FFF2-40B4-BE49-F238E27FC236}">
                <a16:creationId xmlns:a16="http://schemas.microsoft.com/office/drawing/2014/main" id="{EF4831A0-0132-3C2C-7751-87EA03C1F0BC}"/>
              </a:ext>
            </a:extLst>
          </p:cNvPr>
          <p:cNvCxnSpPr/>
          <p:nvPr/>
        </p:nvCxnSpPr>
        <p:spPr>
          <a:xfrm flipV="1">
            <a:off x="4022969" y="2792306"/>
            <a:ext cx="3454400" cy="2032001"/>
          </a:xfrm>
          <a:prstGeom prst="line">
            <a:avLst/>
          </a:prstGeom>
          <a:noFill/>
          <a:ln w="19050" cap="flat" cmpd="sng" algn="ctr">
            <a:solidFill>
              <a:srgbClr val="2DA2BF"/>
            </a:solidFill>
            <a:prstDash val="solid"/>
          </a:ln>
          <a:effectLst>
            <a:outerShdw blurRad="38100" dist="30000" dir="5400000" rotWithShape="0">
              <a:srgbClr val="000000">
                <a:alpha val="45000"/>
              </a:srgbClr>
            </a:outerShdw>
          </a:effectLst>
        </p:spPr>
      </p:cxnSp>
      <p:sp>
        <p:nvSpPr>
          <p:cNvPr id="13" name="Oval 12">
            <a:extLst>
              <a:ext uri="{FF2B5EF4-FFF2-40B4-BE49-F238E27FC236}">
                <a16:creationId xmlns:a16="http://schemas.microsoft.com/office/drawing/2014/main" id="{7EE8AC5E-D0BD-2B4D-D8F9-3870446102AC}"/>
              </a:ext>
            </a:extLst>
          </p:cNvPr>
          <p:cNvSpPr/>
          <p:nvPr/>
        </p:nvSpPr>
        <p:spPr>
          <a:xfrm>
            <a:off x="5648570" y="3605105"/>
            <a:ext cx="327079" cy="317264"/>
          </a:xfrm>
          <a:prstGeom prst="ellipse">
            <a:avLst/>
          </a:prstGeom>
          <a:solidFill>
            <a:srgbClr val="DA1F28"/>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sp>
        <p:nvSpPr>
          <p:cNvPr id="14" name="Freeform 13">
            <a:extLst>
              <a:ext uri="{FF2B5EF4-FFF2-40B4-BE49-F238E27FC236}">
                <a16:creationId xmlns:a16="http://schemas.microsoft.com/office/drawing/2014/main" id="{BFB9F75E-0769-09FC-7C0F-6D87DF2CA51E}"/>
              </a:ext>
            </a:extLst>
          </p:cNvPr>
          <p:cNvSpPr/>
          <p:nvPr/>
        </p:nvSpPr>
        <p:spPr>
          <a:xfrm>
            <a:off x="4022969" y="2941857"/>
            <a:ext cx="2133600" cy="1374448"/>
          </a:xfrm>
          <a:custGeom>
            <a:avLst/>
            <a:gdLst>
              <a:gd name="connsiteX0" fmla="*/ 0 w 1687609"/>
              <a:gd name="connsiteY0" fmla="*/ 802236 h 802236"/>
              <a:gd name="connsiteX1" fmla="*/ 952413 w 1687609"/>
              <a:gd name="connsiteY1" fmla="*/ 635103 h 802236"/>
              <a:gd name="connsiteX2" fmla="*/ 1687609 w 1687609"/>
              <a:gd name="connsiteY2" fmla="*/ 0 h 802236"/>
            </a:gdLst>
            <a:ahLst/>
            <a:cxnLst>
              <a:cxn ang="0">
                <a:pos x="connsiteX0" y="connsiteY0"/>
              </a:cxn>
              <a:cxn ang="0">
                <a:pos x="connsiteX1" y="connsiteY1"/>
              </a:cxn>
              <a:cxn ang="0">
                <a:pos x="connsiteX2" y="connsiteY2"/>
              </a:cxn>
            </a:cxnLst>
            <a:rect l="l" t="t" r="r" b="b"/>
            <a:pathLst>
              <a:path w="1687609" h="802236">
                <a:moveTo>
                  <a:pt x="0" y="802236"/>
                </a:moveTo>
                <a:cubicBezTo>
                  <a:pt x="335572" y="785522"/>
                  <a:pt x="671145" y="768809"/>
                  <a:pt x="952413" y="635103"/>
                </a:cubicBezTo>
                <a:cubicBezTo>
                  <a:pt x="1233681" y="501397"/>
                  <a:pt x="1687609" y="0"/>
                  <a:pt x="1687609" y="0"/>
                </a:cubicBezTo>
              </a:path>
            </a:pathLst>
          </a:custGeom>
          <a:noFill/>
          <a:ln w="19050" cap="flat" cmpd="sng" algn="ctr">
            <a:solidFill>
              <a:sysClr val="windowText" lastClr="000000"/>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w Cen MT"/>
              <a:ea typeface="+mn-ea"/>
              <a:cs typeface="+mn-cs"/>
            </a:endParaRPr>
          </a:p>
        </p:txBody>
      </p:sp>
      <p:sp>
        <p:nvSpPr>
          <p:cNvPr id="15" name="Freeform 14">
            <a:extLst>
              <a:ext uri="{FF2B5EF4-FFF2-40B4-BE49-F238E27FC236}">
                <a16:creationId xmlns:a16="http://schemas.microsoft.com/office/drawing/2014/main" id="{F12EBBB0-C1E1-5B22-1C9D-FDAF1FEAEE3F}"/>
              </a:ext>
            </a:extLst>
          </p:cNvPr>
          <p:cNvSpPr/>
          <p:nvPr/>
        </p:nvSpPr>
        <p:spPr>
          <a:xfrm>
            <a:off x="3921369" y="2487505"/>
            <a:ext cx="2133600" cy="1374448"/>
          </a:xfrm>
          <a:custGeom>
            <a:avLst/>
            <a:gdLst>
              <a:gd name="connsiteX0" fmla="*/ 0 w 1687609"/>
              <a:gd name="connsiteY0" fmla="*/ 802236 h 802236"/>
              <a:gd name="connsiteX1" fmla="*/ 952413 w 1687609"/>
              <a:gd name="connsiteY1" fmla="*/ 635103 h 802236"/>
              <a:gd name="connsiteX2" fmla="*/ 1687609 w 1687609"/>
              <a:gd name="connsiteY2" fmla="*/ 0 h 802236"/>
            </a:gdLst>
            <a:ahLst/>
            <a:cxnLst>
              <a:cxn ang="0">
                <a:pos x="connsiteX0" y="connsiteY0"/>
              </a:cxn>
              <a:cxn ang="0">
                <a:pos x="connsiteX1" y="connsiteY1"/>
              </a:cxn>
              <a:cxn ang="0">
                <a:pos x="connsiteX2" y="connsiteY2"/>
              </a:cxn>
            </a:cxnLst>
            <a:rect l="l" t="t" r="r" b="b"/>
            <a:pathLst>
              <a:path w="1687609" h="802236">
                <a:moveTo>
                  <a:pt x="0" y="802236"/>
                </a:moveTo>
                <a:cubicBezTo>
                  <a:pt x="335572" y="785522"/>
                  <a:pt x="671145" y="768809"/>
                  <a:pt x="952413" y="635103"/>
                </a:cubicBezTo>
                <a:cubicBezTo>
                  <a:pt x="1233681" y="501397"/>
                  <a:pt x="1687609" y="0"/>
                  <a:pt x="1687609" y="0"/>
                </a:cubicBezTo>
              </a:path>
            </a:pathLst>
          </a:custGeom>
          <a:noFill/>
          <a:ln w="19050" cap="flat" cmpd="sng" algn="ctr">
            <a:solidFill>
              <a:sysClr val="windowText" lastClr="000000"/>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w Cen MT"/>
              <a:ea typeface="+mn-ea"/>
              <a:cs typeface="+mn-cs"/>
            </a:endParaRPr>
          </a:p>
        </p:txBody>
      </p:sp>
      <p:sp>
        <p:nvSpPr>
          <p:cNvPr id="16" name="Freeform 15">
            <a:extLst>
              <a:ext uri="{FF2B5EF4-FFF2-40B4-BE49-F238E27FC236}">
                <a16:creationId xmlns:a16="http://schemas.microsoft.com/office/drawing/2014/main" id="{3B133179-DFF2-03B9-0C0A-7CFF29670391}"/>
              </a:ext>
            </a:extLst>
          </p:cNvPr>
          <p:cNvSpPr/>
          <p:nvPr/>
        </p:nvSpPr>
        <p:spPr>
          <a:xfrm>
            <a:off x="3921369" y="1979505"/>
            <a:ext cx="2032000" cy="1422400"/>
          </a:xfrm>
          <a:custGeom>
            <a:avLst/>
            <a:gdLst>
              <a:gd name="connsiteX0" fmla="*/ 0 w 1687609"/>
              <a:gd name="connsiteY0" fmla="*/ 802236 h 802236"/>
              <a:gd name="connsiteX1" fmla="*/ 952413 w 1687609"/>
              <a:gd name="connsiteY1" fmla="*/ 635103 h 802236"/>
              <a:gd name="connsiteX2" fmla="*/ 1687609 w 1687609"/>
              <a:gd name="connsiteY2" fmla="*/ 0 h 802236"/>
            </a:gdLst>
            <a:ahLst/>
            <a:cxnLst>
              <a:cxn ang="0">
                <a:pos x="connsiteX0" y="connsiteY0"/>
              </a:cxn>
              <a:cxn ang="0">
                <a:pos x="connsiteX1" y="connsiteY1"/>
              </a:cxn>
              <a:cxn ang="0">
                <a:pos x="connsiteX2" y="connsiteY2"/>
              </a:cxn>
            </a:cxnLst>
            <a:rect l="l" t="t" r="r" b="b"/>
            <a:pathLst>
              <a:path w="1687609" h="802236">
                <a:moveTo>
                  <a:pt x="0" y="802236"/>
                </a:moveTo>
                <a:cubicBezTo>
                  <a:pt x="335572" y="785522"/>
                  <a:pt x="671145" y="768809"/>
                  <a:pt x="952413" y="635103"/>
                </a:cubicBezTo>
                <a:cubicBezTo>
                  <a:pt x="1233681" y="501397"/>
                  <a:pt x="1687609" y="0"/>
                  <a:pt x="1687609" y="0"/>
                </a:cubicBezTo>
              </a:path>
            </a:pathLst>
          </a:custGeom>
          <a:noFill/>
          <a:ln w="19050" cap="flat" cmpd="sng" algn="ctr">
            <a:solidFill>
              <a:sysClr val="windowText" lastClr="000000"/>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Tw Cen MT"/>
              <a:ea typeface="+mn-ea"/>
              <a:cs typeface="+mn-cs"/>
            </a:endParaRPr>
          </a:p>
        </p:txBody>
      </p:sp>
      <p:sp>
        <p:nvSpPr>
          <p:cNvPr id="17" name="Oval 16">
            <a:extLst>
              <a:ext uri="{FF2B5EF4-FFF2-40B4-BE49-F238E27FC236}">
                <a16:creationId xmlns:a16="http://schemas.microsoft.com/office/drawing/2014/main" id="{E07B73C8-A58D-1C28-F843-4875C4E459F6}"/>
              </a:ext>
            </a:extLst>
          </p:cNvPr>
          <p:cNvSpPr/>
          <p:nvPr/>
        </p:nvSpPr>
        <p:spPr>
          <a:xfrm>
            <a:off x="4937370" y="3999041"/>
            <a:ext cx="327079" cy="317264"/>
          </a:xfrm>
          <a:prstGeom prst="ellipse">
            <a:avLst/>
          </a:prstGeom>
          <a:solidFill>
            <a:srgbClr val="DA1F28"/>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sp>
        <p:nvSpPr>
          <p:cNvPr id="18" name="TextBox 17">
            <a:extLst>
              <a:ext uri="{FF2B5EF4-FFF2-40B4-BE49-F238E27FC236}">
                <a16:creationId xmlns:a16="http://schemas.microsoft.com/office/drawing/2014/main" id="{B579D35C-28A7-BF85-729B-E5B418CFDD8A}"/>
              </a:ext>
            </a:extLst>
          </p:cNvPr>
          <p:cNvSpPr txBox="1"/>
          <p:nvPr/>
        </p:nvSpPr>
        <p:spPr>
          <a:xfrm>
            <a:off x="7477369" y="2379952"/>
            <a:ext cx="3454400" cy="584775"/>
          </a:xfrm>
          <a:prstGeom prst="rect">
            <a:avLst/>
          </a:prstGeom>
          <a:noFill/>
        </p:spPr>
        <p:txBody>
          <a:bodyPr wrap="square" rtlCol="0">
            <a:spAutoFit/>
          </a:bodyPr>
          <a:lstStyle/>
          <a:p>
            <a:pPr defTabSz="1219170"/>
            <a:r>
              <a:rPr lang="en-US" sz="3200" dirty="0">
                <a:solidFill>
                  <a:srgbClr val="DA1F28"/>
                </a:solidFill>
                <a:latin typeface="Tw Cen MT"/>
              </a:rPr>
              <a:t>Best feasible CAL</a:t>
            </a:r>
          </a:p>
        </p:txBody>
      </p:sp>
      <p:sp>
        <p:nvSpPr>
          <p:cNvPr id="19" name="Oval 18">
            <a:extLst>
              <a:ext uri="{FF2B5EF4-FFF2-40B4-BE49-F238E27FC236}">
                <a16:creationId xmlns:a16="http://schemas.microsoft.com/office/drawing/2014/main" id="{114D72EE-936C-E384-2EC2-12B3C872861C}"/>
              </a:ext>
            </a:extLst>
          </p:cNvPr>
          <p:cNvSpPr/>
          <p:nvPr/>
        </p:nvSpPr>
        <p:spPr>
          <a:xfrm>
            <a:off x="6030585" y="4011505"/>
            <a:ext cx="329184" cy="329184"/>
          </a:xfrm>
          <a:prstGeom prst="ellipse">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sp>
        <p:nvSpPr>
          <p:cNvPr id="20" name="Oval 19">
            <a:extLst>
              <a:ext uri="{FF2B5EF4-FFF2-40B4-BE49-F238E27FC236}">
                <a16:creationId xmlns:a16="http://schemas.microsoft.com/office/drawing/2014/main" id="{EF7D8AFA-FDE3-1A9D-7881-327382C76423}"/>
              </a:ext>
            </a:extLst>
          </p:cNvPr>
          <p:cNvSpPr/>
          <p:nvPr/>
        </p:nvSpPr>
        <p:spPr>
          <a:xfrm>
            <a:off x="6843385" y="3605105"/>
            <a:ext cx="329184" cy="329184"/>
          </a:xfrm>
          <a:prstGeom prst="ellipse">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sp>
        <p:nvSpPr>
          <p:cNvPr id="21" name="Oval 20">
            <a:extLst>
              <a:ext uri="{FF2B5EF4-FFF2-40B4-BE49-F238E27FC236}">
                <a16:creationId xmlns:a16="http://schemas.microsoft.com/office/drawing/2014/main" id="{FD76BF9D-F132-543B-F03D-613EAB4E43F9}"/>
              </a:ext>
            </a:extLst>
          </p:cNvPr>
          <p:cNvSpPr/>
          <p:nvPr/>
        </p:nvSpPr>
        <p:spPr>
          <a:xfrm>
            <a:off x="6741785" y="4214705"/>
            <a:ext cx="329184" cy="329184"/>
          </a:xfrm>
          <a:prstGeom prst="ellipse">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sp>
        <p:nvSpPr>
          <p:cNvPr id="22" name="Oval 21">
            <a:extLst>
              <a:ext uri="{FF2B5EF4-FFF2-40B4-BE49-F238E27FC236}">
                <a16:creationId xmlns:a16="http://schemas.microsoft.com/office/drawing/2014/main" id="{235F9E91-A7C1-0208-060F-8E72E46CA2C2}"/>
              </a:ext>
            </a:extLst>
          </p:cNvPr>
          <p:cNvSpPr/>
          <p:nvPr/>
        </p:nvSpPr>
        <p:spPr>
          <a:xfrm>
            <a:off x="7578969" y="3682321"/>
            <a:ext cx="329184" cy="329184"/>
          </a:xfrm>
          <a:prstGeom prst="ellipse">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sp>
        <p:nvSpPr>
          <p:cNvPr id="23" name="Oval 22">
            <a:extLst>
              <a:ext uri="{FF2B5EF4-FFF2-40B4-BE49-F238E27FC236}">
                <a16:creationId xmlns:a16="http://schemas.microsoft.com/office/drawing/2014/main" id="{987234DD-2410-8A2A-E774-30841F947601}"/>
              </a:ext>
            </a:extLst>
          </p:cNvPr>
          <p:cNvSpPr/>
          <p:nvPr/>
        </p:nvSpPr>
        <p:spPr>
          <a:xfrm>
            <a:off x="7960985" y="3275921"/>
            <a:ext cx="329184" cy="329184"/>
          </a:xfrm>
          <a:prstGeom prst="ellipse">
            <a:avLst/>
          </a:prstGeom>
          <a:solidFill>
            <a:srgbClr val="2DA2BF"/>
          </a:solidFill>
          <a:ln w="10000" cap="flat" cmpd="sng" algn="ctr">
            <a:solidFill>
              <a:srgbClr val="2DA2BF"/>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Tw Cen MT"/>
              <a:ea typeface="+mn-ea"/>
              <a:cs typeface="+mn-cs"/>
            </a:endParaRPr>
          </a:p>
        </p:txBody>
      </p:sp>
      <p:sp>
        <p:nvSpPr>
          <p:cNvPr id="24" name="TextBox 23">
            <a:extLst>
              <a:ext uri="{FF2B5EF4-FFF2-40B4-BE49-F238E27FC236}">
                <a16:creationId xmlns:a16="http://schemas.microsoft.com/office/drawing/2014/main" id="{C23C4537-90F0-E811-6929-6A30C9C6FC96}"/>
              </a:ext>
            </a:extLst>
          </p:cNvPr>
          <p:cNvSpPr txBox="1"/>
          <p:nvPr/>
        </p:nvSpPr>
        <p:spPr>
          <a:xfrm>
            <a:off x="8391769" y="2995505"/>
            <a:ext cx="3149600" cy="584775"/>
          </a:xfrm>
          <a:prstGeom prst="rect">
            <a:avLst/>
          </a:prstGeom>
          <a:noFill/>
        </p:spPr>
        <p:txBody>
          <a:bodyPr wrap="square" rtlCol="0">
            <a:spAutoFit/>
          </a:bodyPr>
          <a:lstStyle/>
          <a:p>
            <a:pPr defTabSz="1219170"/>
            <a:r>
              <a:rPr lang="en-US" sz="3200" dirty="0">
                <a:solidFill>
                  <a:srgbClr val="DA1F28"/>
                </a:solidFill>
                <a:latin typeface="Tw Cen MT"/>
              </a:rPr>
              <a:t>Efficient frontier</a:t>
            </a:r>
          </a:p>
        </p:txBody>
      </p:sp>
      <p:sp>
        <p:nvSpPr>
          <p:cNvPr id="25" name="Freeform 19">
            <a:extLst>
              <a:ext uri="{FF2B5EF4-FFF2-40B4-BE49-F238E27FC236}">
                <a16:creationId xmlns:a16="http://schemas.microsoft.com/office/drawing/2014/main" id="{84A1F5F7-1627-B01E-6C73-D1EC6B3BCF52}"/>
              </a:ext>
            </a:extLst>
          </p:cNvPr>
          <p:cNvSpPr/>
          <p:nvPr/>
        </p:nvSpPr>
        <p:spPr>
          <a:xfrm>
            <a:off x="5445369" y="3344874"/>
            <a:ext cx="2711749" cy="913657"/>
          </a:xfrm>
          <a:custGeom>
            <a:avLst/>
            <a:gdLst>
              <a:gd name="connsiteX0" fmla="*/ 28732 w 2033812"/>
              <a:gd name="connsiteY0" fmla="*/ 685243 h 685243"/>
              <a:gd name="connsiteX1" fmla="*/ 62150 w 2033812"/>
              <a:gd name="connsiteY1" fmla="*/ 568250 h 685243"/>
              <a:gd name="connsiteX2" fmla="*/ 580129 w 2033812"/>
              <a:gd name="connsiteY2" fmla="*/ 284125 h 685243"/>
              <a:gd name="connsiteX3" fmla="*/ 1616087 w 2033812"/>
              <a:gd name="connsiteY3" fmla="*/ 50140 h 685243"/>
              <a:gd name="connsiteX4" fmla="*/ 2033812 w 2033812"/>
              <a:gd name="connsiteY4" fmla="*/ 0 h 6852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3812" h="685243">
                <a:moveTo>
                  <a:pt x="28732" y="685243"/>
                </a:moveTo>
                <a:cubicBezTo>
                  <a:pt x="-509" y="660173"/>
                  <a:pt x="-29749" y="635103"/>
                  <a:pt x="62150" y="568250"/>
                </a:cubicBezTo>
                <a:cubicBezTo>
                  <a:pt x="154049" y="501397"/>
                  <a:pt x="321140" y="370477"/>
                  <a:pt x="580129" y="284125"/>
                </a:cubicBezTo>
                <a:cubicBezTo>
                  <a:pt x="839118" y="197773"/>
                  <a:pt x="1373807" y="97494"/>
                  <a:pt x="1616087" y="50140"/>
                </a:cubicBezTo>
                <a:cubicBezTo>
                  <a:pt x="1858368" y="2786"/>
                  <a:pt x="2033812" y="0"/>
                  <a:pt x="2033812" y="0"/>
                </a:cubicBezTo>
              </a:path>
            </a:pathLst>
          </a:custGeom>
          <a:noFill/>
          <a:ln w="38100" cap="flat" cmpd="sng" algn="ctr">
            <a:solidFill>
              <a:srgbClr val="DA1F28"/>
            </a:solidFill>
            <a:prstDash val="solid"/>
          </a:ln>
          <a:effectLst>
            <a:outerShdw blurRad="38100" dist="30000" dir="5400000" rotWithShape="0">
              <a:srgbClr val="000000">
                <a:alpha val="45000"/>
              </a:srgbClr>
            </a:outerShdw>
          </a:effectLst>
        </p:spPr>
        <p:txBody>
          <a:bodyPr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black"/>
              </a:solidFill>
              <a:effectLst/>
              <a:uLnTx/>
              <a:uFillTx/>
              <a:latin typeface="Tw Cen MT"/>
              <a:ea typeface="+mn-ea"/>
              <a:cs typeface="+mn-cs"/>
            </a:endParaRPr>
          </a:p>
        </p:txBody>
      </p:sp>
    </p:spTree>
    <p:extLst>
      <p:ext uri="{BB962C8B-B14F-4D97-AF65-F5344CB8AC3E}">
        <p14:creationId xmlns:p14="http://schemas.microsoft.com/office/powerpoint/2010/main" val="25246089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A43D3-DB7F-72D0-61FD-082F14180A8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1D4B17F-CCBC-BFA9-183D-DEADF7CF0653}"/>
              </a:ext>
            </a:extLst>
          </p:cNvPr>
          <p:cNvSpPr/>
          <p:nvPr/>
        </p:nvSpPr>
        <p:spPr>
          <a:xfrm>
            <a:off x="0" y="0"/>
            <a:ext cx="3921369"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rPr>
              <a:t>Modern Portfolio Theory </a:t>
            </a:r>
            <a:r>
              <a:rPr kumimoji="0" lang="en-US" sz="2000" b="1" i="0" u="none" strike="noStrike" kern="1200" cap="none" spc="0" normalizeH="0" baseline="0" noProof="0" dirty="0" err="1">
                <a:ln>
                  <a:noFill/>
                </a:ln>
                <a:solidFill>
                  <a:schemeClr val="bg1"/>
                </a:solidFill>
                <a:effectLst/>
                <a:uLnTx/>
                <a:uFillTx/>
                <a:latin typeface="Calibri" panose="020F0502020204030204"/>
                <a:ea typeface="+mn-ea"/>
                <a:cs typeface="+mn-cs"/>
              </a:rPr>
              <a:t>ll</a:t>
            </a:r>
            <a:endPar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EC82D1D0-A53D-66A2-1F14-C3AEA783297A}"/>
              </a:ext>
            </a:extLst>
          </p:cNvPr>
          <p:cNvSpPr/>
          <p:nvPr/>
        </p:nvSpPr>
        <p:spPr>
          <a:xfrm>
            <a:off x="3049642"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Experts’ Views on Diversification</a:t>
            </a:r>
          </a:p>
        </p:txBody>
      </p:sp>
      <p:sp>
        <p:nvSpPr>
          <p:cNvPr id="5" name="TextBox 4">
            <a:extLst>
              <a:ext uri="{FF2B5EF4-FFF2-40B4-BE49-F238E27FC236}">
                <a16:creationId xmlns:a16="http://schemas.microsoft.com/office/drawing/2014/main" id="{4678A74E-0BE7-9C0E-B3B4-A090F709BC7F}"/>
              </a:ext>
            </a:extLst>
          </p:cNvPr>
          <p:cNvSpPr txBox="1"/>
          <p:nvPr/>
        </p:nvSpPr>
        <p:spPr>
          <a:xfrm>
            <a:off x="192505" y="642136"/>
            <a:ext cx="11806990" cy="3544560"/>
          </a:xfrm>
          <a:prstGeom prst="rect">
            <a:avLst/>
          </a:prstGeom>
          <a:noFill/>
        </p:spPr>
        <p:txBody>
          <a:bodyPr wrap="square">
            <a:spAutoFit/>
          </a:bodyPr>
          <a:lstStyle/>
          <a:p>
            <a:pPr marL="320040" indent="-320040">
              <a:spcBef>
                <a:spcPts val="700"/>
              </a:spcBef>
              <a:buClr>
                <a:srgbClr val="DA1F28"/>
              </a:buClr>
              <a:buSzPct val="60000"/>
              <a:buFont typeface="Wingdings"/>
              <a:buChar char=""/>
              <a:defRPr/>
            </a:pPr>
            <a:r>
              <a:rPr lang="en-US" sz="2800" b="1" dirty="0">
                <a:solidFill>
                  <a:prstClr val="black"/>
                </a:solidFill>
                <a:latin typeface="Tw Cen MT"/>
              </a:rPr>
              <a:t>Burton </a:t>
            </a:r>
            <a:r>
              <a:rPr lang="en-US" sz="2800" b="1" dirty="0" err="1">
                <a:solidFill>
                  <a:prstClr val="black"/>
                </a:solidFill>
                <a:latin typeface="Tw Cen MT"/>
              </a:rPr>
              <a:t>Malkiel’s</a:t>
            </a:r>
            <a:r>
              <a:rPr lang="en-US" sz="2800" b="1" dirty="0">
                <a:solidFill>
                  <a:prstClr val="black"/>
                </a:solidFill>
                <a:latin typeface="Tw Cen MT"/>
              </a:rPr>
              <a:t> view: </a:t>
            </a:r>
            <a:r>
              <a:rPr lang="en-US" sz="2800" b="1" dirty="0">
                <a:solidFill>
                  <a:schemeClr val="accent2"/>
                </a:solidFill>
                <a:latin typeface="Tw Cen MT"/>
                <a:hlinkClick r:id="rId3">
                  <a:extLst>
                    <a:ext uri="{A12FA001-AC4F-418D-AE19-62706E023703}">
                      <ahyp:hlinkClr xmlns:ahyp="http://schemas.microsoft.com/office/drawing/2018/hyperlinkcolor" val="tx"/>
                    </a:ext>
                  </a:extLst>
                </a:hlinkClick>
              </a:rPr>
              <a:t>Why Diversification Works?</a:t>
            </a:r>
            <a:endParaRPr lang="en-US" sz="2800" b="1" dirty="0">
              <a:solidFill>
                <a:schemeClr val="accent2"/>
              </a:solidFill>
              <a:latin typeface="Tw Cen MT"/>
            </a:endParaRPr>
          </a:p>
          <a:p>
            <a:pPr marL="320040" indent="-320040">
              <a:spcBef>
                <a:spcPts val="700"/>
              </a:spcBef>
              <a:buClr>
                <a:srgbClr val="DA1F28"/>
              </a:buClr>
              <a:buSzPct val="60000"/>
              <a:buFont typeface="Wingdings"/>
              <a:buChar char=""/>
              <a:defRPr/>
            </a:pPr>
            <a:r>
              <a:rPr lang="en-US" sz="2800" b="1" dirty="0">
                <a:solidFill>
                  <a:prstClr val="black"/>
                </a:solidFill>
                <a:latin typeface="Tw Cen MT"/>
              </a:rPr>
              <a:t>Warren Buffet’s view: </a:t>
            </a:r>
            <a:r>
              <a:rPr lang="en-US" sz="2800" b="1" dirty="0">
                <a:solidFill>
                  <a:schemeClr val="accent2"/>
                </a:solidFill>
                <a:latin typeface="Tw Cen MT"/>
                <a:hlinkClick r:id="rId4">
                  <a:extLst>
                    <a:ext uri="{A12FA001-AC4F-418D-AE19-62706E023703}">
                      <ahyp:hlinkClr xmlns:ahyp="http://schemas.microsoft.com/office/drawing/2018/hyperlinkcolor" val="tx"/>
                    </a:ext>
                  </a:extLst>
                </a:hlinkClick>
              </a:rPr>
              <a:t>Diversification</a:t>
            </a:r>
            <a:endParaRPr lang="en-US" sz="2800" b="1" dirty="0">
              <a:solidFill>
                <a:schemeClr val="accent2"/>
              </a:solidFill>
              <a:latin typeface="Tw Cen MT"/>
            </a:endParaRPr>
          </a:p>
          <a:p>
            <a:pPr marL="320040" indent="-320040">
              <a:spcBef>
                <a:spcPts val="700"/>
              </a:spcBef>
              <a:buClr>
                <a:srgbClr val="DA1F28"/>
              </a:buClr>
              <a:buSzPct val="60000"/>
              <a:buFont typeface="Wingdings"/>
              <a:buChar char=""/>
              <a:defRPr/>
            </a:pPr>
            <a:r>
              <a:rPr lang="en-SG" sz="2800" b="1" dirty="0">
                <a:solidFill>
                  <a:prstClr val="black"/>
                </a:solidFill>
                <a:latin typeface="Tw Cen MT"/>
              </a:rPr>
              <a:t>Jack Bogle (Founder of Vanguard)’s 3 fund portfolio: </a:t>
            </a:r>
            <a:r>
              <a:rPr lang="en-SG" sz="2800" b="1" dirty="0">
                <a:solidFill>
                  <a:prstClr val="black"/>
                </a:solidFill>
                <a:latin typeface="Tw Cen MT"/>
                <a:hlinkClick r:id="rId5"/>
              </a:rPr>
              <a:t>Bogleheads 3 Fund Portfolio - The Ultimate Guide</a:t>
            </a:r>
            <a:endParaRPr lang="en-SG" sz="2800" b="1" dirty="0">
              <a:solidFill>
                <a:prstClr val="black"/>
              </a:solidFill>
              <a:latin typeface="Tw Cen MT"/>
            </a:endParaRPr>
          </a:p>
          <a:p>
            <a:pPr marL="320040" indent="-320040">
              <a:spcBef>
                <a:spcPts val="700"/>
              </a:spcBef>
              <a:buClr>
                <a:srgbClr val="DA1F28"/>
              </a:buClr>
              <a:buSzPct val="60000"/>
              <a:buFont typeface="Wingdings"/>
              <a:buChar char=""/>
              <a:defRPr/>
            </a:pPr>
            <a:endParaRPr lang="en-US" sz="2800" b="1" dirty="0">
              <a:solidFill>
                <a:schemeClr val="accent2"/>
              </a:solidFill>
              <a:latin typeface="Tw Cen MT"/>
            </a:endParaRPr>
          </a:p>
          <a:p>
            <a:pPr marL="320040" indent="-320040">
              <a:spcBef>
                <a:spcPts val="700"/>
              </a:spcBef>
              <a:buClr>
                <a:srgbClr val="DA1F28"/>
              </a:buClr>
              <a:buSzPct val="60000"/>
              <a:buFont typeface="Wingdings"/>
              <a:buChar char=""/>
              <a:defRPr/>
            </a:pPr>
            <a:endParaRPr lang="en-US" sz="2800" b="1" dirty="0">
              <a:solidFill>
                <a:schemeClr val="accent2"/>
              </a:solidFill>
              <a:latin typeface="Tw Cen MT"/>
            </a:endParaRPr>
          </a:p>
          <a:p>
            <a:pPr marL="880110" marR="0" lvl="1" indent="-514350" algn="l" defTabSz="914400" rtl="0" eaLnBrk="1" fontAlgn="auto" latinLnBrk="0" hangingPunct="1">
              <a:lnSpc>
                <a:spcPct val="100000"/>
              </a:lnSpc>
              <a:spcBef>
                <a:spcPts val="550"/>
              </a:spcBef>
              <a:spcAft>
                <a:spcPts val="0"/>
              </a:spcAft>
              <a:buClr>
                <a:srgbClr val="2DA2BF"/>
              </a:buClr>
              <a:buSzPct val="70000"/>
              <a:buFont typeface="+mj-lt"/>
              <a:buAutoNum type="arabicPeriod"/>
              <a:tabLst/>
              <a:defRPr/>
            </a:pPr>
            <a:endParaRPr kumimoji="0" lang="en-US" sz="2800" b="0" i="0" u="none" strike="noStrike" kern="1200" cap="none" spc="0" normalizeH="0" baseline="0" noProof="0" dirty="0">
              <a:ln>
                <a:noFill/>
              </a:ln>
              <a:solidFill>
                <a:prstClr val="black"/>
              </a:solidFill>
              <a:effectLst/>
              <a:uLnTx/>
              <a:uFillTx/>
              <a:latin typeface="Tw Cen MT"/>
              <a:ea typeface="+mn-ea"/>
              <a:cs typeface="+mn-cs"/>
            </a:endParaRPr>
          </a:p>
        </p:txBody>
      </p:sp>
    </p:spTree>
    <p:extLst>
      <p:ext uri="{BB962C8B-B14F-4D97-AF65-F5344CB8AC3E}">
        <p14:creationId xmlns:p14="http://schemas.microsoft.com/office/powerpoint/2010/main" val="1990138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FEC82B-A3AB-51ED-9546-137D0417925C}"/>
              </a:ext>
            </a:extLst>
          </p:cNvPr>
          <p:cNvSpPr/>
          <p:nvPr/>
        </p:nvSpPr>
        <p:spPr>
          <a:xfrm>
            <a:off x="0" y="0"/>
            <a:ext cx="3921369" cy="526472"/>
          </a:xfrm>
          <a:prstGeom prst="rect">
            <a:avLst/>
          </a:prstGeom>
          <a:solidFill>
            <a:srgbClr val="DA1F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rPr>
              <a:t>Modern Portfolio Theory </a:t>
            </a:r>
            <a:r>
              <a:rPr kumimoji="0" lang="en-US" sz="2000" b="1" i="0" u="none" strike="noStrike" kern="1200" cap="none" spc="0" normalizeH="0" baseline="0" noProof="0" dirty="0" err="1">
                <a:ln>
                  <a:noFill/>
                </a:ln>
                <a:solidFill>
                  <a:schemeClr val="bg1"/>
                </a:solidFill>
                <a:effectLst/>
                <a:uLnTx/>
                <a:uFillTx/>
                <a:latin typeface="Calibri" panose="020F0502020204030204"/>
                <a:ea typeface="+mn-ea"/>
                <a:cs typeface="+mn-cs"/>
              </a:rPr>
              <a:t>ll</a:t>
            </a:r>
            <a:endParaRPr kumimoji="0" lang="en-US" sz="20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CEE303D4-35FA-C10D-C859-0417DFD03E20}"/>
              </a:ext>
            </a:extLst>
          </p:cNvPr>
          <p:cNvSpPr/>
          <p:nvPr/>
        </p:nvSpPr>
        <p:spPr>
          <a:xfrm>
            <a:off x="3034144" y="-1"/>
            <a:ext cx="9157855" cy="526473"/>
          </a:xfrm>
          <a:prstGeom prst="rect">
            <a:avLst/>
          </a:prstGeom>
          <a:solidFill>
            <a:srgbClr val="30B1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US" sz="2200" b="1" dirty="0">
                <a:solidFill>
                  <a:schemeClr val="bg1"/>
                </a:solidFill>
                <a:latin typeface="Tw Cen MT" panose="020B0602020104020603" pitchFamily="34" charset="77"/>
              </a:rPr>
              <a:t>Common Asset-allocation Mistakes</a:t>
            </a:r>
          </a:p>
        </p:txBody>
      </p:sp>
      <p:sp>
        <p:nvSpPr>
          <p:cNvPr id="2" name="TextBox 1">
            <a:extLst>
              <a:ext uri="{FF2B5EF4-FFF2-40B4-BE49-F238E27FC236}">
                <a16:creationId xmlns:a16="http://schemas.microsoft.com/office/drawing/2014/main" id="{5CAD4842-40BE-A2D7-A4B2-CE80B2773A0D}"/>
              </a:ext>
            </a:extLst>
          </p:cNvPr>
          <p:cNvSpPr txBox="1"/>
          <p:nvPr/>
        </p:nvSpPr>
        <p:spPr>
          <a:xfrm>
            <a:off x="192505" y="642136"/>
            <a:ext cx="11806990" cy="5755422"/>
          </a:xfrm>
          <a:prstGeom prst="rect">
            <a:avLst/>
          </a:prstGeom>
          <a:noFill/>
        </p:spPr>
        <p:txBody>
          <a:bodyPr wrap="square">
            <a:spAutoFit/>
          </a:bodyPr>
          <a:lstStyle/>
          <a:p>
            <a:pPr marL="320040" indent="-320040">
              <a:spcBef>
                <a:spcPts val="700"/>
              </a:spcBef>
              <a:buClr>
                <a:srgbClr val="DA1F28"/>
              </a:buClr>
              <a:buSzPct val="60000"/>
              <a:buFont typeface="Wingdings"/>
              <a:buChar char=""/>
              <a:defRPr/>
            </a:pPr>
            <a:r>
              <a:rPr kumimoji="0" lang="en-US" sz="2800" b="1" i="0" u="none" strike="noStrike" kern="1200" cap="none" spc="0" normalizeH="0" baseline="0" noProof="0" dirty="0">
                <a:ln>
                  <a:noFill/>
                </a:ln>
                <a:solidFill>
                  <a:prstClr val="black"/>
                </a:solidFill>
                <a:effectLst/>
                <a:uLnTx/>
                <a:uFillTx/>
                <a:latin typeface="Tw Cen MT"/>
                <a:ea typeface="+mn-ea"/>
                <a:cs typeface="+mn-cs"/>
              </a:rPr>
              <a:t>Asset allocation is the most important investment decision you will make.</a:t>
            </a:r>
          </a:p>
          <a:p>
            <a:pPr marL="914400" lvl="1" indent="-457200">
              <a:spcBef>
                <a:spcPts val="700"/>
              </a:spcBef>
              <a:buClr>
                <a:srgbClr val="DA1F28"/>
              </a:buClr>
              <a:buSzPct val="60000"/>
              <a:buFont typeface="Arial" panose="020B0604020202020204" pitchFamily="34" charset="0"/>
              <a:buChar char="•"/>
              <a:defRPr/>
            </a:pPr>
            <a:r>
              <a:rPr lang="en-US" sz="2800" dirty="0">
                <a:solidFill>
                  <a:prstClr val="black"/>
                </a:solidFill>
                <a:latin typeface="Tw Cen MT"/>
              </a:rPr>
              <a:t>Asset allocation explains 90% of the return earned while security selection explains 10%. (</a:t>
            </a:r>
            <a:r>
              <a:rPr lang="en-US" sz="2800" dirty="0">
                <a:solidFill>
                  <a:prstClr val="black"/>
                </a:solidFill>
                <a:latin typeface="Tw Cen MT"/>
                <a:hlinkClick r:id="rId3"/>
              </a:rPr>
              <a:t>link</a:t>
            </a:r>
            <a:r>
              <a:rPr lang="en-US" sz="2800" dirty="0">
                <a:solidFill>
                  <a:prstClr val="black"/>
                </a:solidFill>
                <a:latin typeface="Tw Cen MT"/>
              </a:rPr>
              <a:t>)</a:t>
            </a:r>
            <a:endParaRPr lang="en-US" sz="2800" b="1" dirty="0">
              <a:solidFill>
                <a:prstClr val="black"/>
              </a:solidFill>
              <a:latin typeface="Tw Cen MT"/>
            </a:endParaRPr>
          </a:p>
          <a:p>
            <a:pPr marL="320040" indent="-320040">
              <a:spcBef>
                <a:spcPts val="700"/>
              </a:spcBef>
              <a:buClr>
                <a:srgbClr val="DA1F28"/>
              </a:buClr>
              <a:buSzPct val="60000"/>
              <a:buFont typeface="Wingdings"/>
              <a:buChar char=""/>
              <a:defRPr/>
            </a:pPr>
            <a:r>
              <a:rPr kumimoji="0" lang="en-US" sz="2800" b="0" i="0" u="none" strike="noStrike" kern="1200" cap="none" spc="0" normalizeH="0" baseline="0" noProof="0" dirty="0">
                <a:ln>
                  <a:noFill/>
                </a:ln>
                <a:solidFill>
                  <a:prstClr val="black"/>
                </a:solidFill>
                <a:effectLst/>
                <a:uLnTx/>
                <a:uFillTx/>
                <a:latin typeface="Tw Cen MT"/>
                <a:ea typeface="+mn-ea"/>
                <a:cs typeface="+mn-cs"/>
              </a:rPr>
              <a:t>Many investors suffer from two common allocation sins: </a:t>
            </a:r>
            <a:r>
              <a:rPr kumimoji="0" lang="en-US" sz="2800" b="1" i="0" u="none" strike="noStrike" kern="1200" cap="none" spc="0" normalizeH="0" baseline="0" noProof="0" dirty="0">
                <a:ln>
                  <a:noFill/>
                </a:ln>
                <a:solidFill>
                  <a:prstClr val="black"/>
                </a:solidFill>
                <a:effectLst/>
                <a:uLnTx/>
                <a:uFillTx/>
                <a:latin typeface="Tw Cen MT"/>
                <a:ea typeface="+mn-ea"/>
                <a:cs typeface="+mn-cs"/>
              </a:rPr>
              <a:t>being too conservative</a:t>
            </a:r>
            <a:r>
              <a:rPr kumimoji="0" lang="en-US" sz="2800" b="0" i="0" u="none" strike="noStrike" kern="1200" cap="none" spc="0" normalizeH="0" baseline="0" noProof="0" dirty="0">
                <a:ln>
                  <a:noFill/>
                </a:ln>
                <a:solidFill>
                  <a:prstClr val="black"/>
                </a:solidFill>
                <a:effectLst/>
                <a:uLnTx/>
                <a:uFillTx/>
                <a:latin typeface="Tw Cen MT"/>
                <a:ea typeface="+mn-ea"/>
                <a:cs typeface="+mn-cs"/>
              </a:rPr>
              <a:t> and/or </a:t>
            </a:r>
            <a:r>
              <a:rPr kumimoji="0" lang="en-US" sz="2800" b="1" i="0" u="none" strike="noStrike" kern="1200" cap="none" spc="0" normalizeH="0" baseline="0" noProof="0" dirty="0">
                <a:ln>
                  <a:noFill/>
                </a:ln>
                <a:solidFill>
                  <a:prstClr val="black"/>
                </a:solidFill>
                <a:effectLst/>
                <a:uLnTx/>
                <a:uFillTx/>
                <a:latin typeface="Tw Cen MT"/>
                <a:ea typeface="+mn-ea"/>
                <a:cs typeface="+mn-cs"/>
              </a:rPr>
              <a:t>poorly diversified</a:t>
            </a:r>
            <a:r>
              <a:rPr kumimoji="0" lang="en-US" sz="2800" b="0" i="0" u="none" strike="noStrike" kern="1200" cap="none" spc="0" normalizeH="0" baseline="0" noProof="0" dirty="0">
                <a:ln>
                  <a:noFill/>
                </a:ln>
                <a:solidFill>
                  <a:prstClr val="black"/>
                </a:solidFill>
                <a:effectLst/>
                <a:uLnTx/>
                <a:uFillTx/>
                <a:latin typeface="Tw Cen MT"/>
                <a:ea typeface="+mn-ea"/>
                <a:cs typeface="+mn-cs"/>
              </a:rPr>
              <a:t>. (</a:t>
            </a:r>
            <a:r>
              <a:rPr kumimoji="0" lang="en-US" sz="2800" b="0" i="0" u="none" strike="noStrike" kern="1200" cap="none" spc="0" normalizeH="0" baseline="0" noProof="0" dirty="0">
                <a:ln>
                  <a:noFill/>
                </a:ln>
                <a:solidFill>
                  <a:prstClr val="black"/>
                </a:solidFill>
                <a:effectLst/>
                <a:uLnTx/>
                <a:uFillTx/>
                <a:latin typeface="Tw Cen MT"/>
                <a:ea typeface="+mn-ea"/>
                <a:cs typeface="+mn-cs"/>
                <a:hlinkClick r:id="rId4"/>
              </a:rPr>
              <a:t>link</a:t>
            </a:r>
            <a:r>
              <a:rPr kumimoji="0" lang="en-US" sz="2800" b="0" i="0" u="none" strike="noStrike" kern="1200" cap="none" spc="0" normalizeH="0" baseline="0" noProof="0" dirty="0">
                <a:ln>
                  <a:noFill/>
                </a:ln>
                <a:solidFill>
                  <a:prstClr val="black"/>
                </a:solidFill>
                <a:effectLst/>
                <a:uLnTx/>
                <a:uFillTx/>
                <a:latin typeface="Tw Cen MT"/>
                <a:ea typeface="+mn-ea"/>
                <a:cs typeface="+mn-cs"/>
              </a:rPr>
              <a:t>)</a:t>
            </a:r>
          </a:p>
          <a:p>
            <a:pPr marL="1051560" marR="0" lvl="2" indent="-457200" algn="l" defTabSz="914400" rtl="0" eaLnBrk="1" fontAlgn="auto" latinLnBrk="0" hangingPunct="1">
              <a:lnSpc>
                <a:spcPct val="100000"/>
              </a:lnSpc>
              <a:spcBef>
                <a:spcPts val="500"/>
              </a:spcBef>
              <a:spcAft>
                <a:spcPts val="0"/>
              </a:spcAft>
              <a:buClr>
                <a:srgbClr val="DA1F28"/>
              </a:buClr>
              <a:buSzPct val="75000"/>
              <a:buFont typeface="Arial" panose="020B0604020202020204" pitchFamily="34" charset="0"/>
              <a:buChar char="•"/>
              <a:tabLst/>
              <a:defRPr/>
            </a:pPr>
            <a:r>
              <a:rPr kumimoji="0" lang="en-US" sz="2600" b="1" i="0" u="none" strike="noStrike" kern="1200" cap="none" spc="0" normalizeH="0" baseline="0" noProof="0" dirty="0">
                <a:ln>
                  <a:noFill/>
                </a:ln>
                <a:solidFill>
                  <a:prstClr val="black"/>
                </a:solidFill>
                <a:effectLst/>
                <a:uLnTx/>
                <a:uFillTx/>
                <a:latin typeface="Tw Cen MT"/>
                <a:ea typeface="+mn-ea"/>
                <a:cs typeface="+mn-cs"/>
              </a:rPr>
              <a:t>Being too conservative </a:t>
            </a:r>
            <a:r>
              <a:rPr kumimoji="0" lang="en-US" sz="2600" b="0" i="0" u="none" strike="noStrike" kern="1200" cap="none" spc="0" normalizeH="0" baseline="0" noProof="0" dirty="0">
                <a:ln>
                  <a:noFill/>
                </a:ln>
                <a:solidFill>
                  <a:prstClr val="black"/>
                </a:solidFill>
                <a:effectLst/>
                <a:uLnTx/>
                <a:uFillTx/>
                <a:latin typeface="Tw Cen MT"/>
                <a:ea typeface="+mn-ea"/>
                <a:cs typeface="+mn-cs"/>
              </a:rPr>
              <a:t>often comes in the form of too much cash and bonds and not enough stocks (more on cash in the next section). The consequence of being too conservative too soon could be running out of money. (</a:t>
            </a:r>
            <a:r>
              <a:rPr kumimoji="0" lang="en-US" sz="2600" b="0" i="0" u="none" strike="noStrike" kern="1200" cap="none" spc="0" normalizeH="0" baseline="0" noProof="0" dirty="0">
                <a:ln>
                  <a:noFill/>
                </a:ln>
                <a:solidFill>
                  <a:prstClr val="black"/>
                </a:solidFill>
                <a:effectLst/>
                <a:uLnTx/>
                <a:uFillTx/>
                <a:latin typeface="Tw Cen MT"/>
                <a:ea typeface="+mn-ea"/>
                <a:cs typeface="+mn-cs"/>
                <a:hlinkClick r:id="rId5"/>
              </a:rPr>
              <a:t>An economist’s story</a:t>
            </a:r>
            <a:r>
              <a:rPr kumimoji="0" lang="en-US" sz="2600" b="0" i="0" u="none" strike="noStrike" kern="1200" cap="none" spc="0" normalizeH="0" baseline="0" noProof="0" dirty="0">
                <a:ln>
                  <a:noFill/>
                </a:ln>
                <a:solidFill>
                  <a:prstClr val="black"/>
                </a:solidFill>
                <a:effectLst/>
                <a:uLnTx/>
                <a:uFillTx/>
                <a:latin typeface="Tw Cen MT"/>
                <a:ea typeface="+mn-ea"/>
                <a:cs typeface="+mn-cs"/>
              </a:rPr>
              <a:t>)</a:t>
            </a:r>
          </a:p>
          <a:p>
            <a:pPr marL="1051560" marR="0" lvl="2" indent="-457200" algn="l" defTabSz="914400" rtl="0" eaLnBrk="1" fontAlgn="auto" latinLnBrk="0" hangingPunct="1">
              <a:lnSpc>
                <a:spcPct val="100000"/>
              </a:lnSpc>
              <a:spcBef>
                <a:spcPts val="500"/>
              </a:spcBef>
              <a:spcAft>
                <a:spcPts val="0"/>
              </a:spcAft>
              <a:buClr>
                <a:srgbClr val="DA1F28"/>
              </a:buClr>
              <a:buSzPct val="75000"/>
              <a:buFont typeface="Arial" panose="020B0604020202020204" pitchFamily="34" charset="0"/>
              <a:buChar char="•"/>
              <a:tabLst/>
              <a:defRPr/>
            </a:pPr>
            <a:r>
              <a:rPr kumimoji="0" lang="en-US" sz="2600" b="1" i="0" u="none" strike="noStrike" kern="1200" cap="none" spc="0" normalizeH="0" baseline="0" noProof="0" dirty="0">
                <a:ln>
                  <a:noFill/>
                </a:ln>
                <a:solidFill>
                  <a:prstClr val="black"/>
                </a:solidFill>
                <a:effectLst/>
                <a:uLnTx/>
                <a:uFillTx/>
                <a:latin typeface="Tw Cen MT"/>
                <a:ea typeface="+mn-ea"/>
                <a:cs typeface="+mn-cs"/>
              </a:rPr>
              <a:t>A properly diversified stock portfolio, for instance, should have exposure to all economic sectors. </a:t>
            </a:r>
            <a:r>
              <a:rPr kumimoji="0" lang="en-US" sz="2600" b="0" i="0" u="none" strike="noStrike" kern="1200" cap="none" spc="0" normalizeH="0" baseline="0" noProof="0" dirty="0">
                <a:ln>
                  <a:noFill/>
                </a:ln>
                <a:solidFill>
                  <a:prstClr val="black"/>
                </a:solidFill>
                <a:effectLst/>
                <a:uLnTx/>
                <a:uFillTx/>
                <a:latin typeface="Tw Cen MT"/>
                <a:ea typeface="+mn-ea"/>
                <a:cs typeface="+mn-cs"/>
              </a:rPr>
              <a:t>You should also aim for exposure across different styles, sizes, regions, and to the extent possible, sub-industries. Spread out your risk. Doing this reduces portfolio volatility and can actually improve expected return.</a:t>
            </a:r>
            <a:endParaRPr kumimoji="0" lang="en-US" sz="2600" b="1" i="0" u="none" strike="noStrike" kern="1200" cap="none" spc="0" normalizeH="0" baseline="0" noProof="0" dirty="0">
              <a:ln>
                <a:noFill/>
              </a:ln>
              <a:solidFill>
                <a:prstClr val="black"/>
              </a:solidFill>
              <a:effectLst/>
              <a:uLnTx/>
              <a:uFillTx/>
              <a:latin typeface="Tw Cen MT"/>
              <a:ea typeface="+mn-ea"/>
              <a:cs typeface="+mn-cs"/>
            </a:endParaRPr>
          </a:p>
        </p:txBody>
      </p:sp>
    </p:spTree>
    <p:extLst>
      <p:ext uri="{BB962C8B-B14F-4D97-AF65-F5344CB8AC3E}">
        <p14:creationId xmlns:p14="http://schemas.microsoft.com/office/powerpoint/2010/main" val="2819721248"/>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idescreen Presentatio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4391</TotalTime>
  <Words>1273</Words>
  <Application>Microsoft Office PowerPoint</Application>
  <PresentationFormat>Widescreen</PresentationFormat>
  <Paragraphs>291</Paragraphs>
  <Slides>24</Slides>
  <Notes>23</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24</vt:i4>
      </vt:variant>
    </vt:vector>
  </HeadingPairs>
  <TitlesOfParts>
    <vt:vector size="35" baseType="lpstr">
      <vt:lpstr>Aptos</vt:lpstr>
      <vt:lpstr>Arial</vt:lpstr>
      <vt:lpstr>Calibri</vt:lpstr>
      <vt:lpstr>Calibri Light</vt:lpstr>
      <vt:lpstr>Cambria Math</vt:lpstr>
      <vt:lpstr>Tw Cen MT</vt:lpstr>
      <vt:lpstr>Wingdings</vt:lpstr>
      <vt:lpstr>Wingdings 2</vt:lpstr>
      <vt:lpstr>Office Theme</vt:lpstr>
      <vt:lpstr>Widescreen Presentation</vt:lpstr>
      <vt:lpstr>Equation</vt:lpstr>
      <vt:lpstr>Lecture 6: Modern Portfolio Theory Ii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6: time preference</dc:title>
  <dc:creator>#LIM PUI YEE#</dc:creator>
  <cp:lastModifiedBy>#GOH BO JUN, ISSAC (WU BOJUN)#</cp:lastModifiedBy>
  <cp:revision>40</cp:revision>
  <dcterms:created xsi:type="dcterms:W3CDTF">2022-07-09T07:25:24Z</dcterms:created>
  <dcterms:modified xsi:type="dcterms:W3CDTF">2025-04-15T06:10:23Z</dcterms:modified>
</cp:coreProperties>
</file>