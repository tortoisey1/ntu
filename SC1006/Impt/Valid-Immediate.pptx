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69" r:id="rId4"/>
    <p:sldId id="277" r:id="rId5"/>
    <p:sldId id="278" r:id="rId6"/>
    <p:sldId id="279" r:id="rId7"/>
    <p:sldId id="280" r:id="rId8"/>
  </p:sldIdLst>
  <p:sldSz cx="12192000" cy="6858000"/>
  <p:notesSz cx="6735763" cy="9866313"/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800000"/>
    <a:srgbClr val="CC00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379" autoAdjust="0"/>
  </p:normalViewPr>
  <p:slideViewPr>
    <p:cSldViewPr snapToGrid="0">
      <p:cViewPr varScale="1">
        <p:scale>
          <a:sx n="110" d="100"/>
          <a:sy n="110" d="100"/>
        </p:scale>
        <p:origin x="63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/>
              <a:t>Chapter 0 - Briefing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179" y="4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370390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/>
              <a:t>(c) A/P Goh Wooi Boon - 2016</a:t>
            </a: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179" y="9370390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6C9DCA-34F4-4A27-9819-D4793896A4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773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/>
              <a:t>Chapter 0 - Briefing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179" y="4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725" y="739775"/>
            <a:ext cx="6567488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70" y="4686828"/>
            <a:ext cx="5388026" cy="443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70390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US"/>
              <a:t>(c) A/P Goh Wooi Boon - 2016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179" y="9370390"/>
            <a:ext cx="2919123" cy="49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06" tIns="47453" rIns="94906" bIns="4745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8C263B-A9B8-4E3C-9F7B-EF301AA99C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1809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Chapter 0 - Briefing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CE/CZ1006</a:t>
            </a:r>
          </a:p>
        </p:txBody>
      </p:sp>
      <p:sp>
        <p:nvSpPr>
          <p:cNvPr id="92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(c) A/P Goh Wooi Boon - 2016</a:t>
            </a:r>
          </a:p>
        </p:txBody>
      </p:sp>
      <p:sp>
        <p:nvSpPr>
          <p:cNvPr id="92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64FAD-0705-4807-A6B2-857EBC9E39F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2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725" y="739775"/>
            <a:ext cx="6567488" cy="3695700"/>
          </a:xfrm>
          <a:ln/>
        </p:spPr>
      </p:sp>
      <p:sp>
        <p:nvSpPr>
          <p:cNvPr id="92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Chapter 0 - Briefing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CE/CZ1006</a:t>
            </a:r>
          </a:p>
        </p:txBody>
      </p:sp>
      <p:sp>
        <p:nvSpPr>
          <p:cNvPr id="102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(c) A/P Goh Wooi Boon - 2016</a:t>
            </a:r>
          </a:p>
        </p:txBody>
      </p:sp>
      <p:sp>
        <p:nvSpPr>
          <p:cNvPr id="102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DBF0F7-2179-4F14-88FF-9F140DBC676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2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725" y="739775"/>
            <a:ext cx="6567488" cy="3695700"/>
          </a:xfrm>
          <a:ln/>
        </p:spPr>
      </p:sp>
      <p:sp>
        <p:nvSpPr>
          <p:cNvPr id="102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0 - Briefing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A/P Goh Wooi Boon - 2016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C263B-A9B8-4E3C-9F7B-EF301AA99CD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24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0 - Briefing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A/P Goh Wooi Boon - 2016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C263B-A9B8-4E3C-9F7B-EF301AA99CD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97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0 - Briefing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A/P Goh Wooi Boon - 2016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C263B-A9B8-4E3C-9F7B-EF301AA99CD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0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0 - Briefing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A/P Goh Wooi Boon - 2016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C263B-A9B8-4E3C-9F7B-EF301AA99CD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72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0 - Briefing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A/P Goh Wooi Boon - 2016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8C263B-A9B8-4E3C-9F7B-EF301AA99CD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3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CFFF7-30F6-46E6-BA89-29CD7EB988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7D7F8-BA9C-4545-BFD1-5FA982ED04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B7EBC-23B2-4F59-ABF8-A843F7E8C5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F06FF-13FA-4A12-A146-017F5D6F2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459F0-CF6E-4A97-BDED-8DC4E5634F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D2DBD-0B58-4E64-9726-FC8AE0B9C4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5652B6-DDFE-454A-9F92-B45746AB4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8C2BE6-2B7E-4DFE-98B9-B6C0AFB85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97E30-2023-42E8-A1A3-9C37342D5C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2E5E7-618C-4386-9DE4-CB7CB9E73D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8622D-1D00-4382-8753-4461D2BBDA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9FE9776-169A-445B-AB81-4059AE61AD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1D9A1-C445-F947-8632-E957F33A4579}"/>
              </a:ext>
            </a:extLst>
          </p:cNvPr>
          <p:cNvSpPr/>
          <p:nvPr userDrawn="1"/>
        </p:nvSpPr>
        <p:spPr bwMode="auto">
          <a:xfrm>
            <a:off x="-11876" y="-1"/>
            <a:ext cx="1148316" cy="606056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SC1006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75C78-98A5-0949-97D7-EC3A919E621A}"/>
              </a:ext>
            </a:extLst>
          </p:cNvPr>
          <p:cNvSpPr txBox="1"/>
          <p:nvPr userDrawn="1"/>
        </p:nvSpPr>
        <p:spPr>
          <a:xfrm>
            <a:off x="1136440" y="6651856"/>
            <a:ext cx="106792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©2024, SCSE/NTU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>
          <a:xfrm>
            <a:off x="2514600" y="76200"/>
            <a:ext cx="80772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b="1" dirty="0">
                <a:solidFill>
                  <a:srgbClr val="800000"/>
                </a:solidFill>
              </a:rPr>
            </a:br>
            <a:br>
              <a:rPr lang="en-US" sz="4000" b="1" dirty="0">
                <a:solidFill>
                  <a:srgbClr val="800000"/>
                </a:solidFill>
              </a:rPr>
            </a:br>
            <a:br>
              <a:rPr lang="en-US" sz="4000" b="1" dirty="0">
                <a:solidFill>
                  <a:srgbClr val="800000"/>
                </a:solidFill>
              </a:rPr>
            </a:br>
            <a:br>
              <a:rPr lang="en-US" sz="4000" b="1" dirty="0">
                <a:solidFill>
                  <a:srgbClr val="800000"/>
                </a:solidFill>
              </a:rPr>
            </a:br>
            <a:br>
              <a:rPr lang="en-US" sz="4000" b="1" dirty="0">
                <a:solidFill>
                  <a:srgbClr val="800000"/>
                </a:solidFill>
              </a:rPr>
            </a:br>
            <a:br>
              <a:rPr lang="en-US" sz="48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sz="4000" b="1" dirty="0">
                <a:solidFill>
                  <a:srgbClr val="800000"/>
                </a:solidFill>
              </a:rPr>
            </a:br>
            <a:r>
              <a:rPr lang="en-US" sz="4000" b="1" dirty="0">
                <a:solidFill>
                  <a:srgbClr val="800000"/>
                </a:solidFill>
              </a:rPr>
              <a:t>Identifying Whether an Immediate Value is Valid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438400" y="4876800"/>
            <a:ext cx="8153400" cy="2057400"/>
          </a:xfrm>
        </p:spPr>
        <p:txBody>
          <a:bodyPr/>
          <a:lstStyle/>
          <a:p>
            <a:pPr algn="ctr" eaLnBrk="1" hangingPunct="1">
              <a:buNone/>
              <a:tabLst>
                <a:tab pos="6400800" algn="l"/>
              </a:tabLst>
            </a:pPr>
            <a:r>
              <a:rPr lang="en-US" sz="3600" dirty="0"/>
              <a:t>Asst. Prof. Mohamed M. </a:t>
            </a:r>
            <a:r>
              <a:rPr lang="en-US" sz="3600"/>
              <a:t>Sabry Aly</a:t>
            </a:r>
            <a:r>
              <a:rPr lang="en-US" sz="3600" dirty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512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317900" y="0"/>
            <a:ext cx="7924800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800000"/>
                </a:solidFill>
              </a:rPr>
              <a:t>The Challenge in Immediate values</a:t>
            </a:r>
            <a:endParaRPr lang="en-US" sz="2800" b="1" dirty="0">
              <a:solidFill>
                <a:srgbClr val="800000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943" y="1371600"/>
            <a:ext cx="10189213" cy="3408744"/>
          </a:xfrm>
        </p:spPr>
        <p:txBody>
          <a:bodyPr/>
          <a:lstStyle/>
          <a:p>
            <a:pPr marL="627063" indent="-627063" eaLnBrk="1" hangingPunct="1">
              <a:buBlip>
                <a:blip r:embed="rId3"/>
              </a:buBlip>
              <a:tabLst>
                <a:tab pos="520700" algn="l"/>
              </a:tabLst>
            </a:pPr>
            <a:r>
              <a:rPr lang="en-US" sz="2800" b="1" dirty="0"/>
              <a:t>Instruction length: 32 bits</a:t>
            </a:r>
          </a:p>
          <a:p>
            <a:pPr marL="1027113" lvl="1" indent="-627063" eaLnBrk="1" hangingPunct="1">
              <a:buBlip>
                <a:blip r:embed="rId3"/>
              </a:buBlip>
              <a:tabLst>
                <a:tab pos="520700" algn="l"/>
              </a:tabLst>
            </a:pPr>
            <a:r>
              <a:rPr lang="en-US" sz="2400" b="1" dirty="0"/>
              <a:t>For opcode and operands </a:t>
            </a:r>
            <a:r>
              <a:rPr lang="en-US" sz="2400" b="1" dirty="0">
                <a:sym typeface="Wingdings" pitchFamily="2" charset="2"/>
              </a:rPr>
              <a:t> 12 bits for immediate field</a:t>
            </a:r>
          </a:p>
          <a:p>
            <a:pPr marL="1027113" lvl="1" indent="-627063" eaLnBrk="1" hangingPunct="1">
              <a:buBlip>
                <a:blip r:embed="rId3"/>
              </a:buBlip>
              <a:tabLst>
                <a:tab pos="520700" algn="l"/>
              </a:tabLst>
            </a:pPr>
            <a:r>
              <a:rPr lang="en-US" sz="2400" b="1" dirty="0">
                <a:sym typeface="Wingdings" pitchFamily="2" charset="2"/>
              </a:rPr>
              <a:t>Register is 32 bits wide, how can we fill 12 bits in 32 bits?</a:t>
            </a:r>
          </a:p>
          <a:p>
            <a:pPr marL="1027113" lvl="1" indent="-627063" eaLnBrk="1" hangingPunct="1">
              <a:buBlip>
                <a:blip r:embed="rId3"/>
              </a:buBlip>
              <a:tabLst>
                <a:tab pos="520700" algn="l"/>
              </a:tabLst>
            </a:pPr>
            <a:endParaRPr lang="en-US" sz="2400" b="1" dirty="0">
              <a:sym typeface="Wingdings" pitchFamily="2" charset="2"/>
            </a:endParaRPr>
          </a:p>
          <a:p>
            <a:pPr marL="1027113" lvl="1" indent="-627063" eaLnBrk="1" hangingPunct="1">
              <a:buBlip>
                <a:blip r:embed="rId3"/>
              </a:buBlip>
              <a:tabLst>
                <a:tab pos="520700" algn="l"/>
              </a:tabLst>
            </a:pPr>
            <a:endParaRPr lang="en-US" sz="2400" b="1" dirty="0">
              <a:sym typeface="Wingdings" pitchFamily="2" charset="2"/>
            </a:endParaRPr>
          </a:p>
          <a:p>
            <a:pPr marL="1027113" lvl="1" indent="-627063" eaLnBrk="1" hangingPunct="1">
              <a:buBlip>
                <a:blip r:embed="rId3"/>
              </a:buBlip>
              <a:tabLst>
                <a:tab pos="520700" algn="l"/>
              </a:tabLst>
            </a:pPr>
            <a:endParaRPr lang="en-US" sz="2400" b="1" dirty="0">
              <a:sym typeface="Wingdings" pitchFamily="2" charset="2"/>
            </a:endParaRPr>
          </a:p>
          <a:p>
            <a:pPr marL="400050" lvl="1" indent="0" eaLnBrk="1" hangingPunct="1">
              <a:buNone/>
              <a:tabLst>
                <a:tab pos="520700" algn="l"/>
              </a:tabLst>
            </a:pP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74F4F3-D02D-3B8E-32B7-E371633EB6F5}"/>
              </a:ext>
            </a:extLst>
          </p:cNvPr>
          <p:cNvGrpSpPr/>
          <p:nvPr/>
        </p:nvGrpSpPr>
        <p:grpSpPr>
          <a:xfrm>
            <a:off x="1010317" y="3771065"/>
            <a:ext cx="11297430" cy="798990"/>
            <a:chOff x="508039" y="3050109"/>
            <a:chExt cx="11297430" cy="7989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675E43-2386-9498-4058-993A0B299F79}"/>
                </a:ext>
              </a:extLst>
            </p:cNvPr>
            <p:cNvSpPr/>
            <p:nvPr/>
          </p:nvSpPr>
          <p:spPr>
            <a:xfrm>
              <a:off x="717770" y="3385583"/>
              <a:ext cx="10972800" cy="4635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02D8CA-D78A-8305-4D87-EC366B19F64E}"/>
                </a:ext>
              </a:extLst>
            </p:cNvPr>
            <p:cNvSpPr txBox="1"/>
            <p:nvPr/>
          </p:nvSpPr>
          <p:spPr>
            <a:xfrm>
              <a:off x="11482945" y="30501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56FFF9-4C74-18F6-A2D2-43EFABB56F14}"/>
                </a:ext>
              </a:extLst>
            </p:cNvPr>
            <p:cNvSpPr txBox="1"/>
            <p:nvPr/>
          </p:nvSpPr>
          <p:spPr>
            <a:xfrm>
              <a:off x="508039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31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DE5D3F-F70C-5B8A-6108-E9BF06FC21E9}"/>
                </a:ext>
              </a:extLst>
            </p:cNvPr>
            <p:cNvSpPr/>
            <p:nvPr/>
          </p:nvSpPr>
          <p:spPr>
            <a:xfrm>
              <a:off x="717770" y="3385583"/>
              <a:ext cx="4114800" cy="4635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OpCode</a:t>
              </a:r>
              <a:endPara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CDDF28D-CEEC-2B53-AFFF-6FEAE501D532}"/>
                </a:ext>
              </a:extLst>
            </p:cNvPr>
            <p:cNvSpPr/>
            <p:nvPr/>
          </p:nvSpPr>
          <p:spPr>
            <a:xfrm>
              <a:off x="4832570" y="3385583"/>
              <a:ext cx="2743200" cy="4635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urier" pitchFamily="2" charset="0"/>
                </a:rPr>
                <a:t>Operands (registers)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2F0AA5D-BEEF-7168-69B5-22A0860A1585}"/>
                </a:ext>
              </a:extLst>
            </p:cNvPr>
            <p:cNvSpPr/>
            <p:nvPr/>
          </p:nvSpPr>
          <p:spPr>
            <a:xfrm>
              <a:off x="7575770" y="3385583"/>
              <a:ext cx="4114800" cy="46351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urier" pitchFamily="2" charset="0"/>
                </a:rPr>
                <a:t>Immediate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EABAE4-03C5-6239-AB40-54DCBAA89148}"/>
                </a:ext>
              </a:extLst>
            </p:cNvPr>
            <p:cNvSpPr txBox="1"/>
            <p:nvPr/>
          </p:nvSpPr>
          <p:spPr>
            <a:xfrm>
              <a:off x="1744036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28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C963F4-C3D1-590C-101B-E942241B8806}"/>
                </a:ext>
              </a:extLst>
            </p:cNvPr>
            <p:cNvSpPr txBox="1"/>
            <p:nvPr/>
          </p:nvSpPr>
          <p:spPr>
            <a:xfrm>
              <a:off x="2943064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24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575951-3EC0-6C4D-24DE-82D4368B3AB1}"/>
                </a:ext>
              </a:extLst>
            </p:cNvPr>
            <p:cNvSpPr txBox="1"/>
            <p:nvPr/>
          </p:nvSpPr>
          <p:spPr>
            <a:xfrm>
              <a:off x="4209484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21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F5B1A42-F3D7-95A0-7C02-97916E853A23}"/>
                </a:ext>
              </a:extLst>
            </p:cNvPr>
            <p:cNvSpPr txBox="1"/>
            <p:nvPr/>
          </p:nvSpPr>
          <p:spPr>
            <a:xfrm>
              <a:off x="4754949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19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78E691B-85BC-5658-F6D3-2931464FD02A}"/>
                </a:ext>
              </a:extLst>
            </p:cNvPr>
            <p:cNvSpPr txBox="1"/>
            <p:nvPr/>
          </p:nvSpPr>
          <p:spPr>
            <a:xfrm>
              <a:off x="5854182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16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D3929E-930F-B0EF-D24F-667E95A50E02}"/>
                </a:ext>
              </a:extLst>
            </p:cNvPr>
            <p:cNvSpPr txBox="1"/>
            <p:nvPr/>
          </p:nvSpPr>
          <p:spPr>
            <a:xfrm>
              <a:off x="6140684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15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AEDB51-D27A-00AE-4B01-D2F0DBB78B05}"/>
                </a:ext>
              </a:extLst>
            </p:cNvPr>
            <p:cNvSpPr txBox="1"/>
            <p:nvPr/>
          </p:nvSpPr>
          <p:spPr>
            <a:xfrm>
              <a:off x="7239917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12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58D14C6-AF22-6569-ED83-CFFB7A26661C}"/>
                </a:ext>
              </a:extLst>
            </p:cNvPr>
            <p:cNvSpPr txBox="1"/>
            <p:nvPr/>
          </p:nvSpPr>
          <p:spPr>
            <a:xfrm>
              <a:off x="7540254" y="305010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" pitchFamily="2" charset="0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4B8362-864F-A80D-F8E9-33F56DD1C167}"/>
                </a:ext>
              </a:extLst>
            </p:cNvPr>
            <p:cNvSpPr txBox="1"/>
            <p:nvPr/>
          </p:nvSpPr>
          <p:spPr>
            <a:xfrm>
              <a:off x="8769170" y="30501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8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0838CAA-3CB6-FD87-926F-0E5E4CF3B387}"/>
                </a:ext>
              </a:extLst>
            </p:cNvPr>
            <p:cNvSpPr txBox="1"/>
            <p:nvPr/>
          </p:nvSpPr>
          <p:spPr>
            <a:xfrm>
              <a:off x="9064761" y="3050109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urier" pitchFamily="2" charset="0"/>
                </a:rPr>
                <a:t>7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4C5C51C-AC07-1799-2052-257522CCCA99}"/>
              </a:ext>
            </a:extLst>
          </p:cNvPr>
          <p:cNvSpPr txBox="1"/>
          <p:nvPr/>
        </p:nvSpPr>
        <p:spPr>
          <a:xfrm>
            <a:off x="3487884" y="3376110"/>
            <a:ext cx="6789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format in ARM processor (further details in Chapter 8)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587" y="0"/>
            <a:ext cx="10289349" cy="871870"/>
          </a:xfrm>
        </p:spPr>
        <p:txBody>
          <a:bodyPr/>
          <a:lstStyle/>
          <a:p>
            <a:pPr algn="l" eaLnBrk="1" hangingPunct="1"/>
            <a:r>
              <a:rPr lang="en-US" sz="4000" b="1" dirty="0">
                <a:solidFill>
                  <a:srgbClr val="800000"/>
                </a:solidFill>
              </a:rPr>
              <a:t>How to determine if Immediate value is Valid?</a:t>
            </a:r>
            <a:endParaRPr lang="en-US" sz="3600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3355-9229-190F-EB85-1DF053C9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8"/>
            <a:ext cx="10972800" cy="4525963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Examples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 R0,#0x258</a:t>
            </a:r>
          </a:p>
          <a:p>
            <a:pPr lvl="1"/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R0,#0x254</a:t>
            </a:r>
          </a:p>
          <a:p>
            <a:pPr lvl="1"/>
            <a:r>
              <a:rPr lang="en-US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R0,#0x152</a:t>
            </a: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1500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1: Get all numbers in Binary</a:t>
            </a:r>
          </a:p>
          <a:p>
            <a:pPr marL="971550" lvl="1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0010 0101 1000</a:t>
            </a:r>
          </a:p>
          <a:p>
            <a:pPr marL="971550" lvl="1" indent="-457200"/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0010 0101 0100</a:t>
            </a:r>
          </a:p>
          <a:p>
            <a:pPr marL="971550" lvl="1" indent="-457200"/>
            <a:r>
              <a:rPr lang="en-US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0001 0101 0010</a:t>
            </a: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2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587" y="0"/>
            <a:ext cx="10289349" cy="871870"/>
          </a:xfrm>
        </p:spPr>
        <p:txBody>
          <a:bodyPr/>
          <a:lstStyle/>
          <a:p>
            <a:pPr algn="l" eaLnBrk="1" hangingPunct="1"/>
            <a:r>
              <a:rPr lang="en-US" sz="4000" b="1" dirty="0">
                <a:solidFill>
                  <a:srgbClr val="800000"/>
                </a:solidFill>
              </a:rPr>
              <a:t>How to determine if Immediate value is Valid?</a:t>
            </a:r>
            <a:endParaRPr lang="en-US" sz="3600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3355-9229-190F-EB85-1DF053C9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0823"/>
            <a:ext cx="10972800" cy="4525963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Step 2: Identify the indices of least significant and most significant ones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m,n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430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87 654 3210</a:t>
            </a:r>
          </a:p>
          <a:p>
            <a:pPr marL="971550" lvl="1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0 0101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000 m=8, n=3</a:t>
            </a:r>
          </a:p>
          <a:p>
            <a:pPr marL="971550" lvl="1" indent="-457200"/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en-US" b="1" u="sng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0 0101 0</a:t>
            </a:r>
            <a:r>
              <a:rPr lang="en-US" b="1" u="sng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 m=8, n=2</a:t>
            </a:r>
          </a:p>
          <a:p>
            <a:pPr marL="971550" lvl="1" indent="-457200"/>
            <a:r>
              <a:rPr lang="en-US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en-US" b="1" u="sng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0101 00</a:t>
            </a:r>
            <a:r>
              <a:rPr lang="en-US" b="1" u="sng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en-US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m=7, n=1</a:t>
            </a: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1500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3: Get the number of bits from least to most significant 1: X=m-n+1</a:t>
            </a: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7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587" y="0"/>
            <a:ext cx="10289349" cy="871870"/>
          </a:xfrm>
        </p:spPr>
        <p:txBody>
          <a:bodyPr/>
          <a:lstStyle/>
          <a:p>
            <a:pPr algn="l" eaLnBrk="1" hangingPunct="1"/>
            <a:r>
              <a:rPr lang="en-US" sz="4000" b="1" dirty="0">
                <a:solidFill>
                  <a:srgbClr val="800000"/>
                </a:solidFill>
              </a:rPr>
              <a:t>How to determine if Immediate value is Valid?</a:t>
            </a:r>
            <a:endParaRPr lang="en-US" sz="3600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3355-9229-190F-EB85-1DF053C9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0823"/>
            <a:ext cx="10972800" cy="4525963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Step 3: Get the number of bits from least to most significant 1: X=m-n+1</a:t>
            </a:r>
          </a:p>
          <a:p>
            <a:pPr marL="971550" lvl="1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X= 9 – 3 + 1 = 7</a:t>
            </a:r>
          </a:p>
          <a:p>
            <a:pPr marL="971550" lvl="1" indent="-457200"/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X= 9 – 2 + 1 = 8</a:t>
            </a:r>
          </a:p>
          <a:p>
            <a:pPr marL="971550" lvl="1" indent="-457200"/>
            <a:r>
              <a:rPr lang="en-US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X= 8 – 1 + 1 = 8</a:t>
            </a:r>
          </a:p>
          <a:p>
            <a:pPr marL="571500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4: Apply the following Rule:</a:t>
            </a:r>
          </a:p>
          <a:p>
            <a:pPr marL="51435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X &lt; 8: valid, else if  X &gt; 8: not valid, else: go to step 5 </a:t>
            </a:r>
          </a:p>
          <a:p>
            <a:pPr marL="971550" lvl="1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= 7 &lt;8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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valid</a:t>
            </a:r>
          </a:p>
          <a:p>
            <a:pPr marL="971550" lvl="1" indent="-457200"/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8    </a:t>
            </a:r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</a:t>
            </a:r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Step 5</a:t>
            </a:r>
          </a:p>
          <a:p>
            <a:pPr marL="971550" lvl="1" indent="-457200"/>
            <a:r>
              <a:rPr lang="en-US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8    </a:t>
            </a:r>
            <a:r>
              <a:rPr lang="en-US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 Step 5</a:t>
            </a:r>
            <a:endParaRPr lang="en-US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64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6438" y="97378"/>
            <a:ext cx="10289349" cy="871870"/>
          </a:xfrm>
        </p:spPr>
        <p:txBody>
          <a:bodyPr/>
          <a:lstStyle/>
          <a:p>
            <a:pPr algn="l" eaLnBrk="1" hangingPunct="1"/>
            <a:r>
              <a:rPr lang="en-US" sz="4000" b="1" dirty="0">
                <a:solidFill>
                  <a:srgbClr val="800000"/>
                </a:solidFill>
              </a:rPr>
              <a:t>How to determine if Immediate value is Valid?</a:t>
            </a:r>
            <a:endParaRPr lang="en-US" sz="3600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3355-9229-190F-EB85-1DF053C9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0823"/>
            <a:ext cx="11582400" cy="4525963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Step 5: Count the number of 0s on the right hand side of the least significant 1 (k)</a:t>
            </a:r>
          </a:p>
          <a:p>
            <a:pPr marL="11430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87 654 3210</a:t>
            </a:r>
          </a:p>
          <a:p>
            <a:pPr marL="971550" lvl="1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0 0101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000 No need, valid immediate (step 4)</a:t>
            </a:r>
          </a:p>
          <a:p>
            <a:pPr marL="971550" lvl="1" indent="-457200"/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0010 0101 01</a:t>
            </a:r>
            <a:r>
              <a:rPr lang="en-US" b="1" u="sng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 = 2</a:t>
            </a:r>
          </a:p>
          <a:p>
            <a:pPr marL="971550" lvl="1" indent="-457200"/>
            <a:r>
              <a:rPr lang="en-US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0001 0101 001</a:t>
            </a:r>
            <a:r>
              <a:rPr lang="en-US" b="1" u="sng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CC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 = 1</a:t>
            </a: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71500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Step 7: if k is even: valid, else: invalid</a:t>
            </a:r>
          </a:p>
          <a:p>
            <a:pPr marL="971550" lvl="1" indent="-45720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 need, valid immediate (step 4)</a:t>
            </a:r>
          </a:p>
          <a:p>
            <a:pPr marL="971550" lvl="1" indent="-457200"/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 = 2, even </a:t>
            </a:r>
            <a:r>
              <a:rPr lang="en-US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 valid</a:t>
            </a:r>
            <a:endParaRPr lang="en-US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50" lvl="1" indent="-457200"/>
            <a:r>
              <a:rPr lang="en-US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 = 1, odd </a:t>
            </a:r>
            <a:r>
              <a:rPr lang="en-US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 invalid</a:t>
            </a:r>
            <a:endParaRPr lang="en-US" dirty="0">
              <a:solidFill>
                <a:srgbClr val="8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71550" lvl="1" indent="-457200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59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6438" y="97378"/>
            <a:ext cx="10289349" cy="871870"/>
          </a:xfrm>
        </p:spPr>
        <p:txBody>
          <a:bodyPr/>
          <a:lstStyle/>
          <a:p>
            <a:pPr algn="l" eaLnBrk="1" hangingPunct="1"/>
            <a:r>
              <a:rPr lang="en-US" sz="4000" b="1" dirty="0">
                <a:solidFill>
                  <a:srgbClr val="800000"/>
                </a:solidFill>
              </a:rPr>
              <a:t>Note</a:t>
            </a:r>
            <a:endParaRPr lang="en-US" sz="3600" b="1" dirty="0">
              <a:solidFill>
                <a:srgbClr val="8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3355-9229-190F-EB85-1DF053C9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0823"/>
            <a:ext cx="11582400" cy="4525963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This approach is applicable when m &lt; 25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For negative numbers with majority 0XFFF…, the approach is applied on the complement of such number</a:t>
            </a:r>
          </a:p>
          <a:p>
            <a:pPr marL="1371600" lvl="3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56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c669e4ae-75c7-46a9-bc12-c900060c763f"/>
  <p:tag name="WASPOLLED" val="394CF6BEEA744189A919A616B37CCFE5"/>
  <p:tag name="TPVERSION" val="8"/>
  <p:tag name="TPFULLVERSION" val="8.8.4.1"/>
  <p:tag name="PPTVERSION" val="16"/>
  <p:tag name="TPOS" val="2"/>
  <p:tag name="TPLASTSAVEVERSION" val="6.4 PC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7529</TotalTime>
  <Words>574</Words>
  <Application>Microsoft Macintosh PowerPoint</Application>
  <PresentationFormat>Widescreen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</vt:lpstr>
      <vt:lpstr>Courier New</vt:lpstr>
      <vt:lpstr>Default Design</vt:lpstr>
      <vt:lpstr>       Identifying Whether an Immediate Value is Valid</vt:lpstr>
      <vt:lpstr>The Challenge in Immediate values</vt:lpstr>
      <vt:lpstr>How to determine if Immediate value is Valid?</vt:lpstr>
      <vt:lpstr>How to determine if Immediate value is Valid?</vt:lpstr>
      <vt:lpstr>How to determine if Immediate value is Valid?</vt:lpstr>
      <vt:lpstr>How to determine if Immediate value is Valid?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Goh Wooi Boon</dc:creator>
  <cp:lastModifiedBy>Mohamed M. Sabry Aly (Asst Prof)</cp:lastModifiedBy>
  <cp:revision>225</cp:revision>
  <cp:lastPrinted>2016-07-25T00:43:14Z</cp:lastPrinted>
  <dcterms:created xsi:type="dcterms:W3CDTF">1601-01-01T00:00:00Z</dcterms:created>
  <dcterms:modified xsi:type="dcterms:W3CDTF">2024-02-01T10:02:40Z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